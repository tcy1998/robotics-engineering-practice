
<file path=[Content_Types].xml><?xml version="1.0" encoding="utf-8"?>
<Types xmlns="http://schemas.openxmlformats.org/package/2006/content-types">
  <Default Extension="bin" ContentType="image/unknown"/>
  <Default Extension="emf" ContentType="image/x-emf"/>
  <Default Extension="fntdata" ContentType="application/x-fontdata"/>
  <Default Extension="gif" ContentType="image/gif"/>
  <Default Extension="jpeg" ContentType="image/jpeg"/>
  <Default Extension="mp4" ContentType="video/mp4"/>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ags/tag15.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6.xml" ContentType="application/vnd.openxmlformats-officedocument.presentationml.notesSlide+xml"/>
  <Override PartName="/ppt/tags/tag29.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embeddings/oleObject1.bin" ContentType="application/vnd.openxmlformats-officedocument.oleObject"/>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embeddings/oleObject2.bin" ContentType="application/vnd.openxmlformats-officedocument.oleObject"/>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37.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41.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42.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43.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91.xml" ContentType="application/vnd.openxmlformats-officedocument.presentationml.tag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0.bin" ContentType="application/vnd.openxmlformats-officedocument.oleObject"/>
  <Override PartName="/ppt/embeddings/oleObject41.bin" ContentType="application/vnd.openxmlformats-officedocument.oleObject"/>
  <Override PartName="/ppt/embeddings/oleObject42.bin" ContentType="application/vnd.openxmlformats-officedocument.oleObject"/>
  <Override PartName="/ppt/embeddings/oleObject43.bin" ContentType="application/vnd.openxmlformats-officedocument.oleObject"/>
  <Override PartName="/ppt/embeddings/oleObject44.bin" ContentType="application/vnd.openxmlformats-officedocument.oleObject"/>
  <Override PartName="/ppt/embeddings/oleObject45.bin" ContentType="application/vnd.openxmlformats-officedocument.oleObject"/>
  <Override PartName="/ppt/embeddings/oleObject46.bin" ContentType="application/vnd.openxmlformats-officedocument.oleObject"/>
  <Override PartName="/ppt/embeddings/oleObject47.bin" ContentType="application/vnd.openxmlformats-officedocument.oleObject"/>
  <Override PartName="/ppt/embeddings/oleObject48.bin" ContentType="application/vnd.openxmlformats-officedocument.oleObject"/>
  <Override PartName="/ppt/embeddings/oleObject49.bin" ContentType="application/vnd.openxmlformats-officedocument.oleObject"/>
  <Override PartName="/ppt/embeddings/oleObject50.bin" ContentType="application/vnd.openxmlformats-officedocument.oleObject"/>
  <Override PartName="/ppt/embeddings/oleObject51.bin" ContentType="application/vnd.openxmlformats-officedocument.oleObject"/>
  <Override PartName="/ppt/embeddings/oleObject52.bin" ContentType="application/vnd.openxmlformats-officedocument.oleObject"/>
  <Override PartName="/ppt/embeddings/oleObject53.bin" ContentType="application/vnd.openxmlformats-officedocument.oleObject"/>
  <Override PartName="/ppt/notesSlides/notesSlide63.xml" ContentType="application/vnd.openxmlformats-officedocument.presentationml.notesSlide+xml"/>
  <Override PartName="/ppt/embeddings/oleObject54.bin" ContentType="application/vnd.openxmlformats-officedocument.oleObject"/>
  <Override PartName="/ppt/embeddings/oleObject55.bin" ContentType="application/vnd.openxmlformats-officedocument.oleObject"/>
  <Override PartName="/ppt/embeddings/oleObject56.bin" ContentType="application/vnd.openxmlformats-officedocument.oleObject"/>
  <Override PartName="/ppt/embeddings/oleObject57.bin" ContentType="application/vnd.openxmlformats-officedocument.oleObject"/>
  <Override PartName="/ppt/embeddings/oleObject58.bin" ContentType="application/vnd.openxmlformats-officedocument.oleObject"/>
  <Override PartName="/ppt/embeddings/oleObject59.bin" ContentType="application/vnd.openxmlformats-officedocument.oleObject"/>
  <Override PartName="/ppt/embeddings/oleObject60.bin" ContentType="application/vnd.openxmlformats-officedocument.oleObject"/>
  <Override PartName="/ppt/embeddings/oleObject61.bin" ContentType="application/vnd.openxmlformats-officedocument.oleObject"/>
  <Override PartName="/ppt/embeddings/oleObject62.bin" ContentType="application/vnd.openxmlformats-officedocument.oleObject"/>
  <Override PartName="/ppt/embeddings/oleObject63.bin" ContentType="application/vnd.openxmlformats-officedocument.oleObject"/>
  <Override PartName="/ppt/embeddings/oleObject64.bin" ContentType="application/vnd.openxmlformats-officedocument.oleObject"/>
  <Override PartName="/ppt/embeddings/oleObject65.bin" ContentType="application/vnd.openxmlformats-officedocument.oleObject"/>
  <Override PartName="/ppt/embeddings/oleObject66.bin" ContentType="application/vnd.openxmlformats-officedocument.oleObject"/>
  <Override PartName="/ppt/embeddings/oleObject67.bin" ContentType="application/vnd.openxmlformats-officedocument.oleObject"/>
  <Override PartName="/ppt/embeddings/oleObject68.bin" ContentType="application/vnd.openxmlformats-officedocument.oleObject"/>
  <Override PartName="/ppt/tags/tag92.xml" ContentType="application/vnd.openxmlformats-officedocument.presentationml.tags+xml"/>
  <Override PartName="/ppt/tags/tag93.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embeddings/oleObject69.bin" ContentType="application/vnd.openxmlformats-officedocument.oleObject"/>
  <Override PartName="/ppt/embeddings/oleObject70.bin" ContentType="application/vnd.openxmlformats-officedocument.oleObject"/>
  <Override PartName="/ppt/embeddings/oleObject71.bin" ContentType="application/vnd.openxmlformats-officedocument.oleObject"/>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embeddings/oleObject72.bin" ContentType="application/vnd.openxmlformats-officedocument.oleObject"/>
  <Override PartName="/ppt/embeddings/oleObject73.bin" ContentType="application/vnd.openxmlformats-officedocument.oleObject"/>
  <Override PartName="/ppt/notesSlides/notesSlide100.xml" ContentType="application/vnd.openxmlformats-officedocument.presentationml.notesSlide+xml"/>
  <Override PartName="/ppt/embeddings/oleObject74.bin" ContentType="application/vnd.openxmlformats-officedocument.oleObject"/>
  <Override PartName="/ppt/notesSlides/notesSlide101.xml" ContentType="application/vnd.openxmlformats-officedocument.presentationml.notesSlide+xml"/>
  <Override PartName="/ppt/notesSlides/notesSlide102.xml" ContentType="application/vnd.openxmlformats-officedocument.presentationml.notesSlide+xml"/>
  <Override PartName="/ppt/embeddings/oleObject75.bin" ContentType="application/vnd.openxmlformats-officedocument.oleObject"/>
  <Override PartName="/ppt/notesSlides/notesSlide103.xml" ContentType="application/vnd.openxmlformats-officedocument.presentationml.notesSlide+xml"/>
  <Override PartName="/ppt/embeddings/oleObject76.bin" ContentType="application/vnd.openxmlformats-officedocument.oleObject"/>
  <Override PartName="/ppt/embeddings/oleObject77.bin" ContentType="application/vnd.openxmlformats-officedocument.oleObject"/>
  <Override PartName="/ppt/embeddings/oleObject78.bin" ContentType="application/vnd.openxmlformats-officedocument.oleObject"/>
  <Override PartName="/ppt/embeddings/oleObject79.bin" ContentType="application/vnd.openxmlformats-officedocument.oleObject"/>
  <Override PartName="/ppt/notesSlides/notesSlide104.xml" ContentType="application/vnd.openxmlformats-officedocument.presentationml.notesSlide+xml"/>
  <Override PartName="/ppt/embeddings/oleObject80.bin" ContentType="application/vnd.openxmlformats-officedocument.oleObject"/>
  <Override PartName="/ppt/embeddings/oleObject81.bin" ContentType="application/vnd.openxmlformats-officedocument.oleObject"/>
  <Override PartName="/ppt/embeddings/oleObject82.bin" ContentType="application/vnd.openxmlformats-officedocument.oleObject"/>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embeddings/oleObject83.bin" ContentType="application/vnd.openxmlformats-officedocument.oleObject"/>
  <Override PartName="/ppt/embeddings/oleObject84.bin" ContentType="application/vnd.openxmlformats-officedocument.oleObject"/>
  <Override PartName="/ppt/embeddings/oleObject85.bin" ContentType="application/vnd.openxmlformats-officedocument.oleObject"/>
  <Override PartName="/ppt/notesSlides/notesSlide115.xml" ContentType="application/vnd.openxmlformats-officedocument.presentationml.notesSlide+xml"/>
  <Override PartName="/ppt/embeddings/oleObject86.bin" ContentType="application/vnd.openxmlformats-officedocument.oleObject"/>
  <Override PartName="/ppt/embeddings/oleObject87.bin" ContentType="application/vnd.openxmlformats-officedocument.oleObject"/>
  <Override PartName="/ppt/embeddings/oleObject88.bin" ContentType="application/vnd.openxmlformats-officedocument.oleObject"/>
  <Override PartName="/ppt/notesSlides/notesSlide116.xml" ContentType="application/vnd.openxmlformats-officedocument.presentationml.notesSlide+xml"/>
  <Override PartName="/ppt/embeddings/oleObject89.bin" ContentType="application/vnd.openxmlformats-officedocument.oleObject"/>
  <Override PartName="/ppt/embeddings/oleObject90.bin" ContentType="application/vnd.openxmlformats-officedocument.oleObject"/>
  <Override PartName="/ppt/embeddings/oleObject91.bin" ContentType="application/vnd.openxmlformats-officedocument.oleObject"/>
  <Override PartName="/ppt/embeddings/oleObject92.bin" ContentType="application/vnd.openxmlformats-officedocument.oleObject"/>
  <Override PartName="/ppt/notesSlides/notesSlide117.xml" ContentType="application/vnd.openxmlformats-officedocument.presentationml.notesSlide+xml"/>
  <Override PartName="/ppt/embeddings/oleObject93.bin" ContentType="application/vnd.openxmlformats-officedocument.oleObject"/>
  <Override PartName="/ppt/embeddings/oleObject94.bin" ContentType="application/vnd.openxmlformats-officedocument.oleObject"/>
  <Override PartName="/ppt/notesSlides/notesSlide118.xml" ContentType="application/vnd.openxmlformats-officedocument.presentationml.notesSlide+xml"/>
  <Override PartName="/ppt/embeddings/oleObject95.bin" ContentType="application/vnd.openxmlformats-officedocument.oleObject"/>
  <Override PartName="/ppt/embeddings/oleObject96.bin" ContentType="application/vnd.openxmlformats-officedocument.oleObject"/>
  <Override PartName="/ppt/notesSlides/notesSlide119.xml" ContentType="application/vnd.openxmlformats-officedocument.presentationml.notesSlide+xml"/>
  <Override PartName="/ppt/embeddings/oleObject97.bin" ContentType="application/vnd.openxmlformats-officedocument.oleObject"/>
  <Override PartName="/ppt/embeddings/oleObject98.bin" ContentType="application/vnd.openxmlformats-officedocument.oleObject"/>
  <Override PartName="/ppt/notesSlides/notesSlide1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1"/>
  </p:notesMasterIdLst>
  <p:sldIdLst>
    <p:sldId id="385" r:id="rId2"/>
    <p:sldId id="312" r:id="rId3"/>
    <p:sldId id="314" r:id="rId4"/>
    <p:sldId id="315" r:id="rId5"/>
    <p:sldId id="316" r:id="rId6"/>
    <p:sldId id="317" r:id="rId7"/>
    <p:sldId id="383" r:id="rId8"/>
    <p:sldId id="384" r:id="rId9"/>
    <p:sldId id="353" r:id="rId10"/>
    <p:sldId id="425" r:id="rId11"/>
    <p:sldId id="426" r:id="rId12"/>
    <p:sldId id="451" r:id="rId13"/>
    <p:sldId id="452" r:id="rId14"/>
    <p:sldId id="427" r:id="rId15"/>
    <p:sldId id="428" r:id="rId16"/>
    <p:sldId id="429" r:id="rId17"/>
    <p:sldId id="430" r:id="rId18"/>
    <p:sldId id="431" r:id="rId19"/>
    <p:sldId id="432" r:id="rId20"/>
    <p:sldId id="450" r:id="rId21"/>
    <p:sldId id="433" r:id="rId22"/>
    <p:sldId id="445" r:id="rId23"/>
    <p:sldId id="453" r:id="rId24"/>
    <p:sldId id="402" r:id="rId25"/>
    <p:sldId id="400" r:id="rId26"/>
    <p:sldId id="401" r:id="rId27"/>
    <p:sldId id="403" r:id="rId28"/>
    <p:sldId id="319" r:id="rId29"/>
    <p:sldId id="404" r:id="rId30"/>
    <p:sldId id="323" r:id="rId31"/>
    <p:sldId id="406" r:id="rId32"/>
    <p:sldId id="407" r:id="rId33"/>
    <p:sldId id="409" r:id="rId34"/>
    <p:sldId id="408" r:id="rId35"/>
    <p:sldId id="410" r:id="rId36"/>
    <p:sldId id="411" r:id="rId37"/>
    <p:sldId id="412" r:id="rId38"/>
    <p:sldId id="413" r:id="rId39"/>
    <p:sldId id="414" r:id="rId40"/>
    <p:sldId id="338" r:id="rId41"/>
    <p:sldId id="415" r:id="rId42"/>
    <p:sldId id="416" r:id="rId43"/>
    <p:sldId id="417" r:id="rId44"/>
    <p:sldId id="418" r:id="rId45"/>
    <p:sldId id="454" r:id="rId46"/>
    <p:sldId id="479" r:id="rId47"/>
    <p:sldId id="455" r:id="rId48"/>
    <p:sldId id="480" r:id="rId49"/>
    <p:sldId id="481" r:id="rId50"/>
    <p:sldId id="482" r:id="rId51"/>
    <p:sldId id="483" r:id="rId52"/>
    <p:sldId id="484" r:id="rId53"/>
    <p:sldId id="485" r:id="rId54"/>
    <p:sldId id="486" r:id="rId55"/>
    <p:sldId id="487" r:id="rId56"/>
    <p:sldId id="488" r:id="rId57"/>
    <p:sldId id="489" r:id="rId58"/>
    <p:sldId id="490" r:id="rId59"/>
    <p:sldId id="491" r:id="rId60"/>
    <p:sldId id="492" r:id="rId61"/>
    <p:sldId id="357" r:id="rId62"/>
    <p:sldId id="11090983" r:id="rId63"/>
    <p:sldId id="770" r:id="rId64"/>
    <p:sldId id="11090984" r:id="rId65"/>
    <p:sldId id="11090985" r:id="rId66"/>
    <p:sldId id="11090986" r:id="rId67"/>
    <p:sldId id="11090987" r:id="rId68"/>
    <p:sldId id="11090988" r:id="rId69"/>
    <p:sldId id="11090989" r:id="rId70"/>
    <p:sldId id="11090990" r:id="rId71"/>
    <p:sldId id="11090991" r:id="rId72"/>
    <p:sldId id="11090992" r:id="rId73"/>
    <p:sldId id="11090993" r:id="rId74"/>
    <p:sldId id="11090994" r:id="rId75"/>
    <p:sldId id="11090995" r:id="rId76"/>
    <p:sldId id="11091002" r:id="rId77"/>
    <p:sldId id="11090997" r:id="rId78"/>
    <p:sldId id="11090998" r:id="rId79"/>
    <p:sldId id="11090999" r:id="rId80"/>
    <p:sldId id="11091000" r:id="rId81"/>
    <p:sldId id="11091001" r:id="rId82"/>
    <p:sldId id="11091003" r:id="rId83"/>
    <p:sldId id="765" r:id="rId84"/>
    <p:sldId id="258" r:id="rId85"/>
    <p:sldId id="11091004" r:id="rId86"/>
    <p:sldId id="261" r:id="rId87"/>
    <p:sldId id="262" r:id="rId88"/>
    <p:sldId id="263" r:id="rId89"/>
    <p:sldId id="264" r:id="rId90"/>
    <p:sldId id="265" r:id="rId91"/>
    <p:sldId id="831" r:id="rId92"/>
    <p:sldId id="267" r:id="rId93"/>
    <p:sldId id="268" r:id="rId94"/>
    <p:sldId id="269" r:id="rId95"/>
    <p:sldId id="270" r:id="rId96"/>
    <p:sldId id="829" r:id="rId97"/>
    <p:sldId id="272" r:id="rId98"/>
    <p:sldId id="273" r:id="rId99"/>
    <p:sldId id="274" r:id="rId100"/>
    <p:sldId id="832" r:id="rId101"/>
    <p:sldId id="275" r:id="rId102"/>
    <p:sldId id="833" r:id="rId103"/>
    <p:sldId id="276" r:id="rId104"/>
    <p:sldId id="277" r:id="rId105"/>
    <p:sldId id="834" r:id="rId106"/>
    <p:sldId id="278" r:id="rId107"/>
    <p:sldId id="280" r:id="rId108"/>
    <p:sldId id="835" r:id="rId109"/>
    <p:sldId id="830" r:id="rId110"/>
    <p:sldId id="283" r:id="rId111"/>
    <p:sldId id="284" r:id="rId112"/>
    <p:sldId id="836" r:id="rId113"/>
    <p:sldId id="285" r:id="rId114"/>
    <p:sldId id="286" r:id="rId115"/>
    <p:sldId id="287" r:id="rId116"/>
    <p:sldId id="288" r:id="rId117"/>
    <p:sldId id="289" r:id="rId118"/>
    <p:sldId id="290" r:id="rId119"/>
    <p:sldId id="291" r:id="rId120"/>
    <p:sldId id="292" r:id="rId121"/>
    <p:sldId id="293" r:id="rId122"/>
    <p:sldId id="294" r:id="rId123"/>
    <p:sldId id="295" r:id="rId124"/>
    <p:sldId id="296" r:id="rId125"/>
    <p:sldId id="297" r:id="rId126"/>
    <p:sldId id="298" r:id="rId127"/>
    <p:sldId id="299" r:id="rId128"/>
    <p:sldId id="300" r:id="rId129"/>
    <p:sldId id="301" r:id="rId130"/>
    <p:sldId id="302" r:id="rId131"/>
    <p:sldId id="303" r:id="rId132"/>
    <p:sldId id="304" r:id="rId133"/>
    <p:sldId id="305" r:id="rId134"/>
    <p:sldId id="828" r:id="rId135"/>
    <p:sldId id="307" r:id="rId136"/>
    <p:sldId id="308" r:id="rId137"/>
    <p:sldId id="309" r:id="rId138"/>
    <p:sldId id="310" r:id="rId139"/>
    <p:sldId id="837" r:id="rId140"/>
  </p:sldIdLst>
  <p:sldSz cx="12192000" cy="6858000"/>
  <p:notesSz cx="6858000" cy="9144000"/>
  <p:embeddedFontLst>
    <p:embeddedFont>
      <p:font typeface="等线" panose="02010600030101010101" pitchFamily="2" charset="-122"/>
      <p:regular r:id="rId142"/>
      <p:bold r:id="rId143"/>
    </p:embeddedFont>
    <p:embeddedFont>
      <p:font typeface="微软雅黑" panose="020B0503020204020204" pitchFamily="34" charset="-122"/>
      <p:regular r:id="rId144"/>
      <p:bold r:id="rId145"/>
    </p:embeddedFont>
    <p:embeddedFont>
      <p:font typeface="黑体" panose="02010609060101010101" pitchFamily="49" charset="-122"/>
      <p:regular r:id="rId146"/>
    </p:embeddedFont>
    <p:embeddedFont>
      <p:font typeface="宋体" panose="02010600030101010101" pitchFamily="2" charset="-122"/>
      <p:regular r:id="rId147"/>
    </p:embeddedFont>
    <p:embeddedFont>
      <p:font typeface="Arial Black" panose="020B0A04020102020204" pitchFamily="34" charset="0"/>
      <p:bold r:id="rId148"/>
    </p:embeddedFont>
    <p:embeddedFont>
      <p:font typeface="Cambria Math" panose="02040503050406030204" pitchFamily="18" charset="0"/>
      <p:regular r:id="rId149"/>
    </p:embeddedFont>
    <p:embeddedFont>
      <p:font typeface="DejaVu Math TeX Gyre" panose="02000503000000000000" pitchFamily="2" charset="0"/>
      <p:regular r:id="rId150"/>
    </p:embeddedFont>
    <p:embeddedFont>
      <p:font typeface="DM Sans" pitchFamily="2" charset="0"/>
      <p:regular r:id="rId151"/>
      <p:bold r:id="rId152"/>
      <p:italic r:id="rId153"/>
      <p:boldItalic r:id="rId154"/>
    </p:embeddedFont>
    <p:embeddedFont>
      <p:font typeface="Lato" panose="020F0502020204030203" pitchFamily="34" charset="0"/>
      <p:regular r:id="rId155"/>
    </p:embeddedFont>
    <p:embeddedFont>
      <p:font typeface="Noto Sans SC" panose="020B0200000000000000" pitchFamily="34" charset="-128"/>
      <p:regular r:id="rId156"/>
      <p:bold r:id="rId157"/>
    </p:embeddedFont>
    <p:embeddedFont>
      <p:font typeface="Poppins" panose="00000500000000000000" pitchFamily="2" charset="0"/>
      <p:regular r:id="rId158"/>
      <p:bold r:id="rId159"/>
      <p:italic r:id="rId160"/>
      <p:boldItalic r:id="rId16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2D7F"/>
    <a:srgbClr val="011230"/>
    <a:srgbClr val="0F050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30" autoAdjust="0"/>
    <p:restoredTop sz="76345" autoAdjust="0"/>
  </p:normalViewPr>
  <p:slideViewPr>
    <p:cSldViewPr snapToGrid="0">
      <p:cViewPr varScale="1">
        <p:scale>
          <a:sx n="70" d="100"/>
          <a:sy n="70" d="100"/>
        </p:scale>
        <p:origin x="884" y="6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font" Target="fonts/font18.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8.fntdata"/><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font" Target="fonts/font19.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font" Target="fonts/font9.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font" Target="fonts/font4.fntdata"/><Relationship Id="rId161"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10.fntdata"/><Relationship Id="rId156" Type="http://schemas.openxmlformats.org/officeDocument/2006/relationships/font" Target="fonts/font15.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notesMaster" Target="notesMasters/notesMaster1.xml"/><Relationship Id="rId146" Type="http://schemas.openxmlformats.org/officeDocument/2006/relationships/font" Target="fonts/font5.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16.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11.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1.fntdata"/><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12.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2.fntdata"/><Relationship Id="rId148" Type="http://schemas.openxmlformats.org/officeDocument/2006/relationships/font" Target="fonts/font7.fntdata"/><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13.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3.fntdata"/><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FB2F52B3-A1A4-4CB0-91F0-54787C062D81}" type="datetimeFigureOut">
              <a:rPr lang="zh-CN" altLang="en-US" smtClean="0"/>
              <a:pPr/>
              <a:t>2026/10/11</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02F104FE-1482-4A73-8F47-A8B5CE8F14F0}" type="slidenum">
              <a:rPr lang="zh-CN" altLang="en-US" smtClean="0"/>
              <a:pPr/>
              <a:t>‹#›</a:t>
            </a:fld>
            <a:endParaRPr lang="zh-CN" altLang="en-US" dirty="0"/>
          </a:p>
        </p:txBody>
      </p:sp>
    </p:spTree>
    <p:extLst>
      <p:ext uri="{BB962C8B-B14F-4D97-AF65-F5344CB8AC3E}">
        <p14:creationId xmlns:p14="http://schemas.microsoft.com/office/powerpoint/2010/main" val="3789308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我们本章要学习的是基于学习的机器人智能导航算法</a:t>
            </a:r>
            <a:endParaRPr lang="zh-CN" altLang="zh-CN" sz="1200" kern="1200" dirty="0">
              <a:solidFill>
                <a:schemeClr val="tx1"/>
              </a:solidFill>
              <a:effectLst/>
              <a:cs typeface="+mn-cs"/>
            </a:endParaRPr>
          </a:p>
        </p:txBody>
      </p:sp>
      <p:sp>
        <p:nvSpPr>
          <p:cNvPr id="4" name="灯片编号占位符 3"/>
          <p:cNvSpPr>
            <a:spLocks noGrp="1"/>
          </p:cNvSpPr>
          <p:nvPr>
            <p:ph type="sldNum" sz="quarter" idx="5"/>
          </p:nvPr>
        </p:nvSpPr>
        <p:spPr/>
        <p:txBody>
          <a:bodyPr/>
          <a:lstStyle/>
          <a:p>
            <a:fld id="{02F104FE-1482-4A73-8F47-A8B5CE8F14F0}"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cs typeface="+mn-cs"/>
            </a:endParaRPr>
          </a:p>
        </p:txBody>
      </p:sp>
      <p:sp>
        <p:nvSpPr>
          <p:cNvPr id="4" name="灯片编号占位符 3"/>
          <p:cNvSpPr>
            <a:spLocks noGrp="1"/>
          </p:cNvSpPr>
          <p:nvPr>
            <p:ph type="sldNum" sz="quarter" idx="5"/>
          </p:nvPr>
        </p:nvSpPr>
        <p:spPr/>
        <p:txBody>
          <a:bodyPr/>
          <a:lstStyle/>
          <a:p>
            <a:fld id="{02F104FE-1482-4A73-8F47-A8B5CE8F14F0}"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4</a:t>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pPr/>
              <a:t>5</a:t>
            </a:fld>
            <a:endParaRPr lang="zh-CN" altLang="en-US" dirty="0"/>
          </a:p>
        </p:txBody>
      </p:sp>
    </p:spTree>
    <p:extLst>
      <p:ext uri="{BB962C8B-B14F-4D97-AF65-F5344CB8AC3E}">
        <p14:creationId xmlns:p14="http://schemas.microsoft.com/office/powerpoint/2010/main" val="3482626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6</a:t>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166EF-8C8F-5B84-9915-0749B5EB01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7906D8-BDAA-782D-C701-5172A44E5AA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D22C4E-5FB7-1B5E-EA6F-E3E903895646}"/>
              </a:ext>
            </a:extLst>
          </p:cNvPr>
          <p:cNvSpPr>
            <a:spLocks noGrp="1"/>
          </p:cNvSpPr>
          <p:nvPr>
            <p:ph type="body" idx="1"/>
          </p:nvPr>
        </p:nvSpPr>
        <p:spPr/>
        <p:txBody>
          <a:bodyPr/>
          <a:lstStyle/>
          <a:p>
            <a:pPr marL="228600" indent="-228600">
              <a:buFont typeface="+mj-lt"/>
              <a:buAutoNum type="arabicPeriod"/>
            </a:pPr>
            <a:endParaRPr lang="zh-CN" altLang="en-US" dirty="0"/>
          </a:p>
        </p:txBody>
      </p:sp>
      <p:sp>
        <p:nvSpPr>
          <p:cNvPr id="4" name="灯片编号占位符 3">
            <a:extLst>
              <a:ext uri="{FF2B5EF4-FFF2-40B4-BE49-F238E27FC236}">
                <a16:creationId xmlns:a16="http://schemas.microsoft.com/office/drawing/2014/main" id="{30F71A58-E256-71A8-4C58-05B725EF17F6}"/>
              </a:ext>
            </a:extLst>
          </p:cNvPr>
          <p:cNvSpPr>
            <a:spLocks noGrp="1"/>
          </p:cNvSpPr>
          <p:nvPr>
            <p:ph type="sldNum" sz="quarter" idx="5"/>
          </p:nvPr>
        </p:nvSpPr>
        <p:spPr/>
        <p:txBody>
          <a:bodyPr/>
          <a:lstStyle/>
          <a:p>
            <a:fld id="{02F104FE-1482-4A73-8F47-A8B5CE8F14F0}" type="slidenum">
              <a:rPr lang="zh-CN" altLang="en-US" smtClean="0"/>
              <a:pPr/>
              <a:t>7</a:t>
            </a:fld>
            <a:endParaRPr lang="zh-CN" altLang="en-US" dirty="0"/>
          </a:p>
        </p:txBody>
      </p:sp>
    </p:spTree>
    <p:extLst>
      <p:ext uri="{BB962C8B-B14F-4D97-AF65-F5344CB8AC3E}">
        <p14:creationId xmlns:p14="http://schemas.microsoft.com/office/powerpoint/2010/main" val="28954139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F9310-E4A9-1C25-FE48-50B352370C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1BADED-EC20-065A-7B51-B478D19EAE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849C9C-A6A0-1353-86DD-C85E6C8F37AC}"/>
              </a:ext>
            </a:extLst>
          </p:cNvPr>
          <p:cNvSpPr>
            <a:spLocks noGrp="1"/>
          </p:cNvSpPr>
          <p:nvPr>
            <p:ph type="body" idx="1"/>
          </p:nvPr>
        </p:nvSpPr>
        <p:spPr/>
        <p:txBody>
          <a:bodyPr/>
          <a:lstStyle/>
          <a:p>
            <a:pPr marL="228600" indent="-228600">
              <a:buFont typeface="+mj-lt"/>
              <a:buAutoNum type="arabicPeriod"/>
            </a:pPr>
            <a:endParaRPr lang="zh-CN" altLang="en-US" dirty="0"/>
          </a:p>
        </p:txBody>
      </p:sp>
      <p:sp>
        <p:nvSpPr>
          <p:cNvPr id="4" name="灯片编号占位符 3">
            <a:extLst>
              <a:ext uri="{FF2B5EF4-FFF2-40B4-BE49-F238E27FC236}">
                <a16:creationId xmlns:a16="http://schemas.microsoft.com/office/drawing/2014/main" id="{B4BD470B-B769-2DC4-F671-57433FE55494}"/>
              </a:ext>
            </a:extLst>
          </p:cNvPr>
          <p:cNvSpPr>
            <a:spLocks noGrp="1"/>
          </p:cNvSpPr>
          <p:nvPr>
            <p:ph type="sldNum" sz="quarter" idx="5"/>
          </p:nvPr>
        </p:nvSpPr>
        <p:spPr/>
        <p:txBody>
          <a:bodyPr/>
          <a:lstStyle/>
          <a:p>
            <a:fld id="{02F104FE-1482-4A73-8F47-A8B5CE8F14F0}" type="slidenum">
              <a:rPr lang="zh-CN" altLang="en-US" smtClean="0"/>
              <a:pPr/>
              <a:t>8</a:t>
            </a:fld>
            <a:endParaRPr lang="zh-CN" altLang="en-US" dirty="0"/>
          </a:p>
        </p:txBody>
      </p:sp>
    </p:spTree>
    <p:extLst>
      <p:ext uri="{BB962C8B-B14F-4D97-AF65-F5344CB8AC3E}">
        <p14:creationId xmlns:p14="http://schemas.microsoft.com/office/powerpoint/2010/main" val="4028141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Font typeface="+mj-lt"/>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pPr/>
              <a:t>9</a:t>
            </a:fld>
            <a:endParaRPr lang="zh-CN" altLang="en-US" dirty="0"/>
          </a:p>
        </p:txBody>
      </p:sp>
    </p:spTree>
    <p:extLst>
      <p:ext uri="{BB962C8B-B14F-4D97-AF65-F5344CB8AC3E}">
        <p14:creationId xmlns:p14="http://schemas.microsoft.com/office/powerpoint/2010/main" val="26577813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10</a:t>
            </a:fld>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11</a:t>
            </a:fld>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3402D-5AF8-7288-978D-EB90B2DE99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DC64D3-92C6-B43D-9889-FDA8A774BE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01A98AC-1606-2104-A254-F2CEE509BA1C}"/>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a:extLst>
              <a:ext uri="{FF2B5EF4-FFF2-40B4-BE49-F238E27FC236}">
                <a16:creationId xmlns:a16="http://schemas.microsoft.com/office/drawing/2014/main" id="{ED46D886-6DD4-B9EC-5287-CCED2D827628}"/>
              </a:ext>
            </a:extLst>
          </p:cNvPr>
          <p:cNvSpPr>
            <a:spLocks noGrp="1"/>
          </p:cNvSpPr>
          <p:nvPr>
            <p:ph type="sldNum" sz="quarter" idx="5"/>
          </p:nvPr>
        </p:nvSpPr>
        <p:spPr/>
        <p:txBody>
          <a:bodyPr/>
          <a:lstStyle/>
          <a:p>
            <a:fld id="{02F104FE-1482-4A73-8F47-A8B5CE8F14F0}" type="slidenum">
              <a:rPr lang="zh-CN" altLang="en-US" smtClean="0"/>
              <a:t>12</a:t>
            </a:fld>
            <a:endParaRPr lang="zh-CN" altLang="en-US" dirty="0"/>
          </a:p>
        </p:txBody>
      </p:sp>
    </p:spTree>
    <p:extLst>
      <p:ext uri="{BB962C8B-B14F-4D97-AF65-F5344CB8AC3E}">
        <p14:creationId xmlns:p14="http://schemas.microsoft.com/office/powerpoint/2010/main" val="14318996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C0CA0-536A-76BB-459C-ED0632F618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236C6F1-4524-D3ED-406E-C73C64B223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2FE5DA-AC37-6596-FFFD-1FBAFFDF7A40}"/>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a:extLst>
              <a:ext uri="{FF2B5EF4-FFF2-40B4-BE49-F238E27FC236}">
                <a16:creationId xmlns:a16="http://schemas.microsoft.com/office/drawing/2014/main" id="{03643525-C9AC-EA8B-40B6-1ACB76171DA8}"/>
              </a:ext>
            </a:extLst>
          </p:cNvPr>
          <p:cNvSpPr>
            <a:spLocks noGrp="1"/>
          </p:cNvSpPr>
          <p:nvPr>
            <p:ph type="sldNum" sz="quarter" idx="5"/>
          </p:nvPr>
        </p:nvSpPr>
        <p:spPr/>
        <p:txBody>
          <a:bodyPr/>
          <a:lstStyle/>
          <a:p>
            <a:fld id="{02F104FE-1482-4A73-8F47-A8B5CE8F14F0}" type="slidenum">
              <a:rPr lang="zh-CN" altLang="en-US" smtClean="0"/>
              <a:t>13</a:t>
            </a:fld>
            <a:endParaRPr lang="zh-CN" altLang="en-US" dirty="0"/>
          </a:p>
        </p:txBody>
      </p:sp>
    </p:spTree>
    <p:extLst>
      <p:ext uri="{BB962C8B-B14F-4D97-AF65-F5344CB8AC3E}">
        <p14:creationId xmlns:p14="http://schemas.microsoft.com/office/powerpoint/2010/main" val="35133803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14</a:t>
            </a:fld>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15</a:t>
            </a:fld>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16</a:t>
            </a:fld>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mj-lt"/>
              <a:buNone/>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17</a:t>
            </a:fld>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Font typeface="+mj-lt"/>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18</a:t>
            </a:fld>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Font typeface="+mj-lt"/>
              <a:buAutoNum type="arabicPeriod"/>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19</a:t>
            </a:fld>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2E873-9D32-6B61-31D2-88D481F16A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B79B59-BFC2-95D3-5E4F-16EDB9069AB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A8CA8DA-C34C-D93E-0E58-9680B20DA256}"/>
              </a:ext>
            </a:extLst>
          </p:cNvPr>
          <p:cNvSpPr>
            <a:spLocks noGrp="1"/>
          </p:cNvSpPr>
          <p:nvPr>
            <p:ph type="body" idx="1"/>
          </p:nvPr>
        </p:nvSpPr>
        <p:spPr/>
        <p:txBody>
          <a:bodyPr/>
          <a:lstStyle/>
          <a:p>
            <a:pPr marL="228600" indent="-228600">
              <a:buFont typeface="+mj-lt"/>
              <a:buAutoNum type="arabicPeriod"/>
            </a:pPr>
            <a:endParaRPr lang="en-US" altLang="zh-CN" dirty="0"/>
          </a:p>
        </p:txBody>
      </p:sp>
      <p:sp>
        <p:nvSpPr>
          <p:cNvPr id="4" name="灯片编号占位符 3">
            <a:extLst>
              <a:ext uri="{FF2B5EF4-FFF2-40B4-BE49-F238E27FC236}">
                <a16:creationId xmlns:a16="http://schemas.microsoft.com/office/drawing/2014/main" id="{F5FDEEB8-3C59-559D-4DE1-71E319DDA603}"/>
              </a:ext>
            </a:extLst>
          </p:cNvPr>
          <p:cNvSpPr>
            <a:spLocks noGrp="1"/>
          </p:cNvSpPr>
          <p:nvPr>
            <p:ph type="sldNum" sz="quarter" idx="5"/>
          </p:nvPr>
        </p:nvSpPr>
        <p:spPr/>
        <p:txBody>
          <a:bodyPr/>
          <a:lstStyle/>
          <a:p>
            <a:fld id="{02F104FE-1482-4A73-8F47-A8B5CE8F14F0}" type="slidenum">
              <a:rPr lang="zh-CN" altLang="en-US" smtClean="0"/>
              <a:t>20</a:t>
            </a:fld>
            <a:endParaRPr lang="zh-CN" altLang="en-US" dirty="0"/>
          </a:p>
        </p:txBody>
      </p:sp>
    </p:spTree>
    <p:extLst>
      <p:ext uri="{BB962C8B-B14F-4D97-AF65-F5344CB8AC3E}">
        <p14:creationId xmlns:p14="http://schemas.microsoft.com/office/powerpoint/2010/main" val="3975524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Font typeface="+mj-lt"/>
              <a:buAutoNum type="arabicPeriod"/>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21</a:t>
            </a:fld>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22</a:t>
            </a:fld>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23</a:t>
            </a:fld>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24</a:t>
            </a:fld>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25</a:t>
            </a:fld>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26</a:t>
            </a:fld>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27</a:t>
            </a:fld>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28</a:t>
            </a:fld>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29</a:t>
            </a:fld>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30</a:t>
            </a:fld>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31</a:t>
            </a:fld>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32</a:t>
            </a:fld>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33</a:t>
            </a:fld>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34</a:t>
            </a:fld>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35</a:t>
            </a:fld>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36</a:t>
            </a:fld>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37</a:t>
            </a:fld>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38</a:t>
            </a:fld>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39</a:t>
            </a:fld>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40</a:t>
            </a:fld>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41</a:t>
            </a:fld>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42</a:t>
            </a:fld>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43</a:t>
            </a:fld>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44</a:t>
            </a:fld>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45</a:t>
            </a:fld>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8A931-FF4A-C799-94D7-553A2B4352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CEB88A-D15F-649F-3A58-D8C1A56F733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AF8D25-6D4A-E8AF-32E6-48E1B9541DDA}"/>
              </a:ext>
            </a:extLst>
          </p:cNvPr>
          <p:cNvSpPr>
            <a:spLocks noGrp="1"/>
          </p:cNvSpPr>
          <p:nvPr>
            <p:ph type="body" idx="1"/>
          </p:nvPr>
        </p:nvSpPr>
        <p:spPr/>
        <p:txBody>
          <a:bodyPr/>
          <a:lstStyle/>
          <a:p>
            <a:pPr marL="228600" indent="-228600">
              <a:buAutoNum type="arabicPeriod"/>
            </a:pPr>
            <a:endParaRPr lang="zh-CN" altLang="en-US" dirty="0"/>
          </a:p>
        </p:txBody>
      </p:sp>
      <p:sp>
        <p:nvSpPr>
          <p:cNvPr id="4" name="灯片编号占位符 3">
            <a:extLst>
              <a:ext uri="{FF2B5EF4-FFF2-40B4-BE49-F238E27FC236}">
                <a16:creationId xmlns:a16="http://schemas.microsoft.com/office/drawing/2014/main" id="{C5D1F1F6-D157-2AF1-2638-083280DB984F}"/>
              </a:ext>
            </a:extLst>
          </p:cNvPr>
          <p:cNvSpPr>
            <a:spLocks noGrp="1"/>
          </p:cNvSpPr>
          <p:nvPr>
            <p:ph type="sldNum" sz="quarter" idx="5"/>
          </p:nvPr>
        </p:nvSpPr>
        <p:spPr/>
        <p:txBody>
          <a:bodyPr/>
          <a:lstStyle/>
          <a:p>
            <a:fld id="{02F104FE-1482-4A73-8F47-A8B5CE8F14F0}" type="slidenum">
              <a:rPr lang="zh-CN" altLang="en-US" smtClean="0"/>
              <a:t>46</a:t>
            </a:fld>
            <a:endParaRPr lang="zh-CN" altLang="en-US" dirty="0"/>
          </a:p>
        </p:txBody>
      </p:sp>
    </p:spTree>
    <p:extLst>
      <p:ext uri="{BB962C8B-B14F-4D97-AF65-F5344CB8AC3E}">
        <p14:creationId xmlns:p14="http://schemas.microsoft.com/office/powerpoint/2010/main" val="15715156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t>47</a:t>
            </a:fld>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16304-A4E2-3491-7D58-878051DFC5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FE6D9D-1DFD-41D8-13F9-D11A7F6D8CC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6961C3-7A59-A3C7-6B6A-C935846D08A0}"/>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a:extLst>
              <a:ext uri="{FF2B5EF4-FFF2-40B4-BE49-F238E27FC236}">
                <a16:creationId xmlns:a16="http://schemas.microsoft.com/office/drawing/2014/main" id="{205A426B-4E52-9660-D8B2-033CBE94602D}"/>
              </a:ext>
            </a:extLst>
          </p:cNvPr>
          <p:cNvSpPr>
            <a:spLocks noGrp="1"/>
          </p:cNvSpPr>
          <p:nvPr>
            <p:ph type="sldNum" sz="quarter" idx="5"/>
          </p:nvPr>
        </p:nvSpPr>
        <p:spPr/>
        <p:txBody>
          <a:bodyPr/>
          <a:lstStyle/>
          <a:p>
            <a:fld id="{02F104FE-1482-4A73-8F47-A8B5CE8F14F0}" type="slidenum">
              <a:rPr lang="zh-CN" altLang="en-US" smtClean="0"/>
              <a:t>48</a:t>
            </a:fld>
            <a:endParaRPr lang="zh-CN" altLang="en-US" dirty="0"/>
          </a:p>
        </p:txBody>
      </p:sp>
    </p:spTree>
    <p:extLst>
      <p:ext uri="{BB962C8B-B14F-4D97-AF65-F5344CB8AC3E}">
        <p14:creationId xmlns:p14="http://schemas.microsoft.com/office/powerpoint/2010/main" val="29077891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117DD-3421-5E74-3BE5-F20D1987E9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925E82-2208-5036-AD6C-F97D3A6F4D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CB3E7E-D4AA-E1DC-5688-66A5354C7459}"/>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a:extLst>
              <a:ext uri="{FF2B5EF4-FFF2-40B4-BE49-F238E27FC236}">
                <a16:creationId xmlns:a16="http://schemas.microsoft.com/office/drawing/2014/main" id="{A370DD9B-97AB-DC28-02C9-7F8801142C5A}"/>
              </a:ext>
            </a:extLst>
          </p:cNvPr>
          <p:cNvSpPr>
            <a:spLocks noGrp="1"/>
          </p:cNvSpPr>
          <p:nvPr>
            <p:ph type="sldNum" sz="quarter" idx="5"/>
          </p:nvPr>
        </p:nvSpPr>
        <p:spPr/>
        <p:txBody>
          <a:bodyPr/>
          <a:lstStyle/>
          <a:p>
            <a:fld id="{02F104FE-1482-4A73-8F47-A8B5CE8F14F0}" type="slidenum">
              <a:rPr lang="zh-CN" altLang="en-US" smtClean="0"/>
              <a:t>49</a:t>
            </a:fld>
            <a:endParaRPr lang="zh-CN" altLang="en-US" dirty="0"/>
          </a:p>
        </p:txBody>
      </p:sp>
    </p:spTree>
    <p:extLst>
      <p:ext uri="{BB962C8B-B14F-4D97-AF65-F5344CB8AC3E}">
        <p14:creationId xmlns:p14="http://schemas.microsoft.com/office/powerpoint/2010/main" val="401764468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1E6E3-A4FD-ED5D-8C94-C6FBFB9E95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21BF80-527D-826C-195B-6D5DB6B0B0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08E733-7C37-4280-C7AD-EF260F4A28B1}"/>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a:extLst>
              <a:ext uri="{FF2B5EF4-FFF2-40B4-BE49-F238E27FC236}">
                <a16:creationId xmlns:a16="http://schemas.microsoft.com/office/drawing/2014/main" id="{18FA84BE-95BE-03D4-B6CA-F9ED9025E642}"/>
              </a:ext>
            </a:extLst>
          </p:cNvPr>
          <p:cNvSpPr>
            <a:spLocks noGrp="1"/>
          </p:cNvSpPr>
          <p:nvPr>
            <p:ph type="sldNum" sz="quarter" idx="5"/>
          </p:nvPr>
        </p:nvSpPr>
        <p:spPr/>
        <p:txBody>
          <a:bodyPr/>
          <a:lstStyle/>
          <a:p>
            <a:fld id="{02F104FE-1482-4A73-8F47-A8B5CE8F14F0}" type="slidenum">
              <a:rPr lang="zh-CN" altLang="en-US" smtClean="0"/>
              <a:t>50</a:t>
            </a:fld>
            <a:endParaRPr lang="zh-CN" altLang="en-US" dirty="0"/>
          </a:p>
        </p:txBody>
      </p:sp>
    </p:spTree>
    <p:extLst>
      <p:ext uri="{BB962C8B-B14F-4D97-AF65-F5344CB8AC3E}">
        <p14:creationId xmlns:p14="http://schemas.microsoft.com/office/powerpoint/2010/main" val="29318673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D786E-442A-D5D8-CCEF-C054B5E811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970FFF-E7C7-80A5-4A6E-55AD57F4AC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0160E9-7C98-7661-F107-F8985FD63594}"/>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a:extLst>
              <a:ext uri="{FF2B5EF4-FFF2-40B4-BE49-F238E27FC236}">
                <a16:creationId xmlns:a16="http://schemas.microsoft.com/office/drawing/2014/main" id="{BC054E12-168D-F6A4-E2C5-9F2C3EC5A979}"/>
              </a:ext>
            </a:extLst>
          </p:cNvPr>
          <p:cNvSpPr>
            <a:spLocks noGrp="1"/>
          </p:cNvSpPr>
          <p:nvPr>
            <p:ph type="sldNum" sz="quarter" idx="5"/>
          </p:nvPr>
        </p:nvSpPr>
        <p:spPr/>
        <p:txBody>
          <a:bodyPr/>
          <a:lstStyle/>
          <a:p>
            <a:fld id="{02F104FE-1482-4A73-8F47-A8B5CE8F14F0}" type="slidenum">
              <a:rPr lang="zh-CN" altLang="en-US" smtClean="0"/>
              <a:t>51</a:t>
            </a:fld>
            <a:endParaRPr lang="zh-CN" altLang="en-US" dirty="0"/>
          </a:p>
        </p:txBody>
      </p:sp>
    </p:spTree>
    <p:extLst>
      <p:ext uri="{BB962C8B-B14F-4D97-AF65-F5344CB8AC3E}">
        <p14:creationId xmlns:p14="http://schemas.microsoft.com/office/powerpoint/2010/main" val="27204037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9BC5C-D050-75B4-A655-BF7410EF04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6B88DB-3348-BE21-22F4-207A40CEB7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B55659-4E08-7018-484B-21C70CC2C4B7}"/>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a:extLst>
              <a:ext uri="{FF2B5EF4-FFF2-40B4-BE49-F238E27FC236}">
                <a16:creationId xmlns:a16="http://schemas.microsoft.com/office/drawing/2014/main" id="{64666C80-5149-466E-C504-A3BE1A012BD8}"/>
              </a:ext>
            </a:extLst>
          </p:cNvPr>
          <p:cNvSpPr>
            <a:spLocks noGrp="1"/>
          </p:cNvSpPr>
          <p:nvPr>
            <p:ph type="sldNum" sz="quarter" idx="5"/>
          </p:nvPr>
        </p:nvSpPr>
        <p:spPr/>
        <p:txBody>
          <a:bodyPr/>
          <a:lstStyle/>
          <a:p>
            <a:fld id="{02F104FE-1482-4A73-8F47-A8B5CE8F14F0}" type="slidenum">
              <a:rPr lang="zh-CN" altLang="en-US" smtClean="0"/>
              <a:t>52</a:t>
            </a:fld>
            <a:endParaRPr lang="zh-CN" altLang="en-US" dirty="0"/>
          </a:p>
        </p:txBody>
      </p:sp>
    </p:spTree>
    <p:extLst>
      <p:ext uri="{BB962C8B-B14F-4D97-AF65-F5344CB8AC3E}">
        <p14:creationId xmlns:p14="http://schemas.microsoft.com/office/powerpoint/2010/main" val="22325079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2D324-C13E-6137-F91E-6A9056D831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5CC6D7-0F9C-003F-D502-E5EBEB4B01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121886-EF27-D0D4-682E-76C6AFCB1C64}"/>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a:extLst>
              <a:ext uri="{FF2B5EF4-FFF2-40B4-BE49-F238E27FC236}">
                <a16:creationId xmlns:a16="http://schemas.microsoft.com/office/drawing/2014/main" id="{1BD5665D-2547-D8AB-66C0-121C6A3160AE}"/>
              </a:ext>
            </a:extLst>
          </p:cNvPr>
          <p:cNvSpPr>
            <a:spLocks noGrp="1"/>
          </p:cNvSpPr>
          <p:nvPr>
            <p:ph type="sldNum" sz="quarter" idx="5"/>
          </p:nvPr>
        </p:nvSpPr>
        <p:spPr/>
        <p:txBody>
          <a:bodyPr/>
          <a:lstStyle/>
          <a:p>
            <a:fld id="{02F104FE-1482-4A73-8F47-A8B5CE8F14F0}" type="slidenum">
              <a:rPr lang="zh-CN" altLang="en-US" smtClean="0"/>
              <a:t>53</a:t>
            </a:fld>
            <a:endParaRPr lang="zh-CN" altLang="en-US" dirty="0"/>
          </a:p>
        </p:txBody>
      </p:sp>
    </p:spTree>
    <p:extLst>
      <p:ext uri="{BB962C8B-B14F-4D97-AF65-F5344CB8AC3E}">
        <p14:creationId xmlns:p14="http://schemas.microsoft.com/office/powerpoint/2010/main" val="17311354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78004-1D16-144D-3B45-E26E134F75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2C102B-BD04-8902-A151-4C5AC93B13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B6DE86-3313-8375-9155-F5953E12566A}"/>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a:extLst>
              <a:ext uri="{FF2B5EF4-FFF2-40B4-BE49-F238E27FC236}">
                <a16:creationId xmlns:a16="http://schemas.microsoft.com/office/drawing/2014/main" id="{ED93F779-06E1-745E-6E30-F42058AC84D6}"/>
              </a:ext>
            </a:extLst>
          </p:cNvPr>
          <p:cNvSpPr>
            <a:spLocks noGrp="1"/>
          </p:cNvSpPr>
          <p:nvPr>
            <p:ph type="sldNum" sz="quarter" idx="5"/>
          </p:nvPr>
        </p:nvSpPr>
        <p:spPr/>
        <p:txBody>
          <a:bodyPr/>
          <a:lstStyle/>
          <a:p>
            <a:fld id="{02F104FE-1482-4A73-8F47-A8B5CE8F14F0}" type="slidenum">
              <a:rPr lang="zh-CN" altLang="en-US" smtClean="0"/>
              <a:t>54</a:t>
            </a:fld>
            <a:endParaRPr lang="zh-CN" altLang="en-US" dirty="0"/>
          </a:p>
        </p:txBody>
      </p:sp>
    </p:spTree>
    <p:extLst>
      <p:ext uri="{BB962C8B-B14F-4D97-AF65-F5344CB8AC3E}">
        <p14:creationId xmlns:p14="http://schemas.microsoft.com/office/powerpoint/2010/main" val="23088387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8EAD8-75AF-09FC-2C7C-5178CA3780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978C192-52BD-FF8E-F31F-90355DCB0F2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E44AB58-4E11-D663-D3A3-F5371A78D8DC}"/>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a:extLst>
              <a:ext uri="{FF2B5EF4-FFF2-40B4-BE49-F238E27FC236}">
                <a16:creationId xmlns:a16="http://schemas.microsoft.com/office/drawing/2014/main" id="{9DAB2F56-FBDA-45C7-82BA-D58FC68DB1F5}"/>
              </a:ext>
            </a:extLst>
          </p:cNvPr>
          <p:cNvSpPr>
            <a:spLocks noGrp="1"/>
          </p:cNvSpPr>
          <p:nvPr>
            <p:ph type="sldNum" sz="quarter" idx="5"/>
          </p:nvPr>
        </p:nvSpPr>
        <p:spPr/>
        <p:txBody>
          <a:bodyPr/>
          <a:lstStyle/>
          <a:p>
            <a:fld id="{02F104FE-1482-4A73-8F47-A8B5CE8F14F0}" type="slidenum">
              <a:rPr lang="zh-CN" altLang="en-US" smtClean="0"/>
              <a:t>55</a:t>
            </a:fld>
            <a:endParaRPr lang="zh-CN" altLang="en-US" dirty="0"/>
          </a:p>
        </p:txBody>
      </p:sp>
    </p:spTree>
    <p:extLst>
      <p:ext uri="{BB962C8B-B14F-4D97-AF65-F5344CB8AC3E}">
        <p14:creationId xmlns:p14="http://schemas.microsoft.com/office/powerpoint/2010/main" val="25764110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E8C0B-2961-8923-6CEF-AFBA75DF9A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B1AEEF-E6CF-3F35-D7E8-B3AF9DF3F5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9FBB1B-CC09-3B7F-16EF-988AFC2AA7EE}"/>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a:extLst>
              <a:ext uri="{FF2B5EF4-FFF2-40B4-BE49-F238E27FC236}">
                <a16:creationId xmlns:a16="http://schemas.microsoft.com/office/drawing/2014/main" id="{D8C9BAB9-A850-93C2-A42E-42352E97BE83}"/>
              </a:ext>
            </a:extLst>
          </p:cNvPr>
          <p:cNvSpPr>
            <a:spLocks noGrp="1"/>
          </p:cNvSpPr>
          <p:nvPr>
            <p:ph type="sldNum" sz="quarter" idx="5"/>
          </p:nvPr>
        </p:nvSpPr>
        <p:spPr/>
        <p:txBody>
          <a:bodyPr/>
          <a:lstStyle/>
          <a:p>
            <a:fld id="{02F104FE-1482-4A73-8F47-A8B5CE8F14F0}" type="slidenum">
              <a:rPr lang="zh-CN" altLang="en-US" smtClean="0"/>
              <a:t>56</a:t>
            </a:fld>
            <a:endParaRPr lang="zh-CN" altLang="en-US" dirty="0"/>
          </a:p>
        </p:txBody>
      </p:sp>
    </p:spTree>
    <p:extLst>
      <p:ext uri="{BB962C8B-B14F-4D97-AF65-F5344CB8AC3E}">
        <p14:creationId xmlns:p14="http://schemas.microsoft.com/office/powerpoint/2010/main" val="24990870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7D149-3F44-4102-1446-AB4C96A97D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A95AAAC-C4EA-9872-BAE0-77814CA00F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9ED45A-52D5-2ACC-05A3-EA6D210AB4D8}"/>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a:extLst>
              <a:ext uri="{FF2B5EF4-FFF2-40B4-BE49-F238E27FC236}">
                <a16:creationId xmlns:a16="http://schemas.microsoft.com/office/drawing/2014/main" id="{7510016E-BFC3-068B-6270-B09169BD4840}"/>
              </a:ext>
            </a:extLst>
          </p:cNvPr>
          <p:cNvSpPr>
            <a:spLocks noGrp="1"/>
          </p:cNvSpPr>
          <p:nvPr>
            <p:ph type="sldNum" sz="quarter" idx="5"/>
          </p:nvPr>
        </p:nvSpPr>
        <p:spPr/>
        <p:txBody>
          <a:bodyPr/>
          <a:lstStyle/>
          <a:p>
            <a:fld id="{02F104FE-1482-4A73-8F47-A8B5CE8F14F0}" type="slidenum">
              <a:rPr lang="zh-CN" altLang="en-US" smtClean="0"/>
              <a:t>57</a:t>
            </a:fld>
            <a:endParaRPr lang="zh-CN" altLang="en-US" dirty="0"/>
          </a:p>
        </p:txBody>
      </p:sp>
    </p:spTree>
    <p:extLst>
      <p:ext uri="{BB962C8B-B14F-4D97-AF65-F5344CB8AC3E}">
        <p14:creationId xmlns:p14="http://schemas.microsoft.com/office/powerpoint/2010/main" val="38169273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5D0B9-EF45-51DE-BA89-52F9DFE02E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5DCD3E-91F8-2E40-BC83-C8ABA85035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9CAF4F-8826-0331-06F3-B1CC2EDA199C}"/>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a:extLst>
              <a:ext uri="{FF2B5EF4-FFF2-40B4-BE49-F238E27FC236}">
                <a16:creationId xmlns:a16="http://schemas.microsoft.com/office/drawing/2014/main" id="{84717FD0-717F-8F48-1579-55AC7B723B91}"/>
              </a:ext>
            </a:extLst>
          </p:cNvPr>
          <p:cNvSpPr>
            <a:spLocks noGrp="1"/>
          </p:cNvSpPr>
          <p:nvPr>
            <p:ph type="sldNum" sz="quarter" idx="5"/>
          </p:nvPr>
        </p:nvSpPr>
        <p:spPr/>
        <p:txBody>
          <a:bodyPr/>
          <a:lstStyle/>
          <a:p>
            <a:fld id="{02F104FE-1482-4A73-8F47-A8B5CE8F14F0}" type="slidenum">
              <a:rPr lang="zh-CN" altLang="en-US" smtClean="0"/>
              <a:t>58</a:t>
            </a:fld>
            <a:endParaRPr lang="zh-CN" altLang="en-US" dirty="0"/>
          </a:p>
        </p:txBody>
      </p:sp>
    </p:spTree>
    <p:extLst>
      <p:ext uri="{BB962C8B-B14F-4D97-AF65-F5344CB8AC3E}">
        <p14:creationId xmlns:p14="http://schemas.microsoft.com/office/powerpoint/2010/main" val="287944205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56089-F98A-FA8E-C8D3-F165C8B456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F33019-CAEF-681A-13EA-FB642F431C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6EC386-85B2-947D-6AFC-E8D3B345333F}"/>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defRPr/>
            </a:pPr>
            <a:endParaRPr lang="en-US" altLang="zh-CN" dirty="0"/>
          </a:p>
        </p:txBody>
      </p:sp>
      <p:sp>
        <p:nvSpPr>
          <p:cNvPr id="4" name="灯片编号占位符 3">
            <a:extLst>
              <a:ext uri="{FF2B5EF4-FFF2-40B4-BE49-F238E27FC236}">
                <a16:creationId xmlns:a16="http://schemas.microsoft.com/office/drawing/2014/main" id="{9D29D631-8954-A433-0836-9EA13B45C099}"/>
              </a:ext>
            </a:extLst>
          </p:cNvPr>
          <p:cNvSpPr>
            <a:spLocks noGrp="1"/>
          </p:cNvSpPr>
          <p:nvPr>
            <p:ph type="sldNum" sz="quarter" idx="5"/>
          </p:nvPr>
        </p:nvSpPr>
        <p:spPr/>
        <p:txBody>
          <a:bodyPr/>
          <a:lstStyle/>
          <a:p>
            <a:fld id="{02F104FE-1482-4A73-8F47-A8B5CE8F14F0}" type="slidenum">
              <a:rPr lang="zh-CN" altLang="en-US" smtClean="0"/>
              <a:t>59</a:t>
            </a:fld>
            <a:endParaRPr lang="zh-CN" altLang="en-US" dirty="0"/>
          </a:p>
        </p:txBody>
      </p:sp>
    </p:spTree>
    <p:extLst>
      <p:ext uri="{BB962C8B-B14F-4D97-AF65-F5344CB8AC3E}">
        <p14:creationId xmlns:p14="http://schemas.microsoft.com/office/powerpoint/2010/main" val="271440982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F104FE-1482-4A73-8F47-A8B5CE8F14F0}" type="slidenum">
              <a:rPr lang="zh-CN" altLang="en-US" smtClean="0"/>
              <a:pPr/>
              <a:t>61</a:t>
            </a:fld>
            <a:endParaRPr lang="zh-CN" altLang="en-US" dirty="0"/>
          </a:p>
        </p:txBody>
      </p:sp>
    </p:spTree>
    <p:extLst>
      <p:ext uri="{BB962C8B-B14F-4D97-AF65-F5344CB8AC3E}">
        <p14:creationId xmlns:p14="http://schemas.microsoft.com/office/powerpoint/2010/main" val="35322524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2D915-0AA6-68D9-8224-B41D3EC5ED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36B3F35-1E79-7A51-C6B7-14053F9E479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990123-643C-5B80-D59F-765AFC0DA9CC}"/>
              </a:ext>
            </a:extLst>
          </p:cNvPr>
          <p:cNvSpPr>
            <a:spLocks noGrp="1"/>
          </p:cNvSpPr>
          <p:nvPr>
            <p:ph type="body" idx="1"/>
          </p:nvPr>
        </p:nvSpPr>
        <p:spPr/>
        <p:txBody>
          <a:bodyPr/>
          <a:lstStyle/>
          <a:p>
            <a:r>
              <a:rPr lang="zh-CN" altLang="en-US" dirty="0"/>
              <a:t>写板书，说运动的相对性。</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cs typeface="+mn-cs"/>
            </a:endParaRPr>
          </a:p>
        </p:txBody>
      </p:sp>
      <p:sp>
        <p:nvSpPr>
          <p:cNvPr id="4" name="灯片编号占位符 3">
            <a:extLst>
              <a:ext uri="{FF2B5EF4-FFF2-40B4-BE49-F238E27FC236}">
                <a16:creationId xmlns:a16="http://schemas.microsoft.com/office/drawing/2014/main" id="{41BAFAA0-46D8-551E-0E79-38B514B6C026}"/>
              </a:ext>
            </a:extLst>
          </p:cNvPr>
          <p:cNvSpPr>
            <a:spLocks noGrp="1"/>
          </p:cNvSpPr>
          <p:nvPr>
            <p:ph type="sldNum" sz="quarter" idx="5"/>
          </p:nvPr>
        </p:nvSpPr>
        <p:spPr/>
        <p:txBody>
          <a:bodyPr/>
          <a:lstStyle/>
          <a:p>
            <a:fld id="{02F104FE-1482-4A73-8F47-A8B5CE8F14F0}" type="slidenum">
              <a:rPr lang="zh-CN" altLang="en-US" smtClean="0"/>
              <a:t>62</a:t>
            </a:fld>
            <a:endParaRPr lang="zh-CN" altLang="en-US"/>
          </a:p>
        </p:txBody>
      </p:sp>
    </p:spTree>
    <p:extLst>
      <p:ext uri="{BB962C8B-B14F-4D97-AF65-F5344CB8AC3E}">
        <p14:creationId xmlns:p14="http://schemas.microsoft.com/office/powerpoint/2010/main" val="203613025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0978ADB-B1E2-4231-B712-145FFFBB6966}" type="slidenum">
              <a:rPr lang="en-US" altLang="zh-CN" smtClean="0"/>
              <a:t>63</a:t>
            </a:fld>
            <a:endParaRPr lang="en-US" altLang="zh-CN" dirty="0"/>
          </a:p>
        </p:txBody>
      </p:sp>
    </p:spTree>
    <p:extLst>
      <p:ext uri="{BB962C8B-B14F-4D97-AF65-F5344CB8AC3E}">
        <p14:creationId xmlns:p14="http://schemas.microsoft.com/office/powerpoint/2010/main" val="320817224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9777E-C57C-903A-2D1F-E30A91BDB7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CFBF88-84C8-4064-D9EC-B762EF61F9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280758-ED14-607D-2901-6E85275277E0}"/>
              </a:ext>
            </a:extLst>
          </p:cNvPr>
          <p:cNvSpPr>
            <a:spLocks noGrp="1"/>
          </p:cNvSpPr>
          <p:nvPr>
            <p:ph type="body" idx="1"/>
          </p:nvPr>
        </p:nvSpPr>
        <p:spPr/>
        <p:txBody>
          <a:bodyPr/>
          <a:lstStyle/>
          <a:p>
            <a:r>
              <a:rPr lang="en-US" altLang="zh-CN"/>
              <a:t>p167</a:t>
            </a:r>
            <a:endParaRPr lang="zh-CN" altLang="en-US"/>
          </a:p>
        </p:txBody>
      </p:sp>
      <p:sp>
        <p:nvSpPr>
          <p:cNvPr id="4" name="灯片编号占位符 3">
            <a:extLst>
              <a:ext uri="{FF2B5EF4-FFF2-40B4-BE49-F238E27FC236}">
                <a16:creationId xmlns:a16="http://schemas.microsoft.com/office/drawing/2014/main" id="{E4A423B8-D5AB-A256-E4AA-85EAE6D41F8C}"/>
              </a:ext>
            </a:extLst>
          </p:cNvPr>
          <p:cNvSpPr>
            <a:spLocks noGrp="1"/>
          </p:cNvSpPr>
          <p:nvPr>
            <p:ph type="sldNum" sz="quarter" idx="5"/>
          </p:nvPr>
        </p:nvSpPr>
        <p:spPr/>
        <p:txBody>
          <a:bodyPr/>
          <a:lstStyle/>
          <a:p>
            <a:fld id="{02F104FE-1482-4A73-8F47-A8B5CE8F14F0}" type="slidenum">
              <a:rPr lang="zh-CN" altLang="en-US" smtClean="0"/>
              <a:pPr/>
              <a:t>76</a:t>
            </a:fld>
            <a:endParaRPr lang="zh-CN" altLang="en-US" dirty="0"/>
          </a:p>
        </p:txBody>
      </p:sp>
    </p:spTree>
    <p:extLst>
      <p:ext uri="{BB962C8B-B14F-4D97-AF65-F5344CB8AC3E}">
        <p14:creationId xmlns:p14="http://schemas.microsoft.com/office/powerpoint/2010/main" val="12659174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307919463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dirty="0"/>
          </a:p>
        </p:txBody>
      </p:sp>
    </p:spTree>
    <p:extLst>
      <p:ext uri="{BB962C8B-B14F-4D97-AF65-F5344CB8AC3E}">
        <p14:creationId xmlns:p14="http://schemas.microsoft.com/office/powerpoint/2010/main" val="344665809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0978ADB-B1E2-4231-B712-145FFFBB6966}" type="slidenum">
              <a:rPr lang="en-US" altLang="zh-CN" smtClean="0"/>
              <a:t>85</a:t>
            </a:fld>
            <a:endParaRPr lang="en-US" altLang="zh-CN" dirty="0"/>
          </a:p>
        </p:txBody>
      </p:sp>
    </p:spTree>
    <p:extLst>
      <p:ext uri="{BB962C8B-B14F-4D97-AF65-F5344CB8AC3E}">
        <p14:creationId xmlns:p14="http://schemas.microsoft.com/office/powerpoint/2010/main" val="330693300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dirty="0"/>
          </a:p>
        </p:txBody>
      </p:sp>
    </p:spTree>
    <p:extLst>
      <p:ext uri="{BB962C8B-B14F-4D97-AF65-F5344CB8AC3E}">
        <p14:creationId xmlns:p14="http://schemas.microsoft.com/office/powerpoint/2010/main" val="286237333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dirty="0"/>
          </a:p>
        </p:txBody>
      </p:sp>
    </p:spTree>
    <p:extLst>
      <p:ext uri="{BB962C8B-B14F-4D97-AF65-F5344CB8AC3E}">
        <p14:creationId xmlns:p14="http://schemas.microsoft.com/office/powerpoint/2010/main" val="40769466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dirty="0"/>
          </a:p>
        </p:txBody>
      </p:sp>
    </p:spTree>
    <p:extLst>
      <p:ext uri="{BB962C8B-B14F-4D97-AF65-F5344CB8AC3E}">
        <p14:creationId xmlns:p14="http://schemas.microsoft.com/office/powerpoint/2010/main" val="182823358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dirty="0"/>
          </a:p>
        </p:txBody>
      </p:sp>
    </p:spTree>
    <p:extLst>
      <p:ext uri="{BB962C8B-B14F-4D97-AF65-F5344CB8AC3E}">
        <p14:creationId xmlns:p14="http://schemas.microsoft.com/office/powerpoint/2010/main" val="32451956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dirty="0"/>
          </a:p>
        </p:txBody>
      </p:sp>
    </p:spTree>
    <p:extLst>
      <p:ext uri="{BB962C8B-B14F-4D97-AF65-F5344CB8AC3E}">
        <p14:creationId xmlns:p14="http://schemas.microsoft.com/office/powerpoint/2010/main" val="42137282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dirty="0"/>
          </a:p>
        </p:txBody>
      </p:sp>
    </p:spTree>
    <p:extLst>
      <p:ext uri="{BB962C8B-B14F-4D97-AF65-F5344CB8AC3E}">
        <p14:creationId xmlns:p14="http://schemas.microsoft.com/office/powerpoint/2010/main" val="288355933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dirty="0"/>
          </a:p>
        </p:txBody>
      </p:sp>
    </p:spTree>
    <p:extLst>
      <p:ext uri="{BB962C8B-B14F-4D97-AF65-F5344CB8AC3E}">
        <p14:creationId xmlns:p14="http://schemas.microsoft.com/office/powerpoint/2010/main" val="385736339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dirty="0"/>
          </a:p>
        </p:txBody>
      </p:sp>
    </p:spTree>
    <p:extLst>
      <p:ext uri="{BB962C8B-B14F-4D97-AF65-F5344CB8AC3E}">
        <p14:creationId xmlns:p14="http://schemas.microsoft.com/office/powerpoint/2010/main" val="173720284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dirty="0"/>
          </a:p>
        </p:txBody>
      </p:sp>
    </p:spTree>
    <p:extLst>
      <p:ext uri="{BB962C8B-B14F-4D97-AF65-F5344CB8AC3E}">
        <p14:creationId xmlns:p14="http://schemas.microsoft.com/office/powerpoint/2010/main" val="259510464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dirty="0"/>
          </a:p>
        </p:txBody>
      </p:sp>
    </p:spTree>
    <p:extLst>
      <p:ext uri="{BB962C8B-B14F-4D97-AF65-F5344CB8AC3E}">
        <p14:creationId xmlns:p14="http://schemas.microsoft.com/office/powerpoint/2010/main" val="227502765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0978ADB-B1E2-4231-B712-145FFFBB6966}" type="slidenum">
              <a:rPr lang="en-US" altLang="zh-CN" smtClean="0"/>
              <a:t>96</a:t>
            </a:fld>
            <a:endParaRPr lang="en-US" altLang="zh-CN" dirty="0"/>
          </a:p>
        </p:txBody>
      </p:sp>
    </p:spTree>
    <p:extLst>
      <p:ext uri="{BB962C8B-B14F-4D97-AF65-F5344CB8AC3E}">
        <p14:creationId xmlns:p14="http://schemas.microsoft.com/office/powerpoint/2010/main" val="346289538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dirty="0"/>
          </a:p>
        </p:txBody>
      </p:sp>
    </p:spTree>
    <p:extLst>
      <p:ext uri="{BB962C8B-B14F-4D97-AF65-F5344CB8AC3E}">
        <p14:creationId xmlns:p14="http://schemas.microsoft.com/office/powerpoint/2010/main" val="307562983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dirty="0"/>
          </a:p>
        </p:txBody>
      </p:sp>
    </p:spTree>
    <p:extLst>
      <p:ext uri="{BB962C8B-B14F-4D97-AF65-F5344CB8AC3E}">
        <p14:creationId xmlns:p14="http://schemas.microsoft.com/office/powerpoint/2010/main" val="37783768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dirty="0"/>
          </a:p>
        </p:txBody>
      </p:sp>
    </p:spTree>
    <p:extLst>
      <p:ext uri="{BB962C8B-B14F-4D97-AF65-F5344CB8AC3E}">
        <p14:creationId xmlns:p14="http://schemas.microsoft.com/office/powerpoint/2010/main" val="9431513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dirty="0"/>
          </a:p>
        </p:txBody>
      </p:sp>
    </p:spTree>
    <p:extLst>
      <p:ext uri="{BB962C8B-B14F-4D97-AF65-F5344CB8AC3E}">
        <p14:creationId xmlns:p14="http://schemas.microsoft.com/office/powerpoint/2010/main" val="353315688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dirty="0"/>
          </a:p>
        </p:txBody>
      </p:sp>
    </p:spTree>
    <p:extLst>
      <p:ext uri="{BB962C8B-B14F-4D97-AF65-F5344CB8AC3E}">
        <p14:creationId xmlns:p14="http://schemas.microsoft.com/office/powerpoint/2010/main" val="61098905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dirty="0"/>
          </a:p>
        </p:txBody>
      </p:sp>
    </p:spTree>
    <p:extLst>
      <p:ext uri="{BB962C8B-B14F-4D97-AF65-F5344CB8AC3E}">
        <p14:creationId xmlns:p14="http://schemas.microsoft.com/office/powerpoint/2010/main" val="169532022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dirty="0"/>
          </a:p>
        </p:txBody>
      </p:sp>
    </p:spTree>
    <p:extLst>
      <p:ext uri="{BB962C8B-B14F-4D97-AF65-F5344CB8AC3E}">
        <p14:creationId xmlns:p14="http://schemas.microsoft.com/office/powerpoint/2010/main" val="406583913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dirty="0"/>
          </a:p>
        </p:txBody>
      </p:sp>
    </p:spTree>
    <p:extLst>
      <p:ext uri="{BB962C8B-B14F-4D97-AF65-F5344CB8AC3E}">
        <p14:creationId xmlns:p14="http://schemas.microsoft.com/office/powerpoint/2010/main" val="187421355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dirty="0"/>
          </a:p>
        </p:txBody>
      </p:sp>
    </p:spTree>
    <p:extLst>
      <p:ext uri="{BB962C8B-B14F-4D97-AF65-F5344CB8AC3E}">
        <p14:creationId xmlns:p14="http://schemas.microsoft.com/office/powerpoint/2010/main" val="92792333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dirty="0"/>
          </a:p>
        </p:txBody>
      </p:sp>
    </p:spTree>
    <p:extLst>
      <p:ext uri="{BB962C8B-B14F-4D97-AF65-F5344CB8AC3E}">
        <p14:creationId xmlns:p14="http://schemas.microsoft.com/office/powerpoint/2010/main" val="47924183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dirty="0"/>
          </a:p>
        </p:txBody>
      </p:sp>
    </p:spTree>
    <p:extLst>
      <p:ext uri="{BB962C8B-B14F-4D97-AF65-F5344CB8AC3E}">
        <p14:creationId xmlns:p14="http://schemas.microsoft.com/office/powerpoint/2010/main" val="281303175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dirty="0"/>
          </a:p>
        </p:txBody>
      </p:sp>
    </p:spTree>
    <p:extLst>
      <p:ext uri="{BB962C8B-B14F-4D97-AF65-F5344CB8AC3E}">
        <p14:creationId xmlns:p14="http://schemas.microsoft.com/office/powerpoint/2010/main" val="99440706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0978ADB-B1E2-4231-B712-145FFFBB6966}" type="slidenum">
              <a:rPr lang="en-US" altLang="zh-CN" smtClean="0"/>
              <a:t>109</a:t>
            </a:fld>
            <a:endParaRPr lang="en-US" altLang="zh-CN" dirty="0"/>
          </a:p>
        </p:txBody>
      </p:sp>
    </p:spTree>
    <p:extLst>
      <p:ext uri="{BB962C8B-B14F-4D97-AF65-F5344CB8AC3E}">
        <p14:creationId xmlns:p14="http://schemas.microsoft.com/office/powerpoint/2010/main" val="3559462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dirty="0"/>
          </a:p>
        </p:txBody>
      </p:sp>
    </p:spTree>
    <p:extLst>
      <p:ext uri="{BB962C8B-B14F-4D97-AF65-F5344CB8AC3E}">
        <p14:creationId xmlns:p14="http://schemas.microsoft.com/office/powerpoint/2010/main" val="144385783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dirty="0"/>
          </a:p>
        </p:txBody>
      </p:sp>
    </p:spTree>
    <p:extLst>
      <p:ext uri="{BB962C8B-B14F-4D97-AF65-F5344CB8AC3E}">
        <p14:creationId xmlns:p14="http://schemas.microsoft.com/office/powerpoint/2010/main" val="399491944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dirty="0"/>
          </a:p>
        </p:txBody>
      </p:sp>
    </p:spTree>
    <p:extLst>
      <p:ext uri="{BB962C8B-B14F-4D97-AF65-F5344CB8AC3E}">
        <p14:creationId xmlns:p14="http://schemas.microsoft.com/office/powerpoint/2010/main" val="139599998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dirty="0"/>
          </a:p>
        </p:txBody>
      </p:sp>
    </p:spTree>
    <p:extLst>
      <p:ext uri="{BB962C8B-B14F-4D97-AF65-F5344CB8AC3E}">
        <p14:creationId xmlns:p14="http://schemas.microsoft.com/office/powerpoint/2010/main" val="365201577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dirty="0"/>
          </a:p>
        </p:txBody>
      </p:sp>
    </p:spTree>
    <p:extLst>
      <p:ext uri="{BB962C8B-B14F-4D97-AF65-F5344CB8AC3E}">
        <p14:creationId xmlns:p14="http://schemas.microsoft.com/office/powerpoint/2010/main" val="290440288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dirty="0"/>
          </a:p>
        </p:txBody>
      </p:sp>
    </p:spTree>
    <p:extLst>
      <p:ext uri="{BB962C8B-B14F-4D97-AF65-F5344CB8AC3E}">
        <p14:creationId xmlns:p14="http://schemas.microsoft.com/office/powerpoint/2010/main" val="199516263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dirty="0"/>
          </a:p>
        </p:txBody>
      </p:sp>
    </p:spTree>
    <p:extLst>
      <p:ext uri="{BB962C8B-B14F-4D97-AF65-F5344CB8AC3E}">
        <p14:creationId xmlns:p14="http://schemas.microsoft.com/office/powerpoint/2010/main" val="380240441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dirty="0"/>
          </a:p>
        </p:txBody>
      </p:sp>
    </p:spTree>
    <p:extLst>
      <p:ext uri="{BB962C8B-B14F-4D97-AF65-F5344CB8AC3E}">
        <p14:creationId xmlns:p14="http://schemas.microsoft.com/office/powerpoint/2010/main" val="321675107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dirty="0"/>
          </a:p>
        </p:txBody>
      </p:sp>
    </p:spTree>
    <p:extLst>
      <p:ext uri="{BB962C8B-B14F-4D97-AF65-F5344CB8AC3E}">
        <p14:creationId xmlns:p14="http://schemas.microsoft.com/office/powerpoint/2010/main" val="348822437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dirty="0"/>
          </a:p>
        </p:txBody>
      </p:sp>
    </p:spTree>
    <p:extLst>
      <p:ext uri="{BB962C8B-B14F-4D97-AF65-F5344CB8AC3E}">
        <p14:creationId xmlns:p14="http://schemas.microsoft.com/office/powerpoint/2010/main" val="95331765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dirty="0"/>
          </a:p>
        </p:txBody>
      </p:sp>
    </p:spTree>
    <p:extLst>
      <p:ext uri="{BB962C8B-B14F-4D97-AF65-F5344CB8AC3E}">
        <p14:creationId xmlns:p14="http://schemas.microsoft.com/office/powerpoint/2010/main" val="148354848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dirty="0"/>
          </a:p>
        </p:txBody>
      </p:sp>
    </p:spTree>
    <p:extLst>
      <p:ext uri="{BB962C8B-B14F-4D97-AF65-F5344CB8AC3E}">
        <p14:creationId xmlns:p14="http://schemas.microsoft.com/office/powerpoint/2010/main" val="42534209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dirty="0"/>
          </a:p>
        </p:txBody>
      </p:sp>
    </p:spTree>
    <p:extLst>
      <p:ext uri="{BB962C8B-B14F-4D97-AF65-F5344CB8AC3E}">
        <p14:creationId xmlns:p14="http://schemas.microsoft.com/office/powerpoint/2010/main" val="313899943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dirty="0"/>
          </a:p>
        </p:txBody>
      </p:sp>
    </p:spTree>
    <p:extLst>
      <p:ext uri="{BB962C8B-B14F-4D97-AF65-F5344CB8AC3E}">
        <p14:creationId xmlns:p14="http://schemas.microsoft.com/office/powerpoint/2010/main" val="71108549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dirty="0"/>
          </a:p>
        </p:txBody>
      </p:sp>
    </p:spTree>
    <p:extLst>
      <p:ext uri="{BB962C8B-B14F-4D97-AF65-F5344CB8AC3E}">
        <p14:creationId xmlns:p14="http://schemas.microsoft.com/office/powerpoint/2010/main" val="314288384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dirty="0"/>
          </a:p>
        </p:txBody>
      </p:sp>
    </p:spTree>
    <p:extLst>
      <p:ext uri="{BB962C8B-B14F-4D97-AF65-F5344CB8AC3E}">
        <p14:creationId xmlns:p14="http://schemas.microsoft.com/office/powerpoint/2010/main" val="388759541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dirty="0"/>
          </a:p>
        </p:txBody>
      </p:sp>
    </p:spTree>
    <p:extLst>
      <p:ext uri="{BB962C8B-B14F-4D97-AF65-F5344CB8AC3E}">
        <p14:creationId xmlns:p14="http://schemas.microsoft.com/office/powerpoint/2010/main" val="145742056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dirty="0"/>
          </a:p>
        </p:txBody>
      </p:sp>
    </p:spTree>
    <p:extLst>
      <p:ext uri="{BB962C8B-B14F-4D97-AF65-F5344CB8AC3E}">
        <p14:creationId xmlns:p14="http://schemas.microsoft.com/office/powerpoint/2010/main" val="411975974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dirty="0"/>
          </a:p>
        </p:txBody>
      </p:sp>
    </p:spTree>
    <p:extLst>
      <p:ext uri="{BB962C8B-B14F-4D97-AF65-F5344CB8AC3E}">
        <p14:creationId xmlns:p14="http://schemas.microsoft.com/office/powerpoint/2010/main" val="166174416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dirty="0"/>
          </a:p>
        </p:txBody>
      </p:sp>
    </p:spTree>
    <p:extLst>
      <p:ext uri="{BB962C8B-B14F-4D97-AF65-F5344CB8AC3E}">
        <p14:creationId xmlns:p14="http://schemas.microsoft.com/office/powerpoint/2010/main" val="429230538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dirty="0"/>
          </a:p>
        </p:txBody>
      </p:sp>
    </p:spTree>
    <p:extLst>
      <p:ext uri="{BB962C8B-B14F-4D97-AF65-F5344CB8AC3E}">
        <p14:creationId xmlns:p14="http://schemas.microsoft.com/office/powerpoint/2010/main" val="2256793615"/>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dirty="0"/>
          </a:p>
        </p:txBody>
      </p:sp>
    </p:spTree>
    <p:extLst>
      <p:ext uri="{BB962C8B-B14F-4D97-AF65-F5344CB8AC3E}">
        <p14:creationId xmlns:p14="http://schemas.microsoft.com/office/powerpoint/2010/main" val="216520885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dirty="0"/>
          </a:p>
        </p:txBody>
      </p:sp>
    </p:spTree>
    <p:extLst>
      <p:ext uri="{BB962C8B-B14F-4D97-AF65-F5344CB8AC3E}">
        <p14:creationId xmlns:p14="http://schemas.microsoft.com/office/powerpoint/2010/main" val="96344145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dirty="0"/>
          </a:p>
        </p:txBody>
      </p:sp>
    </p:spTree>
    <p:extLst>
      <p:ext uri="{BB962C8B-B14F-4D97-AF65-F5344CB8AC3E}">
        <p14:creationId xmlns:p14="http://schemas.microsoft.com/office/powerpoint/2010/main" val="260244607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dirty="0"/>
          </a:p>
        </p:txBody>
      </p:sp>
    </p:spTree>
    <p:extLst>
      <p:ext uri="{BB962C8B-B14F-4D97-AF65-F5344CB8AC3E}">
        <p14:creationId xmlns:p14="http://schemas.microsoft.com/office/powerpoint/2010/main" val="93339065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dirty="0"/>
          </a:p>
        </p:txBody>
      </p:sp>
    </p:spTree>
    <p:extLst>
      <p:ext uri="{BB962C8B-B14F-4D97-AF65-F5344CB8AC3E}">
        <p14:creationId xmlns:p14="http://schemas.microsoft.com/office/powerpoint/2010/main" val="3700762377"/>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dirty="0"/>
          </a:p>
        </p:txBody>
      </p:sp>
    </p:spTree>
    <p:extLst>
      <p:ext uri="{BB962C8B-B14F-4D97-AF65-F5344CB8AC3E}">
        <p14:creationId xmlns:p14="http://schemas.microsoft.com/office/powerpoint/2010/main" val="161328384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dirty="0"/>
          </a:p>
        </p:txBody>
      </p:sp>
    </p:spTree>
    <p:extLst>
      <p:ext uri="{BB962C8B-B14F-4D97-AF65-F5344CB8AC3E}">
        <p14:creationId xmlns:p14="http://schemas.microsoft.com/office/powerpoint/2010/main" val="98971167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dirty="0"/>
          </a:p>
        </p:txBody>
      </p:sp>
    </p:spTree>
    <p:extLst>
      <p:ext uri="{BB962C8B-B14F-4D97-AF65-F5344CB8AC3E}">
        <p14:creationId xmlns:p14="http://schemas.microsoft.com/office/powerpoint/2010/main" val="190666017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dirty="0"/>
          </a:p>
        </p:txBody>
      </p:sp>
    </p:spTree>
    <p:extLst>
      <p:ext uri="{BB962C8B-B14F-4D97-AF65-F5344CB8AC3E}">
        <p14:creationId xmlns:p14="http://schemas.microsoft.com/office/powerpoint/2010/main" val="17620115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jpe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microsoft.com/office/2007/relationships/hdphoto" Target="../media/hdphoto2.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8976342-8BDC-A88F-D9CD-9A3E8AAE843E}"/>
              </a:ext>
            </a:extLst>
          </p:cNvPr>
          <p:cNvPicPr>
            <a:picLocks noChangeAspect="1"/>
          </p:cNvPicPr>
          <p:nvPr userDrawn="1"/>
        </p:nvPicPr>
        <p:blipFill>
          <a:blip r:embed="rId2">
            <a:extLst>
              <a:ext uri="{28A0092B-C50C-407E-A947-70E740481C1C}">
                <a14:useLocalDpi xmlns:a14="http://schemas.microsoft.com/office/drawing/2010/main" val="0"/>
              </a:ext>
            </a:extLst>
          </a:blip>
          <a:srcRect l="19160" r="21698" b="12195"/>
          <a:stretch>
            <a:fillRect/>
          </a:stretch>
        </p:blipFill>
        <p:spPr>
          <a:xfrm>
            <a:off x="0" y="0"/>
            <a:ext cx="12192000" cy="6858000"/>
          </a:xfrm>
          <a:prstGeom prst="rect">
            <a:avLst/>
          </a:prstGeom>
        </p:spPr>
      </p:pic>
      <p:pic>
        <p:nvPicPr>
          <p:cNvPr id="3" name="图片 2">
            <a:extLst>
              <a:ext uri="{FF2B5EF4-FFF2-40B4-BE49-F238E27FC236}">
                <a16:creationId xmlns:a16="http://schemas.microsoft.com/office/drawing/2014/main" id="{B6ACC2FE-A9DC-9EF1-6744-36F060BFA833}"/>
              </a:ext>
            </a:extLst>
          </p:cNvPr>
          <p:cNvPicPr>
            <a:picLocks noChangeAspect="1"/>
          </p:cNvPicPr>
          <p:nvPr userDrawn="1"/>
        </p:nvPicPr>
        <p:blipFill>
          <a:blip r:embed="rId3">
            <a:alphaModFix amt="15000"/>
            <a:extLst>
              <a:ext uri="{28A0092B-C50C-407E-A947-70E740481C1C}">
                <a14:useLocalDpi xmlns:a14="http://schemas.microsoft.com/office/drawing/2010/main" val="0"/>
              </a:ext>
            </a:extLst>
          </a:blip>
          <a:stretch>
            <a:fillRect/>
          </a:stretch>
        </p:blipFill>
        <p:spPr>
          <a:xfrm>
            <a:off x="0" y="0"/>
            <a:ext cx="9967110" cy="6858000"/>
          </a:xfrm>
          <a:prstGeom prst="rect">
            <a:avLst/>
          </a:prstGeom>
        </p:spPr>
      </p:pic>
      <p:sp>
        <p:nvSpPr>
          <p:cNvPr id="4" name="矩形 3">
            <a:extLst>
              <a:ext uri="{FF2B5EF4-FFF2-40B4-BE49-F238E27FC236}">
                <a16:creationId xmlns:a16="http://schemas.microsoft.com/office/drawing/2014/main" id="{09E4381D-ADC5-CA74-7FFE-B828D1D377BC}"/>
              </a:ext>
            </a:extLst>
          </p:cNvPr>
          <p:cNvSpPr/>
          <p:nvPr userDrawn="1"/>
        </p:nvSpPr>
        <p:spPr>
          <a:xfrm>
            <a:off x="0" y="0"/>
            <a:ext cx="12192000" cy="6858000"/>
          </a:xfrm>
          <a:prstGeom prst="rect">
            <a:avLst/>
          </a:prstGeom>
          <a:gradFill>
            <a:gsLst>
              <a:gs pos="0">
                <a:schemeClr val="accent1">
                  <a:lumMod val="75000"/>
                  <a:alpha val="30000"/>
                </a:schemeClr>
              </a:gs>
              <a:gs pos="100000">
                <a:schemeClr val="accent1">
                  <a:lumMod val="75000"/>
                  <a:alpha val="2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Picture 4" descr="查看图片">
            <a:extLst>
              <a:ext uri="{FF2B5EF4-FFF2-40B4-BE49-F238E27FC236}">
                <a16:creationId xmlns:a16="http://schemas.microsoft.com/office/drawing/2014/main" id="{9880E787-8FB7-550A-990E-9F42E165D381}"/>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b="47789"/>
          <a:stretch>
            <a:fillRect/>
          </a:stretch>
        </p:blipFill>
        <p:spPr bwMode="auto">
          <a:xfrm>
            <a:off x="7763001" y="746336"/>
            <a:ext cx="4361852" cy="2958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6230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封面">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8976342-8BDC-A88F-D9CD-9A3E8AAE843E}"/>
              </a:ext>
            </a:extLst>
          </p:cNvPr>
          <p:cNvPicPr>
            <a:picLocks noChangeAspect="1"/>
          </p:cNvPicPr>
          <p:nvPr userDrawn="1"/>
        </p:nvPicPr>
        <p:blipFill>
          <a:blip r:embed="rId2">
            <a:extLst>
              <a:ext uri="{28A0092B-C50C-407E-A947-70E740481C1C}">
                <a14:useLocalDpi xmlns:a14="http://schemas.microsoft.com/office/drawing/2010/main" val="0"/>
              </a:ext>
            </a:extLst>
          </a:blip>
          <a:srcRect l="19160" r="21698" b="12195"/>
          <a:stretch>
            <a:fillRect/>
          </a:stretch>
        </p:blipFill>
        <p:spPr>
          <a:xfrm>
            <a:off x="0" y="0"/>
            <a:ext cx="12192000" cy="6858000"/>
          </a:xfrm>
          <a:prstGeom prst="rect">
            <a:avLst/>
          </a:prstGeom>
        </p:spPr>
      </p:pic>
      <p:pic>
        <p:nvPicPr>
          <p:cNvPr id="1026" name="Picture 2" descr="千库网_几何圆形抽象旋涡颗粒曲线_GIF编号77384">
            <a:extLst>
              <a:ext uri="{FF2B5EF4-FFF2-40B4-BE49-F238E27FC236}">
                <a16:creationId xmlns:a16="http://schemas.microsoft.com/office/drawing/2014/main" id="{3778EA93-9FC1-E86F-73C7-EB90FCE7C8F3}"/>
              </a:ext>
            </a:extLst>
          </p:cNvPr>
          <p:cNvPicPr>
            <a:picLocks noChangeAspect="1" noChangeArrowheads="1"/>
          </p:cNvPicPr>
          <p:nvPr userDrawn="1"/>
        </p:nvPicPr>
        <p:blipFill rotWithShape="1">
          <a:blip r:embed="rId3">
            <a:alphaModFix amt="4000"/>
            <a:extLst>
              <a:ext uri="{28A0092B-C50C-407E-A947-70E740481C1C}">
                <a14:useLocalDpi xmlns:a14="http://schemas.microsoft.com/office/drawing/2010/main" val="0"/>
              </a:ext>
            </a:extLst>
          </a:blip>
          <a:srcRect l="13796" t="13391" r="14248" b="13526"/>
          <a:stretch>
            <a:fillRect/>
          </a:stretch>
        </p:blipFill>
        <p:spPr bwMode="auto">
          <a:xfrm>
            <a:off x="-866569" y="-1528182"/>
            <a:ext cx="8986096" cy="912696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B6ACC2FE-A9DC-9EF1-6744-36F060BFA833}"/>
              </a:ext>
            </a:extLst>
          </p:cNvPr>
          <p:cNvPicPr>
            <a:picLocks noChangeAspect="1"/>
          </p:cNvPicPr>
          <p:nvPr userDrawn="1"/>
        </p:nvPicPr>
        <p:blipFill>
          <a:blip r:embed="rId4">
            <a:alphaModFix amt="15000"/>
            <a:extLst>
              <a:ext uri="{28A0092B-C50C-407E-A947-70E740481C1C}">
                <a14:useLocalDpi xmlns:a14="http://schemas.microsoft.com/office/drawing/2010/main" val="0"/>
              </a:ext>
            </a:extLst>
          </a:blip>
          <a:stretch>
            <a:fillRect/>
          </a:stretch>
        </p:blipFill>
        <p:spPr>
          <a:xfrm>
            <a:off x="0" y="0"/>
            <a:ext cx="9967110" cy="6858000"/>
          </a:xfrm>
          <a:prstGeom prst="rect">
            <a:avLst/>
          </a:prstGeom>
        </p:spPr>
      </p:pic>
      <p:sp>
        <p:nvSpPr>
          <p:cNvPr id="4" name="矩形 3">
            <a:extLst>
              <a:ext uri="{FF2B5EF4-FFF2-40B4-BE49-F238E27FC236}">
                <a16:creationId xmlns:a16="http://schemas.microsoft.com/office/drawing/2014/main" id="{09E4381D-ADC5-CA74-7FFE-B828D1D377BC}"/>
              </a:ext>
            </a:extLst>
          </p:cNvPr>
          <p:cNvSpPr/>
          <p:nvPr userDrawn="1"/>
        </p:nvSpPr>
        <p:spPr>
          <a:xfrm>
            <a:off x="0" y="0"/>
            <a:ext cx="12192000" cy="6858000"/>
          </a:xfrm>
          <a:prstGeom prst="rect">
            <a:avLst/>
          </a:prstGeom>
          <a:gradFill>
            <a:gsLst>
              <a:gs pos="0">
                <a:schemeClr val="accent1">
                  <a:lumMod val="75000"/>
                  <a:alpha val="30000"/>
                </a:schemeClr>
              </a:gs>
              <a:gs pos="100000">
                <a:schemeClr val="accent1">
                  <a:lumMod val="75000"/>
                  <a:alpha val="2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481BB82B-F2CF-D71D-6B07-B94E799BA49D}"/>
              </a:ext>
            </a:extLst>
          </p:cNvPr>
          <p:cNvPicPr>
            <a:picLocks noChangeAspect="1"/>
          </p:cNvPicPr>
          <p:nvPr userDrawn="1"/>
        </p:nvPicPr>
        <p:blipFill>
          <a:blip r:embed="rId5">
            <a:extLst>
              <a:ext uri="{BEBA8EAE-BF5A-486C-A8C5-ECC9F3942E4B}">
                <a14:imgProps xmlns:a14="http://schemas.microsoft.com/office/drawing/2010/main">
                  <a14:imgLayer r:embed="rId6">
                    <a14:imgEffect>
                      <a14:backgroundRemoval t="10000" b="90000" l="9335" r="91372">
                        <a14:foregroundMark x1="61245" y1="38950" x2="57320" y2="28300"/>
                        <a14:foregroundMark x1="70934" y1="40450" x2="75354" y2="36000"/>
                        <a14:foregroundMark x1="56153" y1="52650" x2="91372" y2="74100"/>
                        <a14:foregroundMark x1="9335" y1="27150" x2="9830" y2="27250"/>
                      </a14:backgroundRemoval>
                    </a14:imgEffect>
                  </a14:imgLayer>
                </a14:imgProps>
              </a:ext>
              <a:ext uri="{28A0092B-C50C-407E-A947-70E740481C1C}">
                <a14:useLocalDpi xmlns:a14="http://schemas.microsoft.com/office/drawing/2010/main" val="0"/>
              </a:ext>
            </a:extLst>
          </a:blip>
          <a:stretch>
            <a:fillRect/>
          </a:stretch>
        </p:blipFill>
        <p:spPr>
          <a:xfrm>
            <a:off x="7752950" y="1216760"/>
            <a:ext cx="3372212" cy="2384874"/>
          </a:xfrm>
          <a:prstGeom prst="rect">
            <a:avLst/>
          </a:prstGeom>
          <a:effectLst>
            <a:outerShdw blurRad="139700" dist="38100" dir="2700000" algn="tl" rotWithShape="0">
              <a:schemeClr val="accent1">
                <a:alpha val="25000"/>
              </a:schemeClr>
            </a:outerShdw>
          </a:effectLst>
        </p:spPr>
      </p:pic>
      <p:pic>
        <p:nvPicPr>
          <p:cNvPr id="8" name="图片 7">
            <a:extLst>
              <a:ext uri="{FF2B5EF4-FFF2-40B4-BE49-F238E27FC236}">
                <a16:creationId xmlns:a16="http://schemas.microsoft.com/office/drawing/2014/main" id="{A71CF3DE-B5DD-A2C6-2FC4-453D39ACEC07}"/>
              </a:ext>
            </a:extLst>
          </p:cNvPr>
          <p:cNvPicPr>
            <a:picLocks noChangeAspect="1"/>
          </p:cNvPicPr>
          <p:nvPr userDrawn="1"/>
        </p:nvPicPr>
        <p:blipFill>
          <a:blip r:embed="rId5">
            <a:extLst>
              <a:ext uri="{BEBA8EAE-BF5A-486C-A8C5-ECC9F3942E4B}">
                <a14:imgProps xmlns:a14="http://schemas.microsoft.com/office/drawing/2010/main">
                  <a14:imgLayer r:embed="rId6">
                    <a14:imgEffect>
                      <a14:backgroundRemoval t="10000" b="90000" l="9335" r="91372">
                        <a14:foregroundMark x1="61245" y1="38950" x2="57320" y2="28300"/>
                        <a14:foregroundMark x1="70934" y1="40450" x2="75354" y2="36000"/>
                        <a14:foregroundMark x1="56153" y1="52650" x2="91372" y2="74100"/>
                        <a14:foregroundMark x1="9335" y1="27150" x2="9830" y2="27250"/>
                      </a14:backgroundRemoval>
                    </a14:imgEffect>
                  </a14:imgLayer>
                </a14:imgProps>
              </a:ext>
              <a:ext uri="{28A0092B-C50C-407E-A947-70E740481C1C}">
                <a14:useLocalDpi xmlns:a14="http://schemas.microsoft.com/office/drawing/2010/main" val="0"/>
              </a:ext>
            </a:extLst>
          </a:blip>
          <a:stretch>
            <a:fillRect/>
          </a:stretch>
        </p:blipFill>
        <p:spPr>
          <a:xfrm>
            <a:off x="7986291" y="422139"/>
            <a:ext cx="2106880" cy="1490014"/>
          </a:xfrm>
          <a:prstGeom prst="rect">
            <a:avLst/>
          </a:prstGeom>
        </p:spPr>
      </p:pic>
      <p:pic>
        <p:nvPicPr>
          <p:cNvPr id="9" name="图片 8">
            <a:extLst>
              <a:ext uri="{FF2B5EF4-FFF2-40B4-BE49-F238E27FC236}">
                <a16:creationId xmlns:a16="http://schemas.microsoft.com/office/drawing/2014/main" id="{0BE35FF4-378E-6DBB-50CE-EE4D250AB9B6}"/>
              </a:ext>
            </a:extLst>
          </p:cNvPr>
          <p:cNvPicPr>
            <a:picLocks noChangeAspect="1"/>
          </p:cNvPicPr>
          <p:nvPr userDrawn="1"/>
        </p:nvPicPr>
        <p:blipFill>
          <a:blip r:embed="rId5">
            <a:extLst>
              <a:ext uri="{BEBA8EAE-BF5A-486C-A8C5-ECC9F3942E4B}">
                <a14:imgProps xmlns:a14="http://schemas.microsoft.com/office/drawing/2010/main">
                  <a14:imgLayer r:embed="rId6">
                    <a14:imgEffect>
                      <a14:backgroundRemoval t="10000" b="90000" l="9335" r="91372">
                        <a14:foregroundMark x1="61245" y1="38950" x2="57320" y2="28300"/>
                        <a14:foregroundMark x1="70934" y1="40450" x2="75354" y2="36000"/>
                        <a14:foregroundMark x1="56153" y1="52650" x2="91372" y2="74100"/>
                        <a14:foregroundMark x1="9335" y1="27150" x2="9830" y2="27250"/>
                      </a14:backgroundRemoval>
                    </a14:imgEffect>
                  </a14:imgLayer>
                </a14:imgProps>
              </a:ext>
              <a:ext uri="{28A0092B-C50C-407E-A947-70E740481C1C}">
                <a14:useLocalDpi xmlns:a14="http://schemas.microsoft.com/office/drawing/2010/main" val="0"/>
              </a:ext>
            </a:extLst>
          </a:blip>
          <a:stretch>
            <a:fillRect/>
          </a:stretch>
        </p:blipFill>
        <p:spPr>
          <a:xfrm>
            <a:off x="10073297" y="880052"/>
            <a:ext cx="1756466" cy="1242196"/>
          </a:xfrm>
          <a:prstGeom prst="rect">
            <a:avLst/>
          </a:prstGeom>
        </p:spPr>
      </p:pic>
      <p:sp>
        <p:nvSpPr>
          <p:cNvPr id="13" name="PA-文本框 47">
            <a:extLst>
              <a:ext uri="{FF2B5EF4-FFF2-40B4-BE49-F238E27FC236}">
                <a16:creationId xmlns:a16="http://schemas.microsoft.com/office/drawing/2014/main" id="{5A1D275B-0D49-288B-D81A-9B29261CA4ED}"/>
              </a:ext>
            </a:extLst>
          </p:cNvPr>
          <p:cNvSpPr txBox="1"/>
          <p:nvPr userDrawn="1"/>
        </p:nvSpPr>
        <p:spPr>
          <a:xfrm>
            <a:off x="190212" y="2338955"/>
            <a:ext cx="8113336" cy="1200329"/>
          </a:xfrm>
          <a:prstGeom prst="rect">
            <a:avLst/>
          </a:prstGeom>
          <a:noFill/>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defRPr/>
            </a:pPr>
            <a:r>
              <a:rPr lang="zh-CN" altLang="en-US" sz="7200" b="1" spc="100" dirty="0">
                <a:solidFill>
                  <a:schemeClr val="bg1"/>
                </a:solidFill>
                <a:effectLst>
                  <a:outerShdw blurRad="101600" dist="12700" dir="5400000" algn="t" rotWithShape="0">
                    <a:schemeClr val="accent3">
                      <a:alpha val="85000"/>
                    </a:schemeClr>
                  </a:outerShdw>
                </a:effectLst>
                <a:latin typeface="+mj-ea"/>
                <a:ea typeface="+mj-ea"/>
              </a:rPr>
              <a:t>机器人智能导航</a:t>
            </a:r>
          </a:p>
        </p:txBody>
      </p:sp>
    </p:spTree>
    <p:extLst>
      <p:ext uri="{BB962C8B-B14F-4D97-AF65-F5344CB8AC3E}">
        <p14:creationId xmlns:p14="http://schemas.microsoft.com/office/powerpoint/2010/main" val="5909192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pic>
        <p:nvPicPr>
          <p:cNvPr id="11266" name="Picture 2" descr="查看图片">
            <a:extLst>
              <a:ext uri="{FF2B5EF4-FFF2-40B4-BE49-F238E27FC236}">
                <a16:creationId xmlns:a16="http://schemas.microsoft.com/office/drawing/2014/main" id="{2D21673B-E2D7-8843-E6DD-8EE915F3F35A}"/>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b="10000"/>
          <a:stretch>
            <a:fillRect/>
          </a:stretch>
        </p:blipFill>
        <p:spPr bwMode="auto">
          <a:xfrm>
            <a:off x="1" y="0"/>
            <a:ext cx="12190412"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a:extLst>
              <a:ext uri="{FF2B5EF4-FFF2-40B4-BE49-F238E27FC236}">
                <a16:creationId xmlns:a16="http://schemas.microsoft.com/office/drawing/2014/main" id="{063F54C0-8549-18CA-DBE4-7B9C1EB3278B}"/>
              </a:ext>
            </a:extLst>
          </p:cNvPr>
          <p:cNvSpPr/>
          <p:nvPr userDrawn="1"/>
        </p:nvSpPr>
        <p:spPr>
          <a:xfrm>
            <a:off x="0" y="0"/>
            <a:ext cx="12192000" cy="6858000"/>
          </a:xfrm>
          <a:prstGeom prst="rect">
            <a:avLst/>
          </a:prstGeom>
          <a:gradFill>
            <a:gsLst>
              <a:gs pos="0">
                <a:schemeClr val="accent1">
                  <a:lumMod val="75000"/>
                  <a:alpha val="50000"/>
                </a:schemeClr>
              </a:gs>
              <a:gs pos="100000">
                <a:schemeClr val="accent1">
                  <a:lumMod val="75000"/>
                  <a:alpha val="85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32640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C5D205BC-30C8-FF10-AC94-631956EAC0ED}"/>
              </a:ext>
            </a:extLst>
          </p:cNvPr>
          <p:cNvPicPr>
            <a:picLocks noChangeAspect="1"/>
          </p:cNvPicPr>
          <p:nvPr userDrawn="1"/>
        </p:nvPicPr>
        <p:blipFill>
          <a:blip r:embed="rId2"/>
          <a:stretch>
            <a:fillRect/>
          </a:stretch>
        </p:blipFill>
        <p:spPr>
          <a:xfrm>
            <a:off x="-528" y="-297"/>
            <a:ext cx="12193057" cy="6858594"/>
          </a:xfrm>
          <a:prstGeom prst="rect">
            <a:avLst/>
          </a:prstGeom>
        </p:spPr>
      </p:pic>
      <p:pic>
        <p:nvPicPr>
          <p:cNvPr id="7" name="图片 6">
            <a:extLst>
              <a:ext uri="{FF2B5EF4-FFF2-40B4-BE49-F238E27FC236}">
                <a16:creationId xmlns:a16="http://schemas.microsoft.com/office/drawing/2014/main" id="{DC1AE8D0-3E2D-EACD-CCA9-A3F99AB900D5}"/>
              </a:ext>
            </a:extLst>
          </p:cNvPr>
          <p:cNvPicPr>
            <a:picLocks/>
          </p:cNvPicPr>
          <p:nvPr userDrawn="1"/>
        </p:nvPicPr>
        <p:blipFill>
          <a:blip r:embed="rId3">
            <a:alphaModFix amt="70000"/>
            <a:extLst>
              <a:ext uri="{BEBA8EAE-BF5A-486C-A8C5-ECC9F3942E4B}">
                <a14:imgProps xmlns:a14="http://schemas.microsoft.com/office/drawing/2010/main">
                  <a14:imgLayer r:embed="rId4">
                    <a14:imgEffect>
                      <a14:saturation sat="85000"/>
                    </a14:imgEffect>
                    <a14:imgEffect>
                      <a14:brightnessContrast bright="-3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矩形: 圆角 7">
            <a:extLst>
              <a:ext uri="{FF2B5EF4-FFF2-40B4-BE49-F238E27FC236}">
                <a16:creationId xmlns:a16="http://schemas.microsoft.com/office/drawing/2014/main" id="{734BC3AC-2312-212A-C42D-3BDEE333BC69}"/>
              </a:ext>
            </a:extLst>
          </p:cNvPr>
          <p:cNvSpPr/>
          <p:nvPr userDrawn="1"/>
        </p:nvSpPr>
        <p:spPr>
          <a:xfrm>
            <a:off x="3594115" y="122767"/>
            <a:ext cx="8479351" cy="6612466"/>
          </a:xfrm>
          <a:prstGeom prst="roundRect">
            <a:avLst>
              <a:gd name="adj" fmla="val 53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0B87179B-A5B7-C65A-2178-9A6F972D4958}"/>
              </a:ext>
            </a:extLst>
          </p:cNvPr>
          <p:cNvGrpSpPr/>
          <p:nvPr userDrawn="1"/>
        </p:nvGrpSpPr>
        <p:grpSpPr>
          <a:xfrm>
            <a:off x="1205694" y="800244"/>
            <a:ext cx="1182727" cy="5257513"/>
            <a:chOff x="1042703" y="800244"/>
            <a:chExt cx="1182727" cy="5257513"/>
          </a:xfrm>
        </p:grpSpPr>
        <p:grpSp>
          <p:nvGrpSpPr>
            <p:cNvPr id="12" name="组合 11">
              <a:extLst>
                <a:ext uri="{FF2B5EF4-FFF2-40B4-BE49-F238E27FC236}">
                  <a16:creationId xmlns:a16="http://schemas.microsoft.com/office/drawing/2014/main" id="{C7F6CF9E-45AE-DE98-E346-D294BC576414}"/>
                </a:ext>
              </a:extLst>
            </p:cNvPr>
            <p:cNvGrpSpPr/>
            <p:nvPr userDrawn="1"/>
          </p:nvGrpSpPr>
          <p:grpSpPr>
            <a:xfrm>
              <a:off x="1226093" y="800244"/>
              <a:ext cx="815946" cy="5257513"/>
              <a:chOff x="799420" y="532401"/>
              <a:chExt cx="815946" cy="5257513"/>
            </a:xfrm>
          </p:grpSpPr>
          <p:grpSp>
            <p:nvGrpSpPr>
              <p:cNvPr id="31" name="组合 30">
                <a:extLst>
                  <a:ext uri="{FF2B5EF4-FFF2-40B4-BE49-F238E27FC236}">
                    <a16:creationId xmlns:a16="http://schemas.microsoft.com/office/drawing/2014/main" id="{BEF13146-504F-655D-A591-E86A598519CF}"/>
                  </a:ext>
                </a:extLst>
              </p:cNvPr>
              <p:cNvGrpSpPr/>
              <p:nvPr/>
            </p:nvGrpSpPr>
            <p:grpSpPr>
              <a:xfrm rot="5400000">
                <a:off x="671709" y="4846258"/>
                <a:ext cx="1071367" cy="815946"/>
                <a:chOff x="7675697" y="510259"/>
                <a:chExt cx="1071367" cy="815946"/>
              </a:xfrm>
            </p:grpSpPr>
            <p:sp>
              <p:nvSpPr>
                <p:cNvPr id="26" name="任意多边形: 形状 25">
                  <a:extLst>
                    <a:ext uri="{FF2B5EF4-FFF2-40B4-BE49-F238E27FC236}">
                      <a16:creationId xmlns:a16="http://schemas.microsoft.com/office/drawing/2014/main" id="{1E8EDA53-57B3-7E70-5CCF-FC14E4951732}"/>
                    </a:ext>
                  </a:extLst>
                </p:cNvPr>
                <p:cNvSpPr/>
                <p:nvPr/>
              </p:nvSpPr>
              <p:spPr>
                <a:xfrm>
                  <a:off x="7675697" y="717908"/>
                  <a:ext cx="1071367" cy="324646"/>
                </a:xfrm>
                <a:custGeom>
                  <a:avLst/>
                  <a:gdLst>
                    <a:gd name="connsiteX0" fmla="*/ 189902 w 864621"/>
                    <a:gd name="connsiteY0" fmla="*/ 255527 h 259768"/>
                    <a:gd name="connsiteX1" fmla="*/ 204230 w 864621"/>
                    <a:gd name="connsiteY1" fmla="*/ 255527 h 259768"/>
                    <a:gd name="connsiteX2" fmla="*/ 204230 w 864621"/>
                    <a:gd name="connsiteY2" fmla="*/ 259768 h 259768"/>
                    <a:gd name="connsiteX3" fmla="*/ 189902 w 864621"/>
                    <a:gd name="connsiteY3" fmla="*/ 259768 h 259768"/>
                    <a:gd name="connsiteX4" fmla="*/ 189902 w 864621"/>
                    <a:gd name="connsiteY4" fmla="*/ 245422 h 259768"/>
                    <a:gd name="connsiteX5" fmla="*/ 204230 w 864621"/>
                    <a:gd name="connsiteY5" fmla="*/ 245422 h 259768"/>
                    <a:gd name="connsiteX6" fmla="*/ 204230 w 864621"/>
                    <a:gd name="connsiteY6" fmla="*/ 252124 h 259768"/>
                    <a:gd name="connsiteX7" fmla="*/ 189902 w 864621"/>
                    <a:gd name="connsiteY7" fmla="*/ 252124 h 259768"/>
                    <a:gd name="connsiteX8" fmla="*/ 189902 w 864621"/>
                    <a:gd name="connsiteY8" fmla="*/ 235510 h 259768"/>
                    <a:gd name="connsiteX9" fmla="*/ 204230 w 864621"/>
                    <a:gd name="connsiteY9" fmla="*/ 235510 h 259768"/>
                    <a:gd name="connsiteX10" fmla="*/ 204230 w 864621"/>
                    <a:gd name="connsiteY10" fmla="*/ 242211 h 259768"/>
                    <a:gd name="connsiteX11" fmla="*/ 189902 w 864621"/>
                    <a:gd name="connsiteY11" fmla="*/ 242211 h 259768"/>
                    <a:gd name="connsiteX12" fmla="*/ 189902 w 864621"/>
                    <a:gd name="connsiteY12" fmla="*/ 225615 h 259768"/>
                    <a:gd name="connsiteX13" fmla="*/ 204230 w 864621"/>
                    <a:gd name="connsiteY13" fmla="*/ 225615 h 259768"/>
                    <a:gd name="connsiteX14" fmla="*/ 204230 w 864621"/>
                    <a:gd name="connsiteY14" fmla="*/ 232316 h 259768"/>
                    <a:gd name="connsiteX15" fmla="*/ 189902 w 864621"/>
                    <a:gd name="connsiteY15" fmla="*/ 232316 h 259768"/>
                    <a:gd name="connsiteX16" fmla="*/ 316479 w 864621"/>
                    <a:gd name="connsiteY16" fmla="*/ 216313 h 259768"/>
                    <a:gd name="connsiteX17" fmla="*/ 330807 w 864621"/>
                    <a:gd name="connsiteY17" fmla="*/ 216313 h 259768"/>
                    <a:gd name="connsiteX18" fmla="*/ 330807 w 864621"/>
                    <a:gd name="connsiteY18" fmla="*/ 220554 h 259768"/>
                    <a:gd name="connsiteX19" fmla="*/ 316479 w 864621"/>
                    <a:gd name="connsiteY19" fmla="*/ 220554 h 259768"/>
                    <a:gd name="connsiteX20" fmla="*/ 126576 w 864621"/>
                    <a:gd name="connsiteY20" fmla="*/ 216313 h 259768"/>
                    <a:gd name="connsiteX21" fmla="*/ 140904 w 864621"/>
                    <a:gd name="connsiteY21" fmla="*/ 216313 h 259768"/>
                    <a:gd name="connsiteX22" fmla="*/ 140904 w 864621"/>
                    <a:gd name="connsiteY22" fmla="*/ 220554 h 259768"/>
                    <a:gd name="connsiteX23" fmla="*/ 126576 w 864621"/>
                    <a:gd name="connsiteY23" fmla="*/ 220554 h 259768"/>
                    <a:gd name="connsiteX24" fmla="*/ 189902 w 864621"/>
                    <a:gd name="connsiteY24" fmla="*/ 215702 h 259768"/>
                    <a:gd name="connsiteX25" fmla="*/ 204230 w 864621"/>
                    <a:gd name="connsiteY25" fmla="*/ 215702 h 259768"/>
                    <a:gd name="connsiteX26" fmla="*/ 204230 w 864621"/>
                    <a:gd name="connsiteY26" fmla="*/ 222404 h 259768"/>
                    <a:gd name="connsiteX27" fmla="*/ 189902 w 864621"/>
                    <a:gd name="connsiteY27" fmla="*/ 222404 h 259768"/>
                    <a:gd name="connsiteX28" fmla="*/ 316479 w 864621"/>
                    <a:gd name="connsiteY28" fmla="*/ 206156 h 259768"/>
                    <a:gd name="connsiteX29" fmla="*/ 330807 w 864621"/>
                    <a:gd name="connsiteY29" fmla="*/ 206156 h 259768"/>
                    <a:gd name="connsiteX30" fmla="*/ 330807 w 864621"/>
                    <a:gd name="connsiteY30" fmla="*/ 212875 h 259768"/>
                    <a:gd name="connsiteX31" fmla="*/ 316479 w 864621"/>
                    <a:gd name="connsiteY31" fmla="*/ 212875 h 259768"/>
                    <a:gd name="connsiteX32" fmla="*/ 126576 w 864621"/>
                    <a:gd name="connsiteY32" fmla="*/ 206156 h 259768"/>
                    <a:gd name="connsiteX33" fmla="*/ 140904 w 864621"/>
                    <a:gd name="connsiteY33" fmla="*/ 206156 h 259768"/>
                    <a:gd name="connsiteX34" fmla="*/ 140904 w 864621"/>
                    <a:gd name="connsiteY34" fmla="*/ 212875 h 259768"/>
                    <a:gd name="connsiteX35" fmla="*/ 126576 w 864621"/>
                    <a:gd name="connsiteY35" fmla="*/ 212875 h 259768"/>
                    <a:gd name="connsiteX36" fmla="*/ 189902 w 864621"/>
                    <a:gd name="connsiteY36" fmla="*/ 205790 h 259768"/>
                    <a:gd name="connsiteX37" fmla="*/ 204230 w 864621"/>
                    <a:gd name="connsiteY37" fmla="*/ 205790 h 259768"/>
                    <a:gd name="connsiteX38" fmla="*/ 204230 w 864621"/>
                    <a:gd name="connsiteY38" fmla="*/ 212491 h 259768"/>
                    <a:gd name="connsiteX39" fmla="*/ 189902 w 864621"/>
                    <a:gd name="connsiteY39" fmla="*/ 212491 h 259768"/>
                    <a:gd name="connsiteX40" fmla="*/ 316479 w 864621"/>
                    <a:gd name="connsiteY40" fmla="*/ 196209 h 259768"/>
                    <a:gd name="connsiteX41" fmla="*/ 330807 w 864621"/>
                    <a:gd name="connsiteY41" fmla="*/ 196209 h 259768"/>
                    <a:gd name="connsiteX42" fmla="*/ 330807 w 864621"/>
                    <a:gd name="connsiteY42" fmla="*/ 202928 h 259768"/>
                    <a:gd name="connsiteX43" fmla="*/ 316479 w 864621"/>
                    <a:gd name="connsiteY43" fmla="*/ 202928 h 259768"/>
                    <a:gd name="connsiteX44" fmla="*/ 126576 w 864621"/>
                    <a:gd name="connsiteY44" fmla="*/ 196209 h 259768"/>
                    <a:gd name="connsiteX45" fmla="*/ 140904 w 864621"/>
                    <a:gd name="connsiteY45" fmla="*/ 196209 h 259768"/>
                    <a:gd name="connsiteX46" fmla="*/ 140904 w 864621"/>
                    <a:gd name="connsiteY46" fmla="*/ 202928 h 259768"/>
                    <a:gd name="connsiteX47" fmla="*/ 126576 w 864621"/>
                    <a:gd name="connsiteY47" fmla="*/ 202928 h 259768"/>
                    <a:gd name="connsiteX48" fmla="*/ 189902 w 864621"/>
                    <a:gd name="connsiteY48" fmla="*/ 195877 h 259768"/>
                    <a:gd name="connsiteX49" fmla="*/ 204230 w 864621"/>
                    <a:gd name="connsiteY49" fmla="*/ 195877 h 259768"/>
                    <a:gd name="connsiteX50" fmla="*/ 204230 w 864621"/>
                    <a:gd name="connsiteY50" fmla="*/ 202579 h 259768"/>
                    <a:gd name="connsiteX51" fmla="*/ 189902 w 864621"/>
                    <a:gd name="connsiteY51" fmla="*/ 202579 h 259768"/>
                    <a:gd name="connsiteX52" fmla="*/ 316479 w 864621"/>
                    <a:gd name="connsiteY52" fmla="*/ 186244 h 259768"/>
                    <a:gd name="connsiteX53" fmla="*/ 330807 w 864621"/>
                    <a:gd name="connsiteY53" fmla="*/ 186244 h 259768"/>
                    <a:gd name="connsiteX54" fmla="*/ 330807 w 864621"/>
                    <a:gd name="connsiteY54" fmla="*/ 192963 h 259768"/>
                    <a:gd name="connsiteX55" fmla="*/ 316479 w 864621"/>
                    <a:gd name="connsiteY55" fmla="*/ 192963 h 259768"/>
                    <a:gd name="connsiteX56" fmla="*/ 126576 w 864621"/>
                    <a:gd name="connsiteY56" fmla="*/ 186244 h 259768"/>
                    <a:gd name="connsiteX57" fmla="*/ 140904 w 864621"/>
                    <a:gd name="connsiteY57" fmla="*/ 186244 h 259768"/>
                    <a:gd name="connsiteX58" fmla="*/ 140904 w 864621"/>
                    <a:gd name="connsiteY58" fmla="*/ 192963 h 259768"/>
                    <a:gd name="connsiteX59" fmla="*/ 126576 w 864621"/>
                    <a:gd name="connsiteY59" fmla="*/ 192963 h 259768"/>
                    <a:gd name="connsiteX60" fmla="*/ 189902 w 864621"/>
                    <a:gd name="connsiteY60" fmla="*/ 185982 h 259768"/>
                    <a:gd name="connsiteX61" fmla="*/ 204230 w 864621"/>
                    <a:gd name="connsiteY61" fmla="*/ 185982 h 259768"/>
                    <a:gd name="connsiteX62" fmla="*/ 204230 w 864621"/>
                    <a:gd name="connsiteY62" fmla="*/ 192684 h 259768"/>
                    <a:gd name="connsiteX63" fmla="*/ 189902 w 864621"/>
                    <a:gd name="connsiteY63" fmla="*/ 192684 h 259768"/>
                    <a:gd name="connsiteX64" fmla="*/ 63288 w 864621"/>
                    <a:gd name="connsiteY64" fmla="*/ 182649 h 259768"/>
                    <a:gd name="connsiteX65" fmla="*/ 77616 w 864621"/>
                    <a:gd name="connsiteY65" fmla="*/ 182649 h 259768"/>
                    <a:gd name="connsiteX66" fmla="*/ 77616 w 864621"/>
                    <a:gd name="connsiteY66" fmla="*/ 186890 h 259768"/>
                    <a:gd name="connsiteX67" fmla="*/ 63288 w 864621"/>
                    <a:gd name="connsiteY67" fmla="*/ 186890 h 259768"/>
                    <a:gd name="connsiteX68" fmla="*/ 316479 w 864621"/>
                    <a:gd name="connsiteY68" fmla="*/ 176297 h 259768"/>
                    <a:gd name="connsiteX69" fmla="*/ 330807 w 864621"/>
                    <a:gd name="connsiteY69" fmla="*/ 176297 h 259768"/>
                    <a:gd name="connsiteX70" fmla="*/ 330807 w 864621"/>
                    <a:gd name="connsiteY70" fmla="*/ 183015 h 259768"/>
                    <a:gd name="connsiteX71" fmla="*/ 316479 w 864621"/>
                    <a:gd name="connsiteY71" fmla="*/ 183015 h 259768"/>
                    <a:gd name="connsiteX72" fmla="*/ 126576 w 864621"/>
                    <a:gd name="connsiteY72" fmla="*/ 176297 h 259768"/>
                    <a:gd name="connsiteX73" fmla="*/ 140904 w 864621"/>
                    <a:gd name="connsiteY73" fmla="*/ 176297 h 259768"/>
                    <a:gd name="connsiteX74" fmla="*/ 140904 w 864621"/>
                    <a:gd name="connsiteY74" fmla="*/ 183015 h 259768"/>
                    <a:gd name="connsiteX75" fmla="*/ 126576 w 864621"/>
                    <a:gd name="connsiteY75" fmla="*/ 183015 h 259768"/>
                    <a:gd name="connsiteX76" fmla="*/ 189902 w 864621"/>
                    <a:gd name="connsiteY76" fmla="*/ 176070 h 259768"/>
                    <a:gd name="connsiteX77" fmla="*/ 204230 w 864621"/>
                    <a:gd name="connsiteY77" fmla="*/ 176070 h 259768"/>
                    <a:gd name="connsiteX78" fmla="*/ 204230 w 864621"/>
                    <a:gd name="connsiteY78" fmla="*/ 182771 h 259768"/>
                    <a:gd name="connsiteX79" fmla="*/ 189902 w 864621"/>
                    <a:gd name="connsiteY79" fmla="*/ 182771 h 259768"/>
                    <a:gd name="connsiteX80" fmla="*/ 253191 w 864621"/>
                    <a:gd name="connsiteY80" fmla="*/ 174900 h 259768"/>
                    <a:gd name="connsiteX81" fmla="*/ 267519 w 864621"/>
                    <a:gd name="connsiteY81" fmla="*/ 174900 h 259768"/>
                    <a:gd name="connsiteX82" fmla="*/ 267519 w 864621"/>
                    <a:gd name="connsiteY82" fmla="*/ 179141 h 259768"/>
                    <a:gd name="connsiteX83" fmla="*/ 253191 w 864621"/>
                    <a:gd name="connsiteY83" fmla="*/ 179141 h 259768"/>
                    <a:gd name="connsiteX84" fmla="*/ 63288 w 864621"/>
                    <a:gd name="connsiteY84" fmla="*/ 172248 h 259768"/>
                    <a:gd name="connsiteX85" fmla="*/ 77616 w 864621"/>
                    <a:gd name="connsiteY85" fmla="*/ 172248 h 259768"/>
                    <a:gd name="connsiteX86" fmla="*/ 77616 w 864621"/>
                    <a:gd name="connsiteY86" fmla="*/ 179089 h 259768"/>
                    <a:gd name="connsiteX87" fmla="*/ 63288 w 864621"/>
                    <a:gd name="connsiteY87" fmla="*/ 179089 h 259768"/>
                    <a:gd name="connsiteX88" fmla="*/ 316479 w 864621"/>
                    <a:gd name="connsiteY88" fmla="*/ 166349 h 259768"/>
                    <a:gd name="connsiteX89" fmla="*/ 330807 w 864621"/>
                    <a:gd name="connsiteY89" fmla="*/ 166349 h 259768"/>
                    <a:gd name="connsiteX90" fmla="*/ 330807 w 864621"/>
                    <a:gd name="connsiteY90" fmla="*/ 173068 h 259768"/>
                    <a:gd name="connsiteX91" fmla="*/ 316479 w 864621"/>
                    <a:gd name="connsiteY91" fmla="*/ 173068 h 259768"/>
                    <a:gd name="connsiteX92" fmla="*/ 126576 w 864621"/>
                    <a:gd name="connsiteY92" fmla="*/ 166349 h 259768"/>
                    <a:gd name="connsiteX93" fmla="*/ 140904 w 864621"/>
                    <a:gd name="connsiteY93" fmla="*/ 166349 h 259768"/>
                    <a:gd name="connsiteX94" fmla="*/ 140904 w 864621"/>
                    <a:gd name="connsiteY94" fmla="*/ 173068 h 259768"/>
                    <a:gd name="connsiteX95" fmla="*/ 126576 w 864621"/>
                    <a:gd name="connsiteY95" fmla="*/ 173068 h 259768"/>
                    <a:gd name="connsiteX96" fmla="*/ 189902 w 864621"/>
                    <a:gd name="connsiteY96" fmla="*/ 166157 h 259768"/>
                    <a:gd name="connsiteX97" fmla="*/ 204230 w 864621"/>
                    <a:gd name="connsiteY97" fmla="*/ 166157 h 259768"/>
                    <a:gd name="connsiteX98" fmla="*/ 204230 w 864621"/>
                    <a:gd name="connsiteY98" fmla="*/ 172859 h 259768"/>
                    <a:gd name="connsiteX99" fmla="*/ 189902 w 864621"/>
                    <a:gd name="connsiteY99" fmla="*/ 172859 h 259768"/>
                    <a:gd name="connsiteX100" fmla="*/ 253191 w 864621"/>
                    <a:gd name="connsiteY100" fmla="*/ 165075 h 259768"/>
                    <a:gd name="connsiteX101" fmla="*/ 267519 w 864621"/>
                    <a:gd name="connsiteY101" fmla="*/ 165075 h 259768"/>
                    <a:gd name="connsiteX102" fmla="*/ 267519 w 864621"/>
                    <a:gd name="connsiteY102" fmla="*/ 171637 h 259768"/>
                    <a:gd name="connsiteX103" fmla="*/ 253191 w 864621"/>
                    <a:gd name="connsiteY103" fmla="*/ 171637 h 259768"/>
                    <a:gd name="connsiteX104" fmla="*/ 63288 w 864621"/>
                    <a:gd name="connsiteY104" fmla="*/ 162074 h 259768"/>
                    <a:gd name="connsiteX105" fmla="*/ 77616 w 864621"/>
                    <a:gd name="connsiteY105" fmla="*/ 162074 h 259768"/>
                    <a:gd name="connsiteX106" fmla="*/ 77616 w 864621"/>
                    <a:gd name="connsiteY106" fmla="*/ 168915 h 259768"/>
                    <a:gd name="connsiteX107" fmla="*/ 63288 w 864621"/>
                    <a:gd name="connsiteY107" fmla="*/ 168915 h 259768"/>
                    <a:gd name="connsiteX108" fmla="*/ 379805 w 864621"/>
                    <a:gd name="connsiteY108" fmla="*/ 160293 h 259768"/>
                    <a:gd name="connsiteX109" fmla="*/ 394133 w 864621"/>
                    <a:gd name="connsiteY109" fmla="*/ 160293 h 259768"/>
                    <a:gd name="connsiteX110" fmla="*/ 394133 w 864621"/>
                    <a:gd name="connsiteY110" fmla="*/ 164534 h 259768"/>
                    <a:gd name="connsiteX111" fmla="*/ 379805 w 864621"/>
                    <a:gd name="connsiteY111" fmla="*/ 164534 h 259768"/>
                    <a:gd name="connsiteX112" fmla="*/ 316479 w 864621"/>
                    <a:gd name="connsiteY112" fmla="*/ 156384 h 259768"/>
                    <a:gd name="connsiteX113" fmla="*/ 330807 w 864621"/>
                    <a:gd name="connsiteY113" fmla="*/ 156384 h 259768"/>
                    <a:gd name="connsiteX114" fmla="*/ 330807 w 864621"/>
                    <a:gd name="connsiteY114" fmla="*/ 163103 h 259768"/>
                    <a:gd name="connsiteX115" fmla="*/ 316479 w 864621"/>
                    <a:gd name="connsiteY115" fmla="*/ 163103 h 259768"/>
                    <a:gd name="connsiteX116" fmla="*/ 126576 w 864621"/>
                    <a:gd name="connsiteY116" fmla="*/ 156384 h 259768"/>
                    <a:gd name="connsiteX117" fmla="*/ 140904 w 864621"/>
                    <a:gd name="connsiteY117" fmla="*/ 156384 h 259768"/>
                    <a:gd name="connsiteX118" fmla="*/ 140904 w 864621"/>
                    <a:gd name="connsiteY118" fmla="*/ 163103 h 259768"/>
                    <a:gd name="connsiteX119" fmla="*/ 126576 w 864621"/>
                    <a:gd name="connsiteY119" fmla="*/ 163103 h 259768"/>
                    <a:gd name="connsiteX120" fmla="*/ 189902 w 864621"/>
                    <a:gd name="connsiteY120" fmla="*/ 156262 h 259768"/>
                    <a:gd name="connsiteX121" fmla="*/ 204230 w 864621"/>
                    <a:gd name="connsiteY121" fmla="*/ 156262 h 259768"/>
                    <a:gd name="connsiteX122" fmla="*/ 204230 w 864621"/>
                    <a:gd name="connsiteY122" fmla="*/ 162963 h 259768"/>
                    <a:gd name="connsiteX123" fmla="*/ 189902 w 864621"/>
                    <a:gd name="connsiteY123" fmla="*/ 162963 h 259768"/>
                    <a:gd name="connsiteX124" fmla="*/ 253191 w 864621"/>
                    <a:gd name="connsiteY124" fmla="*/ 155459 h 259768"/>
                    <a:gd name="connsiteX125" fmla="*/ 267519 w 864621"/>
                    <a:gd name="connsiteY125" fmla="*/ 155459 h 259768"/>
                    <a:gd name="connsiteX126" fmla="*/ 267519 w 864621"/>
                    <a:gd name="connsiteY126" fmla="*/ 162021 h 259768"/>
                    <a:gd name="connsiteX127" fmla="*/ 253191 w 864621"/>
                    <a:gd name="connsiteY127" fmla="*/ 162021 h 259768"/>
                    <a:gd name="connsiteX128" fmla="*/ 63288 w 864621"/>
                    <a:gd name="connsiteY128" fmla="*/ 151917 h 259768"/>
                    <a:gd name="connsiteX129" fmla="*/ 77616 w 864621"/>
                    <a:gd name="connsiteY129" fmla="*/ 151917 h 259768"/>
                    <a:gd name="connsiteX130" fmla="*/ 77616 w 864621"/>
                    <a:gd name="connsiteY130" fmla="*/ 158740 h 259768"/>
                    <a:gd name="connsiteX131" fmla="*/ 63288 w 864621"/>
                    <a:gd name="connsiteY131" fmla="*/ 158740 h 259768"/>
                    <a:gd name="connsiteX132" fmla="*/ 379805 w 864621"/>
                    <a:gd name="connsiteY132" fmla="*/ 150538 h 259768"/>
                    <a:gd name="connsiteX133" fmla="*/ 394133 w 864621"/>
                    <a:gd name="connsiteY133" fmla="*/ 150538 h 259768"/>
                    <a:gd name="connsiteX134" fmla="*/ 394133 w 864621"/>
                    <a:gd name="connsiteY134" fmla="*/ 157065 h 259768"/>
                    <a:gd name="connsiteX135" fmla="*/ 379805 w 864621"/>
                    <a:gd name="connsiteY135" fmla="*/ 157065 h 259768"/>
                    <a:gd name="connsiteX136" fmla="*/ 316479 w 864621"/>
                    <a:gd name="connsiteY136" fmla="*/ 146437 h 259768"/>
                    <a:gd name="connsiteX137" fmla="*/ 330807 w 864621"/>
                    <a:gd name="connsiteY137" fmla="*/ 146437 h 259768"/>
                    <a:gd name="connsiteX138" fmla="*/ 330807 w 864621"/>
                    <a:gd name="connsiteY138" fmla="*/ 153156 h 259768"/>
                    <a:gd name="connsiteX139" fmla="*/ 316479 w 864621"/>
                    <a:gd name="connsiteY139" fmla="*/ 153156 h 259768"/>
                    <a:gd name="connsiteX140" fmla="*/ 126576 w 864621"/>
                    <a:gd name="connsiteY140" fmla="*/ 146437 h 259768"/>
                    <a:gd name="connsiteX141" fmla="*/ 140904 w 864621"/>
                    <a:gd name="connsiteY141" fmla="*/ 146437 h 259768"/>
                    <a:gd name="connsiteX142" fmla="*/ 140904 w 864621"/>
                    <a:gd name="connsiteY142" fmla="*/ 153156 h 259768"/>
                    <a:gd name="connsiteX143" fmla="*/ 126576 w 864621"/>
                    <a:gd name="connsiteY143" fmla="*/ 153156 h 259768"/>
                    <a:gd name="connsiteX144" fmla="*/ 189902 w 864621"/>
                    <a:gd name="connsiteY144" fmla="*/ 146350 h 259768"/>
                    <a:gd name="connsiteX145" fmla="*/ 204230 w 864621"/>
                    <a:gd name="connsiteY145" fmla="*/ 146350 h 259768"/>
                    <a:gd name="connsiteX146" fmla="*/ 204230 w 864621"/>
                    <a:gd name="connsiteY146" fmla="*/ 153051 h 259768"/>
                    <a:gd name="connsiteX147" fmla="*/ 189902 w 864621"/>
                    <a:gd name="connsiteY147" fmla="*/ 153051 h 259768"/>
                    <a:gd name="connsiteX148" fmla="*/ 253191 w 864621"/>
                    <a:gd name="connsiteY148" fmla="*/ 145844 h 259768"/>
                    <a:gd name="connsiteX149" fmla="*/ 267519 w 864621"/>
                    <a:gd name="connsiteY149" fmla="*/ 145844 h 259768"/>
                    <a:gd name="connsiteX150" fmla="*/ 267519 w 864621"/>
                    <a:gd name="connsiteY150" fmla="*/ 152405 h 259768"/>
                    <a:gd name="connsiteX151" fmla="*/ 253191 w 864621"/>
                    <a:gd name="connsiteY151" fmla="*/ 152405 h 259768"/>
                    <a:gd name="connsiteX152" fmla="*/ 63288 w 864621"/>
                    <a:gd name="connsiteY152" fmla="*/ 141725 h 259768"/>
                    <a:gd name="connsiteX153" fmla="*/ 77616 w 864621"/>
                    <a:gd name="connsiteY153" fmla="*/ 141725 h 259768"/>
                    <a:gd name="connsiteX154" fmla="*/ 77616 w 864621"/>
                    <a:gd name="connsiteY154" fmla="*/ 148566 h 259768"/>
                    <a:gd name="connsiteX155" fmla="*/ 63288 w 864621"/>
                    <a:gd name="connsiteY155" fmla="*/ 148566 h 259768"/>
                    <a:gd name="connsiteX156" fmla="*/ 379805 w 864621"/>
                    <a:gd name="connsiteY156" fmla="*/ 140974 h 259768"/>
                    <a:gd name="connsiteX157" fmla="*/ 394133 w 864621"/>
                    <a:gd name="connsiteY157" fmla="*/ 140974 h 259768"/>
                    <a:gd name="connsiteX158" fmla="*/ 394133 w 864621"/>
                    <a:gd name="connsiteY158" fmla="*/ 147501 h 259768"/>
                    <a:gd name="connsiteX159" fmla="*/ 379805 w 864621"/>
                    <a:gd name="connsiteY159" fmla="*/ 147501 h 259768"/>
                    <a:gd name="connsiteX160" fmla="*/ 443094 w 864621"/>
                    <a:gd name="connsiteY160" fmla="*/ 138112 h 259768"/>
                    <a:gd name="connsiteX161" fmla="*/ 457422 w 864621"/>
                    <a:gd name="connsiteY161" fmla="*/ 138112 h 259768"/>
                    <a:gd name="connsiteX162" fmla="*/ 457422 w 864621"/>
                    <a:gd name="connsiteY162" fmla="*/ 142353 h 259768"/>
                    <a:gd name="connsiteX163" fmla="*/ 443094 w 864621"/>
                    <a:gd name="connsiteY163" fmla="*/ 142353 h 259768"/>
                    <a:gd name="connsiteX164" fmla="*/ 316479 w 864621"/>
                    <a:gd name="connsiteY164" fmla="*/ 136489 h 259768"/>
                    <a:gd name="connsiteX165" fmla="*/ 330807 w 864621"/>
                    <a:gd name="connsiteY165" fmla="*/ 136489 h 259768"/>
                    <a:gd name="connsiteX166" fmla="*/ 330807 w 864621"/>
                    <a:gd name="connsiteY166" fmla="*/ 143208 h 259768"/>
                    <a:gd name="connsiteX167" fmla="*/ 316479 w 864621"/>
                    <a:gd name="connsiteY167" fmla="*/ 143208 h 259768"/>
                    <a:gd name="connsiteX168" fmla="*/ 126576 w 864621"/>
                    <a:gd name="connsiteY168" fmla="*/ 136489 h 259768"/>
                    <a:gd name="connsiteX169" fmla="*/ 140904 w 864621"/>
                    <a:gd name="connsiteY169" fmla="*/ 136489 h 259768"/>
                    <a:gd name="connsiteX170" fmla="*/ 140904 w 864621"/>
                    <a:gd name="connsiteY170" fmla="*/ 143208 h 259768"/>
                    <a:gd name="connsiteX171" fmla="*/ 126576 w 864621"/>
                    <a:gd name="connsiteY171" fmla="*/ 143208 h 259768"/>
                    <a:gd name="connsiteX172" fmla="*/ 189902 w 864621"/>
                    <a:gd name="connsiteY172" fmla="*/ 136437 h 259768"/>
                    <a:gd name="connsiteX173" fmla="*/ 204230 w 864621"/>
                    <a:gd name="connsiteY173" fmla="*/ 136437 h 259768"/>
                    <a:gd name="connsiteX174" fmla="*/ 204230 w 864621"/>
                    <a:gd name="connsiteY174" fmla="*/ 143138 h 259768"/>
                    <a:gd name="connsiteX175" fmla="*/ 189902 w 864621"/>
                    <a:gd name="connsiteY175" fmla="*/ 143138 h 259768"/>
                    <a:gd name="connsiteX176" fmla="*/ 253191 w 864621"/>
                    <a:gd name="connsiteY176" fmla="*/ 136228 h 259768"/>
                    <a:gd name="connsiteX177" fmla="*/ 267519 w 864621"/>
                    <a:gd name="connsiteY177" fmla="*/ 136228 h 259768"/>
                    <a:gd name="connsiteX178" fmla="*/ 267519 w 864621"/>
                    <a:gd name="connsiteY178" fmla="*/ 142789 h 259768"/>
                    <a:gd name="connsiteX179" fmla="*/ 253191 w 864621"/>
                    <a:gd name="connsiteY179" fmla="*/ 142789 h 259768"/>
                    <a:gd name="connsiteX180" fmla="*/ 0 w 864621"/>
                    <a:gd name="connsiteY180" fmla="*/ 134587 h 259768"/>
                    <a:gd name="connsiteX181" fmla="*/ 14328 w 864621"/>
                    <a:gd name="connsiteY181" fmla="*/ 134587 h 259768"/>
                    <a:gd name="connsiteX182" fmla="*/ 14328 w 864621"/>
                    <a:gd name="connsiteY182" fmla="*/ 138828 h 259768"/>
                    <a:gd name="connsiteX183" fmla="*/ 0 w 864621"/>
                    <a:gd name="connsiteY183" fmla="*/ 138828 h 259768"/>
                    <a:gd name="connsiteX184" fmla="*/ 63288 w 864621"/>
                    <a:gd name="connsiteY184" fmla="*/ 131551 h 259768"/>
                    <a:gd name="connsiteX185" fmla="*/ 77616 w 864621"/>
                    <a:gd name="connsiteY185" fmla="*/ 131551 h 259768"/>
                    <a:gd name="connsiteX186" fmla="*/ 77616 w 864621"/>
                    <a:gd name="connsiteY186" fmla="*/ 138392 h 259768"/>
                    <a:gd name="connsiteX187" fmla="*/ 63288 w 864621"/>
                    <a:gd name="connsiteY187" fmla="*/ 138392 h 259768"/>
                    <a:gd name="connsiteX188" fmla="*/ 379805 w 864621"/>
                    <a:gd name="connsiteY188" fmla="*/ 131411 h 259768"/>
                    <a:gd name="connsiteX189" fmla="*/ 394133 w 864621"/>
                    <a:gd name="connsiteY189" fmla="*/ 131411 h 259768"/>
                    <a:gd name="connsiteX190" fmla="*/ 394133 w 864621"/>
                    <a:gd name="connsiteY190" fmla="*/ 137938 h 259768"/>
                    <a:gd name="connsiteX191" fmla="*/ 379805 w 864621"/>
                    <a:gd name="connsiteY191" fmla="*/ 137938 h 259768"/>
                    <a:gd name="connsiteX192" fmla="*/ 856418 w 864621"/>
                    <a:gd name="connsiteY192" fmla="*/ 128985 h 259768"/>
                    <a:gd name="connsiteX193" fmla="*/ 864621 w 864621"/>
                    <a:gd name="connsiteY193" fmla="*/ 129003 h 259768"/>
                    <a:gd name="connsiteX194" fmla="*/ 864621 w 864621"/>
                    <a:gd name="connsiteY194" fmla="*/ 130748 h 259768"/>
                    <a:gd name="connsiteX195" fmla="*/ 854562 w 864621"/>
                    <a:gd name="connsiteY195" fmla="*/ 130800 h 259768"/>
                    <a:gd name="connsiteX196" fmla="*/ 854562 w 864621"/>
                    <a:gd name="connsiteY196" fmla="*/ 129038 h 259768"/>
                    <a:gd name="connsiteX197" fmla="*/ 836856 w 864621"/>
                    <a:gd name="connsiteY197" fmla="*/ 128916 h 259768"/>
                    <a:gd name="connsiteX198" fmla="*/ 846952 w 864621"/>
                    <a:gd name="connsiteY198" fmla="*/ 128950 h 259768"/>
                    <a:gd name="connsiteX199" fmla="*/ 846952 w 864621"/>
                    <a:gd name="connsiteY199" fmla="*/ 130678 h 259768"/>
                    <a:gd name="connsiteX200" fmla="*/ 845096 w 864621"/>
                    <a:gd name="connsiteY200" fmla="*/ 130835 h 259768"/>
                    <a:gd name="connsiteX201" fmla="*/ 836856 w 864621"/>
                    <a:gd name="connsiteY201" fmla="*/ 130853 h 259768"/>
                    <a:gd name="connsiteX202" fmla="*/ 819187 w 864621"/>
                    <a:gd name="connsiteY202" fmla="*/ 128846 h 259768"/>
                    <a:gd name="connsiteX203" fmla="*/ 829283 w 864621"/>
                    <a:gd name="connsiteY203" fmla="*/ 128881 h 259768"/>
                    <a:gd name="connsiteX204" fmla="*/ 829283 w 864621"/>
                    <a:gd name="connsiteY204" fmla="*/ 130888 h 259768"/>
                    <a:gd name="connsiteX205" fmla="*/ 819187 w 864621"/>
                    <a:gd name="connsiteY205" fmla="*/ 130923 h 259768"/>
                    <a:gd name="connsiteX206" fmla="*/ 801518 w 864621"/>
                    <a:gd name="connsiteY206" fmla="*/ 128793 h 259768"/>
                    <a:gd name="connsiteX207" fmla="*/ 811578 w 864621"/>
                    <a:gd name="connsiteY207" fmla="*/ 128811 h 259768"/>
                    <a:gd name="connsiteX208" fmla="*/ 811578 w 864621"/>
                    <a:gd name="connsiteY208" fmla="*/ 130957 h 259768"/>
                    <a:gd name="connsiteX209" fmla="*/ 801518 w 864621"/>
                    <a:gd name="connsiteY209" fmla="*/ 130992 h 259768"/>
                    <a:gd name="connsiteX210" fmla="*/ 783812 w 864621"/>
                    <a:gd name="connsiteY210" fmla="*/ 128724 h 259768"/>
                    <a:gd name="connsiteX211" fmla="*/ 793909 w 864621"/>
                    <a:gd name="connsiteY211" fmla="*/ 128758 h 259768"/>
                    <a:gd name="connsiteX212" fmla="*/ 793909 w 864621"/>
                    <a:gd name="connsiteY212" fmla="*/ 131027 h 259768"/>
                    <a:gd name="connsiteX213" fmla="*/ 783812 w 864621"/>
                    <a:gd name="connsiteY213" fmla="*/ 131045 h 259768"/>
                    <a:gd name="connsiteX214" fmla="*/ 766143 w 864621"/>
                    <a:gd name="connsiteY214" fmla="*/ 128654 h 259768"/>
                    <a:gd name="connsiteX215" fmla="*/ 776240 w 864621"/>
                    <a:gd name="connsiteY215" fmla="*/ 128689 h 259768"/>
                    <a:gd name="connsiteX216" fmla="*/ 776240 w 864621"/>
                    <a:gd name="connsiteY216" fmla="*/ 131080 h 259768"/>
                    <a:gd name="connsiteX217" fmla="*/ 766143 w 864621"/>
                    <a:gd name="connsiteY217" fmla="*/ 131114 h 259768"/>
                    <a:gd name="connsiteX218" fmla="*/ 748475 w 864621"/>
                    <a:gd name="connsiteY218" fmla="*/ 128601 h 259768"/>
                    <a:gd name="connsiteX219" fmla="*/ 758534 w 864621"/>
                    <a:gd name="connsiteY219" fmla="*/ 128619 h 259768"/>
                    <a:gd name="connsiteX220" fmla="*/ 758534 w 864621"/>
                    <a:gd name="connsiteY220" fmla="*/ 131149 h 259768"/>
                    <a:gd name="connsiteX221" fmla="*/ 748475 w 864621"/>
                    <a:gd name="connsiteY221" fmla="*/ 131184 h 259768"/>
                    <a:gd name="connsiteX222" fmla="*/ 730768 w 864621"/>
                    <a:gd name="connsiteY222" fmla="*/ 128532 h 259768"/>
                    <a:gd name="connsiteX223" fmla="*/ 740865 w 864621"/>
                    <a:gd name="connsiteY223" fmla="*/ 128566 h 259768"/>
                    <a:gd name="connsiteX224" fmla="*/ 740865 w 864621"/>
                    <a:gd name="connsiteY224" fmla="*/ 131219 h 259768"/>
                    <a:gd name="connsiteX225" fmla="*/ 730768 w 864621"/>
                    <a:gd name="connsiteY225" fmla="*/ 131237 h 259768"/>
                    <a:gd name="connsiteX226" fmla="*/ 713100 w 864621"/>
                    <a:gd name="connsiteY226" fmla="*/ 128462 h 259768"/>
                    <a:gd name="connsiteX227" fmla="*/ 723196 w 864621"/>
                    <a:gd name="connsiteY227" fmla="*/ 128497 h 259768"/>
                    <a:gd name="connsiteX228" fmla="*/ 723196 w 864621"/>
                    <a:gd name="connsiteY228" fmla="*/ 131271 h 259768"/>
                    <a:gd name="connsiteX229" fmla="*/ 713100 w 864621"/>
                    <a:gd name="connsiteY229" fmla="*/ 131306 h 259768"/>
                    <a:gd name="connsiteX230" fmla="*/ 695431 w 864621"/>
                    <a:gd name="connsiteY230" fmla="*/ 128409 h 259768"/>
                    <a:gd name="connsiteX231" fmla="*/ 705490 w 864621"/>
                    <a:gd name="connsiteY231" fmla="*/ 128444 h 259768"/>
                    <a:gd name="connsiteX232" fmla="*/ 705490 w 864621"/>
                    <a:gd name="connsiteY232" fmla="*/ 131341 h 259768"/>
                    <a:gd name="connsiteX233" fmla="*/ 695431 w 864621"/>
                    <a:gd name="connsiteY233" fmla="*/ 131376 h 259768"/>
                    <a:gd name="connsiteX234" fmla="*/ 677725 w 864621"/>
                    <a:gd name="connsiteY234" fmla="*/ 128340 h 259768"/>
                    <a:gd name="connsiteX235" fmla="*/ 687821 w 864621"/>
                    <a:gd name="connsiteY235" fmla="*/ 128374 h 259768"/>
                    <a:gd name="connsiteX236" fmla="*/ 687821 w 864621"/>
                    <a:gd name="connsiteY236" fmla="*/ 131411 h 259768"/>
                    <a:gd name="connsiteX237" fmla="*/ 677725 w 864621"/>
                    <a:gd name="connsiteY237" fmla="*/ 131428 h 259768"/>
                    <a:gd name="connsiteX238" fmla="*/ 660056 w 864621"/>
                    <a:gd name="connsiteY238" fmla="*/ 128287 h 259768"/>
                    <a:gd name="connsiteX239" fmla="*/ 670152 w 864621"/>
                    <a:gd name="connsiteY239" fmla="*/ 128305 h 259768"/>
                    <a:gd name="connsiteX240" fmla="*/ 670152 w 864621"/>
                    <a:gd name="connsiteY240" fmla="*/ 131463 h 259768"/>
                    <a:gd name="connsiteX241" fmla="*/ 660056 w 864621"/>
                    <a:gd name="connsiteY241" fmla="*/ 131498 h 259768"/>
                    <a:gd name="connsiteX242" fmla="*/ 642387 w 864621"/>
                    <a:gd name="connsiteY242" fmla="*/ 128217 h 259768"/>
                    <a:gd name="connsiteX243" fmla="*/ 652447 w 864621"/>
                    <a:gd name="connsiteY243" fmla="*/ 128252 h 259768"/>
                    <a:gd name="connsiteX244" fmla="*/ 652447 w 864621"/>
                    <a:gd name="connsiteY244" fmla="*/ 131533 h 259768"/>
                    <a:gd name="connsiteX245" fmla="*/ 642387 w 864621"/>
                    <a:gd name="connsiteY245" fmla="*/ 131568 h 259768"/>
                    <a:gd name="connsiteX246" fmla="*/ 624681 w 864621"/>
                    <a:gd name="connsiteY246" fmla="*/ 128147 h 259768"/>
                    <a:gd name="connsiteX247" fmla="*/ 634778 w 864621"/>
                    <a:gd name="connsiteY247" fmla="*/ 128182 h 259768"/>
                    <a:gd name="connsiteX248" fmla="*/ 634778 w 864621"/>
                    <a:gd name="connsiteY248" fmla="*/ 131603 h 259768"/>
                    <a:gd name="connsiteX249" fmla="*/ 624681 w 864621"/>
                    <a:gd name="connsiteY249" fmla="*/ 131620 h 259768"/>
                    <a:gd name="connsiteX250" fmla="*/ 607013 w 864621"/>
                    <a:gd name="connsiteY250" fmla="*/ 128095 h 259768"/>
                    <a:gd name="connsiteX251" fmla="*/ 617072 w 864621"/>
                    <a:gd name="connsiteY251" fmla="*/ 128130 h 259768"/>
                    <a:gd name="connsiteX252" fmla="*/ 617072 w 864621"/>
                    <a:gd name="connsiteY252" fmla="*/ 131673 h 259768"/>
                    <a:gd name="connsiteX253" fmla="*/ 607013 w 864621"/>
                    <a:gd name="connsiteY253" fmla="*/ 131690 h 259768"/>
                    <a:gd name="connsiteX254" fmla="*/ 589344 w 864621"/>
                    <a:gd name="connsiteY254" fmla="*/ 128025 h 259768"/>
                    <a:gd name="connsiteX255" fmla="*/ 599403 w 864621"/>
                    <a:gd name="connsiteY255" fmla="*/ 128060 h 259768"/>
                    <a:gd name="connsiteX256" fmla="*/ 599403 w 864621"/>
                    <a:gd name="connsiteY256" fmla="*/ 131725 h 259768"/>
                    <a:gd name="connsiteX257" fmla="*/ 589344 w 864621"/>
                    <a:gd name="connsiteY257" fmla="*/ 131760 h 259768"/>
                    <a:gd name="connsiteX258" fmla="*/ 571638 w 864621"/>
                    <a:gd name="connsiteY258" fmla="*/ 127956 h 259768"/>
                    <a:gd name="connsiteX259" fmla="*/ 581697 w 864621"/>
                    <a:gd name="connsiteY259" fmla="*/ 127991 h 259768"/>
                    <a:gd name="connsiteX260" fmla="*/ 581697 w 864621"/>
                    <a:gd name="connsiteY260" fmla="*/ 131778 h 259768"/>
                    <a:gd name="connsiteX261" fmla="*/ 571638 w 864621"/>
                    <a:gd name="connsiteY261" fmla="*/ 131812 h 259768"/>
                    <a:gd name="connsiteX262" fmla="*/ 553969 w 864621"/>
                    <a:gd name="connsiteY262" fmla="*/ 127903 h 259768"/>
                    <a:gd name="connsiteX263" fmla="*/ 564028 w 864621"/>
                    <a:gd name="connsiteY263" fmla="*/ 127938 h 259768"/>
                    <a:gd name="connsiteX264" fmla="*/ 564028 w 864621"/>
                    <a:gd name="connsiteY264" fmla="*/ 131865 h 259768"/>
                    <a:gd name="connsiteX265" fmla="*/ 553969 w 864621"/>
                    <a:gd name="connsiteY265" fmla="*/ 131882 h 259768"/>
                    <a:gd name="connsiteX266" fmla="*/ 536300 w 864621"/>
                    <a:gd name="connsiteY266" fmla="*/ 127833 h 259768"/>
                    <a:gd name="connsiteX267" fmla="*/ 546360 w 864621"/>
                    <a:gd name="connsiteY267" fmla="*/ 127868 h 259768"/>
                    <a:gd name="connsiteX268" fmla="*/ 546360 w 864621"/>
                    <a:gd name="connsiteY268" fmla="*/ 131917 h 259768"/>
                    <a:gd name="connsiteX269" fmla="*/ 536300 w 864621"/>
                    <a:gd name="connsiteY269" fmla="*/ 131952 h 259768"/>
                    <a:gd name="connsiteX270" fmla="*/ 518594 w 864621"/>
                    <a:gd name="connsiteY270" fmla="*/ 127764 h 259768"/>
                    <a:gd name="connsiteX271" fmla="*/ 528654 w 864621"/>
                    <a:gd name="connsiteY271" fmla="*/ 127799 h 259768"/>
                    <a:gd name="connsiteX272" fmla="*/ 528654 w 864621"/>
                    <a:gd name="connsiteY272" fmla="*/ 131987 h 259768"/>
                    <a:gd name="connsiteX273" fmla="*/ 518594 w 864621"/>
                    <a:gd name="connsiteY273" fmla="*/ 132004 h 259768"/>
                    <a:gd name="connsiteX274" fmla="*/ 500926 w 864621"/>
                    <a:gd name="connsiteY274" fmla="*/ 127711 h 259768"/>
                    <a:gd name="connsiteX275" fmla="*/ 510985 w 864621"/>
                    <a:gd name="connsiteY275" fmla="*/ 127746 h 259768"/>
                    <a:gd name="connsiteX276" fmla="*/ 510985 w 864621"/>
                    <a:gd name="connsiteY276" fmla="*/ 132057 h 259768"/>
                    <a:gd name="connsiteX277" fmla="*/ 500926 w 864621"/>
                    <a:gd name="connsiteY277" fmla="*/ 132074 h 259768"/>
                    <a:gd name="connsiteX278" fmla="*/ 483219 w 864621"/>
                    <a:gd name="connsiteY278" fmla="*/ 127624 h 259768"/>
                    <a:gd name="connsiteX279" fmla="*/ 493279 w 864621"/>
                    <a:gd name="connsiteY279" fmla="*/ 127659 h 259768"/>
                    <a:gd name="connsiteX280" fmla="*/ 493279 w 864621"/>
                    <a:gd name="connsiteY280" fmla="*/ 132092 h 259768"/>
                    <a:gd name="connsiteX281" fmla="*/ 483219 w 864621"/>
                    <a:gd name="connsiteY281" fmla="*/ 132126 h 259768"/>
                    <a:gd name="connsiteX282" fmla="*/ 465551 w 864621"/>
                    <a:gd name="connsiteY282" fmla="*/ 127572 h 259768"/>
                    <a:gd name="connsiteX283" fmla="*/ 475610 w 864621"/>
                    <a:gd name="connsiteY283" fmla="*/ 127607 h 259768"/>
                    <a:gd name="connsiteX284" fmla="*/ 475610 w 864621"/>
                    <a:gd name="connsiteY284" fmla="*/ 132161 h 259768"/>
                    <a:gd name="connsiteX285" fmla="*/ 465551 w 864621"/>
                    <a:gd name="connsiteY285" fmla="*/ 132196 h 259768"/>
                    <a:gd name="connsiteX286" fmla="*/ 0 w 864621"/>
                    <a:gd name="connsiteY286" fmla="*/ 127188 h 259768"/>
                    <a:gd name="connsiteX287" fmla="*/ 14328 w 864621"/>
                    <a:gd name="connsiteY287" fmla="*/ 127188 h 259768"/>
                    <a:gd name="connsiteX288" fmla="*/ 14328 w 864621"/>
                    <a:gd name="connsiteY288" fmla="*/ 132580 h 259768"/>
                    <a:gd name="connsiteX289" fmla="*/ 0 w 864621"/>
                    <a:gd name="connsiteY289" fmla="*/ 132580 h 259768"/>
                    <a:gd name="connsiteX290" fmla="*/ 253191 w 864621"/>
                    <a:gd name="connsiteY290" fmla="*/ 126612 h 259768"/>
                    <a:gd name="connsiteX291" fmla="*/ 267519 w 864621"/>
                    <a:gd name="connsiteY291" fmla="*/ 126612 h 259768"/>
                    <a:gd name="connsiteX292" fmla="*/ 267519 w 864621"/>
                    <a:gd name="connsiteY292" fmla="*/ 133174 h 259768"/>
                    <a:gd name="connsiteX293" fmla="*/ 253191 w 864621"/>
                    <a:gd name="connsiteY293" fmla="*/ 133174 h 259768"/>
                    <a:gd name="connsiteX294" fmla="*/ 189902 w 864621"/>
                    <a:gd name="connsiteY294" fmla="*/ 126542 h 259768"/>
                    <a:gd name="connsiteX295" fmla="*/ 204230 w 864621"/>
                    <a:gd name="connsiteY295" fmla="*/ 126542 h 259768"/>
                    <a:gd name="connsiteX296" fmla="*/ 204230 w 864621"/>
                    <a:gd name="connsiteY296" fmla="*/ 133244 h 259768"/>
                    <a:gd name="connsiteX297" fmla="*/ 189902 w 864621"/>
                    <a:gd name="connsiteY297" fmla="*/ 133244 h 259768"/>
                    <a:gd name="connsiteX298" fmla="*/ 316479 w 864621"/>
                    <a:gd name="connsiteY298" fmla="*/ 126525 h 259768"/>
                    <a:gd name="connsiteX299" fmla="*/ 330807 w 864621"/>
                    <a:gd name="connsiteY299" fmla="*/ 126525 h 259768"/>
                    <a:gd name="connsiteX300" fmla="*/ 330807 w 864621"/>
                    <a:gd name="connsiteY300" fmla="*/ 133243 h 259768"/>
                    <a:gd name="connsiteX301" fmla="*/ 316479 w 864621"/>
                    <a:gd name="connsiteY301" fmla="*/ 133243 h 259768"/>
                    <a:gd name="connsiteX302" fmla="*/ 126576 w 864621"/>
                    <a:gd name="connsiteY302" fmla="*/ 126525 h 259768"/>
                    <a:gd name="connsiteX303" fmla="*/ 140904 w 864621"/>
                    <a:gd name="connsiteY303" fmla="*/ 126525 h 259768"/>
                    <a:gd name="connsiteX304" fmla="*/ 140904 w 864621"/>
                    <a:gd name="connsiteY304" fmla="*/ 133243 h 259768"/>
                    <a:gd name="connsiteX305" fmla="*/ 126576 w 864621"/>
                    <a:gd name="connsiteY305" fmla="*/ 133243 h 259768"/>
                    <a:gd name="connsiteX306" fmla="*/ 443019 w 864621"/>
                    <a:gd name="connsiteY306" fmla="*/ 126071 h 259768"/>
                    <a:gd name="connsiteX307" fmla="*/ 457347 w 864621"/>
                    <a:gd name="connsiteY307" fmla="*/ 126071 h 259768"/>
                    <a:gd name="connsiteX308" fmla="*/ 457347 w 864621"/>
                    <a:gd name="connsiteY308" fmla="*/ 127537 h 259768"/>
                    <a:gd name="connsiteX309" fmla="*/ 458424 w 864621"/>
                    <a:gd name="connsiteY309" fmla="*/ 127537 h 259768"/>
                    <a:gd name="connsiteX310" fmla="*/ 458424 w 864621"/>
                    <a:gd name="connsiteY310" fmla="*/ 132231 h 259768"/>
                    <a:gd name="connsiteX311" fmla="*/ 457347 w 864621"/>
                    <a:gd name="connsiteY311" fmla="*/ 132231 h 259768"/>
                    <a:gd name="connsiteX312" fmla="*/ 457347 w 864621"/>
                    <a:gd name="connsiteY312" fmla="*/ 133697 h 259768"/>
                    <a:gd name="connsiteX313" fmla="*/ 443019 w 864621"/>
                    <a:gd name="connsiteY313" fmla="*/ 133697 h 259768"/>
                    <a:gd name="connsiteX314" fmla="*/ 379805 w 864621"/>
                    <a:gd name="connsiteY314" fmla="*/ 121848 h 259768"/>
                    <a:gd name="connsiteX315" fmla="*/ 394133 w 864621"/>
                    <a:gd name="connsiteY315" fmla="*/ 121848 h 259768"/>
                    <a:gd name="connsiteX316" fmla="*/ 394133 w 864621"/>
                    <a:gd name="connsiteY316" fmla="*/ 128374 h 259768"/>
                    <a:gd name="connsiteX317" fmla="*/ 379805 w 864621"/>
                    <a:gd name="connsiteY317" fmla="*/ 128374 h 259768"/>
                    <a:gd name="connsiteX318" fmla="*/ 63288 w 864621"/>
                    <a:gd name="connsiteY318" fmla="*/ 121376 h 259768"/>
                    <a:gd name="connsiteX319" fmla="*/ 77616 w 864621"/>
                    <a:gd name="connsiteY319" fmla="*/ 121376 h 259768"/>
                    <a:gd name="connsiteX320" fmla="*/ 77616 w 864621"/>
                    <a:gd name="connsiteY320" fmla="*/ 128217 h 259768"/>
                    <a:gd name="connsiteX321" fmla="*/ 63288 w 864621"/>
                    <a:gd name="connsiteY321" fmla="*/ 128217 h 259768"/>
                    <a:gd name="connsiteX322" fmla="*/ 0 w 864621"/>
                    <a:gd name="connsiteY322" fmla="*/ 120958 h 259768"/>
                    <a:gd name="connsiteX323" fmla="*/ 14328 w 864621"/>
                    <a:gd name="connsiteY323" fmla="*/ 120958 h 259768"/>
                    <a:gd name="connsiteX324" fmla="*/ 14328 w 864621"/>
                    <a:gd name="connsiteY324" fmla="*/ 125198 h 259768"/>
                    <a:gd name="connsiteX325" fmla="*/ 0 w 864621"/>
                    <a:gd name="connsiteY325" fmla="*/ 125198 h 259768"/>
                    <a:gd name="connsiteX326" fmla="*/ 443094 w 864621"/>
                    <a:gd name="connsiteY326" fmla="*/ 117432 h 259768"/>
                    <a:gd name="connsiteX327" fmla="*/ 457422 w 864621"/>
                    <a:gd name="connsiteY327" fmla="*/ 117432 h 259768"/>
                    <a:gd name="connsiteX328" fmla="*/ 457422 w 864621"/>
                    <a:gd name="connsiteY328" fmla="*/ 121673 h 259768"/>
                    <a:gd name="connsiteX329" fmla="*/ 443094 w 864621"/>
                    <a:gd name="connsiteY329" fmla="*/ 121673 h 259768"/>
                    <a:gd name="connsiteX330" fmla="*/ 253191 w 864621"/>
                    <a:gd name="connsiteY330" fmla="*/ 116978 h 259768"/>
                    <a:gd name="connsiteX331" fmla="*/ 267519 w 864621"/>
                    <a:gd name="connsiteY331" fmla="*/ 116978 h 259768"/>
                    <a:gd name="connsiteX332" fmla="*/ 267519 w 864621"/>
                    <a:gd name="connsiteY332" fmla="*/ 123540 h 259768"/>
                    <a:gd name="connsiteX333" fmla="*/ 253191 w 864621"/>
                    <a:gd name="connsiteY333" fmla="*/ 123540 h 259768"/>
                    <a:gd name="connsiteX334" fmla="*/ 189902 w 864621"/>
                    <a:gd name="connsiteY334" fmla="*/ 116630 h 259768"/>
                    <a:gd name="connsiteX335" fmla="*/ 204230 w 864621"/>
                    <a:gd name="connsiteY335" fmla="*/ 116630 h 259768"/>
                    <a:gd name="connsiteX336" fmla="*/ 204230 w 864621"/>
                    <a:gd name="connsiteY336" fmla="*/ 123331 h 259768"/>
                    <a:gd name="connsiteX337" fmla="*/ 189902 w 864621"/>
                    <a:gd name="connsiteY337" fmla="*/ 123331 h 259768"/>
                    <a:gd name="connsiteX338" fmla="*/ 316479 w 864621"/>
                    <a:gd name="connsiteY338" fmla="*/ 116577 h 259768"/>
                    <a:gd name="connsiteX339" fmla="*/ 330807 w 864621"/>
                    <a:gd name="connsiteY339" fmla="*/ 116577 h 259768"/>
                    <a:gd name="connsiteX340" fmla="*/ 330807 w 864621"/>
                    <a:gd name="connsiteY340" fmla="*/ 123296 h 259768"/>
                    <a:gd name="connsiteX341" fmla="*/ 316479 w 864621"/>
                    <a:gd name="connsiteY341" fmla="*/ 123296 h 259768"/>
                    <a:gd name="connsiteX342" fmla="*/ 126576 w 864621"/>
                    <a:gd name="connsiteY342" fmla="*/ 116577 h 259768"/>
                    <a:gd name="connsiteX343" fmla="*/ 140904 w 864621"/>
                    <a:gd name="connsiteY343" fmla="*/ 116577 h 259768"/>
                    <a:gd name="connsiteX344" fmla="*/ 140904 w 864621"/>
                    <a:gd name="connsiteY344" fmla="*/ 123296 h 259768"/>
                    <a:gd name="connsiteX345" fmla="*/ 126576 w 864621"/>
                    <a:gd name="connsiteY345" fmla="*/ 123296 h 259768"/>
                    <a:gd name="connsiteX346" fmla="*/ 379805 w 864621"/>
                    <a:gd name="connsiteY346" fmla="*/ 112284 h 259768"/>
                    <a:gd name="connsiteX347" fmla="*/ 394133 w 864621"/>
                    <a:gd name="connsiteY347" fmla="*/ 112284 h 259768"/>
                    <a:gd name="connsiteX348" fmla="*/ 394133 w 864621"/>
                    <a:gd name="connsiteY348" fmla="*/ 118811 h 259768"/>
                    <a:gd name="connsiteX349" fmla="*/ 379805 w 864621"/>
                    <a:gd name="connsiteY349" fmla="*/ 118811 h 259768"/>
                    <a:gd name="connsiteX350" fmla="*/ 63288 w 864621"/>
                    <a:gd name="connsiteY350" fmla="*/ 111202 h 259768"/>
                    <a:gd name="connsiteX351" fmla="*/ 77616 w 864621"/>
                    <a:gd name="connsiteY351" fmla="*/ 111202 h 259768"/>
                    <a:gd name="connsiteX352" fmla="*/ 77616 w 864621"/>
                    <a:gd name="connsiteY352" fmla="*/ 118043 h 259768"/>
                    <a:gd name="connsiteX353" fmla="*/ 63288 w 864621"/>
                    <a:gd name="connsiteY353" fmla="*/ 118043 h 259768"/>
                    <a:gd name="connsiteX354" fmla="*/ 253191 w 864621"/>
                    <a:gd name="connsiteY354" fmla="*/ 107363 h 259768"/>
                    <a:gd name="connsiteX355" fmla="*/ 267519 w 864621"/>
                    <a:gd name="connsiteY355" fmla="*/ 107363 h 259768"/>
                    <a:gd name="connsiteX356" fmla="*/ 267519 w 864621"/>
                    <a:gd name="connsiteY356" fmla="*/ 113925 h 259768"/>
                    <a:gd name="connsiteX357" fmla="*/ 253191 w 864621"/>
                    <a:gd name="connsiteY357" fmla="*/ 113925 h 259768"/>
                    <a:gd name="connsiteX358" fmla="*/ 189902 w 864621"/>
                    <a:gd name="connsiteY358" fmla="*/ 106717 h 259768"/>
                    <a:gd name="connsiteX359" fmla="*/ 204230 w 864621"/>
                    <a:gd name="connsiteY359" fmla="*/ 106717 h 259768"/>
                    <a:gd name="connsiteX360" fmla="*/ 204230 w 864621"/>
                    <a:gd name="connsiteY360" fmla="*/ 113419 h 259768"/>
                    <a:gd name="connsiteX361" fmla="*/ 189902 w 864621"/>
                    <a:gd name="connsiteY361" fmla="*/ 113419 h 259768"/>
                    <a:gd name="connsiteX362" fmla="*/ 316479 w 864621"/>
                    <a:gd name="connsiteY362" fmla="*/ 106630 h 259768"/>
                    <a:gd name="connsiteX363" fmla="*/ 330807 w 864621"/>
                    <a:gd name="connsiteY363" fmla="*/ 106630 h 259768"/>
                    <a:gd name="connsiteX364" fmla="*/ 330807 w 864621"/>
                    <a:gd name="connsiteY364" fmla="*/ 113349 h 259768"/>
                    <a:gd name="connsiteX365" fmla="*/ 316479 w 864621"/>
                    <a:gd name="connsiteY365" fmla="*/ 113349 h 259768"/>
                    <a:gd name="connsiteX366" fmla="*/ 126576 w 864621"/>
                    <a:gd name="connsiteY366" fmla="*/ 106630 h 259768"/>
                    <a:gd name="connsiteX367" fmla="*/ 140904 w 864621"/>
                    <a:gd name="connsiteY367" fmla="*/ 106630 h 259768"/>
                    <a:gd name="connsiteX368" fmla="*/ 140904 w 864621"/>
                    <a:gd name="connsiteY368" fmla="*/ 113349 h 259768"/>
                    <a:gd name="connsiteX369" fmla="*/ 126576 w 864621"/>
                    <a:gd name="connsiteY369" fmla="*/ 113349 h 259768"/>
                    <a:gd name="connsiteX370" fmla="*/ 379805 w 864621"/>
                    <a:gd name="connsiteY370" fmla="*/ 102721 h 259768"/>
                    <a:gd name="connsiteX371" fmla="*/ 394133 w 864621"/>
                    <a:gd name="connsiteY371" fmla="*/ 102721 h 259768"/>
                    <a:gd name="connsiteX372" fmla="*/ 394133 w 864621"/>
                    <a:gd name="connsiteY372" fmla="*/ 109247 h 259768"/>
                    <a:gd name="connsiteX373" fmla="*/ 379805 w 864621"/>
                    <a:gd name="connsiteY373" fmla="*/ 109247 h 259768"/>
                    <a:gd name="connsiteX374" fmla="*/ 63288 w 864621"/>
                    <a:gd name="connsiteY374" fmla="*/ 101028 h 259768"/>
                    <a:gd name="connsiteX375" fmla="*/ 77616 w 864621"/>
                    <a:gd name="connsiteY375" fmla="*/ 101028 h 259768"/>
                    <a:gd name="connsiteX376" fmla="*/ 77616 w 864621"/>
                    <a:gd name="connsiteY376" fmla="*/ 107869 h 259768"/>
                    <a:gd name="connsiteX377" fmla="*/ 63288 w 864621"/>
                    <a:gd name="connsiteY377" fmla="*/ 107869 h 259768"/>
                    <a:gd name="connsiteX378" fmla="*/ 253191 w 864621"/>
                    <a:gd name="connsiteY378" fmla="*/ 97747 h 259768"/>
                    <a:gd name="connsiteX379" fmla="*/ 267519 w 864621"/>
                    <a:gd name="connsiteY379" fmla="*/ 97747 h 259768"/>
                    <a:gd name="connsiteX380" fmla="*/ 267519 w 864621"/>
                    <a:gd name="connsiteY380" fmla="*/ 104309 h 259768"/>
                    <a:gd name="connsiteX381" fmla="*/ 253191 w 864621"/>
                    <a:gd name="connsiteY381" fmla="*/ 104309 h 259768"/>
                    <a:gd name="connsiteX382" fmla="*/ 189902 w 864621"/>
                    <a:gd name="connsiteY382" fmla="*/ 96822 h 259768"/>
                    <a:gd name="connsiteX383" fmla="*/ 204230 w 864621"/>
                    <a:gd name="connsiteY383" fmla="*/ 96822 h 259768"/>
                    <a:gd name="connsiteX384" fmla="*/ 204230 w 864621"/>
                    <a:gd name="connsiteY384" fmla="*/ 103523 h 259768"/>
                    <a:gd name="connsiteX385" fmla="*/ 189902 w 864621"/>
                    <a:gd name="connsiteY385" fmla="*/ 103523 h 259768"/>
                    <a:gd name="connsiteX386" fmla="*/ 316479 w 864621"/>
                    <a:gd name="connsiteY386" fmla="*/ 96665 h 259768"/>
                    <a:gd name="connsiteX387" fmla="*/ 330807 w 864621"/>
                    <a:gd name="connsiteY387" fmla="*/ 96665 h 259768"/>
                    <a:gd name="connsiteX388" fmla="*/ 330807 w 864621"/>
                    <a:gd name="connsiteY388" fmla="*/ 103384 h 259768"/>
                    <a:gd name="connsiteX389" fmla="*/ 316479 w 864621"/>
                    <a:gd name="connsiteY389" fmla="*/ 103384 h 259768"/>
                    <a:gd name="connsiteX390" fmla="*/ 126576 w 864621"/>
                    <a:gd name="connsiteY390" fmla="*/ 96665 h 259768"/>
                    <a:gd name="connsiteX391" fmla="*/ 140904 w 864621"/>
                    <a:gd name="connsiteY391" fmla="*/ 96665 h 259768"/>
                    <a:gd name="connsiteX392" fmla="*/ 140904 w 864621"/>
                    <a:gd name="connsiteY392" fmla="*/ 103384 h 259768"/>
                    <a:gd name="connsiteX393" fmla="*/ 126576 w 864621"/>
                    <a:gd name="connsiteY393" fmla="*/ 103384 h 259768"/>
                    <a:gd name="connsiteX394" fmla="*/ 379805 w 864621"/>
                    <a:gd name="connsiteY394" fmla="*/ 95251 h 259768"/>
                    <a:gd name="connsiteX395" fmla="*/ 394133 w 864621"/>
                    <a:gd name="connsiteY395" fmla="*/ 95251 h 259768"/>
                    <a:gd name="connsiteX396" fmla="*/ 394133 w 864621"/>
                    <a:gd name="connsiteY396" fmla="*/ 99492 h 259768"/>
                    <a:gd name="connsiteX397" fmla="*/ 379805 w 864621"/>
                    <a:gd name="connsiteY397" fmla="*/ 99492 h 259768"/>
                    <a:gd name="connsiteX398" fmla="*/ 63288 w 864621"/>
                    <a:gd name="connsiteY398" fmla="*/ 90853 h 259768"/>
                    <a:gd name="connsiteX399" fmla="*/ 77616 w 864621"/>
                    <a:gd name="connsiteY399" fmla="*/ 90853 h 259768"/>
                    <a:gd name="connsiteX400" fmla="*/ 77616 w 864621"/>
                    <a:gd name="connsiteY400" fmla="*/ 97694 h 259768"/>
                    <a:gd name="connsiteX401" fmla="*/ 63288 w 864621"/>
                    <a:gd name="connsiteY401" fmla="*/ 97694 h 259768"/>
                    <a:gd name="connsiteX402" fmla="*/ 253191 w 864621"/>
                    <a:gd name="connsiteY402" fmla="*/ 88131 h 259768"/>
                    <a:gd name="connsiteX403" fmla="*/ 267519 w 864621"/>
                    <a:gd name="connsiteY403" fmla="*/ 88131 h 259768"/>
                    <a:gd name="connsiteX404" fmla="*/ 267519 w 864621"/>
                    <a:gd name="connsiteY404" fmla="*/ 94693 h 259768"/>
                    <a:gd name="connsiteX405" fmla="*/ 253191 w 864621"/>
                    <a:gd name="connsiteY405" fmla="*/ 94693 h 259768"/>
                    <a:gd name="connsiteX406" fmla="*/ 189902 w 864621"/>
                    <a:gd name="connsiteY406" fmla="*/ 86909 h 259768"/>
                    <a:gd name="connsiteX407" fmla="*/ 204230 w 864621"/>
                    <a:gd name="connsiteY407" fmla="*/ 86909 h 259768"/>
                    <a:gd name="connsiteX408" fmla="*/ 204230 w 864621"/>
                    <a:gd name="connsiteY408" fmla="*/ 93611 h 259768"/>
                    <a:gd name="connsiteX409" fmla="*/ 189902 w 864621"/>
                    <a:gd name="connsiteY409" fmla="*/ 93611 h 259768"/>
                    <a:gd name="connsiteX410" fmla="*/ 316479 w 864621"/>
                    <a:gd name="connsiteY410" fmla="*/ 86717 h 259768"/>
                    <a:gd name="connsiteX411" fmla="*/ 330807 w 864621"/>
                    <a:gd name="connsiteY411" fmla="*/ 86717 h 259768"/>
                    <a:gd name="connsiteX412" fmla="*/ 330807 w 864621"/>
                    <a:gd name="connsiteY412" fmla="*/ 93436 h 259768"/>
                    <a:gd name="connsiteX413" fmla="*/ 316479 w 864621"/>
                    <a:gd name="connsiteY413" fmla="*/ 93436 h 259768"/>
                    <a:gd name="connsiteX414" fmla="*/ 126576 w 864621"/>
                    <a:gd name="connsiteY414" fmla="*/ 86717 h 259768"/>
                    <a:gd name="connsiteX415" fmla="*/ 140904 w 864621"/>
                    <a:gd name="connsiteY415" fmla="*/ 86717 h 259768"/>
                    <a:gd name="connsiteX416" fmla="*/ 140904 w 864621"/>
                    <a:gd name="connsiteY416" fmla="*/ 93436 h 259768"/>
                    <a:gd name="connsiteX417" fmla="*/ 126576 w 864621"/>
                    <a:gd name="connsiteY417" fmla="*/ 93436 h 259768"/>
                    <a:gd name="connsiteX418" fmla="*/ 63288 w 864621"/>
                    <a:gd name="connsiteY418" fmla="*/ 80679 h 259768"/>
                    <a:gd name="connsiteX419" fmla="*/ 77616 w 864621"/>
                    <a:gd name="connsiteY419" fmla="*/ 80679 h 259768"/>
                    <a:gd name="connsiteX420" fmla="*/ 77616 w 864621"/>
                    <a:gd name="connsiteY420" fmla="*/ 87520 h 259768"/>
                    <a:gd name="connsiteX421" fmla="*/ 63288 w 864621"/>
                    <a:gd name="connsiteY421" fmla="*/ 87520 h 259768"/>
                    <a:gd name="connsiteX422" fmla="*/ 253191 w 864621"/>
                    <a:gd name="connsiteY422" fmla="*/ 80644 h 259768"/>
                    <a:gd name="connsiteX423" fmla="*/ 267519 w 864621"/>
                    <a:gd name="connsiteY423" fmla="*/ 80644 h 259768"/>
                    <a:gd name="connsiteX424" fmla="*/ 267519 w 864621"/>
                    <a:gd name="connsiteY424" fmla="*/ 84885 h 259768"/>
                    <a:gd name="connsiteX425" fmla="*/ 253191 w 864621"/>
                    <a:gd name="connsiteY425" fmla="*/ 84885 h 259768"/>
                    <a:gd name="connsiteX426" fmla="*/ 189902 w 864621"/>
                    <a:gd name="connsiteY426" fmla="*/ 76997 h 259768"/>
                    <a:gd name="connsiteX427" fmla="*/ 204230 w 864621"/>
                    <a:gd name="connsiteY427" fmla="*/ 76997 h 259768"/>
                    <a:gd name="connsiteX428" fmla="*/ 204230 w 864621"/>
                    <a:gd name="connsiteY428" fmla="*/ 83698 h 259768"/>
                    <a:gd name="connsiteX429" fmla="*/ 189902 w 864621"/>
                    <a:gd name="connsiteY429" fmla="*/ 83698 h 259768"/>
                    <a:gd name="connsiteX430" fmla="*/ 316479 w 864621"/>
                    <a:gd name="connsiteY430" fmla="*/ 76770 h 259768"/>
                    <a:gd name="connsiteX431" fmla="*/ 330807 w 864621"/>
                    <a:gd name="connsiteY431" fmla="*/ 76770 h 259768"/>
                    <a:gd name="connsiteX432" fmla="*/ 330807 w 864621"/>
                    <a:gd name="connsiteY432" fmla="*/ 83489 h 259768"/>
                    <a:gd name="connsiteX433" fmla="*/ 316479 w 864621"/>
                    <a:gd name="connsiteY433" fmla="*/ 83489 h 259768"/>
                    <a:gd name="connsiteX434" fmla="*/ 126576 w 864621"/>
                    <a:gd name="connsiteY434" fmla="*/ 76770 h 259768"/>
                    <a:gd name="connsiteX435" fmla="*/ 140904 w 864621"/>
                    <a:gd name="connsiteY435" fmla="*/ 76770 h 259768"/>
                    <a:gd name="connsiteX436" fmla="*/ 140904 w 864621"/>
                    <a:gd name="connsiteY436" fmla="*/ 83489 h 259768"/>
                    <a:gd name="connsiteX437" fmla="*/ 126576 w 864621"/>
                    <a:gd name="connsiteY437" fmla="*/ 83489 h 259768"/>
                    <a:gd name="connsiteX438" fmla="*/ 63288 w 864621"/>
                    <a:gd name="connsiteY438" fmla="*/ 72878 h 259768"/>
                    <a:gd name="connsiteX439" fmla="*/ 77616 w 864621"/>
                    <a:gd name="connsiteY439" fmla="*/ 72878 h 259768"/>
                    <a:gd name="connsiteX440" fmla="*/ 77616 w 864621"/>
                    <a:gd name="connsiteY440" fmla="*/ 77119 h 259768"/>
                    <a:gd name="connsiteX441" fmla="*/ 63288 w 864621"/>
                    <a:gd name="connsiteY441" fmla="*/ 77119 h 259768"/>
                    <a:gd name="connsiteX442" fmla="*/ 189902 w 864621"/>
                    <a:gd name="connsiteY442" fmla="*/ 67102 h 259768"/>
                    <a:gd name="connsiteX443" fmla="*/ 204230 w 864621"/>
                    <a:gd name="connsiteY443" fmla="*/ 67102 h 259768"/>
                    <a:gd name="connsiteX444" fmla="*/ 204230 w 864621"/>
                    <a:gd name="connsiteY444" fmla="*/ 73803 h 259768"/>
                    <a:gd name="connsiteX445" fmla="*/ 189902 w 864621"/>
                    <a:gd name="connsiteY445" fmla="*/ 73803 h 259768"/>
                    <a:gd name="connsiteX446" fmla="*/ 316479 w 864621"/>
                    <a:gd name="connsiteY446" fmla="*/ 66805 h 259768"/>
                    <a:gd name="connsiteX447" fmla="*/ 330807 w 864621"/>
                    <a:gd name="connsiteY447" fmla="*/ 66805 h 259768"/>
                    <a:gd name="connsiteX448" fmla="*/ 330807 w 864621"/>
                    <a:gd name="connsiteY448" fmla="*/ 73524 h 259768"/>
                    <a:gd name="connsiteX449" fmla="*/ 316479 w 864621"/>
                    <a:gd name="connsiteY449" fmla="*/ 73524 h 259768"/>
                    <a:gd name="connsiteX450" fmla="*/ 126576 w 864621"/>
                    <a:gd name="connsiteY450" fmla="*/ 66805 h 259768"/>
                    <a:gd name="connsiteX451" fmla="*/ 140904 w 864621"/>
                    <a:gd name="connsiteY451" fmla="*/ 66805 h 259768"/>
                    <a:gd name="connsiteX452" fmla="*/ 140904 w 864621"/>
                    <a:gd name="connsiteY452" fmla="*/ 73524 h 259768"/>
                    <a:gd name="connsiteX453" fmla="*/ 126576 w 864621"/>
                    <a:gd name="connsiteY453" fmla="*/ 73524 h 259768"/>
                    <a:gd name="connsiteX454" fmla="*/ 189902 w 864621"/>
                    <a:gd name="connsiteY454" fmla="*/ 57189 h 259768"/>
                    <a:gd name="connsiteX455" fmla="*/ 204230 w 864621"/>
                    <a:gd name="connsiteY455" fmla="*/ 57189 h 259768"/>
                    <a:gd name="connsiteX456" fmla="*/ 204230 w 864621"/>
                    <a:gd name="connsiteY456" fmla="*/ 63891 h 259768"/>
                    <a:gd name="connsiteX457" fmla="*/ 189902 w 864621"/>
                    <a:gd name="connsiteY457" fmla="*/ 63891 h 259768"/>
                    <a:gd name="connsiteX458" fmla="*/ 316479 w 864621"/>
                    <a:gd name="connsiteY458" fmla="*/ 56858 h 259768"/>
                    <a:gd name="connsiteX459" fmla="*/ 330807 w 864621"/>
                    <a:gd name="connsiteY459" fmla="*/ 56858 h 259768"/>
                    <a:gd name="connsiteX460" fmla="*/ 330807 w 864621"/>
                    <a:gd name="connsiteY460" fmla="*/ 63577 h 259768"/>
                    <a:gd name="connsiteX461" fmla="*/ 316479 w 864621"/>
                    <a:gd name="connsiteY461" fmla="*/ 63577 h 259768"/>
                    <a:gd name="connsiteX462" fmla="*/ 126576 w 864621"/>
                    <a:gd name="connsiteY462" fmla="*/ 56858 h 259768"/>
                    <a:gd name="connsiteX463" fmla="*/ 140904 w 864621"/>
                    <a:gd name="connsiteY463" fmla="*/ 56858 h 259768"/>
                    <a:gd name="connsiteX464" fmla="*/ 140904 w 864621"/>
                    <a:gd name="connsiteY464" fmla="*/ 63577 h 259768"/>
                    <a:gd name="connsiteX465" fmla="*/ 126576 w 864621"/>
                    <a:gd name="connsiteY465" fmla="*/ 63577 h 259768"/>
                    <a:gd name="connsiteX466" fmla="*/ 189902 w 864621"/>
                    <a:gd name="connsiteY466" fmla="*/ 47277 h 259768"/>
                    <a:gd name="connsiteX467" fmla="*/ 204230 w 864621"/>
                    <a:gd name="connsiteY467" fmla="*/ 47277 h 259768"/>
                    <a:gd name="connsiteX468" fmla="*/ 204230 w 864621"/>
                    <a:gd name="connsiteY468" fmla="*/ 53978 h 259768"/>
                    <a:gd name="connsiteX469" fmla="*/ 189902 w 864621"/>
                    <a:gd name="connsiteY469" fmla="*/ 53978 h 259768"/>
                    <a:gd name="connsiteX470" fmla="*/ 316479 w 864621"/>
                    <a:gd name="connsiteY470" fmla="*/ 46910 h 259768"/>
                    <a:gd name="connsiteX471" fmla="*/ 330807 w 864621"/>
                    <a:gd name="connsiteY471" fmla="*/ 46910 h 259768"/>
                    <a:gd name="connsiteX472" fmla="*/ 330807 w 864621"/>
                    <a:gd name="connsiteY472" fmla="*/ 53629 h 259768"/>
                    <a:gd name="connsiteX473" fmla="*/ 316479 w 864621"/>
                    <a:gd name="connsiteY473" fmla="*/ 53629 h 259768"/>
                    <a:gd name="connsiteX474" fmla="*/ 126576 w 864621"/>
                    <a:gd name="connsiteY474" fmla="*/ 46910 h 259768"/>
                    <a:gd name="connsiteX475" fmla="*/ 140904 w 864621"/>
                    <a:gd name="connsiteY475" fmla="*/ 46910 h 259768"/>
                    <a:gd name="connsiteX476" fmla="*/ 140904 w 864621"/>
                    <a:gd name="connsiteY476" fmla="*/ 53629 h 259768"/>
                    <a:gd name="connsiteX477" fmla="*/ 126576 w 864621"/>
                    <a:gd name="connsiteY477" fmla="*/ 53629 h 259768"/>
                    <a:gd name="connsiteX478" fmla="*/ 316479 w 864621"/>
                    <a:gd name="connsiteY478" fmla="*/ 39232 h 259768"/>
                    <a:gd name="connsiteX479" fmla="*/ 330807 w 864621"/>
                    <a:gd name="connsiteY479" fmla="*/ 39232 h 259768"/>
                    <a:gd name="connsiteX480" fmla="*/ 330807 w 864621"/>
                    <a:gd name="connsiteY480" fmla="*/ 43472 h 259768"/>
                    <a:gd name="connsiteX481" fmla="*/ 316479 w 864621"/>
                    <a:gd name="connsiteY481" fmla="*/ 43472 h 259768"/>
                    <a:gd name="connsiteX482" fmla="*/ 126576 w 864621"/>
                    <a:gd name="connsiteY482" fmla="*/ 39232 h 259768"/>
                    <a:gd name="connsiteX483" fmla="*/ 140904 w 864621"/>
                    <a:gd name="connsiteY483" fmla="*/ 39232 h 259768"/>
                    <a:gd name="connsiteX484" fmla="*/ 140904 w 864621"/>
                    <a:gd name="connsiteY484" fmla="*/ 43472 h 259768"/>
                    <a:gd name="connsiteX485" fmla="*/ 126576 w 864621"/>
                    <a:gd name="connsiteY485" fmla="*/ 43472 h 259768"/>
                    <a:gd name="connsiteX486" fmla="*/ 189902 w 864621"/>
                    <a:gd name="connsiteY486" fmla="*/ 37364 h 259768"/>
                    <a:gd name="connsiteX487" fmla="*/ 204230 w 864621"/>
                    <a:gd name="connsiteY487" fmla="*/ 37364 h 259768"/>
                    <a:gd name="connsiteX488" fmla="*/ 204230 w 864621"/>
                    <a:gd name="connsiteY488" fmla="*/ 44066 h 259768"/>
                    <a:gd name="connsiteX489" fmla="*/ 189902 w 864621"/>
                    <a:gd name="connsiteY489" fmla="*/ 44066 h 259768"/>
                    <a:gd name="connsiteX490" fmla="*/ 189902 w 864621"/>
                    <a:gd name="connsiteY490" fmla="*/ 27469 h 259768"/>
                    <a:gd name="connsiteX491" fmla="*/ 204230 w 864621"/>
                    <a:gd name="connsiteY491" fmla="*/ 27469 h 259768"/>
                    <a:gd name="connsiteX492" fmla="*/ 204230 w 864621"/>
                    <a:gd name="connsiteY492" fmla="*/ 34171 h 259768"/>
                    <a:gd name="connsiteX493" fmla="*/ 189902 w 864621"/>
                    <a:gd name="connsiteY493" fmla="*/ 34171 h 259768"/>
                    <a:gd name="connsiteX494" fmla="*/ 189902 w 864621"/>
                    <a:gd name="connsiteY494" fmla="*/ 17557 h 259768"/>
                    <a:gd name="connsiteX495" fmla="*/ 204230 w 864621"/>
                    <a:gd name="connsiteY495" fmla="*/ 17557 h 259768"/>
                    <a:gd name="connsiteX496" fmla="*/ 204230 w 864621"/>
                    <a:gd name="connsiteY496" fmla="*/ 24258 h 259768"/>
                    <a:gd name="connsiteX497" fmla="*/ 189902 w 864621"/>
                    <a:gd name="connsiteY497" fmla="*/ 24258 h 259768"/>
                    <a:gd name="connsiteX498" fmla="*/ 189902 w 864621"/>
                    <a:gd name="connsiteY498" fmla="*/ 7644 h 259768"/>
                    <a:gd name="connsiteX499" fmla="*/ 204230 w 864621"/>
                    <a:gd name="connsiteY499" fmla="*/ 7644 h 259768"/>
                    <a:gd name="connsiteX500" fmla="*/ 204230 w 864621"/>
                    <a:gd name="connsiteY500" fmla="*/ 14346 h 259768"/>
                    <a:gd name="connsiteX501" fmla="*/ 189902 w 864621"/>
                    <a:gd name="connsiteY501" fmla="*/ 14346 h 259768"/>
                    <a:gd name="connsiteX502" fmla="*/ 189902 w 864621"/>
                    <a:gd name="connsiteY502" fmla="*/ 0 h 259768"/>
                    <a:gd name="connsiteX503" fmla="*/ 204230 w 864621"/>
                    <a:gd name="connsiteY503" fmla="*/ 0 h 259768"/>
                    <a:gd name="connsiteX504" fmla="*/ 204230 w 864621"/>
                    <a:gd name="connsiteY504" fmla="*/ 4241 h 259768"/>
                    <a:gd name="connsiteX505" fmla="*/ 189902 w 864621"/>
                    <a:gd name="connsiteY505" fmla="*/ 4241 h 25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Lst>
                  <a:rect l="l" t="t" r="r" b="b"/>
                  <a:pathLst>
                    <a:path w="864621" h="259768">
                      <a:moveTo>
                        <a:pt x="189902" y="255527"/>
                      </a:moveTo>
                      <a:lnTo>
                        <a:pt x="204230" y="255527"/>
                      </a:lnTo>
                      <a:lnTo>
                        <a:pt x="204230" y="259768"/>
                      </a:lnTo>
                      <a:lnTo>
                        <a:pt x="189902" y="259768"/>
                      </a:lnTo>
                      <a:close/>
                      <a:moveTo>
                        <a:pt x="189902" y="245422"/>
                      </a:moveTo>
                      <a:lnTo>
                        <a:pt x="204230" y="245422"/>
                      </a:lnTo>
                      <a:lnTo>
                        <a:pt x="204230" y="252124"/>
                      </a:lnTo>
                      <a:lnTo>
                        <a:pt x="189902" y="252124"/>
                      </a:lnTo>
                      <a:close/>
                      <a:moveTo>
                        <a:pt x="189902" y="235510"/>
                      </a:moveTo>
                      <a:lnTo>
                        <a:pt x="204230" y="235510"/>
                      </a:lnTo>
                      <a:lnTo>
                        <a:pt x="204230" y="242211"/>
                      </a:lnTo>
                      <a:lnTo>
                        <a:pt x="189902" y="242211"/>
                      </a:lnTo>
                      <a:close/>
                      <a:moveTo>
                        <a:pt x="189902" y="225615"/>
                      </a:moveTo>
                      <a:lnTo>
                        <a:pt x="204230" y="225615"/>
                      </a:lnTo>
                      <a:lnTo>
                        <a:pt x="204230" y="232316"/>
                      </a:lnTo>
                      <a:lnTo>
                        <a:pt x="189902" y="232316"/>
                      </a:lnTo>
                      <a:close/>
                      <a:moveTo>
                        <a:pt x="316479" y="216313"/>
                      </a:moveTo>
                      <a:lnTo>
                        <a:pt x="330807" y="216313"/>
                      </a:lnTo>
                      <a:lnTo>
                        <a:pt x="330807" y="220554"/>
                      </a:lnTo>
                      <a:lnTo>
                        <a:pt x="316479" y="220554"/>
                      </a:lnTo>
                      <a:close/>
                      <a:moveTo>
                        <a:pt x="126576" y="216313"/>
                      </a:moveTo>
                      <a:lnTo>
                        <a:pt x="140904" y="216313"/>
                      </a:lnTo>
                      <a:lnTo>
                        <a:pt x="140904" y="220554"/>
                      </a:lnTo>
                      <a:lnTo>
                        <a:pt x="126576" y="220554"/>
                      </a:lnTo>
                      <a:close/>
                      <a:moveTo>
                        <a:pt x="189902" y="215702"/>
                      </a:moveTo>
                      <a:lnTo>
                        <a:pt x="204230" y="215702"/>
                      </a:lnTo>
                      <a:lnTo>
                        <a:pt x="204230" y="222404"/>
                      </a:lnTo>
                      <a:lnTo>
                        <a:pt x="189902" y="222404"/>
                      </a:lnTo>
                      <a:close/>
                      <a:moveTo>
                        <a:pt x="316479" y="206156"/>
                      </a:moveTo>
                      <a:lnTo>
                        <a:pt x="330807" y="206156"/>
                      </a:lnTo>
                      <a:lnTo>
                        <a:pt x="330807" y="212875"/>
                      </a:lnTo>
                      <a:lnTo>
                        <a:pt x="316479" y="212875"/>
                      </a:lnTo>
                      <a:close/>
                      <a:moveTo>
                        <a:pt x="126576" y="206156"/>
                      </a:moveTo>
                      <a:lnTo>
                        <a:pt x="140904" y="206156"/>
                      </a:lnTo>
                      <a:lnTo>
                        <a:pt x="140904" y="212875"/>
                      </a:lnTo>
                      <a:lnTo>
                        <a:pt x="126576" y="212875"/>
                      </a:lnTo>
                      <a:close/>
                      <a:moveTo>
                        <a:pt x="189902" y="205790"/>
                      </a:moveTo>
                      <a:lnTo>
                        <a:pt x="204230" y="205790"/>
                      </a:lnTo>
                      <a:lnTo>
                        <a:pt x="204230" y="212491"/>
                      </a:lnTo>
                      <a:lnTo>
                        <a:pt x="189902" y="212491"/>
                      </a:lnTo>
                      <a:close/>
                      <a:moveTo>
                        <a:pt x="316479" y="196209"/>
                      </a:moveTo>
                      <a:lnTo>
                        <a:pt x="330807" y="196209"/>
                      </a:lnTo>
                      <a:lnTo>
                        <a:pt x="330807" y="202928"/>
                      </a:lnTo>
                      <a:lnTo>
                        <a:pt x="316479" y="202928"/>
                      </a:lnTo>
                      <a:close/>
                      <a:moveTo>
                        <a:pt x="126576" y="196209"/>
                      </a:moveTo>
                      <a:lnTo>
                        <a:pt x="140904" y="196209"/>
                      </a:lnTo>
                      <a:lnTo>
                        <a:pt x="140904" y="202928"/>
                      </a:lnTo>
                      <a:lnTo>
                        <a:pt x="126576" y="202928"/>
                      </a:lnTo>
                      <a:close/>
                      <a:moveTo>
                        <a:pt x="189902" y="195877"/>
                      </a:moveTo>
                      <a:lnTo>
                        <a:pt x="204230" y="195877"/>
                      </a:lnTo>
                      <a:lnTo>
                        <a:pt x="204230" y="202579"/>
                      </a:lnTo>
                      <a:lnTo>
                        <a:pt x="189902" y="202579"/>
                      </a:lnTo>
                      <a:close/>
                      <a:moveTo>
                        <a:pt x="316479" y="186244"/>
                      </a:moveTo>
                      <a:lnTo>
                        <a:pt x="330807" y="186244"/>
                      </a:lnTo>
                      <a:lnTo>
                        <a:pt x="330807" y="192963"/>
                      </a:lnTo>
                      <a:lnTo>
                        <a:pt x="316479" y="192963"/>
                      </a:lnTo>
                      <a:close/>
                      <a:moveTo>
                        <a:pt x="126576" y="186244"/>
                      </a:moveTo>
                      <a:lnTo>
                        <a:pt x="140904" y="186244"/>
                      </a:lnTo>
                      <a:lnTo>
                        <a:pt x="140904" y="192963"/>
                      </a:lnTo>
                      <a:lnTo>
                        <a:pt x="126576" y="192963"/>
                      </a:lnTo>
                      <a:close/>
                      <a:moveTo>
                        <a:pt x="189902" y="185982"/>
                      </a:moveTo>
                      <a:lnTo>
                        <a:pt x="204230" y="185982"/>
                      </a:lnTo>
                      <a:lnTo>
                        <a:pt x="204230" y="192684"/>
                      </a:lnTo>
                      <a:lnTo>
                        <a:pt x="189902" y="192684"/>
                      </a:lnTo>
                      <a:close/>
                      <a:moveTo>
                        <a:pt x="63288" y="182649"/>
                      </a:moveTo>
                      <a:lnTo>
                        <a:pt x="77616" y="182649"/>
                      </a:lnTo>
                      <a:lnTo>
                        <a:pt x="77616" y="186890"/>
                      </a:lnTo>
                      <a:lnTo>
                        <a:pt x="63288" y="186890"/>
                      </a:lnTo>
                      <a:close/>
                      <a:moveTo>
                        <a:pt x="316479" y="176297"/>
                      </a:moveTo>
                      <a:lnTo>
                        <a:pt x="330807" y="176297"/>
                      </a:lnTo>
                      <a:lnTo>
                        <a:pt x="330807" y="183015"/>
                      </a:lnTo>
                      <a:lnTo>
                        <a:pt x="316479" y="183015"/>
                      </a:lnTo>
                      <a:close/>
                      <a:moveTo>
                        <a:pt x="126576" y="176297"/>
                      </a:moveTo>
                      <a:lnTo>
                        <a:pt x="140904" y="176297"/>
                      </a:lnTo>
                      <a:lnTo>
                        <a:pt x="140904" y="183015"/>
                      </a:lnTo>
                      <a:lnTo>
                        <a:pt x="126576" y="183015"/>
                      </a:lnTo>
                      <a:close/>
                      <a:moveTo>
                        <a:pt x="189902" y="176070"/>
                      </a:moveTo>
                      <a:lnTo>
                        <a:pt x="204230" y="176070"/>
                      </a:lnTo>
                      <a:lnTo>
                        <a:pt x="204230" y="182771"/>
                      </a:lnTo>
                      <a:lnTo>
                        <a:pt x="189902" y="182771"/>
                      </a:lnTo>
                      <a:close/>
                      <a:moveTo>
                        <a:pt x="253191" y="174900"/>
                      </a:moveTo>
                      <a:lnTo>
                        <a:pt x="267519" y="174900"/>
                      </a:lnTo>
                      <a:lnTo>
                        <a:pt x="267519" y="179141"/>
                      </a:lnTo>
                      <a:lnTo>
                        <a:pt x="253191" y="179141"/>
                      </a:lnTo>
                      <a:close/>
                      <a:moveTo>
                        <a:pt x="63288" y="172248"/>
                      </a:moveTo>
                      <a:lnTo>
                        <a:pt x="77616" y="172248"/>
                      </a:lnTo>
                      <a:lnTo>
                        <a:pt x="77616" y="179089"/>
                      </a:lnTo>
                      <a:lnTo>
                        <a:pt x="63288" y="179089"/>
                      </a:lnTo>
                      <a:close/>
                      <a:moveTo>
                        <a:pt x="316479" y="166349"/>
                      </a:moveTo>
                      <a:lnTo>
                        <a:pt x="330807" y="166349"/>
                      </a:lnTo>
                      <a:lnTo>
                        <a:pt x="330807" y="173068"/>
                      </a:lnTo>
                      <a:lnTo>
                        <a:pt x="316479" y="173068"/>
                      </a:lnTo>
                      <a:close/>
                      <a:moveTo>
                        <a:pt x="126576" y="166349"/>
                      </a:moveTo>
                      <a:lnTo>
                        <a:pt x="140904" y="166349"/>
                      </a:lnTo>
                      <a:lnTo>
                        <a:pt x="140904" y="173068"/>
                      </a:lnTo>
                      <a:lnTo>
                        <a:pt x="126576" y="173068"/>
                      </a:lnTo>
                      <a:close/>
                      <a:moveTo>
                        <a:pt x="189902" y="166157"/>
                      </a:moveTo>
                      <a:lnTo>
                        <a:pt x="204230" y="166157"/>
                      </a:lnTo>
                      <a:lnTo>
                        <a:pt x="204230" y="172859"/>
                      </a:lnTo>
                      <a:lnTo>
                        <a:pt x="189902" y="172859"/>
                      </a:lnTo>
                      <a:close/>
                      <a:moveTo>
                        <a:pt x="253191" y="165075"/>
                      </a:moveTo>
                      <a:lnTo>
                        <a:pt x="267519" y="165075"/>
                      </a:lnTo>
                      <a:lnTo>
                        <a:pt x="267519" y="171637"/>
                      </a:lnTo>
                      <a:lnTo>
                        <a:pt x="253191" y="171637"/>
                      </a:lnTo>
                      <a:close/>
                      <a:moveTo>
                        <a:pt x="63288" y="162074"/>
                      </a:moveTo>
                      <a:lnTo>
                        <a:pt x="77616" y="162074"/>
                      </a:lnTo>
                      <a:lnTo>
                        <a:pt x="77616" y="168915"/>
                      </a:lnTo>
                      <a:lnTo>
                        <a:pt x="63288" y="168915"/>
                      </a:lnTo>
                      <a:close/>
                      <a:moveTo>
                        <a:pt x="379805" y="160293"/>
                      </a:moveTo>
                      <a:lnTo>
                        <a:pt x="394133" y="160293"/>
                      </a:lnTo>
                      <a:lnTo>
                        <a:pt x="394133" y="164534"/>
                      </a:lnTo>
                      <a:lnTo>
                        <a:pt x="379805" y="164534"/>
                      </a:lnTo>
                      <a:close/>
                      <a:moveTo>
                        <a:pt x="316479" y="156384"/>
                      </a:moveTo>
                      <a:lnTo>
                        <a:pt x="330807" y="156384"/>
                      </a:lnTo>
                      <a:lnTo>
                        <a:pt x="330807" y="163103"/>
                      </a:lnTo>
                      <a:lnTo>
                        <a:pt x="316479" y="163103"/>
                      </a:lnTo>
                      <a:close/>
                      <a:moveTo>
                        <a:pt x="126576" y="156384"/>
                      </a:moveTo>
                      <a:lnTo>
                        <a:pt x="140904" y="156384"/>
                      </a:lnTo>
                      <a:lnTo>
                        <a:pt x="140904" y="163103"/>
                      </a:lnTo>
                      <a:lnTo>
                        <a:pt x="126576" y="163103"/>
                      </a:lnTo>
                      <a:close/>
                      <a:moveTo>
                        <a:pt x="189902" y="156262"/>
                      </a:moveTo>
                      <a:lnTo>
                        <a:pt x="204230" y="156262"/>
                      </a:lnTo>
                      <a:lnTo>
                        <a:pt x="204230" y="162963"/>
                      </a:lnTo>
                      <a:lnTo>
                        <a:pt x="189902" y="162963"/>
                      </a:lnTo>
                      <a:close/>
                      <a:moveTo>
                        <a:pt x="253191" y="155459"/>
                      </a:moveTo>
                      <a:lnTo>
                        <a:pt x="267519" y="155459"/>
                      </a:lnTo>
                      <a:lnTo>
                        <a:pt x="267519" y="162021"/>
                      </a:lnTo>
                      <a:lnTo>
                        <a:pt x="253191" y="162021"/>
                      </a:lnTo>
                      <a:close/>
                      <a:moveTo>
                        <a:pt x="63288" y="151917"/>
                      </a:moveTo>
                      <a:lnTo>
                        <a:pt x="77616" y="151917"/>
                      </a:lnTo>
                      <a:lnTo>
                        <a:pt x="77616" y="158740"/>
                      </a:lnTo>
                      <a:lnTo>
                        <a:pt x="63288" y="158740"/>
                      </a:lnTo>
                      <a:close/>
                      <a:moveTo>
                        <a:pt x="379805" y="150538"/>
                      </a:moveTo>
                      <a:lnTo>
                        <a:pt x="394133" y="150538"/>
                      </a:lnTo>
                      <a:lnTo>
                        <a:pt x="394133" y="157065"/>
                      </a:lnTo>
                      <a:lnTo>
                        <a:pt x="379805" y="157065"/>
                      </a:lnTo>
                      <a:close/>
                      <a:moveTo>
                        <a:pt x="316479" y="146437"/>
                      </a:moveTo>
                      <a:lnTo>
                        <a:pt x="330807" y="146437"/>
                      </a:lnTo>
                      <a:lnTo>
                        <a:pt x="330807" y="153156"/>
                      </a:lnTo>
                      <a:lnTo>
                        <a:pt x="316479" y="153156"/>
                      </a:lnTo>
                      <a:close/>
                      <a:moveTo>
                        <a:pt x="126576" y="146437"/>
                      </a:moveTo>
                      <a:lnTo>
                        <a:pt x="140904" y="146437"/>
                      </a:lnTo>
                      <a:lnTo>
                        <a:pt x="140904" y="153156"/>
                      </a:lnTo>
                      <a:lnTo>
                        <a:pt x="126576" y="153156"/>
                      </a:lnTo>
                      <a:close/>
                      <a:moveTo>
                        <a:pt x="189902" y="146350"/>
                      </a:moveTo>
                      <a:lnTo>
                        <a:pt x="204230" y="146350"/>
                      </a:lnTo>
                      <a:lnTo>
                        <a:pt x="204230" y="153051"/>
                      </a:lnTo>
                      <a:lnTo>
                        <a:pt x="189902" y="153051"/>
                      </a:lnTo>
                      <a:close/>
                      <a:moveTo>
                        <a:pt x="253191" y="145844"/>
                      </a:moveTo>
                      <a:lnTo>
                        <a:pt x="267519" y="145844"/>
                      </a:lnTo>
                      <a:lnTo>
                        <a:pt x="267519" y="152405"/>
                      </a:lnTo>
                      <a:lnTo>
                        <a:pt x="253191" y="152405"/>
                      </a:lnTo>
                      <a:close/>
                      <a:moveTo>
                        <a:pt x="63288" y="141725"/>
                      </a:moveTo>
                      <a:lnTo>
                        <a:pt x="77616" y="141725"/>
                      </a:lnTo>
                      <a:lnTo>
                        <a:pt x="77616" y="148566"/>
                      </a:lnTo>
                      <a:lnTo>
                        <a:pt x="63288" y="148566"/>
                      </a:lnTo>
                      <a:close/>
                      <a:moveTo>
                        <a:pt x="379805" y="140974"/>
                      </a:moveTo>
                      <a:lnTo>
                        <a:pt x="394133" y="140974"/>
                      </a:lnTo>
                      <a:lnTo>
                        <a:pt x="394133" y="147501"/>
                      </a:lnTo>
                      <a:lnTo>
                        <a:pt x="379805" y="147501"/>
                      </a:lnTo>
                      <a:close/>
                      <a:moveTo>
                        <a:pt x="443094" y="138112"/>
                      </a:moveTo>
                      <a:lnTo>
                        <a:pt x="457422" y="138112"/>
                      </a:lnTo>
                      <a:lnTo>
                        <a:pt x="457422" y="142353"/>
                      </a:lnTo>
                      <a:lnTo>
                        <a:pt x="443094" y="142353"/>
                      </a:lnTo>
                      <a:close/>
                      <a:moveTo>
                        <a:pt x="316479" y="136489"/>
                      </a:moveTo>
                      <a:lnTo>
                        <a:pt x="330807" y="136489"/>
                      </a:lnTo>
                      <a:lnTo>
                        <a:pt x="330807" y="143208"/>
                      </a:lnTo>
                      <a:lnTo>
                        <a:pt x="316479" y="143208"/>
                      </a:lnTo>
                      <a:close/>
                      <a:moveTo>
                        <a:pt x="126576" y="136489"/>
                      </a:moveTo>
                      <a:lnTo>
                        <a:pt x="140904" y="136489"/>
                      </a:lnTo>
                      <a:lnTo>
                        <a:pt x="140904" y="143208"/>
                      </a:lnTo>
                      <a:lnTo>
                        <a:pt x="126576" y="143208"/>
                      </a:lnTo>
                      <a:close/>
                      <a:moveTo>
                        <a:pt x="189902" y="136437"/>
                      </a:moveTo>
                      <a:lnTo>
                        <a:pt x="204230" y="136437"/>
                      </a:lnTo>
                      <a:lnTo>
                        <a:pt x="204230" y="143138"/>
                      </a:lnTo>
                      <a:lnTo>
                        <a:pt x="189902" y="143138"/>
                      </a:lnTo>
                      <a:close/>
                      <a:moveTo>
                        <a:pt x="253191" y="136228"/>
                      </a:moveTo>
                      <a:lnTo>
                        <a:pt x="267519" y="136228"/>
                      </a:lnTo>
                      <a:lnTo>
                        <a:pt x="267519" y="142789"/>
                      </a:lnTo>
                      <a:lnTo>
                        <a:pt x="253191" y="142789"/>
                      </a:lnTo>
                      <a:close/>
                      <a:moveTo>
                        <a:pt x="0" y="134587"/>
                      </a:moveTo>
                      <a:lnTo>
                        <a:pt x="14328" y="134587"/>
                      </a:lnTo>
                      <a:lnTo>
                        <a:pt x="14328" y="138828"/>
                      </a:lnTo>
                      <a:lnTo>
                        <a:pt x="0" y="138828"/>
                      </a:lnTo>
                      <a:close/>
                      <a:moveTo>
                        <a:pt x="63288" y="131551"/>
                      </a:moveTo>
                      <a:lnTo>
                        <a:pt x="77616" y="131551"/>
                      </a:lnTo>
                      <a:lnTo>
                        <a:pt x="77616" y="138392"/>
                      </a:lnTo>
                      <a:lnTo>
                        <a:pt x="63288" y="138392"/>
                      </a:lnTo>
                      <a:close/>
                      <a:moveTo>
                        <a:pt x="379805" y="131411"/>
                      </a:moveTo>
                      <a:lnTo>
                        <a:pt x="394133" y="131411"/>
                      </a:lnTo>
                      <a:lnTo>
                        <a:pt x="394133" y="137938"/>
                      </a:lnTo>
                      <a:lnTo>
                        <a:pt x="379805" y="137938"/>
                      </a:lnTo>
                      <a:close/>
                      <a:moveTo>
                        <a:pt x="856418" y="128985"/>
                      </a:moveTo>
                      <a:lnTo>
                        <a:pt x="864621" y="129003"/>
                      </a:lnTo>
                      <a:lnTo>
                        <a:pt x="864621" y="130748"/>
                      </a:lnTo>
                      <a:lnTo>
                        <a:pt x="854562" y="130800"/>
                      </a:lnTo>
                      <a:lnTo>
                        <a:pt x="854562" y="129038"/>
                      </a:lnTo>
                      <a:close/>
                      <a:moveTo>
                        <a:pt x="836856" y="128916"/>
                      </a:moveTo>
                      <a:lnTo>
                        <a:pt x="846952" y="128950"/>
                      </a:lnTo>
                      <a:lnTo>
                        <a:pt x="846952" y="130678"/>
                      </a:lnTo>
                      <a:lnTo>
                        <a:pt x="845096" y="130835"/>
                      </a:lnTo>
                      <a:lnTo>
                        <a:pt x="836856" y="130853"/>
                      </a:lnTo>
                      <a:close/>
                      <a:moveTo>
                        <a:pt x="819187" y="128846"/>
                      </a:moveTo>
                      <a:lnTo>
                        <a:pt x="829283" y="128881"/>
                      </a:lnTo>
                      <a:lnTo>
                        <a:pt x="829283" y="130888"/>
                      </a:lnTo>
                      <a:lnTo>
                        <a:pt x="819187" y="130923"/>
                      </a:lnTo>
                      <a:close/>
                      <a:moveTo>
                        <a:pt x="801518" y="128793"/>
                      </a:moveTo>
                      <a:lnTo>
                        <a:pt x="811578" y="128811"/>
                      </a:lnTo>
                      <a:lnTo>
                        <a:pt x="811578" y="130957"/>
                      </a:lnTo>
                      <a:lnTo>
                        <a:pt x="801518" y="130992"/>
                      </a:lnTo>
                      <a:close/>
                      <a:moveTo>
                        <a:pt x="783812" y="128724"/>
                      </a:moveTo>
                      <a:lnTo>
                        <a:pt x="793909" y="128758"/>
                      </a:lnTo>
                      <a:lnTo>
                        <a:pt x="793909" y="131027"/>
                      </a:lnTo>
                      <a:lnTo>
                        <a:pt x="783812" y="131045"/>
                      </a:lnTo>
                      <a:close/>
                      <a:moveTo>
                        <a:pt x="766143" y="128654"/>
                      </a:moveTo>
                      <a:lnTo>
                        <a:pt x="776240" y="128689"/>
                      </a:lnTo>
                      <a:lnTo>
                        <a:pt x="776240" y="131080"/>
                      </a:lnTo>
                      <a:lnTo>
                        <a:pt x="766143" y="131114"/>
                      </a:lnTo>
                      <a:close/>
                      <a:moveTo>
                        <a:pt x="748475" y="128601"/>
                      </a:moveTo>
                      <a:lnTo>
                        <a:pt x="758534" y="128619"/>
                      </a:lnTo>
                      <a:lnTo>
                        <a:pt x="758534" y="131149"/>
                      </a:lnTo>
                      <a:lnTo>
                        <a:pt x="748475" y="131184"/>
                      </a:lnTo>
                      <a:close/>
                      <a:moveTo>
                        <a:pt x="730768" y="128532"/>
                      </a:moveTo>
                      <a:lnTo>
                        <a:pt x="740865" y="128566"/>
                      </a:lnTo>
                      <a:lnTo>
                        <a:pt x="740865" y="131219"/>
                      </a:lnTo>
                      <a:lnTo>
                        <a:pt x="730768" y="131237"/>
                      </a:lnTo>
                      <a:close/>
                      <a:moveTo>
                        <a:pt x="713100" y="128462"/>
                      </a:moveTo>
                      <a:lnTo>
                        <a:pt x="723196" y="128497"/>
                      </a:lnTo>
                      <a:lnTo>
                        <a:pt x="723196" y="131271"/>
                      </a:lnTo>
                      <a:lnTo>
                        <a:pt x="713100" y="131306"/>
                      </a:lnTo>
                      <a:close/>
                      <a:moveTo>
                        <a:pt x="695431" y="128409"/>
                      </a:moveTo>
                      <a:lnTo>
                        <a:pt x="705490" y="128444"/>
                      </a:lnTo>
                      <a:lnTo>
                        <a:pt x="705490" y="131341"/>
                      </a:lnTo>
                      <a:lnTo>
                        <a:pt x="695431" y="131376"/>
                      </a:lnTo>
                      <a:close/>
                      <a:moveTo>
                        <a:pt x="677725" y="128340"/>
                      </a:moveTo>
                      <a:lnTo>
                        <a:pt x="687821" y="128374"/>
                      </a:lnTo>
                      <a:lnTo>
                        <a:pt x="687821" y="131411"/>
                      </a:lnTo>
                      <a:lnTo>
                        <a:pt x="677725" y="131428"/>
                      </a:lnTo>
                      <a:close/>
                      <a:moveTo>
                        <a:pt x="660056" y="128287"/>
                      </a:moveTo>
                      <a:lnTo>
                        <a:pt x="670152" y="128305"/>
                      </a:lnTo>
                      <a:lnTo>
                        <a:pt x="670152" y="131463"/>
                      </a:lnTo>
                      <a:lnTo>
                        <a:pt x="660056" y="131498"/>
                      </a:lnTo>
                      <a:close/>
                      <a:moveTo>
                        <a:pt x="642387" y="128217"/>
                      </a:moveTo>
                      <a:lnTo>
                        <a:pt x="652447" y="128252"/>
                      </a:lnTo>
                      <a:lnTo>
                        <a:pt x="652447" y="131533"/>
                      </a:lnTo>
                      <a:lnTo>
                        <a:pt x="642387" y="131568"/>
                      </a:lnTo>
                      <a:close/>
                      <a:moveTo>
                        <a:pt x="624681" y="128147"/>
                      </a:moveTo>
                      <a:lnTo>
                        <a:pt x="634778" y="128182"/>
                      </a:lnTo>
                      <a:lnTo>
                        <a:pt x="634778" y="131603"/>
                      </a:lnTo>
                      <a:lnTo>
                        <a:pt x="624681" y="131620"/>
                      </a:lnTo>
                      <a:close/>
                      <a:moveTo>
                        <a:pt x="607013" y="128095"/>
                      </a:moveTo>
                      <a:lnTo>
                        <a:pt x="617072" y="128130"/>
                      </a:lnTo>
                      <a:lnTo>
                        <a:pt x="617072" y="131673"/>
                      </a:lnTo>
                      <a:lnTo>
                        <a:pt x="607013" y="131690"/>
                      </a:lnTo>
                      <a:close/>
                      <a:moveTo>
                        <a:pt x="589344" y="128025"/>
                      </a:moveTo>
                      <a:lnTo>
                        <a:pt x="599403" y="128060"/>
                      </a:lnTo>
                      <a:lnTo>
                        <a:pt x="599403" y="131725"/>
                      </a:lnTo>
                      <a:lnTo>
                        <a:pt x="589344" y="131760"/>
                      </a:lnTo>
                      <a:close/>
                      <a:moveTo>
                        <a:pt x="571638" y="127956"/>
                      </a:moveTo>
                      <a:lnTo>
                        <a:pt x="581697" y="127991"/>
                      </a:lnTo>
                      <a:lnTo>
                        <a:pt x="581697" y="131778"/>
                      </a:lnTo>
                      <a:lnTo>
                        <a:pt x="571638" y="131812"/>
                      </a:lnTo>
                      <a:close/>
                      <a:moveTo>
                        <a:pt x="553969" y="127903"/>
                      </a:moveTo>
                      <a:lnTo>
                        <a:pt x="564028" y="127938"/>
                      </a:lnTo>
                      <a:lnTo>
                        <a:pt x="564028" y="131865"/>
                      </a:lnTo>
                      <a:lnTo>
                        <a:pt x="553969" y="131882"/>
                      </a:lnTo>
                      <a:close/>
                      <a:moveTo>
                        <a:pt x="536300" y="127833"/>
                      </a:moveTo>
                      <a:lnTo>
                        <a:pt x="546360" y="127868"/>
                      </a:lnTo>
                      <a:lnTo>
                        <a:pt x="546360" y="131917"/>
                      </a:lnTo>
                      <a:lnTo>
                        <a:pt x="536300" y="131952"/>
                      </a:lnTo>
                      <a:close/>
                      <a:moveTo>
                        <a:pt x="518594" y="127764"/>
                      </a:moveTo>
                      <a:lnTo>
                        <a:pt x="528654" y="127799"/>
                      </a:lnTo>
                      <a:lnTo>
                        <a:pt x="528654" y="131987"/>
                      </a:lnTo>
                      <a:lnTo>
                        <a:pt x="518594" y="132004"/>
                      </a:lnTo>
                      <a:close/>
                      <a:moveTo>
                        <a:pt x="500926" y="127711"/>
                      </a:moveTo>
                      <a:lnTo>
                        <a:pt x="510985" y="127746"/>
                      </a:lnTo>
                      <a:lnTo>
                        <a:pt x="510985" y="132057"/>
                      </a:lnTo>
                      <a:lnTo>
                        <a:pt x="500926" y="132074"/>
                      </a:lnTo>
                      <a:close/>
                      <a:moveTo>
                        <a:pt x="483219" y="127624"/>
                      </a:moveTo>
                      <a:lnTo>
                        <a:pt x="493279" y="127659"/>
                      </a:lnTo>
                      <a:lnTo>
                        <a:pt x="493279" y="132092"/>
                      </a:lnTo>
                      <a:lnTo>
                        <a:pt x="483219" y="132126"/>
                      </a:lnTo>
                      <a:close/>
                      <a:moveTo>
                        <a:pt x="465551" y="127572"/>
                      </a:moveTo>
                      <a:lnTo>
                        <a:pt x="475610" y="127607"/>
                      </a:lnTo>
                      <a:lnTo>
                        <a:pt x="475610" y="132161"/>
                      </a:lnTo>
                      <a:lnTo>
                        <a:pt x="465551" y="132196"/>
                      </a:lnTo>
                      <a:close/>
                      <a:moveTo>
                        <a:pt x="0" y="127188"/>
                      </a:moveTo>
                      <a:lnTo>
                        <a:pt x="14328" y="127188"/>
                      </a:lnTo>
                      <a:lnTo>
                        <a:pt x="14328" y="132580"/>
                      </a:lnTo>
                      <a:lnTo>
                        <a:pt x="0" y="132580"/>
                      </a:lnTo>
                      <a:close/>
                      <a:moveTo>
                        <a:pt x="253191" y="126612"/>
                      </a:moveTo>
                      <a:lnTo>
                        <a:pt x="267519" y="126612"/>
                      </a:lnTo>
                      <a:lnTo>
                        <a:pt x="267519" y="133174"/>
                      </a:lnTo>
                      <a:lnTo>
                        <a:pt x="253191" y="133174"/>
                      </a:lnTo>
                      <a:close/>
                      <a:moveTo>
                        <a:pt x="189902" y="126542"/>
                      </a:moveTo>
                      <a:lnTo>
                        <a:pt x="204230" y="126542"/>
                      </a:lnTo>
                      <a:lnTo>
                        <a:pt x="204230" y="133244"/>
                      </a:lnTo>
                      <a:lnTo>
                        <a:pt x="189902" y="133244"/>
                      </a:lnTo>
                      <a:close/>
                      <a:moveTo>
                        <a:pt x="316479" y="126525"/>
                      </a:moveTo>
                      <a:lnTo>
                        <a:pt x="330807" y="126525"/>
                      </a:lnTo>
                      <a:lnTo>
                        <a:pt x="330807" y="133243"/>
                      </a:lnTo>
                      <a:lnTo>
                        <a:pt x="316479" y="133243"/>
                      </a:lnTo>
                      <a:close/>
                      <a:moveTo>
                        <a:pt x="126576" y="126525"/>
                      </a:moveTo>
                      <a:lnTo>
                        <a:pt x="140904" y="126525"/>
                      </a:lnTo>
                      <a:lnTo>
                        <a:pt x="140904" y="133243"/>
                      </a:lnTo>
                      <a:lnTo>
                        <a:pt x="126576" y="133243"/>
                      </a:lnTo>
                      <a:close/>
                      <a:moveTo>
                        <a:pt x="443019" y="126071"/>
                      </a:moveTo>
                      <a:lnTo>
                        <a:pt x="457347" y="126071"/>
                      </a:lnTo>
                      <a:lnTo>
                        <a:pt x="457347" y="127537"/>
                      </a:lnTo>
                      <a:lnTo>
                        <a:pt x="458424" y="127537"/>
                      </a:lnTo>
                      <a:lnTo>
                        <a:pt x="458424" y="132231"/>
                      </a:lnTo>
                      <a:lnTo>
                        <a:pt x="457347" y="132231"/>
                      </a:lnTo>
                      <a:lnTo>
                        <a:pt x="457347" y="133697"/>
                      </a:lnTo>
                      <a:lnTo>
                        <a:pt x="443019" y="133697"/>
                      </a:lnTo>
                      <a:close/>
                      <a:moveTo>
                        <a:pt x="379805" y="121848"/>
                      </a:moveTo>
                      <a:lnTo>
                        <a:pt x="394133" y="121848"/>
                      </a:lnTo>
                      <a:lnTo>
                        <a:pt x="394133" y="128374"/>
                      </a:lnTo>
                      <a:lnTo>
                        <a:pt x="379805" y="128374"/>
                      </a:lnTo>
                      <a:close/>
                      <a:moveTo>
                        <a:pt x="63288" y="121376"/>
                      </a:moveTo>
                      <a:lnTo>
                        <a:pt x="77616" y="121376"/>
                      </a:lnTo>
                      <a:lnTo>
                        <a:pt x="77616" y="128217"/>
                      </a:lnTo>
                      <a:lnTo>
                        <a:pt x="63288" y="128217"/>
                      </a:lnTo>
                      <a:close/>
                      <a:moveTo>
                        <a:pt x="0" y="120958"/>
                      </a:moveTo>
                      <a:lnTo>
                        <a:pt x="14328" y="120958"/>
                      </a:lnTo>
                      <a:lnTo>
                        <a:pt x="14328" y="125198"/>
                      </a:lnTo>
                      <a:lnTo>
                        <a:pt x="0" y="125198"/>
                      </a:lnTo>
                      <a:close/>
                      <a:moveTo>
                        <a:pt x="443094" y="117432"/>
                      </a:moveTo>
                      <a:lnTo>
                        <a:pt x="457422" y="117432"/>
                      </a:lnTo>
                      <a:lnTo>
                        <a:pt x="457422" y="121673"/>
                      </a:lnTo>
                      <a:lnTo>
                        <a:pt x="443094" y="121673"/>
                      </a:lnTo>
                      <a:close/>
                      <a:moveTo>
                        <a:pt x="253191" y="116978"/>
                      </a:moveTo>
                      <a:lnTo>
                        <a:pt x="267519" y="116978"/>
                      </a:lnTo>
                      <a:lnTo>
                        <a:pt x="267519" y="123540"/>
                      </a:lnTo>
                      <a:lnTo>
                        <a:pt x="253191" y="123540"/>
                      </a:lnTo>
                      <a:close/>
                      <a:moveTo>
                        <a:pt x="189902" y="116630"/>
                      </a:moveTo>
                      <a:lnTo>
                        <a:pt x="204230" y="116630"/>
                      </a:lnTo>
                      <a:lnTo>
                        <a:pt x="204230" y="123331"/>
                      </a:lnTo>
                      <a:lnTo>
                        <a:pt x="189902" y="123331"/>
                      </a:lnTo>
                      <a:close/>
                      <a:moveTo>
                        <a:pt x="316479" y="116577"/>
                      </a:moveTo>
                      <a:lnTo>
                        <a:pt x="330807" y="116577"/>
                      </a:lnTo>
                      <a:lnTo>
                        <a:pt x="330807" y="123296"/>
                      </a:lnTo>
                      <a:lnTo>
                        <a:pt x="316479" y="123296"/>
                      </a:lnTo>
                      <a:close/>
                      <a:moveTo>
                        <a:pt x="126576" y="116577"/>
                      </a:moveTo>
                      <a:lnTo>
                        <a:pt x="140904" y="116577"/>
                      </a:lnTo>
                      <a:lnTo>
                        <a:pt x="140904" y="123296"/>
                      </a:lnTo>
                      <a:lnTo>
                        <a:pt x="126576" y="123296"/>
                      </a:lnTo>
                      <a:close/>
                      <a:moveTo>
                        <a:pt x="379805" y="112284"/>
                      </a:moveTo>
                      <a:lnTo>
                        <a:pt x="394133" y="112284"/>
                      </a:lnTo>
                      <a:lnTo>
                        <a:pt x="394133" y="118811"/>
                      </a:lnTo>
                      <a:lnTo>
                        <a:pt x="379805" y="118811"/>
                      </a:lnTo>
                      <a:close/>
                      <a:moveTo>
                        <a:pt x="63288" y="111202"/>
                      </a:moveTo>
                      <a:lnTo>
                        <a:pt x="77616" y="111202"/>
                      </a:lnTo>
                      <a:lnTo>
                        <a:pt x="77616" y="118043"/>
                      </a:lnTo>
                      <a:lnTo>
                        <a:pt x="63288" y="118043"/>
                      </a:lnTo>
                      <a:close/>
                      <a:moveTo>
                        <a:pt x="253191" y="107363"/>
                      </a:moveTo>
                      <a:lnTo>
                        <a:pt x="267519" y="107363"/>
                      </a:lnTo>
                      <a:lnTo>
                        <a:pt x="267519" y="113925"/>
                      </a:lnTo>
                      <a:lnTo>
                        <a:pt x="253191" y="113925"/>
                      </a:lnTo>
                      <a:close/>
                      <a:moveTo>
                        <a:pt x="189902" y="106717"/>
                      </a:moveTo>
                      <a:lnTo>
                        <a:pt x="204230" y="106717"/>
                      </a:lnTo>
                      <a:lnTo>
                        <a:pt x="204230" y="113419"/>
                      </a:lnTo>
                      <a:lnTo>
                        <a:pt x="189902" y="113419"/>
                      </a:lnTo>
                      <a:close/>
                      <a:moveTo>
                        <a:pt x="316479" y="106630"/>
                      </a:moveTo>
                      <a:lnTo>
                        <a:pt x="330807" y="106630"/>
                      </a:lnTo>
                      <a:lnTo>
                        <a:pt x="330807" y="113349"/>
                      </a:lnTo>
                      <a:lnTo>
                        <a:pt x="316479" y="113349"/>
                      </a:lnTo>
                      <a:close/>
                      <a:moveTo>
                        <a:pt x="126576" y="106630"/>
                      </a:moveTo>
                      <a:lnTo>
                        <a:pt x="140904" y="106630"/>
                      </a:lnTo>
                      <a:lnTo>
                        <a:pt x="140904" y="113349"/>
                      </a:lnTo>
                      <a:lnTo>
                        <a:pt x="126576" y="113349"/>
                      </a:lnTo>
                      <a:close/>
                      <a:moveTo>
                        <a:pt x="379805" y="102721"/>
                      </a:moveTo>
                      <a:lnTo>
                        <a:pt x="394133" y="102721"/>
                      </a:lnTo>
                      <a:lnTo>
                        <a:pt x="394133" y="109247"/>
                      </a:lnTo>
                      <a:lnTo>
                        <a:pt x="379805" y="109247"/>
                      </a:lnTo>
                      <a:close/>
                      <a:moveTo>
                        <a:pt x="63288" y="101028"/>
                      </a:moveTo>
                      <a:lnTo>
                        <a:pt x="77616" y="101028"/>
                      </a:lnTo>
                      <a:lnTo>
                        <a:pt x="77616" y="107869"/>
                      </a:lnTo>
                      <a:lnTo>
                        <a:pt x="63288" y="107869"/>
                      </a:lnTo>
                      <a:close/>
                      <a:moveTo>
                        <a:pt x="253191" y="97747"/>
                      </a:moveTo>
                      <a:lnTo>
                        <a:pt x="267519" y="97747"/>
                      </a:lnTo>
                      <a:lnTo>
                        <a:pt x="267519" y="104309"/>
                      </a:lnTo>
                      <a:lnTo>
                        <a:pt x="253191" y="104309"/>
                      </a:lnTo>
                      <a:close/>
                      <a:moveTo>
                        <a:pt x="189902" y="96822"/>
                      </a:moveTo>
                      <a:lnTo>
                        <a:pt x="204230" y="96822"/>
                      </a:lnTo>
                      <a:lnTo>
                        <a:pt x="204230" y="103523"/>
                      </a:lnTo>
                      <a:lnTo>
                        <a:pt x="189902" y="103523"/>
                      </a:lnTo>
                      <a:close/>
                      <a:moveTo>
                        <a:pt x="316479" y="96665"/>
                      </a:moveTo>
                      <a:lnTo>
                        <a:pt x="330807" y="96665"/>
                      </a:lnTo>
                      <a:lnTo>
                        <a:pt x="330807" y="103384"/>
                      </a:lnTo>
                      <a:lnTo>
                        <a:pt x="316479" y="103384"/>
                      </a:lnTo>
                      <a:close/>
                      <a:moveTo>
                        <a:pt x="126576" y="96665"/>
                      </a:moveTo>
                      <a:lnTo>
                        <a:pt x="140904" y="96665"/>
                      </a:lnTo>
                      <a:lnTo>
                        <a:pt x="140904" y="103384"/>
                      </a:lnTo>
                      <a:lnTo>
                        <a:pt x="126576" y="103384"/>
                      </a:lnTo>
                      <a:close/>
                      <a:moveTo>
                        <a:pt x="379805" y="95251"/>
                      </a:moveTo>
                      <a:lnTo>
                        <a:pt x="394133" y="95251"/>
                      </a:lnTo>
                      <a:lnTo>
                        <a:pt x="394133" y="99492"/>
                      </a:lnTo>
                      <a:lnTo>
                        <a:pt x="379805" y="99492"/>
                      </a:lnTo>
                      <a:close/>
                      <a:moveTo>
                        <a:pt x="63288" y="90853"/>
                      </a:moveTo>
                      <a:lnTo>
                        <a:pt x="77616" y="90853"/>
                      </a:lnTo>
                      <a:lnTo>
                        <a:pt x="77616" y="97694"/>
                      </a:lnTo>
                      <a:lnTo>
                        <a:pt x="63288" y="97694"/>
                      </a:lnTo>
                      <a:close/>
                      <a:moveTo>
                        <a:pt x="253191" y="88131"/>
                      </a:moveTo>
                      <a:lnTo>
                        <a:pt x="267519" y="88131"/>
                      </a:lnTo>
                      <a:lnTo>
                        <a:pt x="267519" y="94693"/>
                      </a:lnTo>
                      <a:lnTo>
                        <a:pt x="253191" y="94693"/>
                      </a:lnTo>
                      <a:close/>
                      <a:moveTo>
                        <a:pt x="189902" y="86909"/>
                      </a:moveTo>
                      <a:lnTo>
                        <a:pt x="204230" y="86909"/>
                      </a:lnTo>
                      <a:lnTo>
                        <a:pt x="204230" y="93611"/>
                      </a:lnTo>
                      <a:lnTo>
                        <a:pt x="189902" y="93611"/>
                      </a:lnTo>
                      <a:close/>
                      <a:moveTo>
                        <a:pt x="316479" y="86717"/>
                      </a:moveTo>
                      <a:lnTo>
                        <a:pt x="330807" y="86717"/>
                      </a:lnTo>
                      <a:lnTo>
                        <a:pt x="330807" y="93436"/>
                      </a:lnTo>
                      <a:lnTo>
                        <a:pt x="316479" y="93436"/>
                      </a:lnTo>
                      <a:close/>
                      <a:moveTo>
                        <a:pt x="126576" y="86717"/>
                      </a:moveTo>
                      <a:lnTo>
                        <a:pt x="140904" y="86717"/>
                      </a:lnTo>
                      <a:lnTo>
                        <a:pt x="140904" y="93436"/>
                      </a:lnTo>
                      <a:lnTo>
                        <a:pt x="126576" y="93436"/>
                      </a:lnTo>
                      <a:close/>
                      <a:moveTo>
                        <a:pt x="63288" y="80679"/>
                      </a:moveTo>
                      <a:lnTo>
                        <a:pt x="77616" y="80679"/>
                      </a:lnTo>
                      <a:lnTo>
                        <a:pt x="77616" y="87520"/>
                      </a:lnTo>
                      <a:lnTo>
                        <a:pt x="63288" y="87520"/>
                      </a:lnTo>
                      <a:close/>
                      <a:moveTo>
                        <a:pt x="253191" y="80644"/>
                      </a:moveTo>
                      <a:lnTo>
                        <a:pt x="267519" y="80644"/>
                      </a:lnTo>
                      <a:lnTo>
                        <a:pt x="267519" y="84885"/>
                      </a:lnTo>
                      <a:lnTo>
                        <a:pt x="253191" y="84885"/>
                      </a:lnTo>
                      <a:close/>
                      <a:moveTo>
                        <a:pt x="189902" y="76997"/>
                      </a:moveTo>
                      <a:lnTo>
                        <a:pt x="204230" y="76997"/>
                      </a:lnTo>
                      <a:lnTo>
                        <a:pt x="204230" y="83698"/>
                      </a:lnTo>
                      <a:lnTo>
                        <a:pt x="189902" y="83698"/>
                      </a:lnTo>
                      <a:close/>
                      <a:moveTo>
                        <a:pt x="316479" y="76770"/>
                      </a:moveTo>
                      <a:lnTo>
                        <a:pt x="330807" y="76770"/>
                      </a:lnTo>
                      <a:lnTo>
                        <a:pt x="330807" y="83489"/>
                      </a:lnTo>
                      <a:lnTo>
                        <a:pt x="316479" y="83489"/>
                      </a:lnTo>
                      <a:close/>
                      <a:moveTo>
                        <a:pt x="126576" y="76770"/>
                      </a:moveTo>
                      <a:lnTo>
                        <a:pt x="140904" y="76770"/>
                      </a:lnTo>
                      <a:lnTo>
                        <a:pt x="140904" y="83489"/>
                      </a:lnTo>
                      <a:lnTo>
                        <a:pt x="126576" y="83489"/>
                      </a:lnTo>
                      <a:close/>
                      <a:moveTo>
                        <a:pt x="63288" y="72878"/>
                      </a:moveTo>
                      <a:lnTo>
                        <a:pt x="77616" y="72878"/>
                      </a:lnTo>
                      <a:lnTo>
                        <a:pt x="77616" y="77119"/>
                      </a:lnTo>
                      <a:lnTo>
                        <a:pt x="63288" y="77119"/>
                      </a:lnTo>
                      <a:close/>
                      <a:moveTo>
                        <a:pt x="189902" y="67102"/>
                      </a:moveTo>
                      <a:lnTo>
                        <a:pt x="204230" y="67102"/>
                      </a:lnTo>
                      <a:lnTo>
                        <a:pt x="204230" y="73803"/>
                      </a:lnTo>
                      <a:lnTo>
                        <a:pt x="189902" y="73803"/>
                      </a:lnTo>
                      <a:close/>
                      <a:moveTo>
                        <a:pt x="316479" y="66805"/>
                      </a:moveTo>
                      <a:lnTo>
                        <a:pt x="330807" y="66805"/>
                      </a:lnTo>
                      <a:lnTo>
                        <a:pt x="330807" y="73524"/>
                      </a:lnTo>
                      <a:lnTo>
                        <a:pt x="316479" y="73524"/>
                      </a:lnTo>
                      <a:close/>
                      <a:moveTo>
                        <a:pt x="126576" y="66805"/>
                      </a:moveTo>
                      <a:lnTo>
                        <a:pt x="140904" y="66805"/>
                      </a:lnTo>
                      <a:lnTo>
                        <a:pt x="140904" y="73524"/>
                      </a:lnTo>
                      <a:lnTo>
                        <a:pt x="126576" y="73524"/>
                      </a:lnTo>
                      <a:close/>
                      <a:moveTo>
                        <a:pt x="189902" y="57189"/>
                      </a:moveTo>
                      <a:lnTo>
                        <a:pt x="204230" y="57189"/>
                      </a:lnTo>
                      <a:lnTo>
                        <a:pt x="204230" y="63891"/>
                      </a:lnTo>
                      <a:lnTo>
                        <a:pt x="189902" y="63891"/>
                      </a:lnTo>
                      <a:close/>
                      <a:moveTo>
                        <a:pt x="316479" y="56858"/>
                      </a:moveTo>
                      <a:lnTo>
                        <a:pt x="330807" y="56858"/>
                      </a:lnTo>
                      <a:lnTo>
                        <a:pt x="330807" y="63577"/>
                      </a:lnTo>
                      <a:lnTo>
                        <a:pt x="316479" y="63577"/>
                      </a:lnTo>
                      <a:close/>
                      <a:moveTo>
                        <a:pt x="126576" y="56858"/>
                      </a:moveTo>
                      <a:lnTo>
                        <a:pt x="140904" y="56858"/>
                      </a:lnTo>
                      <a:lnTo>
                        <a:pt x="140904" y="63577"/>
                      </a:lnTo>
                      <a:lnTo>
                        <a:pt x="126576" y="63577"/>
                      </a:lnTo>
                      <a:close/>
                      <a:moveTo>
                        <a:pt x="189902" y="47277"/>
                      </a:moveTo>
                      <a:lnTo>
                        <a:pt x="204230" y="47277"/>
                      </a:lnTo>
                      <a:lnTo>
                        <a:pt x="204230" y="53978"/>
                      </a:lnTo>
                      <a:lnTo>
                        <a:pt x="189902" y="53978"/>
                      </a:lnTo>
                      <a:close/>
                      <a:moveTo>
                        <a:pt x="316479" y="46910"/>
                      </a:moveTo>
                      <a:lnTo>
                        <a:pt x="330807" y="46910"/>
                      </a:lnTo>
                      <a:lnTo>
                        <a:pt x="330807" y="53629"/>
                      </a:lnTo>
                      <a:lnTo>
                        <a:pt x="316479" y="53629"/>
                      </a:lnTo>
                      <a:close/>
                      <a:moveTo>
                        <a:pt x="126576" y="46910"/>
                      </a:moveTo>
                      <a:lnTo>
                        <a:pt x="140904" y="46910"/>
                      </a:lnTo>
                      <a:lnTo>
                        <a:pt x="140904" y="53629"/>
                      </a:lnTo>
                      <a:lnTo>
                        <a:pt x="126576" y="53629"/>
                      </a:lnTo>
                      <a:close/>
                      <a:moveTo>
                        <a:pt x="316479" y="39232"/>
                      </a:moveTo>
                      <a:lnTo>
                        <a:pt x="330807" y="39232"/>
                      </a:lnTo>
                      <a:lnTo>
                        <a:pt x="330807" y="43472"/>
                      </a:lnTo>
                      <a:lnTo>
                        <a:pt x="316479" y="43472"/>
                      </a:lnTo>
                      <a:close/>
                      <a:moveTo>
                        <a:pt x="126576" y="39232"/>
                      </a:moveTo>
                      <a:lnTo>
                        <a:pt x="140904" y="39232"/>
                      </a:lnTo>
                      <a:lnTo>
                        <a:pt x="140904" y="43472"/>
                      </a:lnTo>
                      <a:lnTo>
                        <a:pt x="126576" y="43472"/>
                      </a:lnTo>
                      <a:close/>
                      <a:moveTo>
                        <a:pt x="189902" y="37364"/>
                      </a:moveTo>
                      <a:lnTo>
                        <a:pt x="204230" y="37364"/>
                      </a:lnTo>
                      <a:lnTo>
                        <a:pt x="204230" y="44066"/>
                      </a:lnTo>
                      <a:lnTo>
                        <a:pt x="189902" y="44066"/>
                      </a:lnTo>
                      <a:close/>
                      <a:moveTo>
                        <a:pt x="189902" y="27469"/>
                      </a:moveTo>
                      <a:lnTo>
                        <a:pt x="204230" y="27469"/>
                      </a:lnTo>
                      <a:lnTo>
                        <a:pt x="204230" y="34171"/>
                      </a:lnTo>
                      <a:lnTo>
                        <a:pt x="189902" y="34171"/>
                      </a:lnTo>
                      <a:close/>
                      <a:moveTo>
                        <a:pt x="189902" y="17557"/>
                      </a:moveTo>
                      <a:lnTo>
                        <a:pt x="204230" y="17557"/>
                      </a:lnTo>
                      <a:lnTo>
                        <a:pt x="204230" y="24258"/>
                      </a:lnTo>
                      <a:lnTo>
                        <a:pt x="189902" y="24258"/>
                      </a:lnTo>
                      <a:close/>
                      <a:moveTo>
                        <a:pt x="189902" y="7644"/>
                      </a:moveTo>
                      <a:lnTo>
                        <a:pt x="204230" y="7644"/>
                      </a:lnTo>
                      <a:lnTo>
                        <a:pt x="204230" y="14346"/>
                      </a:lnTo>
                      <a:lnTo>
                        <a:pt x="189902" y="14346"/>
                      </a:lnTo>
                      <a:close/>
                      <a:moveTo>
                        <a:pt x="189902" y="0"/>
                      </a:moveTo>
                      <a:lnTo>
                        <a:pt x="204230" y="0"/>
                      </a:lnTo>
                      <a:lnTo>
                        <a:pt x="204230" y="4241"/>
                      </a:lnTo>
                      <a:lnTo>
                        <a:pt x="189902" y="4241"/>
                      </a:lnTo>
                      <a:close/>
                    </a:path>
                  </a:pathLst>
                </a:custGeom>
                <a:gradFill>
                  <a:gsLst>
                    <a:gs pos="1685">
                      <a:srgbClr val="00FFFF">
                        <a:alpha val="48000"/>
                        <a:lumMod val="50000"/>
                        <a:lumOff val="50000"/>
                      </a:srgbClr>
                    </a:gs>
                    <a:gs pos="58000">
                      <a:srgbClr val="00FFFF"/>
                    </a:gs>
                    <a:gs pos="46000">
                      <a:srgbClr val="00FFFF">
                        <a:lumMod val="60000"/>
                        <a:lumOff val="40000"/>
                      </a:srgbClr>
                    </a:gs>
                    <a:gs pos="90000">
                      <a:srgbClr val="00FFFF"/>
                    </a:gs>
                    <a:gs pos="36000">
                      <a:srgbClr val="00FFFF"/>
                    </a:gs>
                    <a:gs pos="100000">
                      <a:srgbClr val="00FFFF">
                        <a:alpha val="0"/>
                      </a:srgbClr>
                    </a:gs>
                  </a:gsLst>
                  <a:lin ang="0" scaled="0"/>
                </a:gradFill>
                <a:ln w="4225" cap="flat">
                  <a:noFill/>
                  <a:prstDash val="solid"/>
                  <a:miter/>
                </a:ln>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icrosoft YaHei" panose="020B0503020204020204" pitchFamily="34" charset="-122"/>
                  </a:endParaRPr>
                </a:p>
              </p:txBody>
            </p:sp>
            <p:pic>
              <p:nvPicPr>
                <p:cNvPr id="27" name="图片 26" descr="图片包含 电脑, 灯光, 键盘, 黑暗&#10;&#10;描述已自动生成">
                  <a:extLst>
                    <a:ext uri="{FF2B5EF4-FFF2-40B4-BE49-F238E27FC236}">
                      <a16:creationId xmlns:a16="http://schemas.microsoft.com/office/drawing/2014/main" id="{8F809560-DC17-1E42-6590-36EF27CB2494}"/>
                    </a:ext>
                  </a:extLst>
                </p:cNvPr>
                <p:cNvPicPr>
                  <a:picLocks noChangeAspect="1"/>
                </p:cNvPicPr>
                <p:nvPr/>
              </p:nvPicPr>
              <p:blipFill>
                <a:blip r:embed="rId5">
                  <a:duotone>
                    <a:srgbClr val="00FFFF">
                      <a:shade val="45000"/>
                      <a:satMod val="135000"/>
                    </a:srgbClr>
                    <a:prstClr val="white"/>
                  </a:duotone>
                  <a:extLst>
                    <a:ext uri="{28A0092B-C50C-407E-A947-70E740481C1C}">
                      <a14:useLocalDpi xmlns:a14="http://schemas.microsoft.com/office/drawing/2010/main" val="0"/>
                    </a:ext>
                  </a:extLst>
                </a:blip>
                <a:stretch>
                  <a:fillRect/>
                </a:stretch>
              </p:blipFill>
              <p:spPr>
                <a:xfrm rot="5400000">
                  <a:off x="7512118" y="845076"/>
                  <a:ext cx="815946" cy="146311"/>
                </a:xfrm>
                <a:prstGeom prst="rect">
                  <a:avLst/>
                </a:prstGeom>
              </p:spPr>
            </p:pic>
          </p:grpSp>
          <p:grpSp>
            <p:nvGrpSpPr>
              <p:cNvPr id="32" name="组合 31">
                <a:extLst>
                  <a:ext uri="{FF2B5EF4-FFF2-40B4-BE49-F238E27FC236}">
                    <a16:creationId xmlns:a16="http://schemas.microsoft.com/office/drawing/2014/main" id="{9748A94B-1D31-C12C-975E-1B691E36A8FC}"/>
                  </a:ext>
                </a:extLst>
              </p:cNvPr>
              <p:cNvGrpSpPr/>
              <p:nvPr/>
            </p:nvGrpSpPr>
            <p:grpSpPr>
              <a:xfrm rot="5400000">
                <a:off x="671709" y="660112"/>
                <a:ext cx="1071367" cy="815946"/>
                <a:chOff x="3444933" y="510259"/>
                <a:chExt cx="1071367" cy="815946"/>
              </a:xfrm>
            </p:grpSpPr>
            <p:sp>
              <p:nvSpPr>
                <p:cNvPr id="28" name="任意多边形: 形状 27">
                  <a:extLst>
                    <a:ext uri="{FF2B5EF4-FFF2-40B4-BE49-F238E27FC236}">
                      <a16:creationId xmlns:a16="http://schemas.microsoft.com/office/drawing/2014/main" id="{A361CED1-69AA-8A09-BF38-6C8685ED3074}"/>
                    </a:ext>
                  </a:extLst>
                </p:cNvPr>
                <p:cNvSpPr/>
                <p:nvPr/>
              </p:nvSpPr>
              <p:spPr>
                <a:xfrm flipH="1">
                  <a:off x="3444933" y="717908"/>
                  <a:ext cx="1071367" cy="324646"/>
                </a:xfrm>
                <a:custGeom>
                  <a:avLst/>
                  <a:gdLst>
                    <a:gd name="connsiteX0" fmla="*/ 189902 w 864621"/>
                    <a:gd name="connsiteY0" fmla="*/ 255527 h 259768"/>
                    <a:gd name="connsiteX1" fmla="*/ 204230 w 864621"/>
                    <a:gd name="connsiteY1" fmla="*/ 255527 h 259768"/>
                    <a:gd name="connsiteX2" fmla="*/ 204230 w 864621"/>
                    <a:gd name="connsiteY2" fmla="*/ 259768 h 259768"/>
                    <a:gd name="connsiteX3" fmla="*/ 189902 w 864621"/>
                    <a:gd name="connsiteY3" fmla="*/ 259768 h 259768"/>
                    <a:gd name="connsiteX4" fmla="*/ 189902 w 864621"/>
                    <a:gd name="connsiteY4" fmla="*/ 245422 h 259768"/>
                    <a:gd name="connsiteX5" fmla="*/ 204230 w 864621"/>
                    <a:gd name="connsiteY5" fmla="*/ 245422 h 259768"/>
                    <a:gd name="connsiteX6" fmla="*/ 204230 w 864621"/>
                    <a:gd name="connsiteY6" fmla="*/ 252124 h 259768"/>
                    <a:gd name="connsiteX7" fmla="*/ 189902 w 864621"/>
                    <a:gd name="connsiteY7" fmla="*/ 252124 h 259768"/>
                    <a:gd name="connsiteX8" fmla="*/ 189902 w 864621"/>
                    <a:gd name="connsiteY8" fmla="*/ 235510 h 259768"/>
                    <a:gd name="connsiteX9" fmla="*/ 204230 w 864621"/>
                    <a:gd name="connsiteY9" fmla="*/ 235510 h 259768"/>
                    <a:gd name="connsiteX10" fmla="*/ 204230 w 864621"/>
                    <a:gd name="connsiteY10" fmla="*/ 242211 h 259768"/>
                    <a:gd name="connsiteX11" fmla="*/ 189902 w 864621"/>
                    <a:gd name="connsiteY11" fmla="*/ 242211 h 259768"/>
                    <a:gd name="connsiteX12" fmla="*/ 189902 w 864621"/>
                    <a:gd name="connsiteY12" fmla="*/ 225615 h 259768"/>
                    <a:gd name="connsiteX13" fmla="*/ 204230 w 864621"/>
                    <a:gd name="connsiteY13" fmla="*/ 225615 h 259768"/>
                    <a:gd name="connsiteX14" fmla="*/ 204230 w 864621"/>
                    <a:gd name="connsiteY14" fmla="*/ 232316 h 259768"/>
                    <a:gd name="connsiteX15" fmla="*/ 189902 w 864621"/>
                    <a:gd name="connsiteY15" fmla="*/ 232316 h 259768"/>
                    <a:gd name="connsiteX16" fmla="*/ 316479 w 864621"/>
                    <a:gd name="connsiteY16" fmla="*/ 216313 h 259768"/>
                    <a:gd name="connsiteX17" fmla="*/ 330807 w 864621"/>
                    <a:gd name="connsiteY17" fmla="*/ 216313 h 259768"/>
                    <a:gd name="connsiteX18" fmla="*/ 330807 w 864621"/>
                    <a:gd name="connsiteY18" fmla="*/ 220554 h 259768"/>
                    <a:gd name="connsiteX19" fmla="*/ 316479 w 864621"/>
                    <a:gd name="connsiteY19" fmla="*/ 220554 h 259768"/>
                    <a:gd name="connsiteX20" fmla="*/ 126576 w 864621"/>
                    <a:gd name="connsiteY20" fmla="*/ 216313 h 259768"/>
                    <a:gd name="connsiteX21" fmla="*/ 140904 w 864621"/>
                    <a:gd name="connsiteY21" fmla="*/ 216313 h 259768"/>
                    <a:gd name="connsiteX22" fmla="*/ 140904 w 864621"/>
                    <a:gd name="connsiteY22" fmla="*/ 220554 h 259768"/>
                    <a:gd name="connsiteX23" fmla="*/ 126576 w 864621"/>
                    <a:gd name="connsiteY23" fmla="*/ 220554 h 259768"/>
                    <a:gd name="connsiteX24" fmla="*/ 189902 w 864621"/>
                    <a:gd name="connsiteY24" fmla="*/ 215702 h 259768"/>
                    <a:gd name="connsiteX25" fmla="*/ 204230 w 864621"/>
                    <a:gd name="connsiteY25" fmla="*/ 215702 h 259768"/>
                    <a:gd name="connsiteX26" fmla="*/ 204230 w 864621"/>
                    <a:gd name="connsiteY26" fmla="*/ 222404 h 259768"/>
                    <a:gd name="connsiteX27" fmla="*/ 189902 w 864621"/>
                    <a:gd name="connsiteY27" fmla="*/ 222404 h 259768"/>
                    <a:gd name="connsiteX28" fmla="*/ 316479 w 864621"/>
                    <a:gd name="connsiteY28" fmla="*/ 206156 h 259768"/>
                    <a:gd name="connsiteX29" fmla="*/ 330807 w 864621"/>
                    <a:gd name="connsiteY29" fmla="*/ 206156 h 259768"/>
                    <a:gd name="connsiteX30" fmla="*/ 330807 w 864621"/>
                    <a:gd name="connsiteY30" fmla="*/ 212875 h 259768"/>
                    <a:gd name="connsiteX31" fmla="*/ 316479 w 864621"/>
                    <a:gd name="connsiteY31" fmla="*/ 212875 h 259768"/>
                    <a:gd name="connsiteX32" fmla="*/ 126576 w 864621"/>
                    <a:gd name="connsiteY32" fmla="*/ 206156 h 259768"/>
                    <a:gd name="connsiteX33" fmla="*/ 140904 w 864621"/>
                    <a:gd name="connsiteY33" fmla="*/ 206156 h 259768"/>
                    <a:gd name="connsiteX34" fmla="*/ 140904 w 864621"/>
                    <a:gd name="connsiteY34" fmla="*/ 212875 h 259768"/>
                    <a:gd name="connsiteX35" fmla="*/ 126576 w 864621"/>
                    <a:gd name="connsiteY35" fmla="*/ 212875 h 259768"/>
                    <a:gd name="connsiteX36" fmla="*/ 189902 w 864621"/>
                    <a:gd name="connsiteY36" fmla="*/ 205790 h 259768"/>
                    <a:gd name="connsiteX37" fmla="*/ 204230 w 864621"/>
                    <a:gd name="connsiteY37" fmla="*/ 205790 h 259768"/>
                    <a:gd name="connsiteX38" fmla="*/ 204230 w 864621"/>
                    <a:gd name="connsiteY38" fmla="*/ 212491 h 259768"/>
                    <a:gd name="connsiteX39" fmla="*/ 189902 w 864621"/>
                    <a:gd name="connsiteY39" fmla="*/ 212491 h 259768"/>
                    <a:gd name="connsiteX40" fmla="*/ 316479 w 864621"/>
                    <a:gd name="connsiteY40" fmla="*/ 196209 h 259768"/>
                    <a:gd name="connsiteX41" fmla="*/ 330807 w 864621"/>
                    <a:gd name="connsiteY41" fmla="*/ 196209 h 259768"/>
                    <a:gd name="connsiteX42" fmla="*/ 330807 w 864621"/>
                    <a:gd name="connsiteY42" fmla="*/ 202928 h 259768"/>
                    <a:gd name="connsiteX43" fmla="*/ 316479 w 864621"/>
                    <a:gd name="connsiteY43" fmla="*/ 202928 h 259768"/>
                    <a:gd name="connsiteX44" fmla="*/ 126576 w 864621"/>
                    <a:gd name="connsiteY44" fmla="*/ 196209 h 259768"/>
                    <a:gd name="connsiteX45" fmla="*/ 140904 w 864621"/>
                    <a:gd name="connsiteY45" fmla="*/ 196209 h 259768"/>
                    <a:gd name="connsiteX46" fmla="*/ 140904 w 864621"/>
                    <a:gd name="connsiteY46" fmla="*/ 202928 h 259768"/>
                    <a:gd name="connsiteX47" fmla="*/ 126576 w 864621"/>
                    <a:gd name="connsiteY47" fmla="*/ 202928 h 259768"/>
                    <a:gd name="connsiteX48" fmla="*/ 189902 w 864621"/>
                    <a:gd name="connsiteY48" fmla="*/ 195877 h 259768"/>
                    <a:gd name="connsiteX49" fmla="*/ 204230 w 864621"/>
                    <a:gd name="connsiteY49" fmla="*/ 195877 h 259768"/>
                    <a:gd name="connsiteX50" fmla="*/ 204230 w 864621"/>
                    <a:gd name="connsiteY50" fmla="*/ 202579 h 259768"/>
                    <a:gd name="connsiteX51" fmla="*/ 189902 w 864621"/>
                    <a:gd name="connsiteY51" fmla="*/ 202579 h 259768"/>
                    <a:gd name="connsiteX52" fmla="*/ 316479 w 864621"/>
                    <a:gd name="connsiteY52" fmla="*/ 186244 h 259768"/>
                    <a:gd name="connsiteX53" fmla="*/ 330807 w 864621"/>
                    <a:gd name="connsiteY53" fmla="*/ 186244 h 259768"/>
                    <a:gd name="connsiteX54" fmla="*/ 330807 w 864621"/>
                    <a:gd name="connsiteY54" fmla="*/ 192963 h 259768"/>
                    <a:gd name="connsiteX55" fmla="*/ 316479 w 864621"/>
                    <a:gd name="connsiteY55" fmla="*/ 192963 h 259768"/>
                    <a:gd name="connsiteX56" fmla="*/ 126576 w 864621"/>
                    <a:gd name="connsiteY56" fmla="*/ 186244 h 259768"/>
                    <a:gd name="connsiteX57" fmla="*/ 140904 w 864621"/>
                    <a:gd name="connsiteY57" fmla="*/ 186244 h 259768"/>
                    <a:gd name="connsiteX58" fmla="*/ 140904 w 864621"/>
                    <a:gd name="connsiteY58" fmla="*/ 192963 h 259768"/>
                    <a:gd name="connsiteX59" fmla="*/ 126576 w 864621"/>
                    <a:gd name="connsiteY59" fmla="*/ 192963 h 259768"/>
                    <a:gd name="connsiteX60" fmla="*/ 189902 w 864621"/>
                    <a:gd name="connsiteY60" fmla="*/ 185982 h 259768"/>
                    <a:gd name="connsiteX61" fmla="*/ 204230 w 864621"/>
                    <a:gd name="connsiteY61" fmla="*/ 185982 h 259768"/>
                    <a:gd name="connsiteX62" fmla="*/ 204230 w 864621"/>
                    <a:gd name="connsiteY62" fmla="*/ 192684 h 259768"/>
                    <a:gd name="connsiteX63" fmla="*/ 189902 w 864621"/>
                    <a:gd name="connsiteY63" fmla="*/ 192684 h 259768"/>
                    <a:gd name="connsiteX64" fmla="*/ 63288 w 864621"/>
                    <a:gd name="connsiteY64" fmla="*/ 182649 h 259768"/>
                    <a:gd name="connsiteX65" fmla="*/ 77616 w 864621"/>
                    <a:gd name="connsiteY65" fmla="*/ 182649 h 259768"/>
                    <a:gd name="connsiteX66" fmla="*/ 77616 w 864621"/>
                    <a:gd name="connsiteY66" fmla="*/ 186890 h 259768"/>
                    <a:gd name="connsiteX67" fmla="*/ 63288 w 864621"/>
                    <a:gd name="connsiteY67" fmla="*/ 186890 h 259768"/>
                    <a:gd name="connsiteX68" fmla="*/ 316479 w 864621"/>
                    <a:gd name="connsiteY68" fmla="*/ 176297 h 259768"/>
                    <a:gd name="connsiteX69" fmla="*/ 330807 w 864621"/>
                    <a:gd name="connsiteY69" fmla="*/ 176297 h 259768"/>
                    <a:gd name="connsiteX70" fmla="*/ 330807 w 864621"/>
                    <a:gd name="connsiteY70" fmla="*/ 183015 h 259768"/>
                    <a:gd name="connsiteX71" fmla="*/ 316479 w 864621"/>
                    <a:gd name="connsiteY71" fmla="*/ 183015 h 259768"/>
                    <a:gd name="connsiteX72" fmla="*/ 126576 w 864621"/>
                    <a:gd name="connsiteY72" fmla="*/ 176297 h 259768"/>
                    <a:gd name="connsiteX73" fmla="*/ 140904 w 864621"/>
                    <a:gd name="connsiteY73" fmla="*/ 176297 h 259768"/>
                    <a:gd name="connsiteX74" fmla="*/ 140904 w 864621"/>
                    <a:gd name="connsiteY74" fmla="*/ 183015 h 259768"/>
                    <a:gd name="connsiteX75" fmla="*/ 126576 w 864621"/>
                    <a:gd name="connsiteY75" fmla="*/ 183015 h 259768"/>
                    <a:gd name="connsiteX76" fmla="*/ 189902 w 864621"/>
                    <a:gd name="connsiteY76" fmla="*/ 176070 h 259768"/>
                    <a:gd name="connsiteX77" fmla="*/ 204230 w 864621"/>
                    <a:gd name="connsiteY77" fmla="*/ 176070 h 259768"/>
                    <a:gd name="connsiteX78" fmla="*/ 204230 w 864621"/>
                    <a:gd name="connsiteY78" fmla="*/ 182771 h 259768"/>
                    <a:gd name="connsiteX79" fmla="*/ 189902 w 864621"/>
                    <a:gd name="connsiteY79" fmla="*/ 182771 h 259768"/>
                    <a:gd name="connsiteX80" fmla="*/ 253191 w 864621"/>
                    <a:gd name="connsiteY80" fmla="*/ 174900 h 259768"/>
                    <a:gd name="connsiteX81" fmla="*/ 267519 w 864621"/>
                    <a:gd name="connsiteY81" fmla="*/ 174900 h 259768"/>
                    <a:gd name="connsiteX82" fmla="*/ 267519 w 864621"/>
                    <a:gd name="connsiteY82" fmla="*/ 179141 h 259768"/>
                    <a:gd name="connsiteX83" fmla="*/ 253191 w 864621"/>
                    <a:gd name="connsiteY83" fmla="*/ 179141 h 259768"/>
                    <a:gd name="connsiteX84" fmla="*/ 63288 w 864621"/>
                    <a:gd name="connsiteY84" fmla="*/ 172248 h 259768"/>
                    <a:gd name="connsiteX85" fmla="*/ 77616 w 864621"/>
                    <a:gd name="connsiteY85" fmla="*/ 172248 h 259768"/>
                    <a:gd name="connsiteX86" fmla="*/ 77616 w 864621"/>
                    <a:gd name="connsiteY86" fmla="*/ 179089 h 259768"/>
                    <a:gd name="connsiteX87" fmla="*/ 63288 w 864621"/>
                    <a:gd name="connsiteY87" fmla="*/ 179089 h 259768"/>
                    <a:gd name="connsiteX88" fmla="*/ 316479 w 864621"/>
                    <a:gd name="connsiteY88" fmla="*/ 166349 h 259768"/>
                    <a:gd name="connsiteX89" fmla="*/ 330807 w 864621"/>
                    <a:gd name="connsiteY89" fmla="*/ 166349 h 259768"/>
                    <a:gd name="connsiteX90" fmla="*/ 330807 w 864621"/>
                    <a:gd name="connsiteY90" fmla="*/ 173068 h 259768"/>
                    <a:gd name="connsiteX91" fmla="*/ 316479 w 864621"/>
                    <a:gd name="connsiteY91" fmla="*/ 173068 h 259768"/>
                    <a:gd name="connsiteX92" fmla="*/ 126576 w 864621"/>
                    <a:gd name="connsiteY92" fmla="*/ 166349 h 259768"/>
                    <a:gd name="connsiteX93" fmla="*/ 140904 w 864621"/>
                    <a:gd name="connsiteY93" fmla="*/ 166349 h 259768"/>
                    <a:gd name="connsiteX94" fmla="*/ 140904 w 864621"/>
                    <a:gd name="connsiteY94" fmla="*/ 173068 h 259768"/>
                    <a:gd name="connsiteX95" fmla="*/ 126576 w 864621"/>
                    <a:gd name="connsiteY95" fmla="*/ 173068 h 259768"/>
                    <a:gd name="connsiteX96" fmla="*/ 189902 w 864621"/>
                    <a:gd name="connsiteY96" fmla="*/ 166157 h 259768"/>
                    <a:gd name="connsiteX97" fmla="*/ 204230 w 864621"/>
                    <a:gd name="connsiteY97" fmla="*/ 166157 h 259768"/>
                    <a:gd name="connsiteX98" fmla="*/ 204230 w 864621"/>
                    <a:gd name="connsiteY98" fmla="*/ 172859 h 259768"/>
                    <a:gd name="connsiteX99" fmla="*/ 189902 w 864621"/>
                    <a:gd name="connsiteY99" fmla="*/ 172859 h 259768"/>
                    <a:gd name="connsiteX100" fmla="*/ 253191 w 864621"/>
                    <a:gd name="connsiteY100" fmla="*/ 165075 h 259768"/>
                    <a:gd name="connsiteX101" fmla="*/ 267519 w 864621"/>
                    <a:gd name="connsiteY101" fmla="*/ 165075 h 259768"/>
                    <a:gd name="connsiteX102" fmla="*/ 267519 w 864621"/>
                    <a:gd name="connsiteY102" fmla="*/ 171637 h 259768"/>
                    <a:gd name="connsiteX103" fmla="*/ 253191 w 864621"/>
                    <a:gd name="connsiteY103" fmla="*/ 171637 h 259768"/>
                    <a:gd name="connsiteX104" fmla="*/ 63288 w 864621"/>
                    <a:gd name="connsiteY104" fmla="*/ 162074 h 259768"/>
                    <a:gd name="connsiteX105" fmla="*/ 77616 w 864621"/>
                    <a:gd name="connsiteY105" fmla="*/ 162074 h 259768"/>
                    <a:gd name="connsiteX106" fmla="*/ 77616 w 864621"/>
                    <a:gd name="connsiteY106" fmla="*/ 168915 h 259768"/>
                    <a:gd name="connsiteX107" fmla="*/ 63288 w 864621"/>
                    <a:gd name="connsiteY107" fmla="*/ 168915 h 259768"/>
                    <a:gd name="connsiteX108" fmla="*/ 379805 w 864621"/>
                    <a:gd name="connsiteY108" fmla="*/ 160293 h 259768"/>
                    <a:gd name="connsiteX109" fmla="*/ 394133 w 864621"/>
                    <a:gd name="connsiteY109" fmla="*/ 160293 h 259768"/>
                    <a:gd name="connsiteX110" fmla="*/ 394133 w 864621"/>
                    <a:gd name="connsiteY110" fmla="*/ 164534 h 259768"/>
                    <a:gd name="connsiteX111" fmla="*/ 379805 w 864621"/>
                    <a:gd name="connsiteY111" fmla="*/ 164534 h 259768"/>
                    <a:gd name="connsiteX112" fmla="*/ 316479 w 864621"/>
                    <a:gd name="connsiteY112" fmla="*/ 156384 h 259768"/>
                    <a:gd name="connsiteX113" fmla="*/ 330807 w 864621"/>
                    <a:gd name="connsiteY113" fmla="*/ 156384 h 259768"/>
                    <a:gd name="connsiteX114" fmla="*/ 330807 w 864621"/>
                    <a:gd name="connsiteY114" fmla="*/ 163103 h 259768"/>
                    <a:gd name="connsiteX115" fmla="*/ 316479 w 864621"/>
                    <a:gd name="connsiteY115" fmla="*/ 163103 h 259768"/>
                    <a:gd name="connsiteX116" fmla="*/ 126576 w 864621"/>
                    <a:gd name="connsiteY116" fmla="*/ 156384 h 259768"/>
                    <a:gd name="connsiteX117" fmla="*/ 140904 w 864621"/>
                    <a:gd name="connsiteY117" fmla="*/ 156384 h 259768"/>
                    <a:gd name="connsiteX118" fmla="*/ 140904 w 864621"/>
                    <a:gd name="connsiteY118" fmla="*/ 163103 h 259768"/>
                    <a:gd name="connsiteX119" fmla="*/ 126576 w 864621"/>
                    <a:gd name="connsiteY119" fmla="*/ 163103 h 259768"/>
                    <a:gd name="connsiteX120" fmla="*/ 189902 w 864621"/>
                    <a:gd name="connsiteY120" fmla="*/ 156262 h 259768"/>
                    <a:gd name="connsiteX121" fmla="*/ 204230 w 864621"/>
                    <a:gd name="connsiteY121" fmla="*/ 156262 h 259768"/>
                    <a:gd name="connsiteX122" fmla="*/ 204230 w 864621"/>
                    <a:gd name="connsiteY122" fmla="*/ 162963 h 259768"/>
                    <a:gd name="connsiteX123" fmla="*/ 189902 w 864621"/>
                    <a:gd name="connsiteY123" fmla="*/ 162963 h 259768"/>
                    <a:gd name="connsiteX124" fmla="*/ 253191 w 864621"/>
                    <a:gd name="connsiteY124" fmla="*/ 155459 h 259768"/>
                    <a:gd name="connsiteX125" fmla="*/ 267519 w 864621"/>
                    <a:gd name="connsiteY125" fmla="*/ 155459 h 259768"/>
                    <a:gd name="connsiteX126" fmla="*/ 267519 w 864621"/>
                    <a:gd name="connsiteY126" fmla="*/ 162021 h 259768"/>
                    <a:gd name="connsiteX127" fmla="*/ 253191 w 864621"/>
                    <a:gd name="connsiteY127" fmla="*/ 162021 h 259768"/>
                    <a:gd name="connsiteX128" fmla="*/ 63288 w 864621"/>
                    <a:gd name="connsiteY128" fmla="*/ 151917 h 259768"/>
                    <a:gd name="connsiteX129" fmla="*/ 77616 w 864621"/>
                    <a:gd name="connsiteY129" fmla="*/ 151917 h 259768"/>
                    <a:gd name="connsiteX130" fmla="*/ 77616 w 864621"/>
                    <a:gd name="connsiteY130" fmla="*/ 158740 h 259768"/>
                    <a:gd name="connsiteX131" fmla="*/ 63288 w 864621"/>
                    <a:gd name="connsiteY131" fmla="*/ 158740 h 259768"/>
                    <a:gd name="connsiteX132" fmla="*/ 379805 w 864621"/>
                    <a:gd name="connsiteY132" fmla="*/ 150538 h 259768"/>
                    <a:gd name="connsiteX133" fmla="*/ 394133 w 864621"/>
                    <a:gd name="connsiteY133" fmla="*/ 150538 h 259768"/>
                    <a:gd name="connsiteX134" fmla="*/ 394133 w 864621"/>
                    <a:gd name="connsiteY134" fmla="*/ 157065 h 259768"/>
                    <a:gd name="connsiteX135" fmla="*/ 379805 w 864621"/>
                    <a:gd name="connsiteY135" fmla="*/ 157065 h 259768"/>
                    <a:gd name="connsiteX136" fmla="*/ 316479 w 864621"/>
                    <a:gd name="connsiteY136" fmla="*/ 146437 h 259768"/>
                    <a:gd name="connsiteX137" fmla="*/ 330807 w 864621"/>
                    <a:gd name="connsiteY137" fmla="*/ 146437 h 259768"/>
                    <a:gd name="connsiteX138" fmla="*/ 330807 w 864621"/>
                    <a:gd name="connsiteY138" fmla="*/ 153156 h 259768"/>
                    <a:gd name="connsiteX139" fmla="*/ 316479 w 864621"/>
                    <a:gd name="connsiteY139" fmla="*/ 153156 h 259768"/>
                    <a:gd name="connsiteX140" fmla="*/ 126576 w 864621"/>
                    <a:gd name="connsiteY140" fmla="*/ 146437 h 259768"/>
                    <a:gd name="connsiteX141" fmla="*/ 140904 w 864621"/>
                    <a:gd name="connsiteY141" fmla="*/ 146437 h 259768"/>
                    <a:gd name="connsiteX142" fmla="*/ 140904 w 864621"/>
                    <a:gd name="connsiteY142" fmla="*/ 153156 h 259768"/>
                    <a:gd name="connsiteX143" fmla="*/ 126576 w 864621"/>
                    <a:gd name="connsiteY143" fmla="*/ 153156 h 259768"/>
                    <a:gd name="connsiteX144" fmla="*/ 189902 w 864621"/>
                    <a:gd name="connsiteY144" fmla="*/ 146350 h 259768"/>
                    <a:gd name="connsiteX145" fmla="*/ 204230 w 864621"/>
                    <a:gd name="connsiteY145" fmla="*/ 146350 h 259768"/>
                    <a:gd name="connsiteX146" fmla="*/ 204230 w 864621"/>
                    <a:gd name="connsiteY146" fmla="*/ 153051 h 259768"/>
                    <a:gd name="connsiteX147" fmla="*/ 189902 w 864621"/>
                    <a:gd name="connsiteY147" fmla="*/ 153051 h 259768"/>
                    <a:gd name="connsiteX148" fmla="*/ 253191 w 864621"/>
                    <a:gd name="connsiteY148" fmla="*/ 145844 h 259768"/>
                    <a:gd name="connsiteX149" fmla="*/ 267519 w 864621"/>
                    <a:gd name="connsiteY149" fmla="*/ 145844 h 259768"/>
                    <a:gd name="connsiteX150" fmla="*/ 267519 w 864621"/>
                    <a:gd name="connsiteY150" fmla="*/ 152405 h 259768"/>
                    <a:gd name="connsiteX151" fmla="*/ 253191 w 864621"/>
                    <a:gd name="connsiteY151" fmla="*/ 152405 h 259768"/>
                    <a:gd name="connsiteX152" fmla="*/ 63288 w 864621"/>
                    <a:gd name="connsiteY152" fmla="*/ 141725 h 259768"/>
                    <a:gd name="connsiteX153" fmla="*/ 77616 w 864621"/>
                    <a:gd name="connsiteY153" fmla="*/ 141725 h 259768"/>
                    <a:gd name="connsiteX154" fmla="*/ 77616 w 864621"/>
                    <a:gd name="connsiteY154" fmla="*/ 148566 h 259768"/>
                    <a:gd name="connsiteX155" fmla="*/ 63288 w 864621"/>
                    <a:gd name="connsiteY155" fmla="*/ 148566 h 259768"/>
                    <a:gd name="connsiteX156" fmla="*/ 379805 w 864621"/>
                    <a:gd name="connsiteY156" fmla="*/ 140974 h 259768"/>
                    <a:gd name="connsiteX157" fmla="*/ 394133 w 864621"/>
                    <a:gd name="connsiteY157" fmla="*/ 140974 h 259768"/>
                    <a:gd name="connsiteX158" fmla="*/ 394133 w 864621"/>
                    <a:gd name="connsiteY158" fmla="*/ 147501 h 259768"/>
                    <a:gd name="connsiteX159" fmla="*/ 379805 w 864621"/>
                    <a:gd name="connsiteY159" fmla="*/ 147501 h 259768"/>
                    <a:gd name="connsiteX160" fmla="*/ 443094 w 864621"/>
                    <a:gd name="connsiteY160" fmla="*/ 138112 h 259768"/>
                    <a:gd name="connsiteX161" fmla="*/ 457422 w 864621"/>
                    <a:gd name="connsiteY161" fmla="*/ 138112 h 259768"/>
                    <a:gd name="connsiteX162" fmla="*/ 457422 w 864621"/>
                    <a:gd name="connsiteY162" fmla="*/ 142353 h 259768"/>
                    <a:gd name="connsiteX163" fmla="*/ 443094 w 864621"/>
                    <a:gd name="connsiteY163" fmla="*/ 142353 h 259768"/>
                    <a:gd name="connsiteX164" fmla="*/ 316479 w 864621"/>
                    <a:gd name="connsiteY164" fmla="*/ 136489 h 259768"/>
                    <a:gd name="connsiteX165" fmla="*/ 330807 w 864621"/>
                    <a:gd name="connsiteY165" fmla="*/ 136489 h 259768"/>
                    <a:gd name="connsiteX166" fmla="*/ 330807 w 864621"/>
                    <a:gd name="connsiteY166" fmla="*/ 143208 h 259768"/>
                    <a:gd name="connsiteX167" fmla="*/ 316479 w 864621"/>
                    <a:gd name="connsiteY167" fmla="*/ 143208 h 259768"/>
                    <a:gd name="connsiteX168" fmla="*/ 126576 w 864621"/>
                    <a:gd name="connsiteY168" fmla="*/ 136489 h 259768"/>
                    <a:gd name="connsiteX169" fmla="*/ 140904 w 864621"/>
                    <a:gd name="connsiteY169" fmla="*/ 136489 h 259768"/>
                    <a:gd name="connsiteX170" fmla="*/ 140904 w 864621"/>
                    <a:gd name="connsiteY170" fmla="*/ 143208 h 259768"/>
                    <a:gd name="connsiteX171" fmla="*/ 126576 w 864621"/>
                    <a:gd name="connsiteY171" fmla="*/ 143208 h 259768"/>
                    <a:gd name="connsiteX172" fmla="*/ 189902 w 864621"/>
                    <a:gd name="connsiteY172" fmla="*/ 136437 h 259768"/>
                    <a:gd name="connsiteX173" fmla="*/ 204230 w 864621"/>
                    <a:gd name="connsiteY173" fmla="*/ 136437 h 259768"/>
                    <a:gd name="connsiteX174" fmla="*/ 204230 w 864621"/>
                    <a:gd name="connsiteY174" fmla="*/ 143138 h 259768"/>
                    <a:gd name="connsiteX175" fmla="*/ 189902 w 864621"/>
                    <a:gd name="connsiteY175" fmla="*/ 143138 h 259768"/>
                    <a:gd name="connsiteX176" fmla="*/ 253191 w 864621"/>
                    <a:gd name="connsiteY176" fmla="*/ 136228 h 259768"/>
                    <a:gd name="connsiteX177" fmla="*/ 267519 w 864621"/>
                    <a:gd name="connsiteY177" fmla="*/ 136228 h 259768"/>
                    <a:gd name="connsiteX178" fmla="*/ 267519 w 864621"/>
                    <a:gd name="connsiteY178" fmla="*/ 142789 h 259768"/>
                    <a:gd name="connsiteX179" fmla="*/ 253191 w 864621"/>
                    <a:gd name="connsiteY179" fmla="*/ 142789 h 259768"/>
                    <a:gd name="connsiteX180" fmla="*/ 0 w 864621"/>
                    <a:gd name="connsiteY180" fmla="*/ 134587 h 259768"/>
                    <a:gd name="connsiteX181" fmla="*/ 14328 w 864621"/>
                    <a:gd name="connsiteY181" fmla="*/ 134587 h 259768"/>
                    <a:gd name="connsiteX182" fmla="*/ 14328 w 864621"/>
                    <a:gd name="connsiteY182" fmla="*/ 138828 h 259768"/>
                    <a:gd name="connsiteX183" fmla="*/ 0 w 864621"/>
                    <a:gd name="connsiteY183" fmla="*/ 138828 h 259768"/>
                    <a:gd name="connsiteX184" fmla="*/ 63288 w 864621"/>
                    <a:gd name="connsiteY184" fmla="*/ 131551 h 259768"/>
                    <a:gd name="connsiteX185" fmla="*/ 77616 w 864621"/>
                    <a:gd name="connsiteY185" fmla="*/ 131551 h 259768"/>
                    <a:gd name="connsiteX186" fmla="*/ 77616 w 864621"/>
                    <a:gd name="connsiteY186" fmla="*/ 138392 h 259768"/>
                    <a:gd name="connsiteX187" fmla="*/ 63288 w 864621"/>
                    <a:gd name="connsiteY187" fmla="*/ 138392 h 259768"/>
                    <a:gd name="connsiteX188" fmla="*/ 379805 w 864621"/>
                    <a:gd name="connsiteY188" fmla="*/ 131411 h 259768"/>
                    <a:gd name="connsiteX189" fmla="*/ 394133 w 864621"/>
                    <a:gd name="connsiteY189" fmla="*/ 131411 h 259768"/>
                    <a:gd name="connsiteX190" fmla="*/ 394133 w 864621"/>
                    <a:gd name="connsiteY190" fmla="*/ 137938 h 259768"/>
                    <a:gd name="connsiteX191" fmla="*/ 379805 w 864621"/>
                    <a:gd name="connsiteY191" fmla="*/ 137938 h 259768"/>
                    <a:gd name="connsiteX192" fmla="*/ 856418 w 864621"/>
                    <a:gd name="connsiteY192" fmla="*/ 128985 h 259768"/>
                    <a:gd name="connsiteX193" fmla="*/ 864621 w 864621"/>
                    <a:gd name="connsiteY193" fmla="*/ 129003 h 259768"/>
                    <a:gd name="connsiteX194" fmla="*/ 864621 w 864621"/>
                    <a:gd name="connsiteY194" fmla="*/ 130748 h 259768"/>
                    <a:gd name="connsiteX195" fmla="*/ 854562 w 864621"/>
                    <a:gd name="connsiteY195" fmla="*/ 130800 h 259768"/>
                    <a:gd name="connsiteX196" fmla="*/ 854562 w 864621"/>
                    <a:gd name="connsiteY196" fmla="*/ 129038 h 259768"/>
                    <a:gd name="connsiteX197" fmla="*/ 836856 w 864621"/>
                    <a:gd name="connsiteY197" fmla="*/ 128916 h 259768"/>
                    <a:gd name="connsiteX198" fmla="*/ 846952 w 864621"/>
                    <a:gd name="connsiteY198" fmla="*/ 128950 h 259768"/>
                    <a:gd name="connsiteX199" fmla="*/ 846952 w 864621"/>
                    <a:gd name="connsiteY199" fmla="*/ 130678 h 259768"/>
                    <a:gd name="connsiteX200" fmla="*/ 845096 w 864621"/>
                    <a:gd name="connsiteY200" fmla="*/ 130835 h 259768"/>
                    <a:gd name="connsiteX201" fmla="*/ 836856 w 864621"/>
                    <a:gd name="connsiteY201" fmla="*/ 130853 h 259768"/>
                    <a:gd name="connsiteX202" fmla="*/ 819187 w 864621"/>
                    <a:gd name="connsiteY202" fmla="*/ 128846 h 259768"/>
                    <a:gd name="connsiteX203" fmla="*/ 829283 w 864621"/>
                    <a:gd name="connsiteY203" fmla="*/ 128881 h 259768"/>
                    <a:gd name="connsiteX204" fmla="*/ 829283 w 864621"/>
                    <a:gd name="connsiteY204" fmla="*/ 130888 h 259768"/>
                    <a:gd name="connsiteX205" fmla="*/ 819187 w 864621"/>
                    <a:gd name="connsiteY205" fmla="*/ 130923 h 259768"/>
                    <a:gd name="connsiteX206" fmla="*/ 801518 w 864621"/>
                    <a:gd name="connsiteY206" fmla="*/ 128793 h 259768"/>
                    <a:gd name="connsiteX207" fmla="*/ 811578 w 864621"/>
                    <a:gd name="connsiteY207" fmla="*/ 128811 h 259768"/>
                    <a:gd name="connsiteX208" fmla="*/ 811578 w 864621"/>
                    <a:gd name="connsiteY208" fmla="*/ 130957 h 259768"/>
                    <a:gd name="connsiteX209" fmla="*/ 801518 w 864621"/>
                    <a:gd name="connsiteY209" fmla="*/ 130992 h 259768"/>
                    <a:gd name="connsiteX210" fmla="*/ 783812 w 864621"/>
                    <a:gd name="connsiteY210" fmla="*/ 128724 h 259768"/>
                    <a:gd name="connsiteX211" fmla="*/ 793909 w 864621"/>
                    <a:gd name="connsiteY211" fmla="*/ 128758 h 259768"/>
                    <a:gd name="connsiteX212" fmla="*/ 793909 w 864621"/>
                    <a:gd name="connsiteY212" fmla="*/ 131027 h 259768"/>
                    <a:gd name="connsiteX213" fmla="*/ 783812 w 864621"/>
                    <a:gd name="connsiteY213" fmla="*/ 131045 h 259768"/>
                    <a:gd name="connsiteX214" fmla="*/ 766143 w 864621"/>
                    <a:gd name="connsiteY214" fmla="*/ 128654 h 259768"/>
                    <a:gd name="connsiteX215" fmla="*/ 776240 w 864621"/>
                    <a:gd name="connsiteY215" fmla="*/ 128689 h 259768"/>
                    <a:gd name="connsiteX216" fmla="*/ 776240 w 864621"/>
                    <a:gd name="connsiteY216" fmla="*/ 131080 h 259768"/>
                    <a:gd name="connsiteX217" fmla="*/ 766143 w 864621"/>
                    <a:gd name="connsiteY217" fmla="*/ 131114 h 259768"/>
                    <a:gd name="connsiteX218" fmla="*/ 748475 w 864621"/>
                    <a:gd name="connsiteY218" fmla="*/ 128601 h 259768"/>
                    <a:gd name="connsiteX219" fmla="*/ 758534 w 864621"/>
                    <a:gd name="connsiteY219" fmla="*/ 128619 h 259768"/>
                    <a:gd name="connsiteX220" fmla="*/ 758534 w 864621"/>
                    <a:gd name="connsiteY220" fmla="*/ 131149 h 259768"/>
                    <a:gd name="connsiteX221" fmla="*/ 748475 w 864621"/>
                    <a:gd name="connsiteY221" fmla="*/ 131184 h 259768"/>
                    <a:gd name="connsiteX222" fmla="*/ 730768 w 864621"/>
                    <a:gd name="connsiteY222" fmla="*/ 128532 h 259768"/>
                    <a:gd name="connsiteX223" fmla="*/ 740865 w 864621"/>
                    <a:gd name="connsiteY223" fmla="*/ 128566 h 259768"/>
                    <a:gd name="connsiteX224" fmla="*/ 740865 w 864621"/>
                    <a:gd name="connsiteY224" fmla="*/ 131219 h 259768"/>
                    <a:gd name="connsiteX225" fmla="*/ 730768 w 864621"/>
                    <a:gd name="connsiteY225" fmla="*/ 131237 h 259768"/>
                    <a:gd name="connsiteX226" fmla="*/ 713100 w 864621"/>
                    <a:gd name="connsiteY226" fmla="*/ 128462 h 259768"/>
                    <a:gd name="connsiteX227" fmla="*/ 723196 w 864621"/>
                    <a:gd name="connsiteY227" fmla="*/ 128497 h 259768"/>
                    <a:gd name="connsiteX228" fmla="*/ 723196 w 864621"/>
                    <a:gd name="connsiteY228" fmla="*/ 131271 h 259768"/>
                    <a:gd name="connsiteX229" fmla="*/ 713100 w 864621"/>
                    <a:gd name="connsiteY229" fmla="*/ 131306 h 259768"/>
                    <a:gd name="connsiteX230" fmla="*/ 695431 w 864621"/>
                    <a:gd name="connsiteY230" fmla="*/ 128409 h 259768"/>
                    <a:gd name="connsiteX231" fmla="*/ 705490 w 864621"/>
                    <a:gd name="connsiteY231" fmla="*/ 128444 h 259768"/>
                    <a:gd name="connsiteX232" fmla="*/ 705490 w 864621"/>
                    <a:gd name="connsiteY232" fmla="*/ 131341 h 259768"/>
                    <a:gd name="connsiteX233" fmla="*/ 695431 w 864621"/>
                    <a:gd name="connsiteY233" fmla="*/ 131376 h 259768"/>
                    <a:gd name="connsiteX234" fmla="*/ 677725 w 864621"/>
                    <a:gd name="connsiteY234" fmla="*/ 128340 h 259768"/>
                    <a:gd name="connsiteX235" fmla="*/ 687821 w 864621"/>
                    <a:gd name="connsiteY235" fmla="*/ 128374 h 259768"/>
                    <a:gd name="connsiteX236" fmla="*/ 687821 w 864621"/>
                    <a:gd name="connsiteY236" fmla="*/ 131411 h 259768"/>
                    <a:gd name="connsiteX237" fmla="*/ 677725 w 864621"/>
                    <a:gd name="connsiteY237" fmla="*/ 131428 h 259768"/>
                    <a:gd name="connsiteX238" fmla="*/ 660056 w 864621"/>
                    <a:gd name="connsiteY238" fmla="*/ 128287 h 259768"/>
                    <a:gd name="connsiteX239" fmla="*/ 670152 w 864621"/>
                    <a:gd name="connsiteY239" fmla="*/ 128305 h 259768"/>
                    <a:gd name="connsiteX240" fmla="*/ 670152 w 864621"/>
                    <a:gd name="connsiteY240" fmla="*/ 131463 h 259768"/>
                    <a:gd name="connsiteX241" fmla="*/ 660056 w 864621"/>
                    <a:gd name="connsiteY241" fmla="*/ 131498 h 259768"/>
                    <a:gd name="connsiteX242" fmla="*/ 642387 w 864621"/>
                    <a:gd name="connsiteY242" fmla="*/ 128217 h 259768"/>
                    <a:gd name="connsiteX243" fmla="*/ 652447 w 864621"/>
                    <a:gd name="connsiteY243" fmla="*/ 128252 h 259768"/>
                    <a:gd name="connsiteX244" fmla="*/ 652447 w 864621"/>
                    <a:gd name="connsiteY244" fmla="*/ 131533 h 259768"/>
                    <a:gd name="connsiteX245" fmla="*/ 642387 w 864621"/>
                    <a:gd name="connsiteY245" fmla="*/ 131568 h 259768"/>
                    <a:gd name="connsiteX246" fmla="*/ 624681 w 864621"/>
                    <a:gd name="connsiteY246" fmla="*/ 128147 h 259768"/>
                    <a:gd name="connsiteX247" fmla="*/ 634778 w 864621"/>
                    <a:gd name="connsiteY247" fmla="*/ 128182 h 259768"/>
                    <a:gd name="connsiteX248" fmla="*/ 634778 w 864621"/>
                    <a:gd name="connsiteY248" fmla="*/ 131603 h 259768"/>
                    <a:gd name="connsiteX249" fmla="*/ 624681 w 864621"/>
                    <a:gd name="connsiteY249" fmla="*/ 131620 h 259768"/>
                    <a:gd name="connsiteX250" fmla="*/ 607013 w 864621"/>
                    <a:gd name="connsiteY250" fmla="*/ 128095 h 259768"/>
                    <a:gd name="connsiteX251" fmla="*/ 617072 w 864621"/>
                    <a:gd name="connsiteY251" fmla="*/ 128130 h 259768"/>
                    <a:gd name="connsiteX252" fmla="*/ 617072 w 864621"/>
                    <a:gd name="connsiteY252" fmla="*/ 131673 h 259768"/>
                    <a:gd name="connsiteX253" fmla="*/ 607013 w 864621"/>
                    <a:gd name="connsiteY253" fmla="*/ 131690 h 259768"/>
                    <a:gd name="connsiteX254" fmla="*/ 589344 w 864621"/>
                    <a:gd name="connsiteY254" fmla="*/ 128025 h 259768"/>
                    <a:gd name="connsiteX255" fmla="*/ 599403 w 864621"/>
                    <a:gd name="connsiteY255" fmla="*/ 128060 h 259768"/>
                    <a:gd name="connsiteX256" fmla="*/ 599403 w 864621"/>
                    <a:gd name="connsiteY256" fmla="*/ 131725 h 259768"/>
                    <a:gd name="connsiteX257" fmla="*/ 589344 w 864621"/>
                    <a:gd name="connsiteY257" fmla="*/ 131760 h 259768"/>
                    <a:gd name="connsiteX258" fmla="*/ 571638 w 864621"/>
                    <a:gd name="connsiteY258" fmla="*/ 127956 h 259768"/>
                    <a:gd name="connsiteX259" fmla="*/ 581697 w 864621"/>
                    <a:gd name="connsiteY259" fmla="*/ 127991 h 259768"/>
                    <a:gd name="connsiteX260" fmla="*/ 581697 w 864621"/>
                    <a:gd name="connsiteY260" fmla="*/ 131778 h 259768"/>
                    <a:gd name="connsiteX261" fmla="*/ 571638 w 864621"/>
                    <a:gd name="connsiteY261" fmla="*/ 131812 h 259768"/>
                    <a:gd name="connsiteX262" fmla="*/ 553969 w 864621"/>
                    <a:gd name="connsiteY262" fmla="*/ 127903 h 259768"/>
                    <a:gd name="connsiteX263" fmla="*/ 564028 w 864621"/>
                    <a:gd name="connsiteY263" fmla="*/ 127938 h 259768"/>
                    <a:gd name="connsiteX264" fmla="*/ 564028 w 864621"/>
                    <a:gd name="connsiteY264" fmla="*/ 131865 h 259768"/>
                    <a:gd name="connsiteX265" fmla="*/ 553969 w 864621"/>
                    <a:gd name="connsiteY265" fmla="*/ 131882 h 259768"/>
                    <a:gd name="connsiteX266" fmla="*/ 536300 w 864621"/>
                    <a:gd name="connsiteY266" fmla="*/ 127833 h 259768"/>
                    <a:gd name="connsiteX267" fmla="*/ 546360 w 864621"/>
                    <a:gd name="connsiteY267" fmla="*/ 127868 h 259768"/>
                    <a:gd name="connsiteX268" fmla="*/ 546360 w 864621"/>
                    <a:gd name="connsiteY268" fmla="*/ 131917 h 259768"/>
                    <a:gd name="connsiteX269" fmla="*/ 536300 w 864621"/>
                    <a:gd name="connsiteY269" fmla="*/ 131952 h 259768"/>
                    <a:gd name="connsiteX270" fmla="*/ 518594 w 864621"/>
                    <a:gd name="connsiteY270" fmla="*/ 127764 h 259768"/>
                    <a:gd name="connsiteX271" fmla="*/ 528654 w 864621"/>
                    <a:gd name="connsiteY271" fmla="*/ 127799 h 259768"/>
                    <a:gd name="connsiteX272" fmla="*/ 528654 w 864621"/>
                    <a:gd name="connsiteY272" fmla="*/ 131987 h 259768"/>
                    <a:gd name="connsiteX273" fmla="*/ 518594 w 864621"/>
                    <a:gd name="connsiteY273" fmla="*/ 132004 h 259768"/>
                    <a:gd name="connsiteX274" fmla="*/ 500926 w 864621"/>
                    <a:gd name="connsiteY274" fmla="*/ 127711 h 259768"/>
                    <a:gd name="connsiteX275" fmla="*/ 510985 w 864621"/>
                    <a:gd name="connsiteY275" fmla="*/ 127746 h 259768"/>
                    <a:gd name="connsiteX276" fmla="*/ 510985 w 864621"/>
                    <a:gd name="connsiteY276" fmla="*/ 132057 h 259768"/>
                    <a:gd name="connsiteX277" fmla="*/ 500926 w 864621"/>
                    <a:gd name="connsiteY277" fmla="*/ 132074 h 259768"/>
                    <a:gd name="connsiteX278" fmla="*/ 483219 w 864621"/>
                    <a:gd name="connsiteY278" fmla="*/ 127624 h 259768"/>
                    <a:gd name="connsiteX279" fmla="*/ 493279 w 864621"/>
                    <a:gd name="connsiteY279" fmla="*/ 127659 h 259768"/>
                    <a:gd name="connsiteX280" fmla="*/ 493279 w 864621"/>
                    <a:gd name="connsiteY280" fmla="*/ 132092 h 259768"/>
                    <a:gd name="connsiteX281" fmla="*/ 483219 w 864621"/>
                    <a:gd name="connsiteY281" fmla="*/ 132126 h 259768"/>
                    <a:gd name="connsiteX282" fmla="*/ 465551 w 864621"/>
                    <a:gd name="connsiteY282" fmla="*/ 127572 h 259768"/>
                    <a:gd name="connsiteX283" fmla="*/ 475610 w 864621"/>
                    <a:gd name="connsiteY283" fmla="*/ 127607 h 259768"/>
                    <a:gd name="connsiteX284" fmla="*/ 475610 w 864621"/>
                    <a:gd name="connsiteY284" fmla="*/ 132161 h 259768"/>
                    <a:gd name="connsiteX285" fmla="*/ 465551 w 864621"/>
                    <a:gd name="connsiteY285" fmla="*/ 132196 h 259768"/>
                    <a:gd name="connsiteX286" fmla="*/ 0 w 864621"/>
                    <a:gd name="connsiteY286" fmla="*/ 127188 h 259768"/>
                    <a:gd name="connsiteX287" fmla="*/ 14328 w 864621"/>
                    <a:gd name="connsiteY287" fmla="*/ 127188 h 259768"/>
                    <a:gd name="connsiteX288" fmla="*/ 14328 w 864621"/>
                    <a:gd name="connsiteY288" fmla="*/ 132580 h 259768"/>
                    <a:gd name="connsiteX289" fmla="*/ 0 w 864621"/>
                    <a:gd name="connsiteY289" fmla="*/ 132580 h 259768"/>
                    <a:gd name="connsiteX290" fmla="*/ 253191 w 864621"/>
                    <a:gd name="connsiteY290" fmla="*/ 126612 h 259768"/>
                    <a:gd name="connsiteX291" fmla="*/ 267519 w 864621"/>
                    <a:gd name="connsiteY291" fmla="*/ 126612 h 259768"/>
                    <a:gd name="connsiteX292" fmla="*/ 267519 w 864621"/>
                    <a:gd name="connsiteY292" fmla="*/ 133174 h 259768"/>
                    <a:gd name="connsiteX293" fmla="*/ 253191 w 864621"/>
                    <a:gd name="connsiteY293" fmla="*/ 133174 h 259768"/>
                    <a:gd name="connsiteX294" fmla="*/ 189902 w 864621"/>
                    <a:gd name="connsiteY294" fmla="*/ 126542 h 259768"/>
                    <a:gd name="connsiteX295" fmla="*/ 204230 w 864621"/>
                    <a:gd name="connsiteY295" fmla="*/ 126542 h 259768"/>
                    <a:gd name="connsiteX296" fmla="*/ 204230 w 864621"/>
                    <a:gd name="connsiteY296" fmla="*/ 133244 h 259768"/>
                    <a:gd name="connsiteX297" fmla="*/ 189902 w 864621"/>
                    <a:gd name="connsiteY297" fmla="*/ 133244 h 259768"/>
                    <a:gd name="connsiteX298" fmla="*/ 316479 w 864621"/>
                    <a:gd name="connsiteY298" fmla="*/ 126525 h 259768"/>
                    <a:gd name="connsiteX299" fmla="*/ 330807 w 864621"/>
                    <a:gd name="connsiteY299" fmla="*/ 126525 h 259768"/>
                    <a:gd name="connsiteX300" fmla="*/ 330807 w 864621"/>
                    <a:gd name="connsiteY300" fmla="*/ 133243 h 259768"/>
                    <a:gd name="connsiteX301" fmla="*/ 316479 w 864621"/>
                    <a:gd name="connsiteY301" fmla="*/ 133243 h 259768"/>
                    <a:gd name="connsiteX302" fmla="*/ 126576 w 864621"/>
                    <a:gd name="connsiteY302" fmla="*/ 126525 h 259768"/>
                    <a:gd name="connsiteX303" fmla="*/ 140904 w 864621"/>
                    <a:gd name="connsiteY303" fmla="*/ 126525 h 259768"/>
                    <a:gd name="connsiteX304" fmla="*/ 140904 w 864621"/>
                    <a:gd name="connsiteY304" fmla="*/ 133243 h 259768"/>
                    <a:gd name="connsiteX305" fmla="*/ 126576 w 864621"/>
                    <a:gd name="connsiteY305" fmla="*/ 133243 h 259768"/>
                    <a:gd name="connsiteX306" fmla="*/ 443019 w 864621"/>
                    <a:gd name="connsiteY306" fmla="*/ 126071 h 259768"/>
                    <a:gd name="connsiteX307" fmla="*/ 457347 w 864621"/>
                    <a:gd name="connsiteY307" fmla="*/ 126071 h 259768"/>
                    <a:gd name="connsiteX308" fmla="*/ 457347 w 864621"/>
                    <a:gd name="connsiteY308" fmla="*/ 127537 h 259768"/>
                    <a:gd name="connsiteX309" fmla="*/ 458424 w 864621"/>
                    <a:gd name="connsiteY309" fmla="*/ 127537 h 259768"/>
                    <a:gd name="connsiteX310" fmla="*/ 458424 w 864621"/>
                    <a:gd name="connsiteY310" fmla="*/ 132231 h 259768"/>
                    <a:gd name="connsiteX311" fmla="*/ 457347 w 864621"/>
                    <a:gd name="connsiteY311" fmla="*/ 132231 h 259768"/>
                    <a:gd name="connsiteX312" fmla="*/ 457347 w 864621"/>
                    <a:gd name="connsiteY312" fmla="*/ 133697 h 259768"/>
                    <a:gd name="connsiteX313" fmla="*/ 443019 w 864621"/>
                    <a:gd name="connsiteY313" fmla="*/ 133697 h 259768"/>
                    <a:gd name="connsiteX314" fmla="*/ 379805 w 864621"/>
                    <a:gd name="connsiteY314" fmla="*/ 121848 h 259768"/>
                    <a:gd name="connsiteX315" fmla="*/ 394133 w 864621"/>
                    <a:gd name="connsiteY315" fmla="*/ 121848 h 259768"/>
                    <a:gd name="connsiteX316" fmla="*/ 394133 w 864621"/>
                    <a:gd name="connsiteY316" fmla="*/ 128374 h 259768"/>
                    <a:gd name="connsiteX317" fmla="*/ 379805 w 864621"/>
                    <a:gd name="connsiteY317" fmla="*/ 128374 h 259768"/>
                    <a:gd name="connsiteX318" fmla="*/ 63288 w 864621"/>
                    <a:gd name="connsiteY318" fmla="*/ 121376 h 259768"/>
                    <a:gd name="connsiteX319" fmla="*/ 77616 w 864621"/>
                    <a:gd name="connsiteY319" fmla="*/ 121376 h 259768"/>
                    <a:gd name="connsiteX320" fmla="*/ 77616 w 864621"/>
                    <a:gd name="connsiteY320" fmla="*/ 128217 h 259768"/>
                    <a:gd name="connsiteX321" fmla="*/ 63288 w 864621"/>
                    <a:gd name="connsiteY321" fmla="*/ 128217 h 259768"/>
                    <a:gd name="connsiteX322" fmla="*/ 0 w 864621"/>
                    <a:gd name="connsiteY322" fmla="*/ 120958 h 259768"/>
                    <a:gd name="connsiteX323" fmla="*/ 14328 w 864621"/>
                    <a:gd name="connsiteY323" fmla="*/ 120958 h 259768"/>
                    <a:gd name="connsiteX324" fmla="*/ 14328 w 864621"/>
                    <a:gd name="connsiteY324" fmla="*/ 125198 h 259768"/>
                    <a:gd name="connsiteX325" fmla="*/ 0 w 864621"/>
                    <a:gd name="connsiteY325" fmla="*/ 125198 h 259768"/>
                    <a:gd name="connsiteX326" fmla="*/ 443094 w 864621"/>
                    <a:gd name="connsiteY326" fmla="*/ 117432 h 259768"/>
                    <a:gd name="connsiteX327" fmla="*/ 457422 w 864621"/>
                    <a:gd name="connsiteY327" fmla="*/ 117432 h 259768"/>
                    <a:gd name="connsiteX328" fmla="*/ 457422 w 864621"/>
                    <a:gd name="connsiteY328" fmla="*/ 121673 h 259768"/>
                    <a:gd name="connsiteX329" fmla="*/ 443094 w 864621"/>
                    <a:gd name="connsiteY329" fmla="*/ 121673 h 259768"/>
                    <a:gd name="connsiteX330" fmla="*/ 253191 w 864621"/>
                    <a:gd name="connsiteY330" fmla="*/ 116978 h 259768"/>
                    <a:gd name="connsiteX331" fmla="*/ 267519 w 864621"/>
                    <a:gd name="connsiteY331" fmla="*/ 116978 h 259768"/>
                    <a:gd name="connsiteX332" fmla="*/ 267519 w 864621"/>
                    <a:gd name="connsiteY332" fmla="*/ 123540 h 259768"/>
                    <a:gd name="connsiteX333" fmla="*/ 253191 w 864621"/>
                    <a:gd name="connsiteY333" fmla="*/ 123540 h 259768"/>
                    <a:gd name="connsiteX334" fmla="*/ 189902 w 864621"/>
                    <a:gd name="connsiteY334" fmla="*/ 116630 h 259768"/>
                    <a:gd name="connsiteX335" fmla="*/ 204230 w 864621"/>
                    <a:gd name="connsiteY335" fmla="*/ 116630 h 259768"/>
                    <a:gd name="connsiteX336" fmla="*/ 204230 w 864621"/>
                    <a:gd name="connsiteY336" fmla="*/ 123331 h 259768"/>
                    <a:gd name="connsiteX337" fmla="*/ 189902 w 864621"/>
                    <a:gd name="connsiteY337" fmla="*/ 123331 h 259768"/>
                    <a:gd name="connsiteX338" fmla="*/ 316479 w 864621"/>
                    <a:gd name="connsiteY338" fmla="*/ 116577 h 259768"/>
                    <a:gd name="connsiteX339" fmla="*/ 330807 w 864621"/>
                    <a:gd name="connsiteY339" fmla="*/ 116577 h 259768"/>
                    <a:gd name="connsiteX340" fmla="*/ 330807 w 864621"/>
                    <a:gd name="connsiteY340" fmla="*/ 123296 h 259768"/>
                    <a:gd name="connsiteX341" fmla="*/ 316479 w 864621"/>
                    <a:gd name="connsiteY341" fmla="*/ 123296 h 259768"/>
                    <a:gd name="connsiteX342" fmla="*/ 126576 w 864621"/>
                    <a:gd name="connsiteY342" fmla="*/ 116577 h 259768"/>
                    <a:gd name="connsiteX343" fmla="*/ 140904 w 864621"/>
                    <a:gd name="connsiteY343" fmla="*/ 116577 h 259768"/>
                    <a:gd name="connsiteX344" fmla="*/ 140904 w 864621"/>
                    <a:gd name="connsiteY344" fmla="*/ 123296 h 259768"/>
                    <a:gd name="connsiteX345" fmla="*/ 126576 w 864621"/>
                    <a:gd name="connsiteY345" fmla="*/ 123296 h 259768"/>
                    <a:gd name="connsiteX346" fmla="*/ 379805 w 864621"/>
                    <a:gd name="connsiteY346" fmla="*/ 112284 h 259768"/>
                    <a:gd name="connsiteX347" fmla="*/ 394133 w 864621"/>
                    <a:gd name="connsiteY347" fmla="*/ 112284 h 259768"/>
                    <a:gd name="connsiteX348" fmla="*/ 394133 w 864621"/>
                    <a:gd name="connsiteY348" fmla="*/ 118811 h 259768"/>
                    <a:gd name="connsiteX349" fmla="*/ 379805 w 864621"/>
                    <a:gd name="connsiteY349" fmla="*/ 118811 h 259768"/>
                    <a:gd name="connsiteX350" fmla="*/ 63288 w 864621"/>
                    <a:gd name="connsiteY350" fmla="*/ 111202 h 259768"/>
                    <a:gd name="connsiteX351" fmla="*/ 77616 w 864621"/>
                    <a:gd name="connsiteY351" fmla="*/ 111202 h 259768"/>
                    <a:gd name="connsiteX352" fmla="*/ 77616 w 864621"/>
                    <a:gd name="connsiteY352" fmla="*/ 118043 h 259768"/>
                    <a:gd name="connsiteX353" fmla="*/ 63288 w 864621"/>
                    <a:gd name="connsiteY353" fmla="*/ 118043 h 259768"/>
                    <a:gd name="connsiteX354" fmla="*/ 253191 w 864621"/>
                    <a:gd name="connsiteY354" fmla="*/ 107363 h 259768"/>
                    <a:gd name="connsiteX355" fmla="*/ 267519 w 864621"/>
                    <a:gd name="connsiteY355" fmla="*/ 107363 h 259768"/>
                    <a:gd name="connsiteX356" fmla="*/ 267519 w 864621"/>
                    <a:gd name="connsiteY356" fmla="*/ 113925 h 259768"/>
                    <a:gd name="connsiteX357" fmla="*/ 253191 w 864621"/>
                    <a:gd name="connsiteY357" fmla="*/ 113925 h 259768"/>
                    <a:gd name="connsiteX358" fmla="*/ 189902 w 864621"/>
                    <a:gd name="connsiteY358" fmla="*/ 106717 h 259768"/>
                    <a:gd name="connsiteX359" fmla="*/ 204230 w 864621"/>
                    <a:gd name="connsiteY359" fmla="*/ 106717 h 259768"/>
                    <a:gd name="connsiteX360" fmla="*/ 204230 w 864621"/>
                    <a:gd name="connsiteY360" fmla="*/ 113419 h 259768"/>
                    <a:gd name="connsiteX361" fmla="*/ 189902 w 864621"/>
                    <a:gd name="connsiteY361" fmla="*/ 113419 h 259768"/>
                    <a:gd name="connsiteX362" fmla="*/ 316479 w 864621"/>
                    <a:gd name="connsiteY362" fmla="*/ 106630 h 259768"/>
                    <a:gd name="connsiteX363" fmla="*/ 330807 w 864621"/>
                    <a:gd name="connsiteY363" fmla="*/ 106630 h 259768"/>
                    <a:gd name="connsiteX364" fmla="*/ 330807 w 864621"/>
                    <a:gd name="connsiteY364" fmla="*/ 113349 h 259768"/>
                    <a:gd name="connsiteX365" fmla="*/ 316479 w 864621"/>
                    <a:gd name="connsiteY365" fmla="*/ 113349 h 259768"/>
                    <a:gd name="connsiteX366" fmla="*/ 126576 w 864621"/>
                    <a:gd name="connsiteY366" fmla="*/ 106630 h 259768"/>
                    <a:gd name="connsiteX367" fmla="*/ 140904 w 864621"/>
                    <a:gd name="connsiteY367" fmla="*/ 106630 h 259768"/>
                    <a:gd name="connsiteX368" fmla="*/ 140904 w 864621"/>
                    <a:gd name="connsiteY368" fmla="*/ 113349 h 259768"/>
                    <a:gd name="connsiteX369" fmla="*/ 126576 w 864621"/>
                    <a:gd name="connsiteY369" fmla="*/ 113349 h 259768"/>
                    <a:gd name="connsiteX370" fmla="*/ 379805 w 864621"/>
                    <a:gd name="connsiteY370" fmla="*/ 102721 h 259768"/>
                    <a:gd name="connsiteX371" fmla="*/ 394133 w 864621"/>
                    <a:gd name="connsiteY371" fmla="*/ 102721 h 259768"/>
                    <a:gd name="connsiteX372" fmla="*/ 394133 w 864621"/>
                    <a:gd name="connsiteY372" fmla="*/ 109247 h 259768"/>
                    <a:gd name="connsiteX373" fmla="*/ 379805 w 864621"/>
                    <a:gd name="connsiteY373" fmla="*/ 109247 h 259768"/>
                    <a:gd name="connsiteX374" fmla="*/ 63288 w 864621"/>
                    <a:gd name="connsiteY374" fmla="*/ 101028 h 259768"/>
                    <a:gd name="connsiteX375" fmla="*/ 77616 w 864621"/>
                    <a:gd name="connsiteY375" fmla="*/ 101028 h 259768"/>
                    <a:gd name="connsiteX376" fmla="*/ 77616 w 864621"/>
                    <a:gd name="connsiteY376" fmla="*/ 107869 h 259768"/>
                    <a:gd name="connsiteX377" fmla="*/ 63288 w 864621"/>
                    <a:gd name="connsiteY377" fmla="*/ 107869 h 259768"/>
                    <a:gd name="connsiteX378" fmla="*/ 253191 w 864621"/>
                    <a:gd name="connsiteY378" fmla="*/ 97747 h 259768"/>
                    <a:gd name="connsiteX379" fmla="*/ 267519 w 864621"/>
                    <a:gd name="connsiteY379" fmla="*/ 97747 h 259768"/>
                    <a:gd name="connsiteX380" fmla="*/ 267519 w 864621"/>
                    <a:gd name="connsiteY380" fmla="*/ 104309 h 259768"/>
                    <a:gd name="connsiteX381" fmla="*/ 253191 w 864621"/>
                    <a:gd name="connsiteY381" fmla="*/ 104309 h 259768"/>
                    <a:gd name="connsiteX382" fmla="*/ 189902 w 864621"/>
                    <a:gd name="connsiteY382" fmla="*/ 96822 h 259768"/>
                    <a:gd name="connsiteX383" fmla="*/ 204230 w 864621"/>
                    <a:gd name="connsiteY383" fmla="*/ 96822 h 259768"/>
                    <a:gd name="connsiteX384" fmla="*/ 204230 w 864621"/>
                    <a:gd name="connsiteY384" fmla="*/ 103523 h 259768"/>
                    <a:gd name="connsiteX385" fmla="*/ 189902 w 864621"/>
                    <a:gd name="connsiteY385" fmla="*/ 103523 h 259768"/>
                    <a:gd name="connsiteX386" fmla="*/ 316479 w 864621"/>
                    <a:gd name="connsiteY386" fmla="*/ 96665 h 259768"/>
                    <a:gd name="connsiteX387" fmla="*/ 330807 w 864621"/>
                    <a:gd name="connsiteY387" fmla="*/ 96665 h 259768"/>
                    <a:gd name="connsiteX388" fmla="*/ 330807 w 864621"/>
                    <a:gd name="connsiteY388" fmla="*/ 103384 h 259768"/>
                    <a:gd name="connsiteX389" fmla="*/ 316479 w 864621"/>
                    <a:gd name="connsiteY389" fmla="*/ 103384 h 259768"/>
                    <a:gd name="connsiteX390" fmla="*/ 126576 w 864621"/>
                    <a:gd name="connsiteY390" fmla="*/ 96665 h 259768"/>
                    <a:gd name="connsiteX391" fmla="*/ 140904 w 864621"/>
                    <a:gd name="connsiteY391" fmla="*/ 96665 h 259768"/>
                    <a:gd name="connsiteX392" fmla="*/ 140904 w 864621"/>
                    <a:gd name="connsiteY392" fmla="*/ 103384 h 259768"/>
                    <a:gd name="connsiteX393" fmla="*/ 126576 w 864621"/>
                    <a:gd name="connsiteY393" fmla="*/ 103384 h 259768"/>
                    <a:gd name="connsiteX394" fmla="*/ 379805 w 864621"/>
                    <a:gd name="connsiteY394" fmla="*/ 95251 h 259768"/>
                    <a:gd name="connsiteX395" fmla="*/ 394133 w 864621"/>
                    <a:gd name="connsiteY395" fmla="*/ 95251 h 259768"/>
                    <a:gd name="connsiteX396" fmla="*/ 394133 w 864621"/>
                    <a:gd name="connsiteY396" fmla="*/ 99492 h 259768"/>
                    <a:gd name="connsiteX397" fmla="*/ 379805 w 864621"/>
                    <a:gd name="connsiteY397" fmla="*/ 99492 h 259768"/>
                    <a:gd name="connsiteX398" fmla="*/ 63288 w 864621"/>
                    <a:gd name="connsiteY398" fmla="*/ 90853 h 259768"/>
                    <a:gd name="connsiteX399" fmla="*/ 77616 w 864621"/>
                    <a:gd name="connsiteY399" fmla="*/ 90853 h 259768"/>
                    <a:gd name="connsiteX400" fmla="*/ 77616 w 864621"/>
                    <a:gd name="connsiteY400" fmla="*/ 97694 h 259768"/>
                    <a:gd name="connsiteX401" fmla="*/ 63288 w 864621"/>
                    <a:gd name="connsiteY401" fmla="*/ 97694 h 259768"/>
                    <a:gd name="connsiteX402" fmla="*/ 253191 w 864621"/>
                    <a:gd name="connsiteY402" fmla="*/ 88131 h 259768"/>
                    <a:gd name="connsiteX403" fmla="*/ 267519 w 864621"/>
                    <a:gd name="connsiteY403" fmla="*/ 88131 h 259768"/>
                    <a:gd name="connsiteX404" fmla="*/ 267519 w 864621"/>
                    <a:gd name="connsiteY404" fmla="*/ 94693 h 259768"/>
                    <a:gd name="connsiteX405" fmla="*/ 253191 w 864621"/>
                    <a:gd name="connsiteY405" fmla="*/ 94693 h 259768"/>
                    <a:gd name="connsiteX406" fmla="*/ 189902 w 864621"/>
                    <a:gd name="connsiteY406" fmla="*/ 86909 h 259768"/>
                    <a:gd name="connsiteX407" fmla="*/ 204230 w 864621"/>
                    <a:gd name="connsiteY407" fmla="*/ 86909 h 259768"/>
                    <a:gd name="connsiteX408" fmla="*/ 204230 w 864621"/>
                    <a:gd name="connsiteY408" fmla="*/ 93611 h 259768"/>
                    <a:gd name="connsiteX409" fmla="*/ 189902 w 864621"/>
                    <a:gd name="connsiteY409" fmla="*/ 93611 h 259768"/>
                    <a:gd name="connsiteX410" fmla="*/ 316479 w 864621"/>
                    <a:gd name="connsiteY410" fmla="*/ 86717 h 259768"/>
                    <a:gd name="connsiteX411" fmla="*/ 330807 w 864621"/>
                    <a:gd name="connsiteY411" fmla="*/ 86717 h 259768"/>
                    <a:gd name="connsiteX412" fmla="*/ 330807 w 864621"/>
                    <a:gd name="connsiteY412" fmla="*/ 93436 h 259768"/>
                    <a:gd name="connsiteX413" fmla="*/ 316479 w 864621"/>
                    <a:gd name="connsiteY413" fmla="*/ 93436 h 259768"/>
                    <a:gd name="connsiteX414" fmla="*/ 126576 w 864621"/>
                    <a:gd name="connsiteY414" fmla="*/ 86717 h 259768"/>
                    <a:gd name="connsiteX415" fmla="*/ 140904 w 864621"/>
                    <a:gd name="connsiteY415" fmla="*/ 86717 h 259768"/>
                    <a:gd name="connsiteX416" fmla="*/ 140904 w 864621"/>
                    <a:gd name="connsiteY416" fmla="*/ 93436 h 259768"/>
                    <a:gd name="connsiteX417" fmla="*/ 126576 w 864621"/>
                    <a:gd name="connsiteY417" fmla="*/ 93436 h 259768"/>
                    <a:gd name="connsiteX418" fmla="*/ 63288 w 864621"/>
                    <a:gd name="connsiteY418" fmla="*/ 80679 h 259768"/>
                    <a:gd name="connsiteX419" fmla="*/ 77616 w 864621"/>
                    <a:gd name="connsiteY419" fmla="*/ 80679 h 259768"/>
                    <a:gd name="connsiteX420" fmla="*/ 77616 w 864621"/>
                    <a:gd name="connsiteY420" fmla="*/ 87520 h 259768"/>
                    <a:gd name="connsiteX421" fmla="*/ 63288 w 864621"/>
                    <a:gd name="connsiteY421" fmla="*/ 87520 h 259768"/>
                    <a:gd name="connsiteX422" fmla="*/ 253191 w 864621"/>
                    <a:gd name="connsiteY422" fmla="*/ 80644 h 259768"/>
                    <a:gd name="connsiteX423" fmla="*/ 267519 w 864621"/>
                    <a:gd name="connsiteY423" fmla="*/ 80644 h 259768"/>
                    <a:gd name="connsiteX424" fmla="*/ 267519 w 864621"/>
                    <a:gd name="connsiteY424" fmla="*/ 84885 h 259768"/>
                    <a:gd name="connsiteX425" fmla="*/ 253191 w 864621"/>
                    <a:gd name="connsiteY425" fmla="*/ 84885 h 259768"/>
                    <a:gd name="connsiteX426" fmla="*/ 189902 w 864621"/>
                    <a:gd name="connsiteY426" fmla="*/ 76997 h 259768"/>
                    <a:gd name="connsiteX427" fmla="*/ 204230 w 864621"/>
                    <a:gd name="connsiteY427" fmla="*/ 76997 h 259768"/>
                    <a:gd name="connsiteX428" fmla="*/ 204230 w 864621"/>
                    <a:gd name="connsiteY428" fmla="*/ 83698 h 259768"/>
                    <a:gd name="connsiteX429" fmla="*/ 189902 w 864621"/>
                    <a:gd name="connsiteY429" fmla="*/ 83698 h 259768"/>
                    <a:gd name="connsiteX430" fmla="*/ 316479 w 864621"/>
                    <a:gd name="connsiteY430" fmla="*/ 76770 h 259768"/>
                    <a:gd name="connsiteX431" fmla="*/ 330807 w 864621"/>
                    <a:gd name="connsiteY431" fmla="*/ 76770 h 259768"/>
                    <a:gd name="connsiteX432" fmla="*/ 330807 w 864621"/>
                    <a:gd name="connsiteY432" fmla="*/ 83489 h 259768"/>
                    <a:gd name="connsiteX433" fmla="*/ 316479 w 864621"/>
                    <a:gd name="connsiteY433" fmla="*/ 83489 h 259768"/>
                    <a:gd name="connsiteX434" fmla="*/ 126576 w 864621"/>
                    <a:gd name="connsiteY434" fmla="*/ 76770 h 259768"/>
                    <a:gd name="connsiteX435" fmla="*/ 140904 w 864621"/>
                    <a:gd name="connsiteY435" fmla="*/ 76770 h 259768"/>
                    <a:gd name="connsiteX436" fmla="*/ 140904 w 864621"/>
                    <a:gd name="connsiteY436" fmla="*/ 83489 h 259768"/>
                    <a:gd name="connsiteX437" fmla="*/ 126576 w 864621"/>
                    <a:gd name="connsiteY437" fmla="*/ 83489 h 259768"/>
                    <a:gd name="connsiteX438" fmla="*/ 63288 w 864621"/>
                    <a:gd name="connsiteY438" fmla="*/ 72878 h 259768"/>
                    <a:gd name="connsiteX439" fmla="*/ 77616 w 864621"/>
                    <a:gd name="connsiteY439" fmla="*/ 72878 h 259768"/>
                    <a:gd name="connsiteX440" fmla="*/ 77616 w 864621"/>
                    <a:gd name="connsiteY440" fmla="*/ 77119 h 259768"/>
                    <a:gd name="connsiteX441" fmla="*/ 63288 w 864621"/>
                    <a:gd name="connsiteY441" fmla="*/ 77119 h 259768"/>
                    <a:gd name="connsiteX442" fmla="*/ 189902 w 864621"/>
                    <a:gd name="connsiteY442" fmla="*/ 67102 h 259768"/>
                    <a:gd name="connsiteX443" fmla="*/ 204230 w 864621"/>
                    <a:gd name="connsiteY443" fmla="*/ 67102 h 259768"/>
                    <a:gd name="connsiteX444" fmla="*/ 204230 w 864621"/>
                    <a:gd name="connsiteY444" fmla="*/ 73803 h 259768"/>
                    <a:gd name="connsiteX445" fmla="*/ 189902 w 864621"/>
                    <a:gd name="connsiteY445" fmla="*/ 73803 h 259768"/>
                    <a:gd name="connsiteX446" fmla="*/ 316479 w 864621"/>
                    <a:gd name="connsiteY446" fmla="*/ 66805 h 259768"/>
                    <a:gd name="connsiteX447" fmla="*/ 330807 w 864621"/>
                    <a:gd name="connsiteY447" fmla="*/ 66805 h 259768"/>
                    <a:gd name="connsiteX448" fmla="*/ 330807 w 864621"/>
                    <a:gd name="connsiteY448" fmla="*/ 73524 h 259768"/>
                    <a:gd name="connsiteX449" fmla="*/ 316479 w 864621"/>
                    <a:gd name="connsiteY449" fmla="*/ 73524 h 259768"/>
                    <a:gd name="connsiteX450" fmla="*/ 126576 w 864621"/>
                    <a:gd name="connsiteY450" fmla="*/ 66805 h 259768"/>
                    <a:gd name="connsiteX451" fmla="*/ 140904 w 864621"/>
                    <a:gd name="connsiteY451" fmla="*/ 66805 h 259768"/>
                    <a:gd name="connsiteX452" fmla="*/ 140904 w 864621"/>
                    <a:gd name="connsiteY452" fmla="*/ 73524 h 259768"/>
                    <a:gd name="connsiteX453" fmla="*/ 126576 w 864621"/>
                    <a:gd name="connsiteY453" fmla="*/ 73524 h 259768"/>
                    <a:gd name="connsiteX454" fmla="*/ 189902 w 864621"/>
                    <a:gd name="connsiteY454" fmla="*/ 57189 h 259768"/>
                    <a:gd name="connsiteX455" fmla="*/ 204230 w 864621"/>
                    <a:gd name="connsiteY455" fmla="*/ 57189 h 259768"/>
                    <a:gd name="connsiteX456" fmla="*/ 204230 w 864621"/>
                    <a:gd name="connsiteY456" fmla="*/ 63891 h 259768"/>
                    <a:gd name="connsiteX457" fmla="*/ 189902 w 864621"/>
                    <a:gd name="connsiteY457" fmla="*/ 63891 h 259768"/>
                    <a:gd name="connsiteX458" fmla="*/ 316479 w 864621"/>
                    <a:gd name="connsiteY458" fmla="*/ 56858 h 259768"/>
                    <a:gd name="connsiteX459" fmla="*/ 330807 w 864621"/>
                    <a:gd name="connsiteY459" fmla="*/ 56858 h 259768"/>
                    <a:gd name="connsiteX460" fmla="*/ 330807 w 864621"/>
                    <a:gd name="connsiteY460" fmla="*/ 63577 h 259768"/>
                    <a:gd name="connsiteX461" fmla="*/ 316479 w 864621"/>
                    <a:gd name="connsiteY461" fmla="*/ 63577 h 259768"/>
                    <a:gd name="connsiteX462" fmla="*/ 126576 w 864621"/>
                    <a:gd name="connsiteY462" fmla="*/ 56858 h 259768"/>
                    <a:gd name="connsiteX463" fmla="*/ 140904 w 864621"/>
                    <a:gd name="connsiteY463" fmla="*/ 56858 h 259768"/>
                    <a:gd name="connsiteX464" fmla="*/ 140904 w 864621"/>
                    <a:gd name="connsiteY464" fmla="*/ 63577 h 259768"/>
                    <a:gd name="connsiteX465" fmla="*/ 126576 w 864621"/>
                    <a:gd name="connsiteY465" fmla="*/ 63577 h 259768"/>
                    <a:gd name="connsiteX466" fmla="*/ 189902 w 864621"/>
                    <a:gd name="connsiteY466" fmla="*/ 47277 h 259768"/>
                    <a:gd name="connsiteX467" fmla="*/ 204230 w 864621"/>
                    <a:gd name="connsiteY467" fmla="*/ 47277 h 259768"/>
                    <a:gd name="connsiteX468" fmla="*/ 204230 w 864621"/>
                    <a:gd name="connsiteY468" fmla="*/ 53978 h 259768"/>
                    <a:gd name="connsiteX469" fmla="*/ 189902 w 864621"/>
                    <a:gd name="connsiteY469" fmla="*/ 53978 h 259768"/>
                    <a:gd name="connsiteX470" fmla="*/ 316479 w 864621"/>
                    <a:gd name="connsiteY470" fmla="*/ 46910 h 259768"/>
                    <a:gd name="connsiteX471" fmla="*/ 330807 w 864621"/>
                    <a:gd name="connsiteY471" fmla="*/ 46910 h 259768"/>
                    <a:gd name="connsiteX472" fmla="*/ 330807 w 864621"/>
                    <a:gd name="connsiteY472" fmla="*/ 53629 h 259768"/>
                    <a:gd name="connsiteX473" fmla="*/ 316479 w 864621"/>
                    <a:gd name="connsiteY473" fmla="*/ 53629 h 259768"/>
                    <a:gd name="connsiteX474" fmla="*/ 126576 w 864621"/>
                    <a:gd name="connsiteY474" fmla="*/ 46910 h 259768"/>
                    <a:gd name="connsiteX475" fmla="*/ 140904 w 864621"/>
                    <a:gd name="connsiteY475" fmla="*/ 46910 h 259768"/>
                    <a:gd name="connsiteX476" fmla="*/ 140904 w 864621"/>
                    <a:gd name="connsiteY476" fmla="*/ 53629 h 259768"/>
                    <a:gd name="connsiteX477" fmla="*/ 126576 w 864621"/>
                    <a:gd name="connsiteY477" fmla="*/ 53629 h 259768"/>
                    <a:gd name="connsiteX478" fmla="*/ 316479 w 864621"/>
                    <a:gd name="connsiteY478" fmla="*/ 39232 h 259768"/>
                    <a:gd name="connsiteX479" fmla="*/ 330807 w 864621"/>
                    <a:gd name="connsiteY479" fmla="*/ 39232 h 259768"/>
                    <a:gd name="connsiteX480" fmla="*/ 330807 w 864621"/>
                    <a:gd name="connsiteY480" fmla="*/ 43472 h 259768"/>
                    <a:gd name="connsiteX481" fmla="*/ 316479 w 864621"/>
                    <a:gd name="connsiteY481" fmla="*/ 43472 h 259768"/>
                    <a:gd name="connsiteX482" fmla="*/ 126576 w 864621"/>
                    <a:gd name="connsiteY482" fmla="*/ 39232 h 259768"/>
                    <a:gd name="connsiteX483" fmla="*/ 140904 w 864621"/>
                    <a:gd name="connsiteY483" fmla="*/ 39232 h 259768"/>
                    <a:gd name="connsiteX484" fmla="*/ 140904 w 864621"/>
                    <a:gd name="connsiteY484" fmla="*/ 43472 h 259768"/>
                    <a:gd name="connsiteX485" fmla="*/ 126576 w 864621"/>
                    <a:gd name="connsiteY485" fmla="*/ 43472 h 259768"/>
                    <a:gd name="connsiteX486" fmla="*/ 189902 w 864621"/>
                    <a:gd name="connsiteY486" fmla="*/ 37364 h 259768"/>
                    <a:gd name="connsiteX487" fmla="*/ 204230 w 864621"/>
                    <a:gd name="connsiteY487" fmla="*/ 37364 h 259768"/>
                    <a:gd name="connsiteX488" fmla="*/ 204230 w 864621"/>
                    <a:gd name="connsiteY488" fmla="*/ 44066 h 259768"/>
                    <a:gd name="connsiteX489" fmla="*/ 189902 w 864621"/>
                    <a:gd name="connsiteY489" fmla="*/ 44066 h 259768"/>
                    <a:gd name="connsiteX490" fmla="*/ 189902 w 864621"/>
                    <a:gd name="connsiteY490" fmla="*/ 27469 h 259768"/>
                    <a:gd name="connsiteX491" fmla="*/ 204230 w 864621"/>
                    <a:gd name="connsiteY491" fmla="*/ 27469 h 259768"/>
                    <a:gd name="connsiteX492" fmla="*/ 204230 w 864621"/>
                    <a:gd name="connsiteY492" fmla="*/ 34171 h 259768"/>
                    <a:gd name="connsiteX493" fmla="*/ 189902 w 864621"/>
                    <a:gd name="connsiteY493" fmla="*/ 34171 h 259768"/>
                    <a:gd name="connsiteX494" fmla="*/ 189902 w 864621"/>
                    <a:gd name="connsiteY494" fmla="*/ 17557 h 259768"/>
                    <a:gd name="connsiteX495" fmla="*/ 204230 w 864621"/>
                    <a:gd name="connsiteY495" fmla="*/ 17557 h 259768"/>
                    <a:gd name="connsiteX496" fmla="*/ 204230 w 864621"/>
                    <a:gd name="connsiteY496" fmla="*/ 24258 h 259768"/>
                    <a:gd name="connsiteX497" fmla="*/ 189902 w 864621"/>
                    <a:gd name="connsiteY497" fmla="*/ 24258 h 259768"/>
                    <a:gd name="connsiteX498" fmla="*/ 189902 w 864621"/>
                    <a:gd name="connsiteY498" fmla="*/ 7644 h 259768"/>
                    <a:gd name="connsiteX499" fmla="*/ 204230 w 864621"/>
                    <a:gd name="connsiteY499" fmla="*/ 7644 h 259768"/>
                    <a:gd name="connsiteX500" fmla="*/ 204230 w 864621"/>
                    <a:gd name="connsiteY500" fmla="*/ 14346 h 259768"/>
                    <a:gd name="connsiteX501" fmla="*/ 189902 w 864621"/>
                    <a:gd name="connsiteY501" fmla="*/ 14346 h 259768"/>
                    <a:gd name="connsiteX502" fmla="*/ 189902 w 864621"/>
                    <a:gd name="connsiteY502" fmla="*/ 0 h 259768"/>
                    <a:gd name="connsiteX503" fmla="*/ 204230 w 864621"/>
                    <a:gd name="connsiteY503" fmla="*/ 0 h 259768"/>
                    <a:gd name="connsiteX504" fmla="*/ 204230 w 864621"/>
                    <a:gd name="connsiteY504" fmla="*/ 4241 h 259768"/>
                    <a:gd name="connsiteX505" fmla="*/ 189902 w 864621"/>
                    <a:gd name="connsiteY505" fmla="*/ 4241 h 25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Lst>
                  <a:rect l="l" t="t" r="r" b="b"/>
                  <a:pathLst>
                    <a:path w="864621" h="259768">
                      <a:moveTo>
                        <a:pt x="189902" y="255527"/>
                      </a:moveTo>
                      <a:lnTo>
                        <a:pt x="204230" y="255527"/>
                      </a:lnTo>
                      <a:lnTo>
                        <a:pt x="204230" y="259768"/>
                      </a:lnTo>
                      <a:lnTo>
                        <a:pt x="189902" y="259768"/>
                      </a:lnTo>
                      <a:close/>
                      <a:moveTo>
                        <a:pt x="189902" y="245422"/>
                      </a:moveTo>
                      <a:lnTo>
                        <a:pt x="204230" y="245422"/>
                      </a:lnTo>
                      <a:lnTo>
                        <a:pt x="204230" y="252124"/>
                      </a:lnTo>
                      <a:lnTo>
                        <a:pt x="189902" y="252124"/>
                      </a:lnTo>
                      <a:close/>
                      <a:moveTo>
                        <a:pt x="189902" y="235510"/>
                      </a:moveTo>
                      <a:lnTo>
                        <a:pt x="204230" y="235510"/>
                      </a:lnTo>
                      <a:lnTo>
                        <a:pt x="204230" y="242211"/>
                      </a:lnTo>
                      <a:lnTo>
                        <a:pt x="189902" y="242211"/>
                      </a:lnTo>
                      <a:close/>
                      <a:moveTo>
                        <a:pt x="189902" y="225615"/>
                      </a:moveTo>
                      <a:lnTo>
                        <a:pt x="204230" y="225615"/>
                      </a:lnTo>
                      <a:lnTo>
                        <a:pt x="204230" y="232316"/>
                      </a:lnTo>
                      <a:lnTo>
                        <a:pt x="189902" y="232316"/>
                      </a:lnTo>
                      <a:close/>
                      <a:moveTo>
                        <a:pt x="316479" y="216313"/>
                      </a:moveTo>
                      <a:lnTo>
                        <a:pt x="330807" y="216313"/>
                      </a:lnTo>
                      <a:lnTo>
                        <a:pt x="330807" y="220554"/>
                      </a:lnTo>
                      <a:lnTo>
                        <a:pt x="316479" y="220554"/>
                      </a:lnTo>
                      <a:close/>
                      <a:moveTo>
                        <a:pt x="126576" y="216313"/>
                      </a:moveTo>
                      <a:lnTo>
                        <a:pt x="140904" y="216313"/>
                      </a:lnTo>
                      <a:lnTo>
                        <a:pt x="140904" y="220554"/>
                      </a:lnTo>
                      <a:lnTo>
                        <a:pt x="126576" y="220554"/>
                      </a:lnTo>
                      <a:close/>
                      <a:moveTo>
                        <a:pt x="189902" y="215702"/>
                      </a:moveTo>
                      <a:lnTo>
                        <a:pt x="204230" y="215702"/>
                      </a:lnTo>
                      <a:lnTo>
                        <a:pt x="204230" y="222404"/>
                      </a:lnTo>
                      <a:lnTo>
                        <a:pt x="189902" y="222404"/>
                      </a:lnTo>
                      <a:close/>
                      <a:moveTo>
                        <a:pt x="316479" y="206156"/>
                      </a:moveTo>
                      <a:lnTo>
                        <a:pt x="330807" y="206156"/>
                      </a:lnTo>
                      <a:lnTo>
                        <a:pt x="330807" y="212875"/>
                      </a:lnTo>
                      <a:lnTo>
                        <a:pt x="316479" y="212875"/>
                      </a:lnTo>
                      <a:close/>
                      <a:moveTo>
                        <a:pt x="126576" y="206156"/>
                      </a:moveTo>
                      <a:lnTo>
                        <a:pt x="140904" y="206156"/>
                      </a:lnTo>
                      <a:lnTo>
                        <a:pt x="140904" y="212875"/>
                      </a:lnTo>
                      <a:lnTo>
                        <a:pt x="126576" y="212875"/>
                      </a:lnTo>
                      <a:close/>
                      <a:moveTo>
                        <a:pt x="189902" y="205790"/>
                      </a:moveTo>
                      <a:lnTo>
                        <a:pt x="204230" y="205790"/>
                      </a:lnTo>
                      <a:lnTo>
                        <a:pt x="204230" y="212491"/>
                      </a:lnTo>
                      <a:lnTo>
                        <a:pt x="189902" y="212491"/>
                      </a:lnTo>
                      <a:close/>
                      <a:moveTo>
                        <a:pt x="316479" y="196209"/>
                      </a:moveTo>
                      <a:lnTo>
                        <a:pt x="330807" y="196209"/>
                      </a:lnTo>
                      <a:lnTo>
                        <a:pt x="330807" y="202928"/>
                      </a:lnTo>
                      <a:lnTo>
                        <a:pt x="316479" y="202928"/>
                      </a:lnTo>
                      <a:close/>
                      <a:moveTo>
                        <a:pt x="126576" y="196209"/>
                      </a:moveTo>
                      <a:lnTo>
                        <a:pt x="140904" y="196209"/>
                      </a:lnTo>
                      <a:lnTo>
                        <a:pt x="140904" y="202928"/>
                      </a:lnTo>
                      <a:lnTo>
                        <a:pt x="126576" y="202928"/>
                      </a:lnTo>
                      <a:close/>
                      <a:moveTo>
                        <a:pt x="189902" y="195877"/>
                      </a:moveTo>
                      <a:lnTo>
                        <a:pt x="204230" y="195877"/>
                      </a:lnTo>
                      <a:lnTo>
                        <a:pt x="204230" y="202579"/>
                      </a:lnTo>
                      <a:lnTo>
                        <a:pt x="189902" y="202579"/>
                      </a:lnTo>
                      <a:close/>
                      <a:moveTo>
                        <a:pt x="316479" y="186244"/>
                      </a:moveTo>
                      <a:lnTo>
                        <a:pt x="330807" y="186244"/>
                      </a:lnTo>
                      <a:lnTo>
                        <a:pt x="330807" y="192963"/>
                      </a:lnTo>
                      <a:lnTo>
                        <a:pt x="316479" y="192963"/>
                      </a:lnTo>
                      <a:close/>
                      <a:moveTo>
                        <a:pt x="126576" y="186244"/>
                      </a:moveTo>
                      <a:lnTo>
                        <a:pt x="140904" y="186244"/>
                      </a:lnTo>
                      <a:lnTo>
                        <a:pt x="140904" y="192963"/>
                      </a:lnTo>
                      <a:lnTo>
                        <a:pt x="126576" y="192963"/>
                      </a:lnTo>
                      <a:close/>
                      <a:moveTo>
                        <a:pt x="189902" y="185982"/>
                      </a:moveTo>
                      <a:lnTo>
                        <a:pt x="204230" y="185982"/>
                      </a:lnTo>
                      <a:lnTo>
                        <a:pt x="204230" y="192684"/>
                      </a:lnTo>
                      <a:lnTo>
                        <a:pt x="189902" y="192684"/>
                      </a:lnTo>
                      <a:close/>
                      <a:moveTo>
                        <a:pt x="63288" y="182649"/>
                      </a:moveTo>
                      <a:lnTo>
                        <a:pt x="77616" y="182649"/>
                      </a:lnTo>
                      <a:lnTo>
                        <a:pt x="77616" y="186890"/>
                      </a:lnTo>
                      <a:lnTo>
                        <a:pt x="63288" y="186890"/>
                      </a:lnTo>
                      <a:close/>
                      <a:moveTo>
                        <a:pt x="316479" y="176297"/>
                      </a:moveTo>
                      <a:lnTo>
                        <a:pt x="330807" y="176297"/>
                      </a:lnTo>
                      <a:lnTo>
                        <a:pt x="330807" y="183015"/>
                      </a:lnTo>
                      <a:lnTo>
                        <a:pt x="316479" y="183015"/>
                      </a:lnTo>
                      <a:close/>
                      <a:moveTo>
                        <a:pt x="126576" y="176297"/>
                      </a:moveTo>
                      <a:lnTo>
                        <a:pt x="140904" y="176297"/>
                      </a:lnTo>
                      <a:lnTo>
                        <a:pt x="140904" y="183015"/>
                      </a:lnTo>
                      <a:lnTo>
                        <a:pt x="126576" y="183015"/>
                      </a:lnTo>
                      <a:close/>
                      <a:moveTo>
                        <a:pt x="189902" y="176070"/>
                      </a:moveTo>
                      <a:lnTo>
                        <a:pt x="204230" y="176070"/>
                      </a:lnTo>
                      <a:lnTo>
                        <a:pt x="204230" y="182771"/>
                      </a:lnTo>
                      <a:lnTo>
                        <a:pt x="189902" y="182771"/>
                      </a:lnTo>
                      <a:close/>
                      <a:moveTo>
                        <a:pt x="253191" y="174900"/>
                      </a:moveTo>
                      <a:lnTo>
                        <a:pt x="267519" y="174900"/>
                      </a:lnTo>
                      <a:lnTo>
                        <a:pt x="267519" y="179141"/>
                      </a:lnTo>
                      <a:lnTo>
                        <a:pt x="253191" y="179141"/>
                      </a:lnTo>
                      <a:close/>
                      <a:moveTo>
                        <a:pt x="63288" y="172248"/>
                      </a:moveTo>
                      <a:lnTo>
                        <a:pt x="77616" y="172248"/>
                      </a:lnTo>
                      <a:lnTo>
                        <a:pt x="77616" y="179089"/>
                      </a:lnTo>
                      <a:lnTo>
                        <a:pt x="63288" y="179089"/>
                      </a:lnTo>
                      <a:close/>
                      <a:moveTo>
                        <a:pt x="316479" y="166349"/>
                      </a:moveTo>
                      <a:lnTo>
                        <a:pt x="330807" y="166349"/>
                      </a:lnTo>
                      <a:lnTo>
                        <a:pt x="330807" y="173068"/>
                      </a:lnTo>
                      <a:lnTo>
                        <a:pt x="316479" y="173068"/>
                      </a:lnTo>
                      <a:close/>
                      <a:moveTo>
                        <a:pt x="126576" y="166349"/>
                      </a:moveTo>
                      <a:lnTo>
                        <a:pt x="140904" y="166349"/>
                      </a:lnTo>
                      <a:lnTo>
                        <a:pt x="140904" y="173068"/>
                      </a:lnTo>
                      <a:lnTo>
                        <a:pt x="126576" y="173068"/>
                      </a:lnTo>
                      <a:close/>
                      <a:moveTo>
                        <a:pt x="189902" y="166157"/>
                      </a:moveTo>
                      <a:lnTo>
                        <a:pt x="204230" y="166157"/>
                      </a:lnTo>
                      <a:lnTo>
                        <a:pt x="204230" y="172859"/>
                      </a:lnTo>
                      <a:lnTo>
                        <a:pt x="189902" y="172859"/>
                      </a:lnTo>
                      <a:close/>
                      <a:moveTo>
                        <a:pt x="253191" y="165075"/>
                      </a:moveTo>
                      <a:lnTo>
                        <a:pt x="267519" y="165075"/>
                      </a:lnTo>
                      <a:lnTo>
                        <a:pt x="267519" y="171637"/>
                      </a:lnTo>
                      <a:lnTo>
                        <a:pt x="253191" y="171637"/>
                      </a:lnTo>
                      <a:close/>
                      <a:moveTo>
                        <a:pt x="63288" y="162074"/>
                      </a:moveTo>
                      <a:lnTo>
                        <a:pt x="77616" y="162074"/>
                      </a:lnTo>
                      <a:lnTo>
                        <a:pt x="77616" y="168915"/>
                      </a:lnTo>
                      <a:lnTo>
                        <a:pt x="63288" y="168915"/>
                      </a:lnTo>
                      <a:close/>
                      <a:moveTo>
                        <a:pt x="379805" y="160293"/>
                      </a:moveTo>
                      <a:lnTo>
                        <a:pt x="394133" y="160293"/>
                      </a:lnTo>
                      <a:lnTo>
                        <a:pt x="394133" y="164534"/>
                      </a:lnTo>
                      <a:lnTo>
                        <a:pt x="379805" y="164534"/>
                      </a:lnTo>
                      <a:close/>
                      <a:moveTo>
                        <a:pt x="316479" y="156384"/>
                      </a:moveTo>
                      <a:lnTo>
                        <a:pt x="330807" y="156384"/>
                      </a:lnTo>
                      <a:lnTo>
                        <a:pt x="330807" y="163103"/>
                      </a:lnTo>
                      <a:lnTo>
                        <a:pt x="316479" y="163103"/>
                      </a:lnTo>
                      <a:close/>
                      <a:moveTo>
                        <a:pt x="126576" y="156384"/>
                      </a:moveTo>
                      <a:lnTo>
                        <a:pt x="140904" y="156384"/>
                      </a:lnTo>
                      <a:lnTo>
                        <a:pt x="140904" y="163103"/>
                      </a:lnTo>
                      <a:lnTo>
                        <a:pt x="126576" y="163103"/>
                      </a:lnTo>
                      <a:close/>
                      <a:moveTo>
                        <a:pt x="189902" y="156262"/>
                      </a:moveTo>
                      <a:lnTo>
                        <a:pt x="204230" y="156262"/>
                      </a:lnTo>
                      <a:lnTo>
                        <a:pt x="204230" y="162963"/>
                      </a:lnTo>
                      <a:lnTo>
                        <a:pt x="189902" y="162963"/>
                      </a:lnTo>
                      <a:close/>
                      <a:moveTo>
                        <a:pt x="253191" y="155459"/>
                      </a:moveTo>
                      <a:lnTo>
                        <a:pt x="267519" y="155459"/>
                      </a:lnTo>
                      <a:lnTo>
                        <a:pt x="267519" y="162021"/>
                      </a:lnTo>
                      <a:lnTo>
                        <a:pt x="253191" y="162021"/>
                      </a:lnTo>
                      <a:close/>
                      <a:moveTo>
                        <a:pt x="63288" y="151917"/>
                      </a:moveTo>
                      <a:lnTo>
                        <a:pt x="77616" y="151917"/>
                      </a:lnTo>
                      <a:lnTo>
                        <a:pt x="77616" y="158740"/>
                      </a:lnTo>
                      <a:lnTo>
                        <a:pt x="63288" y="158740"/>
                      </a:lnTo>
                      <a:close/>
                      <a:moveTo>
                        <a:pt x="379805" y="150538"/>
                      </a:moveTo>
                      <a:lnTo>
                        <a:pt x="394133" y="150538"/>
                      </a:lnTo>
                      <a:lnTo>
                        <a:pt x="394133" y="157065"/>
                      </a:lnTo>
                      <a:lnTo>
                        <a:pt x="379805" y="157065"/>
                      </a:lnTo>
                      <a:close/>
                      <a:moveTo>
                        <a:pt x="316479" y="146437"/>
                      </a:moveTo>
                      <a:lnTo>
                        <a:pt x="330807" y="146437"/>
                      </a:lnTo>
                      <a:lnTo>
                        <a:pt x="330807" y="153156"/>
                      </a:lnTo>
                      <a:lnTo>
                        <a:pt x="316479" y="153156"/>
                      </a:lnTo>
                      <a:close/>
                      <a:moveTo>
                        <a:pt x="126576" y="146437"/>
                      </a:moveTo>
                      <a:lnTo>
                        <a:pt x="140904" y="146437"/>
                      </a:lnTo>
                      <a:lnTo>
                        <a:pt x="140904" y="153156"/>
                      </a:lnTo>
                      <a:lnTo>
                        <a:pt x="126576" y="153156"/>
                      </a:lnTo>
                      <a:close/>
                      <a:moveTo>
                        <a:pt x="189902" y="146350"/>
                      </a:moveTo>
                      <a:lnTo>
                        <a:pt x="204230" y="146350"/>
                      </a:lnTo>
                      <a:lnTo>
                        <a:pt x="204230" y="153051"/>
                      </a:lnTo>
                      <a:lnTo>
                        <a:pt x="189902" y="153051"/>
                      </a:lnTo>
                      <a:close/>
                      <a:moveTo>
                        <a:pt x="253191" y="145844"/>
                      </a:moveTo>
                      <a:lnTo>
                        <a:pt x="267519" y="145844"/>
                      </a:lnTo>
                      <a:lnTo>
                        <a:pt x="267519" y="152405"/>
                      </a:lnTo>
                      <a:lnTo>
                        <a:pt x="253191" y="152405"/>
                      </a:lnTo>
                      <a:close/>
                      <a:moveTo>
                        <a:pt x="63288" y="141725"/>
                      </a:moveTo>
                      <a:lnTo>
                        <a:pt x="77616" y="141725"/>
                      </a:lnTo>
                      <a:lnTo>
                        <a:pt x="77616" y="148566"/>
                      </a:lnTo>
                      <a:lnTo>
                        <a:pt x="63288" y="148566"/>
                      </a:lnTo>
                      <a:close/>
                      <a:moveTo>
                        <a:pt x="379805" y="140974"/>
                      </a:moveTo>
                      <a:lnTo>
                        <a:pt x="394133" y="140974"/>
                      </a:lnTo>
                      <a:lnTo>
                        <a:pt x="394133" y="147501"/>
                      </a:lnTo>
                      <a:lnTo>
                        <a:pt x="379805" y="147501"/>
                      </a:lnTo>
                      <a:close/>
                      <a:moveTo>
                        <a:pt x="443094" y="138112"/>
                      </a:moveTo>
                      <a:lnTo>
                        <a:pt x="457422" y="138112"/>
                      </a:lnTo>
                      <a:lnTo>
                        <a:pt x="457422" y="142353"/>
                      </a:lnTo>
                      <a:lnTo>
                        <a:pt x="443094" y="142353"/>
                      </a:lnTo>
                      <a:close/>
                      <a:moveTo>
                        <a:pt x="316479" y="136489"/>
                      </a:moveTo>
                      <a:lnTo>
                        <a:pt x="330807" y="136489"/>
                      </a:lnTo>
                      <a:lnTo>
                        <a:pt x="330807" y="143208"/>
                      </a:lnTo>
                      <a:lnTo>
                        <a:pt x="316479" y="143208"/>
                      </a:lnTo>
                      <a:close/>
                      <a:moveTo>
                        <a:pt x="126576" y="136489"/>
                      </a:moveTo>
                      <a:lnTo>
                        <a:pt x="140904" y="136489"/>
                      </a:lnTo>
                      <a:lnTo>
                        <a:pt x="140904" y="143208"/>
                      </a:lnTo>
                      <a:lnTo>
                        <a:pt x="126576" y="143208"/>
                      </a:lnTo>
                      <a:close/>
                      <a:moveTo>
                        <a:pt x="189902" y="136437"/>
                      </a:moveTo>
                      <a:lnTo>
                        <a:pt x="204230" y="136437"/>
                      </a:lnTo>
                      <a:lnTo>
                        <a:pt x="204230" y="143138"/>
                      </a:lnTo>
                      <a:lnTo>
                        <a:pt x="189902" y="143138"/>
                      </a:lnTo>
                      <a:close/>
                      <a:moveTo>
                        <a:pt x="253191" y="136228"/>
                      </a:moveTo>
                      <a:lnTo>
                        <a:pt x="267519" y="136228"/>
                      </a:lnTo>
                      <a:lnTo>
                        <a:pt x="267519" y="142789"/>
                      </a:lnTo>
                      <a:lnTo>
                        <a:pt x="253191" y="142789"/>
                      </a:lnTo>
                      <a:close/>
                      <a:moveTo>
                        <a:pt x="0" y="134587"/>
                      </a:moveTo>
                      <a:lnTo>
                        <a:pt x="14328" y="134587"/>
                      </a:lnTo>
                      <a:lnTo>
                        <a:pt x="14328" y="138828"/>
                      </a:lnTo>
                      <a:lnTo>
                        <a:pt x="0" y="138828"/>
                      </a:lnTo>
                      <a:close/>
                      <a:moveTo>
                        <a:pt x="63288" y="131551"/>
                      </a:moveTo>
                      <a:lnTo>
                        <a:pt x="77616" y="131551"/>
                      </a:lnTo>
                      <a:lnTo>
                        <a:pt x="77616" y="138392"/>
                      </a:lnTo>
                      <a:lnTo>
                        <a:pt x="63288" y="138392"/>
                      </a:lnTo>
                      <a:close/>
                      <a:moveTo>
                        <a:pt x="379805" y="131411"/>
                      </a:moveTo>
                      <a:lnTo>
                        <a:pt x="394133" y="131411"/>
                      </a:lnTo>
                      <a:lnTo>
                        <a:pt x="394133" y="137938"/>
                      </a:lnTo>
                      <a:lnTo>
                        <a:pt x="379805" y="137938"/>
                      </a:lnTo>
                      <a:close/>
                      <a:moveTo>
                        <a:pt x="856418" y="128985"/>
                      </a:moveTo>
                      <a:lnTo>
                        <a:pt x="864621" y="129003"/>
                      </a:lnTo>
                      <a:lnTo>
                        <a:pt x="864621" y="130748"/>
                      </a:lnTo>
                      <a:lnTo>
                        <a:pt x="854562" y="130800"/>
                      </a:lnTo>
                      <a:lnTo>
                        <a:pt x="854562" y="129038"/>
                      </a:lnTo>
                      <a:close/>
                      <a:moveTo>
                        <a:pt x="836856" y="128916"/>
                      </a:moveTo>
                      <a:lnTo>
                        <a:pt x="846952" y="128950"/>
                      </a:lnTo>
                      <a:lnTo>
                        <a:pt x="846952" y="130678"/>
                      </a:lnTo>
                      <a:lnTo>
                        <a:pt x="845096" y="130835"/>
                      </a:lnTo>
                      <a:lnTo>
                        <a:pt x="836856" y="130853"/>
                      </a:lnTo>
                      <a:close/>
                      <a:moveTo>
                        <a:pt x="819187" y="128846"/>
                      </a:moveTo>
                      <a:lnTo>
                        <a:pt x="829283" y="128881"/>
                      </a:lnTo>
                      <a:lnTo>
                        <a:pt x="829283" y="130888"/>
                      </a:lnTo>
                      <a:lnTo>
                        <a:pt x="819187" y="130923"/>
                      </a:lnTo>
                      <a:close/>
                      <a:moveTo>
                        <a:pt x="801518" y="128793"/>
                      </a:moveTo>
                      <a:lnTo>
                        <a:pt x="811578" y="128811"/>
                      </a:lnTo>
                      <a:lnTo>
                        <a:pt x="811578" y="130957"/>
                      </a:lnTo>
                      <a:lnTo>
                        <a:pt x="801518" y="130992"/>
                      </a:lnTo>
                      <a:close/>
                      <a:moveTo>
                        <a:pt x="783812" y="128724"/>
                      </a:moveTo>
                      <a:lnTo>
                        <a:pt x="793909" y="128758"/>
                      </a:lnTo>
                      <a:lnTo>
                        <a:pt x="793909" y="131027"/>
                      </a:lnTo>
                      <a:lnTo>
                        <a:pt x="783812" y="131045"/>
                      </a:lnTo>
                      <a:close/>
                      <a:moveTo>
                        <a:pt x="766143" y="128654"/>
                      </a:moveTo>
                      <a:lnTo>
                        <a:pt x="776240" y="128689"/>
                      </a:lnTo>
                      <a:lnTo>
                        <a:pt x="776240" y="131080"/>
                      </a:lnTo>
                      <a:lnTo>
                        <a:pt x="766143" y="131114"/>
                      </a:lnTo>
                      <a:close/>
                      <a:moveTo>
                        <a:pt x="748475" y="128601"/>
                      </a:moveTo>
                      <a:lnTo>
                        <a:pt x="758534" y="128619"/>
                      </a:lnTo>
                      <a:lnTo>
                        <a:pt x="758534" y="131149"/>
                      </a:lnTo>
                      <a:lnTo>
                        <a:pt x="748475" y="131184"/>
                      </a:lnTo>
                      <a:close/>
                      <a:moveTo>
                        <a:pt x="730768" y="128532"/>
                      </a:moveTo>
                      <a:lnTo>
                        <a:pt x="740865" y="128566"/>
                      </a:lnTo>
                      <a:lnTo>
                        <a:pt x="740865" y="131219"/>
                      </a:lnTo>
                      <a:lnTo>
                        <a:pt x="730768" y="131237"/>
                      </a:lnTo>
                      <a:close/>
                      <a:moveTo>
                        <a:pt x="713100" y="128462"/>
                      </a:moveTo>
                      <a:lnTo>
                        <a:pt x="723196" y="128497"/>
                      </a:lnTo>
                      <a:lnTo>
                        <a:pt x="723196" y="131271"/>
                      </a:lnTo>
                      <a:lnTo>
                        <a:pt x="713100" y="131306"/>
                      </a:lnTo>
                      <a:close/>
                      <a:moveTo>
                        <a:pt x="695431" y="128409"/>
                      </a:moveTo>
                      <a:lnTo>
                        <a:pt x="705490" y="128444"/>
                      </a:lnTo>
                      <a:lnTo>
                        <a:pt x="705490" y="131341"/>
                      </a:lnTo>
                      <a:lnTo>
                        <a:pt x="695431" y="131376"/>
                      </a:lnTo>
                      <a:close/>
                      <a:moveTo>
                        <a:pt x="677725" y="128340"/>
                      </a:moveTo>
                      <a:lnTo>
                        <a:pt x="687821" y="128374"/>
                      </a:lnTo>
                      <a:lnTo>
                        <a:pt x="687821" y="131411"/>
                      </a:lnTo>
                      <a:lnTo>
                        <a:pt x="677725" y="131428"/>
                      </a:lnTo>
                      <a:close/>
                      <a:moveTo>
                        <a:pt x="660056" y="128287"/>
                      </a:moveTo>
                      <a:lnTo>
                        <a:pt x="670152" y="128305"/>
                      </a:lnTo>
                      <a:lnTo>
                        <a:pt x="670152" y="131463"/>
                      </a:lnTo>
                      <a:lnTo>
                        <a:pt x="660056" y="131498"/>
                      </a:lnTo>
                      <a:close/>
                      <a:moveTo>
                        <a:pt x="642387" y="128217"/>
                      </a:moveTo>
                      <a:lnTo>
                        <a:pt x="652447" y="128252"/>
                      </a:lnTo>
                      <a:lnTo>
                        <a:pt x="652447" y="131533"/>
                      </a:lnTo>
                      <a:lnTo>
                        <a:pt x="642387" y="131568"/>
                      </a:lnTo>
                      <a:close/>
                      <a:moveTo>
                        <a:pt x="624681" y="128147"/>
                      </a:moveTo>
                      <a:lnTo>
                        <a:pt x="634778" y="128182"/>
                      </a:lnTo>
                      <a:lnTo>
                        <a:pt x="634778" y="131603"/>
                      </a:lnTo>
                      <a:lnTo>
                        <a:pt x="624681" y="131620"/>
                      </a:lnTo>
                      <a:close/>
                      <a:moveTo>
                        <a:pt x="607013" y="128095"/>
                      </a:moveTo>
                      <a:lnTo>
                        <a:pt x="617072" y="128130"/>
                      </a:lnTo>
                      <a:lnTo>
                        <a:pt x="617072" y="131673"/>
                      </a:lnTo>
                      <a:lnTo>
                        <a:pt x="607013" y="131690"/>
                      </a:lnTo>
                      <a:close/>
                      <a:moveTo>
                        <a:pt x="589344" y="128025"/>
                      </a:moveTo>
                      <a:lnTo>
                        <a:pt x="599403" y="128060"/>
                      </a:lnTo>
                      <a:lnTo>
                        <a:pt x="599403" y="131725"/>
                      </a:lnTo>
                      <a:lnTo>
                        <a:pt x="589344" y="131760"/>
                      </a:lnTo>
                      <a:close/>
                      <a:moveTo>
                        <a:pt x="571638" y="127956"/>
                      </a:moveTo>
                      <a:lnTo>
                        <a:pt x="581697" y="127991"/>
                      </a:lnTo>
                      <a:lnTo>
                        <a:pt x="581697" y="131778"/>
                      </a:lnTo>
                      <a:lnTo>
                        <a:pt x="571638" y="131812"/>
                      </a:lnTo>
                      <a:close/>
                      <a:moveTo>
                        <a:pt x="553969" y="127903"/>
                      </a:moveTo>
                      <a:lnTo>
                        <a:pt x="564028" y="127938"/>
                      </a:lnTo>
                      <a:lnTo>
                        <a:pt x="564028" y="131865"/>
                      </a:lnTo>
                      <a:lnTo>
                        <a:pt x="553969" y="131882"/>
                      </a:lnTo>
                      <a:close/>
                      <a:moveTo>
                        <a:pt x="536300" y="127833"/>
                      </a:moveTo>
                      <a:lnTo>
                        <a:pt x="546360" y="127868"/>
                      </a:lnTo>
                      <a:lnTo>
                        <a:pt x="546360" y="131917"/>
                      </a:lnTo>
                      <a:lnTo>
                        <a:pt x="536300" y="131952"/>
                      </a:lnTo>
                      <a:close/>
                      <a:moveTo>
                        <a:pt x="518594" y="127764"/>
                      </a:moveTo>
                      <a:lnTo>
                        <a:pt x="528654" y="127799"/>
                      </a:lnTo>
                      <a:lnTo>
                        <a:pt x="528654" y="131987"/>
                      </a:lnTo>
                      <a:lnTo>
                        <a:pt x="518594" y="132004"/>
                      </a:lnTo>
                      <a:close/>
                      <a:moveTo>
                        <a:pt x="500926" y="127711"/>
                      </a:moveTo>
                      <a:lnTo>
                        <a:pt x="510985" y="127746"/>
                      </a:lnTo>
                      <a:lnTo>
                        <a:pt x="510985" y="132057"/>
                      </a:lnTo>
                      <a:lnTo>
                        <a:pt x="500926" y="132074"/>
                      </a:lnTo>
                      <a:close/>
                      <a:moveTo>
                        <a:pt x="483219" y="127624"/>
                      </a:moveTo>
                      <a:lnTo>
                        <a:pt x="493279" y="127659"/>
                      </a:lnTo>
                      <a:lnTo>
                        <a:pt x="493279" y="132092"/>
                      </a:lnTo>
                      <a:lnTo>
                        <a:pt x="483219" y="132126"/>
                      </a:lnTo>
                      <a:close/>
                      <a:moveTo>
                        <a:pt x="465551" y="127572"/>
                      </a:moveTo>
                      <a:lnTo>
                        <a:pt x="475610" y="127607"/>
                      </a:lnTo>
                      <a:lnTo>
                        <a:pt x="475610" y="132161"/>
                      </a:lnTo>
                      <a:lnTo>
                        <a:pt x="465551" y="132196"/>
                      </a:lnTo>
                      <a:close/>
                      <a:moveTo>
                        <a:pt x="0" y="127188"/>
                      </a:moveTo>
                      <a:lnTo>
                        <a:pt x="14328" y="127188"/>
                      </a:lnTo>
                      <a:lnTo>
                        <a:pt x="14328" y="132580"/>
                      </a:lnTo>
                      <a:lnTo>
                        <a:pt x="0" y="132580"/>
                      </a:lnTo>
                      <a:close/>
                      <a:moveTo>
                        <a:pt x="253191" y="126612"/>
                      </a:moveTo>
                      <a:lnTo>
                        <a:pt x="267519" y="126612"/>
                      </a:lnTo>
                      <a:lnTo>
                        <a:pt x="267519" y="133174"/>
                      </a:lnTo>
                      <a:lnTo>
                        <a:pt x="253191" y="133174"/>
                      </a:lnTo>
                      <a:close/>
                      <a:moveTo>
                        <a:pt x="189902" y="126542"/>
                      </a:moveTo>
                      <a:lnTo>
                        <a:pt x="204230" y="126542"/>
                      </a:lnTo>
                      <a:lnTo>
                        <a:pt x="204230" y="133244"/>
                      </a:lnTo>
                      <a:lnTo>
                        <a:pt x="189902" y="133244"/>
                      </a:lnTo>
                      <a:close/>
                      <a:moveTo>
                        <a:pt x="316479" y="126525"/>
                      </a:moveTo>
                      <a:lnTo>
                        <a:pt x="330807" y="126525"/>
                      </a:lnTo>
                      <a:lnTo>
                        <a:pt x="330807" y="133243"/>
                      </a:lnTo>
                      <a:lnTo>
                        <a:pt x="316479" y="133243"/>
                      </a:lnTo>
                      <a:close/>
                      <a:moveTo>
                        <a:pt x="126576" y="126525"/>
                      </a:moveTo>
                      <a:lnTo>
                        <a:pt x="140904" y="126525"/>
                      </a:lnTo>
                      <a:lnTo>
                        <a:pt x="140904" y="133243"/>
                      </a:lnTo>
                      <a:lnTo>
                        <a:pt x="126576" y="133243"/>
                      </a:lnTo>
                      <a:close/>
                      <a:moveTo>
                        <a:pt x="443019" y="126071"/>
                      </a:moveTo>
                      <a:lnTo>
                        <a:pt x="457347" y="126071"/>
                      </a:lnTo>
                      <a:lnTo>
                        <a:pt x="457347" y="127537"/>
                      </a:lnTo>
                      <a:lnTo>
                        <a:pt x="458424" y="127537"/>
                      </a:lnTo>
                      <a:lnTo>
                        <a:pt x="458424" y="132231"/>
                      </a:lnTo>
                      <a:lnTo>
                        <a:pt x="457347" y="132231"/>
                      </a:lnTo>
                      <a:lnTo>
                        <a:pt x="457347" y="133697"/>
                      </a:lnTo>
                      <a:lnTo>
                        <a:pt x="443019" y="133697"/>
                      </a:lnTo>
                      <a:close/>
                      <a:moveTo>
                        <a:pt x="379805" y="121848"/>
                      </a:moveTo>
                      <a:lnTo>
                        <a:pt x="394133" y="121848"/>
                      </a:lnTo>
                      <a:lnTo>
                        <a:pt x="394133" y="128374"/>
                      </a:lnTo>
                      <a:lnTo>
                        <a:pt x="379805" y="128374"/>
                      </a:lnTo>
                      <a:close/>
                      <a:moveTo>
                        <a:pt x="63288" y="121376"/>
                      </a:moveTo>
                      <a:lnTo>
                        <a:pt x="77616" y="121376"/>
                      </a:lnTo>
                      <a:lnTo>
                        <a:pt x="77616" y="128217"/>
                      </a:lnTo>
                      <a:lnTo>
                        <a:pt x="63288" y="128217"/>
                      </a:lnTo>
                      <a:close/>
                      <a:moveTo>
                        <a:pt x="0" y="120958"/>
                      </a:moveTo>
                      <a:lnTo>
                        <a:pt x="14328" y="120958"/>
                      </a:lnTo>
                      <a:lnTo>
                        <a:pt x="14328" y="125198"/>
                      </a:lnTo>
                      <a:lnTo>
                        <a:pt x="0" y="125198"/>
                      </a:lnTo>
                      <a:close/>
                      <a:moveTo>
                        <a:pt x="443094" y="117432"/>
                      </a:moveTo>
                      <a:lnTo>
                        <a:pt x="457422" y="117432"/>
                      </a:lnTo>
                      <a:lnTo>
                        <a:pt x="457422" y="121673"/>
                      </a:lnTo>
                      <a:lnTo>
                        <a:pt x="443094" y="121673"/>
                      </a:lnTo>
                      <a:close/>
                      <a:moveTo>
                        <a:pt x="253191" y="116978"/>
                      </a:moveTo>
                      <a:lnTo>
                        <a:pt x="267519" y="116978"/>
                      </a:lnTo>
                      <a:lnTo>
                        <a:pt x="267519" y="123540"/>
                      </a:lnTo>
                      <a:lnTo>
                        <a:pt x="253191" y="123540"/>
                      </a:lnTo>
                      <a:close/>
                      <a:moveTo>
                        <a:pt x="189902" y="116630"/>
                      </a:moveTo>
                      <a:lnTo>
                        <a:pt x="204230" y="116630"/>
                      </a:lnTo>
                      <a:lnTo>
                        <a:pt x="204230" y="123331"/>
                      </a:lnTo>
                      <a:lnTo>
                        <a:pt x="189902" y="123331"/>
                      </a:lnTo>
                      <a:close/>
                      <a:moveTo>
                        <a:pt x="316479" y="116577"/>
                      </a:moveTo>
                      <a:lnTo>
                        <a:pt x="330807" y="116577"/>
                      </a:lnTo>
                      <a:lnTo>
                        <a:pt x="330807" y="123296"/>
                      </a:lnTo>
                      <a:lnTo>
                        <a:pt x="316479" y="123296"/>
                      </a:lnTo>
                      <a:close/>
                      <a:moveTo>
                        <a:pt x="126576" y="116577"/>
                      </a:moveTo>
                      <a:lnTo>
                        <a:pt x="140904" y="116577"/>
                      </a:lnTo>
                      <a:lnTo>
                        <a:pt x="140904" y="123296"/>
                      </a:lnTo>
                      <a:lnTo>
                        <a:pt x="126576" y="123296"/>
                      </a:lnTo>
                      <a:close/>
                      <a:moveTo>
                        <a:pt x="379805" y="112284"/>
                      </a:moveTo>
                      <a:lnTo>
                        <a:pt x="394133" y="112284"/>
                      </a:lnTo>
                      <a:lnTo>
                        <a:pt x="394133" y="118811"/>
                      </a:lnTo>
                      <a:lnTo>
                        <a:pt x="379805" y="118811"/>
                      </a:lnTo>
                      <a:close/>
                      <a:moveTo>
                        <a:pt x="63288" y="111202"/>
                      </a:moveTo>
                      <a:lnTo>
                        <a:pt x="77616" y="111202"/>
                      </a:lnTo>
                      <a:lnTo>
                        <a:pt x="77616" y="118043"/>
                      </a:lnTo>
                      <a:lnTo>
                        <a:pt x="63288" y="118043"/>
                      </a:lnTo>
                      <a:close/>
                      <a:moveTo>
                        <a:pt x="253191" y="107363"/>
                      </a:moveTo>
                      <a:lnTo>
                        <a:pt x="267519" y="107363"/>
                      </a:lnTo>
                      <a:lnTo>
                        <a:pt x="267519" y="113925"/>
                      </a:lnTo>
                      <a:lnTo>
                        <a:pt x="253191" y="113925"/>
                      </a:lnTo>
                      <a:close/>
                      <a:moveTo>
                        <a:pt x="189902" y="106717"/>
                      </a:moveTo>
                      <a:lnTo>
                        <a:pt x="204230" y="106717"/>
                      </a:lnTo>
                      <a:lnTo>
                        <a:pt x="204230" y="113419"/>
                      </a:lnTo>
                      <a:lnTo>
                        <a:pt x="189902" y="113419"/>
                      </a:lnTo>
                      <a:close/>
                      <a:moveTo>
                        <a:pt x="316479" y="106630"/>
                      </a:moveTo>
                      <a:lnTo>
                        <a:pt x="330807" y="106630"/>
                      </a:lnTo>
                      <a:lnTo>
                        <a:pt x="330807" y="113349"/>
                      </a:lnTo>
                      <a:lnTo>
                        <a:pt x="316479" y="113349"/>
                      </a:lnTo>
                      <a:close/>
                      <a:moveTo>
                        <a:pt x="126576" y="106630"/>
                      </a:moveTo>
                      <a:lnTo>
                        <a:pt x="140904" y="106630"/>
                      </a:lnTo>
                      <a:lnTo>
                        <a:pt x="140904" y="113349"/>
                      </a:lnTo>
                      <a:lnTo>
                        <a:pt x="126576" y="113349"/>
                      </a:lnTo>
                      <a:close/>
                      <a:moveTo>
                        <a:pt x="379805" y="102721"/>
                      </a:moveTo>
                      <a:lnTo>
                        <a:pt x="394133" y="102721"/>
                      </a:lnTo>
                      <a:lnTo>
                        <a:pt x="394133" y="109247"/>
                      </a:lnTo>
                      <a:lnTo>
                        <a:pt x="379805" y="109247"/>
                      </a:lnTo>
                      <a:close/>
                      <a:moveTo>
                        <a:pt x="63288" y="101028"/>
                      </a:moveTo>
                      <a:lnTo>
                        <a:pt x="77616" y="101028"/>
                      </a:lnTo>
                      <a:lnTo>
                        <a:pt x="77616" y="107869"/>
                      </a:lnTo>
                      <a:lnTo>
                        <a:pt x="63288" y="107869"/>
                      </a:lnTo>
                      <a:close/>
                      <a:moveTo>
                        <a:pt x="253191" y="97747"/>
                      </a:moveTo>
                      <a:lnTo>
                        <a:pt x="267519" y="97747"/>
                      </a:lnTo>
                      <a:lnTo>
                        <a:pt x="267519" y="104309"/>
                      </a:lnTo>
                      <a:lnTo>
                        <a:pt x="253191" y="104309"/>
                      </a:lnTo>
                      <a:close/>
                      <a:moveTo>
                        <a:pt x="189902" y="96822"/>
                      </a:moveTo>
                      <a:lnTo>
                        <a:pt x="204230" y="96822"/>
                      </a:lnTo>
                      <a:lnTo>
                        <a:pt x="204230" y="103523"/>
                      </a:lnTo>
                      <a:lnTo>
                        <a:pt x="189902" y="103523"/>
                      </a:lnTo>
                      <a:close/>
                      <a:moveTo>
                        <a:pt x="316479" y="96665"/>
                      </a:moveTo>
                      <a:lnTo>
                        <a:pt x="330807" y="96665"/>
                      </a:lnTo>
                      <a:lnTo>
                        <a:pt x="330807" y="103384"/>
                      </a:lnTo>
                      <a:lnTo>
                        <a:pt x="316479" y="103384"/>
                      </a:lnTo>
                      <a:close/>
                      <a:moveTo>
                        <a:pt x="126576" y="96665"/>
                      </a:moveTo>
                      <a:lnTo>
                        <a:pt x="140904" y="96665"/>
                      </a:lnTo>
                      <a:lnTo>
                        <a:pt x="140904" y="103384"/>
                      </a:lnTo>
                      <a:lnTo>
                        <a:pt x="126576" y="103384"/>
                      </a:lnTo>
                      <a:close/>
                      <a:moveTo>
                        <a:pt x="379805" y="95251"/>
                      </a:moveTo>
                      <a:lnTo>
                        <a:pt x="394133" y="95251"/>
                      </a:lnTo>
                      <a:lnTo>
                        <a:pt x="394133" y="99492"/>
                      </a:lnTo>
                      <a:lnTo>
                        <a:pt x="379805" y="99492"/>
                      </a:lnTo>
                      <a:close/>
                      <a:moveTo>
                        <a:pt x="63288" y="90853"/>
                      </a:moveTo>
                      <a:lnTo>
                        <a:pt x="77616" y="90853"/>
                      </a:lnTo>
                      <a:lnTo>
                        <a:pt x="77616" y="97694"/>
                      </a:lnTo>
                      <a:lnTo>
                        <a:pt x="63288" y="97694"/>
                      </a:lnTo>
                      <a:close/>
                      <a:moveTo>
                        <a:pt x="253191" y="88131"/>
                      </a:moveTo>
                      <a:lnTo>
                        <a:pt x="267519" y="88131"/>
                      </a:lnTo>
                      <a:lnTo>
                        <a:pt x="267519" y="94693"/>
                      </a:lnTo>
                      <a:lnTo>
                        <a:pt x="253191" y="94693"/>
                      </a:lnTo>
                      <a:close/>
                      <a:moveTo>
                        <a:pt x="189902" y="86909"/>
                      </a:moveTo>
                      <a:lnTo>
                        <a:pt x="204230" y="86909"/>
                      </a:lnTo>
                      <a:lnTo>
                        <a:pt x="204230" y="93611"/>
                      </a:lnTo>
                      <a:lnTo>
                        <a:pt x="189902" y="93611"/>
                      </a:lnTo>
                      <a:close/>
                      <a:moveTo>
                        <a:pt x="316479" y="86717"/>
                      </a:moveTo>
                      <a:lnTo>
                        <a:pt x="330807" y="86717"/>
                      </a:lnTo>
                      <a:lnTo>
                        <a:pt x="330807" y="93436"/>
                      </a:lnTo>
                      <a:lnTo>
                        <a:pt x="316479" y="93436"/>
                      </a:lnTo>
                      <a:close/>
                      <a:moveTo>
                        <a:pt x="126576" y="86717"/>
                      </a:moveTo>
                      <a:lnTo>
                        <a:pt x="140904" y="86717"/>
                      </a:lnTo>
                      <a:lnTo>
                        <a:pt x="140904" y="93436"/>
                      </a:lnTo>
                      <a:lnTo>
                        <a:pt x="126576" y="93436"/>
                      </a:lnTo>
                      <a:close/>
                      <a:moveTo>
                        <a:pt x="63288" y="80679"/>
                      </a:moveTo>
                      <a:lnTo>
                        <a:pt x="77616" y="80679"/>
                      </a:lnTo>
                      <a:lnTo>
                        <a:pt x="77616" y="87520"/>
                      </a:lnTo>
                      <a:lnTo>
                        <a:pt x="63288" y="87520"/>
                      </a:lnTo>
                      <a:close/>
                      <a:moveTo>
                        <a:pt x="253191" y="80644"/>
                      </a:moveTo>
                      <a:lnTo>
                        <a:pt x="267519" y="80644"/>
                      </a:lnTo>
                      <a:lnTo>
                        <a:pt x="267519" y="84885"/>
                      </a:lnTo>
                      <a:lnTo>
                        <a:pt x="253191" y="84885"/>
                      </a:lnTo>
                      <a:close/>
                      <a:moveTo>
                        <a:pt x="189902" y="76997"/>
                      </a:moveTo>
                      <a:lnTo>
                        <a:pt x="204230" y="76997"/>
                      </a:lnTo>
                      <a:lnTo>
                        <a:pt x="204230" y="83698"/>
                      </a:lnTo>
                      <a:lnTo>
                        <a:pt x="189902" y="83698"/>
                      </a:lnTo>
                      <a:close/>
                      <a:moveTo>
                        <a:pt x="316479" y="76770"/>
                      </a:moveTo>
                      <a:lnTo>
                        <a:pt x="330807" y="76770"/>
                      </a:lnTo>
                      <a:lnTo>
                        <a:pt x="330807" y="83489"/>
                      </a:lnTo>
                      <a:lnTo>
                        <a:pt x="316479" y="83489"/>
                      </a:lnTo>
                      <a:close/>
                      <a:moveTo>
                        <a:pt x="126576" y="76770"/>
                      </a:moveTo>
                      <a:lnTo>
                        <a:pt x="140904" y="76770"/>
                      </a:lnTo>
                      <a:lnTo>
                        <a:pt x="140904" y="83489"/>
                      </a:lnTo>
                      <a:lnTo>
                        <a:pt x="126576" y="83489"/>
                      </a:lnTo>
                      <a:close/>
                      <a:moveTo>
                        <a:pt x="63288" y="72878"/>
                      </a:moveTo>
                      <a:lnTo>
                        <a:pt x="77616" y="72878"/>
                      </a:lnTo>
                      <a:lnTo>
                        <a:pt x="77616" y="77119"/>
                      </a:lnTo>
                      <a:lnTo>
                        <a:pt x="63288" y="77119"/>
                      </a:lnTo>
                      <a:close/>
                      <a:moveTo>
                        <a:pt x="189902" y="67102"/>
                      </a:moveTo>
                      <a:lnTo>
                        <a:pt x="204230" y="67102"/>
                      </a:lnTo>
                      <a:lnTo>
                        <a:pt x="204230" y="73803"/>
                      </a:lnTo>
                      <a:lnTo>
                        <a:pt x="189902" y="73803"/>
                      </a:lnTo>
                      <a:close/>
                      <a:moveTo>
                        <a:pt x="316479" y="66805"/>
                      </a:moveTo>
                      <a:lnTo>
                        <a:pt x="330807" y="66805"/>
                      </a:lnTo>
                      <a:lnTo>
                        <a:pt x="330807" y="73524"/>
                      </a:lnTo>
                      <a:lnTo>
                        <a:pt x="316479" y="73524"/>
                      </a:lnTo>
                      <a:close/>
                      <a:moveTo>
                        <a:pt x="126576" y="66805"/>
                      </a:moveTo>
                      <a:lnTo>
                        <a:pt x="140904" y="66805"/>
                      </a:lnTo>
                      <a:lnTo>
                        <a:pt x="140904" y="73524"/>
                      </a:lnTo>
                      <a:lnTo>
                        <a:pt x="126576" y="73524"/>
                      </a:lnTo>
                      <a:close/>
                      <a:moveTo>
                        <a:pt x="189902" y="57189"/>
                      </a:moveTo>
                      <a:lnTo>
                        <a:pt x="204230" y="57189"/>
                      </a:lnTo>
                      <a:lnTo>
                        <a:pt x="204230" y="63891"/>
                      </a:lnTo>
                      <a:lnTo>
                        <a:pt x="189902" y="63891"/>
                      </a:lnTo>
                      <a:close/>
                      <a:moveTo>
                        <a:pt x="316479" y="56858"/>
                      </a:moveTo>
                      <a:lnTo>
                        <a:pt x="330807" y="56858"/>
                      </a:lnTo>
                      <a:lnTo>
                        <a:pt x="330807" y="63577"/>
                      </a:lnTo>
                      <a:lnTo>
                        <a:pt x="316479" y="63577"/>
                      </a:lnTo>
                      <a:close/>
                      <a:moveTo>
                        <a:pt x="126576" y="56858"/>
                      </a:moveTo>
                      <a:lnTo>
                        <a:pt x="140904" y="56858"/>
                      </a:lnTo>
                      <a:lnTo>
                        <a:pt x="140904" y="63577"/>
                      </a:lnTo>
                      <a:lnTo>
                        <a:pt x="126576" y="63577"/>
                      </a:lnTo>
                      <a:close/>
                      <a:moveTo>
                        <a:pt x="189902" y="47277"/>
                      </a:moveTo>
                      <a:lnTo>
                        <a:pt x="204230" y="47277"/>
                      </a:lnTo>
                      <a:lnTo>
                        <a:pt x="204230" y="53978"/>
                      </a:lnTo>
                      <a:lnTo>
                        <a:pt x="189902" y="53978"/>
                      </a:lnTo>
                      <a:close/>
                      <a:moveTo>
                        <a:pt x="316479" y="46910"/>
                      </a:moveTo>
                      <a:lnTo>
                        <a:pt x="330807" y="46910"/>
                      </a:lnTo>
                      <a:lnTo>
                        <a:pt x="330807" y="53629"/>
                      </a:lnTo>
                      <a:lnTo>
                        <a:pt x="316479" y="53629"/>
                      </a:lnTo>
                      <a:close/>
                      <a:moveTo>
                        <a:pt x="126576" y="46910"/>
                      </a:moveTo>
                      <a:lnTo>
                        <a:pt x="140904" y="46910"/>
                      </a:lnTo>
                      <a:lnTo>
                        <a:pt x="140904" y="53629"/>
                      </a:lnTo>
                      <a:lnTo>
                        <a:pt x="126576" y="53629"/>
                      </a:lnTo>
                      <a:close/>
                      <a:moveTo>
                        <a:pt x="316479" y="39232"/>
                      </a:moveTo>
                      <a:lnTo>
                        <a:pt x="330807" y="39232"/>
                      </a:lnTo>
                      <a:lnTo>
                        <a:pt x="330807" y="43472"/>
                      </a:lnTo>
                      <a:lnTo>
                        <a:pt x="316479" y="43472"/>
                      </a:lnTo>
                      <a:close/>
                      <a:moveTo>
                        <a:pt x="126576" y="39232"/>
                      </a:moveTo>
                      <a:lnTo>
                        <a:pt x="140904" y="39232"/>
                      </a:lnTo>
                      <a:lnTo>
                        <a:pt x="140904" y="43472"/>
                      </a:lnTo>
                      <a:lnTo>
                        <a:pt x="126576" y="43472"/>
                      </a:lnTo>
                      <a:close/>
                      <a:moveTo>
                        <a:pt x="189902" y="37364"/>
                      </a:moveTo>
                      <a:lnTo>
                        <a:pt x="204230" y="37364"/>
                      </a:lnTo>
                      <a:lnTo>
                        <a:pt x="204230" y="44066"/>
                      </a:lnTo>
                      <a:lnTo>
                        <a:pt x="189902" y="44066"/>
                      </a:lnTo>
                      <a:close/>
                      <a:moveTo>
                        <a:pt x="189902" y="27469"/>
                      </a:moveTo>
                      <a:lnTo>
                        <a:pt x="204230" y="27469"/>
                      </a:lnTo>
                      <a:lnTo>
                        <a:pt x="204230" y="34171"/>
                      </a:lnTo>
                      <a:lnTo>
                        <a:pt x="189902" y="34171"/>
                      </a:lnTo>
                      <a:close/>
                      <a:moveTo>
                        <a:pt x="189902" y="17557"/>
                      </a:moveTo>
                      <a:lnTo>
                        <a:pt x="204230" y="17557"/>
                      </a:lnTo>
                      <a:lnTo>
                        <a:pt x="204230" y="24258"/>
                      </a:lnTo>
                      <a:lnTo>
                        <a:pt x="189902" y="24258"/>
                      </a:lnTo>
                      <a:close/>
                      <a:moveTo>
                        <a:pt x="189902" y="7644"/>
                      </a:moveTo>
                      <a:lnTo>
                        <a:pt x="204230" y="7644"/>
                      </a:lnTo>
                      <a:lnTo>
                        <a:pt x="204230" y="14346"/>
                      </a:lnTo>
                      <a:lnTo>
                        <a:pt x="189902" y="14346"/>
                      </a:lnTo>
                      <a:close/>
                      <a:moveTo>
                        <a:pt x="189902" y="0"/>
                      </a:moveTo>
                      <a:lnTo>
                        <a:pt x="204230" y="0"/>
                      </a:lnTo>
                      <a:lnTo>
                        <a:pt x="204230" y="4241"/>
                      </a:lnTo>
                      <a:lnTo>
                        <a:pt x="189902" y="4241"/>
                      </a:lnTo>
                      <a:close/>
                    </a:path>
                  </a:pathLst>
                </a:custGeom>
                <a:gradFill>
                  <a:gsLst>
                    <a:gs pos="1685">
                      <a:srgbClr val="00FFFF">
                        <a:alpha val="48000"/>
                        <a:lumMod val="50000"/>
                        <a:lumOff val="50000"/>
                      </a:srgbClr>
                    </a:gs>
                    <a:gs pos="58000">
                      <a:srgbClr val="00FFFF"/>
                    </a:gs>
                    <a:gs pos="46000">
                      <a:srgbClr val="00FFFF">
                        <a:lumMod val="60000"/>
                        <a:lumOff val="40000"/>
                      </a:srgbClr>
                    </a:gs>
                    <a:gs pos="90000">
                      <a:srgbClr val="00FFFF"/>
                    </a:gs>
                    <a:gs pos="36000">
                      <a:srgbClr val="00FFFF"/>
                    </a:gs>
                    <a:gs pos="100000">
                      <a:srgbClr val="00FFFF">
                        <a:alpha val="0"/>
                      </a:srgbClr>
                    </a:gs>
                  </a:gsLst>
                  <a:lin ang="0" scaled="0"/>
                </a:gradFill>
                <a:ln w="4225" cap="flat">
                  <a:noFill/>
                  <a:prstDash val="solid"/>
                  <a:miter/>
                </a:ln>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icrosoft YaHei" panose="020B0503020204020204" pitchFamily="34" charset="-122"/>
                  </a:endParaRPr>
                </a:p>
              </p:txBody>
            </p:sp>
            <p:pic>
              <p:nvPicPr>
                <p:cNvPr id="30" name="图片 29" descr="图片包含 电脑, 灯光, 键盘, 黑暗&#10;&#10;描述已自动生成">
                  <a:extLst>
                    <a:ext uri="{FF2B5EF4-FFF2-40B4-BE49-F238E27FC236}">
                      <a16:creationId xmlns:a16="http://schemas.microsoft.com/office/drawing/2014/main" id="{F47E5F14-8BEA-5F58-F148-646840B12E9E}"/>
                    </a:ext>
                  </a:extLst>
                </p:cNvPr>
                <p:cNvPicPr>
                  <a:picLocks noChangeAspect="1"/>
                </p:cNvPicPr>
                <p:nvPr/>
              </p:nvPicPr>
              <p:blipFill>
                <a:blip r:embed="rId5">
                  <a:duotone>
                    <a:srgbClr val="00FFFF">
                      <a:shade val="45000"/>
                      <a:satMod val="135000"/>
                    </a:srgbClr>
                    <a:prstClr val="white"/>
                  </a:duotone>
                  <a:extLst>
                    <a:ext uri="{28A0092B-C50C-407E-A947-70E740481C1C}">
                      <a14:useLocalDpi xmlns:a14="http://schemas.microsoft.com/office/drawing/2010/main" val="0"/>
                    </a:ext>
                  </a:extLst>
                </a:blip>
                <a:stretch>
                  <a:fillRect/>
                </a:stretch>
              </p:blipFill>
              <p:spPr>
                <a:xfrm rot="16200000" flipH="1">
                  <a:off x="3863938" y="845076"/>
                  <a:ext cx="815946" cy="146311"/>
                </a:xfrm>
                <a:prstGeom prst="rect">
                  <a:avLst/>
                </a:prstGeom>
              </p:spPr>
            </p:pic>
          </p:grpSp>
        </p:grpSp>
        <p:pic>
          <p:nvPicPr>
            <p:cNvPr id="16" name="图片 15">
              <a:extLst>
                <a:ext uri="{FF2B5EF4-FFF2-40B4-BE49-F238E27FC236}">
                  <a16:creationId xmlns:a16="http://schemas.microsoft.com/office/drawing/2014/main" id="{56EFB4D0-55FE-F463-1C91-3D295DFE8E45}"/>
                </a:ext>
              </a:extLst>
            </p:cNvPr>
            <p:cNvPicPr>
              <a:picLocks noChangeAspect="1"/>
            </p:cNvPicPr>
            <p:nvPr userDrawn="1"/>
          </p:nvPicPr>
          <p:blipFill>
            <a:blip r:embed="rId6"/>
            <a:stretch>
              <a:fillRect/>
            </a:stretch>
          </p:blipFill>
          <p:spPr>
            <a:xfrm>
              <a:off x="1042703" y="2261515"/>
              <a:ext cx="1182727" cy="2334970"/>
            </a:xfrm>
            <a:prstGeom prst="rect">
              <a:avLst/>
            </a:prstGeom>
          </p:spPr>
        </p:pic>
      </p:grpSp>
    </p:spTree>
    <p:extLst>
      <p:ext uri="{BB962C8B-B14F-4D97-AF65-F5344CB8AC3E}">
        <p14:creationId xmlns:p14="http://schemas.microsoft.com/office/powerpoint/2010/main" val="3592306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学情分析">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AEA86DC7-B2E5-7A5F-EA99-6083B53481F5}"/>
              </a:ext>
            </a:extLst>
          </p:cNvPr>
          <p:cNvPicPr>
            <a:picLocks noChangeAspect="1"/>
          </p:cNvPicPr>
          <p:nvPr userDrawn="1"/>
        </p:nvPicPr>
        <p:blipFill>
          <a:blip r:embed="rId3">
            <a:extLst>
              <a:ext uri="{28A0092B-C50C-407E-A947-70E740481C1C}">
                <a14:useLocalDpi xmlns:a14="http://schemas.microsoft.com/office/drawing/2010/main" val="0"/>
              </a:ext>
            </a:extLst>
          </a:blip>
          <a:srcRect l="19160" t="67305" r="21698" b="20235"/>
          <a:stretch>
            <a:fillRect/>
          </a:stretch>
        </p:blipFill>
        <p:spPr>
          <a:xfrm>
            <a:off x="0" y="0"/>
            <a:ext cx="12192000" cy="758900"/>
          </a:xfrm>
          <a:prstGeom prst="rect">
            <a:avLst/>
          </a:prstGeom>
        </p:spPr>
      </p:pic>
      <p:sp>
        <p:nvSpPr>
          <p:cNvPr id="11" name="矩形 10">
            <a:extLst>
              <a:ext uri="{FF2B5EF4-FFF2-40B4-BE49-F238E27FC236}">
                <a16:creationId xmlns:a16="http://schemas.microsoft.com/office/drawing/2014/main" id="{BD227C66-B9F3-97BE-8312-3D18ECEE8B95}"/>
              </a:ext>
            </a:extLst>
          </p:cNvPr>
          <p:cNvSpPr/>
          <p:nvPr userDrawn="1"/>
        </p:nvSpPr>
        <p:spPr>
          <a:xfrm>
            <a:off x="0" y="0"/>
            <a:ext cx="12192000" cy="758900"/>
          </a:xfrm>
          <a:prstGeom prst="rect">
            <a:avLst/>
          </a:prstGeom>
          <a:gradFill>
            <a:gsLst>
              <a:gs pos="0">
                <a:schemeClr val="accent1">
                  <a:lumMod val="75000"/>
                </a:schemeClr>
              </a:gs>
              <a:gs pos="100000">
                <a:schemeClr val="accent1">
                  <a:lumMod val="75000"/>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PA-文本框 47">
            <a:extLst>
              <a:ext uri="{FF2B5EF4-FFF2-40B4-BE49-F238E27FC236}">
                <a16:creationId xmlns:a16="http://schemas.microsoft.com/office/drawing/2014/main" id="{E1A32404-CA21-7D58-EE40-88295B128C8A}"/>
              </a:ext>
            </a:extLst>
          </p:cNvPr>
          <p:cNvSpPr txBox="1"/>
          <p:nvPr>
            <p:custDataLst>
              <p:tags r:id="rId1"/>
            </p:custDataLst>
          </p:nvPr>
        </p:nvSpPr>
        <p:spPr>
          <a:xfrm>
            <a:off x="270158" y="117840"/>
            <a:ext cx="2947550" cy="523220"/>
          </a:xfrm>
          <a:prstGeom prst="rect">
            <a:avLst/>
          </a:prstGeom>
          <a:noFill/>
        </p:spPr>
        <p:txBody>
          <a:bodyPr wrap="square" rtlCol="0" anchor="ctr">
            <a:spAutoFit/>
          </a:bodyPr>
          <a:lstStyle/>
          <a:p>
            <a:pPr lvl="0" algn="l">
              <a:lnSpc>
                <a:spcPct val="100000"/>
              </a:lnSpc>
              <a:defRPr/>
            </a:pPr>
            <a:r>
              <a:rPr lang="zh-CN" altLang="en-US" sz="2800" b="1" spc="0" dirty="0">
                <a:solidFill>
                  <a:schemeClr val="bg1"/>
                </a:solidFill>
                <a:effectLst>
                  <a:outerShdw blurRad="101600" dist="12700" dir="5400000" algn="t" rotWithShape="0">
                    <a:schemeClr val="accent3">
                      <a:alpha val="85000"/>
                    </a:schemeClr>
                  </a:outerShdw>
                </a:effectLst>
                <a:latin typeface="+mj-ea"/>
                <a:ea typeface="+mj-ea"/>
              </a:rPr>
              <a:t>学前分析</a:t>
            </a:r>
          </a:p>
        </p:txBody>
      </p:sp>
      <p:sp>
        <p:nvSpPr>
          <p:cNvPr id="56" name="矩形 55">
            <a:extLst>
              <a:ext uri="{FF2B5EF4-FFF2-40B4-BE49-F238E27FC236}">
                <a16:creationId xmlns:a16="http://schemas.microsoft.com/office/drawing/2014/main" id="{3C333C4B-9E5C-847F-E9F8-76255BDE1E3D}"/>
              </a:ext>
            </a:extLst>
          </p:cNvPr>
          <p:cNvSpPr/>
          <p:nvPr userDrawn="1"/>
        </p:nvSpPr>
        <p:spPr>
          <a:xfrm>
            <a:off x="-1" y="758900"/>
            <a:ext cx="12192001" cy="66338"/>
          </a:xfrm>
          <a:prstGeom prst="rect">
            <a:avLst/>
          </a:prstGeom>
          <a:gradFill>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20799F71-EAF4-4F94-39F2-85A8D18F25A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66917" y="165400"/>
            <a:ext cx="1368044" cy="428101"/>
          </a:xfrm>
          <a:prstGeom prst="rect">
            <a:avLst/>
          </a:prstGeom>
        </p:spPr>
      </p:pic>
      <p:sp>
        <p:nvSpPr>
          <p:cNvPr id="14" name="文本框 13">
            <a:extLst>
              <a:ext uri="{FF2B5EF4-FFF2-40B4-BE49-F238E27FC236}">
                <a16:creationId xmlns:a16="http://schemas.microsoft.com/office/drawing/2014/main" id="{F8C1CDCE-106F-C110-24E3-F53F557119BB}"/>
              </a:ext>
            </a:extLst>
          </p:cNvPr>
          <p:cNvSpPr txBox="1"/>
          <p:nvPr userDrawn="1"/>
        </p:nvSpPr>
        <p:spPr>
          <a:xfrm>
            <a:off x="11689482" y="6429445"/>
            <a:ext cx="34176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F65B630-C7FF-41C0-9923-C5E5E29EED81}" type="slidenum">
              <a:rPr kumimoji="0" lang="en-US" altLang="zh-CN" sz="1000" b="0" i="0" u="none" strike="noStrike" kern="1200" cap="none" spc="0" normalizeH="0" baseline="0" noProof="0" smtClean="0">
                <a:ln>
                  <a:noFill/>
                </a:ln>
                <a:solidFill>
                  <a:prstClr val="black"/>
                </a:solidFill>
                <a:effectLst/>
                <a:uLnTx/>
                <a:uFillTx/>
                <a:latin typeface="Arial"/>
                <a:ea typeface="微软雅黑"/>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altLang="zh-CN" sz="1000" b="0" i="0" u="none" strike="noStrike" kern="1200" cap="none" spc="0" normalizeH="0" baseline="0" noProof="0" dirty="0">
              <a:ln>
                <a:noFill/>
              </a:ln>
              <a:solidFill>
                <a:prstClr val="black"/>
              </a:solidFill>
              <a:effectLst/>
              <a:uLnTx/>
              <a:uFillTx/>
              <a:latin typeface="Arial"/>
              <a:ea typeface="微软雅黑"/>
              <a:cs typeface="+mn-cs"/>
            </a:endParaRPr>
          </a:p>
        </p:txBody>
      </p:sp>
      <p:grpSp>
        <p:nvGrpSpPr>
          <p:cNvPr id="2" name="组合 1">
            <a:extLst>
              <a:ext uri="{FF2B5EF4-FFF2-40B4-BE49-F238E27FC236}">
                <a16:creationId xmlns:a16="http://schemas.microsoft.com/office/drawing/2014/main" id="{F0A7E5C0-35C4-B0E1-9267-4218831777DE}"/>
              </a:ext>
            </a:extLst>
          </p:cNvPr>
          <p:cNvGrpSpPr/>
          <p:nvPr userDrawn="1"/>
        </p:nvGrpSpPr>
        <p:grpSpPr>
          <a:xfrm flipH="1">
            <a:off x="1398476" y="-84138"/>
            <a:ext cx="1997751" cy="843038"/>
            <a:chOff x="1506537" y="0"/>
            <a:chExt cx="1997751" cy="734418"/>
          </a:xfrm>
        </p:grpSpPr>
        <p:sp>
          <p:nvSpPr>
            <p:cNvPr id="3" name="平行四边形 2">
              <a:extLst>
                <a:ext uri="{FF2B5EF4-FFF2-40B4-BE49-F238E27FC236}">
                  <a16:creationId xmlns:a16="http://schemas.microsoft.com/office/drawing/2014/main" id="{6D0FD9C3-E0ED-41EB-30C0-095541FE714F}"/>
                </a:ext>
              </a:extLst>
            </p:cNvPr>
            <p:cNvSpPr/>
            <p:nvPr/>
          </p:nvSpPr>
          <p:spPr>
            <a:xfrm flipH="1">
              <a:off x="1506537" y="66676"/>
              <a:ext cx="1297791" cy="492324"/>
            </a:xfrm>
            <a:prstGeom prst="parallelogram">
              <a:avLst>
                <a:gd name="adj" fmla="val 110052"/>
              </a:avLst>
            </a:prstGeom>
            <a:gradFill>
              <a:gsLst>
                <a:gs pos="0">
                  <a:schemeClr val="accent1">
                    <a:lumMod val="20000"/>
                    <a:lumOff val="80000"/>
                    <a:alpha val="20000"/>
                  </a:schemeClr>
                </a:gs>
                <a:gs pos="100000">
                  <a:schemeClr val="accent1">
                    <a:lumMod val="20000"/>
                    <a:lumOff val="80000"/>
                    <a:alpha val="0"/>
                  </a:scheme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平行四边形 3">
              <a:extLst>
                <a:ext uri="{FF2B5EF4-FFF2-40B4-BE49-F238E27FC236}">
                  <a16:creationId xmlns:a16="http://schemas.microsoft.com/office/drawing/2014/main" id="{F17F1CA0-10C5-8B42-29E1-6D3121088F2A}"/>
                </a:ext>
              </a:extLst>
            </p:cNvPr>
            <p:cNvSpPr/>
            <p:nvPr/>
          </p:nvSpPr>
          <p:spPr>
            <a:xfrm flipH="1">
              <a:off x="1788578" y="66676"/>
              <a:ext cx="1028341" cy="492324"/>
            </a:xfrm>
            <a:prstGeom prst="parallelogram">
              <a:avLst>
                <a:gd name="adj" fmla="val 111457"/>
              </a:avLst>
            </a:prstGeom>
            <a:gradFill>
              <a:gsLst>
                <a:gs pos="0">
                  <a:schemeClr val="accent1">
                    <a:lumMod val="20000"/>
                    <a:lumOff val="80000"/>
                    <a:alpha val="20000"/>
                  </a:schemeClr>
                </a:gs>
                <a:gs pos="85000">
                  <a:schemeClr val="accent1">
                    <a:lumMod val="20000"/>
                    <a:lumOff val="80000"/>
                    <a:alpha val="0"/>
                  </a:schemeClr>
                </a:gs>
              </a:gsLst>
              <a:lin ang="3000000" scaled="0"/>
            </a:gradFill>
            <a:ln>
              <a:gradFill>
                <a:gsLst>
                  <a:gs pos="0">
                    <a:schemeClr val="accent3"/>
                  </a:gs>
                  <a:gs pos="60000">
                    <a:schemeClr val="accent1">
                      <a:lumMod val="20000"/>
                      <a:lumOff val="80000"/>
                      <a:alpha val="0"/>
                    </a:schemeClr>
                  </a:gs>
                </a:gsLst>
                <a:lin ang="30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2C6ACA98-DFE9-21C1-98A1-A71F3079FF85}"/>
                </a:ext>
              </a:extLst>
            </p:cNvPr>
            <p:cNvGrpSpPr/>
            <p:nvPr/>
          </p:nvGrpSpPr>
          <p:grpSpPr>
            <a:xfrm>
              <a:off x="3057205" y="665500"/>
              <a:ext cx="447083" cy="68918"/>
              <a:chOff x="5933623" y="2427611"/>
              <a:chExt cx="447083" cy="68918"/>
            </a:xfrm>
          </p:grpSpPr>
          <p:cxnSp>
            <p:nvCxnSpPr>
              <p:cNvPr id="17" name="直接连接符 16">
                <a:extLst>
                  <a:ext uri="{FF2B5EF4-FFF2-40B4-BE49-F238E27FC236}">
                    <a16:creationId xmlns:a16="http://schemas.microsoft.com/office/drawing/2014/main" id="{D79B364B-26D3-6308-1872-73F87A3913A3}"/>
                  </a:ext>
                </a:extLst>
              </p:cNvPr>
              <p:cNvCxnSpPr>
                <a:cxnSpLocks/>
              </p:cNvCxnSpPr>
              <p:nvPr/>
            </p:nvCxnSpPr>
            <p:spPr>
              <a:xfrm flipH="1" flipV="1">
                <a:off x="6311788" y="2427611"/>
                <a:ext cx="68918" cy="6891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10F743F-1123-3145-E771-6D465662B36C}"/>
                  </a:ext>
                </a:extLst>
              </p:cNvPr>
              <p:cNvCxnSpPr>
                <a:cxnSpLocks/>
              </p:cNvCxnSpPr>
              <p:nvPr/>
            </p:nvCxnSpPr>
            <p:spPr>
              <a:xfrm flipH="1">
                <a:off x="5933623" y="2427611"/>
                <a:ext cx="37816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a:extLst>
                <a:ext uri="{FF2B5EF4-FFF2-40B4-BE49-F238E27FC236}">
                  <a16:creationId xmlns:a16="http://schemas.microsoft.com/office/drawing/2014/main" id="{35A8870F-0C2C-8B58-1610-E19255671808}"/>
                </a:ext>
              </a:extLst>
            </p:cNvPr>
            <p:cNvCxnSpPr>
              <a:cxnSpLocks/>
            </p:cNvCxnSpPr>
            <p:nvPr/>
          </p:nvCxnSpPr>
          <p:spPr>
            <a:xfrm flipH="1" flipV="1">
              <a:off x="2219102" y="0"/>
              <a:ext cx="838103" cy="665500"/>
            </a:xfrm>
            <a:prstGeom prst="line">
              <a:avLst/>
            </a:prstGeom>
            <a:ln w="12700">
              <a:gradFill>
                <a:gsLst>
                  <a:gs pos="0">
                    <a:schemeClr val="accent3"/>
                  </a:gs>
                  <a:gs pos="92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9" name="组合 8">
              <a:extLst>
                <a:ext uri="{FF2B5EF4-FFF2-40B4-BE49-F238E27FC236}">
                  <a16:creationId xmlns:a16="http://schemas.microsoft.com/office/drawing/2014/main" id="{34104158-72B8-96BB-7595-74930D3C6262}"/>
                </a:ext>
              </a:extLst>
            </p:cNvPr>
            <p:cNvGrpSpPr/>
            <p:nvPr/>
          </p:nvGrpSpPr>
          <p:grpSpPr>
            <a:xfrm>
              <a:off x="2448392" y="625338"/>
              <a:ext cx="497886" cy="45719"/>
              <a:chOff x="2448392" y="625338"/>
              <a:chExt cx="497886" cy="45719"/>
            </a:xfrm>
          </p:grpSpPr>
          <p:sp>
            <p:nvSpPr>
              <p:cNvPr id="10" name="平行四边形 9">
                <a:extLst>
                  <a:ext uri="{FF2B5EF4-FFF2-40B4-BE49-F238E27FC236}">
                    <a16:creationId xmlns:a16="http://schemas.microsoft.com/office/drawing/2014/main" id="{181AD1F7-8054-2C43-F9DE-5172E9D39639}"/>
                  </a:ext>
                </a:extLst>
              </p:cNvPr>
              <p:cNvSpPr/>
              <p:nvPr/>
            </p:nvSpPr>
            <p:spPr>
              <a:xfrm flipH="1">
                <a:off x="2832188" y="625338"/>
                <a:ext cx="114090" cy="45719"/>
              </a:xfrm>
              <a:prstGeom prst="parallelogram">
                <a:avLst>
                  <a:gd name="adj" fmla="val 12914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a:extLst>
                  <a:ext uri="{FF2B5EF4-FFF2-40B4-BE49-F238E27FC236}">
                    <a16:creationId xmlns:a16="http://schemas.microsoft.com/office/drawing/2014/main" id="{5DFB5E9D-6B5E-3C64-DFBD-4F460C7B20CD}"/>
                  </a:ext>
                </a:extLst>
              </p:cNvPr>
              <p:cNvSpPr/>
              <p:nvPr/>
            </p:nvSpPr>
            <p:spPr>
              <a:xfrm flipH="1">
                <a:off x="2736239" y="625338"/>
                <a:ext cx="114090" cy="45719"/>
              </a:xfrm>
              <a:prstGeom prst="parallelogram">
                <a:avLst>
                  <a:gd name="adj" fmla="val 129145"/>
                </a:avLst>
              </a:prstGeom>
              <a:solidFill>
                <a:schemeClr val="accent3">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a:extLst>
                  <a:ext uri="{FF2B5EF4-FFF2-40B4-BE49-F238E27FC236}">
                    <a16:creationId xmlns:a16="http://schemas.microsoft.com/office/drawing/2014/main" id="{43D9296C-9390-65B4-2F54-0D115DB1D8B5}"/>
                  </a:ext>
                </a:extLst>
              </p:cNvPr>
              <p:cNvSpPr/>
              <p:nvPr/>
            </p:nvSpPr>
            <p:spPr>
              <a:xfrm flipH="1">
                <a:off x="2640290" y="625338"/>
                <a:ext cx="114090" cy="45719"/>
              </a:xfrm>
              <a:prstGeom prst="parallelogram">
                <a:avLst>
                  <a:gd name="adj" fmla="val 129145"/>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a:extLst>
                  <a:ext uri="{FF2B5EF4-FFF2-40B4-BE49-F238E27FC236}">
                    <a16:creationId xmlns:a16="http://schemas.microsoft.com/office/drawing/2014/main" id="{F0209016-EA15-0C6A-86DC-C722FE513018}"/>
                  </a:ext>
                </a:extLst>
              </p:cNvPr>
              <p:cNvSpPr/>
              <p:nvPr/>
            </p:nvSpPr>
            <p:spPr>
              <a:xfrm flipH="1">
                <a:off x="2544341" y="625338"/>
                <a:ext cx="114090" cy="45719"/>
              </a:xfrm>
              <a:prstGeom prst="parallelogram">
                <a:avLst>
                  <a:gd name="adj" fmla="val 129145"/>
                </a:avLst>
              </a:prstGeom>
              <a:solidFill>
                <a:schemeClr val="accent3">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a:extLst>
                  <a:ext uri="{FF2B5EF4-FFF2-40B4-BE49-F238E27FC236}">
                    <a16:creationId xmlns:a16="http://schemas.microsoft.com/office/drawing/2014/main" id="{750D06E0-D58C-F9E3-513C-2E0A97F818D6}"/>
                  </a:ext>
                </a:extLst>
              </p:cNvPr>
              <p:cNvSpPr/>
              <p:nvPr/>
            </p:nvSpPr>
            <p:spPr>
              <a:xfrm flipH="1">
                <a:off x="2448392" y="625338"/>
                <a:ext cx="114090" cy="45719"/>
              </a:xfrm>
              <a:prstGeom prst="parallelogram">
                <a:avLst>
                  <a:gd name="adj" fmla="val 129145"/>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4152019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导入">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AEA86DC7-B2E5-7A5F-EA99-6083B53481F5}"/>
              </a:ext>
            </a:extLst>
          </p:cNvPr>
          <p:cNvPicPr>
            <a:picLocks noChangeAspect="1"/>
          </p:cNvPicPr>
          <p:nvPr userDrawn="1"/>
        </p:nvPicPr>
        <p:blipFill>
          <a:blip r:embed="rId3">
            <a:extLst>
              <a:ext uri="{28A0092B-C50C-407E-A947-70E740481C1C}">
                <a14:useLocalDpi xmlns:a14="http://schemas.microsoft.com/office/drawing/2010/main" val="0"/>
              </a:ext>
            </a:extLst>
          </a:blip>
          <a:srcRect l="19160" t="67305" r="21698" b="20235"/>
          <a:stretch>
            <a:fillRect/>
          </a:stretch>
        </p:blipFill>
        <p:spPr>
          <a:xfrm>
            <a:off x="0" y="0"/>
            <a:ext cx="12192000" cy="758900"/>
          </a:xfrm>
          <a:prstGeom prst="rect">
            <a:avLst/>
          </a:prstGeom>
        </p:spPr>
      </p:pic>
      <p:sp>
        <p:nvSpPr>
          <p:cNvPr id="11" name="矩形 10">
            <a:extLst>
              <a:ext uri="{FF2B5EF4-FFF2-40B4-BE49-F238E27FC236}">
                <a16:creationId xmlns:a16="http://schemas.microsoft.com/office/drawing/2014/main" id="{BD227C66-B9F3-97BE-8312-3D18ECEE8B95}"/>
              </a:ext>
            </a:extLst>
          </p:cNvPr>
          <p:cNvSpPr/>
          <p:nvPr userDrawn="1"/>
        </p:nvSpPr>
        <p:spPr>
          <a:xfrm>
            <a:off x="0" y="0"/>
            <a:ext cx="12192000" cy="758900"/>
          </a:xfrm>
          <a:prstGeom prst="rect">
            <a:avLst/>
          </a:prstGeom>
          <a:gradFill>
            <a:gsLst>
              <a:gs pos="0">
                <a:schemeClr val="accent1">
                  <a:lumMod val="75000"/>
                </a:schemeClr>
              </a:gs>
              <a:gs pos="100000">
                <a:schemeClr val="accent1">
                  <a:lumMod val="75000"/>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PA-文本框 47">
            <a:extLst>
              <a:ext uri="{FF2B5EF4-FFF2-40B4-BE49-F238E27FC236}">
                <a16:creationId xmlns:a16="http://schemas.microsoft.com/office/drawing/2014/main" id="{E1A32404-CA21-7D58-EE40-88295B128C8A}"/>
              </a:ext>
            </a:extLst>
          </p:cNvPr>
          <p:cNvSpPr txBox="1"/>
          <p:nvPr>
            <p:custDataLst>
              <p:tags r:id="rId1"/>
            </p:custDataLst>
          </p:nvPr>
        </p:nvSpPr>
        <p:spPr>
          <a:xfrm>
            <a:off x="270158" y="117840"/>
            <a:ext cx="2947550" cy="523220"/>
          </a:xfrm>
          <a:prstGeom prst="rect">
            <a:avLst/>
          </a:prstGeom>
          <a:noFill/>
        </p:spPr>
        <p:txBody>
          <a:bodyPr wrap="square" rtlCol="0" anchor="ctr">
            <a:spAutoFit/>
          </a:bodyPr>
          <a:lstStyle/>
          <a:p>
            <a:pPr lvl="0" algn="l">
              <a:lnSpc>
                <a:spcPct val="100000"/>
              </a:lnSpc>
              <a:defRPr/>
            </a:pPr>
            <a:r>
              <a:rPr lang="zh-CN" altLang="en-US" sz="2800" b="1" spc="0" dirty="0">
                <a:solidFill>
                  <a:schemeClr val="bg1"/>
                </a:solidFill>
                <a:effectLst>
                  <a:outerShdw blurRad="101600" dist="12700" dir="5400000" algn="t" rotWithShape="0">
                    <a:schemeClr val="accent3">
                      <a:alpha val="85000"/>
                    </a:schemeClr>
                  </a:outerShdw>
                </a:effectLst>
                <a:latin typeface="+mj-ea"/>
                <a:ea typeface="+mj-ea"/>
              </a:rPr>
              <a:t>导  入</a:t>
            </a:r>
          </a:p>
        </p:txBody>
      </p:sp>
      <p:grpSp>
        <p:nvGrpSpPr>
          <p:cNvPr id="31" name="组合 30">
            <a:extLst>
              <a:ext uri="{FF2B5EF4-FFF2-40B4-BE49-F238E27FC236}">
                <a16:creationId xmlns:a16="http://schemas.microsoft.com/office/drawing/2014/main" id="{5D30CD5C-FCE5-0381-EDC8-6CE4AE0D05B8}"/>
              </a:ext>
            </a:extLst>
          </p:cNvPr>
          <p:cNvGrpSpPr/>
          <p:nvPr/>
        </p:nvGrpSpPr>
        <p:grpSpPr>
          <a:xfrm flipH="1">
            <a:off x="1398476" y="-84138"/>
            <a:ext cx="1997751" cy="843038"/>
            <a:chOff x="1506537" y="0"/>
            <a:chExt cx="1997751" cy="734418"/>
          </a:xfrm>
        </p:grpSpPr>
        <p:sp>
          <p:nvSpPr>
            <p:cNvPr id="32" name="平行四边形 31">
              <a:extLst>
                <a:ext uri="{FF2B5EF4-FFF2-40B4-BE49-F238E27FC236}">
                  <a16:creationId xmlns:a16="http://schemas.microsoft.com/office/drawing/2014/main" id="{9B920834-81F7-5A41-97A7-E4ADC83098F4}"/>
                </a:ext>
              </a:extLst>
            </p:cNvPr>
            <p:cNvSpPr/>
            <p:nvPr/>
          </p:nvSpPr>
          <p:spPr>
            <a:xfrm flipH="1">
              <a:off x="1506537" y="66676"/>
              <a:ext cx="1297791" cy="492324"/>
            </a:xfrm>
            <a:prstGeom prst="parallelogram">
              <a:avLst>
                <a:gd name="adj" fmla="val 110052"/>
              </a:avLst>
            </a:prstGeom>
            <a:gradFill>
              <a:gsLst>
                <a:gs pos="0">
                  <a:schemeClr val="accent1">
                    <a:lumMod val="20000"/>
                    <a:lumOff val="80000"/>
                    <a:alpha val="20000"/>
                  </a:schemeClr>
                </a:gs>
                <a:gs pos="100000">
                  <a:schemeClr val="accent1">
                    <a:lumMod val="20000"/>
                    <a:lumOff val="80000"/>
                    <a:alpha val="0"/>
                  </a:scheme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平行四边形 32">
              <a:extLst>
                <a:ext uri="{FF2B5EF4-FFF2-40B4-BE49-F238E27FC236}">
                  <a16:creationId xmlns:a16="http://schemas.microsoft.com/office/drawing/2014/main" id="{FFDF1BA6-55E1-EFA4-6160-926E3C4FC25B}"/>
                </a:ext>
              </a:extLst>
            </p:cNvPr>
            <p:cNvSpPr/>
            <p:nvPr/>
          </p:nvSpPr>
          <p:spPr>
            <a:xfrm flipH="1">
              <a:off x="1788578" y="66676"/>
              <a:ext cx="1028341" cy="492324"/>
            </a:xfrm>
            <a:prstGeom prst="parallelogram">
              <a:avLst>
                <a:gd name="adj" fmla="val 111457"/>
              </a:avLst>
            </a:prstGeom>
            <a:gradFill>
              <a:gsLst>
                <a:gs pos="0">
                  <a:schemeClr val="accent1">
                    <a:lumMod val="20000"/>
                    <a:lumOff val="80000"/>
                    <a:alpha val="20000"/>
                  </a:schemeClr>
                </a:gs>
                <a:gs pos="85000">
                  <a:schemeClr val="accent1">
                    <a:lumMod val="20000"/>
                    <a:lumOff val="80000"/>
                    <a:alpha val="0"/>
                  </a:schemeClr>
                </a:gs>
              </a:gsLst>
              <a:lin ang="3000000" scaled="0"/>
            </a:gradFill>
            <a:ln>
              <a:gradFill>
                <a:gsLst>
                  <a:gs pos="0">
                    <a:schemeClr val="accent3"/>
                  </a:gs>
                  <a:gs pos="60000">
                    <a:schemeClr val="accent1">
                      <a:lumMod val="20000"/>
                      <a:lumOff val="80000"/>
                      <a:alpha val="0"/>
                    </a:schemeClr>
                  </a:gs>
                </a:gsLst>
                <a:lin ang="30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a:extLst>
                <a:ext uri="{FF2B5EF4-FFF2-40B4-BE49-F238E27FC236}">
                  <a16:creationId xmlns:a16="http://schemas.microsoft.com/office/drawing/2014/main" id="{78E5F810-FEB1-E2B4-0C89-F38E32B090AB}"/>
                </a:ext>
              </a:extLst>
            </p:cNvPr>
            <p:cNvGrpSpPr/>
            <p:nvPr/>
          </p:nvGrpSpPr>
          <p:grpSpPr>
            <a:xfrm>
              <a:off x="3057205" y="665500"/>
              <a:ext cx="447083" cy="68918"/>
              <a:chOff x="5933623" y="2427611"/>
              <a:chExt cx="447083" cy="68918"/>
            </a:xfrm>
          </p:grpSpPr>
          <p:cxnSp>
            <p:nvCxnSpPr>
              <p:cNvPr id="42" name="直接连接符 41">
                <a:extLst>
                  <a:ext uri="{FF2B5EF4-FFF2-40B4-BE49-F238E27FC236}">
                    <a16:creationId xmlns:a16="http://schemas.microsoft.com/office/drawing/2014/main" id="{31AB49C6-7C59-4B40-1FBE-4806790EE221}"/>
                  </a:ext>
                </a:extLst>
              </p:cNvPr>
              <p:cNvCxnSpPr>
                <a:cxnSpLocks/>
              </p:cNvCxnSpPr>
              <p:nvPr/>
            </p:nvCxnSpPr>
            <p:spPr>
              <a:xfrm flipH="1" flipV="1">
                <a:off x="6311788" y="2427611"/>
                <a:ext cx="68918" cy="6891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651DAC6D-BA1B-5718-0537-92BF55D98DC9}"/>
                  </a:ext>
                </a:extLst>
              </p:cNvPr>
              <p:cNvCxnSpPr>
                <a:cxnSpLocks/>
              </p:cNvCxnSpPr>
              <p:nvPr/>
            </p:nvCxnSpPr>
            <p:spPr>
              <a:xfrm flipH="1">
                <a:off x="5933623" y="2427611"/>
                <a:ext cx="37816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35" name="直接连接符 34">
              <a:extLst>
                <a:ext uri="{FF2B5EF4-FFF2-40B4-BE49-F238E27FC236}">
                  <a16:creationId xmlns:a16="http://schemas.microsoft.com/office/drawing/2014/main" id="{E0B56329-0082-3A55-F6F7-A75448940976}"/>
                </a:ext>
              </a:extLst>
            </p:cNvPr>
            <p:cNvCxnSpPr>
              <a:cxnSpLocks/>
            </p:cNvCxnSpPr>
            <p:nvPr/>
          </p:nvCxnSpPr>
          <p:spPr>
            <a:xfrm flipH="1" flipV="1">
              <a:off x="2219102" y="0"/>
              <a:ext cx="838103" cy="665500"/>
            </a:xfrm>
            <a:prstGeom prst="line">
              <a:avLst/>
            </a:prstGeom>
            <a:ln w="12700">
              <a:gradFill>
                <a:gsLst>
                  <a:gs pos="0">
                    <a:schemeClr val="accent3"/>
                  </a:gs>
                  <a:gs pos="92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id="{954D6511-5F84-8474-53C5-B25C40FE7EB1}"/>
                </a:ext>
              </a:extLst>
            </p:cNvPr>
            <p:cNvGrpSpPr/>
            <p:nvPr/>
          </p:nvGrpSpPr>
          <p:grpSpPr>
            <a:xfrm>
              <a:off x="2448392" y="625338"/>
              <a:ext cx="497886" cy="45719"/>
              <a:chOff x="2448392" y="625338"/>
              <a:chExt cx="497886" cy="45719"/>
            </a:xfrm>
          </p:grpSpPr>
          <p:sp>
            <p:nvSpPr>
              <p:cNvPr id="37" name="平行四边形 36">
                <a:extLst>
                  <a:ext uri="{FF2B5EF4-FFF2-40B4-BE49-F238E27FC236}">
                    <a16:creationId xmlns:a16="http://schemas.microsoft.com/office/drawing/2014/main" id="{A3E41E5E-9E9F-C199-7FD0-1DC5B1D8875E}"/>
                  </a:ext>
                </a:extLst>
              </p:cNvPr>
              <p:cNvSpPr/>
              <p:nvPr/>
            </p:nvSpPr>
            <p:spPr>
              <a:xfrm flipH="1">
                <a:off x="2832188" y="625338"/>
                <a:ext cx="114090" cy="45719"/>
              </a:xfrm>
              <a:prstGeom prst="parallelogram">
                <a:avLst>
                  <a:gd name="adj" fmla="val 12914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平行四边形 37">
                <a:extLst>
                  <a:ext uri="{FF2B5EF4-FFF2-40B4-BE49-F238E27FC236}">
                    <a16:creationId xmlns:a16="http://schemas.microsoft.com/office/drawing/2014/main" id="{897478AE-0460-D0C5-214C-B98866FB2EAC}"/>
                  </a:ext>
                </a:extLst>
              </p:cNvPr>
              <p:cNvSpPr/>
              <p:nvPr/>
            </p:nvSpPr>
            <p:spPr>
              <a:xfrm flipH="1">
                <a:off x="2736239" y="625338"/>
                <a:ext cx="114090" cy="45719"/>
              </a:xfrm>
              <a:prstGeom prst="parallelogram">
                <a:avLst>
                  <a:gd name="adj" fmla="val 129145"/>
                </a:avLst>
              </a:prstGeom>
              <a:solidFill>
                <a:schemeClr val="accent3">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平行四边形 38">
                <a:extLst>
                  <a:ext uri="{FF2B5EF4-FFF2-40B4-BE49-F238E27FC236}">
                    <a16:creationId xmlns:a16="http://schemas.microsoft.com/office/drawing/2014/main" id="{880566C5-2986-7C6E-DE29-B5317D4EF17C}"/>
                  </a:ext>
                </a:extLst>
              </p:cNvPr>
              <p:cNvSpPr/>
              <p:nvPr/>
            </p:nvSpPr>
            <p:spPr>
              <a:xfrm flipH="1">
                <a:off x="2640290" y="625338"/>
                <a:ext cx="114090" cy="45719"/>
              </a:xfrm>
              <a:prstGeom prst="parallelogram">
                <a:avLst>
                  <a:gd name="adj" fmla="val 129145"/>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平行四边形 39">
                <a:extLst>
                  <a:ext uri="{FF2B5EF4-FFF2-40B4-BE49-F238E27FC236}">
                    <a16:creationId xmlns:a16="http://schemas.microsoft.com/office/drawing/2014/main" id="{5A7E12C3-705B-FD24-AD7F-DC077FFCC71C}"/>
                  </a:ext>
                </a:extLst>
              </p:cNvPr>
              <p:cNvSpPr/>
              <p:nvPr/>
            </p:nvSpPr>
            <p:spPr>
              <a:xfrm flipH="1">
                <a:off x="2544341" y="625338"/>
                <a:ext cx="114090" cy="45719"/>
              </a:xfrm>
              <a:prstGeom prst="parallelogram">
                <a:avLst>
                  <a:gd name="adj" fmla="val 129145"/>
                </a:avLst>
              </a:prstGeom>
              <a:solidFill>
                <a:schemeClr val="accent3">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平行四边形 40">
                <a:extLst>
                  <a:ext uri="{FF2B5EF4-FFF2-40B4-BE49-F238E27FC236}">
                    <a16:creationId xmlns:a16="http://schemas.microsoft.com/office/drawing/2014/main" id="{DFAC1E53-D463-446A-26F8-45E01937E1AB}"/>
                  </a:ext>
                </a:extLst>
              </p:cNvPr>
              <p:cNvSpPr/>
              <p:nvPr/>
            </p:nvSpPr>
            <p:spPr>
              <a:xfrm flipH="1">
                <a:off x="2448392" y="625338"/>
                <a:ext cx="114090" cy="45719"/>
              </a:xfrm>
              <a:prstGeom prst="parallelogram">
                <a:avLst>
                  <a:gd name="adj" fmla="val 129145"/>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6" name="矩形 55">
            <a:extLst>
              <a:ext uri="{FF2B5EF4-FFF2-40B4-BE49-F238E27FC236}">
                <a16:creationId xmlns:a16="http://schemas.microsoft.com/office/drawing/2014/main" id="{3C333C4B-9E5C-847F-E9F8-76255BDE1E3D}"/>
              </a:ext>
            </a:extLst>
          </p:cNvPr>
          <p:cNvSpPr/>
          <p:nvPr userDrawn="1"/>
        </p:nvSpPr>
        <p:spPr>
          <a:xfrm>
            <a:off x="-1" y="758900"/>
            <a:ext cx="12192001" cy="66338"/>
          </a:xfrm>
          <a:prstGeom prst="rect">
            <a:avLst/>
          </a:prstGeom>
          <a:gradFill>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20799F71-EAF4-4F94-39F2-85A8D18F25A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66917" y="165400"/>
            <a:ext cx="1368044" cy="428101"/>
          </a:xfrm>
          <a:prstGeom prst="rect">
            <a:avLst/>
          </a:prstGeom>
        </p:spPr>
      </p:pic>
      <p:sp>
        <p:nvSpPr>
          <p:cNvPr id="2" name="文本框 1">
            <a:extLst>
              <a:ext uri="{FF2B5EF4-FFF2-40B4-BE49-F238E27FC236}">
                <a16:creationId xmlns:a16="http://schemas.microsoft.com/office/drawing/2014/main" id="{F61AC28A-A6D5-B83D-B439-CB756A4BF341}"/>
              </a:ext>
            </a:extLst>
          </p:cNvPr>
          <p:cNvSpPr txBox="1"/>
          <p:nvPr userDrawn="1"/>
        </p:nvSpPr>
        <p:spPr>
          <a:xfrm>
            <a:off x="11689482" y="6429445"/>
            <a:ext cx="34176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F65B630-C7FF-41C0-9923-C5E5E29EED81}" type="slidenum">
              <a:rPr kumimoji="0" lang="en-US" altLang="zh-CN" sz="1000" b="0" i="0" u="none" strike="noStrike" kern="1200" cap="none" spc="0" normalizeH="0" baseline="0" noProof="0" smtClean="0">
                <a:ln>
                  <a:noFill/>
                </a:ln>
                <a:solidFill>
                  <a:prstClr val="black"/>
                </a:solidFill>
                <a:effectLst/>
                <a:uLnTx/>
                <a:uFillTx/>
                <a:latin typeface="Arial"/>
                <a:ea typeface="微软雅黑"/>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altLang="zh-CN" sz="1000" b="0" i="0" u="none" strike="noStrike" kern="1200" cap="none" spc="0" normalizeH="0" baseline="0" noProof="0" dirty="0">
              <a:ln>
                <a:noFill/>
              </a:ln>
              <a:solidFill>
                <a:prstClr val="black"/>
              </a:solidFill>
              <a:effectLst/>
              <a:uLnTx/>
              <a:uFillTx/>
              <a:latin typeface="Arial"/>
              <a:ea typeface="微软雅黑"/>
              <a:cs typeface="+mn-cs"/>
            </a:endParaRPr>
          </a:p>
        </p:txBody>
      </p:sp>
    </p:spTree>
    <p:extLst>
      <p:ext uri="{BB962C8B-B14F-4D97-AF65-F5344CB8AC3E}">
        <p14:creationId xmlns:p14="http://schemas.microsoft.com/office/powerpoint/2010/main" val="3898613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AEA86DC7-B2E5-7A5F-EA99-6083B53481F5}"/>
              </a:ext>
            </a:extLst>
          </p:cNvPr>
          <p:cNvPicPr>
            <a:picLocks noChangeAspect="1"/>
          </p:cNvPicPr>
          <p:nvPr userDrawn="1"/>
        </p:nvPicPr>
        <p:blipFill>
          <a:blip r:embed="rId3">
            <a:extLst>
              <a:ext uri="{28A0092B-C50C-407E-A947-70E740481C1C}">
                <a14:useLocalDpi xmlns:a14="http://schemas.microsoft.com/office/drawing/2010/main" val="0"/>
              </a:ext>
            </a:extLst>
          </a:blip>
          <a:srcRect l="19160" t="67305" r="21698" b="20235"/>
          <a:stretch>
            <a:fillRect/>
          </a:stretch>
        </p:blipFill>
        <p:spPr>
          <a:xfrm>
            <a:off x="0" y="0"/>
            <a:ext cx="12192000" cy="758900"/>
          </a:xfrm>
          <a:prstGeom prst="rect">
            <a:avLst/>
          </a:prstGeom>
        </p:spPr>
      </p:pic>
      <p:sp>
        <p:nvSpPr>
          <p:cNvPr id="11" name="矩形 10">
            <a:extLst>
              <a:ext uri="{FF2B5EF4-FFF2-40B4-BE49-F238E27FC236}">
                <a16:creationId xmlns:a16="http://schemas.microsoft.com/office/drawing/2014/main" id="{BD227C66-B9F3-97BE-8312-3D18ECEE8B95}"/>
              </a:ext>
            </a:extLst>
          </p:cNvPr>
          <p:cNvSpPr/>
          <p:nvPr userDrawn="1"/>
        </p:nvSpPr>
        <p:spPr>
          <a:xfrm>
            <a:off x="0" y="0"/>
            <a:ext cx="12192000" cy="758900"/>
          </a:xfrm>
          <a:prstGeom prst="rect">
            <a:avLst/>
          </a:prstGeom>
          <a:gradFill>
            <a:gsLst>
              <a:gs pos="0">
                <a:schemeClr val="accent1">
                  <a:lumMod val="75000"/>
                </a:schemeClr>
              </a:gs>
              <a:gs pos="100000">
                <a:schemeClr val="accent1">
                  <a:lumMod val="75000"/>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3C333C4B-9E5C-847F-E9F8-76255BDE1E3D}"/>
              </a:ext>
            </a:extLst>
          </p:cNvPr>
          <p:cNvSpPr/>
          <p:nvPr userDrawn="1"/>
        </p:nvSpPr>
        <p:spPr>
          <a:xfrm>
            <a:off x="-1" y="758900"/>
            <a:ext cx="12192001" cy="66338"/>
          </a:xfrm>
          <a:prstGeom prst="rect">
            <a:avLst/>
          </a:prstGeom>
          <a:gradFill>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20799F71-EAF4-4F94-39F2-85A8D18F25A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66917" y="165400"/>
            <a:ext cx="1368044" cy="428101"/>
          </a:xfrm>
          <a:prstGeom prst="rect">
            <a:avLst/>
          </a:prstGeom>
        </p:spPr>
      </p:pic>
      <p:sp>
        <p:nvSpPr>
          <p:cNvPr id="2" name="PA-文本框 47">
            <a:extLst>
              <a:ext uri="{FF2B5EF4-FFF2-40B4-BE49-F238E27FC236}">
                <a16:creationId xmlns:a16="http://schemas.microsoft.com/office/drawing/2014/main" id="{E6488CDA-5717-7C52-55E2-4CF69B10BA43}"/>
              </a:ext>
            </a:extLst>
          </p:cNvPr>
          <p:cNvSpPr txBox="1"/>
          <p:nvPr userDrawn="1">
            <p:custDataLst>
              <p:tags r:id="rId1"/>
            </p:custDataLst>
          </p:nvPr>
        </p:nvSpPr>
        <p:spPr>
          <a:xfrm>
            <a:off x="270158" y="117840"/>
            <a:ext cx="2947550" cy="523220"/>
          </a:xfrm>
          <a:prstGeom prst="rect">
            <a:avLst/>
          </a:prstGeom>
          <a:noFill/>
        </p:spPr>
        <p:txBody>
          <a:bodyPr wrap="square" rtlCol="0" anchor="ctr">
            <a:spAutoFit/>
          </a:bodyPr>
          <a:lstStyle/>
          <a:p>
            <a:pPr lvl="0" algn="l">
              <a:lnSpc>
                <a:spcPct val="100000"/>
              </a:lnSpc>
              <a:defRPr/>
            </a:pPr>
            <a:r>
              <a:rPr lang="zh-CN" altLang="en-US" sz="2800" b="1" spc="0" dirty="0">
                <a:solidFill>
                  <a:schemeClr val="bg1"/>
                </a:solidFill>
                <a:effectLst>
                  <a:outerShdw blurRad="101600" dist="12700" dir="5400000" algn="t" rotWithShape="0">
                    <a:schemeClr val="accent3">
                      <a:alpha val="85000"/>
                    </a:schemeClr>
                  </a:outerShdw>
                </a:effectLst>
                <a:latin typeface="+mj-ea"/>
                <a:ea typeface="+mj-ea"/>
              </a:rPr>
              <a:t>学习目标</a:t>
            </a:r>
          </a:p>
        </p:txBody>
      </p:sp>
      <p:sp>
        <p:nvSpPr>
          <p:cNvPr id="20" name="文本框 19">
            <a:extLst>
              <a:ext uri="{FF2B5EF4-FFF2-40B4-BE49-F238E27FC236}">
                <a16:creationId xmlns:a16="http://schemas.microsoft.com/office/drawing/2014/main" id="{2F269A9E-4719-9E11-6C08-517FBCECD9D6}"/>
              </a:ext>
            </a:extLst>
          </p:cNvPr>
          <p:cNvSpPr txBox="1"/>
          <p:nvPr userDrawn="1"/>
        </p:nvSpPr>
        <p:spPr>
          <a:xfrm>
            <a:off x="11689482" y="6429445"/>
            <a:ext cx="34176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F65B630-C7FF-41C0-9923-C5E5E29EED81}" type="slidenum">
              <a:rPr kumimoji="0" lang="en-US" altLang="zh-CN" sz="1000" b="0" i="0" u="none" strike="noStrike" kern="1200" cap="none" spc="0" normalizeH="0" baseline="0" noProof="0" smtClean="0">
                <a:ln>
                  <a:noFill/>
                </a:ln>
                <a:solidFill>
                  <a:prstClr val="black"/>
                </a:solidFill>
                <a:effectLst/>
                <a:uLnTx/>
                <a:uFillTx/>
                <a:latin typeface="Arial"/>
                <a:ea typeface="微软雅黑"/>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altLang="zh-CN" sz="1000" b="0" i="0" u="none" strike="noStrike" kern="1200" cap="none" spc="0" normalizeH="0" baseline="0" noProof="0" dirty="0">
              <a:ln>
                <a:noFill/>
              </a:ln>
              <a:solidFill>
                <a:prstClr val="black"/>
              </a:solidFill>
              <a:effectLst/>
              <a:uLnTx/>
              <a:uFillTx/>
              <a:latin typeface="Arial"/>
              <a:ea typeface="微软雅黑"/>
              <a:cs typeface="+mn-cs"/>
            </a:endParaRPr>
          </a:p>
        </p:txBody>
      </p:sp>
      <p:grpSp>
        <p:nvGrpSpPr>
          <p:cNvPr id="13" name="组合 12">
            <a:extLst>
              <a:ext uri="{FF2B5EF4-FFF2-40B4-BE49-F238E27FC236}">
                <a16:creationId xmlns:a16="http://schemas.microsoft.com/office/drawing/2014/main" id="{01F73AC4-8465-3A67-A189-87B635DF8345}"/>
              </a:ext>
            </a:extLst>
          </p:cNvPr>
          <p:cNvGrpSpPr/>
          <p:nvPr userDrawn="1"/>
        </p:nvGrpSpPr>
        <p:grpSpPr>
          <a:xfrm flipH="1">
            <a:off x="1398476" y="-84138"/>
            <a:ext cx="1997751" cy="843038"/>
            <a:chOff x="1506537" y="0"/>
            <a:chExt cx="1997751" cy="734418"/>
          </a:xfrm>
        </p:grpSpPr>
        <p:sp>
          <p:nvSpPr>
            <p:cNvPr id="21" name="平行四边形 20">
              <a:extLst>
                <a:ext uri="{FF2B5EF4-FFF2-40B4-BE49-F238E27FC236}">
                  <a16:creationId xmlns:a16="http://schemas.microsoft.com/office/drawing/2014/main" id="{45C377BD-7B84-6E71-4D79-1EA5087F7975}"/>
                </a:ext>
              </a:extLst>
            </p:cNvPr>
            <p:cNvSpPr/>
            <p:nvPr/>
          </p:nvSpPr>
          <p:spPr>
            <a:xfrm flipH="1">
              <a:off x="1506537" y="66676"/>
              <a:ext cx="1297791" cy="492324"/>
            </a:xfrm>
            <a:prstGeom prst="parallelogram">
              <a:avLst>
                <a:gd name="adj" fmla="val 110052"/>
              </a:avLst>
            </a:prstGeom>
            <a:gradFill>
              <a:gsLst>
                <a:gs pos="0">
                  <a:schemeClr val="accent1">
                    <a:lumMod val="20000"/>
                    <a:lumOff val="80000"/>
                    <a:alpha val="20000"/>
                  </a:schemeClr>
                </a:gs>
                <a:gs pos="100000">
                  <a:schemeClr val="accent1">
                    <a:lumMod val="20000"/>
                    <a:lumOff val="80000"/>
                    <a:alpha val="0"/>
                  </a:scheme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平行四边形 21">
              <a:extLst>
                <a:ext uri="{FF2B5EF4-FFF2-40B4-BE49-F238E27FC236}">
                  <a16:creationId xmlns:a16="http://schemas.microsoft.com/office/drawing/2014/main" id="{EBFDE482-40AD-FDDE-5A19-1EC7D96F8A29}"/>
                </a:ext>
              </a:extLst>
            </p:cNvPr>
            <p:cNvSpPr/>
            <p:nvPr/>
          </p:nvSpPr>
          <p:spPr>
            <a:xfrm flipH="1">
              <a:off x="1788578" y="66676"/>
              <a:ext cx="1028341" cy="492324"/>
            </a:xfrm>
            <a:prstGeom prst="parallelogram">
              <a:avLst>
                <a:gd name="adj" fmla="val 111457"/>
              </a:avLst>
            </a:prstGeom>
            <a:gradFill>
              <a:gsLst>
                <a:gs pos="0">
                  <a:schemeClr val="accent1">
                    <a:lumMod val="20000"/>
                    <a:lumOff val="80000"/>
                    <a:alpha val="20000"/>
                  </a:schemeClr>
                </a:gs>
                <a:gs pos="85000">
                  <a:schemeClr val="accent1">
                    <a:lumMod val="20000"/>
                    <a:lumOff val="80000"/>
                    <a:alpha val="0"/>
                  </a:schemeClr>
                </a:gs>
              </a:gsLst>
              <a:lin ang="3000000" scaled="0"/>
            </a:gradFill>
            <a:ln>
              <a:gradFill>
                <a:gsLst>
                  <a:gs pos="0">
                    <a:schemeClr val="accent3"/>
                  </a:gs>
                  <a:gs pos="60000">
                    <a:schemeClr val="accent1">
                      <a:lumMod val="20000"/>
                      <a:lumOff val="80000"/>
                      <a:alpha val="0"/>
                    </a:schemeClr>
                  </a:gs>
                </a:gsLst>
                <a:lin ang="30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a:extLst>
                <a:ext uri="{FF2B5EF4-FFF2-40B4-BE49-F238E27FC236}">
                  <a16:creationId xmlns:a16="http://schemas.microsoft.com/office/drawing/2014/main" id="{1E36B879-0AC3-66AF-45B4-35BF0CF0E5B3}"/>
                </a:ext>
              </a:extLst>
            </p:cNvPr>
            <p:cNvGrpSpPr/>
            <p:nvPr/>
          </p:nvGrpSpPr>
          <p:grpSpPr>
            <a:xfrm>
              <a:off x="3057205" y="665500"/>
              <a:ext cx="447083" cy="68918"/>
              <a:chOff x="5933623" y="2427611"/>
              <a:chExt cx="447083" cy="68918"/>
            </a:xfrm>
          </p:grpSpPr>
          <p:cxnSp>
            <p:nvCxnSpPr>
              <p:cNvPr id="31" name="直接连接符 30">
                <a:extLst>
                  <a:ext uri="{FF2B5EF4-FFF2-40B4-BE49-F238E27FC236}">
                    <a16:creationId xmlns:a16="http://schemas.microsoft.com/office/drawing/2014/main" id="{487C33B0-F362-196A-31F0-78A93CE339E4}"/>
                  </a:ext>
                </a:extLst>
              </p:cNvPr>
              <p:cNvCxnSpPr>
                <a:cxnSpLocks/>
              </p:cNvCxnSpPr>
              <p:nvPr/>
            </p:nvCxnSpPr>
            <p:spPr>
              <a:xfrm flipH="1" flipV="1">
                <a:off x="6311788" y="2427611"/>
                <a:ext cx="68918" cy="6891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56D968F5-2DCD-020E-4DF6-BAF2DBD28E83}"/>
                  </a:ext>
                </a:extLst>
              </p:cNvPr>
              <p:cNvCxnSpPr>
                <a:cxnSpLocks/>
              </p:cNvCxnSpPr>
              <p:nvPr/>
            </p:nvCxnSpPr>
            <p:spPr>
              <a:xfrm flipH="1">
                <a:off x="5933623" y="2427611"/>
                <a:ext cx="37816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24" name="直接连接符 23">
              <a:extLst>
                <a:ext uri="{FF2B5EF4-FFF2-40B4-BE49-F238E27FC236}">
                  <a16:creationId xmlns:a16="http://schemas.microsoft.com/office/drawing/2014/main" id="{F83FB762-410C-1839-FF43-3BB40A6C6DAA}"/>
                </a:ext>
              </a:extLst>
            </p:cNvPr>
            <p:cNvCxnSpPr>
              <a:cxnSpLocks/>
            </p:cNvCxnSpPr>
            <p:nvPr/>
          </p:nvCxnSpPr>
          <p:spPr>
            <a:xfrm flipH="1" flipV="1">
              <a:off x="2219102" y="0"/>
              <a:ext cx="838103" cy="665500"/>
            </a:xfrm>
            <a:prstGeom prst="line">
              <a:avLst/>
            </a:prstGeom>
            <a:ln w="12700">
              <a:gradFill>
                <a:gsLst>
                  <a:gs pos="0">
                    <a:schemeClr val="accent3"/>
                  </a:gs>
                  <a:gs pos="92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25" name="组合 24">
              <a:extLst>
                <a:ext uri="{FF2B5EF4-FFF2-40B4-BE49-F238E27FC236}">
                  <a16:creationId xmlns:a16="http://schemas.microsoft.com/office/drawing/2014/main" id="{E1A164F2-94A4-AF75-35D4-43BD0DFBEBBB}"/>
                </a:ext>
              </a:extLst>
            </p:cNvPr>
            <p:cNvGrpSpPr/>
            <p:nvPr/>
          </p:nvGrpSpPr>
          <p:grpSpPr>
            <a:xfrm>
              <a:off x="2448392" y="625338"/>
              <a:ext cx="497886" cy="45719"/>
              <a:chOff x="2448392" y="625338"/>
              <a:chExt cx="497886" cy="45719"/>
            </a:xfrm>
          </p:grpSpPr>
          <p:sp>
            <p:nvSpPr>
              <p:cNvPr id="26" name="平行四边形 25">
                <a:extLst>
                  <a:ext uri="{FF2B5EF4-FFF2-40B4-BE49-F238E27FC236}">
                    <a16:creationId xmlns:a16="http://schemas.microsoft.com/office/drawing/2014/main" id="{EEF4876F-62D2-43EC-B675-FCD909CF6B8F}"/>
                  </a:ext>
                </a:extLst>
              </p:cNvPr>
              <p:cNvSpPr/>
              <p:nvPr/>
            </p:nvSpPr>
            <p:spPr>
              <a:xfrm flipH="1">
                <a:off x="2832188" y="625338"/>
                <a:ext cx="114090" cy="45719"/>
              </a:xfrm>
              <a:prstGeom prst="parallelogram">
                <a:avLst>
                  <a:gd name="adj" fmla="val 12914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平行四边形 26">
                <a:extLst>
                  <a:ext uri="{FF2B5EF4-FFF2-40B4-BE49-F238E27FC236}">
                    <a16:creationId xmlns:a16="http://schemas.microsoft.com/office/drawing/2014/main" id="{9790F3FE-0C96-B9D7-7923-842DF459CA59}"/>
                  </a:ext>
                </a:extLst>
              </p:cNvPr>
              <p:cNvSpPr/>
              <p:nvPr/>
            </p:nvSpPr>
            <p:spPr>
              <a:xfrm flipH="1">
                <a:off x="2736239" y="625338"/>
                <a:ext cx="114090" cy="45719"/>
              </a:xfrm>
              <a:prstGeom prst="parallelogram">
                <a:avLst>
                  <a:gd name="adj" fmla="val 129145"/>
                </a:avLst>
              </a:prstGeom>
              <a:solidFill>
                <a:schemeClr val="accent3">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平行四边形 27">
                <a:extLst>
                  <a:ext uri="{FF2B5EF4-FFF2-40B4-BE49-F238E27FC236}">
                    <a16:creationId xmlns:a16="http://schemas.microsoft.com/office/drawing/2014/main" id="{2C0FC895-BC08-8220-117A-E16A90AD0B10}"/>
                  </a:ext>
                </a:extLst>
              </p:cNvPr>
              <p:cNvSpPr/>
              <p:nvPr/>
            </p:nvSpPr>
            <p:spPr>
              <a:xfrm flipH="1">
                <a:off x="2640290" y="625338"/>
                <a:ext cx="114090" cy="45719"/>
              </a:xfrm>
              <a:prstGeom prst="parallelogram">
                <a:avLst>
                  <a:gd name="adj" fmla="val 129145"/>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a:extLst>
                  <a:ext uri="{FF2B5EF4-FFF2-40B4-BE49-F238E27FC236}">
                    <a16:creationId xmlns:a16="http://schemas.microsoft.com/office/drawing/2014/main" id="{EF70FEE5-4B73-B457-A930-BE010070B819}"/>
                  </a:ext>
                </a:extLst>
              </p:cNvPr>
              <p:cNvSpPr/>
              <p:nvPr/>
            </p:nvSpPr>
            <p:spPr>
              <a:xfrm flipH="1">
                <a:off x="2544341" y="625338"/>
                <a:ext cx="114090" cy="45719"/>
              </a:xfrm>
              <a:prstGeom prst="parallelogram">
                <a:avLst>
                  <a:gd name="adj" fmla="val 129145"/>
                </a:avLst>
              </a:prstGeom>
              <a:solidFill>
                <a:schemeClr val="accent3">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平行四边形 29">
                <a:extLst>
                  <a:ext uri="{FF2B5EF4-FFF2-40B4-BE49-F238E27FC236}">
                    <a16:creationId xmlns:a16="http://schemas.microsoft.com/office/drawing/2014/main" id="{BEB22EBA-B6BB-9F5C-E376-485B0CAB65AC}"/>
                  </a:ext>
                </a:extLst>
              </p:cNvPr>
              <p:cNvSpPr/>
              <p:nvPr/>
            </p:nvSpPr>
            <p:spPr>
              <a:xfrm flipH="1">
                <a:off x="2448392" y="625338"/>
                <a:ext cx="114090" cy="45719"/>
              </a:xfrm>
              <a:prstGeom prst="parallelogram">
                <a:avLst>
                  <a:gd name="adj" fmla="val 129145"/>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4482708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学习目标">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AEA86DC7-B2E5-7A5F-EA99-6083B53481F5}"/>
              </a:ext>
            </a:extLst>
          </p:cNvPr>
          <p:cNvPicPr>
            <a:picLocks noChangeAspect="1"/>
          </p:cNvPicPr>
          <p:nvPr userDrawn="1"/>
        </p:nvPicPr>
        <p:blipFill>
          <a:blip r:embed="rId3">
            <a:extLst>
              <a:ext uri="{28A0092B-C50C-407E-A947-70E740481C1C}">
                <a14:useLocalDpi xmlns:a14="http://schemas.microsoft.com/office/drawing/2010/main" val="0"/>
              </a:ext>
            </a:extLst>
          </a:blip>
          <a:srcRect l="19160" t="67305" r="21698" b="20235"/>
          <a:stretch>
            <a:fillRect/>
          </a:stretch>
        </p:blipFill>
        <p:spPr>
          <a:xfrm>
            <a:off x="0" y="0"/>
            <a:ext cx="12192000" cy="758900"/>
          </a:xfrm>
          <a:prstGeom prst="rect">
            <a:avLst/>
          </a:prstGeom>
        </p:spPr>
      </p:pic>
      <p:sp>
        <p:nvSpPr>
          <p:cNvPr id="11" name="矩形 10">
            <a:extLst>
              <a:ext uri="{FF2B5EF4-FFF2-40B4-BE49-F238E27FC236}">
                <a16:creationId xmlns:a16="http://schemas.microsoft.com/office/drawing/2014/main" id="{BD227C66-B9F3-97BE-8312-3D18ECEE8B95}"/>
              </a:ext>
            </a:extLst>
          </p:cNvPr>
          <p:cNvSpPr/>
          <p:nvPr userDrawn="1"/>
        </p:nvSpPr>
        <p:spPr>
          <a:xfrm>
            <a:off x="0" y="0"/>
            <a:ext cx="12192000" cy="758900"/>
          </a:xfrm>
          <a:prstGeom prst="rect">
            <a:avLst/>
          </a:prstGeom>
          <a:gradFill>
            <a:gsLst>
              <a:gs pos="0">
                <a:schemeClr val="accent1">
                  <a:lumMod val="75000"/>
                </a:schemeClr>
              </a:gs>
              <a:gs pos="100000">
                <a:schemeClr val="accent1">
                  <a:lumMod val="75000"/>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3C333C4B-9E5C-847F-E9F8-76255BDE1E3D}"/>
              </a:ext>
            </a:extLst>
          </p:cNvPr>
          <p:cNvSpPr/>
          <p:nvPr userDrawn="1"/>
        </p:nvSpPr>
        <p:spPr>
          <a:xfrm>
            <a:off x="-1" y="758900"/>
            <a:ext cx="12192001" cy="66338"/>
          </a:xfrm>
          <a:prstGeom prst="rect">
            <a:avLst/>
          </a:prstGeom>
          <a:gradFill>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20799F71-EAF4-4F94-39F2-85A8D18F25A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66917" y="165400"/>
            <a:ext cx="1368044" cy="428101"/>
          </a:xfrm>
          <a:prstGeom prst="rect">
            <a:avLst/>
          </a:prstGeom>
        </p:spPr>
      </p:pic>
      <p:sp>
        <p:nvSpPr>
          <p:cNvPr id="2" name="PA-文本框 47">
            <a:extLst>
              <a:ext uri="{FF2B5EF4-FFF2-40B4-BE49-F238E27FC236}">
                <a16:creationId xmlns:a16="http://schemas.microsoft.com/office/drawing/2014/main" id="{E6488CDA-5717-7C52-55E2-4CF69B10BA43}"/>
              </a:ext>
            </a:extLst>
          </p:cNvPr>
          <p:cNvSpPr txBox="1"/>
          <p:nvPr userDrawn="1">
            <p:custDataLst>
              <p:tags r:id="rId1"/>
            </p:custDataLst>
          </p:nvPr>
        </p:nvSpPr>
        <p:spPr>
          <a:xfrm>
            <a:off x="270158" y="117840"/>
            <a:ext cx="2947550" cy="523220"/>
          </a:xfrm>
          <a:prstGeom prst="rect">
            <a:avLst/>
          </a:prstGeom>
          <a:noFill/>
        </p:spPr>
        <p:txBody>
          <a:bodyPr wrap="square" rtlCol="0" anchor="ctr">
            <a:spAutoFit/>
          </a:bodyPr>
          <a:lstStyle/>
          <a:p>
            <a:pPr lvl="0" algn="l">
              <a:lnSpc>
                <a:spcPct val="100000"/>
              </a:lnSpc>
              <a:defRPr/>
            </a:pPr>
            <a:r>
              <a:rPr lang="zh-CN" altLang="en-US" sz="2800" b="1" spc="0" dirty="0">
                <a:solidFill>
                  <a:schemeClr val="bg1"/>
                </a:solidFill>
                <a:effectLst>
                  <a:outerShdw blurRad="101600" dist="12700" dir="5400000" algn="t" rotWithShape="0">
                    <a:schemeClr val="accent3">
                      <a:alpha val="85000"/>
                    </a:schemeClr>
                  </a:outerShdw>
                </a:effectLst>
                <a:latin typeface="+mj-ea"/>
                <a:ea typeface="+mj-ea"/>
              </a:rPr>
              <a:t>总结</a:t>
            </a:r>
          </a:p>
        </p:txBody>
      </p:sp>
      <p:sp>
        <p:nvSpPr>
          <p:cNvPr id="20" name="文本框 19">
            <a:extLst>
              <a:ext uri="{FF2B5EF4-FFF2-40B4-BE49-F238E27FC236}">
                <a16:creationId xmlns:a16="http://schemas.microsoft.com/office/drawing/2014/main" id="{2F269A9E-4719-9E11-6C08-517FBCECD9D6}"/>
              </a:ext>
            </a:extLst>
          </p:cNvPr>
          <p:cNvSpPr txBox="1"/>
          <p:nvPr userDrawn="1"/>
        </p:nvSpPr>
        <p:spPr>
          <a:xfrm>
            <a:off x="11689482" y="6429445"/>
            <a:ext cx="34176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F65B630-C7FF-41C0-9923-C5E5E29EED81}" type="slidenum">
              <a:rPr kumimoji="0" lang="en-US" altLang="zh-CN" sz="1000" b="0" i="0" u="none" strike="noStrike" kern="1200" cap="none" spc="0" normalizeH="0" baseline="0" noProof="0" smtClean="0">
                <a:ln>
                  <a:noFill/>
                </a:ln>
                <a:solidFill>
                  <a:prstClr val="black"/>
                </a:solidFill>
                <a:effectLst/>
                <a:uLnTx/>
                <a:uFillTx/>
                <a:latin typeface="Arial"/>
                <a:ea typeface="微软雅黑"/>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altLang="zh-CN" sz="1000" b="0" i="0" u="none" strike="noStrike" kern="1200" cap="none" spc="0" normalizeH="0" baseline="0" noProof="0" dirty="0">
              <a:ln>
                <a:noFill/>
              </a:ln>
              <a:solidFill>
                <a:prstClr val="black"/>
              </a:solidFill>
              <a:effectLst/>
              <a:uLnTx/>
              <a:uFillTx/>
              <a:latin typeface="Arial"/>
              <a:ea typeface="微软雅黑"/>
              <a:cs typeface="+mn-cs"/>
            </a:endParaRPr>
          </a:p>
        </p:txBody>
      </p:sp>
      <p:grpSp>
        <p:nvGrpSpPr>
          <p:cNvPr id="13" name="组合 12">
            <a:extLst>
              <a:ext uri="{FF2B5EF4-FFF2-40B4-BE49-F238E27FC236}">
                <a16:creationId xmlns:a16="http://schemas.microsoft.com/office/drawing/2014/main" id="{01F73AC4-8465-3A67-A189-87B635DF8345}"/>
              </a:ext>
            </a:extLst>
          </p:cNvPr>
          <p:cNvGrpSpPr/>
          <p:nvPr userDrawn="1"/>
        </p:nvGrpSpPr>
        <p:grpSpPr>
          <a:xfrm flipH="1">
            <a:off x="1398476" y="-84138"/>
            <a:ext cx="1997751" cy="843038"/>
            <a:chOff x="1506537" y="0"/>
            <a:chExt cx="1997751" cy="734418"/>
          </a:xfrm>
        </p:grpSpPr>
        <p:sp>
          <p:nvSpPr>
            <p:cNvPr id="21" name="平行四边形 20">
              <a:extLst>
                <a:ext uri="{FF2B5EF4-FFF2-40B4-BE49-F238E27FC236}">
                  <a16:creationId xmlns:a16="http://schemas.microsoft.com/office/drawing/2014/main" id="{45C377BD-7B84-6E71-4D79-1EA5087F7975}"/>
                </a:ext>
              </a:extLst>
            </p:cNvPr>
            <p:cNvSpPr/>
            <p:nvPr/>
          </p:nvSpPr>
          <p:spPr>
            <a:xfrm flipH="1">
              <a:off x="1506537" y="66676"/>
              <a:ext cx="1297791" cy="492324"/>
            </a:xfrm>
            <a:prstGeom prst="parallelogram">
              <a:avLst>
                <a:gd name="adj" fmla="val 110052"/>
              </a:avLst>
            </a:prstGeom>
            <a:gradFill>
              <a:gsLst>
                <a:gs pos="0">
                  <a:schemeClr val="accent1">
                    <a:lumMod val="20000"/>
                    <a:lumOff val="80000"/>
                    <a:alpha val="20000"/>
                  </a:schemeClr>
                </a:gs>
                <a:gs pos="100000">
                  <a:schemeClr val="accent1">
                    <a:lumMod val="20000"/>
                    <a:lumOff val="80000"/>
                    <a:alpha val="0"/>
                  </a:scheme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平行四边形 21">
              <a:extLst>
                <a:ext uri="{FF2B5EF4-FFF2-40B4-BE49-F238E27FC236}">
                  <a16:creationId xmlns:a16="http://schemas.microsoft.com/office/drawing/2014/main" id="{EBFDE482-40AD-FDDE-5A19-1EC7D96F8A29}"/>
                </a:ext>
              </a:extLst>
            </p:cNvPr>
            <p:cNvSpPr/>
            <p:nvPr/>
          </p:nvSpPr>
          <p:spPr>
            <a:xfrm flipH="1">
              <a:off x="1788578" y="66676"/>
              <a:ext cx="1028341" cy="492324"/>
            </a:xfrm>
            <a:prstGeom prst="parallelogram">
              <a:avLst>
                <a:gd name="adj" fmla="val 111457"/>
              </a:avLst>
            </a:prstGeom>
            <a:gradFill>
              <a:gsLst>
                <a:gs pos="0">
                  <a:schemeClr val="accent1">
                    <a:lumMod val="20000"/>
                    <a:lumOff val="80000"/>
                    <a:alpha val="20000"/>
                  </a:schemeClr>
                </a:gs>
                <a:gs pos="85000">
                  <a:schemeClr val="accent1">
                    <a:lumMod val="20000"/>
                    <a:lumOff val="80000"/>
                    <a:alpha val="0"/>
                  </a:schemeClr>
                </a:gs>
              </a:gsLst>
              <a:lin ang="3000000" scaled="0"/>
            </a:gradFill>
            <a:ln>
              <a:gradFill>
                <a:gsLst>
                  <a:gs pos="0">
                    <a:schemeClr val="accent3"/>
                  </a:gs>
                  <a:gs pos="60000">
                    <a:schemeClr val="accent1">
                      <a:lumMod val="20000"/>
                      <a:lumOff val="80000"/>
                      <a:alpha val="0"/>
                    </a:schemeClr>
                  </a:gs>
                </a:gsLst>
                <a:lin ang="30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a:extLst>
                <a:ext uri="{FF2B5EF4-FFF2-40B4-BE49-F238E27FC236}">
                  <a16:creationId xmlns:a16="http://schemas.microsoft.com/office/drawing/2014/main" id="{1E36B879-0AC3-66AF-45B4-35BF0CF0E5B3}"/>
                </a:ext>
              </a:extLst>
            </p:cNvPr>
            <p:cNvGrpSpPr/>
            <p:nvPr/>
          </p:nvGrpSpPr>
          <p:grpSpPr>
            <a:xfrm>
              <a:off x="3057205" y="665500"/>
              <a:ext cx="447083" cy="68918"/>
              <a:chOff x="5933623" y="2427611"/>
              <a:chExt cx="447083" cy="68918"/>
            </a:xfrm>
          </p:grpSpPr>
          <p:cxnSp>
            <p:nvCxnSpPr>
              <p:cNvPr id="31" name="直接连接符 30">
                <a:extLst>
                  <a:ext uri="{FF2B5EF4-FFF2-40B4-BE49-F238E27FC236}">
                    <a16:creationId xmlns:a16="http://schemas.microsoft.com/office/drawing/2014/main" id="{487C33B0-F362-196A-31F0-78A93CE339E4}"/>
                  </a:ext>
                </a:extLst>
              </p:cNvPr>
              <p:cNvCxnSpPr>
                <a:cxnSpLocks/>
              </p:cNvCxnSpPr>
              <p:nvPr/>
            </p:nvCxnSpPr>
            <p:spPr>
              <a:xfrm flipH="1" flipV="1">
                <a:off x="6311788" y="2427611"/>
                <a:ext cx="68918" cy="6891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56D968F5-2DCD-020E-4DF6-BAF2DBD28E83}"/>
                  </a:ext>
                </a:extLst>
              </p:cNvPr>
              <p:cNvCxnSpPr>
                <a:cxnSpLocks/>
              </p:cNvCxnSpPr>
              <p:nvPr/>
            </p:nvCxnSpPr>
            <p:spPr>
              <a:xfrm flipH="1">
                <a:off x="5933623" y="2427611"/>
                <a:ext cx="37816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24" name="直接连接符 23">
              <a:extLst>
                <a:ext uri="{FF2B5EF4-FFF2-40B4-BE49-F238E27FC236}">
                  <a16:creationId xmlns:a16="http://schemas.microsoft.com/office/drawing/2014/main" id="{F83FB762-410C-1839-FF43-3BB40A6C6DAA}"/>
                </a:ext>
              </a:extLst>
            </p:cNvPr>
            <p:cNvCxnSpPr>
              <a:cxnSpLocks/>
            </p:cNvCxnSpPr>
            <p:nvPr/>
          </p:nvCxnSpPr>
          <p:spPr>
            <a:xfrm flipH="1" flipV="1">
              <a:off x="2219102" y="0"/>
              <a:ext cx="838103" cy="665500"/>
            </a:xfrm>
            <a:prstGeom prst="line">
              <a:avLst/>
            </a:prstGeom>
            <a:ln w="12700">
              <a:gradFill>
                <a:gsLst>
                  <a:gs pos="0">
                    <a:schemeClr val="accent3"/>
                  </a:gs>
                  <a:gs pos="92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25" name="组合 24">
              <a:extLst>
                <a:ext uri="{FF2B5EF4-FFF2-40B4-BE49-F238E27FC236}">
                  <a16:creationId xmlns:a16="http://schemas.microsoft.com/office/drawing/2014/main" id="{E1A164F2-94A4-AF75-35D4-43BD0DFBEBBB}"/>
                </a:ext>
              </a:extLst>
            </p:cNvPr>
            <p:cNvGrpSpPr/>
            <p:nvPr/>
          </p:nvGrpSpPr>
          <p:grpSpPr>
            <a:xfrm>
              <a:off x="2448392" y="625338"/>
              <a:ext cx="497886" cy="45719"/>
              <a:chOff x="2448392" y="625338"/>
              <a:chExt cx="497886" cy="45719"/>
            </a:xfrm>
          </p:grpSpPr>
          <p:sp>
            <p:nvSpPr>
              <p:cNvPr id="26" name="平行四边形 25">
                <a:extLst>
                  <a:ext uri="{FF2B5EF4-FFF2-40B4-BE49-F238E27FC236}">
                    <a16:creationId xmlns:a16="http://schemas.microsoft.com/office/drawing/2014/main" id="{EEF4876F-62D2-43EC-B675-FCD909CF6B8F}"/>
                  </a:ext>
                </a:extLst>
              </p:cNvPr>
              <p:cNvSpPr/>
              <p:nvPr/>
            </p:nvSpPr>
            <p:spPr>
              <a:xfrm flipH="1">
                <a:off x="2832188" y="625338"/>
                <a:ext cx="114090" cy="45719"/>
              </a:xfrm>
              <a:prstGeom prst="parallelogram">
                <a:avLst>
                  <a:gd name="adj" fmla="val 12914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平行四边形 26">
                <a:extLst>
                  <a:ext uri="{FF2B5EF4-FFF2-40B4-BE49-F238E27FC236}">
                    <a16:creationId xmlns:a16="http://schemas.microsoft.com/office/drawing/2014/main" id="{9790F3FE-0C96-B9D7-7923-842DF459CA59}"/>
                  </a:ext>
                </a:extLst>
              </p:cNvPr>
              <p:cNvSpPr/>
              <p:nvPr/>
            </p:nvSpPr>
            <p:spPr>
              <a:xfrm flipH="1">
                <a:off x="2736239" y="625338"/>
                <a:ext cx="114090" cy="45719"/>
              </a:xfrm>
              <a:prstGeom prst="parallelogram">
                <a:avLst>
                  <a:gd name="adj" fmla="val 129145"/>
                </a:avLst>
              </a:prstGeom>
              <a:solidFill>
                <a:schemeClr val="accent3">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平行四边形 27">
                <a:extLst>
                  <a:ext uri="{FF2B5EF4-FFF2-40B4-BE49-F238E27FC236}">
                    <a16:creationId xmlns:a16="http://schemas.microsoft.com/office/drawing/2014/main" id="{2C0FC895-BC08-8220-117A-E16A90AD0B10}"/>
                  </a:ext>
                </a:extLst>
              </p:cNvPr>
              <p:cNvSpPr/>
              <p:nvPr/>
            </p:nvSpPr>
            <p:spPr>
              <a:xfrm flipH="1">
                <a:off x="2640290" y="625338"/>
                <a:ext cx="114090" cy="45719"/>
              </a:xfrm>
              <a:prstGeom prst="parallelogram">
                <a:avLst>
                  <a:gd name="adj" fmla="val 129145"/>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a:extLst>
                  <a:ext uri="{FF2B5EF4-FFF2-40B4-BE49-F238E27FC236}">
                    <a16:creationId xmlns:a16="http://schemas.microsoft.com/office/drawing/2014/main" id="{EF70FEE5-4B73-B457-A930-BE010070B819}"/>
                  </a:ext>
                </a:extLst>
              </p:cNvPr>
              <p:cNvSpPr/>
              <p:nvPr/>
            </p:nvSpPr>
            <p:spPr>
              <a:xfrm flipH="1">
                <a:off x="2544341" y="625338"/>
                <a:ext cx="114090" cy="45719"/>
              </a:xfrm>
              <a:prstGeom prst="parallelogram">
                <a:avLst>
                  <a:gd name="adj" fmla="val 129145"/>
                </a:avLst>
              </a:prstGeom>
              <a:solidFill>
                <a:schemeClr val="accent3">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平行四边形 29">
                <a:extLst>
                  <a:ext uri="{FF2B5EF4-FFF2-40B4-BE49-F238E27FC236}">
                    <a16:creationId xmlns:a16="http://schemas.microsoft.com/office/drawing/2014/main" id="{BEB22EBA-B6BB-9F5C-E376-485B0CAB65AC}"/>
                  </a:ext>
                </a:extLst>
              </p:cNvPr>
              <p:cNvSpPr/>
              <p:nvPr/>
            </p:nvSpPr>
            <p:spPr>
              <a:xfrm flipH="1">
                <a:off x="2448392" y="625338"/>
                <a:ext cx="114090" cy="45719"/>
              </a:xfrm>
              <a:prstGeom prst="parallelogram">
                <a:avLst>
                  <a:gd name="adj" fmla="val 129145"/>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8347332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思考 ">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AEA86DC7-B2E5-7A5F-EA99-6083B53481F5}"/>
              </a:ext>
            </a:extLst>
          </p:cNvPr>
          <p:cNvPicPr>
            <a:picLocks noChangeAspect="1"/>
          </p:cNvPicPr>
          <p:nvPr userDrawn="1"/>
        </p:nvPicPr>
        <p:blipFill>
          <a:blip r:embed="rId3">
            <a:extLst>
              <a:ext uri="{28A0092B-C50C-407E-A947-70E740481C1C}">
                <a14:useLocalDpi xmlns:a14="http://schemas.microsoft.com/office/drawing/2010/main" val="0"/>
              </a:ext>
            </a:extLst>
          </a:blip>
          <a:srcRect l="19160" t="67305" r="21698" b="20235"/>
          <a:stretch>
            <a:fillRect/>
          </a:stretch>
        </p:blipFill>
        <p:spPr>
          <a:xfrm>
            <a:off x="0" y="0"/>
            <a:ext cx="12192000" cy="758900"/>
          </a:xfrm>
          <a:prstGeom prst="rect">
            <a:avLst/>
          </a:prstGeom>
        </p:spPr>
      </p:pic>
      <p:sp>
        <p:nvSpPr>
          <p:cNvPr id="11" name="矩形 10">
            <a:extLst>
              <a:ext uri="{FF2B5EF4-FFF2-40B4-BE49-F238E27FC236}">
                <a16:creationId xmlns:a16="http://schemas.microsoft.com/office/drawing/2014/main" id="{BD227C66-B9F3-97BE-8312-3D18ECEE8B95}"/>
              </a:ext>
            </a:extLst>
          </p:cNvPr>
          <p:cNvSpPr/>
          <p:nvPr userDrawn="1"/>
        </p:nvSpPr>
        <p:spPr>
          <a:xfrm>
            <a:off x="0" y="0"/>
            <a:ext cx="12192000" cy="758900"/>
          </a:xfrm>
          <a:prstGeom prst="rect">
            <a:avLst/>
          </a:prstGeom>
          <a:gradFill>
            <a:gsLst>
              <a:gs pos="0">
                <a:schemeClr val="accent1">
                  <a:lumMod val="75000"/>
                </a:schemeClr>
              </a:gs>
              <a:gs pos="100000">
                <a:schemeClr val="accent1">
                  <a:lumMod val="75000"/>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3C333C4B-9E5C-847F-E9F8-76255BDE1E3D}"/>
              </a:ext>
            </a:extLst>
          </p:cNvPr>
          <p:cNvSpPr/>
          <p:nvPr userDrawn="1"/>
        </p:nvSpPr>
        <p:spPr>
          <a:xfrm>
            <a:off x="-1" y="758900"/>
            <a:ext cx="12192001" cy="66338"/>
          </a:xfrm>
          <a:prstGeom prst="rect">
            <a:avLst/>
          </a:prstGeom>
          <a:gradFill>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20799F71-EAF4-4F94-39F2-85A8D18F25A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66917" y="165400"/>
            <a:ext cx="1368044" cy="428101"/>
          </a:xfrm>
          <a:prstGeom prst="rect">
            <a:avLst/>
          </a:prstGeom>
        </p:spPr>
      </p:pic>
      <p:sp>
        <p:nvSpPr>
          <p:cNvPr id="13" name="文本框 12">
            <a:extLst>
              <a:ext uri="{FF2B5EF4-FFF2-40B4-BE49-F238E27FC236}">
                <a16:creationId xmlns:a16="http://schemas.microsoft.com/office/drawing/2014/main" id="{9E39EC3C-CF76-4705-79D0-10D3706C4D92}"/>
              </a:ext>
            </a:extLst>
          </p:cNvPr>
          <p:cNvSpPr txBox="1"/>
          <p:nvPr userDrawn="1"/>
        </p:nvSpPr>
        <p:spPr>
          <a:xfrm>
            <a:off x="11689482" y="6429445"/>
            <a:ext cx="34176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F65B630-C7FF-41C0-9923-C5E5E29EED81}" type="slidenum">
              <a:rPr kumimoji="0" lang="en-US" altLang="zh-CN" sz="1000" b="0" i="0" u="none" strike="noStrike" kern="1200" cap="none" spc="0" normalizeH="0" baseline="0" noProof="0" smtClean="0">
                <a:ln>
                  <a:noFill/>
                </a:ln>
                <a:solidFill>
                  <a:prstClr val="black"/>
                </a:solidFill>
                <a:effectLst/>
                <a:uLnTx/>
                <a:uFillTx/>
                <a:latin typeface="Arial"/>
                <a:ea typeface="微软雅黑"/>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altLang="zh-CN" sz="10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2" name="PA-文本框 47">
            <a:extLst>
              <a:ext uri="{FF2B5EF4-FFF2-40B4-BE49-F238E27FC236}">
                <a16:creationId xmlns:a16="http://schemas.microsoft.com/office/drawing/2014/main" id="{E6488CDA-5717-7C52-55E2-4CF69B10BA43}"/>
              </a:ext>
            </a:extLst>
          </p:cNvPr>
          <p:cNvSpPr txBox="1"/>
          <p:nvPr userDrawn="1">
            <p:custDataLst>
              <p:tags r:id="rId1"/>
            </p:custDataLst>
          </p:nvPr>
        </p:nvSpPr>
        <p:spPr>
          <a:xfrm>
            <a:off x="270158" y="117840"/>
            <a:ext cx="3743302" cy="523220"/>
          </a:xfrm>
          <a:prstGeom prst="rect">
            <a:avLst/>
          </a:prstGeom>
          <a:noFill/>
        </p:spPr>
        <p:txBody>
          <a:bodyPr wrap="square" rtlCol="0" anchor="ctr">
            <a:spAutoFit/>
          </a:bodyPr>
          <a:lstStyle/>
          <a:p>
            <a:pPr lvl="0" algn="l">
              <a:lnSpc>
                <a:spcPct val="100000"/>
              </a:lnSpc>
              <a:defRPr/>
            </a:pPr>
            <a:r>
              <a:rPr lang="zh-CN" altLang="en-US" sz="2800" b="1" spc="0" dirty="0">
                <a:solidFill>
                  <a:schemeClr val="bg1"/>
                </a:solidFill>
                <a:effectLst>
                  <a:outerShdw blurRad="101600" dist="12700" dir="5400000" algn="t" rotWithShape="0">
                    <a:schemeClr val="accent3">
                      <a:alpha val="85000"/>
                    </a:schemeClr>
                  </a:outerShdw>
                </a:effectLst>
                <a:latin typeface="+mj-lt"/>
                <a:ea typeface="+mj-ea"/>
              </a:rPr>
              <a:t>思考题与习题</a:t>
            </a:r>
          </a:p>
        </p:txBody>
      </p:sp>
      <p:grpSp>
        <p:nvGrpSpPr>
          <p:cNvPr id="20" name="组合 19">
            <a:extLst>
              <a:ext uri="{FF2B5EF4-FFF2-40B4-BE49-F238E27FC236}">
                <a16:creationId xmlns:a16="http://schemas.microsoft.com/office/drawing/2014/main" id="{F40CA222-1A7E-2896-3149-E06441FA3934}"/>
              </a:ext>
            </a:extLst>
          </p:cNvPr>
          <p:cNvGrpSpPr/>
          <p:nvPr userDrawn="1"/>
        </p:nvGrpSpPr>
        <p:grpSpPr>
          <a:xfrm flipH="1">
            <a:off x="1398476" y="-84138"/>
            <a:ext cx="1997751" cy="843038"/>
            <a:chOff x="1506537" y="0"/>
            <a:chExt cx="1997751" cy="734418"/>
          </a:xfrm>
        </p:grpSpPr>
        <p:sp>
          <p:nvSpPr>
            <p:cNvPr id="21" name="平行四边形 20">
              <a:extLst>
                <a:ext uri="{FF2B5EF4-FFF2-40B4-BE49-F238E27FC236}">
                  <a16:creationId xmlns:a16="http://schemas.microsoft.com/office/drawing/2014/main" id="{1595ED0D-896D-44ED-CF1E-B7CA60388034}"/>
                </a:ext>
              </a:extLst>
            </p:cNvPr>
            <p:cNvSpPr/>
            <p:nvPr/>
          </p:nvSpPr>
          <p:spPr>
            <a:xfrm flipH="1">
              <a:off x="1506537" y="66676"/>
              <a:ext cx="1297791" cy="492324"/>
            </a:xfrm>
            <a:prstGeom prst="parallelogram">
              <a:avLst>
                <a:gd name="adj" fmla="val 110052"/>
              </a:avLst>
            </a:prstGeom>
            <a:gradFill>
              <a:gsLst>
                <a:gs pos="0">
                  <a:schemeClr val="accent1">
                    <a:lumMod val="20000"/>
                    <a:lumOff val="80000"/>
                    <a:alpha val="20000"/>
                  </a:schemeClr>
                </a:gs>
                <a:gs pos="100000">
                  <a:schemeClr val="accent1">
                    <a:lumMod val="20000"/>
                    <a:lumOff val="80000"/>
                    <a:alpha val="0"/>
                  </a:scheme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平行四边形 21">
              <a:extLst>
                <a:ext uri="{FF2B5EF4-FFF2-40B4-BE49-F238E27FC236}">
                  <a16:creationId xmlns:a16="http://schemas.microsoft.com/office/drawing/2014/main" id="{3333931F-63BE-B168-45A5-0684D42E5343}"/>
                </a:ext>
              </a:extLst>
            </p:cNvPr>
            <p:cNvSpPr/>
            <p:nvPr/>
          </p:nvSpPr>
          <p:spPr>
            <a:xfrm flipH="1">
              <a:off x="1788578" y="66676"/>
              <a:ext cx="1028341" cy="492324"/>
            </a:xfrm>
            <a:prstGeom prst="parallelogram">
              <a:avLst>
                <a:gd name="adj" fmla="val 111457"/>
              </a:avLst>
            </a:prstGeom>
            <a:gradFill>
              <a:gsLst>
                <a:gs pos="0">
                  <a:schemeClr val="accent1">
                    <a:lumMod val="20000"/>
                    <a:lumOff val="80000"/>
                    <a:alpha val="20000"/>
                  </a:schemeClr>
                </a:gs>
                <a:gs pos="85000">
                  <a:schemeClr val="accent1">
                    <a:lumMod val="20000"/>
                    <a:lumOff val="80000"/>
                    <a:alpha val="0"/>
                  </a:schemeClr>
                </a:gs>
              </a:gsLst>
              <a:lin ang="3000000" scaled="0"/>
            </a:gradFill>
            <a:ln>
              <a:gradFill>
                <a:gsLst>
                  <a:gs pos="0">
                    <a:schemeClr val="accent3"/>
                  </a:gs>
                  <a:gs pos="60000">
                    <a:schemeClr val="accent1">
                      <a:lumMod val="20000"/>
                      <a:lumOff val="80000"/>
                      <a:alpha val="0"/>
                    </a:schemeClr>
                  </a:gs>
                </a:gsLst>
                <a:lin ang="30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a:extLst>
                <a:ext uri="{FF2B5EF4-FFF2-40B4-BE49-F238E27FC236}">
                  <a16:creationId xmlns:a16="http://schemas.microsoft.com/office/drawing/2014/main" id="{B88A17A9-3BAA-375D-C19B-44BF3E200B28}"/>
                </a:ext>
              </a:extLst>
            </p:cNvPr>
            <p:cNvGrpSpPr/>
            <p:nvPr/>
          </p:nvGrpSpPr>
          <p:grpSpPr>
            <a:xfrm>
              <a:off x="3057205" y="665500"/>
              <a:ext cx="447083" cy="68918"/>
              <a:chOff x="5933623" y="2427611"/>
              <a:chExt cx="447083" cy="68918"/>
            </a:xfrm>
          </p:grpSpPr>
          <p:cxnSp>
            <p:nvCxnSpPr>
              <p:cNvPr id="31" name="直接连接符 30">
                <a:extLst>
                  <a:ext uri="{FF2B5EF4-FFF2-40B4-BE49-F238E27FC236}">
                    <a16:creationId xmlns:a16="http://schemas.microsoft.com/office/drawing/2014/main" id="{A9955D29-F1B1-22BD-E236-FA2A1F3FC64C}"/>
                  </a:ext>
                </a:extLst>
              </p:cNvPr>
              <p:cNvCxnSpPr>
                <a:cxnSpLocks/>
              </p:cNvCxnSpPr>
              <p:nvPr/>
            </p:nvCxnSpPr>
            <p:spPr>
              <a:xfrm flipH="1" flipV="1">
                <a:off x="6311788" y="2427611"/>
                <a:ext cx="68918" cy="6891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F23C8B38-93B5-75AA-7763-5CF85B93BBAE}"/>
                  </a:ext>
                </a:extLst>
              </p:cNvPr>
              <p:cNvCxnSpPr>
                <a:cxnSpLocks/>
              </p:cNvCxnSpPr>
              <p:nvPr/>
            </p:nvCxnSpPr>
            <p:spPr>
              <a:xfrm flipH="1">
                <a:off x="5933623" y="2427611"/>
                <a:ext cx="37816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24" name="直接连接符 23">
              <a:extLst>
                <a:ext uri="{FF2B5EF4-FFF2-40B4-BE49-F238E27FC236}">
                  <a16:creationId xmlns:a16="http://schemas.microsoft.com/office/drawing/2014/main" id="{13D47FDA-D5D9-582D-2200-DD24EFADEEF4}"/>
                </a:ext>
              </a:extLst>
            </p:cNvPr>
            <p:cNvCxnSpPr>
              <a:cxnSpLocks/>
            </p:cNvCxnSpPr>
            <p:nvPr/>
          </p:nvCxnSpPr>
          <p:spPr>
            <a:xfrm flipH="1" flipV="1">
              <a:off x="2219102" y="0"/>
              <a:ext cx="838103" cy="665500"/>
            </a:xfrm>
            <a:prstGeom prst="line">
              <a:avLst/>
            </a:prstGeom>
            <a:ln w="12700">
              <a:gradFill>
                <a:gsLst>
                  <a:gs pos="0">
                    <a:schemeClr val="accent3"/>
                  </a:gs>
                  <a:gs pos="92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25" name="组合 24">
              <a:extLst>
                <a:ext uri="{FF2B5EF4-FFF2-40B4-BE49-F238E27FC236}">
                  <a16:creationId xmlns:a16="http://schemas.microsoft.com/office/drawing/2014/main" id="{29496E98-B3F4-880C-3B5F-755FED6CA01E}"/>
                </a:ext>
              </a:extLst>
            </p:cNvPr>
            <p:cNvGrpSpPr/>
            <p:nvPr/>
          </p:nvGrpSpPr>
          <p:grpSpPr>
            <a:xfrm>
              <a:off x="2448392" y="625338"/>
              <a:ext cx="497886" cy="45719"/>
              <a:chOff x="2448392" y="625338"/>
              <a:chExt cx="497886" cy="45719"/>
            </a:xfrm>
          </p:grpSpPr>
          <p:sp>
            <p:nvSpPr>
              <p:cNvPr id="26" name="平行四边形 25">
                <a:extLst>
                  <a:ext uri="{FF2B5EF4-FFF2-40B4-BE49-F238E27FC236}">
                    <a16:creationId xmlns:a16="http://schemas.microsoft.com/office/drawing/2014/main" id="{60126C15-88A8-6DC7-C4CC-C878B600BDDF}"/>
                  </a:ext>
                </a:extLst>
              </p:cNvPr>
              <p:cNvSpPr/>
              <p:nvPr/>
            </p:nvSpPr>
            <p:spPr>
              <a:xfrm flipH="1">
                <a:off x="2832188" y="625338"/>
                <a:ext cx="114090" cy="45719"/>
              </a:xfrm>
              <a:prstGeom prst="parallelogram">
                <a:avLst>
                  <a:gd name="adj" fmla="val 12914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平行四边形 26">
                <a:extLst>
                  <a:ext uri="{FF2B5EF4-FFF2-40B4-BE49-F238E27FC236}">
                    <a16:creationId xmlns:a16="http://schemas.microsoft.com/office/drawing/2014/main" id="{5C599533-F6A2-679B-55F2-F072D3CE9E1A}"/>
                  </a:ext>
                </a:extLst>
              </p:cNvPr>
              <p:cNvSpPr/>
              <p:nvPr/>
            </p:nvSpPr>
            <p:spPr>
              <a:xfrm flipH="1">
                <a:off x="2736239" y="625338"/>
                <a:ext cx="114090" cy="45719"/>
              </a:xfrm>
              <a:prstGeom prst="parallelogram">
                <a:avLst>
                  <a:gd name="adj" fmla="val 129145"/>
                </a:avLst>
              </a:prstGeom>
              <a:solidFill>
                <a:schemeClr val="accent3">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平行四边形 27">
                <a:extLst>
                  <a:ext uri="{FF2B5EF4-FFF2-40B4-BE49-F238E27FC236}">
                    <a16:creationId xmlns:a16="http://schemas.microsoft.com/office/drawing/2014/main" id="{C5890825-8A02-D21A-044B-E054902B3B00}"/>
                  </a:ext>
                </a:extLst>
              </p:cNvPr>
              <p:cNvSpPr/>
              <p:nvPr/>
            </p:nvSpPr>
            <p:spPr>
              <a:xfrm flipH="1">
                <a:off x="2640290" y="625338"/>
                <a:ext cx="114090" cy="45719"/>
              </a:xfrm>
              <a:prstGeom prst="parallelogram">
                <a:avLst>
                  <a:gd name="adj" fmla="val 129145"/>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a:extLst>
                  <a:ext uri="{FF2B5EF4-FFF2-40B4-BE49-F238E27FC236}">
                    <a16:creationId xmlns:a16="http://schemas.microsoft.com/office/drawing/2014/main" id="{3F6E840D-74D4-C632-FEB7-908CB829E213}"/>
                  </a:ext>
                </a:extLst>
              </p:cNvPr>
              <p:cNvSpPr/>
              <p:nvPr/>
            </p:nvSpPr>
            <p:spPr>
              <a:xfrm flipH="1">
                <a:off x="2544341" y="625338"/>
                <a:ext cx="114090" cy="45719"/>
              </a:xfrm>
              <a:prstGeom prst="parallelogram">
                <a:avLst>
                  <a:gd name="adj" fmla="val 129145"/>
                </a:avLst>
              </a:prstGeom>
              <a:solidFill>
                <a:schemeClr val="accent3">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平行四边形 29">
                <a:extLst>
                  <a:ext uri="{FF2B5EF4-FFF2-40B4-BE49-F238E27FC236}">
                    <a16:creationId xmlns:a16="http://schemas.microsoft.com/office/drawing/2014/main" id="{B4A04225-1CB2-9251-DA95-8AE075EAA8F2}"/>
                  </a:ext>
                </a:extLst>
              </p:cNvPr>
              <p:cNvSpPr/>
              <p:nvPr/>
            </p:nvSpPr>
            <p:spPr>
              <a:xfrm flipH="1">
                <a:off x="2448392" y="625338"/>
                <a:ext cx="114090" cy="45719"/>
              </a:xfrm>
              <a:prstGeom prst="parallelogram">
                <a:avLst>
                  <a:gd name="adj" fmla="val 129145"/>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2697773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1">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3">
            <a:extLst>
              <a:ext uri="{28A0092B-C50C-407E-A947-70E740481C1C}">
                <a14:useLocalDpi xmlns:a14="http://schemas.microsoft.com/office/drawing/2010/main" val="0"/>
              </a:ext>
            </a:extLst>
          </a:blip>
          <a:srcRect l="19160" t="67305" r="21698" b="20235"/>
          <a:stretch>
            <a:fillRect/>
          </a:stretch>
        </p:blipFill>
        <p:spPr>
          <a:xfrm>
            <a:off x="0" y="0"/>
            <a:ext cx="12192000" cy="758900"/>
          </a:xfrm>
          <a:prstGeom prst="rect">
            <a:avLst/>
          </a:prstGeom>
        </p:spPr>
      </p:pic>
      <p:sp>
        <p:nvSpPr>
          <p:cNvPr id="11" name="矩形 10"/>
          <p:cNvSpPr/>
          <p:nvPr userDrawn="1"/>
        </p:nvSpPr>
        <p:spPr>
          <a:xfrm>
            <a:off x="0" y="0"/>
            <a:ext cx="12192000" cy="758900"/>
          </a:xfrm>
          <a:prstGeom prst="rect">
            <a:avLst/>
          </a:prstGeom>
          <a:gradFill>
            <a:gsLst>
              <a:gs pos="0">
                <a:schemeClr val="accent1">
                  <a:lumMod val="75000"/>
                </a:schemeClr>
              </a:gs>
              <a:gs pos="100000">
                <a:schemeClr val="accent1">
                  <a:lumMod val="75000"/>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userDrawn="1"/>
        </p:nvSpPr>
        <p:spPr>
          <a:xfrm>
            <a:off x="-1" y="758900"/>
            <a:ext cx="12192001" cy="66338"/>
          </a:xfrm>
          <a:prstGeom prst="rect">
            <a:avLst/>
          </a:prstGeom>
          <a:gradFill>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466917" y="165400"/>
            <a:ext cx="1368044" cy="428101"/>
          </a:xfrm>
          <a:prstGeom prst="rect">
            <a:avLst/>
          </a:prstGeom>
        </p:spPr>
      </p:pic>
      <p:sp>
        <p:nvSpPr>
          <p:cNvPr id="13" name="文本框 12"/>
          <p:cNvSpPr txBox="1"/>
          <p:nvPr userDrawn="1"/>
        </p:nvSpPr>
        <p:spPr>
          <a:xfrm>
            <a:off x="11689482" y="6429445"/>
            <a:ext cx="34176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7F65B630-C7FF-41C0-9923-C5E5E29EED81}" type="slidenum">
              <a:rPr kumimoji="0" lang="en-US" altLang="zh-CN" sz="1000" b="0" i="0" u="none" strike="noStrike" kern="1200" cap="none" spc="0" normalizeH="0" baseline="0" noProof="0" smtClean="0">
                <a:ln>
                  <a:noFill/>
                </a:ln>
                <a:solidFill>
                  <a:prstClr val="black"/>
                </a:solidFill>
                <a:effectLst/>
                <a:uLnTx/>
                <a:uFillTx/>
                <a:latin typeface="Arial"/>
                <a:ea typeface="微软雅黑"/>
                <a:cs typeface="+mn-cs"/>
              </a:rPr>
              <a:t>‹#›</a:t>
            </a:fld>
            <a:endParaRPr kumimoji="0" lang="en-US" altLang="zh-CN" sz="10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2" name="PA-文本框 47"/>
          <p:cNvSpPr txBox="1"/>
          <p:nvPr userDrawn="1">
            <p:custDataLst>
              <p:tags r:id="rId1"/>
            </p:custDataLst>
          </p:nvPr>
        </p:nvSpPr>
        <p:spPr>
          <a:xfrm>
            <a:off x="269875" y="118428"/>
            <a:ext cx="4921250" cy="521970"/>
          </a:xfrm>
          <a:prstGeom prst="rect">
            <a:avLst/>
          </a:prstGeom>
          <a:noFill/>
        </p:spPr>
        <p:txBody>
          <a:bodyPr wrap="square" rtlCol="0" anchor="ctr">
            <a:spAutoFit/>
          </a:bodyPr>
          <a:lstStyle/>
          <a:p>
            <a:pPr lvl="0" algn="l">
              <a:lnSpc>
                <a:spcPct val="100000"/>
              </a:lnSpc>
              <a:defRPr/>
            </a:pPr>
            <a:r>
              <a:rPr lang="en-US" altLang="zh-CN" sz="2800" b="1" spc="0">
                <a:solidFill>
                  <a:schemeClr val="bg1"/>
                </a:solidFill>
                <a:effectLst>
                  <a:outerShdw blurRad="101600" dist="12700" dir="5400000" algn="t" rotWithShape="0">
                    <a:schemeClr val="accent3">
                      <a:alpha val="85000"/>
                    </a:schemeClr>
                  </a:outerShdw>
                </a:effectLst>
                <a:latin typeface="+mj-lt"/>
                <a:ea typeface="+mj-ea"/>
              </a:rPr>
              <a:t>5.1 </a:t>
            </a:r>
            <a:r>
              <a:rPr lang="zh-CN" altLang="en-US" sz="2800" b="1" spc="0">
                <a:solidFill>
                  <a:schemeClr val="bg1"/>
                </a:solidFill>
                <a:effectLst>
                  <a:outerShdw blurRad="101600" dist="12700" dir="5400000" algn="t" rotWithShape="0">
                    <a:schemeClr val="accent3">
                      <a:alpha val="85000"/>
                    </a:schemeClr>
                  </a:outerShdw>
                </a:effectLst>
                <a:latin typeface="+mj-lt"/>
                <a:ea typeface="+mj-ea"/>
              </a:rPr>
              <a:t>基于学习的智能导航基础</a:t>
            </a:r>
            <a:endParaRPr lang="zh-CN" altLang="en-US" sz="2800" b="1" spc="0" dirty="0">
              <a:solidFill>
                <a:schemeClr val="bg1"/>
              </a:solidFill>
              <a:effectLst>
                <a:outerShdw blurRad="101600" dist="12700" dir="5400000" algn="t" rotWithShape="0">
                  <a:schemeClr val="accent3">
                    <a:alpha val="85000"/>
                  </a:schemeClr>
                </a:outerShdw>
              </a:effectLst>
              <a:latin typeface="+mj-lt"/>
              <a:ea typeface="+mj-ea"/>
            </a:endParaRPr>
          </a:p>
        </p:txBody>
      </p:sp>
      <p:grpSp>
        <p:nvGrpSpPr>
          <p:cNvPr id="3" name="组合 2"/>
          <p:cNvGrpSpPr/>
          <p:nvPr userDrawn="1"/>
        </p:nvGrpSpPr>
        <p:grpSpPr>
          <a:xfrm flipH="1">
            <a:off x="3193104" y="-84138"/>
            <a:ext cx="1997751" cy="843038"/>
            <a:chOff x="1506537" y="0"/>
            <a:chExt cx="1997751" cy="734418"/>
          </a:xfrm>
        </p:grpSpPr>
        <p:sp>
          <p:nvSpPr>
            <p:cNvPr id="4" name="平行四边形 3"/>
            <p:cNvSpPr/>
            <p:nvPr/>
          </p:nvSpPr>
          <p:spPr>
            <a:xfrm flipH="1">
              <a:off x="1506537" y="66676"/>
              <a:ext cx="1297791" cy="492324"/>
            </a:xfrm>
            <a:prstGeom prst="parallelogram">
              <a:avLst>
                <a:gd name="adj" fmla="val 110052"/>
              </a:avLst>
            </a:prstGeom>
            <a:gradFill>
              <a:gsLst>
                <a:gs pos="0">
                  <a:schemeClr val="accent1">
                    <a:lumMod val="20000"/>
                    <a:lumOff val="80000"/>
                    <a:alpha val="20000"/>
                  </a:schemeClr>
                </a:gs>
                <a:gs pos="100000">
                  <a:schemeClr val="accent1">
                    <a:lumMod val="20000"/>
                    <a:lumOff val="80000"/>
                    <a:alpha val="0"/>
                  </a:scheme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flipH="1">
              <a:off x="1788578" y="66676"/>
              <a:ext cx="1028341" cy="492324"/>
            </a:xfrm>
            <a:prstGeom prst="parallelogram">
              <a:avLst>
                <a:gd name="adj" fmla="val 111457"/>
              </a:avLst>
            </a:prstGeom>
            <a:gradFill>
              <a:gsLst>
                <a:gs pos="0">
                  <a:schemeClr val="accent1">
                    <a:lumMod val="20000"/>
                    <a:lumOff val="80000"/>
                    <a:alpha val="20000"/>
                  </a:schemeClr>
                </a:gs>
                <a:gs pos="85000">
                  <a:schemeClr val="accent1">
                    <a:lumMod val="20000"/>
                    <a:lumOff val="80000"/>
                    <a:alpha val="0"/>
                  </a:schemeClr>
                </a:gs>
              </a:gsLst>
              <a:lin ang="3000000" scaled="0"/>
            </a:gradFill>
            <a:ln>
              <a:gradFill>
                <a:gsLst>
                  <a:gs pos="0">
                    <a:schemeClr val="accent3"/>
                  </a:gs>
                  <a:gs pos="60000">
                    <a:schemeClr val="accent1">
                      <a:lumMod val="20000"/>
                      <a:lumOff val="80000"/>
                      <a:alpha val="0"/>
                    </a:schemeClr>
                  </a:gs>
                </a:gsLst>
                <a:lin ang="30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3057205" y="665500"/>
              <a:ext cx="447083" cy="68918"/>
              <a:chOff x="5933623" y="2427611"/>
              <a:chExt cx="447083" cy="68918"/>
            </a:xfrm>
          </p:grpSpPr>
          <p:cxnSp>
            <p:nvCxnSpPr>
              <p:cNvPr id="18" name="直接连接符 17"/>
              <p:cNvCxnSpPr/>
              <p:nvPr/>
            </p:nvCxnSpPr>
            <p:spPr>
              <a:xfrm flipH="1" flipV="1">
                <a:off x="6311788" y="2427611"/>
                <a:ext cx="68918" cy="6891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5933623" y="2427611"/>
                <a:ext cx="37816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9" name="直接连接符 8"/>
            <p:cNvCxnSpPr/>
            <p:nvPr/>
          </p:nvCxnSpPr>
          <p:spPr>
            <a:xfrm flipH="1" flipV="1">
              <a:off x="2219102" y="0"/>
              <a:ext cx="838103" cy="665500"/>
            </a:xfrm>
            <a:prstGeom prst="line">
              <a:avLst/>
            </a:prstGeom>
            <a:ln w="12700">
              <a:gradFill>
                <a:gsLst>
                  <a:gs pos="0">
                    <a:schemeClr val="accent3"/>
                  </a:gs>
                  <a:gs pos="92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2448392" y="625338"/>
              <a:ext cx="497886" cy="45719"/>
              <a:chOff x="2448392" y="625338"/>
              <a:chExt cx="497886" cy="45719"/>
            </a:xfrm>
          </p:grpSpPr>
          <p:sp>
            <p:nvSpPr>
              <p:cNvPr id="12" name="平行四边形 11"/>
              <p:cNvSpPr/>
              <p:nvPr/>
            </p:nvSpPr>
            <p:spPr>
              <a:xfrm flipH="1">
                <a:off x="2832188" y="625338"/>
                <a:ext cx="114090" cy="45719"/>
              </a:xfrm>
              <a:prstGeom prst="parallelogram">
                <a:avLst>
                  <a:gd name="adj" fmla="val 12914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flipH="1">
                <a:off x="2736239" y="625338"/>
                <a:ext cx="114090" cy="45719"/>
              </a:xfrm>
              <a:prstGeom prst="parallelogram">
                <a:avLst>
                  <a:gd name="adj" fmla="val 129145"/>
                </a:avLst>
              </a:prstGeom>
              <a:solidFill>
                <a:schemeClr val="accent3">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p:cNvSpPr/>
              <p:nvPr/>
            </p:nvSpPr>
            <p:spPr>
              <a:xfrm flipH="1">
                <a:off x="2640290" y="625338"/>
                <a:ext cx="114090" cy="45719"/>
              </a:xfrm>
              <a:prstGeom prst="parallelogram">
                <a:avLst>
                  <a:gd name="adj" fmla="val 129145"/>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flipH="1">
                <a:off x="2544341" y="625338"/>
                <a:ext cx="114090" cy="45719"/>
              </a:xfrm>
              <a:prstGeom prst="parallelogram">
                <a:avLst>
                  <a:gd name="adj" fmla="val 129145"/>
                </a:avLst>
              </a:prstGeom>
              <a:solidFill>
                <a:schemeClr val="accent3">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平行四边形 16"/>
              <p:cNvSpPr/>
              <p:nvPr/>
            </p:nvSpPr>
            <p:spPr>
              <a:xfrm flipH="1">
                <a:off x="2448392" y="625338"/>
                <a:ext cx="114090" cy="45719"/>
              </a:xfrm>
              <a:prstGeom prst="parallelogram">
                <a:avLst>
                  <a:gd name="adj" fmla="val 129145"/>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9248445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2">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3">
            <a:extLst>
              <a:ext uri="{28A0092B-C50C-407E-A947-70E740481C1C}">
                <a14:useLocalDpi xmlns:a14="http://schemas.microsoft.com/office/drawing/2010/main" val="0"/>
              </a:ext>
            </a:extLst>
          </a:blip>
          <a:srcRect l="19160" t="67305" r="21698" b="20235"/>
          <a:stretch>
            <a:fillRect/>
          </a:stretch>
        </p:blipFill>
        <p:spPr>
          <a:xfrm>
            <a:off x="0" y="0"/>
            <a:ext cx="12192000" cy="758900"/>
          </a:xfrm>
          <a:prstGeom prst="rect">
            <a:avLst/>
          </a:prstGeom>
        </p:spPr>
      </p:pic>
      <p:sp>
        <p:nvSpPr>
          <p:cNvPr id="11" name="矩形 10"/>
          <p:cNvSpPr/>
          <p:nvPr userDrawn="1"/>
        </p:nvSpPr>
        <p:spPr>
          <a:xfrm>
            <a:off x="0" y="0"/>
            <a:ext cx="12192000" cy="758900"/>
          </a:xfrm>
          <a:prstGeom prst="rect">
            <a:avLst/>
          </a:prstGeom>
          <a:gradFill>
            <a:gsLst>
              <a:gs pos="0">
                <a:schemeClr val="accent1">
                  <a:lumMod val="75000"/>
                </a:schemeClr>
              </a:gs>
              <a:gs pos="100000">
                <a:schemeClr val="accent1">
                  <a:lumMod val="75000"/>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userDrawn="1"/>
        </p:nvSpPr>
        <p:spPr>
          <a:xfrm>
            <a:off x="-1" y="758900"/>
            <a:ext cx="12192001" cy="66338"/>
          </a:xfrm>
          <a:prstGeom prst="rect">
            <a:avLst/>
          </a:prstGeom>
          <a:gradFill>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466917" y="165400"/>
            <a:ext cx="1368044" cy="428101"/>
          </a:xfrm>
          <a:prstGeom prst="rect">
            <a:avLst/>
          </a:prstGeom>
        </p:spPr>
      </p:pic>
      <p:sp>
        <p:nvSpPr>
          <p:cNvPr id="13" name="文本框 12"/>
          <p:cNvSpPr txBox="1"/>
          <p:nvPr userDrawn="1"/>
        </p:nvSpPr>
        <p:spPr>
          <a:xfrm>
            <a:off x="11689482" y="6429445"/>
            <a:ext cx="34176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7F65B630-C7FF-41C0-9923-C5E5E29EED81}" type="slidenum">
              <a:rPr kumimoji="0" lang="en-US" altLang="zh-CN" sz="1000" b="0" i="0" u="none" strike="noStrike" kern="1200" cap="none" spc="0" normalizeH="0" baseline="0" noProof="0" smtClean="0">
                <a:ln>
                  <a:noFill/>
                </a:ln>
                <a:solidFill>
                  <a:prstClr val="black"/>
                </a:solidFill>
                <a:effectLst/>
                <a:uLnTx/>
                <a:uFillTx/>
                <a:latin typeface="Arial"/>
                <a:ea typeface="微软雅黑"/>
                <a:cs typeface="+mn-cs"/>
              </a:rPr>
              <a:t>‹#›</a:t>
            </a:fld>
            <a:endParaRPr kumimoji="0" lang="en-US" altLang="zh-CN" sz="10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2" name="PA-文本框 47"/>
          <p:cNvSpPr txBox="1"/>
          <p:nvPr userDrawn="1">
            <p:custDataLst>
              <p:tags r:id="rId1"/>
            </p:custDataLst>
          </p:nvPr>
        </p:nvSpPr>
        <p:spPr>
          <a:xfrm>
            <a:off x="269875" y="118428"/>
            <a:ext cx="5826125" cy="521970"/>
          </a:xfrm>
          <a:prstGeom prst="rect">
            <a:avLst/>
          </a:prstGeom>
          <a:noFill/>
        </p:spPr>
        <p:txBody>
          <a:bodyPr wrap="square" rtlCol="0" anchor="ctr">
            <a:spAutoFit/>
          </a:bodyPr>
          <a:lstStyle/>
          <a:p>
            <a:pPr lvl="0" algn="l">
              <a:lnSpc>
                <a:spcPct val="100000"/>
              </a:lnSpc>
              <a:defRPr/>
            </a:pPr>
            <a:r>
              <a:rPr lang="en-US" altLang="zh-CN" sz="2800" b="1" spc="0" dirty="0">
                <a:solidFill>
                  <a:schemeClr val="bg1"/>
                </a:solidFill>
                <a:effectLst>
                  <a:outerShdw blurRad="101600" dist="12700" dir="5400000" algn="t" rotWithShape="0">
                    <a:schemeClr val="accent3">
                      <a:alpha val="85000"/>
                    </a:schemeClr>
                  </a:outerShdw>
                </a:effectLst>
                <a:latin typeface="+mj-lt"/>
                <a:ea typeface="+mj-ea"/>
              </a:rPr>
              <a:t>5.2 </a:t>
            </a:r>
            <a:r>
              <a:rPr lang="zh-CN" altLang="en-US" sz="2800" b="1" spc="0" dirty="0">
                <a:solidFill>
                  <a:schemeClr val="bg1"/>
                </a:solidFill>
                <a:effectLst>
                  <a:outerShdw blurRad="101600" dist="12700" dir="5400000" algn="t" rotWithShape="0">
                    <a:schemeClr val="accent3">
                      <a:alpha val="85000"/>
                    </a:schemeClr>
                  </a:outerShdw>
                </a:effectLst>
                <a:latin typeface="+mj-lt"/>
                <a:ea typeface="+mj-ea"/>
              </a:rPr>
              <a:t>基于传统机器学习的导航方法</a:t>
            </a:r>
          </a:p>
        </p:txBody>
      </p:sp>
      <p:grpSp>
        <p:nvGrpSpPr>
          <p:cNvPr id="3" name="组合 2"/>
          <p:cNvGrpSpPr/>
          <p:nvPr userDrawn="1"/>
        </p:nvGrpSpPr>
        <p:grpSpPr>
          <a:xfrm flipH="1">
            <a:off x="3193104" y="-84138"/>
            <a:ext cx="1997751" cy="843038"/>
            <a:chOff x="1506537" y="0"/>
            <a:chExt cx="1997751" cy="734418"/>
          </a:xfrm>
        </p:grpSpPr>
        <p:sp>
          <p:nvSpPr>
            <p:cNvPr id="4" name="平行四边形 3"/>
            <p:cNvSpPr/>
            <p:nvPr/>
          </p:nvSpPr>
          <p:spPr>
            <a:xfrm flipH="1">
              <a:off x="1506537" y="66676"/>
              <a:ext cx="1297791" cy="492324"/>
            </a:xfrm>
            <a:prstGeom prst="parallelogram">
              <a:avLst>
                <a:gd name="adj" fmla="val 110052"/>
              </a:avLst>
            </a:prstGeom>
            <a:gradFill>
              <a:gsLst>
                <a:gs pos="0">
                  <a:schemeClr val="accent1">
                    <a:lumMod val="20000"/>
                    <a:lumOff val="80000"/>
                    <a:alpha val="20000"/>
                  </a:schemeClr>
                </a:gs>
                <a:gs pos="100000">
                  <a:schemeClr val="accent1">
                    <a:lumMod val="20000"/>
                    <a:lumOff val="80000"/>
                    <a:alpha val="0"/>
                  </a:scheme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flipH="1">
              <a:off x="1788578" y="66676"/>
              <a:ext cx="1028341" cy="492324"/>
            </a:xfrm>
            <a:prstGeom prst="parallelogram">
              <a:avLst>
                <a:gd name="adj" fmla="val 111457"/>
              </a:avLst>
            </a:prstGeom>
            <a:gradFill>
              <a:gsLst>
                <a:gs pos="0">
                  <a:schemeClr val="accent1">
                    <a:lumMod val="20000"/>
                    <a:lumOff val="80000"/>
                    <a:alpha val="20000"/>
                  </a:schemeClr>
                </a:gs>
                <a:gs pos="85000">
                  <a:schemeClr val="accent1">
                    <a:lumMod val="20000"/>
                    <a:lumOff val="80000"/>
                    <a:alpha val="0"/>
                  </a:schemeClr>
                </a:gs>
              </a:gsLst>
              <a:lin ang="3000000" scaled="0"/>
            </a:gradFill>
            <a:ln>
              <a:gradFill>
                <a:gsLst>
                  <a:gs pos="0">
                    <a:schemeClr val="accent3"/>
                  </a:gs>
                  <a:gs pos="60000">
                    <a:schemeClr val="accent1">
                      <a:lumMod val="20000"/>
                      <a:lumOff val="80000"/>
                      <a:alpha val="0"/>
                    </a:schemeClr>
                  </a:gs>
                </a:gsLst>
                <a:lin ang="30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3057205" y="665500"/>
              <a:ext cx="447083" cy="68918"/>
              <a:chOff x="5933623" y="2427611"/>
              <a:chExt cx="447083" cy="68918"/>
            </a:xfrm>
          </p:grpSpPr>
          <p:cxnSp>
            <p:nvCxnSpPr>
              <p:cNvPr id="18" name="直接连接符 17"/>
              <p:cNvCxnSpPr/>
              <p:nvPr/>
            </p:nvCxnSpPr>
            <p:spPr>
              <a:xfrm flipH="1" flipV="1">
                <a:off x="6311788" y="2427611"/>
                <a:ext cx="68918" cy="6891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5933623" y="2427611"/>
                <a:ext cx="37816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9" name="直接连接符 8"/>
            <p:cNvCxnSpPr/>
            <p:nvPr/>
          </p:nvCxnSpPr>
          <p:spPr>
            <a:xfrm flipH="1" flipV="1">
              <a:off x="2219102" y="0"/>
              <a:ext cx="838103" cy="665500"/>
            </a:xfrm>
            <a:prstGeom prst="line">
              <a:avLst/>
            </a:prstGeom>
            <a:ln w="12700">
              <a:gradFill>
                <a:gsLst>
                  <a:gs pos="0">
                    <a:schemeClr val="accent3"/>
                  </a:gs>
                  <a:gs pos="92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2448392" y="625338"/>
              <a:ext cx="497886" cy="45719"/>
              <a:chOff x="2448392" y="625338"/>
              <a:chExt cx="497886" cy="45719"/>
            </a:xfrm>
          </p:grpSpPr>
          <p:sp>
            <p:nvSpPr>
              <p:cNvPr id="12" name="平行四边形 11"/>
              <p:cNvSpPr/>
              <p:nvPr/>
            </p:nvSpPr>
            <p:spPr>
              <a:xfrm flipH="1">
                <a:off x="2832188" y="625338"/>
                <a:ext cx="114090" cy="45719"/>
              </a:xfrm>
              <a:prstGeom prst="parallelogram">
                <a:avLst>
                  <a:gd name="adj" fmla="val 12914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flipH="1">
                <a:off x="2736239" y="625338"/>
                <a:ext cx="114090" cy="45719"/>
              </a:xfrm>
              <a:prstGeom prst="parallelogram">
                <a:avLst>
                  <a:gd name="adj" fmla="val 129145"/>
                </a:avLst>
              </a:prstGeom>
              <a:solidFill>
                <a:schemeClr val="accent3">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p:cNvSpPr/>
              <p:nvPr/>
            </p:nvSpPr>
            <p:spPr>
              <a:xfrm flipH="1">
                <a:off x="2640290" y="625338"/>
                <a:ext cx="114090" cy="45719"/>
              </a:xfrm>
              <a:prstGeom prst="parallelogram">
                <a:avLst>
                  <a:gd name="adj" fmla="val 129145"/>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flipH="1">
                <a:off x="2544341" y="625338"/>
                <a:ext cx="114090" cy="45719"/>
              </a:xfrm>
              <a:prstGeom prst="parallelogram">
                <a:avLst>
                  <a:gd name="adj" fmla="val 129145"/>
                </a:avLst>
              </a:prstGeom>
              <a:solidFill>
                <a:schemeClr val="accent3">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平行四边形 16"/>
              <p:cNvSpPr/>
              <p:nvPr/>
            </p:nvSpPr>
            <p:spPr>
              <a:xfrm flipH="1">
                <a:off x="2448392" y="625338"/>
                <a:ext cx="114090" cy="45719"/>
              </a:xfrm>
              <a:prstGeom prst="parallelogram">
                <a:avLst>
                  <a:gd name="adj" fmla="val 129145"/>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6527997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1">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AEA86DC7-B2E5-7A5F-EA99-6083B53481F5}"/>
              </a:ext>
            </a:extLst>
          </p:cNvPr>
          <p:cNvPicPr>
            <a:picLocks noChangeAspect="1"/>
          </p:cNvPicPr>
          <p:nvPr userDrawn="1"/>
        </p:nvPicPr>
        <p:blipFill>
          <a:blip r:embed="rId3">
            <a:extLst>
              <a:ext uri="{28A0092B-C50C-407E-A947-70E740481C1C}">
                <a14:useLocalDpi xmlns:a14="http://schemas.microsoft.com/office/drawing/2010/main" val="0"/>
              </a:ext>
            </a:extLst>
          </a:blip>
          <a:srcRect l="19160" t="67305" r="21698" b="20235"/>
          <a:stretch>
            <a:fillRect/>
          </a:stretch>
        </p:blipFill>
        <p:spPr>
          <a:xfrm>
            <a:off x="0" y="0"/>
            <a:ext cx="12192000" cy="758900"/>
          </a:xfrm>
          <a:prstGeom prst="rect">
            <a:avLst/>
          </a:prstGeom>
        </p:spPr>
      </p:pic>
      <p:sp>
        <p:nvSpPr>
          <p:cNvPr id="11" name="矩形 10">
            <a:extLst>
              <a:ext uri="{FF2B5EF4-FFF2-40B4-BE49-F238E27FC236}">
                <a16:creationId xmlns:a16="http://schemas.microsoft.com/office/drawing/2014/main" id="{BD227C66-B9F3-97BE-8312-3D18ECEE8B95}"/>
              </a:ext>
            </a:extLst>
          </p:cNvPr>
          <p:cNvSpPr/>
          <p:nvPr userDrawn="1"/>
        </p:nvSpPr>
        <p:spPr>
          <a:xfrm>
            <a:off x="0" y="0"/>
            <a:ext cx="12192000" cy="758900"/>
          </a:xfrm>
          <a:prstGeom prst="rect">
            <a:avLst/>
          </a:prstGeom>
          <a:gradFill>
            <a:gsLst>
              <a:gs pos="0">
                <a:schemeClr val="accent1">
                  <a:lumMod val="75000"/>
                </a:schemeClr>
              </a:gs>
              <a:gs pos="100000">
                <a:schemeClr val="accent1">
                  <a:lumMod val="75000"/>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3C333C4B-9E5C-847F-E9F8-76255BDE1E3D}"/>
              </a:ext>
            </a:extLst>
          </p:cNvPr>
          <p:cNvSpPr/>
          <p:nvPr userDrawn="1"/>
        </p:nvSpPr>
        <p:spPr>
          <a:xfrm>
            <a:off x="-1" y="758900"/>
            <a:ext cx="12192001" cy="66338"/>
          </a:xfrm>
          <a:prstGeom prst="rect">
            <a:avLst/>
          </a:prstGeom>
          <a:gradFill>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20799F71-EAF4-4F94-39F2-85A8D18F25A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66917" y="165400"/>
            <a:ext cx="1368044" cy="428101"/>
          </a:xfrm>
          <a:prstGeom prst="rect">
            <a:avLst/>
          </a:prstGeom>
        </p:spPr>
      </p:pic>
      <p:sp>
        <p:nvSpPr>
          <p:cNvPr id="13" name="文本框 12">
            <a:extLst>
              <a:ext uri="{FF2B5EF4-FFF2-40B4-BE49-F238E27FC236}">
                <a16:creationId xmlns:a16="http://schemas.microsoft.com/office/drawing/2014/main" id="{9E39EC3C-CF76-4705-79D0-10D3706C4D92}"/>
              </a:ext>
            </a:extLst>
          </p:cNvPr>
          <p:cNvSpPr txBox="1"/>
          <p:nvPr userDrawn="1"/>
        </p:nvSpPr>
        <p:spPr>
          <a:xfrm>
            <a:off x="11689482" y="6429445"/>
            <a:ext cx="34176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F65B630-C7FF-41C0-9923-C5E5E29EED81}" type="slidenum">
              <a:rPr kumimoji="0" lang="en-US" altLang="zh-CN" sz="1000" b="0" i="0" u="none" strike="noStrike" kern="1200" cap="none" spc="0" normalizeH="0" baseline="0" noProof="0" smtClean="0">
                <a:ln>
                  <a:noFill/>
                </a:ln>
                <a:solidFill>
                  <a:prstClr val="black"/>
                </a:solidFill>
                <a:effectLst/>
                <a:uLnTx/>
                <a:uFillTx/>
                <a:latin typeface="Arial"/>
                <a:ea typeface="微软雅黑"/>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altLang="zh-CN" sz="10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2" name="PA-文本框 47">
            <a:extLst>
              <a:ext uri="{FF2B5EF4-FFF2-40B4-BE49-F238E27FC236}">
                <a16:creationId xmlns:a16="http://schemas.microsoft.com/office/drawing/2014/main" id="{E6488CDA-5717-7C52-55E2-4CF69B10BA43}"/>
              </a:ext>
            </a:extLst>
          </p:cNvPr>
          <p:cNvSpPr txBox="1"/>
          <p:nvPr userDrawn="1">
            <p:custDataLst>
              <p:tags r:id="rId1"/>
            </p:custDataLst>
          </p:nvPr>
        </p:nvSpPr>
        <p:spPr>
          <a:xfrm>
            <a:off x="270158" y="117840"/>
            <a:ext cx="4933288" cy="523220"/>
          </a:xfrm>
          <a:prstGeom prst="rect">
            <a:avLst/>
          </a:prstGeom>
          <a:noFill/>
        </p:spPr>
        <p:txBody>
          <a:bodyPr wrap="square" rtlCol="0" anchor="ctr">
            <a:spAutoFit/>
          </a:bodyPr>
          <a:lstStyle/>
          <a:p>
            <a:pPr lvl="0" algn="l">
              <a:lnSpc>
                <a:spcPct val="100000"/>
              </a:lnSpc>
              <a:defRPr/>
            </a:pPr>
            <a:r>
              <a:rPr lang="en-US" altLang="zh-CN" sz="2800" b="1" kern="1200" spc="0" dirty="0">
                <a:solidFill>
                  <a:schemeClr val="bg1"/>
                </a:solidFill>
                <a:effectLst>
                  <a:outerShdw blurRad="101600" dist="12700" dir="5400000" algn="t" rotWithShape="0">
                    <a:schemeClr val="accent3">
                      <a:alpha val="85000"/>
                    </a:schemeClr>
                  </a:outerShdw>
                </a:effectLst>
                <a:latin typeface="+mj-lt"/>
                <a:ea typeface="+mj-ea"/>
                <a:cs typeface="+mn-cs"/>
              </a:rPr>
              <a:t>5.3 </a:t>
            </a:r>
            <a:r>
              <a:rPr lang="zh-CN" altLang="en-US" sz="2800" b="1" kern="1200" spc="0" dirty="0">
                <a:solidFill>
                  <a:schemeClr val="bg1"/>
                </a:solidFill>
                <a:effectLst>
                  <a:outerShdw blurRad="101600" dist="12700" dir="5400000" algn="t" rotWithShape="0">
                    <a:schemeClr val="accent3">
                      <a:alpha val="85000"/>
                    </a:schemeClr>
                  </a:outerShdw>
                </a:effectLst>
                <a:latin typeface="+mj-lt"/>
                <a:ea typeface="+mj-ea"/>
                <a:cs typeface="+mn-cs"/>
              </a:rPr>
              <a:t>基于深度学习的导航方法</a:t>
            </a:r>
          </a:p>
        </p:txBody>
      </p:sp>
      <p:grpSp>
        <p:nvGrpSpPr>
          <p:cNvPr id="3" name="组合 2">
            <a:extLst>
              <a:ext uri="{FF2B5EF4-FFF2-40B4-BE49-F238E27FC236}">
                <a16:creationId xmlns:a16="http://schemas.microsoft.com/office/drawing/2014/main" id="{B76E479D-B9B3-BE7C-9794-62661FD62EA9}"/>
              </a:ext>
            </a:extLst>
          </p:cNvPr>
          <p:cNvGrpSpPr/>
          <p:nvPr userDrawn="1"/>
        </p:nvGrpSpPr>
        <p:grpSpPr>
          <a:xfrm flipH="1">
            <a:off x="3193104" y="-84138"/>
            <a:ext cx="1997751" cy="843038"/>
            <a:chOff x="1506537" y="0"/>
            <a:chExt cx="1997751" cy="734418"/>
          </a:xfrm>
        </p:grpSpPr>
        <p:sp>
          <p:nvSpPr>
            <p:cNvPr id="4" name="平行四边形 3">
              <a:extLst>
                <a:ext uri="{FF2B5EF4-FFF2-40B4-BE49-F238E27FC236}">
                  <a16:creationId xmlns:a16="http://schemas.microsoft.com/office/drawing/2014/main" id="{16A8E70C-62F5-ABAF-101A-12F20D1B9F32}"/>
                </a:ext>
              </a:extLst>
            </p:cNvPr>
            <p:cNvSpPr/>
            <p:nvPr/>
          </p:nvSpPr>
          <p:spPr>
            <a:xfrm flipH="1">
              <a:off x="1506537" y="66676"/>
              <a:ext cx="1297791" cy="492324"/>
            </a:xfrm>
            <a:prstGeom prst="parallelogram">
              <a:avLst>
                <a:gd name="adj" fmla="val 110052"/>
              </a:avLst>
            </a:prstGeom>
            <a:gradFill>
              <a:gsLst>
                <a:gs pos="0">
                  <a:schemeClr val="accent1">
                    <a:lumMod val="20000"/>
                    <a:lumOff val="80000"/>
                    <a:alpha val="20000"/>
                  </a:schemeClr>
                </a:gs>
                <a:gs pos="100000">
                  <a:schemeClr val="accent1">
                    <a:lumMod val="20000"/>
                    <a:lumOff val="80000"/>
                    <a:alpha val="0"/>
                  </a:scheme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a:extLst>
                <a:ext uri="{FF2B5EF4-FFF2-40B4-BE49-F238E27FC236}">
                  <a16:creationId xmlns:a16="http://schemas.microsoft.com/office/drawing/2014/main" id="{7169DF9C-2FF0-1B2B-A6D8-121262FFB7C6}"/>
                </a:ext>
              </a:extLst>
            </p:cNvPr>
            <p:cNvSpPr/>
            <p:nvPr/>
          </p:nvSpPr>
          <p:spPr>
            <a:xfrm flipH="1">
              <a:off x="1788578" y="66676"/>
              <a:ext cx="1028341" cy="492324"/>
            </a:xfrm>
            <a:prstGeom prst="parallelogram">
              <a:avLst>
                <a:gd name="adj" fmla="val 111457"/>
              </a:avLst>
            </a:prstGeom>
            <a:gradFill>
              <a:gsLst>
                <a:gs pos="0">
                  <a:schemeClr val="accent1">
                    <a:lumMod val="20000"/>
                    <a:lumOff val="80000"/>
                    <a:alpha val="20000"/>
                  </a:schemeClr>
                </a:gs>
                <a:gs pos="85000">
                  <a:schemeClr val="accent1">
                    <a:lumMod val="20000"/>
                    <a:lumOff val="80000"/>
                    <a:alpha val="0"/>
                  </a:schemeClr>
                </a:gs>
              </a:gsLst>
              <a:lin ang="3000000" scaled="0"/>
            </a:gradFill>
            <a:ln>
              <a:gradFill>
                <a:gsLst>
                  <a:gs pos="0">
                    <a:schemeClr val="accent3"/>
                  </a:gs>
                  <a:gs pos="60000">
                    <a:schemeClr val="accent1">
                      <a:lumMod val="20000"/>
                      <a:lumOff val="80000"/>
                      <a:alpha val="0"/>
                    </a:schemeClr>
                  </a:gs>
                </a:gsLst>
                <a:lin ang="30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a:extLst>
                <a:ext uri="{FF2B5EF4-FFF2-40B4-BE49-F238E27FC236}">
                  <a16:creationId xmlns:a16="http://schemas.microsoft.com/office/drawing/2014/main" id="{01F5117A-D727-713C-D799-B80849EB67FF}"/>
                </a:ext>
              </a:extLst>
            </p:cNvPr>
            <p:cNvGrpSpPr/>
            <p:nvPr/>
          </p:nvGrpSpPr>
          <p:grpSpPr>
            <a:xfrm>
              <a:off x="3057205" y="665500"/>
              <a:ext cx="447083" cy="68918"/>
              <a:chOff x="5933623" y="2427611"/>
              <a:chExt cx="447083" cy="68918"/>
            </a:xfrm>
          </p:grpSpPr>
          <p:cxnSp>
            <p:nvCxnSpPr>
              <p:cNvPr id="18" name="直接连接符 17">
                <a:extLst>
                  <a:ext uri="{FF2B5EF4-FFF2-40B4-BE49-F238E27FC236}">
                    <a16:creationId xmlns:a16="http://schemas.microsoft.com/office/drawing/2014/main" id="{A9BD8071-59C7-686E-28B6-8853ADD44FFD}"/>
                  </a:ext>
                </a:extLst>
              </p:cNvPr>
              <p:cNvCxnSpPr>
                <a:cxnSpLocks/>
              </p:cNvCxnSpPr>
              <p:nvPr/>
            </p:nvCxnSpPr>
            <p:spPr>
              <a:xfrm flipH="1" flipV="1">
                <a:off x="6311788" y="2427611"/>
                <a:ext cx="68918" cy="6891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D17BF6C8-1813-4C19-0D49-FA70C74DC8E3}"/>
                  </a:ext>
                </a:extLst>
              </p:cNvPr>
              <p:cNvCxnSpPr>
                <a:cxnSpLocks/>
              </p:cNvCxnSpPr>
              <p:nvPr/>
            </p:nvCxnSpPr>
            <p:spPr>
              <a:xfrm flipH="1">
                <a:off x="5933623" y="2427611"/>
                <a:ext cx="37816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9" name="直接连接符 8">
              <a:extLst>
                <a:ext uri="{FF2B5EF4-FFF2-40B4-BE49-F238E27FC236}">
                  <a16:creationId xmlns:a16="http://schemas.microsoft.com/office/drawing/2014/main" id="{7AD96D8B-2D45-C85D-BD28-F279C36D642D}"/>
                </a:ext>
              </a:extLst>
            </p:cNvPr>
            <p:cNvCxnSpPr>
              <a:cxnSpLocks/>
            </p:cNvCxnSpPr>
            <p:nvPr/>
          </p:nvCxnSpPr>
          <p:spPr>
            <a:xfrm flipH="1" flipV="1">
              <a:off x="2219102" y="0"/>
              <a:ext cx="838103" cy="665500"/>
            </a:xfrm>
            <a:prstGeom prst="line">
              <a:avLst/>
            </a:prstGeom>
            <a:ln w="12700">
              <a:gradFill>
                <a:gsLst>
                  <a:gs pos="0">
                    <a:schemeClr val="accent3"/>
                  </a:gs>
                  <a:gs pos="92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C465E33D-B5EF-9ABF-516E-D3F3DABEF7C7}"/>
                </a:ext>
              </a:extLst>
            </p:cNvPr>
            <p:cNvGrpSpPr/>
            <p:nvPr/>
          </p:nvGrpSpPr>
          <p:grpSpPr>
            <a:xfrm>
              <a:off x="2448392" y="625338"/>
              <a:ext cx="497886" cy="45719"/>
              <a:chOff x="2448392" y="625338"/>
              <a:chExt cx="497886" cy="45719"/>
            </a:xfrm>
          </p:grpSpPr>
          <p:sp>
            <p:nvSpPr>
              <p:cNvPr id="12" name="平行四边形 11">
                <a:extLst>
                  <a:ext uri="{FF2B5EF4-FFF2-40B4-BE49-F238E27FC236}">
                    <a16:creationId xmlns:a16="http://schemas.microsoft.com/office/drawing/2014/main" id="{64801B9B-4A83-0E60-AC6B-B8B2E836C20F}"/>
                  </a:ext>
                </a:extLst>
              </p:cNvPr>
              <p:cNvSpPr/>
              <p:nvPr/>
            </p:nvSpPr>
            <p:spPr>
              <a:xfrm flipH="1">
                <a:off x="2832188" y="625338"/>
                <a:ext cx="114090" cy="45719"/>
              </a:xfrm>
              <a:prstGeom prst="parallelogram">
                <a:avLst>
                  <a:gd name="adj" fmla="val 12914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a:extLst>
                  <a:ext uri="{FF2B5EF4-FFF2-40B4-BE49-F238E27FC236}">
                    <a16:creationId xmlns:a16="http://schemas.microsoft.com/office/drawing/2014/main" id="{713EE010-747C-F37C-F015-826DF2FEE20E}"/>
                  </a:ext>
                </a:extLst>
              </p:cNvPr>
              <p:cNvSpPr/>
              <p:nvPr/>
            </p:nvSpPr>
            <p:spPr>
              <a:xfrm flipH="1">
                <a:off x="2736239" y="625338"/>
                <a:ext cx="114090" cy="45719"/>
              </a:xfrm>
              <a:prstGeom prst="parallelogram">
                <a:avLst>
                  <a:gd name="adj" fmla="val 129145"/>
                </a:avLst>
              </a:prstGeom>
              <a:solidFill>
                <a:schemeClr val="accent3">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a:extLst>
                  <a:ext uri="{FF2B5EF4-FFF2-40B4-BE49-F238E27FC236}">
                    <a16:creationId xmlns:a16="http://schemas.microsoft.com/office/drawing/2014/main" id="{740A31D2-CE41-A4A9-87E9-FEE575AEFB0D}"/>
                  </a:ext>
                </a:extLst>
              </p:cNvPr>
              <p:cNvSpPr/>
              <p:nvPr/>
            </p:nvSpPr>
            <p:spPr>
              <a:xfrm flipH="1">
                <a:off x="2640290" y="625338"/>
                <a:ext cx="114090" cy="45719"/>
              </a:xfrm>
              <a:prstGeom prst="parallelogram">
                <a:avLst>
                  <a:gd name="adj" fmla="val 129145"/>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a:extLst>
                  <a:ext uri="{FF2B5EF4-FFF2-40B4-BE49-F238E27FC236}">
                    <a16:creationId xmlns:a16="http://schemas.microsoft.com/office/drawing/2014/main" id="{EE6CCBF9-CB0F-5048-1E68-4FB6B5FD0FC7}"/>
                  </a:ext>
                </a:extLst>
              </p:cNvPr>
              <p:cNvSpPr/>
              <p:nvPr/>
            </p:nvSpPr>
            <p:spPr>
              <a:xfrm flipH="1">
                <a:off x="2544341" y="625338"/>
                <a:ext cx="114090" cy="45719"/>
              </a:xfrm>
              <a:prstGeom prst="parallelogram">
                <a:avLst>
                  <a:gd name="adj" fmla="val 129145"/>
                </a:avLst>
              </a:prstGeom>
              <a:solidFill>
                <a:schemeClr val="accent3">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平行四边形 16">
                <a:extLst>
                  <a:ext uri="{FF2B5EF4-FFF2-40B4-BE49-F238E27FC236}">
                    <a16:creationId xmlns:a16="http://schemas.microsoft.com/office/drawing/2014/main" id="{FA44E640-9914-7517-B979-279A052F7576}"/>
                  </a:ext>
                </a:extLst>
              </p:cNvPr>
              <p:cNvSpPr/>
              <p:nvPr/>
            </p:nvSpPr>
            <p:spPr>
              <a:xfrm flipH="1">
                <a:off x="2448392" y="625338"/>
                <a:ext cx="114090" cy="45719"/>
              </a:xfrm>
              <a:prstGeom prst="parallelogram">
                <a:avLst>
                  <a:gd name="adj" fmla="val 129145"/>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468740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4">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3">
            <a:extLst>
              <a:ext uri="{28A0092B-C50C-407E-A947-70E740481C1C}">
                <a14:useLocalDpi xmlns:a14="http://schemas.microsoft.com/office/drawing/2010/main" val="0"/>
              </a:ext>
            </a:extLst>
          </a:blip>
          <a:srcRect l="19160" t="67305" r="21698" b="20235"/>
          <a:stretch>
            <a:fillRect/>
          </a:stretch>
        </p:blipFill>
        <p:spPr>
          <a:xfrm>
            <a:off x="0" y="0"/>
            <a:ext cx="12192000" cy="758900"/>
          </a:xfrm>
          <a:prstGeom prst="rect">
            <a:avLst/>
          </a:prstGeom>
        </p:spPr>
      </p:pic>
      <p:sp>
        <p:nvSpPr>
          <p:cNvPr id="11" name="矩形 10"/>
          <p:cNvSpPr/>
          <p:nvPr userDrawn="1"/>
        </p:nvSpPr>
        <p:spPr>
          <a:xfrm>
            <a:off x="0" y="0"/>
            <a:ext cx="12192000" cy="758900"/>
          </a:xfrm>
          <a:prstGeom prst="rect">
            <a:avLst/>
          </a:prstGeom>
          <a:gradFill>
            <a:gsLst>
              <a:gs pos="0">
                <a:schemeClr val="accent1">
                  <a:lumMod val="75000"/>
                </a:schemeClr>
              </a:gs>
              <a:gs pos="100000">
                <a:schemeClr val="accent1">
                  <a:lumMod val="75000"/>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userDrawn="1"/>
        </p:nvSpPr>
        <p:spPr>
          <a:xfrm>
            <a:off x="-1" y="758900"/>
            <a:ext cx="12192001" cy="66338"/>
          </a:xfrm>
          <a:prstGeom prst="rect">
            <a:avLst/>
          </a:prstGeom>
          <a:gradFill>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466917" y="165400"/>
            <a:ext cx="1368044" cy="428101"/>
          </a:xfrm>
          <a:prstGeom prst="rect">
            <a:avLst/>
          </a:prstGeom>
        </p:spPr>
      </p:pic>
      <p:sp>
        <p:nvSpPr>
          <p:cNvPr id="13" name="文本框 12"/>
          <p:cNvSpPr txBox="1"/>
          <p:nvPr userDrawn="1"/>
        </p:nvSpPr>
        <p:spPr>
          <a:xfrm>
            <a:off x="11689482" y="6429445"/>
            <a:ext cx="34176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7F65B630-C7FF-41C0-9923-C5E5E29EED81}" type="slidenum">
              <a:rPr kumimoji="0" lang="en-US" altLang="zh-CN" sz="1000" b="0" i="0" u="none" strike="noStrike" kern="1200" cap="none" spc="0" normalizeH="0" baseline="0" noProof="0" smtClean="0">
                <a:ln>
                  <a:noFill/>
                </a:ln>
                <a:solidFill>
                  <a:prstClr val="black"/>
                </a:solidFill>
                <a:effectLst/>
                <a:uLnTx/>
                <a:uFillTx/>
                <a:latin typeface="Arial"/>
                <a:ea typeface="微软雅黑"/>
                <a:cs typeface="+mn-cs"/>
              </a:rPr>
              <a:t>‹#›</a:t>
            </a:fld>
            <a:endParaRPr kumimoji="0" lang="en-US" altLang="zh-CN" sz="10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2" name="PA-文本框 47"/>
          <p:cNvSpPr txBox="1"/>
          <p:nvPr userDrawn="1">
            <p:custDataLst>
              <p:tags r:id="rId1"/>
            </p:custDataLst>
          </p:nvPr>
        </p:nvSpPr>
        <p:spPr>
          <a:xfrm>
            <a:off x="269875" y="118428"/>
            <a:ext cx="4921250" cy="521970"/>
          </a:xfrm>
          <a:prstGeom prst="rect">
            <a:avLst/>
          </a:prstGeom>
          <a:noFill/>
        </p:spPr>
        <p:txBody>
          <a:bodyPr wrap="square" rtlCol="0" anchor="ctr">
            <a:spAutoFit/>
          </a:bodyPr>
          <a:lstStyle/>
          <a:p>
            <a:pPr lvl="0" algn="l">
              <a:lnSpc>
                <a:spcPct val="100000"/>
              </a:lnSpc>
              <a:defRPr/>
            </a:pPr>
            <a:r>
              <a:rPr lang="en-US" altLang="zh-CN" sz="2800" b="1" spc="0">
                <a:solidFill>
                  <a:schemeClr val="bg1"/>
                </a:solidFill>
                <a:effectLst>
                  <a:outerShdw blurRad="101600" dist="12700" dir="5400000" algn="t" rotWithShape="0">
                    <a:schemeClr val="accent3">
                      <a:alpha val="85000"/>
                    </a:schemeClr>
                  </a:outerShdw>
                </a:effectLst>
                <a:latin typeface="+mj-lt"/>
                <a:ea typeface="+mj-ea"/>
              </a:rPr>
              <a:t>5.4 </a:t>
            </a:r>
            <a:r>
              <a:rPr lang="zh-CN" altLang="en-US" sz="2800" b="1" spc="0">
                <a:solidFill>
                  <a:schemeClr val="bg1"/>
                </a:solidFill>
                <a:effectLst>
                  <a:outerShdw blurRad="101600" dist="12700" dir="5400000" algn="t" rotWithShape="0">
                    <a:schemeClr val="accent3">
                      <a:alpha val="85000"/>
                    </a:schemeClr>
                  </a:outerShdw>
                </a:effectLst>
                <a:latin typeface="+mj-lt"/>
                <a:ea typeface="+mj-ea"/>
              </a:rPr>
              <a:t>基于强化学习的导航方法</a:t>
            </a:r>
            <a:endParaRPr lang="zh-CN" altLang="en-US" sz="2800" b="1" spc="0" dirty="0">
              <a:solidFill>
                <a:schemeClr val="bg1"/>
              </a:solidFill>
              <a:effectLst>
                <a:outerShdw blurRad="101600" dist="12700" dir="5400000" algn="t" rotWithShape="0">
                  <a:schemeClr val="accent3">
                    <a:alpha val="85000"/>
                  </a:schemeClr>
                </a:outerShdw>
              </a:effectLst>
              <a:latin typeface="+mj-lt"/>
              <a:ea typeface="+mj-ea"/>
            </a:endParaRPr>
          </a:p>
        </p:txBody>
      </p:sp>
      <p:grpSp>
        <p:nvGrpSpPr>
          <p:cNvPr id="3" name="组合 2"/>
          <p:cNvGrpSpPr/>
          <p:nvPr userDrawn="1"/>
        </p:nvGrpSpPr>
        <p:grpSpPr>
          <a:xfrm flipH="1">
            <a:off x="3193104" y="-84138"/>
            <a:ext cx="1997751" cy="843038"/>
            <a:chOff x="1506537" y="0"/>
            <a:chExt cx="1997751" cy="734418"/>
          </a:xfrm>
        </p:grpSpPr>
        <p:sp>
          <p:nvSpPr>
            <p:cNvPr id="4" name="平行四边形 3"/>
            <p:cNvSpPr/>
            <p:nvPr/>
          </p:nvSpPr>
          <p:spPr>
            <a:xfrm flipH="1">
              <a:off x="1506537" y="66676"/>
              <a:ext cx="1297791" cy="492324"/>
            </a:xfrm>
            <a:prstGeom prst="parallelogram">
              <a:avLst>
                <a:gd name="adj" fmla="val 110052"/>
              </a:avLst>
            </a:prstGeom>
            <a:gradFill>
              <a:gsLst>
                <a:gs pos="0">
                  <a:schemeClr val="accent1">
                    <a:lumMod val="20000"/>
                    <a:lumOff val="80000"/>
                    <a:alpha val="20000"/>
                  </a:schemeClr>
                </a:gs>
                <a:gs pos="100000">
                  <a:schemeClr val="accent1">
                    <a:lumMod val="20000"/>
                    <a:lumOff val="80000"/>
                    <a:alpha val="0"/>
                  </a:scheme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flipH="1">
              <a:off x="1788578" y="66676"/>
              <a:ext cx="1028341" cy="492324"/>
            </a:xfrm>
            <a:prstGeom prst="parallelogram">
              <a:avLst>
                <a:gd name="adj" fmla="val 111457"/>
              </a:avLst>
            </a:prstGeom>
            <a:gradFill>
              <a:gsLst>
                <a:gs pos="0">
                  <a:schemeClr val="accent1">
                    <a:lumMod val="20000"/>
                    <a:lumOff val="80000"/>
                    <a:alpha val="20000"/>
                  </a:schemeClr>
                </a:gs>
                <a:gs pos="85000">
                  <a:schemeClr val="accent1">
                    <a:lumMod val="20000"/>
                    <a:lumOff val="80000"/>
                    <a:alpha val="0"/>
                  </a:schemeClr>
                </a:gs>
              </a:gsLst>
              <a:lin ang="3000000" scaled="0"/>
            </a:gradFill>
            <a:ln>
              <a:gradFill>
                <a:gsLst>
                  <a:gs pos="0">
                    <a:schemeClr val="accent3"/>
                  </a:gs>
                  <a:gs pos="60000">
                    <a:schemeClr val="accent1">
                      <a:lumMod val="20000"/>
                      <a:lumOff val="80000"/>
                      <a:alpha val="0"/>
                    </a:schemeClr>
                  </a:gs>
                </a:gsLst>
                <a:lin ang="30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3057205" y="665500"/>
              <a:ext cx="447083" cy="68918"/>
              <a:chOff x="5933623" y="2427611"/>
              <a:chExt cx="447083" cy="68918"/>
            </a:xfrm>
          </p:grpSpPr>
          <p:cxnSp>
            <p:nvCxnSpPr>
              <p:cNvPr id="18" name="直接连接符 17"/>
              <p:cNvCxnSpPr/>
              <p:nvPr/>
            </p:nvCxnSpPr>
            <p:spPr>
              <a:xfrm flipH="1" flipV="1">
                <a:off x="6311788" y="2427611"/>
                <a:ext cx="68918" cy="6891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5933623" y="2427611"/>
                <a:ext cx="37816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9" name="直接连接符 8"/>
            <p:cNvCxnSpPr/>
            <p:nvPr/>
          </p:nvCxnSpPr>
          <p:spPr>
            <a:xfrm flipH="1" flipV="1">
              <a:off x="2219102" y="0"/>
              <a:ext cx="838103" cy="665500"/>
            </a:xfrm>
            <a:prstGeom prst="line">
              <a:avLst/>
            </a:prstGeom>
            <a:ln w="12700">
              <a:gradFill>
                <a:gsLst>
                  <a:gs pos="0">
                    <a:schemeClr val="accent3"/>
                  </a:gs>
                  <a:gs pos="92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2448392" y="625338"/>
              <a:ext cx="497886" cy="45719"/>
              <a:chOff x="2448392" y="625338"/>
              <a:chExt cx="497886" cy="45719"/>
            </a:xfrm>
          </p:grpSpPr>
          <p:sp>
            <p:nvSpPr>
              <p:cNvPr id="12" name="平行四边形 11"/>
              <p:cNvSpPr/>
              <p:nvPr/>
            </p:nvSpPr>
            <p:spPr>
              <a:xfrm flipH="1">
                <a:off x="2832188" y="625338"/>
                <a:ext cx="114090" cy="45719"/>
              </a:xfrm>
              <a:prstGeom prst="parallelogram">
                <a:avLst>
                  <a:gd name="adj" fmla="val 12914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flipH="1">
                <a:off x="2736239" y="625338"/>
                <a:ext cx="114090" cy="45719"/>
              </a:xfrm>
              <a:prstGeom prst="parallelogram">
                <a:avLst>
                  <a:gd name="adj" fmla="val 129145"/>
                </a:avLst>
              </a:prstGeom>
              <a:solidFill>
                <a:schemeClr val="accent3">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p:cNvSpPr/>
              <p:nvPr/>
            </p:nvSpPr>
            <p:spPr>
              <a:xfrm flipH="1">
                <a:off x="2640290" y="625338"/>
                <a:ext cx="114090" cy="45719"/>
              </a:xfrm>
              <a:prstGeom prst="parallelogram">
                <a:avLst>
                  <a:gd name="adj" fmla="val 129145"/>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flipH="1">
                <a:off x="2544341" y="625338"/>
                <a:ext cx="114090" cy="45719"/>
              </a:xfrm>
              <a:prstGeom prst="parallelogram">
                <a:avLst>
                  <a:gd name="adj" fmla="val 129145"/>
                </a:avLst>
              </a:prstGeom>
              <a:solidFill>
                <a:schemeClr val="accent3">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平行四边形 16"/>
              <p:cNvSpPr/>
              <p:nvPr/>
            </p:nvSpPr>
            <p:spPr>
              <a:xfrm flipH="1">
                <a:off x="2448392" y="625338"/>
                <a:ext cx="114090" cy="45719"/>
              </a:xfrm>
              <a:prstGeom prst="parallelogram">
                <a:avLst>
                  <a:gd name="adj" fmla="val 129145"/>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6634022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2.2.1">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AEA86DC7-B2E5-7A5F-EA99-6083B53481F5}"/>
              </a:ext>
            </a:extLst>
          </p:cNvPr>
          <p:cNvPicPr>
            <a:picLocks noChangeAspect="1"/>
          </p:cNvPicPr>
          <p:nvPr userDrawn="1"/>
        </p:nvPicPr>
        <p:blipFill>
          <a:blip r:embed="rId3">
            <a:extLst>
              <a:ext uri="{28A0092B-C50C-407E-A947-70E740481C1C}">
                <a14:useLocalDpi xmlns:a14="http://schemas.microsoft.com/office/drawing/2010/main" val="0"/>
              </a:ext>
            </a:extLst>
          </a:blip>
          <a:srcRect l="19160" t="67305" r="21698" b="20235"/>
          <a:stretch>
            <a:fillRect/>
          </a:stretch>
        </p:blipFill>
        <p:spPr>
          <a:xfrm>
            <a:off x="0" y="0"/>
            <a:ext cx="12192000" cy="758900"/>
          </a:xfrm>
          <a:prstGeom prst="rect">
            <a:avLst/>
          </a:prstGeom>
        </p:spPr>
      </p:pic>
      <p:sp>
        <p:nvSpPr>
          <p:cNvPr id="11" name="矩形 10">
            <a:extLst>
              <a:ext uri="{FF2B5EF4-FFF2-40B4-BE49-F238E27FC236}">
                <a16:creationId xmlns:a16="http://schemas.microsoft.com/office/drawing/2014/main" id="{BD227C66-B9F3-97BE-8312-3D18ECEE8B95}"/>
              </a:ext>
            </a:extLst>
          </p:cNvPr>
          <p:cNvSpPr/>
          <p:nvPr userDrawn="1"/>
        </p:nvSpPr>
        <p:spPr>
          <a:xfrm>
            <a:off x="0" y="0"/>
            <a:ext cx="12192000" cy="758900"/>
          </a:xfrm>
          <a:prstGeom prst="rect">
            <a:avLst/>
          </a:prstGeom>
          <a:gradFill>
            <a:gsLst>
              <a:gs pos="0">
                <a:schemeClr val="accent1">
                  <a:lumMod val="75000"/>
                </a:schemeClr>
              </a:gs>
              <a:gs pos="100000">
                <a:schemeClr val="accent1">
                  <a:lumMod val="75000"/>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3C333C4B-9E5C-847F-E9F8-76255BDE1E3D}"/>
              </a:ext>
            </a:extLst>
          </p:cNvPr>
          <p:cNvSpPr/>
          <p:nvPr userDrawn="1"/>
        </p:nvSpPr>
        <p:spPr>
          <a:xfrm>
            <a:off x="-1" y="758900"/>
            <a:ext cx="12192001" cy="66338"/>
          </a:xfrm>
          <a:prstGeom prst="rect">
            <a:avLst/>
          </a:prstGeom>
          <a:gradFill>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20799F71-EAF4-4F94-39F2-85A8D18F25A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66917" y="165400"/>
            <a:ext cx="1368044" cy="428101"/>
          </a:xfrm>
          <a:prstGeom prst="rect">
            <a:avLst/>
          </a:prstGeom>
        </p:spPr>
      </p:pic>
      <p:sp>
        <p:nvSpPr>
          <p:cNvPr id="13" name="文本框 12">
            <a:extLst>
              <a:ext uri="{FF2B5EF4-FFF2-40B4-BE49-F238E27FC236}">
                <a16:creationId xmlns:a16="http://schemas.microsoft.com/office/drawing/2014/main" id="{9E39EC3C-CF76-4705-79D0-10D3706C4D92}"/>
              </a:ext>
            </a:extLst>
          </p:cNvPr>
          <p:cNvSpPr txBox="1"/>
          <p:nvPr userDrawn="1"/>
        </p:nvSpPr>
        <p:spPr>
          <a:xfrm>
            <a:off x="11689482" y="6429445"/>
            <a:ext cx="34176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F65B630-C7FF-41C0-9923-C5E5E29EED81}" type="slidenum">
              <a:rPr kumimoji="0" lang="en-US" altLang="zh-CN" sz="1000" b="0" i="0" u="none" strike="noStrike" kern="1200" cap="none" spc="0" normalizeH="0" baseline="0" noProof="0" smtClean="0">
                <a:ln>
                  <a:noFill/>
                </a:ln>
                <a:solidFill>
                  <a:prstClr val="black"/>
                </a:solidFill>
                <a:effectLst/>
                <a:uLnTx/>
                <a:uFillTx/>
                <a:latin typeface="Arial"/>
                <a:ea typeface="微软雅黑"/>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altLang="zh-CN" sz="10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2" name="PA-文本框 47">
            <a:extLst>
              <a:ext uri="{FF2B5EF4-FFF2-40B4-BE49-F238E27FC236}">
                <a16:creationId xmlns:a16="http://schemas.microsoft.com/office/drawing/2014/main" id="{E6488CDA-5717-7C52-55E2-4CF69B10BA43}"/>
              </a:ext>
            </a:extLst>
          </p:cNvPr>
          <p:cNvSpPr txBox="1"/>
          <p:nvPr userDrawn="1">
            <p:custDataLst>
              <p:tags r:id="rId1"/>
            </p:custDataLst>
          </p:nvPr>
        </p:nvSpPr>
        <p:spPr>
          <a:xfrm>
            <a:off x="270157" y="117840"/>
            <a:ext cx="5621151" cy="523220"/>
          </a:xfrm>
          <a:prstGeom prst="rect">
            <a:avLst/>
          </a:prstGeom>
          <a:noFill/>
        </p:spPr>
        <p:txBody>
          <a:bodyPr wrap="square" rtlCol="0" anchor="ctr">
            <a:spAutoFit/>
          </a:bodyPr>
          <a:lstStyle/>
          <a:p>
            <a:pPr lvl="0" algn="l">
              <a:lnSpc>
                <a:spcPct val="100000"/>
              </a:lnSpc>
              <a:defRPr/>
            </a:pPr>
            <a:r>
              <a:rPr lang="en-US" altLang="zh-CN" sz="2800" b="1" spc="0">
                <a:solidFill>
                  <a:schemeClr val="bg1"/>
                </a:solidFill>
                <a:effectLst>
                  <a:outerShdw blurRad="101600" dist="12700" dir="5400000" algn="t" rotWithShape="0">
                    <a:schemeClr val="accent3">
                      <a:alpha val="85000"/>
                    </a:schemeClr>
                  </a:outerShdw>
                </a:effectLst>
                <a:latin typeface="+mj-lt"/>
                <a:ea typeface="+mj-ea"/>
              </a:rPr>
              <a:t>6.3 </a:t>
            </a:r>
            <a:r>
              <a:rPr lang="zh-CN" altLang="en-US" sz="2800" b="1" spc="0">
                <a:solidFill>
                  <a:schemeClr val="bg1"/>
                </a:solidFill>
                <a:effectLst>
                  <a:outerShdw blurRad="101600" dist="12700" dir="5400000" algn="t" rotWithShape="0">
                    <a:schemeClr val="accent3">
                      <a:alpha val="85000"/>
                    </a:schemeClr>
                  </a:outerShdw>
                </a:effectLst>
                <a:latin typeface="+mj-lt"/>
                <a:ea typeface="+mj-ea"/>
              </a:rPr>
              <a:t>多机器人时间一致性标定技术</a:t>
            </a:r>
            <a:endParaRPr lang="zh-CN" altLang="en-US" sz="2800" b="1" kern="1200" spc="0" dirty="0">
              <a:solidFill>
                <a:schemeClr val="bg1"/>
              </a:solidFill>
              <a:effectLst>
                <a:outerShdw blurRad="101600" dist="12700" dir="5400000" algn="t" rotWithShape="0">
                  <a:schemeClr val="accent3">
                    <a:alpha val="85000"/>
                  </a:schemeClr>
                </a:outerShdw>
              </a:effectLst>
              <a:latin typeface="+mj-lt"/>
              <a:ea typeface="+mj-ea"/>
              <a:cs typeface="+mn-cs"/>
            </a:endParaRPr>
          </a:p>
        </p:txBody>
      </p:sp>
      <p:grpSp>
        <p:nvGrpSpPr>
          <p:cNvPr id="3" name="组合 2">
            <a:extLst>
              <a:ext uri="{FF2B5EF4-FFF2-40B4-BE49-F238E27FC236}">
                <a16:creationId xmlns:a16="http://schemas.microsoft.com/office/drawing/2014/main" id="{B76E479D-B9B3-BE7C-9794-62661FD62EA9}"/>
              </a:ext>
            </a:extLst>
          </p:cNvPr>
          <p:cNvGrpSpPr/>
          <p:nvPr userDrawn="1"/>
        </p:nvGrpSpPr>
        <p:grpSpPr>
          <a:xfrm flipH="1">
            <a:off x="2777468" y="-84138"/>
            <a:ext cx="1997751" cy="843038"/>
            <a:chOff x="1506537" y="0"/>
            <a:chExt cx="1997751" cy="734418"/>
          </a:xfrm>
        </p:grpSpPr>
        <p:sp>
          <p:nvSpPr>
            <p:cNvPr id="4" name="平行四边形 3">
              <a:extLst>
                <a:ext uri="{FF2B5EF4-FFF2-40B4-BE49-F238E27FC236}">
                  <a16:creationId xmlns:a16="http://schemas.microsoft.com/office/drawing/2014/main" id="{16A8E70C-62F5-ABAF-101A-12F20D1B9F32}"/>
                </a:ext>
              </a:extLst>
            </p:cNvPr>
            <p:cNvSpPr/>
            <p:nvPr/>
          </p:nvSpPr>
          <p:spPr>
            <a:xfrm flipH="1">
              <a:off x="1506537" y="66676"/>
              <a:ext cx="1297791" cy="492324"/>
            </a:xfrm>
            <a:prstGeom prst="parallelogram">
              <a:avLst>
                <a:gd name="adj" fmla="val 110052"/>
              </a:avLst>
            </a:prstGeom>
            <a:gradFill>
              <a:gsLst>
                <a:gs pos="0">
                  <a:schemeClr val="accent1">
                    <a:lumMod val="20000"/>
                    <a:lumOff val="80000"/>
                    <a:alpha val="20000"/>
                  </a:schemeClr>
                </a:gs>
                <a:gs pos="100000">
                  <a:schemeClr val="accent1">
                    <a:lumMod val="20000"/>
                    <a:lumOff val="80000"/>
                    <a:alpha val="0"/>
                  </a:scheme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a:extLst>
                <a:ext uri="{FF2B5EF4-FFF2-40B4-BE49-F238E27FC236}">
                  <a16:creationId xmlns:a16="http://schemas.microsoft.com/office/drawing/2014/main" id="{7169DF9C-2FF0-1B2B-A6D8-121262FFB7C6}"/>
                </a:ext>
              </a:extLst>
            </p:cNvPr>
            <p:cNvSpPr/>
            <p:nvPr/>
          </p:nvSpPr>
          <p:spPr>
            <a:xfrm flipH="1">
              <a:off x="1788578" y="66676"/>
              <a:ext cx="1028341" cy="492324"/>
            </a:xfrm>
            <a:prstGeom prst="parallelogram">
              <a:avLst>
                <a:gd name="adj" fmla="val 111457"/>
              </a:avLst>
            </a:prstGeom>
            <a:gradFill>
              <a:gsLst>
                <a:gs pos="0">
                  <a:schemeClr val="accent1">
                    <a:lumMod val="20000"/>
                    <a:lumOff val="80000"/>
                    <a:alpha val="20000"/>
                  </a:schemeClr>
                </a:gs>
                <a:gs pos="85000">
                  <a:schemeClr val="accent1">
                    <a:lumMod val="20000"/>
                    <a:lumOff val="80000"/>
                    <a:alpha val="0"/>
                  </a:schemeClr>
                </a:gs>
              </a:gsLst>
              <a:lin ang="3000000" scaled="0"/>
            </a:gradFill>
            <a:ln>
              <a:gradFill>
                <a:gsLst>
                  <a:gs pos="0">
                    <a:schemeClr val="accent3"/>
                  </a:gs>
                  <a:gs pos="60000">
                    <a:schemeClr val="accent1">
                      <a:lumMod val="20000"/>
                      <a:lumOff val="80000"/>
                      <a:alpha val="0"/>
                    </a:schemeClr>
                  </a:gs>
                </a:gsLst>
                <a:lin ang="30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a:extLst>
                <a:ext uri="{FF2B5EF4-FFF2-40B4-BE49-F238E27FC236}">
                  <a16:creationId xmlns:a16="http://schemas.microsoft.com/office/drawing/2014/main" id="{01F5117A-D727-713C-D799-B80849EB67FF}"/>
                </a:ext>
              </a:extLst>
            </p:cNvPr>
            <p:cNvGrpSpPr/>
            <p:nvPr/>
          </p:nvGrpSpPr>
          <p:grpSpPr>
            <a:xfrm>
              <a:off x="3057205" y="665500"/>
              <a:ext cx="447083" cy="68918"/>
              <a:chOff x="5933623" y="2427611"/>
              <a:chExt cx="447083" cy="68918"/>
            </a:xfrm>
          </p:grpSpPr>
          <p:cxnSp>
            <p:nvCxnSpPr>
              <p:cNvPr id="18" name="直接连接符 17">
                <a:extLst>
                  <a:ext uri="{FF2B5EF4-FFF2-40B4-BE49-F238E27FC236}">
                    <a16:creationId xmlns:a16="http://schemas.microsoft.com/office/drawing/2014/main" id="{A9BD8071-59C7-686E-28B6-8853ADD44FFD}"/>
                  </a:ext>
                </a:extLst>
              </p:cNvPr>
              <p:cNvCxnSpPr>
                <a:cxnSpLocks/>
              </p:cNvCxnSpPr>
              <p:nvPr/>
            </p:nvCxnSpPr>
            <p:spPr>
              <a:xfrm flipH="1" flipV="1">
                <a:off x="6311788" y="2427611"/>
                <a:ext cx="68918" cy="6891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D17BF6C8-1813-4C19-0D49-FA70C74DC8E3}"/>
                  </a:ext>
                </a:extLst>
              </p:cNvPr>
              <p:cNvCxnSpPr>
                <a:cxnSpLocks/>
              </p:cNvCxnSpPr>
              <p:nvPr/>
            </p:nvCxnSpPr>
            <p:spPr>
              <a:xfrm flipH="1">
                <a:off x="5933623" y="2427611"/>
                <a:ext cx="37816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9" name="直接连接符 8">
              <a:extLst>
                <a:ext uri="{FF2B5EF4-FFF2-40B4-BE49-F238E27FC236}">
                  <a16:creationId xmlns:a16="http://schemas.microsoft.com/office/drawing/2014/main" id="{7AD96D8B-2D45-C85D-BD28-F279C36D642D}"/>
                </a:ext>
              </a:extLst>
            </p:cNvPr>
            <p:cNvCxnSpPr>
              <a:cxnSpLocks/>
            </p:cNvCxnSpPr>
            <p:nvPr/>
          </p:nvCxnSpPr>
          <p:spPr>
            <a:xfrm flipH="1" flipV="1">
              <a:off x="2219102" y="0"/>
              <a:ext cx="838103" cy="665500"/>
            </a:xfrm>
            <a:prstGeom prst="line">
              <a:avLst/>
            </a:prstGeom>
            <a:ln w="12700">
              <a:gradFill>
                <a:gsLst>
                  <a:gs pos="0">
                    <a:schemeClr val="accent3"/>
                  </a:gs>
                  <a:gs pos="92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C465E33D-B5EF-9ABF-516E-D3F3DABEF7C7}"/>
                </a:ext>
              </a:extLst>
            </p:cNvPr>
            <p:cNvGrpSpPr/>
            <p:nvPr/>
          </p:nvGrpSpPr>
          <p:grpSpPr>
            <a:xfrm>
              <a:off x="2448392" y="625338"/>
              <a:ext cx="497886" cy="45719"/>
              <a:chOff x="2448392" y="625338"/>
              <a:chExt cx="497886" cy="45719"/>
            </a:xfrm>
          </p:grpSpPr>
          <p:sp>
            <p:nvSpPr>
              <p:cNvPr id="12" name="平行四边形 11">
                <a:extLst>
                  <a:ext uri="{FF2B5EF4-FFF2-40B4-BE49-F238E27FC236}">
                    <a16:creationId xmlns:a16="http://schemas.microsoft.com/office/drawing/2014/main" id="{64801B9B-4A83-0E60-AC6B-B8B2E836C20F}"/>
                  </a:ext>
                </a:extLst>
              </p:cNvPr>
              <p:cNvSpPr/>
              <p:nvPr/>
            </p:nvSpPr>
            <p:spPr>
              <a:xfrm flipH="1">
                <a:off x="2832188" y="625338"/>
                <a:ext cx="114090" cy="45719"/>
              </a:xfrm>
              <a:prstGeom prst="parallelogram">
                <a:avLst>
                  <a:gd name="adj" fmla="val 12914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a:extLst>
                  <a:ext uri="{FF2B5EF4-FFF2-40B4-BE49-F238E27FC236}">
                    <a16:creationId xmlns:a16="http://schemas.microsoft.com/office/drawing/2014/main" id="{713EE010-747C-F37C-F015-826DF2FEE20E}"/>
                  </a:ext>
                </a:extLst>
              </p:cNvPr>
              <p:cNvSpPr/>
              <p:nvPr/>
            </p:nvSpPr>
            <p:spPr>
              <a:xfrm flipH="1">
                <a:off x="2736239" y="625338"/>
                <a:ext cx="114090" cy="45719"/>
              </a:xfrm>
              <a:prstGeom prst="parallelogram">
                <a:avLst>
                  <a:gd name="adj" fmla="val 129145"/>
                </a:avLst>
              </a:prstGeom>
              <a:solidFill>
                <a:schemeClr val="accent3">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a:extLst>
                  <a:ext uri="{FF2B5EF4-FFF2-40B4-BE49-F238E27FC236}">
                    <a16:creationId xmlns:a16="http://schemas.microsoft.com/office/drawing/2014/main" id="{740A31D2-CE41-A4A9-87E9-FEE575AEFB0D}"/>
                  </a:ext>
                </a:extLst>
              </p:cNvPr>
              <p:cNvSpPr/>
              <p:nvPr/>
            </p:nvSpPr>
            <p:spPr>
              <a:xfrm flipH="1">
                <a:off x="2640290" y="625338"/>
                <a:ext cx="114090" cy="45719"/>
              </a:xfrm>
              <a:prstGeom prst="parallelogram">
                <a:avLst>
                  <a:gd name="adj" fmla="val 129145"/>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a:extLst>
                  <a:ext uri="{FF2B5EF4-FFF2-40B4-BE49-F238E27FC236}">
                    <a16:creationId xmlns:a16="http://schemas.microsoft.com/office/drawing/2014/main" id="{EE6CCBF9-CB0F-5048-1E68-4FB6B5FD0FC7}"/>
                  </a:ext>
                </a:extLst>
              </p:cNvPr>
              <p:cNvSpPr/>
              <p:nvPr/>
            </p:nvSpPr>
            <p:spPr>
              <a:xfrm flipH="1">
                <a:off x="2544341" y="625338"/>
                <a:ext cx="114090" cy="45719"/>
              </a:xfrm>
              <a:prstGeom prst="parallelogram">
                <a:avLst>
                  <a:gd name="adj" fmla="val 129145"/>
                </a:avLst>
              </a:prstGeom>
              <a:solidFill>
                <a:schemeClr val="accent3">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平行四边形 16">
                <a:extLst>
                  <a:ext uri="{FF2B5EF4-FFF2-40B4-BE49-F238E27FC236}">
                    <a16:creationId xmlns:a16="http://schemas.microsoft.com/office/drawing/2014/main" id="{FA44E640-9914-7517-B979-279A052F7576}"/>
                  </a:ext>
                </a:extLst>
              </p:cNvPr>
              <p:cNvSpPr/>
              <p:nvPr/>
            </p:nvSpPr>
            <p:spPr>
              <a:xfrm flipH="1">
                <a:off x="2448392" y="625338"/>
                <a:ext cx="114090" cy="45719"/>
              </a:xfrm>
              <a:prstGeom prst="parallelogram">
                <a:avLst>
                  <a:gd name="adj" fmla="val 129145"/>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8580768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引入">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3">
            <a:extLst>
              <a:ext uri="{28A0092B-C50C-407E-A947-70E740481C1C}">
                <a14:useLocalDpi xmlns:a14="http://schemas.microsoft.com/office/drawing/2010/main" val="0"/>
              </a:ext>
            </a:extLst>
          </a:blip>
          <a:srcRect l="19160" t="67305" r="21698" b="20235"/>
          <a:stretch>
            <a:fillRect/>
          </a:stretch>
        </p:blipFill>
        <p:spPr>
          <a:xfrm>
            <a:off x="0" y="0"/>
            <a:ext cx="12192000" cy="758900"/>
          </a:xfrm>
          <a:prstGeom prst="rect">
            <a:avLst/>
          </a:prstGeom>
        </p:spPr>
      </p:pic>
      <p:sp>
        <p:nvSpPr>
          <p:cNvPr id="11" name="矩形 10"/>
          <p:cNvSpPr/>
          <p:nvPr userDrawn="1"/>
        </p:nvSpPr>
        <p:spPr>
          <a:xfrm>
            <a:off x="0" y="0"/>
            <a:ext cx="12192000" cy="758900"/>
          </a:xfrm>
          <a:prstGeom prst="rect">
            <a:avLst/>
          </a:prstGeom>
          <a:gradFill>
            <a:gsLst>
              <a:gs pos="0">
                <a:schemeClr val="accent1">
                  <a:lumMod val="75000"/>
                </a:schemeClr>
              </a:gs>
              <a:gs pos="100000">
                <a:schemeClr val="accent1">
                  <a:lumMod val="75000"/>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userDrawn="1"/>
        </p:nvSpPr>
        <p:spPr>
          <a:xfrm>
            <a:off x="-1" y="758900"/>
            <a:ext cx="12192001" cy="66338"/>
          </a:xfrm>
          <a:prstGeom prst="rect">
            <a:avLst/>
          </a:prstGeom>
          <a:gradFill>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466917" y="165400"/>
            <a:ext cx="1368044" cy="428101"/>
          </a:xfrm>
          <a:prstGeom prst="rect">
            <a:avLst/>
          </a:prstGeom>
        </p:spPr>
      </p:pic>
      <p:sp>
        <p:nvSpPr>
          <p:cNvPr id="13" name="文本框 12"/>
          <p:cNvSpPr txBox="1"/>
          <p:nvPr userDrawn="1"/>
        </p:nvSpPr>
        <p:spPr>
          <a:xfrm>
            <a:off x="11689482" y="6429445"/>
            <a:ext cx="34176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7F65B630-C7FF-41C0-9923-C5E5E29EED81}" type="slidenum">
              <a:rPr kumimoji="0" lang="en-US" altLang="zh-CN" sz="1000" b="0" i="0" u="none" strike="noStrike" kern="1200" cap="none" spc="0" normalizeH="0" baseline="0" noProof="0" smtClean="0">
                <a:ln>
                  <a:noFill/>
                </a:ln>
                <a:solidFill>
                  <a:prstClr val="black"/>
                </a:solidFill>
                <a:effectLst/>
                <a:uLnTx/>
                <a:uFillTx/>
                <a:latin typeface="Arial" panose="020B0604020202020204"/>
                <a:ea typeface="微软雅黑" panose="020B0503020204020204" pitchFamily="34" charset="-122"/>
                <a:cs typeface="+mn-cs"/>
              </a:rPr>
              <a:t>‹#›</a:t>
            </a:fld>
            <a:endParaRPr kumimoji="0" lang="en-US" altLang="zh-CN" sz="10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grpSp>
        <p:nvGrpSpPr>
          <p:cNvPr id="20" name="组合 19"/>
          <p:cNvGrpSpPr/>
          <p:nvPr userDrawn="1"/>
        </p:nvGrpSpPr>
        <p:grpSpPr>
          <a:xfrm flipH="1">
            <a:off x="1398476" y="-84138"/>
            <a:ext cx="1997751" cy="843038"/>
            <a:chOff x="1506537" y="0"/>
            <a:chExt cx="1997751" cy="734418"/>
          </a:xfrm>
        </p:grpSpPr>
        <p:sp>
          <p:nvSpPr>
            <p:cNvPr id="21" name="平行四边形 20"/>
            <p:cNvSpPr/>
            <p:nvPr/>
          </p:nvSpPr>
          <p:spPr>
            <a:xfrm flipH="1">
              <a:off x="1506537" y="66676"/>
              <a:ext cx="1297791" cy="492324"/>
            </a:xfrm>
            <a:prstGeom prst="parallelogram">
              <a:avLst>
                <a:gd name="adj" fmla="val 110052"/>
              </a:avLst>
            </a:prstGeom>
            <a:gradFill>
              <a:gsLst>
                <a:gs pos="0">
                  <a:schemeClr val="accent1">
                    <a:lumMod val="20000"/>
                    <a:lumOff val="80000"/>
                    <a:alpha val="20000"/>
                  </a:schemeClr>
                </a:gs>
                <a:gs pos="100000">
                  <a:schemeClr val="accent1">
                    <a:lumMod val="20000"/>
                    <a:lumOff val="80000"/>
                    <a:alpha val="0"/>
                  </a:scheme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平行四边形 21"/>
            <p:cNvSpPr/>
            <p:nvPr/>
          </p:nvSpPr>
          <p:spPr>
            <a:xfrm flipH="1">
              <a:off x="1788578" y="66676"/>
              <a:ext cx="1028341" cy="492324"/>
            </a:xfrm>
            <a:prstGeom prst="parallelogram">
              <a:avLst>
                <a:gd name="adj" fmla="val 111457"/>
              </a:avLst>
            </a:prstGeom>
            <a:gradFill>
              <a:gsLst>
                <a:gs pos="0">
                  <a:schemeClr val="accent1">
                    <a:lumMod val="20000"/>
                    <a:lumOff val="80000"/>
                    <a:alpha val="20000"/>
                  </a:schemeClr>
                </a:gs>
                <a:gs pos="85000">
                  <a:schemeClr val="accent1">
                    <a:lumMod val="20000"/>
                    <a:lumOff val="80000"/>
                    <a:alpha val="0"/>
                  </a:schemeClr>
                </a:gs>
              </a:gsLst>
              <a:lin ang="3000000" scaled="0"/>
            </a:gradFill>
            <a:ln>
              <a:gradFill>
                <a:gsLst>
                  <a:gs pos="0">
                    <a:schemeClr val="accent3"/>
                  </a:gs>
                  <a:gs pos="60000">
                    <a:schemeClr val="accent1">
                      <a:lumMod val="20000"/>
                      <a:lumOff val="80000"/>
                      <a:alpha val="0"/>
                    </a:schemeClr>
                  </a:gs>
                </a:gsLst>
                <a:lin ang="30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p:cNvGrpSpPr/>
            <p:nvPr/>
          </p:nvGrpSpPr>
          <p:grpSpPr>
            <a:xfrm>
              <a:off x="3057205" y="665500"/>
              <a:ext cx="447083" cy="68918"/>
              <a:chOff x="5933623" y="2427611"/>
              <a:chExt cx="447083" cy="68918"/>
            </a:xfrm>
          </p:grpSpPr>
          <p:cxnSp>
            <p:nvCxnSpPr>
              <p:cNvPr id="31" name="直接连接符 30"/>
              <p:cNvCxnSpPr/>
              <p:nvPr/>
            </p:nvCxnSpPr>
            <p:spPr>
              <a:xfrm flipH="1" flipV="1">
                <a:off x="6311788" y="2427611"/>
                <a:ext cx="68918" cy="6891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5933623" y="2427611"/>
                <a:ext cx="37816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24" name="直接连接符 23"/>
            <p:cNvCxnSpPr/>
            <p:nvPr/>
          </p:nvCxnSpPr>
          <p:spPr>
            <a:xfrm flipH="1" flipV="1">
              <a:off x="2219102" y="0"/>
              <a:ext cx="838103" cy="665500"/>
            </a:xfrm>
            <a:prstGeom prst="line">
              <a:avLst/>
            </a:prstGeom>
            <a:ln w="12700">
              <a:gradFill>
                <a:gsLst>
                  <a:gs pos="0">
                    <a:schemeClr val="accent3"/>
                  </a:gs>
                  <a:gs pos="92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2448392" y="625338"/>
              <a:ext cx="497886" cy="45719"/>
              <a:chOff x="2448392" y="625338"/>
              <a:chExt cx="497886" cy="45719"/>
            </a:xfrm>
          </p:grpSpPr>
          <p:sp>
            <p:nvSpPr>
              <p:cNvPr id="26" name="平行四边形 25"/>
              <p:cNvSpPr/>
              <p:nvPr/>
            </p:nvSpPr>
            <p:spPr>
              <a:xfrm flipH="1">
                <a:off x="2832188" y="625338"/>
                <a:ext cx="114090" cy="45719"/>
              </a:xfrm>
              <a:prstGeom prst="parallelogram">
                <a:avLst>
                  <a:gd name="adj" fmla="val 12914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平行四边形 26"/>
              <p:cNvSpPr/>
              <p:nvPr/>
            </p:nvSpPr>
            <p:spPr>
              <a:xfrm flipH="1">
                <a:off x="2736239" y="625338"/>
                <a:ext cx="114090" cy="45719"/>
              </a:xfrm>
              <a:prstGeom prst="parallelogram">
                <a:avLst>
                  <a:gd name="adj" fmla="val 129145"/>
                </a:avLst>
              </a:prstGeom>
              <a:solidFill>
                <a:schemeClr val="accent3">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平行四边形 27"/>
              <p:cNvSpPr/>
              <p:nvPr/>
            </p:nvSpPr>
            <p:spPr>
              <a:xfrm flipH="1">
                <a:off x="2640290" y="625338"/>
                <a:ext cx="114090" cy="45719"/>
              </a:xfrm>
              <a:prstGeom prst="parallelogram">
                <a:avLst>
                  <a:gd name="adj" fmla="val 129145"/>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flipH="1">
                <a:off x="2544341" y="625338"/>
                <a:ext cx="114090" cy="45719"/>
              </a:xfrm>
              <a:prstGeom prst="parallelogram">
                <a:avLst>
                  <a:gd name="adj" fmla="val 129145"/>
                </a:avLst>
              </a:prstGeom>
              <a:solidFill>
                <a:schemeClr val="accent3">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平行四边形 29"/>
              <p:cNvSpPr/>
              <p:nvPr/>
            </p:nvSpPr>
            <p:spPr>
              <a:xfrm flipH="1">
                <a:off x="2448392" y="625338"/>
                <a:ext cx="114090" cy="45719"/>
              </a:xfrm>
              <a:prstGeom prst="parallelogram">
                <a:avLst>
                  <a:gd name="adj" fmla="val 129145"/>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 name="PA-文本框 47"/>
          <p:cNvSpPr txBox="1"/>
          <p:nvPr userDrawn="1">
            <p:custDataLst>
              <p:tags r:id="rId1"/>
            </p:custDataLst>
          </p:nvPr>
        </p:nvSpPr>
        <p:spPr>
          <a:xfrm>
            <a:off x="270158" y="117840"/>
            <a:ext cx="4965948" cy="523220"/>
          </a:xfrm>
          <a:prstGeom prst="rect">
            <a:avLst/>
          </a:prstGeom>
          <a:noFill/>
        </p:spPr>
        <p:txBody>
          <a:bodyPr wrap="square" rtlCol="0" anchor="ctr">
            <a:spAutoFit/>
          </a:bodyPr>
          <a:lstStyle/>
          <a:p>
            <a:pPr lvl="0" algn="l">
              <a:lnSpc>
                <a:spcPct val="100000"/>
              </a:lnSpc>
              <a:defRPr/>
            </a:pPr>
            <a:r>
              <a:rPr lang="zh-CN" altLang="en-US" sz="2800" b="1" spc="0" dirty="0">
                <a:solidFill>
                  <a:schemeClr val="bg1"/>
                </a:solidFill>
                <a:effectLst>
                  <a:outerShdw blurRad="101600" dist="12700" dir="5400000" algn="t" rotWithShape="0">
                    <a:schemeClr val="accent3">
                      <a:alpha val="85000"/>
                    </a:schemeClr>
                  </a:outerShdw>
                </a:effectLst>
                <a:latin typeface="+mj-ea"/>
                <a:ea typeface="+mj-ea"/>
              </a:rPr>
              <a:t>引入</a:t>
            </a:r>
          </a:p>
        </p:txBody>
      </p:sp>
    </p:spTree>
    <p:extLst>
      <p:ext uri="{BB962C8B-B14F-4D97-AF65-F5344CB8AC3E}">
        <p14:creationId xmlns:p14="http://schemas.microsoft.com/office/powerpoint/2010/main" val="24927596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1">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3">
            <a:extLst>
              <a:ext uri="{28A0092B-C50C-407E-A947-70E740481C1C}">
                <a14:useLocalDpi xmlns:a14="http://schemas.microsoft.com/office/drawing/2010/main" val="0"/>
              </a:ext>
            </a:extLst>
          </a:blip>
          <a:srcRect l="19160" t="67305" r="21698" b="20235"/>
          <a:stretch>
            <a:fillRect/>
          </a:stretch>
        </p:blipFill>
        <p:spPr>
          <a:xfrm>
            <a:off x="0" y="0"/>
            <a:ext cx="12192000" cy="758900"/>
          </a:xfrm>
          <a:prstGeom prst="rect">
            <a:avLst/>
          </a:prstGeom>
        </p:spPr>
      </p:pic>
      <p:sp>
        <p:nvSpPr>
          <p:cNvPr id="11" name="矩形 10"/>
          <p:cNvSpPr/>
          <p:nvPr userDrawn="1"/>
        </p:nvSpPr>
        <p:spPr>
          <a:xfrm>
            <a:off x="0" y="0"/>
            <a:ext cx="12192000" cy="758900"/>
          </a:xfrm>
          <a:prstGeom prst="rect">
            <a:avLst/>
          </a:prstGeom>
          <a:gradFill>
            <a:gsLst>
              <a:gs pos="0">
                <a:schemeClr val="accent1">
                  <a:lumMod val="75000"/>
                </a:schemeClr>
              </a:gs>
              <a:gs pos="100000">
                <a:schemeClr val="accent1">
                  <a:lumMod val="75000"/>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PA-文本框 47"/>
          <p:cNvSpPr txBox="1"/>
          <p:nvPr>
            <p:custDataLst>
              <p:tags r:id="rId1"/>
            </p:custDataLst>
          </p:nvPr>
        </p:nvSpPr>
        <p:spPr>
          <a:xfrm>
            <a:off x="270158" y="117840"/>
            <a:ext cx="4625350" cy="523220"/>
          </a:xfrm>
          <a:prstGeom prst="rect">
            <a:avLst/>
          </a:prstGeom>
          <a:noFill/>
        </p:spPr>
        <p:txBody>
          <a:bodyPr wrap="square" rtlCol="0" anchor="ctr">
            <a:spAutoFit/>
          </a:bodyPr>
          <a:lstStyle/>
          <a:p>
            <a:pPr lvl="0" algn="l">
              <a:lnSpc>
                <a:spcPct val="100000"/>
              </a:lnSpc>
              <a:defRPr/>
            </a:pPr>
            <a:r>
              <a:rPr lang="en-US" altLang="zh-CN" sz="2800" b="1" spc="0" dirty="0">
                <a:solidFill>
                  <a:schemeClr val="bg1"/>
                </a:solidFill>
                <a:effectLst>
                  <a:outerShdw blurRad="101600" dist="12700" dir="5400000" algn="t" rotWithShape="0">
                    <a:schemeClr val="accent3">
                      <a:alpha val="85000"/>
                    </a:schemeClr>
                  </a:outerShdw>
                </a:effectLst>
                <a:latin typeface="+mj-ea"/>
                <a:ea typeface="+mj-ea"/>
              </a:rPr>
              <a:t>7.1 </a:t>
            </a:r>
            <a:r>
              <a:rPr lang="zh-CN" altLang="en-US" sz="2800" b="1" spc="0" dirty="0">
                <a:solidFill>
                  <a:schemeClr val="bg1"/>
                </a:solidFill>
                <a:effectLst>
                  <a:outerShdw blurRad="101600" dist="12700" dir="5400000" algn="t" rotWithShape="0">
                    <a:schemeClr val="accent3">
                      <a:alpha val="85000"/>
                    </a:schemeClr>
                  </a:outerShdw>
                </a:effectLst>
                <a:latin typeface="+mj-ea"/>
                <a:ea typeface="+mj-ea"/>
              </a:rPr>
              <a:t>地图表示</a:t>
            </a:r>
          </a:p>
        </p:txBody>
      </p:sp>
      <p:sp>
        <p:nvSpPr>
          <p:cNvPr id="56" name="矩形 55"/>
          <p:cNvSpPr/>
          <p:nvPr userDrawn="1"/>
        </p:nvSpPr>
        <p:spPr>
          <a:xfrm>
            <a:off x="-1" y="758900"/>
            <a:ext cx="12192001" cy="66338"/>
          </a:xfrm>
          <a:prstGeom prst="rect">
            <a:avLst/>
          </a:prstGeom>
          <a:gradFill>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466917" y="165400"/>
            <a:ext cx="1368044" cy="428101"/>
          </a:xfrm>
          <a:prstGeom prst="rect">
            <a:avLst/>
          </a:prstGeom>
        </p:spPr>
      </p:pic>
      <p:sp>
        <p:nvSpPr>
          <p:cNvPr id="14" name="文本框 13"/>
          <p:cNvSpPr txBox="1"/>
          <p:nvPr userDrawn="1"/>
        </p:nvSpPr>
        <p:spPr>
          <a:xfrm>
            <a:off x="11689482" y="6429445"/>
            <a:ext cx="34176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7F65B630-C7FF-41C0-9923-C5E5E29EED81}" type="slidenum">
              <a:rPr kumimoji="0" lang="en-US" altLang="zh-CN" sz="1000" b="0" i="0" u="none" strike="noStrike" kern="1200" cap="none" spc="0" normalizeH="0" baseline="0" noProof="0" smtClean="0">
                <a:ln>
                  <a:noFill/>
                </a:ln>
                <a:solidFill>
                  <a:prstClr val="black"/>
                </a:solidFill>
                <a:effectLst/>
                <a:uLnTx/>
                <a:uFillTx/>
                <a:latin typeface="Arial" panose="020B0604020202020204"/>
                <a:ea typeface="微软雅黑" panose="020B0503020204020204" pitchFamily="34" charset="-122"/>
                <a:cs typeface="+mn-cs"/>
              </a:rPr>
              <a:t>‹#›</a:t>
            </a:fld>
            <a:endParaRPr kumimoji="0" lang="en-US" altLang="zh-CN" sz="10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grpSp>
        <p:nvGrpSpPr>
          <p:cNvPr id="2" name="组合 1"/>
          <p:cNvGrpSpPr/>
          <p:nvPr userDrawn="1"/>
        </p:nvGrpSpPr>
        <p:grpSpPr>
          <a:xfrm flipH="1">
            <a:off x="2442672" y="-84138"/>
            <a:ext cx="1997751" cy="843038"/>
            <a:chOff x="1506537" y="0"/>
            <a:chExt cx="1997751" cy="734418"/>
          </a:xfrm>
        </p:grpSpPr>
        <p:sp>
          <p:nvSpPr>
            <p:cNvPr id="3" name="平行四边形 2"/>
            <p:cNvSpPr/>
            <p:nvPr/>
          </p:nvSpPr>
          <p:spPr>
            <a:xfrm flipH="1">
              <a:off x="1506537" y="66676"/>
              <a:ext cx="1297791" cy="492324"/>
            </a:xfrm>
            <a:prstGeom prst="parallelogram">
              <a:avLst>
                <a:gd name="adj" fmla="val 110052"/>
              </a:avLst>
            </a:prstGeom>
            <a:gradFill>
              <a:gsLst>
                <a:gs pos="0">
                  <a:schemeClr val="accent1">
                    <a:lumMod val="20000"/>
                    <a:lumOff val="80000"/>
                    <a:alpha val="20000"/>
                  </a:schemeClr>
                </a:gs>
                <a:gs pos="100000">
                  <a:schemeClr val="accent1">
                    <a:lumMod val="20000"/>
                    <a:lumOff val="80000"/>
                    <a:alpha val="0"/>
                  </a:scheme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平行四边形 3"/>
            <p:cNvSpPr/>
            <p:nvPr/>
          </p:nvSpPr>
          <p:spPr>
            <a:xfrm flipH="1">
              <a:off x="1788578" y="66676"/>
              <a:ext cx="1028341" cy="492324"/>
            </a:xfrm>
            <a:prstGeom prst="parallelogram">
              <a:avLst>
                <a:gd name="adj" fmla="val 111457"/>
              </a:avLst>
            </a:prstGeom>
            <a:gradFill>
              <a:gsLst>
                <a:gs pos="0">
                  <a:schemeClr val="accent1">
                    <a:lumMod val="20000"/>
                    <a:lumOff val="80000"/>
                    <a:alpha val="20000"/>
                  </a:schemeClr>
                </a:gs>
                <a:gs pos="85000">
                  <a:schemeClr val="accent1">
                    <a:lumMod val="20000"/>
                    <a:lumOff val="80000"/>
                    <a:alpha val="0"/>
                  </a:schemeClr>
                </a:gs>
              </a:gsLst>
              <a:lin ang="3000000" scaled="0"/>
            </a:gradFill>
            <a:ln>
              <a:gradFill>
                <a:gsLst>
                  <a:gs pos="0">
                    <a:schemeClr val="accent3"/>
                  </a:gs>
                  <a:gs pos="60000">
                    <a:schemeClr val="accent1">
                      <a:lumMod val="20000"/>
                      <a:lumOff val="80000"/>
                      <a:alpha val="0"/>
                    </a:schemeClr>
                  </a:gs>
                </a:gsLst>
                <a:lin ang="30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3057205" y="665500"/>
              <a:ext cx="447083" cy="68918"/>
              <a:chOff x="5933623" y="2427611"/>
              <a:chExt cx="447083" cy="68918"/>
            </a:xfrm>
          </p:grpSpPr>
          <p:cxnSp>
            <p:nvCxnSpPr>
              <p:cNvPr id="17" name="直接连接符 16"/>
              <p:cNvCxnSpPr/>
              <p:nvPr/>
            </p:nvCxnSpPr>
            <p:spPr>
              <a:xfrm flipH="1" flipV="1">
                <a:off x="6311788" y="2427611"/>
                <a:ext cx="68918" cy="6891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5933623" y="2427611"/>
                <a:ext cx="37816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p:cNvCxnSpPr/>
            <p:nvPr/>
          </p:nvCxnSpPr>
          <p:spPr>
            <a:xfrm flipH="1" flipV="1">
              <a:off x="2219102" y="0"/>
              <a:ext cx="838103" cy="665500"/>
            </a:xfrm>
            <a:prstGeom prst="line">
              <a:avLst/>
            </a:prstGeom>
            <a:ln w="12700">
              <a:gradFill>
                <a:gsLst>
                  <a:gs pos="0">
                    <a:schemeClr val="accent3"/>
                  </a:gs>
                  <a:gs pos="92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448392" y="625338"/>
              <a:ext cx="497886" cy="45719"/>
              <a:chOff x="2448392" y="625338"/>
              <a:chExt cx="497886" cy="45719"/>
            </a:xfrm>
          </p:grpSpPr>
          <p:sp>
            <p:nvSpPr>
              <p:cNvPr id="10" name="平行四边形 9"/>
              <p:cNvSpPr/>
              <p:nvPr/>
            </p:nvSpPr>
            <p:spPr>
              <a:xfrm flipH="1">
                <a:off x="2832188" y="625338"/>
                <a:ext cx="114090" cy="45719"/>
              </a:xfrm>
              <a:prstGeom prst="parallelogram">
                <a:avLst>
                  <a:gd name="adj" fmla="val 12914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p:cNvSpPr/>
              <p:nvPr/>
            </p:nvSpPr>
            <p:spPr>
              <a:xfrm flipH="1">
                <a:off x="2736239" y="625338"/>
                <a:ext cx="114090" cy="45719"/>
              </a:xfrm>
              <a:prstGeom prst="parallelogram">
                <a:avLst>
                  <a:gd name="adj" fmla="val 129145"/>
                </a:avLst>
              </a:prstGeom>
              <a:solidFill>
                <a:schemeClr val="accent3">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flipH="1">
                <a:off x="2640290" y="625338"/>
                <a:ext cx="114090" cy="45719"/>
              </a:xfrm>
              <a:prstGeom prst="parallelogram">
                <a:avLst>
                  <a:gd name="adj" fmla="val 129145"/>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p:cNvSpPr/>
              <p:nvPr/>
            </p:nvSpPr>
            <p:spPr>
              <a:xfrm flipH="1">
                <a:off x="2544341" y="625338"/>
                <a:ext cx="114090" cy="45719"/>
              </a:xfrm>
              <a:prstGeom prst="parallelogram">
                <a:avLst>
                  <a:gd name="adj" fmla="val 129145"/>
                </a:avLst>
              </a:prstGeom>
              <a:solidFill>
                <a:schemeClr val="accent3">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flipH="1">
                <a:off x="2448392" y="625338"/>
                <a:ext cx="114090" cy="45719"/>
              </a:xfrm>
              <a:prstGeom prst="parallelogram">
                <a:avLst>
                  <a:gd name="adj" fmla="val 129145"/>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8542596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2">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3">
            <a:extLst>
              <a:ext uri="{28A0092B-C50C-407E-A947-70E740481C1C}">
                <a14:useLocalDpi xmlns:a14="http://schemas.microsoft.com/office/drawing/2010/main" val="0"/>
              </a:ext>
            </a:extLst>
          </a:blip>
          <a:srcRect l="19160" t="67305" r="21698" b="20235"/>
          <a:stretch>
            <a:fillRect/>
          </a:stretch>
        </p:blipFill>
        <p:spPr>
          <a:xfrm>
            <a:off x="0" y="0"/>
            <a:ext cx="12192000" cy="758900"/>
          </a:xfrm>
          <a:prstGeom prst="rect">
            <a:avLst/>
          </a:prstGeom>
        </p:spPr>
      </p:pic>
      <p:sp>
        <p:nvSpPr>
          <p:cNvPr id="11" name="矩形 10"/>
          <p:cNvSpPr/>
          <p:nvPr userDrawn="1"/>
        </p:nvSpPr>
        <p:spPr>
          <a:xfrm>
            <a:off x="0" y="0"/>
            <a:ext cx="12192000" cy="758900"/>
          </a:xfrm>
          <a:prstGeom prst="rect">
            <a:avLst/>
          </a:prstGeom>
          <a:gradFill>
            <a:gsLst>
              <a:gs pos="0">
                <a:schemeClr val="accent1">
                  <a:lumMod val="75000"/>
                </a:schemeClr>
              </a:gs>
              <a:gs pos="100000">
                <a:schemeClr val="accent1">
                  <a:lumMod val="75000"/>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PA-文本框 47"/>
          <p:cNvSpPr txBox="1"/>
          <p:nvPr>
            <p:custDataLst>
              <p:tags r:id="rId1"/>
            </p:custDataLst>
          </p:nvPr>
        </p:nvSpPr>
        <p:spPr>
          <a:xfrm>
            <a:off x="270158" y="117840"/>
            <a:ext cx="4965948" cy="523220"/>
          </a:xfrm>
          <a:prstGeom prst="rect">
            <a:avLst/>
          </a:prstGeom>
          <a:noFill/>
        </p:spPr>
        <p:txBody>
          <a:bodyPr wrap="square" rtlCol="0" anchor="ctr">
            <a:spAutoFit/>
          </a:bodyPr>
          <a:lstStyle/>
          <a:p>
            <a:pPr lvl="0" algn="l">
              <a:lnSpc>
                <a:spcPct val="100000"/>
              </a:lnSpc>
              <a:defRPr/>
            </a:pPr>
            <a:r>
              <a:rPr lang="en-US" altLang="zh-CN" sz="2800" b="1" spc="0" dirty="0">
                <a:solidFill>
                  <a:schemeClr val="bg1"/>
                </a:solidFill>
                <a:effectLst>
                  <a:outerShdw blurRad="101600" dist="12700" dir="5400000" algn="t" rotWithShape="0">
                    <a:schemeClr val="accent3">
                      <a:alpha val="85000"/>
                    </a:schemeClr>
                  </a:outerShdw>
                </a:effectLst>
                <a:latin typeface="+mj-ea"/>
                <a:ea typeface="+mj-ea"/>
              </a:rPr>
              <a:t>7.2 </a:t>
            </a:r>
            <a:r>
              <a:rPr lang="zh-CN" altLang="en-US" sz="2800" b="1" spc="0" dirty="0">
                <a:solidFill>
                  <a:schemeClr val="bg1"/>
                </a:solidFill>
                <a:effectLst>
                  <a:outerShdw blurRad="101600" dist="12700" dir="5400000" algn="t" rotWithShape="0">
                    <a:schemeClr val="accent3">
                      <a:alpha val="85000"/>
                    </a:schemeClr>
                  </a:outerShdw>
                </a:effectLst>
                <a:latin typeface="+mj-ea"/>
                <a:ea typeface="+mj-ea"/>
              </a:rPr>
              <a:t>全局路径规划</a:t>
            </a:r>
          </a:p>
        </p:txBody>
      </p:sp>
      <p:sp>
        <p:nvSpPr>
          <p:cNvPr id="56" name="矩形 55"/>
          <p:cNvSpPr/>
          <p:nvPr userDrawn="1"/>
        </p:nvSpPr>
        <p:spPr>
          <a:xfrm>
            <a:off x="-1" y="758900"/>
            <a:ext cx="12192001" cy="66338"/>
          </a:xfrm>
          <a:prstGeom prst="rect">
            <a:avLst/>
          </a:prstGeom>
          <a:gradFill>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466917" y="165400"/>
            <a:ext cx="1368044" cy="428101"/>
          </a:xfrm>
          <a:prstGeom prst="rect">
            <a:avLst/>
          </a:prstGeom>
        </p:spPr>
      </p:pic>
      <p:sp>
        <p:nvSpPr>
          <p:cNvPr id="14" name="文本框 13"/>
          <p:cNvSpPr txBox="1"/>
          <p:nvPr userDrawn="1"/>
        </p:nvSpPr>
        <p:spPr>
          <a:xfrm>
            <a:off x="11689482" y="6429445"/>
            <a:ext cx="34176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7F65B630-C7FF-41C0-9923-C5E5E29EED81}" type="slidenum">
              <a:rPr kumimoji="0" lang="en-US" altLang="zh-CN" sz="1000" b="0" i="0" u="none" strike="noStrike" kern="1200" cap="none" spc="0" normalizeH="0" baseline="0" noProof="0" smtClean="0">
                <a:ln>
                  <a:noFill/>
                </a:ln>
                <a:solidFill>
                  <a:prstClr val="black"/>
                </a:solidFill>
                <a:effectLst/>
                <a:uLnTx/>
                <a:uFillTx/>
                <a:latin typeface="Arial" panose="020B0604020202020204"/>
                <a:ea typeface="微软雅黑" panose="020B0503020204020204" pitchFamily="34" charset="-122"/>
                <a:cs typeface="+mn-cs"/>
              </a:rPr>
              <a:t>‹#›</a:t>
            </a:fld>
            <a:endParaRPr kumimoji="0" lang="en-US" altLang="zh-CN" sz="10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grpSp>
        <p:nvGrpSpPr>
          <p:cNvPr id="2" name="组合 1"/>
          <p:cNvGrpSpPr/>
          <p:nvPr userDrawn="1"/>
        </p:nvGrpSpPr>
        <p:grpSpPr>
          <a:xfrm flipH="1">
            <a:off x="3457367" y="-84138"/>
            <a:ext cx="1997751" cy="843038"/>
            <a:chOff x="1506537" y="0"/>
            <a:chExt cx="1997751" cy="734418"/>
          </a:xfrm>
        </p:grpSpPr>
        <p:sp>
          <p:nvSpPr>
            <p:cNvPr id="3" name="平行四边形 2"/>
            <p:cNvSpPr/>
            <p:nvPr/>
          </p:nvSpPr>
          <p:spPr>
            <a:xfrm flipH="1">
              <a:off x="1506537" y="66676"/>
              <a:ext cx="1297791" cy="492324"/>
            </a:xfrm>
            <a:prstGeom prst="parallelogram">
              <a:avLst>
                <a:gd name="adj" fmla="val 110052"/>
              </a:avLst>
            </a:prstGeom>
            <a:gradFill>
              <a:gsLst>
                <a:gs pos="0">
                  <a:schemeClr val="accent1">
                    <a:lumMod val="20000"/>
                    <a:lumOff val="80000"/>
                    <a:alpha val="20000"/>
                  </a:schemeClr>
                </a:gs>
                <a:gs pos="100000">
                  <a:schemeClr val="accent1">
                    <a:lumMod val="20000"/>
                    <a:lumOff val="80000"/>
                    <a:alpha val="0"/>
                  </a:scheme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平行四边形 3"/>
            <p:cNvSpPr/>
            <p:nvPr/>
          </p:nvSpPr>
          <p:spPr>
            <a:xfrm flipH="1">
              <a:off x="1788578" y="66676"/>
              <a:ext cx="1028341" cy="492324"/>
            </a:xfrm>
            <a:prstGeom prst="parallelogram">
              <a:avLst>
                <a:gd name="adj" fmla="val 111457"/>
              </a:avLst>
            </a:prstGeom>
            <a:gradFill>
              <a:gsLst>
                <a:gs pos="0">
                  <a:schemeClr val="accent1">
                    <a:lumMod val="20000"/>
                    <a:lumOff val="80000"/>
                    <a:alpha val="20000"/>
                  </a:schemeClr>
                </a:gs>
                <a:gs pos="85000">
                  <a:schemeClr val="accent1">
                    <a:lumMod val="20000"/>
                    <a:lumOff val="80000"/>
                    <a:alpha val="0"/>
                  </a:schemeClr>
                </a:gs>
              </a:gsLst>
              <a:lin ang="3000000" scaled="0"/>
            </a:gradFill>
            <a:ln>
              <a:gradFill>
                <a:gsLst>
                  <a:gs pos="0">
                    <a:schemeClr val="accent3"/>
                  </a:gs>
                  <a:gs pos="60000">
                    <a:schemeClr val="accent1">
                      <a:lumMod val="20000"/>
                      <a:lumOff val="80000"/>
                      <a:alpha val="0"/>
                    </a:schemeClr>
                  </a:gs>
                </a:gsLst>
                <a:lin ang="30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3057205" y="665500"/>
              <a:ext cx="447083" cy="68918"/>
              <a:chOff x="5933623" y="2427611"/>
              <a:chExt cx="447083" cy="68918"/>
            </a:xfrm>
          </p:grpSpPr>
          <p:cxnSp>
            <p:nvCxnSpPr>
              <p:cNvPr id="17" name="直接连接符 16"/>
              <p:cNvCxnSpPr/>
              <p:nvPr/>
            </p:nvCxnSpPr>
            <p:spPr>
              <a:xfrm flipH="1" flipV="1">
                <a:off x="6311788" y="2427611"/>
                <a:ext cx="68918" cy="6891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5933623" y="2427611"/>
                <a:ext cx="37816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p:cNvCxnSpPr/>
            <p:nvPr/>
          </p:nvCxnSpPr>
          <p:spPr>
            <a:xfrm flipH="1" flipV="1">
              <a:off x="2219102" y="0"/>
              <a:ext cx="838103" cy="665500"/>
            </a:xfrm>
            <a:prstGeom prst="line">
              <a:avLst/>
            </a:prstGeom>
            <a:ln w="12700">
              <a:gradFill>
                <a:gsLst>
                  <a:gs pos="0">
                    <a:schemeClr val="accent3"/>
                  </a:gs>
                  <a:gs pos="92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448392" y="625338"/>
              <a:ext cx="497886" cy="45719"/>
              <a:chOff x="2448392" y="625338"/>
              <a:chExt cx="497886" cy="45719"/>
            </a:xfrm>
          </p:grpSpPr>
          <p:sp>
            <p:nvSpPr>
              <p:cNvPr id="10" name="平行四边形 9"/>
              <p:cNvSpPr/>
              <p:nvPr/>
            </p:nvSpPr>
            <p:spPr>
              <a:xfrm flipH="1">
                <a:off x="2832188" y="625338"/>
                <a:ext cx="114090" cy="45719"/>
              </a:xfrm>
              <a:prstGeom prst="parallelogram">
                <a:avLst>
                  <a:gd name="adj" fmla="val 12914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p:cNvSpPr/>
              <p:nvPr/>
            </p:nvSpPr>
            <p:spPr>
              <a:xfrm flipH="1">
                <a:off x="2736239" y="625338"/>
                <a:ext cx="114090" cy="45719"/>
              </a:xfrm>
              <a:prstGeom prst="parallelogram">
                <a:avLst>
                  <a:gd name="adj" fmla="val 129145"/>
                </a:avLst>
              </a:prstGeom>
              <a:solidFill>
                <a:schemeClr val="accent3">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flipH="1">
                <a:off x="2640290" y="625338"/>
                <a:ext cx="114090" cy="45719"/>
              </a:xfrm>
              <a:prstGeom prst="parallelogram">
                <a:avLst>
                  <a:gd name="adj" fmla="val 129145"/>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p:cNvSpPr/>
              <p:nvPr/>
            </p:nvSpPr>
            <p:spPr>
              <a:xfrm flipH="1">
                <a:off x="2544341" y="625338"/>
                <a:ext cx="114090" cy="45719"/>
              </a:xfrm>
              <a:prstGeom prst="parallelogram">
                <a:avLst>
                  <a:gd name="adj" fmla="val 129145"/>
                </a:avLst>
              </a:prstGeom>
              <a:solidFill>
                <a:schemeClr val="accent3">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flipH="1">
                <a:off x="2448392" y="625338"/>
                <a:ext cx="114090" cy="45719"/>
              </a:xfrm>
              <a:prstGeom prst="parallelogram">
                <a:avLst>
                  <a:gd name="adj" fmla="val 129145"/>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5878808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3">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3">
            <a:extLst>
              <a:ext uri="{28A0092B-C50C-407E-A947-70E740481C1C}">
                <a14:useLocalDpi xmlns:a14="http://schemas.microsoft.com/office/drawing/2010/main" val="0"/>
              </a:ext>
            </a:extLst>
          </a:blip>
          <a:srcRect l="19160" t="67305" r="21698" b="20235"/>
          <a:stretch>
            <a:fillRect/>
          </a:stretch>
        </p:blipFill>
        <p:spPr>
          <a:xfrm>
            <a:off x="0" y="0"/>
            <a:ext cx="12192000" cy="758900"/>
          </a:xfrm>
          <a:prstGeom prst="rect">
            <a:avLst/>
          </a:prstGeom>
        </p:spPr>
      </p:pic>
      <p:sp>
        <p:nvSpPr>
          <p:cNvPr id="11" name="矩形 10"/>
          <p:cNvSpPr/>
          <p:nvPr userDrawn="1"/>
        </p:nvSpPr>
        <p:spPr>
          <a:xfrm>
            <a:off x="0" y="0"/>
            <a:ext cx="12192000" cy="758900"/>
          </a:xfrm>
          <a:prstGeom prst="rect">
            <a:avLst/>
          </a:prstGeom>
          <a:gradFill>
            <a:gsLst>
              <a:gs pos="0">
                <a:schemeClr val="accent1">
                  <a:lumMod val="75000"/>
                </a:schemeClr>
              </a:gs>
              <a:gs pos="100000">
                <a:schemeClr val="accent1">
                  <a:lumMod val="75000"/>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PA-文本框 47"/>
          <p:cNvSpPr txBox="1"/>
          <p:nvPr>
            <p:custDataLst>
              <p:tags r:id="rId1"/>
            </p:custDataLst>
          </p:nvPr>
        </p:nvSpPr>
        <p:spPr>
          <a:xfrm>
            <a:off x="270158" y="117840"/>
            <a:ext cx="4965948" cy="523220"/>
          </a:xfrm>
          <a:prstGeom prst="rect">
            <a:avLst/>
          </a:prstGeom>
          <a:noFill/>
        </p:spPr>
        <p:txBody>
          <a:bodyPr wrap="square" rtlCol="0" anchor="ctr">
            <a:spAutoFit/>
          </a:bodyPr>
          <a:lstStyle/>
          <a:p>
            <a:pPr lvl="0" algn="l">
              <a:lnSpc>
                <a:spcPct val="100000"/>
              </a:lnSpc>
              <a:defRPr/>
            </a:pPr>
            <a:r>
              <a:rPr lang="en-US" altLang="zh-CN" sz="2800" b="1" spc="0" dirty="0">
                <a:solidFill>
                  <a:schemeClr val="bg1"/>
                </a:solidFill>
                <a:effectLst>
                  <a:outerShdw blurRad="101600" dist="12700" dir="5400000" algn="t" rotWithShape="0">
                    <a:schemeClr val="accent3">
                      <a:alpha val="85000"/>
                    </a:schemeClr>
                  </a:outerShdw>
                </a:effectLst>
                <a:latin typeface="+mj-ea"/>
                <a:ea typeface="+mj-ea"/>
              </a:rPr>
              <a:t>7.3 </a:t>
            </a:r>
            <a:r>
              <a:rPr lang="zh-CN" altLang="en-US" sz="2800" b="1" spc="0" dirty="0">
                <a:solidFill>
                  <a:schemeClr val="bg1"/>
                </a:solidFill>
                <a:effectLst>
                  <a:outerShdw blurRad="101600" dist="12700" dir="5400000" algn="t" rotWithShape="0">
                    <a:schemeClr val="accent3">
                      <a:alpha val="85000"/>
                    </a:schemeClr>
                  </a:outerShdw>
                </a:effectLst>
                <a:latin typeface="+mj-ea"/>
                <a:ea typeface="+mj-ea"/>
              </a:rPr>
              <a:t>局部路径规划</a:t>
            </a:r>
          </a:p>
        </p:txBody>
      </p:sp>
      <p:sp>
        <p:nvSpPr>
          <p:cNvPr id="56" name="矩形 55"/>
          <p:cNvSpPr/>
          <p:nvPr userDrawn="1"/>
        </p:nvSpPr>
        <p:spPr>
          <a:xfrm>
            <a:off x="-1" y="758900"/>
            <a:ext cx="12192001" cy="66338"/>
          </a:xfrm>
          <a:prstGeom prst="rect">
            <a:avLst/>
          </a:prstGeom>
          <a:gradFill>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466917" y="165400"/>
            <a:ext cx="1368044" cy="428101"/>
          </a:xfrm>
          <a:prstGeom prst="rect">
            <a:avLst/>
          </a:prstGeom>
        </p:spPr>
      </p:pic>
      <p:sp>
        <p:nvSpPr>
          <p:cNvPr id="14" name="文本框 13"/>
          <p:cNvSpPr txBox="1"/>
          <p:nvPr userDrawn="1"/>
        </p:nvSpPr>
        <p:spPr>
          <a:xfrm>
            <a:off x="11689482" y="6429445"/>
            <a:ext cx="34176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7F65B630-C7FF-41C0-9923-C5E5E29EED81}" type="slidenum">
              <a:rPr kumimoji="0" lang="en-US" altLang="zh-CN" sz="1000" b="0" i="0" u="none" strike="noStrike" kern="1200" cap="none" spc="0" normalizeH="0" baseline="0" noProof="0" smtClean="0">
                <a:ln>
                  <a:noFill/>
                </a:ln>
                <a:solidFill>
                  <a:prstClr val="black"/>
                </a:solidFill>
                <a:effectLst/>
                <a:uLnTx/>
                <a:uFillTx/>
                <a:latin typeface="Arial" panose="020B0604020202020204"/>
                <a:ea typeface="微软雅黑" panose="020B0503020204020204" pitchFamily="34" charset="-122"/>
                <a:cs typeface="+mn-cs"/>
              </a:rPr>
              <a:t>‹#›</a:t>
            </a:fld>
            <a:endParaRPr kumimoji="0" lang="en-US" altLang="zh-CN" sz="10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grpSp>
        <p:nvGrpSpPr>
          <p:cNvPr id="2" name="组合 1"/>
          <p:cNvGrpSpPr/>
          <p:nvPr userDrawn="1"/>
        </p:nvGrpSpPr>
        <p:grpSpPr>
          <a:xfrm flipH="1">
            <a:off x="3404271" y="-84138"/>
            <a:ext cx="1997751" cy="843038"/>
            <a:chOff x="1506537" y="0"/>
            <a:chExt cx="1997751" cy="734418"/>
          </a:xfrm>
        </p:grpSpPr>
        <p:sp>
          <p:nvSpPr>
            <p:cNvPr id="3" name="平行四边形 2"/>
            <p:cNvSpPr/>
            <p:nvPr/>
          </p:nvSpPr>
          <p:spPr>
            <a:xfrm flipH="1">
              <a:off x="1506537" y="66676"/>
              <a:ext cx="1297791" cy="492324"/>
            </a:xfrm>
            <a:prstGeom prst="parallelogram">
              <a:avLst>
                <a:gd name="adj" fmla="val 110052"/>
              </a:avLst>
            </a:prstGeom>
            <a:gradFill>
              <a:gsLst>
                <a:gs pos="0">
                  <a:schemeClr val="accent1">
                    <a:lumMod val="20000"/>
                    <a:lumOff val="80000"/>
                    <a:alpha val="20000"/>
                  </a:schemeClr>
                </a:gs>
                <a:gs pos="100000">
                  <a:schemeClr val="accent1">
                    <a:lumMod val="20000"/>
                    <a:lumOff val="80000"/>
                    <a:alpha val="0"/>
                  </a:scheme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平行四边形 3"/>
            <p:cNvSpPr/>
            <p:nvPr/>
          </p:nvSpPr>
          <p:spPr>
            <a:xfrm flipH="1">
              <a:off x="1788578" y="66676"/>
              <a:ext cx="1028341" cy="492324"/>
            </a:xfrm>
            <a:prstGeom prst="parallelogram">
              <a:avLst>
                <a:gd name="adj" fmla="val 111457"/>
              </a:avLst>
            </a:prstGeom>
            <a:gradFill>
              <a:gsLst>
                <a:gs pos="0">
                  <a:schemeClr val="accent1">
                    <a:lumMod val="20000"/>
                    <a:lumOff val="80000"/>
                    <a:alpha val="20000"/>
                  </a:schemeClr>
                </a:gs>
                <a:gs pos="85000">
                  <a:schemeClr val="accent1">
                    <a:lumMod val="20000"/>
                    <a:lumOff val="80000"/>
                    <a:alpha val="0"/>
                  </a:schemeClr>
                </a:gs>
              </a:gsLst>
              <a:lin ang="3000000" scaled="0"/>
            </a:gradFill>
            <a:ln>
              <a:gradFill>
                <a:gsLst>
                  <a:gs pos="0">
                    <a:schemeClr val="accent3"/>
                  </a:gs>
                  <a:gs pos="60000">
                    <a:schemeClr val="accent1">
                      <a:lumMod val="20000"/>
                      <a:lumOff val="80000"/>
                      <a:alpha val="0"/>
                    </a:schemeClr>
                  </a:gs>
                </a:gsLst>
                <a:lin ang="30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3057205" y="665500"/>
              <a:ext cx="447083" cy="68918"/>
              <a:chOff x="5933623" y="2427611"/>
              <a:chExt cx="447083" cy="68918"/>
            </a:xfrm>
          </p:grpSpPr>
          <p:cxnSp>
            <p:nvCxnSpPr>
              <p:cNvPr id="17" name="直接连接符 16"/>
              <p:cNvCxnSpPr/>
              <p:nvPr/>
            </p:nvCxnSpPr>
            <p:spPr>
              <a:xfrm flipH="1" flipV="1">
                <a:off x="6311788" y="2427611"/>
                <a:ext cx="68918" cy="6891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5933623" y="2427611"/>
                <a:ext cx="37816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p:cNvCxnSpPr/>
            <p:nvPr/>
          </p:nvCxnSpPr>
          <p:spPr>
            <a:xfrm flipH="1" flipV="1">
              <a:off x="2219102" y="0"/>
              <a:ext cx="838103" cy="665500"/>
            </a:xfrm>
            <a:prstGeom prst="line">
              <a:avLst/>
            </a:prstGeom>
            <a:ln w="12700">
              <a:gradFill>
                <a:gsLst>
                  <a:gs pos="0">
                    <a:schemeClr val="accent3"/>
                  </a:gs>
                  <a:gs pos="92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448392" y="625338"/>
              <a:ext cx="497886" cy="45719"/>
              <a:chOff x="2448392" y="625338"/>
              <a:chExt cx="497886" cy="45719"/>
            </a:xfrm>
          </p:grpSpPr>
          <p:sp>
            <p:nvSpPr>
              <p:cNvPr id="10" name="平行四边形 9"/>
              <p:cNvSpPr/>
              <p:nvPr/>
            </p:nvSpPr>
            <p:spPr>
              <a:xfrm flipH="1">
                <a:off x="2832188" y="625338"/>
                <a:ext cx="114090" cy="45719"/>
              </a:xfrm>
              <a:prstGeom prst="parallelogram">
                <a:avLst>
                  <a:gd name="adj" fmla="val 12914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p:cNvSpPr/>
              <p:nvPr/>
            </p:nvSpPr>
            <p:spPr>
              <a:xfrm flipH="1">
                <a:off x="2736239" y="625338"/>
                <a:ext cx="114090" cy="45719"/>
              </a:xfrm>
              <a:prstGeom prst="parallelogram">
                <a:avLst>
                  <a:gd name="adj" fmla="val 129145"/>
                </a:avLst>
              </a:prstGeom>
              <a:solidFill>
                <a:schemeClr val="accent3">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flipH="1">
                <a:off x="2640290" y="625338"/>
                <a:ext cx="114090" cy="45719"/>
              </a:xfrm>
              <a:prstGeom prst="parallelogram">
                <a:avLst>
                  <a:gd name="adj" fmla="val 129145"/>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p:cNvSpPr/>
              <p:nvPr/>
            </p:nvSpPr>
            <p:spPr>
              <a:xfrm flipH="1">
                <a:off x="2544341" y="625338"/>
                <a:ext cx="114090" cy="45719"/>
              </a:xfrm>
              <a:prstGeom prst="parallelogram">
                <a:avLst>
                  <a:gd name="adj" fmla="val 129145"/>
                </a:avLst>
              </a:prstGeom>
              <a:solidFill>
                <a:schemeClr val="accent3">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flipH="1">
                <a:off x="2448392" y="625338"/>
                <a:ext cx="114090" cy="45719"/>
              </a:xfrm>
              <a:prstGeom prst="parallelogram">
                <a:avLst>
                  <a:gd name="adj" fmla="val 129145"/>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872437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902EFB-969B-2EF3-3392-3257EE1106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E13D239-B1D4-7DFE-12B1-9603CF3E17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E5199BB-DE7C-B745-A1D2-CC4B876666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4B6B2-4DD2-402E-9D92-2DD140D74C09}"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CACCA195-9018-3AF0-D6C9-F42ADD42F3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E6844DD-1A8F-67C7-1218-8F93FA95E1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9268CE-C98F-447B-8124-6EDA8875FB5A}" type="slidenum">
              <a:rPr lang="zh-CN" altLang="en-US" smtClean="0"/>
              <a:t>‹#›</a:t>
            </a:fld>
            <a:endParaRPr lang="zh-CN" altLang="en-US"/>
          </a:p>
        </p:txBody>
      </p:sp>
    </p:spTree>
    <p:extLst>
      <p:ext uri="{BB962C8B-B14F-4D97-AF65-F5344CB8AC3E}">
        <p14:creationId xmlns:p14="http://schemas.microsoft.com/office/powerpoint/2010/main" val="3207399602"/>
      </p:ext>
    </p:extLst>
  </p:cSld>
  <p:clrMap bg1="lt1" tx1="dk1" bg2="lt2" tx2="dk2" accent1="accent1" accent2="accent2" accent3="accent3" accent4="accent4" accent5="accent5" accent6="accent6" hlink="hlink" folHlink="folHlink"/>
  <p:sldLayoutIdLst>
    <p:sldLayoutId id="2147483649" r:id="rId1"/>
    <p:sldLayoutId id="2147483669" r:id="rId2"/>
    <p:sldLayoutId id="2147483662" r:id="rId3"/>
    <p:sldLayoutId id="2147483667" r:id="rId4"/>
    <p:sldLayoutId id="2147483651" r:id="rId5"/>
    <p:sldLayoutId id="2147483664" r:id="rId6"/>
    <p:sldLayoutId id="2147483665" r:id="rId7"/>
    <p:sldLayoutId id="2147483674" r:id="rId8"/>
    <p:sldLayoutId id="2147483668" r:id="rId9"/>
    <p:sldLayoutId id="2147483670" r:id="rId10"/>
    <p:sldLayoutId id="2147483671" r:id="rId11"/>
    <p:sldLayoutId id="2147483666" r:id="rId12"/>
    <p:sldLayoutId id="2147483673" r:id="rId13"/>
    <p:sldLayoutId id="2147483675" r:id="rId14"/>
    <p:sldLayoutId id="2147483676" r:id="rId15"/>
    <p:sldLayoutId id="2147483677" r:id="rId16"/>
    <p:sldLayoutId id="2147483678" r:id="rId17"/>
    <p:sldLayoutId id="2147483679"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9.GIF"/><Relationship Id="rId5" Type="http://schemas.openxmlformats.org/officeDocument/2006/relationships/image" Target="../media/image18.GIF"/><Relationship Id="rId4" Type="http://schemas.openxmlformats.org/officeDocument/2006/relationships/image" Target="../media/image17.GIF"/></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0.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6.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tags" Target="../tags/tag28.xml"/><Relationship Id="rId18" Type="http://schemas.openxmlformats.org/officeDocument/2006/relationships/image" Target="../media/image28.bin"/><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tags" Target="../tags/tag27.xml"/><Relationship Id="rId17" Type="http://schemas.openxmlformats.org/officeDocument/2006/relationships/image" Target="../media/image27.jpeg"/><Relationship Id="rId2" Type="http://schemas.openxmlformats.org/officeDocument/2006/relationships/tags" Target="../tags/tag17.xml"/><Relationship Id="rId16" Type="http://schemas.openxmlformats.org/officeDocument/2006/relationships/image" Target="../media/image26.bin"/><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5" Type="http://schemas.openxmlformats.org/officeDocument/2006/relationships/tags" Target="../tags/tag20.xml"/><Relationship Id="rId15" Type="http://schemas.openxmlformats.org/officeDocument/2006/relationships/notesSlide" Target="../notesSlides/notesSlide6.xml"/><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29.xml"/><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8" Type="http://schemas.openxmlformats.org/officeDocument/2006/relationships/image" Target="../media/image42.gif"/><Relationship Id="rId3" Type="http://schemas.openxmlformats.org/officeDocument/2006/relationships/oleObject" Target="../embeddings/oleObject1.bin"/><Relationship Id="rId7"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NULL"/><Relationship Id="rId4" Type="http://schemas.openxmlformats.org/officeDocument/2006/relationships/image" Target="../media/image41.wmf"/></Relationships>
</file>

<file path=ppt/slides/_rels/slide15.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NULL"/><Relationship Id="rId5" Type="http://schemas.openxmlformats.org/officeDocument/2006/relationships/image" Target="../media/image43.png"/><Relationship Id="rId4" Type="http://schemas.openxmlformats.org/officeDocument/2006/relationships/image" Target="NULL"/></Relationships>
</file>

<file path=ppt/slides/_rels/slide16.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17.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18.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9.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NULL"/><Relationship Id="rId2" Type="http://schemas.openxmlformats.org/officeDocument/2006/relationships/notesSlide" Target="../notesSlides/notesSlide20.xml"/><Relationship Id="rId1" Type="http://schemas.openxmlformats.org/officeDocument/2006/relationships/slideLayout" Target="../slideLayouts/slideLayout11.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1.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44.png"/><Relationship Id="rId7" Type="http://schemas.openxmlformats.org/officeDocument/2006/relationships/image" Target="NULL"/><Relationship Id="rId2" Type="http://schemas.openxmlformats.org/officeDocument/2006/relationships/notesSlide" Target="../notesSlides/notesSlide21.xml"/><Relationship Id="rId1" Type="http://schemas.openxmlformats.org/officeDocument/2006/relationships/slideLayout" Target="../slideLayouts/slideLayout11.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1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52.GIF"/><Relationship Id="rId5" Type="http://schemas.openxmlformats.org/officeDocument/2006/relationships/image" Target="../media/image51.pn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slideLayout" Target="../slideLayouts/slideLayout12.xml"/><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tags" Target="../tags/tag41.xml"/><Relationship Id="rId2" Type="http://schemas.openxmlformats.org/officeDocument/2006/relationships/tags" Target="../tags/tag31.xml"/><Relationship Id="rId16" Type="http://schemas.openxmlformats.org/officeDocument/2006/relationships/image" Target="../media/image57.png"/><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5" Type="http://schemas.openxmlformats.org/officeDocument/2006/relationships/tags" Target="../tags/tag34.xml"/><Relationship Id="rId15" Type="http://schemas.openxmlformats.org/officeDocument/2006/relationships/image" Target="../media/image56.png"/><Relationship Id="rId10" Type="http://schemas.openxmlformats.org/officeDocument/2006/relationships/tags" Target="../tags/tag39.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61.GIF"/><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62.GIF"/><Relationship Id="rId4" Type="http://schemas.openxmlformats.org/officeDocument/2006/relationships/image" Target="../media/image41.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image63.png"/><Relationship Id="rId4" Type="http://schemas.openxmlformats.org/officeDocument/2006/relationships/image" Target="../media/image41.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2.xml"/><Relationship Id="rId1" Type="http://schemas.openxmlformats.org/officeDocument/2006/relationships/slideLayout" Target="../slideLayouts/slideLayout12.xml"/><Relationship Id="rId5" Type="http://schemas.openxmlformats.org/officeDocument/2006/relationships/image" Target="../media/image63.png"/><Relationship Id="rId4" Type="http://schemas.openxmlformats.org/officeDocument/2006/relationships/image" Target="../media/image41.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3.xml"/><Relationship Id="rId1" Type="http://schemas.openxmlformats.org/officeDocument/2006/relationships/slideLayout" Target="../slideLayouts/slideLayout12.xml"/><Relationship Id="rId5" Type="http://schemas.openxmlformats.org/officeDocument/2006/relationships/image" Target="../media/image64.png"/><Relationship Id="rId4" Type="http://schemas.openxmlformats.org/officeDocument/2006/relationships/image" Target="../media/image41.wmf"/></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4.xml"/><Relationship Id="rId1" Type="http://schemas.openxmlformats.org/officeDocument/2006/relationships/slideLayout" Target="../slideLayouts/slideLayout12.xml"/><Relationship Id="rId5" Type="http://schemas.openxmlformats.org/officeDocument/2006/relationships/image" Target="../media/image41.wmf"/><Relationship Id="rId4" Type="http://schemas.openxmlformats.org/officeDocument/2006/relationships/oleObject" Target="../embeddings/oleObject2.bin"/></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65.png"/><Relationship Id="rId4" Type="http://schemas.openxmlformats.org/officeDocument/2006/relationships/image" Target="../media/image41.wmf"/></Relationships>
</file>

<file path=ppt/slides/_rels/slide36.xml.rels><?xml version="1.0" encoding="UTF-8" standalone="yes"?>
<Relationships xmlns="http://schemas.openxmlformats.org/package/2006/relationships"><Relationship Id="rId8" Type="http://schemas.openxmlformats.org/officeDocument/2006/relationships/image" Target="../media/image71.GIF"/><Relationship Id="rId3" Type="http://schemas.openxmlformats.org/officeDocument/2006/relationships/image" Target="../media/image66.png"/><Relationship Id="rId7" Type="http://schemas.openxmlformats.org/officeDocument/2006/relationships/image" Target="../media/image70.GIF"/><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37.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slideLayout" Target="../slideLayouts/slideLayout12.xml"/><Relationship Id="rId18" Type="http://schemas.openxmlformats.org/officeDocument/2006/relationships/image" Target="../media/image74.png"/><Relationship Id="rId3" Type="http://schemas.openxmlformats.org/officeDocument/2006/relationships/tags" Target="../tags/tag44.xml"/><Relationship Id="rId7" Type="http://schemas.openxmlformats.org/officeDocument/2006/relationships/tags" Target="../tags/tag48.xml"/><Relationship Id="rId12" Type="http://schemas.openxmlformats.org/officeDocument/2006/relationships/tags" Target="../tags/tag53.xml"/><Relationship Id="rId17" Type="http://schemas.openxmlformats.org/officeDocument/2006/relationships/image" Target="../media/image30.png"/><Relationship Id="rId2" Type="http://schemas.openxmlformats.org/officeDocument/2006/relationships/tags" Target="../tags/tag43.xml"/><Relationship Id="rId16" Type="http://schemas.openxmlformats.org/officeDocument/2006/relationships/image" Target="../media/image73.png"/><Relationship Id="rId20" Type="http://schemas.openxmlformats.org/officeDocument/2006/relationships/image" Target="../media/image76.png"/><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5" Type="http://schemas.openxmlformats.org/officeDocument/2006/relationships/tags" Target="../tags/tag46.xml"/><Relationship Id="rId15" Type="http://schemas.openxmlformats.org/officeDocument/2006/relationships/image" Target="../media/image72.png"/><Relationship Id="rId10" Type="http://schemas.openxmlformats.org/officeDocument/2006/relationships/tags" Target="../tags/tag51.xml"/><Relationship Id="rId19" Type="http://schemas.openxmlformats.org/officeDocument/2006/relationships/image" Target="../media/image75.png"/><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image" Target="../media/image74.png"/><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image" Target="../media/image73.png"/><Relationship Id="rId2" Type="http://schemas.openxmlformats.org/officeDocument/2006/relationships/tags" Target="../tags/tag55.xml"/><Relationship Id="rId16" Type="http://schemas.openxmlformats.org/officeDocument/2006/relationships/image" Target="NUL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notesSlide" Target="../notesSlides/notesSlide38.xml"/><Relationship Id="rId5" Type="http://schemas.openxmlformats.org/officeDocument/2006/relationships/tags" Target="../tags/tag58.xml"/><Relationship Id="rId15" Type="http://schemas.openxmlformats.org/officeDocument/2006/relationships/image" Target="../media/image78.png"/><Relationship Id="rId10" Type="http://schemas.openxmlformats.org/officeDocument/2006/relationships/slideLayout" Target="../slideLayouts/slideLayout12.xml"/><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image" Target="../media/image77.png"/></Relationships>
</file>

<file path=ppt/slides/_rels/slide3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NULL"/><Relationship Id="rId5" Type="http://schemas.openxmlformats.org/officeDocument/2006/relationships/image" Target="../media/image80.png"/><Relationship Id="rId4" Type="http://schemas.openxmlformats.org/officeDocument/2006/relationships/image" Target="../media/image74.png"/></Relationships>
</file>

<file path=ppt/slides/_rels/slide40.xml.rels><?xml version="1.0" encoding="UTF-8" standalone="yes"?>
<Relationships xmlns="http://schemas.openxmlformats.org/package/2006/relationships"><Relationship Id="rId3" Type="http://schemas.openxmlformats.org/officeDocument/2006/relationships/image" Target="../media/image81.GIF"/><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image" Target="../media/image82.png"/><Relationship Id="rId18" Type="http://schemas.openxmlformats.org/officeDocument/2006/relationships/image" Target="../media/image87.png"/><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notesSlide" Target="../notesSlides/notesSlide41.xml"/><Relationship Id="rId17" Type="http://schemas.openxmlformats.org/officeDocument/2006/relationships/image" Target="../media/image86.png"/><Relationship Id="rId2" Type="http://schemas.openxmlformats.org/officeDocument/2006/relationships/tags" Target="../tags/tag64.xml"/><Relationship Id="rId16" Type="http://schemas.openxmlformats.org/officeDocument/2006/relationships/image" Target="../media/image85.png"/><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slideLayout" Target="../slideLayouts/slideLayout12.xml"/><Relationship Id="rId5" Type="http://schemas.openxmlformats.org/officeDocument/2006/relationships/tags" Target="../tags/tag67.xml"/><Relationship Id="rId15" Type="http://schemas.openxmlformats.org/officeDocument/2006/relationships/image" Target="../media/image84.png"/><Relationship Id="rId10" Type="http://schemas.openxmlformats.org/officeDocument/2006/relationships/tags" Target="../tags/tag72.xml"/><Relationship Id="rId4" Type="http://schemas.openxmlformats.org/officeDocument/2006/relationships/tags" Target="../tags/tag66.xml"/><Relationship Id="rId9" Type="http://schemas.openxmlformats.org/officeDocument/2006/relationships/tags" Target="../tags/tag71.xml"/><Relationship Id="rId14" Type="http://schemas.openxmlformats.org/officeDocument/2006/relationships/image" Target="../media/image83.png"/></Relationships>
</file>

<file path=ppt/slides/_rels/slide42.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tags" Target="../tags/tag75.xml"/><Relationship Id="rId7" Type="http://schemas.openxmlformats.org/officeDocument/2006/relationships/image" Target="../media/image89.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88.png"/><Relationship Id="rId5" Type="http://schemas.openxmlformats.org/officeDocument/2006/relationships/notesSlide" Target="../notesSlides/notesSlide42.xml"/><Relationship Id="rId4"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91.png"/><Relationship Id="rId5" Type="http://schemas.openxmlformats.org/officeDocument/2006/relationships/notesSlide" Target="../notesSlides/notesSlide43.xml"/><Relationship Id="rId4"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8" Type="http://schemas.openxmlformats.org/officeDocument/2006/relationships/tags" Target="../tags/tag86.xml"/><Relationship Id="rId13" Type="http://schemas.openxmlformats.org/officeDocument/2006/relationships/slideLayout" Target="../slideLayouts/slideLayout12.xml"/><Relationship Id="rId3" Type="http://schemas.openxmlformats.org/officeDocument/2006/relationships/tags" Target="../tags/tag81.xml"/><Relationship Id="rId7" Type="http://schemas.openxmlformats.org/officeDocument/2006/relationships/tags" Target="../tags/tag85.xml"/><Relationship Id="rId12" Type="http://schemas.openxmlformats.org/officeDocument/2006/relationships/tags" Target="../tags/tag90.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tags" Target="../tags/tag89.xml"/><Relationship Id="rId5" Type="http://schemas.openxmlformats.org/officeDocument/2006/relationships/tags" Target="../tags/tag83.xml"/><Relationship Id="rId15" Type="http://schemas.openxmlformats.org/officeDocument/2006/relationships/image" Target="../media/image73.png"/><Relationship Id="rId10" Type="http://schemas.openxmlformats.org/officeDocument/2006/relationships/tags" Target="../tags/tag88.xml"/><Relationship Id="rId4" Type="http://schemas.openxmlformats.org/officeDocument/2006/relationships/tags" Target="../tags/tag82.xml"/><Relationship Id="rId9" Type="http://schemas.openxmlformats.org/officeDocument/2006/relationships/tags" Target="../tags/tag87.xml"/><Relationship Id="rId1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image" Target="../media/image92.gif"/><Relationship Id="rId2" Type="http://schemas.openxmlformats.org/officeDocument/2006/relationships/notesSlide" Target="../notesSlides/notesSlide45.xml"/><Relationship Id="rId1" Type="http://schemas.openxmlformats.org/officeDocument/2006/relationships/slideLayout" Target="../slideLayouts/slideLayout13.xml"/><Relationship Id="rId5" Type="http://schemas.openxmlformats.org/officeDocument/2006/relationships/image" Target="NULL"/><Relationship Id="rId4" Type="http://schemas.openxmlformats.org/officeDocument/2006/relationships/image" Target="NULL"/></Relationships>
</file>

<file path=ppt/slides/_rels/slide46.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47.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47.xml"/><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48.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49.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media/image93.png"/><Relationship Id="rId2" Type="http://schemas.openxmlformats.org/officeDocument/2006/relationships/notesSlide" Target="../notesSlides/notesSlide49.xml"/><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5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0.xml"/><Relationship Id="rId1" Type="http://schemas.openxmlformats.org/officeDocument/2006/relationships/slideLayout" Target="../slideLayouts/slideLayout13.xml"/><Relationship Id="rId5" Type="http://schemas.openxmlformats.org/officeDocument/2006/relationships/image" Target="../media/image94.emf"/><Relationship Id="rId4" Type="http://schemas.openxmlformats.org/officeDocument/2006/relationships/image" Target="NULL"/></Relationships>
</file>

<file path=ppt/slides/_rels/slide5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1.xml"/><Relationship Id="rId1" Type="http://schemas.openxmlformats.org/officeDocument/2006/relationships/slideLayout" Target="../slideLayouts/slideLayout13.xml"/><Relationship Id="rId5" Type="http://schemas.openxmlformats.org/officeDocument/2006/relationships/image" Target="../media/image95.emf"/><Relationship Id="rId4" Type="http://schemas.openxmlformats.org/officeDocument/2006/relationships/image" Target="NULL"/></Relationships>
</file>

<file path=ppt/slides/_rels/slide5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53.xml"/><Relationship Id="rId1" Type="http://schemas.openxmlformats.org/officeDocument/2006/relationships/slideLayout" Target="../slideLayouts/slideLayout13.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54.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54.xml"/><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5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NULL"/></Relationships>
</file>

<file path=ppt/slides/_rels/slide5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7.xml"/><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98.png"/></Relationships>
</file>

<file path=ppt/slides/_rels/slide5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9.xml"/><Relationship Id="rId1" Type="http://schemas.openxmlformats.org/officeDocument/2006/relationships/slideLayout" Target="../slideLayouts/slideLayout13.xml"/><Relationship Id="rId5" Type="http://schemas.openxmlformats.org/officeDocument/2006/relationships/image" Target="NULL"/><Relationship Id="rId4" Type="http://schemas.openxmlformats.org/officeDocument/2006/relationships/image" Target="NUL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3.xml"/><Relationship Id="rId1" Type="http://schemas.openxmlformats.org/officeDocument/2006/relationships/tags" Target="../tags/tag91.xml"/><Relationship Id="rId4" Type="http://schemas.openxmlformats.org/officeDocument/2006/relationships/image" Target="../media/image15.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3" Type="http://schemas.openxmlformats.org/officeDocument/2006/relationships/image" Target="../media/image41.wmf"/><Relationship Id="rId18" Type="http://schemas.openxmlformats.org/officeDocument/2006/relationships/oleObject" Target="../embeddings/oleObject11.bin"/><Relationship Id="rId26" Type="http://schemas.openxmlformats.org/officeDocument/2006/relationships/oleObject" Target="../embeddings/oleObject15.bin"/><Relationship Id="rId21" Type="http://schemas.openxmlformats.org/officeDocument/2006/relationships/image" Target="../media/image108.wmf"/><Relationship Id="rId34" Type="http://schemas.openxmlformats.org/officeDocument/2006/relationships/oleObject" Target="../embeddings/oleObject19.bin"/><Relationship Id="rId7" Type="http://schemas.openxmlformats.org/officeDocument/2006/relationships/image" Target="../media/image102.emf"/><Relationship Id="rId12" Type="http://schemas.openxmlformats.org/officeDocument/2006/relationships/oleObject" Target="../embeddings/oleObject8.bin"/><Relationship Id="rId17" Type="http://schemas.openxmlformats.org/officeDocument/2006/relationships/image" Target="../media/image106.emf"/><Relationship Id="rId25" Type="http://schemas.openxmlformats.org/officeDocument/2006/relationships/image" Target="../media/image110.emf"/><Relationship Id="rId33" Type="http://schemas.openxmlformats.org/officeDocument/2006/relationships/image" Target="../media/image114.wmf"/><Relationship Id="rId2" Type="http://schemas.openxmlformats.org/officeDocument/2006/relationships/oleObject" Target="../embeddings/oleObject3.bin"/><Relationship Id="rId16" Type="http://schemas.openxmlformats.org/officeDocument/2006/relationships/oleObject" Target="../embeddings/oleObject10.bin"/><Relationship Id="rId20" Type="http://schemas.openxmlformats.org/officeDocument/2006/relationships/oleObject" Target="../embeddings/oleObject12.bin"/><Relationship Id="rId29" Type="http://schemas.openxmlformats.org/officeDocument/2006/relationships/image" Target="../media/image112.emf"/><Relationship Id="rId1" Type="http://schemas.openxmlformats.org/officeDocument/2006/relationships/slideLayout" Target="../slideLayouts/slideLayout14.xml"/><Relationship Id="rId6" Type="http://schemas.openxmlformats.org/officeDocument/2006/relationships/oleObject" Target="../embeddings/oleObject5.bin"/><Relationship Id="rId11" Type="http://schemas.openxmlformats.org/officeDocument/2006/relationships/image" Target="../media/image104.emf"/><Relationship Id="rId24" Type="http://schemas.openxmlformats.org/officeDocument/2006/relationships/oleObject" Target="../embeddings/oleObject14.bin"/><Relationship Id="rId32" Type="http://schemas.openxmlformats.org/officeDocument/2006/relationships/oleObject" Target="../embeddings/oleObject18.bin"/><Relationship Id="rId37" Type="http://schemas.openxmlformats.org/officeDocument/2006/relationships/image" Target="../media/image116.emf"/><Relationship Id="rId5" Type="http://schemas.openxmlformats.org/officeDocument/2006/relationships/image" Target="../media/image101.wmf"/><Relationship Id="rId15" Type="http://schemas.openxmlformats.org/officeDocument/2006/relationships/image" Target="../media/image105.emf"/><Relationship Id="rId23" Type="http://schemas.openxmlformats.org/officeDocument/2006/relationships/image" Target="../media/image109.emf"/><Relationship Id="rId28" Type="http://schemas.openxmlformats.org/officeDocument/2006/relationships/oleObject" Target="../embeddings/oleObject16.bin"/><Relationship Id="rId36" Type="http://schemas.openxmlformats.org/officeDocument/2006/relationships/oleObject" Target="../embeddings/oleObject20.bin"/><Relationship Id="rId10" Type="http://schemas.openxmlformats.org/officeDocument/2006/relationships/oleObject" Target="../embeddings/oleObject7.bin"/><Relationship Id="rId19" Type="http://schemas.openxmlformats.org/officeDocument/2006/relationships/image" Target="../media/image107.emf"/><Relationship Id="rId31" Type="http://schemas.openxmlformats.org/officeDocument/2006/relationships/image" Target="../media/image113.wmf"/><Relationship Id="rId4" Type="http://schemas.openxmlformats.org/officeDocument/2006/relationships/oleObject" Target="../embeddings/oleObject4.bin"/><Relationship Id="rId9" Type="http://schemas.openxmlformats.org/officeDocument/2006/relationships/image" Target="../media/image103.emf"/><Relationship Id="rId14" Type="http://schemas.openxmlformats.org/officeDocument/2006/relationships/oleObject" Target="../embeddings/oleObject9.bin"/><Relationship Id="rId22" Type="http://schemas.openxmlformats.org/officeDocument/2006/relationships/oleObject" Target="../embeddings/oleObject13.bin"/><Relationship Id="rId27" Type="http://schemas.openxmlformats.org/officeDocument/2006/relationships/image" Target="../media/image111.emf"/><Relationship Id="rId30" Type="http://schemas.openxmlformats.org/officeDocument/2006/relationships/oleObject" Target="../embeddings/oleObject17.bin"/><Relationship Id="rId35" Type="http://schemas.openxmlformats.org/officeDocument/2006/relationships/image" Target="../media/image115.emf"/><Relationship Id="rId8" Type="http://schemas.openxmlformats.org/officeDocument/2006/relationships/oleObject" Target="../embeddings/oleObject6.bin"/><Relationship Id="rId3" Type="http://schemas.openxmlformats.org/officeDocument/2006/relationships/image" Target="../media/image100.wmf"/></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122.emf"/><Relationship Id="rId18" Type="http://schemas.openxmlformats.org/officeDocument/2006/relationships/oleObject" Target="../embeddings/oleObject29.bin"/><Relationship Id="rId3" Type="http://schemas.openxmlformats.org/officeDocument/2006/relationships/image" Target="../media/image117.emf"/><Relationship Id="rId21" Type="http://schemas.openxmlformats.org/officeDocument/2006/relationships/image" Target="../media/image126.emf"/><Relationship Id="rId7" Type="http://schemas.openxmlformats.org/officeDocument/2006/relationships/image" Target="../media/image119.emf"/><Relationship Id="rId12" Type="http://schemas.openxmlformats.org/officeDocument/2006/relationships/oleObject" Target="../embeddings/oleObject26.bin"/><Relationship Id="rId17" Type="http://schemas.openxmlformats.org/officeDocument/2006/relationships/image" Target="../media/image124.emf"/><Relationship Id="rId2" Type="http://schemas.openxmlformats.org/officeDocument/2006/relationships/oleObject" Target="../embeddings/oleObject21.bin"/><Relationship Id="rId16" Type="http://schemas.openxmlformats.org/officeDocument/2006/relationships/oleObject" Target="../embeddings/oleObject28.bin"/><Relationship Id="rId20" Type="http://schemas.openxmlformats.org/officeDocument/2006/relationships/oleObject" Target="../embeddings/oleObject30.bin"/><Relationship Id="rId1" Type="http://schemas.openxmlformats.org/officeDocument/2006/relationships/slideLayout" Target="../slideLayouts/slideLayout14.xml"/><Relationship Id="rId6" Type="http://schemas.openxmlformats.org/officeDocument/2006/relationships/oleObject" Target="../embeddings/oleObject23.bin"/><Relationship Id="rId11" Type="http://schemas.openxmlformats.org/officeDocument/2006/relationships/image" Target="../media/image121.emf"/><Relationship Id="rId5" Type="http://schemas.openxmlformats.org/officeDocument/2006/relationships/image" Target="../media/image118.emf"/><Relationship Id="rId15" Type="http://schemas.openxmlformats.org/officeDocument/2006/relationships/image" Target="../media/image123.emf"/><Relationship Id="rId10" Type="http://schemas.openxmlformats.org/officeDocument/2006/relationships/oleObject" Target="../embeddings/oleObject25.bin"/><Relationship Id="rId19" Type="http://schemas.openxmlformats.org/officeDocument/2006/relationships/image" Target="../media/image125.emf"/><Relationship Id="rId4" Type="http://schemas.openxmlformats.org/officeDocument/2006/relationships/oleObject" Target="../embeddings/oleObject22.bin"/><Relationship Id="rId9" Type="http://schemas.openxmlformats.org/officeDocument/2006/relationships/image" Target="../media/image120.emf"/><Relationship Id="rId14" Type="http://schemas.openxmlformats.org/officeDocument/2006/relationships/oleObject" Target="../embeddings/oleObject27.bin"/></Relationships>
</file>

<file path=ppt/slides/_rels/slide66.xml.rels><?xml version="1.0" encoding="UTF-8" standalone="yes"?>
<Relationships xmlns="http://schemas.openxmlformats.org/package/2006/relationships"><Relationship Id="rId13" Type="http://schemas.openxmlformats.org/officeDocument/2006/relationships/image" Target="../media/image132.emf"/><Relationship Id="rId18" Type="http://schemas.openxmlformats.org/officeDocument/2006/relationships/oleObject" Target="../embeddings/oleObject39.bin"/><Relationship Id="rId26" Type="http://schemas.openxmlformats.org/officeDocument/2006/relationships/oleObject" Target="../embeddings/oleObject43.bin"/><Relationship Id="rId21" Type="http://schemas.openxmlformats.org/officeDocument/2006/relationships/image" Target="../media/image136.emf"/><Relationship Id="rId34" Type="http://schemas.openxmlformats.org/officeDocument/2006/relationships/oleObject" Target="../embeddings/oleObject47.bin"/><Relationship Id="rId7" Type="http://schemas.openxmlformats.org/officeDocument/2006/relationships/image" Target="../media/image129.emf"/><Relationship Id="rId12" Type="http://schemas.openxmlformats.org/officeDocument/2006/relationships/oleObject" Target="../embeddings/oleObject36.bin"/><Relationship Id="rId17" Type="http://schemas.openxmlformats.org/officeDocument/2006/relationships/image" Target="../media/image134.emf"/><Relationship Id="rId25" Type="http://schemas.openxmlformats.org/officeDocument/2006/relationships/image" Target="../media/image138.emf"/><Relationship Id="rId33" Type="http://schemas.openxmlformats.org/officeDocument/2006/relationships/image" Target="../media/image142.emf"/><Relationship Id="rId2" Type="http://schemas.openxmlformats.org/officeDocument/2006/relationships/oleObject" Target="../embeddings/oleObject31.bin"/><Relationship Id="rId16" Type="http://schemas.openxmlformats.org/officeDocument/2006/relationships/oleObject" Target="../embeddings/oleObject38.bin"/><Relationship Id="rId20" Type="http://schemas.openxmlformats.org/officeDocument/2006/relationships/oleObject" Target="../embeddings/oleObject40.bin"/><Relationship Id="rId29" Type="http://schemas.openxmlformats.org/officeDocument/2006/relationships/image" Target="../media/image140.emf"/><Relationship Id="rId1" Type="http://schemas.openxmlformats.org/officeDocument/2006/relationships/slideLayout" Target="../slideLayouts/slideLayout14.xml"/><Relationship Id="rId6" Type="http://schemas.openxmlformats.org/officeDocument/2006/relationships/oleObject" Target="../embeddings/oleObject33.bin"/><Relationship Id="rId11" Type="http://schemas.openxmlformats.org/officeDocument/2006/relationships/image" Target="../media/image131.emf"/><Relationship Id="rId24" Type="http://schemas.openxmlformats.org/officeDocument/2006/relationships/oleObject" Target="../embeddings/oleObject42.bin"/><Relationship Id="rId32" Type="http://schemas.openxmlformats.org/officeDocument/2006/relationships/oleObject" Target="../embeddings/oleObject46.bin"/><Relationship Id="rId37" Type="http://schemas.openxmlformats.org/officeDocument/2006/relationships/image" Target="../media/image143.wmf"/><Relationship Id="rId5" Type="http://schemas.openxmlformats.org/officeDocument/2006/relationships/image" Target="../media/image128.emf"/><Relationship Id="rId15" Type="http://schemas.openxmlformats.org/officeDocument/2006/relationships/image" Target="../media/image133.emf"/><Relationship Id="rId23" Type="http://schemas.openxmlformats.org/officeDocument/2006/relationships/image" Target="../media/image137.emf"/><Relationship Id="rId28" Type="http://schemas.openxmlformats.org/officeDocument/2006/relationships/oleObject" Target="../embeddings/oleObject44.bin"/><Relationship Id="rId36" Type="http://schemas.openxmlformats.org/officeDocument/2006/relationships/oleObject" Target="../embeddings/oleObject48.bin"/><Relationship Id="rId10" Type="http://schemas.openxmlformats.org/officeDocument/2006/relationships/oleObject" Target="../embeddings/oleObject35.bin"/><Relationship Id="rId19" Type="http://schemas.openxmlformats.org/officeDocument/2006/relationships/image" Target="../media/image135.emf"/><Relationship Id="rId31" Type="http://schemas.openxmlformats.org/officeDocument/2006/relationships/image" Target="../media/image141.wmf"/><Relationship Id="rId4" Type="http://schemas.openxmlformats.org/officeDocument/2006/relationships/oleObject" Target="../embeddings/oleObject32.bin"/><Relationship Id="rId9" Type="http://schemas.openxmlformats.org/officeDocument/2006/relationships/image" Target="../media/image130.emf"/><Relationship Id="rId14" Type="http://schemas.openxmlformats.org/officeDocument/2006/relationships/oleObject" Target="../embeddings/oleObject37.bin"/><Relationship Id="rId22" Type="http://schemas.openxmlformats.org/officeDocument/2006/relationships/oleObject" Target="../embeddings/oleObject41.bin"/><Relationship Id="rId27" Type="http://schemas.openxmlformats.org/officeDocument/2006/relationships/image" Target="../media/image139.emf"/><Relationship Id="rId30" Type="http://schemas.openxmlformats.org/officeDocument/2006/relationships/oleObject" Target="../embeddings/oleObject45.bin"/><Relationship Id="rId35" Type="http://schemas.openxmlformats.org/officeDocument/2006/relationships/image" Target="../media/image41.wmf"/><Relationship Id="rId8" Type="http://schemas.openxmlformats.org/officeDocument/2006/relationships/oleObject" Target="../embeddings/oleObject34.bin"/><Relationship Id="rId3" Type="http://schemas.openxmlformats.org/officeDocument/2006/relationships/image" Target="../media/image127.emf"/></Relationships>
</file>

<file path=ppt/slides/_rels/slide67.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image" Target="../media/image145.png"/><Relationship Id="rId1" Type="http://schemas.openxmlformats.org/officeDocument/2006/relationships/slideLayout" Target="../slideLayouts/slideLayout14.xml"/><Relationship Id="rId4" Type="http://schemas.openxmlformats.org/officeDocument/2006/relationships/image" Target="../media/image146.e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47.png"/><Relationship Id="rId1" Type="http://schemas.openxmlformats.org/officeDocument/2006/relationships/slideLayout" Target="../slideLayouts/slideLayout14.xml"/><Relationship Id="rId5" Type="http://schemas.openxmlformats.org/officeDocument/2006/relationships/image" Target="../media/image148.emf"/><Relationship Id="rId4" Type="http://schemas.openxmlformats.org/officeDocument/2006/relationships/oleObject" Target="../embeddings/oleObject50.bin"/></Relationships>
</file>

<file path=ppt/slides/_rels/slide71.xml.rels><?xml version="1.0" encoding="UTF-8" standalone="yes"?>
<Relationships xmlns="http://schemas.openxmlformats.org/package/2006/relationships"><Relationship Id="rId3" Type="http://schemas.openxmlformats.org/officeDocument/2006/relationships/image" Target="../media/image149.emf"/><Relationship Id="rId2" Type="http://schemas.openxmlformats.org/officeDocument/2006/relationships/oleObject" Target="../embeddings/oleObject51.bin"/><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3" Type="http://schemas.openxmlformats.org/officeDocument/2006/relationships/image" Target="../media/image151.png"/><Relationship Id="rId7" Type="http://schemas.openxmlformats.org/officeDocument/2006/relationships/image" Target="../media/image153.emf"/><Relationship Id="rId2" Type="http://schemas.openxmlformats.org/officeDocument/2006/relationships/image" Target="../media/image150.png"/><Relationship Id="rId1" Type="http://schemas.openxmlformats.org/officeDocument/2006/relationships/slideLayout" Target="../slideLayouts/slideLayout14.xml"/><Relationship Id="rId6" Type="http://schemas.openxmlformats.org/officeDocument/2006/relationships/oleObject" Target="../embeddings/oleObject53.bin"/><Relationship Id="rId5" Type="http://schemas.openxmlformats.org/officeDocument/2006/relationships/image" Target="../media/image152.emf"/><Relationship Id="rId4" Type="http://schemas.openxmlformats.org/officeDocument/2006/relationships/oleObject" Target="../embeddings/oleObject52.bin"/></Relationships>
</file>

<file path=ppt/slides/_rels/slide73.xml.rels><?xml version="1.0" encoding="UTF-8" standalone="yes"?>
<Relationships xmlns="http://schemas.openxmlformats.org/package/2006/relationships"><Relationship Id="rId3" Type="http://schemas.openxmlformats.org/officeDocument/2006/relationships/image" Target="../media/image155.jpeg"/><Relationship Id="rId7" Type="http://schemas.openxmlformats.org/officeDocument/2006/relationships/image" Target="../media/image159.png"/><Relationship Id="rId2" Type="http://schemas.openxmlformats.org/officeDocument/2006/relationships/image" Target="../media/image154.jpeg"/><Relationship Id="rId1" Type="http://schemas.openxmlformats.org/officeDocument/2006/relationships/slideLayout" Target="../slideLayouts/slideLayout14.xml"/><Relationship Id="rId6" Type="http://schemas.openxmlformats.org/officeDocument/2006/relationships/image" Target="../media/image158.jpeg"/><Relationship Id="rId5" Type="http://schemas.openxmlformats.org/officeDocument/2006/relationships/image" Target="../media/image157.jpeg"/><Relationship Id="rId4" Type="http://schemas.openxmlformats.org/officeDocument/2006/relationships/image" Target="../media/image156.png"/></Relationships>
</file>

<file path=ppt/slides/_rels/slide7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jpeg"/><Relationship Id="rId1" Type="http://schemas.openxmlformats.org/officeDocument/2006/relationships/slideLayout" Target="../slideLayouts/slideLayout14.xml"/><Relationship Id="rId6" Type="http://schemas.openxmlformats.org/officeDocument/2006/relationships/image" Target="../media/image163.jpeg"/><Relationship Id="rId5" Type="http://schemas.openxmlformats.org/officeDocument/2006/relationships/image" Target="../media/image159.png"/><Relationship Id="rId4" Type="http://schemas.openxmlformats.org/officeDocument/2006/relationships/image" Target="../media/image162.jpeg"/></Relationships>
</file>

<file path=ppt/slides/_rels/slide75.xml.rels><?xml version="1.0" encoding="UTF-8" standalone="yes"?>
<Relationships xmlns="http://schemas.openxmlformats.org/package/2006/relationships"><Relationship Id="rId3" Type="http://schemas.openxmlformats.org/officeDocument/2006/relationships/image" Target="../media/image165.png"/><Relationship Id="rId7" Type="http://schemas.openxmlformats.org/officeDocument/2006/relationships/image" Target="../media/image169.emf"/><Relationship Id="rId2" Type="http://schemas.openxmlformats.org/officeDocument/2006/relationships/image" Target="../media/image164.jpeg"/><Relationship Id="rId1" Type="http://schemas.openxmlformats.org/officeDocument/2006/relationships/slideLayout" Target="../slideLayouts/slideLayout14.xml"/><Relationship Id="rId6" Type="http://schemas.openxmlformats.org/officeDocument/2006/relationships/image" Target="../media/image168.png"/><Relationship Id="rId5" Type="http://schemas.openxmlformats.org/officeDocument/2006/relationships/image" Target="../media/image167.jpeg"/><Relationship Id="rId4" Type="http://schemas.openxmlformats.org/officeDocument/2006/relationships/image" Target="../media/image166.png"/></Relationships>
</file>

<file path=ppt/slides/_rels/slide76.xml.rels><?xml version="1.0" encoding="UTF-8" standalone="yes"?>
<Relationships xmlns="http://schemas.openxmlformats.org/package/2006/relationships"><Relationship Id="rId8" Type="http://schemas.openxmlformats.org/officeDocument/2006/relationships/image" Target="../media/image172.wmf"/><Relationship Id="rId13" Type="http://schemas.openxmlformats.org/officeDocument/2006/relationships/image" Target="../media/image177.png"/><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image" Target="../media/image176.png"/><Relationship Id="rId17" Type="http://schemas.openxmlformats.org/officeDocument/2006/relationships/image" Target="../media/image181.png"/><Relationship Id="rId2" Type="http://schemas.openxmlformats.org/officeDocument/2006/relationships/notesSlide" Target="../notesSlides/notesSlide63.xml"/><Relationship Id="rId16" Type="http://schemas.openxmlformats.org/officeDocument/2006/relationships/image" Target="../media/image180.png"/><Relationship Id="rId1" Type="http://schemas.openxmlformats.org/officeDocument/2006/relationships/slideLayout" Target="../slideLayouts/slideLayout14.xml"/><Relationship Id="rId6" Type="http://schemas.openxmlformats.org/officeDocument/2006/relationships/image" Target="../media/image171.wmf"/><Relationship Id="rId11" Type="http://schemas.openxmlformats.org/officeDocument/2006/relationships/image" Target="../media/image175.png"/><Relationship Id="rId5" Type="http://schemas.openxmlformats.org/officeDocument/2006/relationships/oleObject" Target="../embeddings/oleObject55.bin"/><Relationship Id="rId15" Type="http://schemas.openxmlformats.org/officeDocument/2006/relationships/image" Target="../media/image179.png"/><Relationship Id="rId10" Type="http://schemas.openxmlformats.org/officeDocument/2006/relationships/image" Target="../media/image174.png"/><Relationship Id="rId4" Type="http://schemas.openxmlformats.org/officeDocument/2006/relationships/image" Target="../media/image170.wmf"/><Relationship Id="rId9" Type="http://schemas.openxmlformats.org/officeDocument/2006/relationships/image" Target="../media/image173.png"/><Relationship Id="rId14" Type="http://schemas.openxmlformats.org/officeDocument/2006/relationships/image" Target="../media/image178.png"/></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oleObject" Target="../embeddings/oleObject63.bin"/><Relationship Id="rId18" Type="http://schemas.openxmlformats.org/officeDocument/2006/relationships/image" Target="../media/image189.emf"/><Relationship Id="rId3" Type="http://schemas.openxmlformats.org/officeDocument/2006/relationships/image" Target="../media/image182.emf"/><Relationship Id="rId21" Type="http://schemas.openxmlformats.org/officeDocument/2006/relationships/oleObject" Target="../embeddings/oleObject67.bin"/><Relationship Id="rId7" Type="http://schemas.openxmlformats.org/officeDocument/2006/relationships/image" Target="../media/image184.emf"/><Relationship Id="rId12" Type="http://schemas.openxmlformats.org/officeDocument/2006/relationships/image" Target="../media/image186.emf"/><Relationship Id="rId17" Type="http://schemas.openxmlformats.org/officeDocument/2006/relationships/oleObject" Target="../embeddings/oleObject65.bin"/><Relationship Id="rId2" Type="http://schemas.openxmlformats.org/officeDocument/2006/relationships/oleObject" Target="../embeddings/oleObject57.bin"/><Relationship Id="rId16" Type="http://schemas.openxmlformats.org/officeDocument/2006/relationships/image" Target="../media/image188.emf"/><Relationship Id="rId20" Type="http://schemas.openxmlformats.org/officeDocument/2006/relationships/image" Target="../media/image190.wmf"/><Relationship Id="rId1" Type="http://schemas.openxmlformats.org/officeDocument/2006/relationships/slideLayout" Target="../slideLayouts/slideLayout14.xml"/><Relationship Id="rId6" Type="http://schemas.openxmlformats.org/officeDocument/2006/relationships/oleObject" Target="../embeddings/oleObject59.bin"/><Relationship Id="rId11" Type="http://schemas.openxmlformats.org/officeDocument/2006/relationships/oleObject" Target="../embeddings/oleObject62.bin"/><Relationship Id="rId24" Type="http://schemas.openxmlformats.org/officeDocument/2006/relationships/image" Target="../media/image192.emf"/><Relationship Id="rId5" Type="http://schemas.openxmlformats.org/officeDocument/2006/relationships/image" Target="../media/image183.emf"/><Relationship Id="rId15" Type="http://schemas.openxmlformats.org/officeDocument/2006/relationships/oleObject" Target="../embeddings/oleObject64.bin"/><Relationship Id="rId23" Type="http://schemas.openxmlformats.org/officeDocument/2006/relationships/oleObject" Target="../embeddings/oleObject68.bin"/><Relationship Id="rId10" Type="http://schemas.openxmlformats.org/officeDocument/2006/relationships/image" Target="../media/image185.emf"/><Relationship Id="rId19" Type="http://schemas.openxmlformats.org/officeDocument/2006/relationships/oleObject" Target="../embeddings/oleObject66.bin"/><Relationship Id="rId4" Type="http://schemas.openxmlformats.org/officeDocument/2006/relationships/oleObject" Target="../embeddings/oleObject58.bin"/><Relationship Id="rId9" Type="http://schemas.openxmlformats.org/officeDocument/2006/relationships/oleObject" Target="../embeddings/oleObject61.bin"/><Relationship Id="rId14" Type="http://schemas.openxmlformats.org/officeDocument/2006/relationships/image" Target="../media/image187.emf"/><Relationship Id="rId22" Type="http://schemas.openxmlformats.org/officeDocument/2006/relationships/image" Target="../media/image191.emf"/></Relationships>
</file>

<file path=ppt/slides/_rels/slide78.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slideLayout" Target="../slideLayouts/slideLayout14.xml"/><Relationship Id="rId1" Type="http://schemas.openxmlformats.org/officeDocument/2006/relationships/tags" Target="../tags/tag92.xml"/><Relationship Id="rId6" Type="http://schemas.openxmlformats.org/officeDocument/2006/relationships/image" Target="../media/image196.jpeg"/><Relationship Id="rId5" Type="http://schemas.openxmlformats.org/officeDocument/2006/relationships/image" Target="../media/image195.png"/><Relationship Id="rId4" Type="http://schemas.openxmlformats.org/officeDocument/2006/relationships/image" Target="../media/image194.png"/></Relationships>
</file>

<file path=ppt/slides/_rels/slide79.xml.rels><?xml version="1.0" encoding="UTF-8" standalone="yes"?>
<Relationships xmlns="http://schemas.openxmlformats.org/package/2006/relationships"><Relationship Id="rId3" Type="http://schemas.openxmlformats.org/officeDocument/2006/relationships/image" Target="../media/image197.jpeg"/><Relationship Id="rId7" Type="http://schemas.openxmlformats.org/officeDocument/2006/relationships/image" Target="../media/image201.emf"/><Relationship Id="rId2" Type="http://schemas.openxmlformats.org/officeDocument/2006/relationships/slideLayout" Target="../slideLayouts/slideLayout14.xml"/><Relationship Id="rId1" Type="http://schemas.openxmlformats.org/officeDocument/2006/relationships/tags" Target="../tags/tag93.xml"/><Relationship Id="rId6" Type="http://schemas.openxmlformats.org/officeDocument/2006/relationships/image" Target="../media/image200.png"/><Relationship Id="rId5" Type="http://schemas.openxmlformats.org/officeDocument/2006/relationships/image" Target="../media/image199.png"/><Relationship Id="rId4" Type="http://schemas.openxmlformats.org/officeDocument/2006/relationships/image" Target="../media/image198.jpeg"/></Relationships>
</file>

<file path=ppt/slides/_rels/slide80.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image" Target="../media/image202.png"/><Relationship Id="rId1" Type="http://schemas.openxmlformats.org/officeDocument/2006/relationships/slideLayout" Target="../slideLayouts/slideLayout14.xml"/><Relationship Id="rId5" Type="http://schemas.openxmlformats.org/officeDocument/2006/relationships/image" Target="../media/image205.png"/><Relationship Id="rId4" Type="http://schemas.openxmlformats.org/officeDocument/2006/relationships/image" Target="../media/image204.png"/></Relationships>
</file>

<file path=ppt/slides/_rels/slide81.xml.rels><?xml version="1.0" encoding="UTF-8" standalone="yes"?>
<Relationships xmlns="http://schemas.openxmlformats.org/package/2006/relationships"><Relationship Id="rId3" Type="http://schemas.openxmlformats.org/officeDocument/2006/relationships/image" Target="../media/image207.emf"/><Relationship Id="rId2" Type="http://schemas.openxmlformats.org/officeDocument/2006/relationships/image" Target="../media/image206.png"/><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6.xml"/></Relationships>
</file>

<file path=ppt/slides/_rels/slide89.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70.xml"/><Relationship Id="rId1" Type="http://schemas.openxmlformats.org/officeDocument/2006/relationships/slideLayout" Target="../slideLayouts/slideLayout16.xml"/></Relationships>
</file>

<file path=ppt/slides/_rels/slide90.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71.xml"/><Relationship Id="rId1" Type="http://schemas.openxmlformats.org/officeDocument/2006/relationships/slideLayout" Target="../slideLayouts/slideLayout16.xml"/></Relationships>
</file>

<file path=ppt/slides/_rels/slide91.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72.xml"/><Relationship Id="rId1" Type="http://schemas.openxmlformats.org/officeDocument/2006/relationships/slideLayout" Target="../slideLayouts/slideLayout1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6.xml"/></Relationships>
</file>

<file path=ppt/slides/_rels/slide9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74.xml"/><Relationship Id="rId1" Type="http://schemas.openxmlformats.org/officeDocument/2006/relationships/slideLayout" Target="../slideLayouts/slideLayout16.xml"/></Relationships>
</file>

<file path=ppt/slides/_rels/slide94.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75.xml"/><Relationship Id="rId1" Type="http://schemas.openxmlformats.org/officeDocument/2006/relationships/slideLayout" Target="../slideLayouts/slideLayout1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7.xml"/></Relationships>
</file>

<file path=ppt/slides/_rels/slide100.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81.xml"/><Relationship Id="rId1" Type="http://schemas.openxmlformats.org/officeDocument/2006/relationships/slideLayout" Target="../slideLayouts/slideLayout1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7.xml"/></Relationships>
</file>

<file path=ppt/slides/_rels/slide102.xml.rels><?xml version="1.0" encoding="UTF-8" standalone="yes"?>
<Relationships xmlns="http://schemas.openxmlformats.org/package/2006/relationships"><Relationship Id="rId8" Type="http://schemas.openxmlformats.org/officeDocument/2006/relationships/image" Target="../media/image215.wmf"/><Relationship Id="rId3" Type="http://schemas.openxmlformats.org/officeDocument/2006/relationships/oleObject" Target="../embeddings/oleObject69.bin"/><Relationship Id="rId7" Type="http://schemas.openxmlformats.org/officeDocument/2006/relationships/oleObject" Target="../embeddings/oleObject71.bin"/><Relationship Id="rId2" Type="http://schemas.openxmlformats.org/officeDocument/2006/relationships/notesSlide" Target="../notesSlides/notesSlide83.xml"/><Relationship Id="rId1" Type="http://schemas.openxmlformats.org/officeDocument/2006/relationships/slideLayout" Target="../slideLayouts/slideLayout17.xml"/><Relationship Id="rId6" Type="http://schemas.openxmlformats.org/officeDocument/2006/relationships/image" Target="../media/image214.wmf"/><Relationship Id="rId5" Type="http://schemas.openxmlformats.org/officeDocument/2006/relationships/oleObject" Target="../embeddings/oleObject70.bin"/><Relationship Id="rId4" Type="http://schemas.openxmlformats.org/officeDocument/2006/relationships/image" Target="../media/image213.wmf"/><Relationship Id="rId9" Type="http://schemas.openxmlformats.org/officeDocument/2006/relationships/image" Target="../media/image216.pn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7.xml"/></Relationships>
</file>

<file path=ppt/slides/_rels/slide105.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notesSlide" Target="../notesSlides/notesSlide86.xml"/><Relationship Id="rId1" Type="http://schemas.openxmlformats.org/officeDocument/2006/relationships/slideLayout" Target="../slideLayouts/slideLayout17.xml"/></Relationships>
</file>

<file path=ppt/slides/_rels/slide106.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notesSlide" Target="../notesSlides/notesSlide87.xml"/><Relationship Id="rId1" Type="http://schemas.openxmlformats.org/officeDocument/2006/relationships/slideLayout" Target="../slideLayouts/slideLayout1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8.xml"/></Relationships>
</file>

<file path=ppt/slides/_rels/slide111.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92.xml"/><Relationship Id="rId1" Type="http://schemas.openxmlformats.org/officeDocument/2006/relationships/slideLayout" Target="../slideLayouts/slideLayout18.xml"/></Relationships>
</file>

<file path=ppt/slides/_rels/slide112.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93.xml"/><Relationship Id="rId1" Type="http://schemas.openxmlformats.org/officeDocument/2006/relationships/slideLayout" Target="../slideLayouts/slideLayout18.xml"/><Relationship Id="rId4" Type="http://schemas.openxmlformats.org/officeDocument/2006/relationships/image" Target="../media/image218.png"/></Relationships>
</file>

<file path=ppt/slides/_rels/slide113.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94.xml"/><Relationship Id="rId1" Type="http://schemas.openxmlformats.org/officeDocument/2006/relationships/slideLayout" Target="../slideLayouts/slideLayout18.xml"/><Relationship Id="rId4" Type="http://schemas.openxmlformats.org/officeDocument/2006/relationships/image" Target="../media/image218.png"/></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8.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8.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8.xml"/></Relationships>
</file>

<file path=ppt/slides/_rels/slide117.xml.rels><?xml version="1.0" encoding="UTF-8" standalone="yes"?>
<Relationships xmlns="http://schemas.openxmlformats.org/package/2006/relationships"><Relationship Id="rId3" Type="http://schemas.openxmlformats.org/officeDocument/2006/relationships/image" Target="../media/image220.jpeg"/><Relationship Id="rId2" Type="http://schemas.openxmlformats.org/officeDocument/2006/relationships/notesSlide" Target="../notesSlides/notesSlide98.xml"/><Relationship Id="rId1" Type="http://schemas.openxmlformats.org/officeDocument/2006/relationships/slideLayout" Target="../slideLayouts/slideLayout18.xml"/></Relationships>
</file>

<file path=ppt/slides/_rels/slide118.xml.rels><?xml version="1.0" encoding="UTF-8" standalone="yes"?>
<Relationships xmlns="http://schemas.openxmlformats.org/package/2006/relationships"><Relationship Id="rId3" Type="http://schemas.openxmlformats.org/officeDocument/2006/relationships/image" Target="../media/image221.jpeg"/><Relationship Id="rId7" Type="http://schemas.openxmlformats.org/officeDocument/2006/relationships/image" Target="../media/image223.wmf"/><Relationship Id="rId2" Type="http://schemas.openxmlformats.org/officeDocument/2006/relationships/notesSlide" Target="../notesSlides/notesSlide99.xml"/><Relationship Id="rId1" Type="http://schemas.openxmlformats.org/officeDocument/2006/relationships/slideLayout" Target="../slideLayouts/slideLayout18.xml"/><Relationship Id="rId6" Type="http://schemas.openxmlformats.org/officeDocument/2006/relationships/oleObject" Target="../embeddings/oleObject73.bin"/><Relationship Id="rId5" Type="http://schemas.openxmlformats.org/officeDocument/2006/relationships/image" Target="../media/image222.wmf"/><Relationship Id="rId4" Type="http://schemas.openxmlformats.org/officeDocument/2006/relationships/oleObject" Target="../embeddings/oleObject72.bin"/></Relationships>
</file>

<file path=ppt/slides/_rels/slide119.xml.rels><?xml version="1.0" encoding="UTF-8" standalone="yes"?>
<Relationships xmlns="http://schemas.openxmlformats.org/package/2006/relationships"><Relationship Id="rId3" Type="http://schemas.openxmlformats.org/officeDocument/2006/relationships/image" Target="../media/image224.jpeg"/><Relationship Id="rId2" Type="http://schemas.openxmlformats.org/officeDocument/2006/relationships/notesSlide" Target="../notesSlides/notesSlide100.xml"/><Relationship Id="rId1" Type="http://schemas.openxmlformats.org/officeDocument/2006/relationships/slideLayout" Target="../slideLayouts/slideLayout18.xml"/><Relationship Id="rId5" Type="http://schemas.openxmlformats.org/officeDocument/2006/relationships/image" Target="../media/image225.wmf"/><Relationship Id="rId4" Type="http://schemas.openxmlformats.org/officeDocument/2006/relationships/oleObject" Target="../embeddings/oleObject74.bin"/></Relationships>
</file>

<file path=ppt/slides/_rels/slide120.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101.xml"/><Relationship Id="rId1" Type="http://schemas.openxmlformats.org/officeDocument/2006/relationships/slideLayout" Target="../slideLayouts/slideLayout18.xml"/></Relationships>
</file>

<file path=ppt/slides/_rels/slide121.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notesSlide" Target="../notesSlides/notesSlide102.xml"/><Relationship Id="rId1" Type="http://schemas.openxmlformats.org/officeDocument/2006/relationships/slideLayout" Target="../slideLayouts/slideLayout18.xml"/><Relationship Id="rId4" Type="http://schemas.openxmlformats.org/officeDocument/2006/relationships/image" Target="../media/image227.wmf"/></Relationships>
</file>

<file path=ppt/slides/_rels/slide122.xml.rels><?xml version="1.0" encoding="UTF-8" standalone="yes"?>
<Relationships xmlns="http://schemas.openxmlformats.org/package/2006/relationships"><Relationship Id="rId8" Type="http://schemas.openxmlformats.org/officeDocument/2006/relationships/oleObject" Target="../embeddings/oleObject78.bin"/><Relationship Id="rId3" Type="http://schemas.openxmlformats.org/officeDocument/2006/relationships/image" Target="../media/image226.png"/><Relationship Id="rId7" Type="http://schemas.openxmlformats.org/officeDocument/2006/relationships/image" Target="../media/image229.wmf"/><Relationship Id="rId2" Type="http://schemas.openxmlformats.org/officeDocument/2006/relationships/notesSlide" Target="../notesSlides/notesSlide103.xml"/><Relationship Id="rId1" Type="http://schemas.openxmlformats.org/officeDocument/2006/relationships/slideLayout" Target="../slideLayouts/slideLayout18.xml"/><Relationship Id="rId6" Type="http://schemas.openxmlformats.org/officeDocument/2006/relationships/oleObject" Target="../embeddings/oleObject77.bin"/><Relationship Id="rId11" Type="http://schemas.openxmlformats.org/officeDocument/2006/relationships/image" Target="../media/image231.wmf"/><Relationship Id="rId5" Type="http://schemas.openxmlformats.org/officeDocument/2006/relationships/image" Target="../media/image228.wmf"/><Relationship Id="rId10" Type="http://schemas.openxmlformats.org/officeDocument/2006/relationships/oleObject" Target="../embeddings/oleObject79.bin"/><Relationship Id="rId4" Type="http://schemas.openxmlformats.org/officeDocument/2006/relationships/oleObject" Target="../embeddings/oleObject76.bin"/><Relationship Id="rId9" Type="http://schemas.openxmlformats.org/officeDocument/2006/relationships/image" Target="../media/image230.wmf"/></Relationships>
</file>

<file path=ppt/slides/_rels/slide123.xml.rels><?xml version="1.0" encoding="UTF-8" standalone="yes"?>
<Relationships xmlns="http://schemas.openxmlformats.org/package/2006/relationships"><Relationship Id="rId8" Type="http://schemas.openxmlformats.org/officeDocument/2006/relationships/image" Target="../media/image234.wmf"/><Relationship Id="rId3" Type="http://schemas.openxmlformats.org/officeDocument/2006/relationships/oleObject" Target="../embeddings/oleObject80.bin"/><Relationship Id="rId7" Type="http://schemas.openxmlformats.org/officeDocument/2006/relationships/oleObject" Target="../embeddings/oleObject82.bin"/><Relationship Id="rId2" Type="http://schemas.openxmlformats.org/officeDocument/2006/relationships/notesSlide" Target="../notesSlides/notesSlide104.xml"/><Relationship Id="rId1" Type="http://schemas.openxmlformats.org/officeDocument/2006/relationships/slideLayout" Target="../slideLayouts/slideLayout18.xml"/><Relationship Id="rId6" Type="http://schemas.openxmlformats.org/officeDocument/2006/relationships/image" Target="../media/image233.wmf"/><Relationship Id="rId5" Type="http://schemas.openxmlformats.org/officeDocument/2006/relationships/oleObject" Target="../embeddings/oleObject81.bin"/><Relationship Id="rId4" Type="http://schemas.openxmlformats.org/officeDocument/2006/relationships/image" Target="../media/image232.wmf"/><Relationship Id="rId9" Type="http://schemas.openxmlformats.org/officeDocument/2006/relationships/image" Target="../media/image235.pn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8.xml"/></Relationships>
</file>

<file path=ppt/slides/_rels/slide125.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notesSlide" Target="../notesSlides/notesSlide106.xml"/><Relationship Id="rId1" Type="http://schemas.openxmlformats.org/officeDocument/2006/relationships/slideLayout" Target="../slideLayouts/slideLayout18.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8.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8.xml"/></Relationships>
</file>

<file path=ppt/slides/_rels/slide128.xml.rels><?xml version="1.0" encoding="UTF-8" standalone="yes"?>
<Relationships xmlns="http://schemas.openxmlformats.org/package/2006/relationships"><Relationship Id="rId3" Type="http://schemas.openxmlformats.org/officeDocument/2006/relationships/image" Target="../media/image237.png"/><Relationship Id="rId2" Type="http://schemas.openxmlformats.org/officeDocument/2006/relationships/notesSlide" Target="../notesSlides/notesSlide109.xml"/><Relationship Id="rId1" Type="http://schemas.openxmlformats.org/officeDocument/2006/relationships/slideLayout" Target="../slideLayouts/slideLayout18.xml"/><Relationship Id="rId4" Type="http://schemas.microsoft.com/office/2007/relationships/hdphoto" Target="../media/hdphoto4.wdp"/></Relationships>
</file>

<file path=ppt/slides/_rels/slide129.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notesSlide" Target="../notesSlides/notesSlide110.xml"/><Relationship Id="rId1" Type="http://schemas.openxmlformats.org/officeDocument/2006/relationships/slideLayout" Target="../slideLayouts/slideLayout18.xml"/><Relationship Id="rId4" Type="http://schemas.microsoft.com/office/2007/relationships/hdphoto" Target="../media/hdphoto5.wdp"/></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8.xml"/></Relationships>
</file>

<file path=ppt/slides/_rels/slide131.xml.rels><?xml version="1.0" encoding="UTF-8" standalone="yes"?>
<Relationships xmlns="http://schemas.openxmlformats.org/package/2006/relationships"><Relationship Id="rId3" Type="http://schemas.openxmlformats.org/officeDocument/2006/relationships/image" Target="../media/image239.png"/><Relationship Id="rId2" Type="http://schemas.openxmlformats.org/officeDocument/2006/relationships/notesSlide" Target="../notesSlides/notesSlide112.xml"/><Relationship Id="rId1" Type="http://schemas.openxmlformats.org/officeDocument/2006/relationships/slideLayout" Target="../slideLayouts/slideLayout18.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8.xml"/></Relationships>
</file>

<file path=ppt/slides/_rels/slide133.xml.rels><?xml version="1.0" encoding="UTF-8" standalone="yes"?>
<Relationships xmlns="http://schemas.openxmlformats.org/package/2006/relationships"><Relationship Id="rId8" Type="http://schemas.openxmlformats.org/officeDocument/2006/relationships/image" Target="../media/image242.wmf"/><Relationship Id="rId3" Type="http://schemas.openxmlformats.org/officeDocument/2006/relationships/oleObject" Target="../embeddings/oleObject83.bin"/><Relationship Id="rId7" Type="http://schemas.openxmlformats.org/officeDocument/2006/relationships/oleObject" Target="../embeddings/oleObject85.bin"/><Relationship Id="rId2" Type="http://schemas.openxmlformats.org/officeDocument/2006/relationships/notesSlide" Target="../notesSlides/notesSlide114.xml"/><Relationship Id="rId1" Type="http://schemas.openxmlformats.org/officeDocument/2006/relationships/slideLayout" Target="../slideLayouts/slideLayout18.xml"/><Relationship Id="rId6" Type="http://schemas.openxmlformats.org/officeDocument/2006/relationships/image" Target="../media/image241.wmf"/><Relationship Id="rId5" Type="http://schemas.openxmlformats.org/officeDocument/2006/relationships/oleObject" Target="../embeddings/oleObject84.bin"/><Relationship Id="rId4" Type="http://schemas.openxmlformats.org/officeDocument/2006/relationships/image" Target="../media/image240.wmf"/></Relationships>
</file>

<file path=ppt/slides/_rels/slide134.xml.rels><?xml version="1.0" encoding="UTF-8" standalone="yes"?>
<Relationships xmlns="http://schemas.openxmlformats.org/package/2006/relationships"><Relationship Id="rId8" Type="http://schemas.openxmlformats.org/officeDocument/2006/relationships/image" Target="../media/image245.wmf"/><Relationship Id="rId3" Type="http://schemas.openxmlformats.org/officeDocument/2006/relationships/oleObject" Target="../embeddings/oleObject86.bin"/><Relationship Id="rId7" Type="http://schemas.openxmlformats.org/officeDocument/2006/relationships/oleObject" Target="../embeddings/oleObject88.bin"/><Relationship Id="rId2" Type="http://schemas.openxmlformats.org/officeDocument/2006/relationships/notesSlide" Target="../notesSlides/notesSlide115.xml"/><Relationship Id="rId1" Type="http://schemas.openxmlformats.org/officeDocument/2006/relationships/slideLayout" Target="../slideLayouts/slideLayout18.xml"/><Relationship Id="rId6" Type="http://schemas.openxmlformats.org/officeDocument/2006/relationships/image" Target="../media/image244.wmf"/><Relationship Id="rId5" Type="http://schemas.openxmlformats.org/officeDocument/2006/relationships/oleObject" Target="../embeddings/oleObject87.bin"/><Relationship Id="rId4" Type="http://schemas.openxmlformats.org/officeDocument/2006/relationships/image" Target="../media/image243.wmf"/></Relationships>
</file>

<file path=ppt/slides/_rels/slide135.xml.rels><?xml version="1.0" encoding="UTF-8" standalone="yes"?>
<Relationships xmlns="http://schemas.openxmlformats.org/package/2006/relationships"><Relationship Id="rId8" Type="http://schemas.openxmlformats.org/officeDocument/2006/relationships/image" Target="../media/image248.wmf"/><Relationship Id="rId3" Type="http://schemas.openxmlformats.org/officeDocument/2006/relationships/oleObject" Target="../embeddings/oleObject89.bin"/><Relationship Id="rId7" Type="http://schemas.openxmlformats.org/officeDocument/2006/relationships/oleObject" Target="../embeddings/oleObject91.bin"/><Relationship Id="rId2" Type="http://schemas.openxmlformats.org/officeDocument/2006/relationships/notesSlide" Target="../notesSlides/notesSlide116.xml"/><Relationship Id="rId1" Type="http://schemas.openxmlformats.org/officeDocument/2006/relationships/slideLayout" Target="../slideLayouts/slideLayout18.xml"/><Relationship Id="rId6" Type="http://schemas.openxmlformats.org/officeDocument/2006/relationships/image" Target="../media/image247.wmf"/><Relationship Id="rId5" Type="http://schemas.openxmlformats.org/officeDocument/2006/relationships/oleObject" Target="../embeddings/oleObject90.bin"/><Relationship Id="rId10" Type="http://schemas.openxmlformats.org/officeDocument/2006/relationships/image" Target="../media/image249.wmf"/><Relationship Id="rId4" Type="http://schemas.openxmlformats.org/officeDocument/2006/relationships/image" Target="../media/image246.wmf"/><Relationship Id="rId9" Type="http://schemas.openxmlformats.org/officeDocument/2006/relationships/oleObject" Target="../embeddings/oleObject92.bin"/></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notesSlide" Target="../notesSlides/notesSlide117.xml"/><Relationship Id="rId1" Type="http://schemas.openxmlformats.org/officeDocument/2006/relationships/slideLayout" Target="../slideLayouts/slideLayout18.xml"/><Relationship Id="rId6" Type="http://schemas.openxmlformats.org/officeDocument/2006/relationships/image" Target="../media/image251.wmf"/><Relationship Id="rId5" Type="http://schemas.openxmlformats.org/officeDocument/2006/relationships/oleObject" Target="../embeddings/oleObject94.bin"/><Relationship Id="rId4" Type="http://schemas.openxmlformats.org/officeDocument/2006/relationships/image" Target="../media/image250.wmf"/></Relationships>
</file>

<file path=ppt/slides/_rels/slide137.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notesSlide" Target="../notesSlides/notesSlide118.xml"/><Relationship Id="rId1" Type="http://schemas.openxmlformats.org/officeDocument/2006/relationships/slideLayout" Target="../slideLayouts/slideLayout18.xml"/><Relationship Id="rId6" Type="http://schemas.openxmlformats.org/officeDocument/2006/relationships/image" Target="../media/image253.wmf"/><Relationship Id="rId5" Type="http://schemas.openxmlformats.org/officeDocument/2006/relationships/oleObject" Target="../embeddings/oleObject96.bin"/><Relationship Id="rId4" Type="http://schemas.openxmlformats.org/officeDocument/2006/relationships/image" Target="../media/image252.wmf"/></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notesSlide" Target="../notesSlides/notesSlide119.xml"/><Relationship Id="rId1" Type="http://schemas.openxmlformats.org/officeDocument/2006/relationships/slideLayout" Target="../slideLayouts/slideLayout18.xml"/><Relationship Id="rId6" Type="http://schemas.openxmlformats.org/officeDocument/2006/relationships/image" Target="../media/image255.wmf"/><Relationship Id="rId5" Type="http://schemas.openxmlformats.org/officeDocument/2006/relationships/oleObject" Target="../embeddings/oleObject98.bin"/><Relationship Id="rId4" Type="http://schemas.openxmlformats.org/officeDocument/2006/relationships/image" Target="../media/image254.wmf"/></Relationships>
</file>

<file path=ppt/slides/_rels/slide139.xml.rels><?xml version="1.0" encoding="UTF-8" standalone="yes"?>
<Relationships xmlns="http://schemas.openxmlformats.org/package/2006/relationships"><Relationship Id="rId3" Type="http://schemas.openxmlformats.org/officeDocument/2006/relationships/image" Target="../media/image256.png"/><Relationship Id="rId2" Type="http://schemas.openxmlformats.org/officeDocument/2006/relationships/notesSlide" Target="../notesSlides/notesSlide12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977900" y="1150536"/>
            <a:ext cx="10236201" cy="3309551"/>
            <a:chOff x="977900" y="1150536"/>
            <a:chExt cx="10236201" cy="3309551"/>
          </a:xfrm>
        </p:grpSpPr>
        <p:grpSp>
          <p:nvGrpSpPr>
            <p:cNvPr id="7" name="组合 6"/>
            <p:cNvGrpSpPr/>
            <p:nvPr/>
          </p:nvGrpSpPr>
          <p:grpSpPr>
            <a:xfrm>
              <a:off x="2817813" y="1150536"/>
              <a:ext cx="6554788" cy="686393"/>
              <a:chOff x="2817813" y="5796957"/>
              <a:chExt cx="6554788" cy="686393"/>
            </a:xfrm>
          </p:grpSpPr>
          <p:pic>
            <p:nvPicPr>
              <p:cNvPr id="1028" name="Picture 4" descr="查看图片"/>
              <p:cNvPicPr>
                <a:picLocks noChangeAspect="1" noChangeArrowheads="1"/>
              </p:cNvPicPr>
              <p:nvPr/>
            </p:nvPicPr>
            <p:blipFill rotWithShape="1">
              <a:blip r:embed="rId4">
                <a:extLst>
                  <a:ext uri="{28A0092B-C50C-407E-A947-70E740481C1C}">
                    <a14:useLocalDpi xmlns:a14="http://schemas.microsoft.com/office/drawing/2010/main" val="0"/>
                  </a:ext>
                </a:extLst>
              </a:blip>
              <a:srcRect b="84518"/>
              <a:stretch>
                <a:fillRect/>
              </a:stretch>
            </p:blipFill>
            <p:spPr bwMode="auto">
              <a:xfrm>
                <a:off x="2817813" y="5796957"/>
                <a:ext cx="6554788" cy="686393"/>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4854894" y="5796957"/>
                <a:ext cx="2480626" cy="645160"/>
              </a:xfrm>
              <a:prstGeom prst="rect">
                <a:avLst/>
              </a:prstGeom>
              <a:noFill/>
            </p:spPr>
            <p:txBody>
              <a:bodyPr wrap="square">
                <a:spAutoFit/>
              </a:bodyPr>
              <a:lstStyle/>
              <a:p>
                <a:pPr algn="ctr"/>
                <a:r>
                  <a:rPr lang="zh-CN" altLang="en-US" sz="3600" b="1" spc="300" dirty="0">
                    <a:solidFill>
                      <a:schemeClr val="bg1"/>
                    </a:solidFill>
                    <a:effectLst>
                      <a:outerShdw blurRad="101600" dist="12700" dir="5400000" algn="t" rotWithShape="0">
                        <a:schemeClr val="accent3">
                          <a:alpha val="85000"/>
                        </a:schemeClr>
                      </a:outerShdw>
                    </a:effectLst>
                    <a:latin typeface="+mj-ea"/>
                    <a:ea typeface="+mj-ea"/>
                  </a:rPr>
                  <a:t>第五</a:t>
                </a:r>
                <a:r>
                  <a:rPr lang="zh-CN" altLang="en-US" sz="3600" b="1" dirty="0">
                    <a:solidFill>
                      <a:schemeClr val="bg1"/>
                    </a:solidFill>
                    <a:effectLst>
                      <a:outerShdw blurRad="101600" dist="12700" dir="5400000" algn="t" rotWithShape="0">
                        <a:schemeClr val="accent3">
                          <a:alpha val="85000"/>
                        </a:schemeClr>
                      </a:outerShdw>
                    </a:effectLst>
                    <a:latin typeface="+mj-ea"/>
                    <a:ea typeface="+mj-ea"/>
                  </a:rPr>
                  <a:t>章</a:t>
                </a:r>
              </a:p>
            </p:txBody>
          </p:sp>
        </p:grpSp>
        <p:grpSp>
          <p:nvGrpSpPr>
            <p:cNvPr id="14" name="组合 13"/>
            <p:cNvGrpSpPr/>
            <p:nvPr/>
          </p:nvGrpSpPr>
          <p:grpSpPr>
            <a:xfrm>
              <a:off x="977900" y="2121495"/>
              <a:ext cx="10236201" cy="2338592"/>
              <a:chOff x="948266" y="2341629"/>
              <a:chExt cx="10236201" cy="2338592"/>
            </a:xfrm>
          </p:grpSpPr>
          <p:grpSp>
            <p:nvGrpSpPr>
              <p:cNvPr id="13" name="组合 12"/>
              <p:cNvGrpSpPr/>
              <p:nvPr/>
            </p:nvGrpSpPr>
            <p:grpSpPr>
              <a:xfrm>
                <a:off x="948266" y="2341629"/>
                <a:ext cx="10236201" cy="2338592"/>
                <a:chOff x="-203136" y="3193246"/>
                <a:chExt cx="9531744" cy="2177650"/>
              </a:xfrm>
            </p:grpSpPr>
            <p:pic>
              <p:nvPicPr>
                <p:cNvPr id="11" name="Picture 4" descr="查看图片"/>
                <p:cNvPicPr>
                  <a:picLocks noChangeAspect="1" noChangeArrowheads="1"/>
                </p:cNvPicPr>
                <p:nvPr/>
              </p:nvPicPr>
              <p:blipFill rotWithShape="1">
                <a:blip r:embed="rId4">
                  <a:extLst>
                    <a:ext uri="{28A0092B-C50C-407E-A947-70E740481C1C}">
                      <a14:useLocalDpi xmlns:a14="http://schemas.microsoft.com/office/drawing/2010/main" val="0"/>
                    </a:ext>
                  </a:extLst>
                </a:blip>
                <a:srcRect t="21436" b="66823"/>
                <a:stretch>
                  <a:fillRect/>
                </a:stretch>
              </p:blipFill>
              <p:spPr bwMode="auto">
                <a:xfrm>
                  <a:off x="-203136" y="3193246"/>
                  <a:ext cx="9531744" cy="75696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查看图片"/>
                <p:cNvPicPr>
                  <a:picLocks noChangeAspect="1" noChangeArrowheads="1"/>
                </p:cNvPicPr>
                <p:nvPr/>
              </p:nvPicPr>
              <p:blipFill rotWithShape="1">
                <a:blip r:embed="rId4">
                  <a:extLst>
                    <a:ext uri="{28A0092B-C50C-407E-A947-70E740481C1C}">
                      <a14:useLocalDpi xmlns:a14="http://schemas.microsoft.com/office/drawing/2010/main" val="0"/>
                    </a:ext>
                  </a:extLst>
                </a:blip>
                <a:srcRect t="77991" b="-27"/>
                <a:stretch>
                  <a:fillRect/>
                </a:stretch>
              </p:blipFill>
              <p:spPr bwMode="auto">
                <a:xfrm>
                  <a:off x="-203136" y="3950207"/>
                  <a:ext cx="9531744" cy="1420689"/>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PA-文本框 47"/>
              <p:cNvSpPr txBox="1"/>
              <p:nvPr>
                <p:custDataLst>
                  <p:tags r:id="rId1"/>
                </p:custDataLst>
              </p:nvPr>
            </p:nvSpPr>
            <p:spPr>
              <a:xfrm>
                <a:off x="1738206" y="2356764"/>
                <a:ext cx="8656320" cy="2308324"/>
              </a:xfrm>
              <a:prstGeom prst="rect">
                <a:avLst/>
              </a:prstGeom>
              <a:noFill/>
            </p:spPr>
            <p:txBody>
              <a:bodyPr wrap="square" rtlCol="0" anchor="ctr">
                <a:spAutoFit/>
              </a:bodyPr>
              <a:lstStyle/>
              <a:p>
                <a:pPr lvl="0" algn="ctr">
                  <a:lnSpc>
                    <a:spcPct val="100000"/>
                  </a:lnSpc>
                  <a:defRPr/>
                </a:pPr>
                <a:r>
                  <a:rPr lang="zh-CN" altLang="en-US" sz="7200" b="1" spc="100" dirty="0">
                    <a:solidFill>
                      <a:schemeClr val="bg1"/>
                    </a:solidFill>
                    <a:effectLst>
                      <a:outerShdw blurRad="101600" dist="12700" dir="5400000" algn="t" rotWithShape="0">
                        <a:schemeClr val="accent3">
                          <a:alpha val="85000"/>
                        </a:schemeClr>
                      </a:outerShdw>
                    </a:effectLst>
                    <a:latin typeface="+mj-ea"/>
                    <a:ea typeface="+mj-ea"/>
                  </a:rPr>
                  <a:t>基于学习的机器人</a:t>
                </a:r>
                <a:br>
                  <a:rPr lang="en-US" altLang="zh-CN" sz="7200" b="1" spc="100" dirty="0">
                    <a:solidFill>
                      <a:schemeClr val="bg1"/>
                    </a:solidFill>
                    <a:effectLst>
                      <a:outerShdw blurRad="101600" dist="12700" dir="5400000" algn="t" rotWithShape="0">
                        <a:schemeClr val="accent3">
                          <a:alpha val="85000"/>
                        </a:schemeClr>
                      </a:outerShdw>
                    </a:effectLst>
                    <a:latin typeface="+mj-ea"/>
                    <a:ea typeface="+mj-ea"/>
                  </a:rPr>
                </a:br>
                <a:r>
                  <a:rPr lang="zh-CN" altLang="en-US" sz="7200" b="1" spc="100" dirty="0">
                    <a:solidFill>
                      <a:schemeClr val="bg1"/>
                    </a:solidFill>
                    <a:effectLst>
                      <a:outerShdw blurRad="101600" dist="12700" dir="5400000" algn="t" rotWithShape="0">
                        <a:schemeClr val="accent3">
                          <a:alpha val="85000"/>
                        </a:schemeClr>
                      </a:outerShdw>
                    </a:effectLst>
                    <a:latin typeface="+mj-ea"/>
                    <a:ea typeface="+mj-ea"/>
                  </a:rPr>
                  <a:t>智能导航算法</a:t>
                </a:r>
                <a:endParaRPr lang="zh-CN" sz="7200" b="1" spc="100" dirty="0">
                  <a:solidFill>
                    <a:schemeClr val="bg1"/>
                  </a:solidFill>
                  <a:effectLst>
                    <a:outerShdw blurRad="101600" dist="12700" dir="5400000" algn="t" rotWithShape="0">
                      <a:schemeClr val="accent3">
                        <a:alpha val="85000"/>
                      </a:schemeClr>
                    </a:outerShdw>
                  </a:effectLst>
                  <a:latin typeface="+mj-ea"/>
                  <a:ea typeface="+mj-ea"/>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250"/>
                                  </p:stCondLst>
                                  <p:childTnLst>
                                    <p:set>
                                      <p:cBhvr>
                                        <p:cTn id="6" dur="1" fill="hold">
                                          <p:stCondLst>
                                            <p:cond delay="0"/>
                                          </p:stCondLst>
                                        </p:cTn>
                                        <p:tgtEl>
                                          <p:spTgt spid="15"/>
                                        </p:tgtEl>
                                        <p:attrNameLst>
                                          <p:attrName>style.visibility</p:attrName>
                                        </p:attrNameLst>
                                      </p:cBhvr>
                                      <p:to>
                                        <p:strVal val="visible"/>
                                      </p:to>
                                    </p:set>
                                    <p:animEffect transition="in" filter="barn(outVertic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p:cNvGrpSpPr/>
          <p:nvPr/>
        </p:nvGrpSpPr>
        <p:grpSpPr>
          <a:xfrm>
            <a:off x="4978285" y="2300527"/>
            <a:ext cx="6908800" cy="930517"/>
            <a:chOff x="5281748" y="982950"/>
            <a:chExt cx="6908800" cy="930517"/>
          </a:xfrm>
        </p:grpSpPr>
        <p:sp>
          <p:nvSpPr>
            <p:cNvPr id="49" name="矩形: 圆角 48"/>
            <p:cNvSpPr/>
            <p:nvPr/>
          </p:nvSpPr>
          <p:spPr>
            <a:xfrm>
              <a:off x="5281748" y="982950"/>
              <a:ext cx="6351451" cy="930517"/>
            </a:xfrm>
            <a:prstGeom prst="roundRect">
              <a:avLst>
                <a:gd name="adj" fmla="val 50000"/>
              </a:avLst>
            </a:prstGeom>
            <a:gradFill flip="none" rotWithShape="1">
              <a:gsLst>
                <a:gs pos="0">
                  <a:schemeClr val="bg1">
                    <a:lumMod val="95000"/>
                  </a:schemeClr>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0" name="椭圆 49"/>
            <p:cNvSpPr/>
            <p:nvPr/>
          </p:nvSpPr>
          <p:spPr>
            <a:xfrm>
              <a:off x="5365665" y="1059758"/>
              <a:ext cx="776902" cy="776901"/>
            </a:xfrm>
            <a:prstGeom prst="ellipse">
              <a:avLst/>
            </a:prstGeom>
            <a:gradFill flip="none" rotWithShape="1">
              <a:gsLst>
                <a:gs pos="100000">
                  <a:schemeClr val="tx1">
                    <a:lumMod val="85000"/>
                    <a:lumOff val="15000"/>
                  </a:schemeClr>
                </a:gs>
                <a:gs pos="79000">
                  <a:schemeClr val="tx1">
                    <a:lumMod val="85000"/>
                    <a:lumOff val="15000"/>
                  </a:schemeClr>
                </a:gs>
                <a:gs pos="0">
                  <a:schemeClr val="tx1">
                    <a:lumMod val="50000"/>
                    <a:lumOff val="50000"/>
                  </a:schemeClr>
                </a:gs>
              </a:gsLst>
              <a:lin ang="5400000" scaled="1"/>
              <a:tileRect/>
            </a:gradFill>
            <a:ln w="25400">
              <a:solidFill>
                <a:schemeClr val="bg1">
                  <a:lumMod val="75000"/>
                </a:schemeClr>
              </a:solidFill>
            </a:ln>
            <a:effectLst>
              <a:outerShdw blurRad="63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400" b="1" dirty="0">
                  <a:solidFill>
                    <a:schemeClr val="bg1"/>
                  </a:solidFill>
                  <a:effectLst>
                    <a:outerShdw blurRad="101600" dist="12700" dir="5400000" algn="t" rotWithShape="0">
                      <a:schemeClr val="bg1">
                        <a:lumMod val="65000"/>
                        <a:alpha val="85000"/>
                      </a:schemeClr>
                    </a:outerShdw>
                  </a:effectLst>
                  <a:latin typeface="+mj-ea"/>
                  <a:ea typeface="+mj-ea"/>
                </a:rPr>
                <a:t>5.2</a:t>
              </a:r>
              <a:endParaRPr lang="zh-CN" altLang="en-US" sz="2400" b="1" dirty="0">
                <a:solidFill>
                  <a:schemeClr val="bg1"/>
                </a:solidFill>
                <a:effectLst>
                  <a:outerShdw blurRad="101600" dist="12700" dir="5400000" algn="t" rotWithShape="0">
                    <a:schemeClr val="bg1">
                      <a:lumMod val="65000"/>
                      <a:alpha val="85000"/>
                    </a:schemeClr>
                  </a:outerShdw>
                </a:effectLst>
                <a:latin typeface="+mj-ea"/>
                <a:ea typeface="+mj-ea"/>
              </a:endParaRPr>
            </a:p>
          </p:txBody>
        </p:sp>
        <p:sp>
          <p:nvSpPr>
            <p:cNvPr id="51" name="文本框 50"/>
            <p:cNvSpPr txBox="1"/>
            <p:nvPr/>
          </p:nvSpPr>
          <p:spPr>
            <a:xfrm>
              <a:off x="6255203" y="1125190"/>
              <a:ext cx="5935345" cy="645160"/>
            </a:xfrm>
            <a:prstGeom prst="rect">
              <a:avLst/>
            </a:prstGeom>
            <a:noFill/>
          </p:spPr>
          <p:txBody>
            <a:bodyPr wrap="square">
              <a:spAutoFit/>
            </a:bodyPr>
            <a:lstStyle/>
            <a:p>
              <a:r>
                <a:rPr lang="zh-CN" altLang="en-US" sz="3600" b="1" spc="-150" dirty="0">
                  <a:latin typeface="+mj-ea"/>
                  <a:ea typeface="+mj-ea"/>
                </a:rPr>
                <a:t>基于传统机器学习的导航方法</a:t>
              </a:r>
            </a:p>
          </p:txBody>
        </p:sp>
      </p:grpSp>
      <p:grpSp>
        <p:nvGrpSpPr>
          <p:cNvPr id="52" name="组合 51"/>
          <p:cNvGrpSpPr/>
          <p:nvPr/>
        </p:nvGrpSpPr>
        <p:grpSpPr>
          <a:xfrm>
            <a:off x="4978285" y="974098"/>
            <a:ext cx="6501130" cy="930517"/>
            <a:chOff x="5281748" y="982950"/>
            <a:chExt cx="6501130" cy="930517"/>
          </a:xfrm>
        </p:grpSpPr>
        <p:sp>
          <p:nvSpPr>
            <p:cNvPr id="53" name="矩形: 圆角 52"/>
            <p:cNvSpPr/>
            <p:nvPr/>
          </p:nvSpPr>
          <p:spPr>
            <a:xfrm>
              <a:off x="5281748" y="982950"/>
              <a:ext cx="6351451" cy="930517"/>
            </a:xfrm>
            <a:prstGeom prst="roundRect">
              <a:avLst>
                <a:gd name="adj" fmla="val 50000"/>
              </a:avLst>
            </a:prstGeom>
            <a:gradFill flip="none" rotWithShape="1">
              <a:gsLst>
                <a:gs pos="0">
                  <a:schemeClr val="bg1">
                    <a:lumMod val="95000"/>
                  </a:schemeClr>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4" name="椭圆 53"/>
            <p:cNvSpPr/>
            <p:nvPr/>
          </p:nvSpPr>
          <p:spPr>
            <a:xfrm>
              <a:off x="5365665" y="1059758"/>
              <a:ext cx="776902" cy="776901"/>
            </a:xfrm>
            <a:prstGeom prst="ellipse">
              <a:avLst/>
            </a:prstGeom>
            <a:gradFill flip="none" rotWithShape="1">
              <a:gsLst>
                <a:gs pos="100000">
                  <a:schemeClr val="tx1">
                    <a:lumMod val="85000"/>
                    <a:lumOff val="15000"/>
                  </a:schemeClr>
                </a:gs>
                <a:gs pos="79000">
                  <a:schemeClr val="tx1">
                    <a:lumMod val="85000"/>
                    <a:lumOff val="15000"/>
                  </a:schemeClr>
                </a:gs>
                <a:gs pos="0">
                  <a:schemeClr val="tx1">
                    <a:lumMod val="50000"/>
                    <a:lumOff val="50000"/>
                  </a:schemeClr>
                </a:gs>
              </a:gsLst>
              <a:lin ang="5400000" scaled="1"/>
              <a:tileRect/>
            </a:gradFill>
            <a:ln w="25400">
              <a:solidFill>
                <a:schemeClr val="bg1">
                  <a:lumMod val="75000"/>
                </a:schemeClr>
              </a:solidFill>
            </a:ln>
            <a:effectLst>
              <a:outerShdw blurRad="63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400" b="1" dirty="0">
                  <a:solidFill>
                    <a:schemeClr val="bg1"/>
                  </a:solidFill>
                  <a:effectLst>
                    <a:outerShdw blurRad="101600" dist="12700" dir="5400000" algn="t" rotWithShape="0">
                      <a:schemeClr val="bg1">
                        <a:lumMod val="65000"/>
                        <a:alpha val="85000"/>
                      </a:schemeClr>
                    </a:outerShdw>
                  </a:effectLst>
                  <a:latin typeface="+mj-ea"/>
                  <a:ea typeface="+mj-ea"/>
                </a:rPr>
                <a:t>5.1</a:t>
              </a:r>
              <a:endParaRPr lang="zh-CN" altLang="en-US" sz="2400" b="1" dirty="0">
                <a:solidFill>
                  <a:schemeClr val="bg1"/>
                </a:solidFill>
                <a:effectLst>
                  <a:outerShdw blurRad="101600" dist="12700" dir="5400000" algn="t" rotWithShape="0">
                    <a:schemeClr val="bg1">
                      <a:lumMod val="65000"/>
                      <a:alpha val="85000"/>
                    </a:schemeClr>
                  </a:outerShdw>
                </a:effectLst>
                <a:latin typeface="+mj-ea"/>
                <a:ea typeface="+mj-ea"/>
              </a:endParaRPr>
            </a:p>
          </p:txBody>
        </p:sp>
        <p:sp>
          <p:nvSpPr>
            <p:cNvPr id="55" name="文本框 54"/>
            <p:cNvSpPr txBox="1"/>
            <p:nvPr/>
          </p:nvSpPr>
          <p:spPr>
            <a:xfrm>
              <a:off x="6255203" y="1125190"/>
              <a:ext cx="5527675" cy="645160"/>
            </a:xfrm>
            <a:prstGeom prst="rect">
              <a:avLst/>
            </a:prstGeom>
            <a:noFill/>
          </p:spPr>
          <p:txBody>
            <a:bodyPr wrap="square">
              <a:spAutoFit/>
            </a:bodyPr>
            <a:lstStyle/>
            <a:p>
              <a:r>
                <a:rPr lang="zh-CN" altLang="en-US" sz="3600" b="1" spc="-150" dirty="0">
                  <a:latin typeface="+mj-ea"/>
                  <a:ea typeface="+mj-ea"/>
                </a:rPr>
                <a:t>基于学习的智能导航基础</a:t>
              </a:r>
            </a:p>
          </p:txBody>
        </p:sp>
      </p:grpSp>
      <p:grpSp>
        <p:nvGrpSpPr>
          <p:cNvPr id="56" name="组合 55"/>
          <p:cNvGrpSpPr/>
          <p:nvPr/>
        </p:nvGrpSpPr>
        <p:grpSpPr>
          <a:xfrm>
            <a:off x="4978285" y="3626956"/>
            <a:ext cx="6636385" cy="930517"/>
            <a:chOff x="5281748" y="982950"/>
            <a:chExt cx="6636385" cy="930517"/>
          </a:xfrm>
        </p:grpSpPr>
        <p:sp>
          <p:nvSpPr>
            <p:cNvPr id="57" name="矩形: 圆角 56"/>
            <p:cNvSpPr/>
            <p:nvPr/>
          </p:nvSpPr>
          <p:spPr>
            <a:xfrm>
              <a:off x="5281748" y="982950"/>
              <a:ext cx="6351451" cy="930517"/>
            </a:xfrm>
            <a:prstGeom prst="roundRect">
              <a:avLst>
                <a:gd name="adj" fmla="val 50000"/>
              </a:avLst>
            </a:prstGeom>
            <a:gradFill flip="none" rotWithShape="1">
              <a:gsLst>
                <a:gs pos="0">
                  <a:schemeClr val="bg1">
                    <a:lumMod val="95000"/>
                  </a:schemeClr>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8" name="椭圆 57"/>
            <p:cNvSpPr/>
            <p:nvPr/>
          </p:nvSpPr>
          <p:spPr>
            <a:xfrm>
              <a:off x="5365665" y="1059758"/>
              <a:ext cx="776902" cy="776901"/>
            </a:xfrm>
            <a:prstGeom prst="ellipse">
              <a:avLst/>
            </a:prstGeom>
            <a:gradFill flip="none" rotWithShape="1">
              <a:gsLst>
                <a:gs pos="100000">
                  <a:schemeClr val="tx1">
                    <a:lumMod val="85000"/>
                    <a:lumOff val="15000"/>
                  </a:schemeClr>
                </a:gs>
                <a:gs pos="79000">
                  <a:schemeClr val="tx1">
                    <a:lumMod val="85000"/>
                    <a:lumOff val="15000"/>
                  </a:schemeClr>
                </a:gs>
                <a:gs pos="0">
                  <a:schemeClr val="tx1">
                    <a:lumMod val="50000"/>
                    <a:lumOff val="50000"/>
                  </a:schemeClr>
                </a:gs>
              </a:gsLst>
              <a:lin ang="5400000" scaled="1"/>
              <a:tileRect/>
            </a:gradFill>
            <a:ln w="25400">
              <a:solidFill>
                <a:schemeClr val="bg1">
                  <a:lumMod val="75000"/>
                </a:schemeClr>
              </a:solidFill>
            </a:ln>
            <a:effectLst>
              <a:outerShdw blurRad="63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400" b="1" dirty="0">
                  <a:solidFill>
                    <a:schemeClr val="bg1"/>
                  </a:solidFill>
                  <a:effectLst>
                    <a:outerShdw blurRad="101600" dist="12700" dir="5400000" algn="t" rotWithShape="0">
                      <a:schemeClr val="bg1">
                        <a:lumMod val="65000"/>
                        <a:alpha val="85000"/>
                      </a:schemeClr>
                    </a:outerShdw>
                  </a:effectLst>
                  <a:latin typeface="+mj-ea"/>
                  <a:ea typeface="+mj-ea"/>
                </a:rPr>
                <a:t>5.3</a:t>
              </a:r>
              <a:endParaRPr lang="zh-CN" altLang="en-US" sz="2400" b="1" dirty="0">
                <a:solidFill>
                  <a:schemeClr val="bg1"/>
                </a:solidFill>
                <a:effectLst>
                  <a:outerShdw blurRad="101600" dist="12700" dir="5400000" algn="t" rotWithShape="0">
                    <a:schemeClr val="bg1">
                      <a:lumMod val="65000"/>
                      <a:alpha val="85000"/>
                    </a:schemeClr>
                  </a:outerShdw>
                </a:effectLst>
                <a:latin typeface="+mj-ea"/>
                <a:ea typeface="+mj-ea"/>
              </a:endParaRPr>
            </a:p>
          </p:txBody>
        </p:sp>
        <p:sp>
          <p:nvSpPr>
            <p:cNvPr id="59" name="文本框 58"/>
            <p:cNvSpPr txBox="1"/>
            <p:nvPr/>
          </p:nvSpPr>
          <p:spPr>
            <a:xfrm>
              <a:off x="6255203" y="1125190"/>
              <a:ext cx="5662930" cy="645160"/>
            </a:xfrm>
            <a:prstGeom prst="rect">
              <a:avLst/>
            </a:prstGeom>
            <a:noFill/>
          </p:spPr>
          <p:txBody>
            <a:bodyPr wrap="square">
              <a:spAutoFit/>
            </a:bodyPr>
            <a:lstStyle/>
            <a:p>
              <a:r>
                <a:rPr lang="zh-CN" altLang="en-US" sz="3600" b="1" spc="-150" dirty="0">
                  <a:latin typeface="+mj-ea"/>
                  <a:ea typeface="+mj-ea"/>
                </a:rPr>
                <a:t>基于深度学习的导航方法</a:t>
              </a:r>
              <a:r>
                <a:rPr lang="en-US" altLang="zh-CN" sz="3600" b="1" spc="-150" dirty="0">
                  <a:latin typeface="+mj-ea"/>
                  <a:ea typeface="+mj-ea"/>
                </a:rPr>
                <a:t> </a:t>
              </a:r>
            </a:p>
          </p:txBody>
        </p:sp>
      </p:grpSp>
      <p:grpSp>
        <p:nvGrpSpPr>
          <p:cNvPr id="60" name="组合 59"/>
          <p:cNvGrpSpPr/>
          <p:nvPr/>
        </p:nvGrpSpPr>
        <p:grpSpPr>
          <a:xfrm>
            <a:off x="4978285" y="4953386"/>
            <a:ext cx="6351451" cy="930517"/>
            <a:chOff x="5281748" y="982950"/>
            <a:chExt cx="6351451" cy="930517"/>
          </a:xfrm>
        </p:grpSpPr>
        <p:sp>
          <p:nvSpPr>
            <p:cNvPr id="61" name="矩形: 圆角 60"/>
            <p:cNvSpPr/>
            <p:nvPr/>
          </p:nvSpPr>
          <p:spPr>
            <a:xfrm>
              <a:off x="5281748" y="982950"/>
              <a:ext cx="6351451" cy="930517"/>
            </a:xfrm>
            <a:prstGeom prst="roundRect">
              <a:avLst>
                <a:gd name="adj" fmla="val 50000"/>
              </a:avLst>
            </a:prstGeom>
            <a:gradFill flip="none" rotWithShape="1">
              <a:gsLst>
                <a:gs pos="0">
                  <a:schemeClr val="bg1">
                    <a:lumMod val="95000"/>
                  </a:schemeClr>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2" name="椭圆 61"/>
            <p:cNvSpPr/>
            <p:nvPr/>
          </p:nvSpPr>
          <p:spPr>
            <a:xfrm>
              <a:off x="5365665" y="1059758"/>
              <a:ext cx="776902" cy="776901"/>
            </a:xfrm>
            <a:prstGeom prst="ellipse">
              <a:avLst/>
            </a:prstGeom>
            <a:gradFill flip="none" rotWithShape="1">
              <a:gsLst>
                <a:gs pos="100000">
                  <a:schemeClr val="tx1">
                    <a:lumMod val="85000"/>
                    <a:lumOff val="15000"/>
                  </a:schemeClr>
                </a:gs>
                <a:gs pos="79000">
                  <a:schemeClr val="tx1">
                    <a:lumMod val="85000"/>
                    <a:lumOff val="15000"/>
                  </a:schemeClr>
                </a:gs>
                <a:gs pos="0">
                  <a:schemeClr val="tx1">
                    <a:lumMod val="50000"/>
                    <a:lumOff val="50000"/>
                  </a:schemeClr>
                </a:gs>
              </a:gsLst>
              <a:lin ang="5400000" scaled="1"/>
              <a:tileRect/>
            </a:gradFill>
            <a:ln w="25400">
              <a:solidFill>
                <a:schemeClr val="bg1">
                  <a:lumMod val="75000"/>
                </a:schemeClr>
              </a:solidFill>
            </a:ln>
            <a:effectLst>
              <a:outerShdw blurRad="63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400" b="1" dirty="0">
                  <a:solidFill>
                    <a:schemeClr val="bg1"/>
                  </a:solidFill>
                  <a:effectLst>
                    <a:outerShdw blurRad="101600" dist="12700" dir="5400000" algn="t" rotWithShape="0">
                      <a:schemeClr val="bg1">
                        <a:lumMod val="65000"/>
                        <a:alpha val="85000"/>
                      </a:schemeClr>
                    </a:outerShdw>
                  </a:effectLst>
                  <a:latin typeface="+mj-ea"/>
                  <a:ea typeface="+mj-ea"/>
                </a:rPr>
                <a:t>5.4</a:t>
              </a:r>
              <a:endParaRPr lang="zh-CN" altLang="en-US" sz="2400" b="1" dirty="0">
                <a:solidFill>
                  <a:schemeClr val="bg1"/>
                </a:solidFill>
                <a:effectLst>
                  <a:outerShdw blurRad="101600" dist="12700" dir="5400000" algn="t" rotWithShape="0">
                    <a:schemeClr val="bg1">
                      <a:lumMod val="65000"/>
                      <a:alpha val="85000"/>
                    </a:schemeClr>
                  </a:outerShdw>
                </a:effectLst>
                <a:latin typeface="+mj-ea"/>
                <a:ea typeface="+mj-ea"/>
              </a:endParaRPr>
            </a:p>
          </p:txBody>
        </p:sp>
        <p:sp>
          <p:nvSpPr>
            <p:cNvPr id="63" name="文本框 62"/>
            <p:cNvSpPr txBox="1"/>
            <p:nvPr/>
          </p:nvSpPr>
          <p:spPr>
            <a:xfrm>
              <a:off x="6255203" y="1125190"/>
              <a:ext cx="5377180" cy="645160"/>
            </a:xfrm>
            <a:prstGeom prst="rect">
              <a:avLst/>
            </a:prstGeom>
            <a:noFill/>
          </p:spPr>
          <p:txBody>
            <a:bodyPr wrap="square">
              <a:spAutoFit/>
            </a:bodyPr>
            <a:lstStyle/>
            <a:p>
              <a:r>
                <a:rPr lang="zh-CN" sz="3600" b="1" spc="-150" dirty="0">
                  <a:latin typeface="+mj-ea"/>
                  <a:ea typeface="+mj-ea"/>
                </a:rPr>
                <a:t>基于强化学习的导航方法</a:t>
              </a:r>
            </a:p>
          </p:txBody>
        </p:sp>
      </p:grpSp>
      <p:grpSp>
        <p:nvGrpSpPr>
          <p:cNvPr id="47" name="组合 46"/>
          <p:cNvGrpSpPr/>
          <p:nvPr/>
        </p:nvGrpSpPr>
        <p:grpSpPr>
          <a:xfrm>
            <a:off x="4977650" y="974098"/>
            <a:ext cx="6351451" cy="930517"/>
            <a:chOff x="4995998" y="52675"/>
            <a:chExt cx="6351451" cy="930517"/>
          </a:xfrm>
        </p:grpSpPr>
        <p:sp>
          <p:nvSpPr>
            <p:cNvPr id="35" name="矩形: 圆角 34"/>
            <p:cNvSpPr/>
            <p:nvPr/>
          </p:nvSpPr>
          <p:spPr>
            <a:xfrm>
              <a:off x="4995998" y="52675"/>
              <a:ext cx="6351451" cy="930517"/>
            </a:xfrm>
            <a:prstGeom prst="roundRect">
              <a:avLst>
                <a:gd name="adj" fmla="val 50000"/>
              </a:avLst>
            </a:prstGeom>
            <a:gradFill flip="none" rotWithShape="1">
              <a:gsLst>
                <a:gs pos="0">
                  <a:schemeClr val="accent3">
                    <a:lumMod val="20000"/>
                    <a:lumOff val="80000"/>
                  </a:schemeClr>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6" name="椭圆 35"/>
            <p:cNvSpPr/>
            <p:nvPr/>
          </p:nvSpPr>
          <p:spPr>
            <a:xfrm>
              <a:off x="5080550" y="129483"/>
              <a:ext cx="776902" cy="776901"/>
            </a:xfrm>
            <a:prstGeom prst="ellipse">
              <a:avLst/>
            </a:prstGeom>
            <a:gradFill flip="none" rotWithShape="1">
              <a:gsLst>
                <a:gs pos="100000">
                  <a:schemeClr val="accent1"/>
                </a:gs>
                <a:gs pos="79000">
                  <a:schemeClr val="accent1">
                    <a:lumMod val="75000"/>
                  </a:schemeClr>
                </a:gs>
                <a:gs pos="0">
                  <a:schemeClr val="accent2"/>
                </a:gs>
              </a:gsLst>
              <a:lin ang="5400000" scaled="1"/>
              <a:tileRect/>
            </a:gradFill>
            <a:ln w="25400">
              <a:solidFill>
                <a:schemeClr val="accent3"/>
              </a:solidFill>
            </a:ln>
            <a:effectLst>
              <a:outerShdw blurRad="63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400" b="1" dirty="0">
                  <a:solidFill>
                    <a:schemeClr val="bg1"/>
                  </a:solidFill>
                  <a:effectLst>
                    <a:outerShdw blurRad="101600" dist="12700" dir="5400000" algn="t" rotWithShape="0">
                      <a:schemeClr val="accent3">
                        <a:alpha val="85000"/>
                      </a:schemeClr>
                    </a:outerShdw>
                  </a:effectLst>
                  <a:latin typeface="+mj-lt"/>
                  <a:ea typeface="+mj-ea"/>
                </a:rPr>
                <a:t>5.1</a:t>
              </a:r>
              <a:endParaRPr lang="zh-CN" altLang="en-US" sz="2400" b="1" dirty="0">
                <a:solidFill>
                  <a:schemeClr val="bg1"/>
                </a:solidFill>
                <a:effectLst>
                  <a:outerShdw blurRad="101600" dist="12700" dir="5400000" algn="t" rotWithShape="0">
                    <a:schemeClr val="accent3">
                      <a:alpha val="85000"/>
                    </a:schemeClr>
                  </a:outerShdw>
                </a:effectLst>
                <a:latin typeface="+mj-lt"/>
                <a:ea typeface="+mj-ea"/>
              </a:endParaRPr>
            </a:p>
          </p:txBody>
        </p:sp>
        <p:sp>
          <p:nvSpPr>
            <p:cNvPr id="37" name="文本框 36"/>
            <p:cNvSpPr txBox="1"/>
            <p:nvPr/>
          </p:nvSpPr>
          <p:spPr>
            <a:xfrm>
              <a:off x="5969453" y="195550"/>
              <a:ext cx="5377815" cy="645160"/>
            </a:xfrm>
            <a:prstGeom prst="rect">
              <a:avLst/>
            </a:prstGeom>
            <a:noFill/>
          </p:spPr>
          <p:txBody>
            <a:bodyPr wrap="square">
              <a:spAutoFit/>
            </a:bodyPr>
            <a:lstStyle/>
            <a:p>
              <a:r>
                <a:rPr lang="zh-CN" altLang="en-US" sz="3600" b="1" spc="-150" dirty="0">
                  <a:solidFill>
                    <a:schemeClr val="accent1"/>
                  </a:solidFill>
                  <a:latin typeface="+mj-ea"/>
                  <a:ea typeface="+mj-ea"/>
                </a:rPr>
                <a:t>基于学习的智能导航基础</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5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524510" y="949325"/>
            <a:ext cx="4861560" cy="2968625"/>
            <a:chOff x="826" y="1495"/>
            <a:chExt cx="7656" cy="4675"/>
          </a:xfrm>
        </p:grpSpPr>
        <p:sp>
          <p:nvSpPr>
            <p:cNvPr id="11" name="矩形 10"/>
            <p:cNvSpPr/>
            <p:nvPr/>
          </p:nvSpPr>
          <p:spPr>
            <a:xfrm>
              <a:off x="826" y="4098"/>
              <a:ext cx="7656" cy="2072"/>
            </a:xfrm>
            <a:prstGeom prst="rect">
              <a:avLst/>
            </a:prstGeom>
            <a:gradFill>
              <a:gsLst>
                <a:gs pos="19000">
                  <a:schemeClr val="bg1"/>
                </a:gs>
                <a:gs pos="95000">
                  <a:schemeClr val="accent1">
                    <a:lumMod val="20000"/>
                    <a:lumOff val="8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mj-ea"/>
                <a:ea typeface="+mj-ea"/>
              </a:endParaRPr>
            </a:p>
          </p:txBody>
        </p:sp>
        <p:pic>
          <p:nvPicPr>
            <p:cNvPr id="4" name="图片 3"/>
            <p:cNvPicPr/>
            <p:nvPr/>
          </p:nvPicPr>
          <p:blipFill>
            <a:blip r:embed="rId3"/>
            <a:stretch>
              <a:fillRect/>
            </a:stretch>
          </p:blipFill>
          <p:spPr>
            <a:xfrm>
              <a:off x="1185" y="1495"/>
              <a:ext cx="6762" cy="3705"/>
            </a:xfrm>
            <a:prstGeom prst="rect">
              <a:avLst/>
            </a:prstGeom>
          </p:spPr>
        </p:pic>
        <p:sp>
          <p:nvSpPr>
            <p:cNvPr id="6" name="文本框 5"/>
            <p:cNvSpPr txBox="1"/>
            <p:nvPr/>
          </p:nvSpPr>
          <p:spPr>
            <a:xfrm>
              <a:off x="1184" y="5199"/>
              <a:ext cx="7000" cy="822"/>
            </a:xfrm>
            <a:prstGeom prst="rect">
              <a:avLst/>
            </a:prstGeom>
            <a:noFill/>
          </p:spPr>
          <p:txBody>
            <a:bodyPr wrap="square" rtlCol="0">
              <a:spAutoFit/>
            </a:bodyPr>
            <a:lstStyle/>
            <a:p>
              <a:r>
                <a:rPr lang="zh-CN" altLang="en-US" sz="1400" dirty="0"/>
                <a:t>灵瞳</a:t>
              </a:r>
              <a:r>
                <a:rPr lang="en-US" altLang="zh-CN" sz="1400" dirty="0"/>
                <a:t>L3P</a:t>
              </a:r>
              <a:r>
                <a:rPr lang="zh-CN" altLang="en-US" sz="1400" dirty="0"/>
                <a:t>机器人凭借多模态感知融合与自主决策算法厘米级精准导航</a:t>
              </a:r>
            </a:p>
          </p:txBody>
        </p:sp>
      </p:grpSp>
      <p:grpSp>
        <p:nvGrpSpPr>
          <p:cNvPr id="34" name="组合 33"/>
          <p:cNvGrpSpPr/>
          <p:nvPr/>
        </p:nvGrpSpPr>
        <p:grpSpPr>
          <a:xfrm>
            <a:off x="6588125" y="3889375"/>
            <a:ext cx="4861560" cy="2823210"/>
            <a:chOff x="10375" y="6063"/>
            <a:chExt cx="7656" cy="4446"/>
          </a:xfrm>
        </p:grpSpPr>
        <p:sp>
          <p:nvSpPr>
            <p:cNvPr id="23" name="矩形 22"/>
            <p:cNvSpPr/>
            <p:nvPr/>
          </p:nvSpPr>
          <p:spPr>
            <a:xfrm>
              <a:off x="10375" y="8437"/>
              <a:ext cx="7656" cy="2072"/>
            </a:xfrm>
            <a:prstGeom prst="rect">
              <a:avLst/>
            </a:prstGeom>
            <a:gradFill>
              <a:gsLst>
                <a:gs pos="19000">
                  <a:schemeClr val="bg1"/>
                </a:gs>
                <a:gs pos="95000">
                  <a:schemeClr val="accent1">
                    <a:lumMod val="20000"/>
                    <a:lumOff val="8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mj-ea"/>
                <a:ea typeface="+mj-ea"/>
              </a:endParaRPr>
            </a:p>
          </p:txBody>
        </p:sp>
        <p:sp>
          <p:nvSpPr>
            <p:cNvPr id="24" name="文本框 23"/>
            <p:cNvSpPr txBox="1"/>
            <p:nvPr/>
          </p:nvSpPr>
          <p:spPr>
            <a:xfrm>
              <a:off x="10733" y="9538"/>
              <a:ext cx="7000" cy="483"/>
            </a:xfrm>
            <a:prstGeom prst="rect">
              <a:avLst/>
            </a:prstGeom>
            <a:noFill/>
          </p:spPr>
          <p:txBody>
            <a:bodyPr wrap="square" rtlCol="0">
              <a:spAutoFit/>
            </a:bodyPr>
            <a:lstStyle/>
            <a:p>
              <a:pPr algn="ctr"/>
              <a:r>
                <a:rPr lang="zh-CN" altLang="en-US" sz="1400"/>
                <a:t>华为问界汽车自动驾驶</a:t>
              </a:r>
            </a:p>
          </p:txBody>
        </p:sp>
        <p:pic>
          <p:nvPicPr>
            <p:cNvPr id="26" name="图片 25" descr="d88e1cd5ce4d8c72dda061f662747b42"/>
            <p:cNvPicPr>
              <a:picLocks noChangeAspect="1"/>
            </p:cNvPicPr>
            <p:nvPr/>
          </p:nvPicPr>
          <p:blipFill>
            <a:blip r:embed="rId4"/>
            <a:stretch>
              <a:fillRect/>
            </a:stretch>
          </p:blipFill>
          <p:spPr>
            <a:xfrm>
              <a:off x="11038" y="6063"/>
              <a:ext cx="6047" cy="3432"/>
            </a:xfrm>
            <a:prstGeom prst="rect">
              <a:avLst/>
            </a:prstGeom>
          </p:spPr>
        </p:pic>
      </p:grpSp>
      <p:grpSp>
        <p:nvGrpSpPr>
          <p:cNvPr id="36" name="组合 35"/>
          <p:cNvGrpSpPr/>
          <p:nvPr/>
        </p:nvGrpSpPr>
        <p:grpSpPr>
          <a:xfrm>
            <a:off x="525145" y="4010025"/>
            <a:ext cx="4861560" cy="2676525"/>
            <a:chOff x="827" y="6315"/>
            <a:chExt cx="7656" cy="4215"/>
          </a:xfrm>
        </p:grpSpPr>
        <p:grpSp>
          <p:nvGrpSpPr>
            <p:cNvPr id="16" name="组合 15"/>
            <p:cNvGrpSpPr/>
            <p:nvPr/>
          </p:nvGrpSpPr>
          <p:grpSpPr>
            <a:xfrm>
              <a:off x="827" y="8458"/>
              <a:ext cx="7656" cy="2072"/>
              <a:chOff x="605878" y="5088467"/>
              <a:chExt cx="4861272" cy="1315494"/>
            </a:xfrm>
          </p:grpSpPr>
          <p:sp>
            <p:nvSpPr>
              <p:cNvPr id="8" name="矩形 7"/>
              <p:cNvSpPr/>
              <p:nvPr/>
            </p:nvSpPr>
            <p:spPr>
              <a:xfrm>
                <a:off x="605878" y="5088467"/>
                <a:ext cx="4861272" cy="1315494"/>
              </a:xfrm>
              <a:prstGeom prst="rect">
                <a:avLst/>
              </a:prstGeom>
              <a:gradFill>
                <a:gsLst>
                  <a:gs pos="19000">
                    <a:schemeClr val="bg1"/>
                  </a:gs>
                  <a:gs pos="95000">
                    <a:schemeClr val="accent1">
                      <a:lumMod val="20000"/>
                      <a:lumOff val="8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mj-ea"/>
                  <a:ea typeface="+mj-ea"/>
                </a:endParaRPr>
              </a:p>
            </p:txBody>
          </p:sp>
          <p:sp>
            <p:nvSpPr>
              <p:cNvPr id="14" name="文本框 13"/>
              <p:cNvSpPr txBox="1"/>
              <p:nvPr/>
            </p:nvSpPr>
            <p:spPr>
              <a:xfrm>
                <a:off x="961142" y="5635904"/>
                <a:ext cx="4150749" cy="564418"/>
              </a:xfrm>
              <a:prstGeom prst="rect">
                <a:avLst/>
              </a:prstGeom>
              <a:noFill/>
            </p:spPr>
            <p:txBody>
              <a:bodyPr wrap="none" rtlCol="0">
                <a:spAutoFit/>
              </a:bodyPr>
              <a:lstStyle/>
              <a:p>
                <a:pPr algn="ctr">
                  <a:lnSpc>
                    <a:spcPct val="110000"/>
                  </a:lnSpc>
                </a:pPr>
                <a:endParaRPr lang="zh-CN" altLang="en-US" sz="1400"/>
              </a:p>
              <a:p>
                <a:pPr algn="ctr">
                  <a:lnSpc>
                    <a:spcPct val="110000"/>
                  </a:lnSpc>
                </a:pPr>
                <a:r>
                  <a:rPr lang="zh-CN" altLang="en-US" sz="1400"/>
                  <a:t>麻省理工教无人机高效避障,每秒11米飞越复杂场地</a:t>
                </a:r>
              </a:p>
            </p:txBody>
          </p:sp>
        </p:grpSp>
        <p:pic>
          <p:nvPicPr>
            <p:cNvPr id="35" name="图片 34" descr="4583a2107bef45615690bbace9ed482b"/>
            <p:cNvPicPr>
              <a:picLocks noChangeAspect="1"/>
            </p:cNvPicPr>
            <p:nvPr/>
          </p:nvPicPr>
          <p:blipFill>
            <a:blip r:embed="rId5"/>
            <a:stretch>
              <a:fillRect/>
            </a:stretch>
          </p:blipFill>
          <p:spPr>
            <a:xfrm>
              <a:off x="1185" y="6315"/>
              <a:ext cx="7022" cy="3285"/>
            </a:xfrm>
            <a:prstGeom prst="rect">
              <a:avLst/>
            </a:prstGeom>
          </p:spPr>
        </p:pic>
      </p:grpSp>
      <p:grpSp>
        <p:nvGrpSpPr>
          <p:cNvPr id="38" name="组合 37"/>
          <p:cNvGrpSpPr/>
          <p:nvPr/>
        </p:nvGrpSpPr>
        <p:grpSpPr>
          <a:xfrm>
            <a:off x="6588125" y="887730"/>
            <a:ext cx="4861560" cy="3030220"/>
            <a:chOff x="10375" y="1398"/>
            <a:chExt cx="7656" cy="4772"/>
          </a:xfrm>
        </p:grpSpPr>
        <p:grpSp>
          <p:nvGrpSpPr>
            <p:cNvPr id="33" name="组合 32"/>
            <p:cNvGrpSpPr/>
            <p:nvPr/>
          </p:nvGrpSpPr>
          <p:grpSpPr>
            <a:xfrm>
              <a:off x="10375" y="4098"/>
              <a:ext cx="7656" cy="2072"/>
              <a:chOff x="10375" y="4098"/>
              <a:chExt cx="7656" cy="2072"/>
            </a:xfrm>
          </p:grpSpPr>
          <p:sp>
            <p:nvSpPr>
              <p:cNvPr id="19" name="矩形 18"/>
              <p:cNvSpPr/>
              <p:nvPr/>
            </p:nvSpPr>
            <p:spPr>
              <a:xfrm>
                <a:off x="10375" y="4098"/>
                <a:ext cx="7656" cy="2072"/>
              </a:xfrm>
              <a:prstGeom prst="rect">
                <a:avLst/>
              </a:prstGeom>
              <a:gradFill>
                <a:gsLst>
                  <a:gs pos="19000">
                    <a:schemeClr val="bg1"/>
                  </a:gs>
                  <a:gs pos="95000">
                    <a:schemeClr val="accent1">
                      <a:lumMod val="20000"/>
                      <a:lumOff val="8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mj-ea"/>
                  <a:ea typeface="+mj-ea"/>
                </a:endParaRPr>
              </a:p>
            </p:txBody>
          </p:sp>
          <p:sp>
            <p:nvSpPr>
              <p:cNvPr id="21" name="文本框 20"/>
              <p:cNvSpPr txBox="1"/>
              <p:nvPr/>
            </p:nvSpPr>
            <p:spPr>
              <a:xfrm>
                <a:off x="10733" y="5199"/>
                <a:ext cx="7000" cy="822"/>
              </a:xfrm>
              <a:prstGeom prst="rect">
                <a:avLst/>
              </a:prstGeom>
              <a:noFill/>
            </p:spPr>
            <p:txBody>
              <a:bodyPr wrap="square" rtlCol="0">
                <a:spAutoFit/>
              </a:bodyPr>
              <a:lstStyle/>
              <a:p>
                <a:r>
                  <a:rPr lang="zh-CN" altLang="en-US" sz="1400"/>
                  <a:t>上海交大团队开发首个</a:t>
                </a:r>
                <a:r>
                  <a:rPr lang="en-US" altLang="zh-CN" sz="1400"/>
                  <a:t>“</a:t>
                </a:r>
                <a:r>
                  <a:rPr lang="zh-CN" altLang="en-US" sz="1400"/>
                  <a:t>泛化地形自主站立算法</a:t>
                </a:r>
                <a:r>
                  <a:rPr lang="en-US" altLang="zh-CN" sz="1400"/>
                  <a:t>”</a:t>
                </a:r>
                <a:r>
                  <a:rPr lang="zh-CN" altLang="en-US" sz="1400"/>
                  <a:t>，实现机器人在复杂地形稳定身形，自主导航</a:t>
                </a:r>
              </a:p>
            </p:txBody>
          </p:sp>
        </p:grpSp>
        <p:pic>
          <p:nvPicPr>
            <p:cNvPr id="37" name="图片 36"/>
            <p:cNvPicPr/>
            <p:nvPr/>
          </p:nvPicPr>
          <p:blipFill>
            <a:blip r:embed="rId6"/>
            <a:stretch>
              <a:fillRect/>
            </a:stretch>
          </p:blipFill>
          <p:spPr>
            <a:xfrm>
              <a:off x="10867" y="1398"/>
              <a:ext cx="6422" cy="3697"/>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1000"/>
                                        <p:tgtEl>
                                          <p:spTgt spid="36"/>
                                        </p:tgtEl>
                                      </p:cBhvr>
                                    </p:animEffect>
                                    <p:anim calcmode="lin" valueType="num">
                                      <p:cBhvr>
                                        <p:cTn id="13" dur="1000" fill="hold"/>
                                        <p:tgtEl>
                                          <p:spTgt spid="36"/>
                                        </p:tgtEl>
                                        <p:attrNameLst>
                                          <p:attrName>ppt_x</p:attrName>
                                        </p:attrNameLst>
                                      </p:cBhvr>
                                      <p:tavLst>
                                        <p:tav tm="0">
                                          <p:val>
                                            <p:strVal val="#ppt_x"/>
                                          </p:val>
                                        </p:tav>
                                        <p:tav tm="100000">
                                          <p:val>
                                            <p:strVal val="#ppt_x"/>
                                          </p:val>
                                        </p:tav>
                                      </p:tavLst>
                                    </p:anim>
                                    <p:anim calcmode="lin" valueType="num">
                                      <p:cBhvr>
                                        <p:cTn id="14" dur="1000" fill="hold"/>
                                        <p:tgtEl>
                                          <p:spTgt spid="3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1000"/>
                                        <p:tgtEl>
                                          <p:spTgt spid="38"/>
                                        </p:tgtEl>
                                      </p:cBhvr>
                                    </p:animEffect>
                                    <p:anim calcmode="lin" valueType="num">
                                      <p:cBhvr>
                                        <p:cTn id="18" dur="1000" fill="hold"/>
                                        <p:tgtEl>
                                          <p:spTgt spid="38"/>
                                        </p:tgtEl>
                                        <p:attrNameLst>
                                          <p:attrName>ppt_x</p:attrName>
                                        </p:attrNameLst>
                                      </p:cBhvr>
                                      <p:tavLst>
                                        <p:tav tm="0">
                                          <p:val>
                                            <p:strVal val="#ppt_x"/>
                                          </p:val>
                                        </p:tav>
                                        <p:tav tm="100000">
                                          <p:val>
                                            <p:strVal val="#ppt_x"/>
                                          </p:val>
                                        </p:tav>
                                      </p:tavLst>
                                    </p:anim>
                                    <p:anim calcmode="lin" valueType="num">
                                      <p:cBhvr>
                                        <p:cTn id="19" dur="1000" fill="hold"/>
                                        <p:tgtEl>
                                          <p:spTgt spid="3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1000"/>
                                        <p:tgtEl>
                                          <p:spTgt spid="34"/>
                                        </p:tgtEl>
                                      </p:cBhvr>
                                    </p:animEffect>
                                    <p:anim calcmode="lin" valueType="num">
                                      <p:cBhvr>
                                        <p:cTn id="23" dur="1000" fill="hold"/>
                                        <p:tgtEl>
                                          <p:spTgt spid="34"/>
                                        </p:tgtEl>
                                        <p:attrNameLst>
                                          <p:attrName>ppt_x</p:attrName>
                                        </p:attrNameLst>
                                      </p:cBhvr>
                                      <p:tavLst>
                                        <p:tav tm="0">
                                          <p:val>
                                            <p:strVal val="#ppt_x"/>
                                          </p:val>
                                        </p:tav>
                                        <p:tav tm="100000">
                                          <p:val>
                                            <p:strVal val="#ppt_x"/>
                                          </p:val>
                                        </p:tav>
                                      </p:tavLst>
                                    </p:anim>
                                    <p:anim calcmode="lin" valueType="num">
                                      <p:cBhvr>
                                        <p:cTn id="24"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62002" y="6324364"/>
            <a:ext cx="10667998" cy="275590"/>
          </a:xfrm>
          <a:prstGeom prst="rect">
            <a:avLst/>
          </a:prstGeom>
          <a:noFill/>
        </p:spPr>
        <p:txBody>
          <a:bodyPr wrap="square">
            <a:spAutoFit/>
          </a:bodyPr>
          <a:lstStyle/>
          <a:p>
            <a:pPr algn="ctr"/>
            <a:r>
              <a:rPr lang="en-US" altLang="zh-CN" sz="1200" dirty="0"/>
              <a:t>Xu Z, Han X, Shen H, et al. Navrl: Learning safe flight in dynamic environments[J]. IEEE Robotics and Automation Letters, 2025.</a:t>
            </a:r>
          </a:p>
        </p:txBody>
      </p:sp>
      <p:grpSp>
        <p:nvGrpSpPr>
          <p:cNvPr id="7" name="组合 6"/>
          <p:cNvGrpSpPr/>
          <p:nvPr/>
        </p:nvGrpSpPr>
        <p:grpSpPr>
          <a:xfrm>
            <a:off x="2064000" y="5582269"/>
            <a:ext cx="8064500" cy="676275"/>
            <a:chOff x="2088000" y="5582269"/>
            <a:chExt cx="8064500" cy="676275"/>
          </a:xfrm>
        </p:grpSpPr>
        <p:sp>
          <p:nvSpPr>
            <p:cNvPr id="6" name="梯形 5"/>
            <p:cNvSpPr/>
            <p:nvPr/>
          </p:nvSpPr>
          <p:spPr>
            <a:xfrm flipV="1">
              <a:off x="2088000" y="5582269"/>
              <a:ext cx="8064000" cy="523221"/>
            </a:xfrm>
            <a:prstGeom prst="trapezoid">
              <a:avLst>
                <a:gd name="adj" fmla="val 170636"/>
              </a:avLst>
            </a:prstGeom>
            <a:gradFill>
              <a:gsLst>
                <a:gs pos="3000">
                  <a:schemeClr val="accent3">
                    <a:lumMod val="20000"/>
                    <a:lumOff val="80000"/>
                    <a:alpha val="0"/>
                  </a:schemeClr>
                </a:gs>
                <a:gs pos="90000">
                  <a:schemeClr val="accent3">
                    <a:lumMod val="20000"/>
                    <a:lumOff val="8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2088635" y="5736574"/>
              <a:ext cx="8063865" cy="521970"/>
            </a:xfrm>
            <a:prstGeom prst="rect">
              <a:avLst/>
            </a:prstGeom>
            <a:noFill/>
          </p:spPr>
          <p:txBody>
            <a:bodyPr wrap="square" rtlCol="0">
              <a:spAutoFit/>
            </a:bodyPr>
            <a:lstStyle/>
            <a:p>
              <a:pPr algn="ctr"/>
              <a:r>
                <a:rPr lang="zh-CN" altLang="en-US" sz="2800" b="1" dirty="0">
                  <a:solidFill>
                    <a:schemeClr val="accent1"/>
                  </a:solidFill>
                  <a:latin typeface="+mj-ea"/>
                  <a:ea typeface="+mj-ea"/>
                </a:rPr>
                <a:t>基于强化学习的移动机器人无人机自主导航和避障</a:t>
              </a:r>
            </a:p>
          </p:txBody>
        </p:sp>
      </p:grpSp>
      <p:pic>
        <p:nvPicPr>
          <p:cNvPr id="2" name="屏幕录制 2026-01-19 125153">
            <a:hlinkClick r:id="" action="ppaction://media"/>
          </p:cNvPr>
          <p:cNvPicPr/>
          <p:nvPr>
            <a:videoFile r:link="rId2"/>
            <p:extLst>
              <p:ext uri="{DAA4B4D4-6D71-4841-9C94-3DE7FCFB9230}">
                <p14:media xmlns:p14="http://schemas.microsoft.com/office/powerpoint/2010/main" r:embed="rId1"/>
              </p:ext>
            </p:extLst>
          </p:nvPr>
        </p:nvPicPr>
        <p:blipFill>
          <a:blip r:embed="rId5"/>
          <a:stretch>
            <a:fillRect/>
          </a:stretch>
        </p:blipFill>
        <p:spPr>
          <a:xfrm>
            <a:off x="2543810" y="1094740"/>
            <a:ext cx="7104380" cy="42068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p:cTn id="9" fill="hold" display="1">
                  <p:stCondLst>
                    <p:cond delay="indefinite"/>
                  </p:stCondLst>
                </p:cTn>
                <p:tgtEl>
                  <p:spTgt spid="2"/>
                </p:tgtEl>
              </p:cMediaNode>
            </p:video>
            <p:seq concurrent="1" nextAc="seek">
              <p:cTn id="10" restart="whenNotActive" fill="hold" evtFilter="cancelBubble" nodeType="interactiveSeq">
                <p:stCondLst>
                  <p:cond evt="onClick" delay="0">
                    <p:tgtEl>
                      <p:spTgt spid="2"/>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clickEffect">
                                  <p:stCondLst>
                                    <p:cond delay="0"/>
                                  </p:stCondLst>
                                  <p:childTnLst>
                                    <p:cmd type="call" cmd="togglePause">
                                      <p:cBhvr additive="base">
                                        <p:cTn id="14" dur="1" fill="hold"/>
                                        <p:tgtEl>
                                          <p:spTgt spid="2"/>
                                        </p:tgtEl>
                                      </p:cBhvr>
                                    </p:cmd>
                                  </p:childTnLst>
                                </p:cTn>
                              </p:par>
                            </p:childTnLst>
                          </p:cTn>
                        </p:par>
                      </p:childTnLst>
                    </p:cTn>
                  </p:par>
                </p:childTnLst>
              </p:cTn>
              <p:nextCondLst>
                <p:cond evt="onClick" delay="0">
                  <p:tgtEl>
                    <p:spTgt spid="2"/>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a:extLst>
              <a:ext uri="{FF2B5EF4-FFF2-40B4-BE49-F238E27FC236}">
                <a16:creationId xmlns:a16="http://schemas.microsoft.com/office/drawing/2014/main" id="{C76787C2-F485-BD0C-F19E-57D0F40E9D1E}"/>
              </a:ext>
            </a:extLst>
          </p:cNvPr>
          <p:cNvGrpSpPr/>
          <p:nvPr/>
        </p:nvGrpSpPr>
        <p:grpSpPr>
          <a:xfrm>
            <a:off x="8102599" y="1096054"/>
            <a:ext cx="3483523" cy="5429874"/>
            <a:chOff x="8102599" y="1096054"/>
            <a:chExt cx="3483523" cy="5429874"/>
          </a:xfrm>
        </p:grpSpPr>
        <p:sp>
          <p:nvSpPr>
            <p:cNvPr id="19" name="矩形 18">
              <a:extLst>
                <a:ext uri="{FF2B5EF4-FFF2-40B4-BE49-F238E27FC236}">
                  <a16:creationId xmlns:a16="http://schemas.microsoft.com/office/drawing/2014/main" id="{15B4D974-3ED1-6919-F82F-CE5107698229}"/>
                </a:ext>
              </a:extLst>
            </p:cNvPr>
            <p:cNvSpPr/>
            <p:nvPr/>
          </p:nvSpPr>
          <p:spPr>
            <a:xfrm>
              <a:off x="8102599" y="1705324"/>
              <a:ext cx="3483523" cy="4820604"/>
            </a:xfrm>
            <a:prstGeom prst="rect">
              <a:avLst/>
            </a:prstGeom>
            <a:gradFill>
              <a:gsLst>
                <a:gs pos="100000">
                  <a:schemeClr val="bg1">
                    <a:alpha val="0"/>
                  </a:schemeClr>
                </a:gs>
                <a:gs pos="0">
                  <a:schemeClr val="accent3">
                    <a:lumMod val="20000"/>
                    <a:lumOff val="80000"/>
                  </a:schemeClr>
                </a:gs>
              </a:gsLst>
              <a:lin ang="5400000" scaled="1"/>
            </a:gradFill>
            <a:ln>
              <a:gradFill>
                <a:gsLst>
                  <a:gs pos="0">
                    <a:schemeClr val="accent1"/>
                  </a:gs>
                  <a:gs pos="100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20" name="文本框 19">
              <a:extLst>
                <a:ext uri="{FF2B5EF4-FFF2-40B4-BE49-F238E27FC236}">
                  <a16:creationId xmlns:a16="http://schemas.microsoft.com/office/drawing/2014/main" id="{34B59736-40AA-1FBE-01F0-CC977D957FBD}"/>
                </a:ext>
              </a:extLst>
            </p:cNvPr>
            <p:cNvSpPr txBox="1"/>
            <p:nvPr/>
          </p:nvSpPr>
          <p:spPr>
            <a:xfrm>
              <a:off x="8339328" y="2437652"/>
              <a:ext cx="3010064" cy="940514"/>
            </a:xfrm>
            <a:prstGeom prst="rect">
              <a:avLst/>
            </a:prstGeom>
            <a:noFill/>
          </p:spPr>
          <p:txBody>
            <a:bodyPr wrap="square" rtlCol="0">
              <a:spAutoFit/>
            </a:bodyPr>
            <a:lstStyle/>
            <a:p>
              <a:pPr marL="342900" indent="-342900" algn="just">
                <a:lnSpc>
                  <a:spcPct val="120000"/>
                </a:lnSpc>
                <a:buFont typeface="Wingdings" panose="05000000000000000000" pitchFamily="2" charset="2"/>
                <a:buChar char="Ø"/>
              </a:pPr>
              <a:r>
                <a:rPr lang="zh-CN" altLang="en-US" sz="2400" b="1" dirty="0">
                  <a:solidFill>
                    <a:schemeClr val="accent1"/>
                  </a:solidFill>
                </a:rPr>
                <a:t>培塑</a:t>
              </a:r>
              <a:r>
                <a:rPr lang="zh-CN" altLang="en-US" sz="2400" dirty="0"/>
                <a:t>“</a:t>
              </a:r>
              <a:r>
                <a:rPr lang="zh-CN" altLang="en-US" sz="2400" b="1" dirty="0">
                  <a:solidFill>
                    <a:srgbClr val="C00000"/>
                  </a:solidFill>
                </a:rPr>
                <a:t>求精、求准、求是</a:t>
              </a:r>
              <a:r>
                <a:rPr lang="zh-CN" altLang="en-US" sz="2400" dirty="0"/>
                <a:t>” 的精神</a:t>
              </a:r>
            </a:p>
          </p:txBody>
        </p:sp>
        <p:sp>
          <p:nvSpPr>
            <p:cNvPr id="21" name="椭圆 20">
              <a:extLst>
                <a:ext uri="{FF2B5EF4-FFF2-40B4-BE49-F238E27FC236}">
                  <a16:creationId xmlns:a16="http://schemas.microsoft.com/office/drawing/2014/main" id="{6F7F8EA1-26B7-0AF7-E392-8FAC19A7FD94}"/>
                </a:ext>
              </a:extLst>
            </p:cNvPr>
            <p:cNvSpPr/>
            <p:nvPr/>
          </p:nvSpPr>
          <p:spPr>
            <a:xfrm>
              <a:off x="9235089" y="1096054"/>
              <a:ext cx="1218542" cy="1218540"/>
            </a:xfrm>
            <a:prstGeom prst="ellipse">
              <a:avLst/>
            </a:prstGeom>
            <a:gradFill flip="none" rotWithShape="1">
              <a:gsLst>
                <a:gs pos="45000">
                  <a:schemeClr val="accent2"/>
                </a:gs>
                <a:gs pos="100000">
                  <a:schemeClr val="accent1"/>
                </a:gs>
              </a:gsLst>
              <a:lin ang="2700000" scaled="1"/>
              <a:tileRect/>
            </a:gradFill>
            <a:ln w="63500">
              <a:solidFill>
                <a:schemeClr val="accent1">
                  <a:lumMod val="20000"/>
                  <a:lumOff val="80000"/>
                </a:schemeClr>
              </a:solidFill>
            </a:ln>
            <a:effectLst/>
          </p:spPr>
          <p:txBody>
            <a:bodyPr vert="horz" wrap="square" lIns="36000" tIns="180000" rIns="36000" bIns="180000" numCol="1" anchor="ctr" anchorCtr="0" compatLnSpc="1"/>
            <a:lstStyle/>
            <a:p>
              <a:pPr algn="ctr" defTabSz="685783"/>
              <a:r>
                <a:rPr lang="zh-CN" altLang="en-US" sz="2600" b="1" kern="0" dirty="0">
                  <a:solidFill>
                    <a:prstClr val="white"/>
                  </a:solidFill>
                  <a:latin typeface="+mj-ea"/>
                  <a:ea typeface="+mj-ea"/>
                </a:rPr>
                <a:t>价 值</a:t>
              </a:r>
            </a:p>
          </p:txBody>
        </p:sp>
        <p:pic>
          <p:nvPicPr>
            <p:cNvPr id="22" name="图片 21">
              <a:extLst>
                <a:ext uri="{FF2B5EF4-FFF2-40B4-BE49-F238E27FC236}">
                  <a16:creationId xmlns:a16="http://schemas.microsoft.com/office/drawing/2014/main" id="{6EB3B7BD-529F-0F06-5A6A-0C701A028628}"/>
                </a:ext>
              </a:extLst>
            </p:cNvPr>
            <p:cNvPicPr>
              <a:picLocks noChangeAspect="1"/>
            </p:cNvPicPr>
            <p:nvPr/>
          </p:nvPicPr>
          <p:blipFill>
            <a:blip r:embed="rId3"/>
            <a:stretch>
              <a:fillRect/>
            </a:stretch>
          </p:blipFill>
          <p:spPr>
            <a:xfrm>
              <a:off x="8313611" y="4269415"/>
              <a:ext cx="3035781" cy="2015567"/>
            </a:xfrm>
            <a:prstGeom prst="rect">
              <a:avLst/>
            </a:prstGeom>
            <a:effectLst>
              <a:reflection blurRad="12700" stA="47000" endPos="19000" dir="5400000" sy="-100000" algn="bl" rotWithShape="0"/>
            </a:effectLst>
          </p:spPr>
        </p:pic>
      </p:grpSp>
      <p:grpSp>
        <p:nvGrpSpPr>
          <p:cNvPr id="10" name="组合 9">
            <a:extLst>
              <a:ext uri="{FF2B5EF4-FFF2-40B4-BE49-F238E27FC236}">
                <a16:creationId xmlns:a16="http://schemas.microsoft.com/office/drawing/2014/main" id="{3E7AAA55-21AB-66BB-395F-15D5894CE34E}"/>
              </a:ext>
            </a:extLst>
          </p:cNvPr>
          <p:cNvGrpSpPr/>
          <p:nvPr/>
        </p:nvGrpSpPr>
        <p:grpSpPr>
          <a:xfrm>
            <a:off x="605877" y="1093563"/>
            <a:ext cx="3483523" cy="5429874"/>
            <a:chOff x="605877" y="1093563"/>
            <a:chExt cx="3483523" cy="5429874"/>
          </a:xfrm>
        </p:grpSpPr>
        <p:grpSp>
          <p:nvGrpSpPr>
            <p:cNvPr id="28" name="组合 27">
              <a:extLst>
                <a:ext uri="{FF2B5EF4-FFF2-40B4-BE49-F238E27FC236}">
                  <a16:creationId xmlns:a16="http://schemas.microsoft.com/office/drawing/2014/main" id="{4F736B78-B85E-1FAA-8604-0D245A81E26B}"/>
                </a:ext>
              </a:extLst>
            </p:cNvPr>
            <p:cNvGrpSpPr/>
            <p:nvPr/>
          </p:nvGrpSpPr>
          <p:grpSpPr>
            <a:xfrm>
              <a:off x="605877" y="1093563"/>
              <a:ext cx="3483523" cy="5429874"/>
              <a:chOff x="605877" y="1093563"/>
              <a:chExt cx="3483523" cy="5429874"/>
            </a:xfrm>
          </p:grpSpPr>
          <p:sp>
            <p:nvSpPr>
              <p:cNvPr id="3" name="矩形 2">
                <a:extLst>
                  <a:ext uri="{FF2B5EF4-FFF2-40B4-BE49-F238E27FC236}">
                    <a16:creationId xmlns:a16="http://schemas.microsoft.com/office/drawing/2014/main" id="{432108B9-696E-8D5C-91F1-80756EBA86C4}"/>
                  </a:ext>
                </a:extLst>
              </p:cNvPr>
              <p:cNvSpPr/>
              <p:nvPr/>
            </p:nvSpPr>
            <p:spPr>
              <a:xfrm>
                <a:off x="605877" y="1702833"/>
                <a:ext cx="3483523" cy="4820604"/>
              </a:xfrm>
              <a:prstGeom prst="rect">
                <a:avLst/>
              </a:prstGeom>
              <a:gradFill>
                <a:gsLst>
                  <a:gs pos="100000">
                    <a:schemeClr val="bg1">
                      <a:alpha val="0"/>
                    </a:schemeClr>
                  </a:gs>
                  <a:gs pos="0">
                    <a:schemeClr val="accent3">
                      <a:lumMod val="20000"/>
                      <a:lumOff val="80000"/>
                    </a:schemeClr>
                  </a:gs>
                </a:gsLst>
                <a:lin ang="5400000" scaled="1"/>
              </a:gradFill>
              <a:ln>
                <a:gradFill>
                  <a:gsLst>
                    <a:gs pos="0">
                      <a:schemeClr val="accent1"/>
                    </a:gs>
                    <a:gs pos="100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4" name="文本框 3">
                <a:extLst>
                  <a:ext uri="{FF2B5EF4-FFF2-40B4-BE49-F238E27FC236}">
                    <a16:creationId xmlns:a16="http://schemas.microsoft.com/office/drawing/2014/main" id="{544B4AF3-6A30-D46E-546F-8718F3B9243A}"/>
                  </a:ext>
                </a:extLst>
              </p:cNvPr>
              <p:cNvSpPr txBox="1"/>
              <p:nvPr/>
            </p:nvSpPr>
            <p:spPr>
              <a:xfrm>
                <a:off x="803591" y="2435161"/>
                <a:ext cx="3088096" cy="937949"/>
              </a:xfrm>
              <a:prstGeom prst="rect">
                <a:avLst/>
              </a:prstGeom>
              <a:noFill/>
            </p:spPr>
            <p:txBody>
              <a:bodyPr wrap="square" rtlCol="0">
                <a:spAutoFit/>
              </a:bodyPr>
              <a:lstStyle/>
              <a:p>
                <a:pPr marL="342900" indent="-342900" algn="just">
                  <a:lnSpc>
                    <a:spcPct val="120000"/>
                  </a:lnSpc>
                  <a:buFont typeface="Wingdings" panose="05000000000000000000" pitchFamily="2" charset="2"/>
                  <a:buChar char="Ø"/>
                </a:pPr>
                <a:r>
                  <a:rPr lang="zh-CN" altLang="en-US" sz="2400" dirty="0"/>
                  <a:t>能够</a:t>
                </a:r>
                <a:r>
                  <a:rPr lang="zh-CN" altLang="en-US" sz="2400" b="1" dirty="0">
                    <a:solidFill>
                      <a:schemeClr val="accent1"/>
                    </a:solidFill>
                  </a:rPr>
                  <a:t>了解</a:t>
                </a:r>
                <a:r>
                  <a:rPr lang="zh-CN" altLang="en-US" sz="2400" b="1" dirty="0">
                    <a:solidFill>
                      <a:srgbClr val="C00000"/>
                    </a:solidFill>
                  </a:rPr>
                  <a:t>学习算法</a:t>
                </a:r>
                <a:r>
                  <a:rPr lang="zh-CN" altLang="en-US" sz="2400" dirty="0"/>
                  <a:t>构成及发展史</a:t>
                </a:r>
              </a:p>
            </p:txBody>
          </p:sp>
          <p:sp>
            <p:nvSpPr>
              <p:cNvPr id="6" name="椭圆 5">
                <a:extLst>
                  <a:ext uri="{FF2B5EF4-FFF2-40B4-BE49-F238E27FC236}">
                    <a16:creationId xmlns:a16="http://schemas.microsoft.com/office/drawing/2014/main" id="{B629D363-05C6-F5C9-AEDD-59E85B4A9662}"/>
                  </a:ext>
                </a:extLst>
              </p:cNvPr>
              <p:cNvSpPr/>
              <p:nvPr/>
            </p:nvSpPr>
            <p:spPr>
              <a:xfrm>
                <a:off x="1738367" y="1093563"/>
                <a:ext cx="1218542" cy="1218540"/>
              </a:xfrm>
              <a:prstGeom prst="ellipse">
                <a:avLst/>
              </a:prstGeom>
              <a:gradFill flip="none" rotWithShape="1">
                <a:gsLst>
                  <a:gs pos="45000">
                    <a:schemeClr val="accent2"/>
                  </a:gs>
                  <a:gs pos="100000">
                    <a:schemeClr val="accent1"/>
                  </a:gs>
                </a:gsLst>
                <a:lin ang="2700000" scaled="1"/>
                <a:tileRect/>
              </a:gradFill>
              <a:ln w="63500">
                <a:solidFill>
                  <a:schemeClr val="accent1">
                    <a:lumMod val="20000"/>
                    <a:lumOff val="80000"/>
                  </a:schemeClr>
                </a:solidFill>
              </a:ln>
              <a:effectLst/>
            </p:spPr>
            <p:txBody>
              <a:bodyPr vert="horz" wrap="square" lIns="36000" tIns="180000" rIns="36000" bIns="180000" numCol="1" anchor="ctr" anchorCtr="0" compatLnSpc="1"/>
              <a:lstStyle/>
              <a:p>
                <a:pPr algn="ctr" defTabSz="685783"/>
                <a:r>
                  <a:rPr lang="zh-CN" altLang="en-US" sz="2600" b="1" kern="0" dirty="0">
                    <a:solidFill>
                      <a:prstClr val="white"/>
                    </a:solidFill>
                    <a:latin typeface="+mj-ea"/>
                    <a:ea typeface="+mj-ea"/>
                  </a:rPr>
                  <a:t>知 识</a:t>
                </a:r>
              </a:p>
            </p:txBody>
          </p:sp>
        </p:grpSp>
        <p:grpSp>
          <p:nvGrpSpPr>
            <p:cNvPr id="2" name="组合 1">
              <a:extLst>
                <a:ext uri="{FF2B5EF4-FFF2-40B4-BE49-F238E27FC236}">
                  <a16:creationId xmlns:a16="http://schemas.microsoft.com/office/drawing/2014/main" id="{79286E8A-7CE8-1C31-D142-C094F9CE6F05}"/>
                </a:ext>
              </a:extLst>
            </p:cNvPr>
            <p:cNvGrpSpPr/>
            <p:nvPr/>
          </p:nvGrpSpPr>
          <p:grpSpPr>
            <a:xfrm>
              <a:off x="1269642" y="4022443"/>
              <a:ext cx="2394942" cy="1884896"/>
              <a:chOff x="1269642" y="4022443"/>
              <a:chExt cx="2394942" cy="1884896"/>
            </a:xfrm>
          </p:grpSpPr>
          <p:pic>
            <p:nvPicPr>
              <p:cNvPr id="2054" name="Picture 6">
                <a:extLst>
                  <a:ext uri="{FF2B5EF4-FFF2-40B4-BE49-F238E27FC236}">
                    <a16:creationId xmlns:a16="http://schemas.microsoft.com/office/drawing/2014/main" id="{F5853B54-934E-F553-5AF2-F5CE91390BC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000" t="5680" r="12018" b="8079"/>
              <a:stretch>
                <a:fillRect/>
              </a:stretch>
            </p:blipFill>
            <p:spPr bwMode="auto">
              <a:xfrm>
                <a:off x="1269642" y="4022443"/>
                <a:ext cx="1545528" cy="185166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07F8852-27D2-3CA1-CBD3-BE680F8B093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9825" t="23334" r="18837" b="8777"/>
              <a:stretch>
                <a:fillRect/>
              </a:stretch>
            </p:blipFill>
            <p:spPr bwMode="auto">
              <a:xfrm>
                <a:off x="2249234" y="4022443"/>
                <a:ext cx="1415350" cy="1884896"/>
              </a:xfrm>
              <a:prstGeom prst="rect">
                <a:avLst/>
              </a:prstGeom>
              <a:noFill/>
              <a:scene3d>
                <a:camera prst="orthographicFront">
                  <a:rot lat="0" lon="600000" rev="0"/>
                </a:camera>
                <a:lightRig rig="threePt" dir="t"/>
              </a:scene3d>
              <a:extLst>
                <a:ext uri="{909E8E84-426E-40DD-AFC4-6F175D3DCCD1}">
                  <a14:hiddenFill xmlns:a14="http://schemas.microsoft.com/office/drawing/2010/main">
                    <a:solidFill>
                      <a:srgbClr val="FFFFFF"/>
                    </a:solidFill>
                  </a14:hiddenFill>
                </a:ext>
              </a:extLst>
            </p:spPr>
          </p:pic>
        </p:grpSp>
      </p:grpSp>
      <p:grpSp>
        <p:nvGrpSpPr>
          <p:cNvPr id="9" name="组合 8">
            <a:extLst>
              <a:ext uri="{FF2B5EF4-FFF2-40B4-BE49-F238E27FC236}">
                <a16:creationId xmlns:a16="http://schemas.microsoft.com/office/drawing/2014/main" id="{9D1A710F-A88E-9F0A-B741-A616B1960715}"/>
              </a:ext>
            </a:extLst>
          </p:cNvPr>
          <p:cNvGrpSpPr/>
          <p:nvPr/>
        </p:nvGrpSpPr>
        <p:grpSpPr>
          <a:xfrm>
            <a:off x="4354238" y="1093563"/>
            <a:ext cx="3483523" cy="5429874"/>
            <a:chOff x="4354238" y="1093563"/>
            <a:chExt cx="3483523" cy="5429874"/>
          </a:xfrm>
        </p:grpSpPr>
        <p:grpSp>
          <p:nvGrpSpPr>
            <p:cNvPr id="29" name="组合 28">
              <a:extLst>
                <a:ext uri="{FF2B5EF4-FFF2-40B4-BE49-F238E27FC236}">
                  <a16:creationId xmlns:a16="http://schemas.microsoft.com/office/drawing/2014/main" id="{F6BF0941-90A9-CF9E-8C4E-2EA9FE7CDD06}"/>
                </a:ext>
              </a:extLst>
            </p:cNvPr>
            <p:cNvGrpSpPr/>
            <p:nvPr/>
          </p:nvGrpSpPr>
          <p:grpSpPr>
            <a:xfrm>
              <a:off x="4354238" y="1093563"/>
              <a:ext cx="3483523" cy="5429874"/>
              <a:chOff x="4354238" y="1093563"/>
              <a:chExt cx="3483523" cy="5429874"/>
            </a:xfrm>
          </p:grpSpPr>
          <p:sp>
            <p:nvSpPr>
              <p:cNvPr id="15" name="矩形 14">
                <a:extLst>
                  <a:ext uri="{FF2B5EF4-FFF2-40B4-BE49-F238E27FC236}">
                    <a16:creationId xmlns:a16="http://schemas.microsoft.com/office/drawing/2014/main" id="{09C47E49-A48D-FDF5-E36E-A117DA1B84F8}"/>
                  </a:ext>
                </a:extLst>
              </p:cNvPr>
              <p:cNvSpPr/>
              <p:nvPr/>
            </p:nvSpPr>
            <p:spPr>
              <a:xfrm>
                <a:off x="4354238" y="1702833"/>
                <a:ext cx="3483523" cy="4820604"/>
              </a:xfrm>
              <a:prstGeom prst="rect">
                <a:avLst/>
              </a:prstGeom>
              <a:gradFill>
                <a:gsLst>
                  <a:gs pos="100000">
                    <a:schemeClr val="bg1">
                      <a:alpha val="0"/>
                    </a:schemeClr>
                  </a:gs>
                  <a:gs pos="0">
                    <a:schemeClr val="accent3">
                      <a:lumMod val="20000"/>
                      <a:lumOff val="80000"/>
                    </a:schemeClr>
                  </a:gs>
                </a:gsLst>
                <a:lin ang="5400000" scaled="1"/>
              </a:gradFill>
              <a:ln>
                <a:gradFill>
                  <a:gsLst>
                    <a:gs pos="0">
                      <a:schemeClr val="accent1"/>
                    </a:gs>
                    <a:gs pos="100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6" name="文本框 15">
                <a:extLst>
                  <a:ext uri="{FF2B5EF4-FFF2-40B4-BE49-F238E27FC236}">
                    <a16:creationId xmlns:a16="http://schemas.microsoft.com/office/drawing/2014/main" id="{6A1691D1-B779-8502-8EEB-357CE5C1D266}"/>
                  </a:ext>
                </a:extLst>
              </p:cNvPr>
              <p:cNvSpPr txBox="1"/>
              <p:nvPr/>
            </p:nvSpPr>
            <p:spPr>
              <a:xfrm>
                <a:off x="4586631" y="2435161"/>
                <a:ext cx="3018738" cy="940514"/>
              </a:xfrm>
              <a:prstGeom prst="rect">
                <a:avLst/>
              </a:prstGeom>
              <a:noFill/>
            </p:spPr>
            <p:txBody>
              <a:bodyPr wrap="square" rtlCol="0">
                <a:spAutoFit/>
              </a:bodyPr>
              <a:lstStyle/>
              <a:p>
                <a:pPr marL="342900" indent="-342900" algn="just">
                  <a:lnSpc>
                    <a:spcPct val="120000"/>
                  </a:lnSpc>
                  <a:buFont typeface="Wingdings" panose="05000000000000000000" pitchFamily="2" charset="2"/>
                  <a:buChar char="Ø"/>
                </a:pPr>
                <a:r>
                  <a:rPr lang="zh-CN" altLang="en-US" sz="2400" dirty="0"/>
                  <a:t>能够</a:t>
                </a:r>
                <a:r>
                  <a:rPr lang="zh-CN" altLang="en-US" sz="2400" b="1" dirty="0">
                    <a:solidFill>
                      <a:schemeClr val="accent1"/>
                    </a:solidFill>
                  </a:rPr>
                  <a:t>分辨</a:t>
                </a:r>
                <a:r>
                  <a:rPr lang="zh-CN" altLang="en-US" sz="2400" b="1" dirty="0">
                    <a:solidFill>
                      <a:srgbClr val="C00000"/>
                    </a:solidFill>
                  </a:rPr>
                  <a:t>典型学习算法</a:t>
                </a:r>
                <a:r>
                  <a:rPr lang="zh-CN" altLang="en-US" sz="2400" dirty="0"/>
                  <a:t>之间差异</a:t>
                </a:r>
              </a:p>
            </p:txBody>
          </p:sp>
          <p:sp>
            <p:nvSpPr>
              <p:cNvPr id="17" name="椭圆 16">
                <a:extLst>
                  <a:ext uri="{FF2B5EF4-FFF2-40B4-BE49-F238E27FC236}">
                    <a16:creationId xmlns:a16="http://schemas.microsoft.com/office/drawing/2014/main" id="{3CA357F4-CCA6-80B5-F916-201921E7E32F}"/>
                  </a:ext>
                </a:extLst>
              </p:cNvPr>
              <p:cNvSpPr/>
              <p:nvPr/>
            </p:nvSpPr>
            <p:spPr>
              <a:xfrm>
                <a:off x="5486728" y="1093563"/>
                <a:ext cx="1218542" cy="1218540"/>
              </a:xfrm>
              <a:prstGeom prst="ellipse">
                <a:avLst/>
              </a:prstGeom>
              <a:gradFill flip="none" rotWithShape="1">
                <a:gsLst>
                  <a:gs pos="45000">
                    <a:schemeClr val="accent2"/>
                  </a:gs>
                  <a:gs pos="100000">
                    <a:schemeClr val="accent1"/>
                  </a:gs>
                </a:gsLst>
                <a:lin ang="2700000" scaled="1"/>
                <a:tileRect/>
              </a:gradFill>
              <a:ln w="63500">
                <a:solidFill>
                  <a:schemeClr val="accent1">
                    <a:lumMod val="20000"/>
                    <a:lumOff val="80000"/>
                  </a:schemeClr>
                </a:solidFill>
              </a:ln>
              <a:effectLst/>
            </p:spPr>
            <p:txBody>
              <a:bodyPr vert="horz" wrap="square" lIns="36000" tIns="180000" rIns="36000" bIns="180000" numCol="1" anchor="ctr" anchorCtr="0" compatLnSpc="1"/>
              <a:lstStyle/>
              <a:p>
                <a:pPr algn="ctr" defTabSz="685783"/>
                <a:r>
                  <a:rPr lang="zh-CN" altLang="en-US" sz="2600" b="1" kern="0" dirty="0">
                    <a:solidFill>
                      <a:prstClr val="white"/>
                    </a:solidFill>
                    <a:latin typeface="+mj-ea"/>
                    <a:ea typeface="+mj-ea"/>
                  </a:rPr>
                  <a:t>能 力</a:t>
                </a:r>
              </a:p>
            </p:txBody>
          </p:sp>
        </p:grpSp>
        <p:grpSp>
          <p:nvGrpSpPr>
            <p:cNvPr id="5" name="组合 4">
              <a:extLst>
                <a:ext uri="{FF2B5EF4-FFF2-40B4-BE49-F238E27FC236}">
                  <a16:creationId xmlns:a16="http://schemas.microsoft.com/office/drawing/2014/main" id="{08E92CD9-14CC-822F-23A3-B388E6EFC14C}"/>
                </a:ext>
              </a:extLst>
            </p:cNvPr>
            <p:cNvGrpSpPr/>
            <p:nvPr/>
          </p:nvGrpSpPr>
          <p:grpSpPr>
            <a:xfrm>
              <a:off x="4669898" y="3714750"/>
              <a:ext cx="2852204" cy="2553825"/>
              <a:chOff x="3190432" y="1132764"/>
              <a:chExt cx="5676172" cy="4401771"/>
            </a:xfrm>
          </p:grpSpPr>
          <p:pic>
            <p:nvPicPr>
              <p:cNvPr id="7" name="Picture 4">
                <a:extLst>
                  <a:ext uri="{FF2B5EF4-FFF2-40B4-BE49-F238E27FC236}">
                    <a16:creationId xmlns:a16="http://schemas.microsoft.com/office/drawing/2014/main" id="{31247B77-AD66-AEF4-D02C-FBBAECC009F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6064" y="3787097"/>
                <a:ext cx="2624907" cy="174743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B291C5AA-8B39-B812-87B9-BD414F56DE7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90432" y="1132764"/>
                <a:ext cx="5676172" cy="3043451"/>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29902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anim calcmode="lin" valueType="num">
                                      <p:cBhvr>
                                        <p:cTn id="14" dur="500" fill="hold"/>
                                        <p:tgtEl>
                                          <p:spTgt spid="9"/>
                                        </p:tgtEl>
                                        <p:attrNameLst>
                                          <p:attrName>ppt_x</p:attrName>
                                        </p:attrNameLst>
                                      </p:cBhvr>
                                      <p:tavLst>
                                        <p:tav tm="0">
                                          <p:val>
                                            <p:strVal val="#ppt_x"/>
                                          </p:val>
                                        </p:tav>
                                        <p:tav tm="100000">
                                          <p:val>
                                            <p:strVal val="#ppt_x"/>
                                          </p:val>
                                        </p:tav>
                                      </p:tavLst>
                                    </p:anim>
                                    <p:anim calcmode="lin" valueType="num">
                                      <p:cBhvr>
                                        <p:cTn id="15" dur="50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anim calcmode="lin" valueType="num">
                                      <p:cBhvr>
                                        <p:cTn id="20" dur="500" fill="hold"/>
                                        <p:tgtEl>
                                          <p:spTgt spid="30"/>
                                        </p:tgtEl>
                                        <p:attrNameLst>
                                          <p:attrName>ppt_x</p:attrName>
                                        </p:attrNameLst>
                                      </p:cBhvr>
                                      <p:tavLst>
                                        <p:tav tm="0">
                                          <p:val>
                                            <p:strVal val="#ppt_x"/>
                                          </p:val>
                                        </p:tav>
                                        <p:tav tm="100000">
                                          <p:val>
                                            <p:strVal val="#ppt_x"/>
                                          </p:val>
                                        </p:tav>
                                      </p:tavLst>
                                    </p:anim>
                                    <p:anim calcmode="lin" valueType="num">
                                      <p:cBhvr>
                                        <p:cTn id="21"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939798"/>
            <a:ext cx="5022850" cy="625474"/>
            <a:chOff x="0" y="1075267"/>
            <a:chExt cx="5022850"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4089400" cy="460375"/>
            </a:xfrm>
            <a:prstGeom prst="rect">
              <a:avLst/>
            </a:prstGeom>
            <a:noFill/>
          </p:spPr>
          <p:txBody>
            <a:bodyPr wrap="square">
              <a:spAutoFit/>
            </a:bodyPr>
            <a:lstStyle/>
            <a:p>
              <a:r>
                <a:rPr lang="en-US" altLang="zh-CN" sz="2400" b="1" dirty="0">
                  <a:solidFill>
                    <a:schemeClr val="accent1"/>
                  </a:solidFill>
                  <a:latin typeface="+mj-lt"/>
                </a:rPr>
                <a:t>5.1.1</a:t>
              </a:r>
              <a:r>
                <a:rPr lang="zh-CN" altLang="en-US" sz="2400" b="1" dirty="0">
                  <a:solidFill>
                    <a:schemeClr val="accent1"/>
                  </a:solidFill>
                  <a:latin typeface="+mj-lt"/>
                </a:rPr>
                <a:t>机器人学习算法概述</a:t>
              </a:r>
            </a:p>
          </p:txBody>
        </p:sp>
      </p:grpSp>
      <p:grpSp>
        <p:nvGrpSpPr>
          <p:cNvPr id="18" name="组合 17"/>
          <p:cNvGrpSpPr/>
          <p:nvPr/>
        </p:nvGrpSpPr>
        <p:grpSpPr>
          <a:xfrm>
            <a:off x="4505960" y="1449705"/>
            <a:ext cx="2787650" cy="585470"/>
            <a:chOff x="7096" y="2947"/>
            <a:chExt cx="4390" cy="922"/>
          </a:xfrm>
        </p:grpSpPr>
        <p:sp>
          <p:nvSpPr>
            <p:cNvPr id="7" name="矩形 6"/>
            <p:cNvSpPr/>
            <p:nvPr/>
          </p:nvSpPr>
          <p:spPr>
            <a:xfrm>
              <a:off x="7096" y="2947"/>
              <a:ext cx="4391" cy="9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Google Shape;102;p14"/>
            <p:cNvSpPr txBox="1"/>
            <p:nvPr/>
          </p:nvSpPr>
          <p:spPr>
            <a:xfrm>
              <a:off x="7222" y="3205"/>
              <a:ext cx="4131" cy="4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chemeClr val="bg1"/>
                  </a:solidFill>
                  <a:latin typeface="Urbanist" panose="020B0A04040200000203"/>
                  <a:ea typeface="Urbanist" panose="020B0A04040200000203"/>
                  <a:cs typeface="Urbanist" panose="020B0A04040200000203"/>
                  <a:sym typeface="Urbanist" panose="020B0A04040200000203"/>
                </a:rPr>
                <a:t>机器人学习算法演变史</a:t>
              </a:r>
            </a:p>
          </p:txBody>
        </p:sp>
      </p:grpSp>
      <p:sp>
        <p:nvSpPr>
          <p:cNvPr id="103" name="Google Shape;103;p14"/>
          <p:cNvSpPr txBox="1"/>
          <p:nvPr/>
        </p:nvSpPr>
        <p:spPr>
          <a:xfrm>
            <a:off x="271145" y="6341338"/>
            <a:ext cx="10668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chemeClr val="tx1"/>
                </a:solidFill>
                <a:latin typeface="Urbanist" panose="020B0A04040200000203"/>
                <a:ea typeface="Urbanist" panose="020B0A04040200000203"/>
                <a:cs typeface="Urbanist" panose="020B0A04040200000203"/>
                <a:sym typeface="Urbanist" panose="020B0A04040200000203"/>
              </a:rPr>
              <a:t>“从无需显式编程的自学，到模拟人类感知的深度神经网络，算法实现了跨代跃迁。”</a:t>
            </a:r>
          </a:p>
        </p:txBody>
      </p:sp>
      <p:sp>
        <p:nvSpPr>
          <p:cNvPr id="6" name="Google Shape;93;p14"/>
          <p:cNvSpPr/>
          <p:nvPr>
            <p:custDataLst>
              <p:tags r:id="rId1"/>
            </p:custDataLst>
          </p:nvPr>
        </p:nvSpPr>
        <p:spPr>
          <a:xfrm>
            <a:off x="566420" y="2285365"/>
            <a:ext cx="10668000" cy="3619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tx1"/>
              </a:solidFill>
              <a:highlight>
                <a:srgbClr val="00FF00"/>
              </a:highlight>
              <a:latin typeface="Calibri" panose="020F0502020204030204"/>
              <a:ea typeface="Calibri" panose="020F0502020204030204"/>
              <a:cs typeface="Calibri" panose="020F0502020204030204"/>
              <a:sym typeface="Calibri" panose="020F0502020204030204"/>
            </a:endParaRPr>
          </a:p>
        </p:txBody>
      </p:sp>
      <p:sp>
        <p:nvSpPr>
          <p:cNvPr id="94" name="Google Shape;94;p14"/>
          <p:cNvSpPr/>
          <p:nvPr>
            <p:custDataLst>
              <p:tags r:id="rId2"/>
            </p:custDataLst>
          </p:nvPr>
        </p:nvSpPr>
        <p:spPr>
          <a:xfrm>
            <a:off x="1682750" y="2237740"/>
            <a:ext cx="114300" cy="114300"/>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tx1"/>
              </a:solidFill>
              <a:highlight>
                <a:srgbClr val="00FF00"/>
              </a:highlight>
              <a:latin typeface="Calibri" panose="020F0502020204030204"/>
              <a:ea typeface="Calibri" panose="020F0502020204030204"/>
              <a:cs typeface="Calibri" panose="020F0502020204030204"/>
              <a:sym typeface="Calibri" panose="020F0502020204030204"/>
            </a:endParaRPr>
          </a:p>
        </p:txBody>
      </p:sp>
      <p:sp>
        <p:nvSpPr>
          <p:cNvPr id="96" name="Google Shape;96;p14"/>
          <p:cNvSpPr/>
          <p:nvPr>
            <p:custDataLst>
              <p:tags r:id="rId3"/>
            </p:custDataLst>
          </p:nvPr>
        </p:nvSpPr>
        <p:spPr>
          <a:xfrm>
            <a:off x="4456430" y="2237740"/>
            <a:ext cx="114300" cy="114300"/>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tx1"/>
              </a:solidFill>
              <a:highlight>
                <a:srgbClr val="00FF00"/>
              </a:highlight>
              <a:latin typeface="Calibri" panose="020F0502020204030204"/>
              <a:ea typeface="Calibri" panose="020F0502020204030204"/>
              <a:cs typeface="Calibri" panose="020F0502020204030204"/>
              <a:sym typeface="Calibri" panose="020F0502020204030204"/>
            </a:endParaRPr>
          </a:p>
        </p:txBody>
      </p:sp>
      <p:sp>
        <p:nvSpPr>
          <p:cNvPr id="98" name="Google Shape;98;p14"/>
          <p:cNvSpPr/>
          <p:nvPr>
            <p:custDataLst>
              <p:tags r:id="rId4"/>
            </p:custDataLst>
          </p:nvPr>
        </p:nvSpPr>
        <p:spPr>
          <a:xfrm>
            <a:off x="7230110" y="2237740"/>
            <a:ext cx="114300" cy="114300"/>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tx1"/>
              </a:solidFill>
              <a:highlight>
                <a:srgbClr val="00FF00"/>
              </a:highlight>
              <a:latin typeface="Calibri" panose="020F0502020204030204"/>
              <a:ea typeface="Calibri" panose="020F0502020204030204"/>
              <a:cs typeface="Calibri" panose="020F0502020204030204"/>
              <a:sym typeface="Calibri" panose="020F0502020204030204"/>
            </a:endParaRPr>
          </a:p>
        </p:txBody>
      </p:sp>
      <p:sp>
        <p:nvSpPr>
          <p:cNvPr id="100" name="Google Shape;100;p14"/>
          <p:cNvSpPr/>
          <p:nvPr>
            <p:custDataLst>
              <p:tags r:id="rId5"/>
            </p:custDataLst>
          </p:nvPr>
        </p:nvSpPr>
        <p:spPr>
          <a:xfrm>
            <a:off x="10003790" y="2237740"/>
            <a:ext cx="114300" cy="114300"/>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tx1"/>
              </a:solidFill>
              <a:highlight>
                <a:srgbClr val="00FF00"/>
              </a:highlight>
              <a:latin typeface="Calibri" panose="020F0502020204030204"/>
              <a:ea typeface="Calibri" panose="020F0502020204030204"/>
              <a:cs typeface="Calibri" panose="020F0502020204030204"/>
              <a:sym typeface="Calibri" panose="020F0502020204030204"/>
            </a:endParaRPr>
          </a:p>
        </p:txBody>
      </p:sp>
      <p:grpSp>
        <p:nvGrpSpPr>
          <p:cNvPr id="21" name="组合 20"/>
          <p:cNvGrpSpPr/>
          <p:nvPr/>
        </p:nvGrpSpPr>
        <p:grpSpPr>
          <a:xfrm>
            <a:off x="541655" y="2538095"/>
            <a:ext cx="2463800" cy="3660775"/>
            <a:chOff x="853" y="3997"/>
            <a:chExt cx="3880" cy="5765"/>
          </a:xfrm>
        </p:grpSpPr>
        <p:sp>
          <p:nvSpPr>
            <p:cNvPr id="95" name="Google Shape;95;p14"/>
            <p:cNvSpPr txBox="1"/>
            <p:nvPr>
              <p:custDataLst>
                <p:tags r:id="rId12"/>
              </p:custDataLst>
            </p:nvPr>
          </p:nvSpPr>
          <p:spPr>
            <a:xfrm>
              <a:off x="853" y="3997"/>
              <a:ext cx="3881" cy="36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chemeClr val="tx1"/>
                  </a:solidFill>
                  <a:latin typeface="微软雅黑" panose="020B0503020204020204" pitchFamily="34" charset="-122"/>
                  <a:ea typeface="微软雅黑" panose="020B0503020204020204" pitchFamily="34" charset="-122"/>
                  <a:cs typeface="Urbanist" panose="020B0A04040200000203"/>
                  <a:sym typeface="Urbanist" panose="020B0A04040200000203"/>
                </a:rPr>
                <a:t>1952-1959</a:t>
              </a:r>
            </a:p>
          </p:txBody>
        </p:sp>
        <p:sp>
          <p:nvSpPr>
            <p:cNvPr id="104" name="Google Shape;104;p14"/>
            <p:cNvSpPr txBox="1"/>
            <p:nvPr>
              <p:custDataLst>
                <p:tags r:id="rId13"/>
              </p:custDataLst>
            </p:nvPr>
          </p:nvSpPr>
          <p:spPr>
            <a:xfrm>
              <a:off x="945" y="4567"/>
              <a:ext cx="3696" cy="813"/>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05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Urbanist" panose="020B0A04040200000203"/>
                </a:rPr>
                <a:t>Arthur Samuel 定义“机器学习”，开发首个跳棋自学程序。</a:t>
              </a:r>
            </a:p>
          </p:txBody>
        </p:sp>
        <p:pic>
          <p:nvPicPr>
            <p:cNvPr id="9" name="图片 8"/>
            <p:cNvPicPr/>
            <p:nvPr/>
          </p:nvPicPr>
          <p:blipFill>
            <a:blip r:embed="rId16"/>
            <a:stretch>
              <a:fillRect/>
            </a:stretch>
          </p:blipFill>
          <p:spPr>
            <a:xfrm>
              <a:off x="1111" y="5590"/>
              <a:ext cx="3258" cy="4172"/>
            </a:xfrm>
            <a:prstGeom prst="rect">
              <a:avLst/>
            </a:prstGeom>
          </p:spPr>
        </p:pic>
      </p:grpSp>
      <p:grpSp>
        <p:nvGrpSpPr>
          <p:cNvPr id="25" name="组合 24"/>
          <p:cNvGrpSpPr/>
          <p:nvPr/>
        </p:nvGrpSpPr>
        <p:grpSpPr>
          <a:xfrm>
            <a:off x="3315335" y="2538095"/>
            <a:ext cx="2463800" cy="3769360"/>
            <a:chOff x="5221" y="3997"/>
            <a:chExt cx="3880" cy="5936"/>
          </a:xfrm>
        </p:grpSpPr>
        <p:sp>
          <p:nvSpPr>
            <p:cNvPr id="97" name="Google Shape;97;p14"/>
            <p:cNvSpPr txBox="1"/>
            <p:nvPr>
              <p:custDataLst>
                <p:tags r:id="rId10"/>
              </p:custDataLst>
            </p:nvPr>
          </p:nvSpPr>
          <p:spPr>
            <a:xfrm>
              <a:off x="5221" y="3997"/>
              <a:ext cx="3881" cy="36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chemeClr val="tx1"/>
                  </a:solidFill>
                  <a:latin typeface="微软雅黑" panose="020B0503020204020204" pitchFamily="34" charset="-122"/>
                  <a:ea typeface="微软雅黑" panose="020B0503020204020204" pitchFamily="34" charset="-122"/>
                  <a:cs typeface="Urbanist" panose="020B0A04040200000203"/>
                  <a:sym typeface="Urbanist" panose="020B0A04040200000203"/>
                </a:rPr>
                <a:t>1986</a:t>
              </a:r>
            </a:p>
          </p:txBody>
        </p:sp>
        <p:sp>
          <p:nvSpPr>
            <p:cNvPr id="105" name="Google Shape;105;p14"/>
            <p:cNvSpPr txBox="1"/>
            <p:nvPr>
              <p:custDataLst>
                <p:tags r:id="rId11"/>
              </p:custDataLst>
            </p:nvPr>
          </p:nvSpPr>
          <p:spPr>
            <a:xfrm>
              <a:off x="5313" y="4567"/>
              <a:ext cx="3696" cy="122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altLang="zh-CN" sz="105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Urbanist" panose="020B0A04040200000203"/>
                </a:rPr>
                <a:t>Rumelhart</a:t>
              </a:r>
              <a:r>
                <a:rPr lang="zh-CN" altLang="en-US" sz="105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Urbanist" panose="020B0A04040200000203"/>
                </a:rPr>
                <a:t>，</a:t>
              </a:r>
              <a:r>
                <a:rPr lang="en-US" altLang="zh-CN" sz="105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Urbanist" panose="020B0A04040200000203"/>
                </a:rPr>
                <a:t>Hinton </a:t>
              </a:r>
              <a:r>
                <a:rPr lang="zh-CN" altLang="en-US" sz="105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Urbanist" panose="020B0A04040200000203"/>
                </a:rPr>
                <a:t>和</a:t>
              </a:r>
              <a:r>
                <a:rPr lang="en-US" altLang="zh-CN" sz="105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Urbanist" panose="020B0A04040200000203"/>
                </a:rPr>
                <a:t> Williams</a:t>
              </a:r>
              <a:r>
                <a:rPr lang="zh-CN" altLang="en-US" sz="105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Urbanist" panose="020B0A04040200000203"/>
                </a:rPr>
                <a:t>提出</a:t>
              </a:r>
              <a:r>
                <a:rPr lang="en-US" sz="105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Urbanist" panose="020B0A04040200000203"/>
                </a:rPr>
                <a:t>MLP 与反向传播 (BP) 算法；</a:t>
              </a:r>
              <a:r>
                <a:rPr lang="en-US" altLang="zh-CN" sz="105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Urbanist" panose="020B0A04040200000203"/>
                </a:rPr>
                <a:t>Quinlan</a:t>
              </a:r>
              <a:r>
                <a:rPr lang="zh-CN" altLang="en-US" sz="105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Urbanist" panose="020B0A04040200000203"/>
                </a:rPr>
                <a:t>提出</a:t>
              </a:r>
              <a:r>
                <a:rPr lang="en-US" sz="105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Urbanist" panose="020B0A04040200000203"/>
                </a:rPr>
                <a:t>ID3 决策树算法。</a:t>
              </a:r>
            </a:p>
          </p:txBody>
        </p:sp>
        <p:pic>
          <p:nvPicPr>
            <p:cNvPr id="19" name="图片 18"/>
            <p:cNvPicPr/>
            <p:nvPr/>
          </p:nvPicPr>
          <p:blipFill>
            <a:blip r:embed="rId17"/>
            <a:srcRect r="51823" b="1262"/>
            <a:stretch>
              <a:fillRect/>
            </a:stretch>
          </p:blipFill>
          <p:spPr>
            <a:xfrm>
              <a:off x="5313" y="5787"/>
              <a:ext cx="3304" cy="4147"/>
            </a:xfrm>
            <a:prstGeom prst="rect">
              <a:avLst/>
            </a:prstGeom>
          </p:spPr>
        </p:pic>
      </p:grpSp>
      <p:grpSp>
        <p:nvGrpSpPr>
          <p:cNvPr id="26" name="组合 25"/>
          <p:cNvGrpSpPr/>
          <p:nvPr/>
        </p:nvGrpSpPr>
        <p:grpSpPr>
          <a:xfrm>
            <a:off x="8202930" y="2538095"/>
            <a:ext cx="3794760" cy="3411855"/>
            <a:chOff x="12918" y="3997"/>
            <a:chExt cx="5976" cy="5373"/>
          </a:xfrm>
        </p:grpSpPr>
        <p:sp>
          <p:nvSpPr>
            <p:cNvPr id="101" name="Google Shape;101;p14"/>
            <p:cNvSpPr txBox="1"/>
            <p:nvPr>
              <p:custDataLst>
                <p:tags r:id="rId8"/>
              </p:custDataLst>
            </p:nvPr>
          </p:nvSpPr>
          <p:spPr>
            <a:xfrm>
              <a:off x="13957" y="3997"/>
              <a:ext cx="3881" cy="43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Urbanist" panose="020B0A04040200000203"/>
                </a:rPr>
                <a:t>2013-至今</a:t>
              </a:r>
            </a:p>
          </p:txBody>
        </p:sp>
        <p:sp>
          <p:nvSpPr>
            <p:cNvPr id="107" name="Google Shape;107;p14"/>
            <p:cNvSpPr txBox="1"/>
            <p:nvPr>
              <p:custDataLst>
                <p:tags r:id="rId9"/>
              </p:custDataLst>
            </p:nvPr>
          </p:nvSpPr>
          <p:spPr>
            <a:xfrm>
              <a:off x="14049" y="4642"/>
              <a:ext cx="3696" cy="67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05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Urbanist" panose="020B0A04040200000203"/>
                </a:rPr>
                <a:t>DeepMind 结合强化学习；Transformer 模型引入全局感知。</a:t>
              </a:r>
            </a:p>
          </p:txBody>
        </p:sp>
        <p:pic>
          <p:nvPicPr>
            <p:cNvPr id="20" name="图片 19"/>
            <p:cNvPicPr/>
            <p:nvPr/>
          </p:nvPicPr>
          <p:blipFill>
            <a:blip r:embed="rId18"/>
            <a:stretch>
              <a:fillRect/>
            </a:stretch>
          </p:blipFill>
          <p:spPr>
            <a:xfrm>
              <a:off x="12918" y="6150"/>
              <a:ext cx="5977" cy="3220"/>
            </a:xfrm>
            <a:prstGeom prst="rect">
              <a:avLst/>
            </a:prstGeom>
          </p:spPr>
        </p:pic>
      </p:grpSp>
      <p:grpSp>
        <p:nvGrpSpPr>
          <p:cNvPr id="24" name="组合 23"/>
          <p:cNvGrpSpPr/>
          <p:nvPr/>
        </p:nvGrpSpPr>
        <p:grpSpPr>
          <a:xfrm>
            <a:off x="6089015" y="2538095"/>
            <a:ext cx="2463800" cy="3769360"/>
            <a:chOff x="9589" y="3997"/>
            <a:chExt cx="3880" cy="5936"/>
          </a:xfrm>
        </p:grpSpPr>
        <p:sp>
          <p:nvSpPr>
            <p:cNvPr id="99" name="Google Shape;99;p14"/>
            <p:cNvSpPr txBox="1"/>
            <p:nvPr>
              <p:custDataLst>
                <p:tags r:id="rId6"/>
              </p:custDataLst>
            </p:nvPr>
          </p:nvSpPr>
          <p:spPr>
            <a:xfrm>
              <a:off x="9589" y="3997"/>
              <a:ext cx="3881" cy="36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chemeClr val="tx1"/>
                  </a:solidFill>
                  <a:latin typeface="微软雅黑" panose="020B0503020204020204" pitchFamily="34" charset="-122"/>
                  <a:ea typeface="微软雅黑" panose="020B0503020204020204" pitchFamily="34" charset="-122"/>
                  <a:cs typeface="Urbanist" panose="020B0A04040200000203"/>
                  <a:sym typeface="Urbanist" panose="020B0A04040200000203"/>
                </a:rPr>
                <a:t>2006-2012</a:t>
              </a:r>
            </a:p>
          </p:txBody>
        </p:sp>
        <p:sp>
          <p:nvSpPr>
            <p:cNvPr id="106" name="Google Shape;106;p14"/>
            <p:cNvSpPr txBox="1"/>
            <p:nvPr>
              <p:custDataLst>
                <p:tags r:id="rId7"/>
              </p:custDataLst>
            </p:nvPr>
          </p:nvSpPr>
          <p:spPr>
            <a:xfrm>
              <a:off x="9681" y="4567"/>
              <a:ext cx="3696" cy="67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05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Urbanist" panose="020B0A04040200000203"/>
                </a:rPr>
                <a:t>Hinton 开启深度学习时代；CNN、LSTM 赋予机器人时空推理力。</a:t>
              </a:r>
            </a:p>
          </p:txBody>
        </p:sp>
        <p:pic>
          <p:nvPicPr>
            <p:cNvPr id="22" name="图片 21"/>
            <p:cNvPicPr/>
            <p:nvPr/>
          </p:nvPicPr>
          <p:blipFill>
            <a:blip r:embed="rId17"/>
            <a:srcRect l="52377" b="-1071"/>
            <a:stretch>
              <a:fillRect/>
            </a:stretch>
          </p:blipFill>
          <p:spPr>
            <a:xfrm>
              <a:off x="9615" y="5689"/>
              <a:ext cx="3266" cy="4245"/>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linds(horizontal)">
                                      <p:cBhvr>
                                        <p:cTn id="12" dur="500"/>
                                        <p:tgtEl>
                                          <p:spTgt spid="21"/>
                                        </p:tgtEl>
                                      </p:cBhvr>
                                    </p:animEffect>
                                  </p:childTnLst>
                                </p:cTn>
                              </p:par>
                            </p:childTnLst>
                          </p:cTn>
                        </p:par>
                        <p:par>
                          <p:cTn id="13" fill="hold">
                            <p:stCondLst>
                              <p:cond delay="1000"/>
                            </p:stCondLst>
                            <p:childTnLst>
                              <p:par>
                                <p:cTn id="14" presetID="3" presetClass="entr" presetSubtype="10" fill="hold" nodeType="after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blinds(horizontal)">
                                      <p:cBhvr>
                                        <p:cTn id="16" dur="500"/>
                                        <p:tgtEl>
                                          <p:spTgt spid="25"/>
                                        </p:tgtEl>
                                      </p:cBhvr>
                                    </p:animEffect>
                                  </p:childTnLst>
                                </p:cTn>
                              </p:par>
                            </p:childTnLst>
                          </p:cTn>
                        </p:par>
                        <p:par>
                          <p:cTn id="17" fill="hold">
                            <p:stCondLst>
                              <p:cond delay="1500"/>
                            </p:stCondLst>
                            <p:childTnLst>
                              <p:par>
                                <p:cTn id="18" presetID="3" presetClass="entr" presetSubtype="10" fill="hold"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blinds(horizontal)">
                                      <p:cBhvr>
                                        <p:cTn id="20" dur="500"/>
                                        <p:tgtEl>
                                          <p:spTgt spid="24"/>
                                        </p:tgtEl>
                                      </p:cBhvr>
                                    </p:animEffect>
                                  </p:childTnLst>
                                </p:cTn>
                              </p:par>
                            </p:childTnLst>
                          </p:cTn>
                        </p:par>
                        <p:par>
                          <p:cTn id="21" fill="hold">
                            <p:stCondLst>
                              <p:cond delay="2000"/>
                            </p:stCondLst>
                            <p:childTnLst>
                              <p:par>
                                <p:cTn id="22" presetID="3" presetClass="entr" presetSubtype="10" fill="hold" nodeType="after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blinds(horizontal)">
                                      <p:cBhvr>
                                        <p:cTn id="2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D45EB-063E-9A45-313B-4C27CCAF6E38}"/>
            </a:ext>
          </a:extLst>
        </p:cNvPr>
        <p:cNvGrpSpPr/>
        <p:nvPr/>
      </p:nvGrpSpPr>
      <p:grpSpPr>
        <a:xfrm>
          <a:off x="0" y="0"/>
          <a:ext cx="0" cy="0"/>
          <a:chOff x="0" y="0"/>
          <a:chExt cx="0" cy="0"/>
        </a:xfrm>
      </p:grpSpPr>
      <p:grpSp>
        <p:nvGrpSpPr>
          <p:cNvPr id="56" name="组合 55">
            <a:extLst>
              <a:ext uri="{FF2B5EF4-FFF2-40B4-BE49-F238E27FC236}">
                <a16:creationId xmlns:a16="http://schemas.microsoft.com/office/drawing/2014/main" id="{62FED3DA-B229-307F-9BBC-BDD5B03011AA}"/>
              </a:ext>
            </a:extLst>
          </p:cNvPr>
          <p:cNvGrpSpPr/>
          <p:nvPr/>
        </p:nvGrpSpPr>
        <p:grpSpPr>
          <a:xfrm>
            <a:off x="-1" y="939798"/>
            <a:ext cx="7848600" cy="625474"/>
            <a:chOff x="-1" y="1075267"/>
            <a:chExt cx="7848600" cy="625474"/>
          </a:xfrm>
        </p:grpSpPr>
        <p:sp>
          <p:nvSpPr>
            <p:cNvPr id="58" name="矩形 57">
              <a:extLst>
                <a:ext uri="{FF2B5EF4-FFF2-40B4-BE49-F238E27FC236}">
                  <a16:creationId xmlns:a16="http://schemas.microsoft.com/office/drawing/2014/main" id="{5BD88C3D-4959-2D2E-DEC7-38A1C02E244D}"/>
                </a:ext>
              </a:extLst>
            </p:cNvPr>
            <p:cNvSpPr/>
            <p:nvPr/>
          </p:nvSpPr>
          <p:spPr>
            <a:xfrm>
              <a:off x="-1" y="1075267"/>
              <a:ext cx="5833533"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9A32A792-712C-3687-C17B-8B7C9D6EC1EB}"/>
                </a:ext>
              </a:extLst>
            </p:cNvPr>
            <p:cNvSpPr txBox="1"/>
            <p:nvPr/>
          </p:nvSpPr>
          <p:spPr>
            <a:xfrm>
              <a:off x="270932" y="1157172"/>
              <a:ext cx="7577667" cy="461665"/>
            </a:xfrm>
            <a:prstGeom prst="rect">
              <a:avLst/>
            </a:prstGeom>
            <a:noFill/>
          </p:spPr>
          <p:txBody>
            <a:bodyPr wrap="square">
              <a:spAutoFit/>
            </a:bodyPr>
            <a:lstStyle/>
            <a:p>
              <a:r>
                <a:rPr lang="en-US" altLang="zh-CN" sz="2400" b="1" dirty="0">
                  <a:solidFill>
                    <a:schemeClr val="accent1"/>
                  </a:solidFill>
                  <a:latin typeface="+mj-lt"/>
                </a:rPr>
                <a:t>5.1.2 </a:t>
              </a:r>
              <a:r>
                <a:rPr lang="zh-CN" altLang="en-US" sz="2400" b="1" dirty="0">
                  <a:solidFill>
                    <a:schemeClr val="accent1"/>
                  </a:solidFill>
                  <a:latin typeface="+mj-lt"/>
                </a:rPr>
                <a:t>基于学习的机器人智能导航原理</a:t>
              </a:r>
            </a:p>
          </p:txBody>
        </p:sp>
      </p:grpSp>
      <p:pic>
        <p:nvPicPr>
          <p:cNvPr id="3" name="图片 2" descr="图片包含 文本&#10;&#10;AI 生成的内容可能不正确。">
            <a:extLst>
              <a:ext uri="{FF2B5EF4-FFF2-40B4-BE49-F238E27FC236}">
                <a16:creationId xmlns:a16="http://schemas.microsoft.com/office/drawing/2014/main" id="{775D3D2A-C09B-AE8E-3959-2AF7E09E3F4B}"/>
              </a:ext>
            </a:extLst>
          </p:cNvPr>
          <p:cNvPicPr>
            <a:picLocks noChangeAspect="1"/>
          </p:cNvPicPr>
          <p:nvPr/>
        </p:nvPicPr>
        <p:blipFill>
          <a:blip r:embed="rId4"/>
          <a:stretch>
            <a:fillRect/>
          </a:stretch>
        </p:blipFill>
        <p:spPr>
          <a:xfrm>
            <a:off x="6256106" y="2613756"/>
            <a:ext cx="5115639" cy="2124371"/>
          </a:xfrm>
          <a:prstGeom prst="rect">
            <a:avLst/>
          </a:prstGeom>
        </p:spPr>
      </p:pic>
      <p:sp>
        <p:nvSpPr>
          <p:cNvPr id="4" name="矩形 3">
            <a:extLst>
              <a:ext uri="{FF2B5EF4-FFF2-40B4-BE49-F238E27FC236}">
                <a16:creationId xmlns:a16="http://schemas.microsoft.com/office/drawing/2014/main" id="{104880F5-6384-CF59-50E6-103A8FAAD127}"/>
              </a:ext>
            </a:extLst>
          </p:cNvPr>
          <p:cNvSpPr/>
          <p:nvPr/>
        </p:nvSpPr>
        <p:spPr>
          <a:xfrm>
            <a:off x="676182" y="1740489"/>
            <a:ext cx="3543067" cy="565754"/>
          </a:xfrm>
          <a:prstGeom prst="rect">
            <a:avLst/>
          </a:prstGeom>
          <a:solidFill>
            <a:schemeClr val="accent3">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1"/>
                </a:solidFill>
                <a:latin typeface="+mj-ea"/>
                <a:ea typeface="+mj-ea"/>
              </a:rPr>
              <a:t>导航算法</a:t>
            </a:r>
          </a:p>
        </p:txBody>
      </p:sp>
      <p:grpSp>
        <p:nvGrpSpPr>
          <p:cNvPr id="7" name="组合 6">
            <a:extLst>
              <a:ext uri="{FF2B5EF4-FFF2-40B4-BE49-F238E27FC236}">
                <a16:creationId xmlns:a16="http://schemas.microsoft.com/office/drawing/2014/main" id="{BC341597-306A-8A7D-9A0A-FADB19CE040A}"/>
              </a:ext>
            </a:extLst>
          </p:cNvPr>
          <p:cNvGrpSpPr/>
          <p:nvPr/>
        </p:nvGrpSpPr>
        <p:grpSpPr>
          <a:xfrm>
            <a:off x="537189" y="2535065"/>
            <a:ext cx="5453593" cy="1051171"/>
            <a:chOff x="270932" y="3220865"/>
            <a:chExt cx="5453593" cy="1051171"/>
          </a:xfrm>
        </p:grpSpPr>
        <p:pic>
          <p:nvPicPr>
            <p:cNvPr id="5" name="Google Shape;91;p13" descr="image.png">
              <a:extLst>
                <a:ext uri="{FF2B5EF4-FFF2-40B4-BE49-F238E27FC236}">
                  <a16:creationId xmlns:a16="http://schemas.microsoft.com/office/drawing/2014/main" id="{CD48B125-5F80-F423-67E4-5F7894F4D9D1}"/>
                </a:ext>
              </a:extLst>
            </p:cNvPr>
            <p:cNvPicPr preferRelativeResize="0"/>
            <p:nvPr>
              <p:custDataLst>
                <p:tags r:id="rId1"/>
              </p:custDataLst>
            </p:nvPr>
          </p:nvPicPr>
          <p:blipFill rotWithShape="1">
            <a:blip r:embed="rId5"/>
            <a:srcRect/>
            <a:stretch>
              <a:fillRect/>
            </a:stretch>
          </p:blipFill>
          <p:spPr>
            <a:xfrm>
              <a:off x="270932" y="3352565"/>
              <a:ext cx="5191125" cy="838200"/>
            </a:xfrm>
            <a:prstGeom prst="rect">
              <a:avLst/>
            </a:prstGeom>
            <a:noFill/>
            <a:ln>
              <a:noFill/>
            </a:ln>
          </p:spPr>
        </p:pic>
        <p:sp>
          <p:nvSpPr>
            <p:cNvPr id="81" name="文本框 80">
              <a:extLst>
                <a:ext uri="{FF2B5EF4-FFF2-40B4-BE49-F238E27FC236}">
                  <a16:creationId xmlns:a16="http://schemas.microsoft.com/office/drawing/2014/main" id="{273D80C2-7721-A415-2680-388D7825B2B7}"/>
                </a:ext>
              </a:extLst>
            </p:cNvPr>
            <p:cNvSpPr txBox="1"/>
            <p:nvPr/>
          </p:nvSpPr>
          <p:spPr bwMode="auto">
            <a:xfrm>
              <a:off x="375392" y="3220865"/>
              <a:ext cx="5349133"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solidFill>
                    <a:srgbClr val="0D2D7F"/>
                  </a:solidFill>
                  <a:latin typeface="+mj-ea"/>
                  <a:ea typeface="+mj-ea"/>
                  <a:cs typeface="Microsoft GothicNeo" panose="020B0500000101010101" pitchFamily="34" charset="-127"/>
                </a:rPr>
                <a:t>基于地图：</a:t>
              </a:r>
              <a:r>
                <a:rPr kumimoji="1" lang="zh-CN" altLang="en-US" sz="2000" kern="1300" dirty="0">
                  <a:latin typeface="+mj-ea"/>
                  <a:ea typeface="+mj-ea"/>
                  <a:cs typeface="Microsoft GothicNeo" panose="020B0500000101010101" pitchFamily="34" charset="-127"/>
                </a:rPr>
                <a:t>根据完整度量、拓扑地图规划路径</a:t>
              </a:r>
              <a:endParaRPr kumimoji="1" lang="en-US" altLang="zh-CN" sz="2000" kern="1300" dirty="0">
                <a:effectLst/>
                <a:latin typeface="+mj-ea"/>
                <a:ea typeface="+mj-ea"/>
                <a:cs typeface="Microsoft GothicNeo" panose="020B0500000101010101" pitchFamily="34" charset="-127"/>
              </a:endParaRPr>
            </a:p>
          </p:txBody>
        </p:sp>
        <p:sp>
          <p:nvSpPr>
            <p:cNvPr id="6" name="文本框 5">
              <a:extLst>
                <a:ext uri="{FF2B5EF4-FFF2-40B4-BE49-F238E27FC236}">
                  <a16:creationId xmlns:a16="http://schemas.microsoft.com/office/drawing/2014/main" id="{7CE17375-C383-D2C4-A0D8-659A0E24A739}"/>
                </a:ext>
              </a:extLst>
            </p:cNvPr>
            <p:cNvSpPr txBox="1"/>
            <p:nvPr/>
          </p:nvSpPr>
          <p:spPr bwMode="auto">
            <a:xfrm>
              <a:off x="375392" y="3651636"/>
              <a:ext cx="5191125"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solidFill>
                    <a:srgbClr val="0D2D7F"/>
                  </a:solidFill>
                  <a:latin typeface="+mj-ea"/>
                  <a:ea typeface="+mj-ea"/>
                  <a:cs typeface="Microsoft GothicNeo" panose="020B0500000101010101" pitchFamily="34" charset="-127"/>
                </a:rPr>
                <a:t>无地图：</a:t>
              </a:r>
              <a:r>
                <a:rPr kumimoji="1" lang="zh-CN" altLang="en-US" sz="2000" kern="1300" dirty="0">
                  <a:latin typeface="+mj-ea"/>
                  <a:ea typeface="+mj-ea"/>
                  <a:cs typeface="Microsoft GothicNeo" panose="020B0500000101010101" pitchFamily="34" charset="-127"/>
                </a:rPr>
                <a:t>实时感知、地标跟踪、导航避障</a:t>
              </a:r>
              <a:endParaRPr kumimoji="1" lang="en-US" altLang="zh-CN" sz="2000" kern="1300" dirty="0">
                <a:effectLst/>
                <a:latin typeface="+mj-ea"/>
                <a:ea typeface="+mj-ea"/>
                <a:cs typeface="Microsoft GothicNeo" panose="020B0500000101010101" pitchFamily="34" charset="-127"/>
              </a:endParaRPr>
            </a:p>
          </p:txBody>
        </p:sp>
      </p:grpSp>
      <p:sp>
        <p:nvSpPr>
          <p:cNvPr id="9" name="文本框 8">
            <a:extLst>
              <a:ext uri="{FF2B5EF4-FFF2-40B4-BE49-F238E27FC236}">
                <a16:creationId xmlns:a16="http://schemas.microsoft.com/office/drawing/2014/main" id="{72D19FCD-3E47-7107-95D6-14D63B730ECB}"/>
              </a:ext>
            </a:extLst>
          </p:cNvPr>
          <p:cNvSpPr txBox="1"/>
          <p:nvPr/>
        </p:nvSpPr>
        <p:spPr>
          <a:xfrm>
            <a:off x="2337626" y="4125258"/>
            <a:ext cx="1722139" cy="369332"/>
          </a:xfrm>
          <a:prstGeom prst="rect">
            <a:avLst/>
          </a:prstGeom>
          <a:noFill/>
        </p:spPr>
        <p:txBody>
          <a:bodyPr wrap="square">
            <a:spAutoFit/>
          </a:bodyPr>
          <a:lstStyle/>
          <a:p>
            <a:pPr algn="ctr"/>
            <a:r>
              <a:rPr lang="zh-CN" altLang="en-US" sz="1800" b="1" dirty="0">
                <a:solidFill>
                  <a:schemeClr val="accent1"/>
                </a:solidFill>
                <a:latin typeface="+mj-ea"/>
                <a:ea typeface="+mj-ea"/>
              </a:rPr>
              <a:t>定位</a:t>
            </a:r>
          </a:p>
        </p:txBody>
      </p:sp>
      <p:sp>
        <p:nvSpPr>
          <p:cNvPr id="10" name="文本框 9">
            <a:extLst>
              <a:ext uri="{FF2B5EF4-FFF2-40B4-BE49-F238E27FC236}">
                <a16:creationId xmlns:a16="http://schemas.microsoft.com/office/drawing/2014/main" id="{EC399019-4B43-87F7-071E-162F66014B34}"/>
              </a:ext>
            </a:extLst>
          </p:cNvPr>
          <p:cNvSpPr txBox="1"/>
          <p:nvPr/>
        </p:nvSpPr>
        <p:spPr>
          <a:xfrm>
            <a:off x="2455145" y="4787745"/>
            <a:ext cx="1722139" cy="369332"/>
          </a:xfrm>
          <a:prstGeom prst="rect">
            <a:avLst/>
          </a:prstGeom>
          <a:noFill/>
        </p:spPr>
        <p:txBody>
          <a:bodyPr wrap="square">
            <a:spAutoFit/>
          </a:bodyPr>
          <a:lstStyle/>
          <a:p>
            <a:pPr algn="ctr"/>
            <a:r>
              <a:rPr lang="zh-CN" altLang="en-US" sz="1800" b="1" dirty="0">
                <a:solidFill>
                  <a:schemeClr val="accent1"/>
                </a:solidFill>
                <a:latin typeface="+mj-ea"/>
                <a:ea typeface="+mj-ea"/>
              </a:rPr>
              <a:t>地图构建</a:t>
            </a:r>
          </a:p>
        </p:txBody>
      </p:sp>
      <p:sp>
        <p:nvSpPr>
          <p:cNvPr id="11" name="文本框 10">
            <a:extLst>
              <a:ext uri="{FF2B5EF4-FFF2-40B4-BE49-F238E27FC236}">
                <a16:creationId xmlns:a16="http://schemas.microsoft.com/office/drawing/2014/main" id="{BD4B9E48-3BCE-4684-8844-A6432B4FA6ED}"/>
              </a:ext>
            </a:extLst>
          </p:cNvPr>
          <p:cNvSpPr txBox="1"/>
          <p:nvPr/>
        </p:nvSpPr>
        <p:spPr>
          <a:xfrm>
            <a:off x="2493689" y="5466965"/>
            <a:ext cx="1722139" cy="369332"/>
          </a:xfrm>
          <a:prstGeom prst="rect">
            <a:avLst/>
          </a:prstGeom>
          <a:noFill/>
        </p:spPr>
        <p:txBody>
          <a:bodyPr wrap="square">
            <a:spAutoFit/>
          </a:bodyPr>
          <a:lstStyle/>
          <a:p>
            <a:pPr algn="ctr"/>
            <a:r>
              <a:rPr lang="zh-CN" altLang="en-US" sz="1800" b="1" dirty="0">
                <a:solidFill>
                  <a:schemeClr val="accent1"/>
                </a:solidFill>
                <a:latin typeface="+mj-ea"/>
                <a:ea typeface="+mj-ea"/>
              </a:rPr>
              <a:t>路径规划</a:t>
            </a:r>
          </a:p>
        </p:txBody>
      </p:sp>
      <p:sp>
        <p:nvSpPr>
          <p:cNvPr id="14" name="矩形 13">
            <a:extLst>
              <a:ext uri="{FF2B5EF4-FFF2-40B4-BE49-F238E27FC236}">
                <a16:creationId xmlns:a16="http://schemas.microsoft.com/office/drawing/2014/main" id="{A04F4BF0-048E-1EFB-4E68-E9AC81E0D7E4}"/>
              </a:ext>
            </a:extLst>
          </p:cNvPr>
          <p:cNvSpPr/>
          <p:nvPr/>
        </p:nvSpPr>
        <p:spPr>
          <a:xfrm>
            <a:off x="641649" y="4642094"/>
            <a:ext cx="1574501" cy="565754"/>
          </a:xfrm>
          <a:prstGeom prst="rect">
            <a:avLst/>
          </a:prstGeom>
          <a:solidFill>
            <a:schemeClr val="accent3">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1"/>
                </a:solidFill>
                <a:latin typeface="+mj-ea"/>
                <a:ea typeface="+mj-ea"/>
              </a:rPr>
              <a:t>子任务</a:t>
            </a:r>
          </a:p>
        </p:txBody>
      </p:sp>
    </p:spTree>
    <p:extLst>
      <p:ext uri="{BB962C8B-B14F-4D97-AF65-F5344CB8AC3E}">
        <p14:creationId xmlns:p14="http://schemas.microsoft.com/office/powerpoint/2010/main" val="237036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AD6BA-8BFC-3E77-AAD0-C9A323773586}"/>
            </a:ext>
          </a:extLst>
        </p:cNvPr>
        <p:cNvGrpSpPr/>
        <p:nvPr/>
      </p:nvGrpSpPr>
      <p:grpSpPr>
        <a:xfrm>
          <a:off x="0" y="0"/>
          <a:ext cx="0" cy="0"/>
          <a:chOff x="0" y="0"/>
          <a:chExt cx="0" cy="0"/>
        </a:xfrm>
      </p:grpSpPr>
      <p:grpSp>
        <p:nvGrpSpPr>
          <p:cNvPr id="56" name="组合 55">
            <a:extLst>
              <a:ext uri="{FF2B5EF4-FFF2-40B4-BE49-F238E27FC236}">
                <a16:creationId xmlns:a16="http://schemas.microsoft.com/office/drawing/2014/main" id="{55091C7D-ECC0-1BDB-1334-8EBAA3F9D584}"/>
              </a:ext>
            </a:extLst>
          </p:cNvPr>
          <p:cNvGrpSpPr/>
          <p:nvPr/>
        </p:nvGrpSpPr>
        <p:grpSpPr>
          <a:xfrm>
            <a:off x="-1" y="939798"/>
            <a:ext cx="7848600" cy="625474"/>
            <a:chOff x="-1" y="1075267"/>
            <a:chExt cx="7848600" cy="625474"/>
          </a:xfrm>
        </p:grpSpPr>
        <p:sp>
          <p:nvSpPr>
            <p:cNvPr id="58" name="矩形 57">
              <a:extLst>
                <a:ext uri="{FF2B5EF4-FFF2-40B4-BE49-F238E27FC236}">
                  <a16:creationId xmlns:a16="http://schemas.microsoft.com/office/drawing/2014/main" id="{753463F3-96A1-8ABF-C97C-E199A915A79A}"/>
                </a:ext>
              </a:extLst>
            </p:cNvPr>
            <p:cNvSpPr/>
            <p:nvPr/>
          </p:nvSpPr>
          <p:spPr>
            <a:xfrm>
              <a:off x="-1" y="1075267"/>
              <a:ext cx="5833533"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76963938-08B3-E34A-2089-4B8349015CA0}"/>
                </a:ext>
              </a:extLst>
            </p:cNvPr>
            <p:cNvSpPr txBox="1"/>
            <p:nvPr/>
          </p:nvSpPr>
          <p:spPr>
            <a:xfrm>
              <a:off x="270932" y="1157172"/>
              <a:ext cx="7577667" cy="461665"/>
            </a:xfrm>
            <a:prstGeom prst="rect">
              <a:avLst/>
            </a:prstGeom>
            <a:noFill/>
          </p:spPr>
          <p:txBody>
            <a:bodyPr wrap="square">
              <a:spAutoFit/>
            </a:bodyPr>
            <a:lstStyle/>
            <a:p>
              <a:r>
                <a:rPr lang="en-US" altLang="zh-CN" sz="2400" b="1" dirty="0">
                  <a:solidFill>
                    <a:schemeClr val="accent1"/>
                  </a:solidFill>
                  <a:latin typeface="+mj-lt"/>
                </a:rPr>
                <a:t>5.1.2 </a:t>
              </a:r>
              <a:r>
                <a:rPr lang="zh-CN" altLang="en-US" sz="2400" b="1" dirty="0">
                  <a:solidFill>
                    <a:schemeClr val="accent1"/>
                  </a:solidFill>
                  <a:latin typeface="+mj-lt"/>
                </a:rPr>
                <a:t>基于学习的机器人智能导航原理</a:t>
              </a:r>
            </a:p>
          </p:txBody>
        </p:sp>
      </p:grpSp>
      <p:sp>
        <p:nvSpPr>
          <p:cNvPr id="83" name="文本框 82">
            <a:extLst>
              <a:ext uri="{FF2B5EF4-FFF2-40B4-BE49-F238E27FC236}">
                <a16:creationId xmlns:a16="http://schemas.microsoft.com/office/drawing/2014/main" id="{D7D3F672-2F42-7007-FAFC-89FA70FA6CD9}"/>
              </a:ext>
            </a:extLst>
          </p:cNvPr>
          <p:cNvSpPr txBox="1"/>
          <p:nvPr/>
        </p:nvSpPr>
        <p:spPr bwMode="auto">
          <a:xfrm>
            <a:off x="5028679" y="7841755"/>
            <a:ext cx="4606289"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solidFill>
                  <a:srgbClr val="0D2D7F"/>
                </a:solidFill>
                <a:latin typeface="+mj-ea"/>
                <a:ea typeface="+mj-ea"/>
                <a:cs typeface="Microsoft GothicNeo" panose="020B0500000101010101" pitchFamily="34" charset="-127"/>
              </a:rPr>
              <a:t>多场景</a:t>
            </a:r>
            <a:r>
              <a:rPr kumimoji="1" lang="zh-CN" altLang="en-US" sz="2000" b="1" kern="1300" dirty="0">
                <a:latin typeface="+mj-ea"/>
                <a:ea typeface="+mj-ea"/>
                <a:cs typeface="Microsoft GothicNeo" panose="020B0500000101010101" pitchFamily="34" charset="-127"/>
              </a:rPr>
              <a:t>自适应鲁棒</a:t>
            </a:r>
            <a:endParaRPr kumimoji="1" lang="en-US" altLang="zh-CN" sz="2000" b="1" kern="1300" dirty="0">
              <a:effectLst/>
              <a:latin typeface="+mj-ea"/>
              <a:ea typeface="+mj-ea"/>
              <a:cs typeface="Microsoft GothicNeo" panose="020B0500000101010101" pitchFamily="34" charset="-127"/>
            </a:endParaRPr>
          </a:p>
        </p:txBody>
      </p:sp>
      <p:pic>
        <p:nvPicPr>
          <p:cNvPr id="4" name="图片 3" descr="图示&#10;&#10;AI 生成的内容可能不正确。">
            <a:extLst>
              <a:ext uri="{FF2B5EF4-FFF2-40B4-BE49-F238E27FC236}">
                <a16:creationId xmlns:a16="http://schemas.microsoft.com/office/drawing/2014/main" id="{3E7F3FD9-6BB3-0C7D-C68D-4DB93F8F0F4E}"/>
              </a:ext>
            </a:extLst>
          </p:cNvPr>
          <p:cNvPicPr>
            <a:picLocks noChangeAspect="1"/>
          </p:cNvPicPr>
          <p:nvPr/>
        </p:nvPicPr>
        <p:blipFill>
          <a:blip r:embed="rId3"/>
          <a:stretch>
            <a:fillRect/>
          </a:stretch>
        </p:blipFill>
        <p:spPr>
          <a:xfrm>
            <a:off x="5833532" y="939798"/>
            <a:ext cx="6129646" cy="2397443"/>
          </a:xfrm>
          <a:prstGeom prst="rect">
            <a:avLst/>
          </a:prstGeom>
        </p:spPr>
      </p:pic>
      <p:sp>
        <p:nvSpPr>
          <p:cNvPr id="12" name="文本框 11">
            <a:extLst>
              <a:ext uri="{FF2B5EF4-FFF2-40B4-BE49-F238E27FC236}">
                <a16:creationId xmlns:a16="http://schemas.microsoft.com/office/drawing/2014/main" id="{23430D89-AA5D-A682-E262-452B1FCD88CB}"/>
              </a:ext>
            </a:extLst>
          </p:cNvPr>
          <p:cNvSpPr txBox="1"/>
          <p:nvPr/>
        </p:nvSpPr>
        <p:spPr>
          <a:xfrm>
            <a:off x="6533737" y="3467872"/>
            <a:ext cx="4729235" cy="369332"/>
          </a:xfrm>
          <a:prstGeom prst="rect">
            <a:avLst/>
          </a:prstGeom>
          <a:noFill/>
        </p:spPr>
        <p:txBody>
          <a:bodyPr wrap="square">
            <a:spAutoFit/>
          </a:bodyPr>
          <a:lstStyle/>
          <a:p>
            <a:pPr algn="ctr"/>
            <a:r>
              <a:rPr lang="zh-CN" altLang="en-US" sz="1800" dirty="0">
                <a:latin typeface="+mj-ea"/>
                <a:ea typeface="+mj-ea"/>
              </a:rPr>
              <a:t>三维室内场景中的智能导航示例</a:t>
            </a:r>
          </a:p>
        </p:txBody>
      </p:sp>
      <p:grpSp>
        <p:nvGrpSpPr>
          <p:cNvPr id="28" name="组合 27">
            <a:extLst>
              <a:ext uri="{FF2B5EF4-FFF2-40B4-BE49-F238E27FC236}">
                <a16:creationId xmlns:a16="http://schemas.microsoft.com/office/drawing/2014/main" id="{69C707B5-BCAE-171A-7522-34C5EF4AABBB}"/>
              </a:ext>
            </a:extLst>
          </p:cNvPr>
          <p:cNvGrpSpPr/>
          <p:nvPr/>
        </p:nvGrpSpPr>
        <p:grpSpPr>
          <a:xfrm>
            <a:off x="1174457" y="1644234"/>
            <a:ext cx="7950281" cy="3163124"/>
            <a:chOff x="1174457" y="1644234"/>
            <a:chExt cx="7950281" cy="3163124"/>
          </a:xfrm>
        </p:grpSpPr>
        <p:sp>
          <p:nvSpPr>
            <p:cNvPr id="71" name="矩形 70">
              <a:extLst>
                <a:ext uri="{FF2B5EF4-FFF2-40B4-BE49-F238E27FC236}">
                  <a16:creationId xmlns:a16="http://schemas.microsoft.com/office/drawing/2014/main" id="{BCF92637-5A38-3508-DC3E-CE268D88C162}"/>
                </a:ext>
              </a:extLst>
            </p:cNvPr>
            <p:cNvSpPr/>
            <p:nvPr/>
          </p:nvSpPr>
          <p:spPr>
            <a:xfrm>
              <a:off x="1174457" y="1644234"/>
              <a:ext cx="2731235" cy="434885"/>
            </a:xfrm>
            <a:prstGeom prst="rect">
              <a:avLst/>
            </a:prstGeom>
            <a:solidFill>
              <a:srgbClr val="C00000">
                <a:alpha val="10000"/>
              </a:srgb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latin typeface="+mj-ea"/>
                  <a:ea typeface="+mj-ea"/>
                </a:rPr>
                <a:t>传统机器学习导航</a:t>
              </a:r>
            </a:p>
          </p:txBody>
        </p:sp>
        <p:sp>
          <p:nvSpPr>
            <p:cNvPr id="7" name="矩形 6">
              <a:extLst>
                <a:ext uri="{FF2B5EF4-FFF2-40B4-BE49-F238E27FC236}">
                  <a16:creationId xmlns:a16="http://schemas.microsoft.com/office/drawing/2014/main" id="{EB6C097C-3B23-26AD-A686-BA8AAB5C2715}"/>
                </a:ext>
              </a:extLst>
            </p:cNvPr>
            <p:cNvSpPr/>
            <p:nvPr/>
          </p:nvSpPr>
          <p:spPr>
            <a:xfrm>
              <a:off x="1318609" y="4372473"/>
              <a:ext cx="2311692" cy="434885"/>
            </a:xfrm>
            <a:prstGeom prst="rect">
              <a:avLst/>
            </a:prstGeom>
            <a:solidFill>
              <a:srgbClr val="C00000">
                <a:alpha val="10000"/>
              </a:srgb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latin typeface="+mj-ea"/>
                  <a:ea typeface="+mj-ea"/>
                </a:rPr>
                <a:t>深度学习导航</a:t>
              </a:r>
            </a:p>
          </p:txBody>
        </p:sp>
        <p:sp>
          <p:nvSpPr>
            <p:cNvPr id="8" name="矩形 7">
              <a:extLst>
                <a:ext uri="{FF2B5EF4-FFF2-40B4-BE49-F238E27FC236}">
                  <a16:creationId xmlns:a16="http://schemas.microsoft.com/office/drawing/2014/main" id="{E1EBF910-A3E8-98C3-FC05-EC08200CCA34}"/>
                </a:ext>
              </a:extLst>
            </p:cNvPr>
            <p:cNvSpPr/>
            <p:nvPr/>
          </p:nvSpPr>
          <p:spPr>
            <a:xfrm>
              <a:off x="6482108" y="3965491"/>
              <a:ext cx="2642630" cy="434885"/>
            </a:xfrm>
            <a:prstGeom prst="rect">
              <a:avLst/>
            </a:prstGeom>
            <a:solidFill>
              <a:srgbClr val="C00000">
                <a:alpha val="10000"/>
              </a:srgb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latin typeface="+mj-ea"/>
                  <a:ea typeface="+mj-ea"/>
                </a:rPr>
                <a:t>强化学习导航</a:t>
              </a:r>
            </a:p>
          </p:txBody>
        </p:sp>
      </p:grpSp>
      <p:grpSp>
        <p:nvGrpSpPr>
          <p:cNvPr id="31" name="组合 30">
            <a:extLst>
              <a:ext uri="{FF2B5EF4-FFF2-40B4-BE49-F238E27FC236}">
                <a16:creationId xmlns:a16="http://schemas.microsoft.com/office/drawing/2014/main" id="{3799DCA6-8682-5E7F-CF45-B0D766316A8A}"/>
              </a:ext>
            </a:extLst>
          </p:cNvPr>
          <p:cNvGrpSpPr/>
          <p:nvPr/>
        </p:nvGrpSpPr>
        <p:grpSpPr>
          <a:xfrm>
            <a:off x="463386" y="2094700"/>
            <a:ext cx="7397044" cy="2392369"/>
            <a:chOff x="463386" y="2094700"/>
            <a:chExt cx="7397044" cy="2392369"/>
          </a:xfrm>
        </p:grpSpPr>
        <p:sp>
          <p:nvSpPr>
            <p:cNvPr id="10" name="文本框 9">
              <a:extLst>
                <a:ext uri="{FF2B5EF4-FFF2-40B4-BE49-F238E27FC236}">
                  <a16:creationId xmlns:a16="http://schemas.microsoft.com/office/drawing/2014/main" id="{C441357A-2C12-624D-956D-E29DBBAE50F8}"/>
                </a:ext>
              </a:extLst>
            </p:cNvPr>
            <p:cNvSpPr txBox="1"/>
            <p:nvPr/>
          </p:nvSpPr>
          <p:spPr bwMode="auto">
            <a:xfrm>
              <a:off x="3254141" y="3507227"/>
              <a:ext cx="4606289"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solidFill>
                    <a:srgbClr val="0D2D7F"/>
                  </a:solidFill>
                  <a:latin typeface="+mj-ea"/>
                  <a:ea typeface="+mj-ea"/>
                  <a:cs typeface="Microsoft GothicNeo" panose="020B0500000101010101" pitchFamily="34" charset="-127"/>
                </a:rPr>
                <a:t>支持向量机</a:t>
              </a:r>
              <a:endParaRPr kumimoji="1" lang="en-US" altLang="zh-CN" sz="2000" b="1" kern="1300" dirty="0">
                <a:effectLst/>
                <a:latin typeface="+mj-ea"/>
                <a:ea typeface="+mj-ea"/>
                <a:cs typeface="Microsoft GothicNeo" panose="020B0500000101010101" pitchFamily="34" charset="-127"/>
              </a:endParaRPr>
            </a:p>
          </p:txBody>
        </p:sp>
        <p:grpSp>
          <p:nvGrpSpPr>
            <p:cNvPr id="27" name="组合 26">
              <a:extLst>
                <a:ext uri="{FF2B5EF4-FFF2-40B4-BE49-F238E27FC236}">
                  <a16:creationId xmlns:a16="http://schemas.microsoft.com/office/drawing/2014/main" id="{B75537B5-7845-CE37-9404-260BD732C0A9}"/>
                </a:ext>
              </a:extLst>
            </p:cNvPr>
            <p:cNvGrpSpPr/>
            <p:nvPr/>
          </p:nvGrpSpPr>
          <p:grpSpPr>
            <a:xfrm>
              <a:off x="463386" y="2094700"/>
              <a:ext cx="5373257" cy="2392369"/>
              <a:chOff x="463386" y="2094700"/>
              <a:chExt cx="5373257" cy="2392369"/>
            </a:xfrm>
          </p:grpSpPr>
          <p:pic>
            <p:nvPicPr>
              <p:cNvPr id="15" name="图片 14" descr="电脑游戏的截图">
                <a:extLst>
                  <a:ext uri="{FF2B5EF4-FFF2-40B4-BE49-F238E27FC236}">
                    <a16:creationId xmlns:a16="http://schemas.microsoft.com/office/drawing/2014/main" id="{DE4EBCD6-C267-3D2B-C9A4-5276531903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3386" y="2223439"/>
                <a:ext cx="2373019" cy="1414483"/>
              </a:xfrm>
              <a:prstGeom prst="rect">
                <a:avLst/>
              </a:prstGeom>
            </p:spPr>
          </p:pic>
          <p:pic>
            <p:nvPicPr>
              <p:cNvPr id="6" name="图片 5" descr="图表, 散点图&#10;&#10;AI 生成的内容可能不正确。">
                <a:extLst>
                  <a:ext uri="{FF2B5EF4-FFF2-40B4-BE49-F238E27FC236}">
                    <a16:creationId xmlns:a16="http://schemas.microsoft.com/office/drawing/2014/main" id="{23DDC367-BC10-450B-22E2-1A9C4C0A8EEC}"/>
                  </a:ext>
                </a:extLst>
              </p:cNvPr>
              <p:cNvPicPr>
                <a:picLocks noChangeAspect="1"/>
              </p:cNvPicPr>
              <p:nvPr/>
            </p:nvPicPr>
            <p:blipFill>
              <a:blip r:embed="rId5"/>
              <a:srcRect t="4658"/>
              <a:stretch>
                <a:fillRect/>
              </a:stretch>
            </p:blipFill>
            <p:spPr>
              <a:xfrm>
                <a:off x="3307666" y="2094700"/>
                <a:ext cx="2093390" cy="1577491"/>
              </a:xfrm>
              <a:prstGeom prst="rect">
                <a:avLst/>
              </a:prstGeom>
            </p:spPr>
          </p:pic>
          <p:sp>
            <p:nvSpPr>
              <p:cNvPr id="9" name="文本框 8">
                <a:extLst>
                  <a:ext uri="{FF2B5EF4-FFF2-40B4-BE49-F238E27FC236}">
                    <a16:creationId xmlns:a16="http://schemas.microsoft.com/office/drawing/2014/main" id="{95B8057E-CDBF-4569-9F9A-27DC87EDFBC9}"/>
                  </a:ext>
                </a:extLst>
              </p:cNvPr>
              <p:cNvSpPr txBox="1"/>
              <p:nvPr/>
            </p:nvSpPr>
            <p:spPr bwMode="auto">
              <a:xfrm>
                <a:off x="533260" y="3512388"/>
                <a:ext cx="4606289"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solidFill>
                      <a:srgbClr val="0D2D7F"/>
                    </a:solidFill>
                    <a:latin typeface="+mj-ea"/>
                    <a:ea typeface="+mj-ea"/>
                    <a:cs typeface="Microsoft GothicNeo" panose="020B0500000101010101" pitchFamily="34" charset="-127"/>
                  </a:rPr>
                  <a:t>决策树</a:t>
                </a:r>
                <a:r>
                  <a:rPr kumimoji="1" lang="en-US" altLang="zh-CN" sz="2000" b="1" kern="1300" dirty="0">
                    <a:solidFill>
                      <a:srgbClr val="0D2D7F"/>
                    </a:solidFill>
                    <a:latin typeface="+mj-ea"/>
                    <a:ea typeface="+mj-ea"/>
                    <a:cs typeface="Microsoft GothicNeo" panose="020B0500000101010101" pitchFamily="34" charset="-127"/>
                  </a:rPr>
                  <a:t>     </a:t>
                </a:r>
                <a:r>
                  <a:rPr kumimoji="1" lang="zh-CN" altLang="en-US" sz="2000" b="1" kern="1300" dirty="0">
                    <a:solidFill>
                      <a:srgbClr val="0D2D7F"/>
                    </a:solidFill>
                    <a:latin typeface="+mj-ea"/>
                    <a:ea typeface="+mj-ea"/>
                    <a:cs typeface="Microsoft GothicNeo" panose="020B0500000101010101" pitchFamily="34" charset="-127"/>
                  </a:rPr>
                  <a:t>随机森林</a:t>
                </a:r>
                <a:endParaRPr kumimoji="1" lang="en-US" altLang="zh-CN" sz="2000" b="1" kern="1300" dirty="0">
                  <a:effectLst/>
                  <a:latin typeface="+mj-ea"/>
                  <a:ea typeface="+mj-ea"/>
                  <a:cs typeface="Microsoft GothicNeo" panose="020B0500000101010101" pitchFamily="34" charset="-127"/>
                </a:endParaRPr>
              </a:p>
            </p:txBody>
          </p:sp>
          <p:sp>
            <p:nvSpPr>
              <p:cNvPr id="14" name="文本框 13">
                <a:extLst>
                  <a:ext uri="{FF2B5EF4-FFF2-40B4-BE49-F238E27FC236}">
                    <a16:creationId xmlns:a16="http://schemas.microsoft.com/office/drawing/2014/main" id="{32EE635C-6E68-9D70-D40C-0545F79FD90C}"/>
                  </a:ext>
                </a:extLst>
              </p:cNvPr>
              <p:cNvSpPr txBox="1"/>
              <p:nvPr/>
            </p:nvSpPr>
            <p:spPr bwMode="auto">
              <a:xfrm>
                <a:off x="1230354" y="3866669"/>
                <a:ext cx="4606289"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kern="1300" dirty="0">
                    <a:latin typeface="+mj-ea"/>
                    <a:ea typeface="+mj-ea"/>
                    <a:cs typeface="Microsoft GothicNeo" panose="020B0500000101010101" pitchFamily="34" charset="-127"/>
                  </a:rPr>
                  <a:t>简单路径决策、避障</a:t>
                </a:r>
                <a:endParaRPr kumimoji="1" lang="en-US" altLang="zh-CN" sz="2000" kern="1300" dirty="0">
                  <a:effectLst/>
                  <a:latin typeface="+mj-ea"/>
                  <a:ea typeface="+mj-ea"/>
                  <a:cs typeface="Microsoft GothicNeo" panose="020B0500000101010101" pitchFamily="34" charset="-127"/>
                </a:endParaRPr>
              </a:p>
            </p:txBody>
          </p:sp>
        </p:grpSp>
      </p:grpSp>
      <p:grpSp>
        <p:nvGrpSpPr>
          <p:cNvPr id="29" name="组合 28">
            <a:extLst>
              <a:ext uri="{FF2B5EF4-FFF2-40B4-BE49-F238E27FC236}">
                <a16:creationId xmlns:a16="http://schemas.microsoft.com/office/drawing/2014/main" id="{EA1DD8FA-73D4-DDC8-AB1E-79CCDCD9561C}"/>
              </a:ext>
            </a:extLst>
          </p:cNvPr>
          <p:cNvGrpSpPr/>
          <p:nvPr/>
        </p:nvGrpSpPr>
        <p:grpSpPr>
          <a:xfrm>
            <a:off x="463386" y="4853068"/>
            <a:ext cx="7676401" cy="1668030"/>
            <a:chOff x="463386" y="4853068"/>
            <a:chExt cx="7676401" cy="1668030"/>
          </a:xfrm>
        </p:grpSpPr>
        <p:grpSp>
          <p:nvGrpSpPr>
            <p:cNvPr id="13" name="组合 12">
              <a:extLst>
                <a:ext uri="{FF2B5EF4-FFF2-40B4-BE49-F238E27FC236}">
                  <a16:creationId xmlns:a16="http://schemas.microsoft.com/office/drawing/2014/main" id="{49723DCA-7079-2001-A8D9-1CCF983ED236}"/>
                </a:ext>
              </a:extLst>
            </p:cNvPr>
            <p:cNvGrpSpPr/>
            <p:nvPr/>
          </p:nvGrpSpPr>
          <p:grpSpPr>
            <a:xfrm>
              <a:off x="463386" y="4871061"/>
              <a:ext cx="4606290" cy="1486170"/>
              <a:chOff x="613619" y="4496959"/>
              <a:chExt cx="4606290" cy="1486170"/>
            </a:xfrm>
          </p:grpSpPr>
          <p:sp>
            <p:nvSpPr>
              <p:cNvPr id="81" name="文本框 80">
                <a:extLst>
                  <a:ext uri="{FF2B5EF4-FFF2-40B4-BE49-F238E27FC236}">
                    <a16:creationId xmlns:a16="http://schemas.microsoft.com/office/drawing/2014/main" id="{592CFDD7-0EA1-D461-7E4D-0A5F0FE64741}"/>
                  </a:ext>
                </a:extLst>
              </p:cNvPr>
              <p:cNvSpPr txBox="1"/>
              <p:nvPr/>
            </p:nvSpPr>
            <p:spPr bwMode="auto">
              <a:xfrm>
                <a:off x="613620" y="4496959"/>
                <a:ext cx="4606289"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solidFill>
                      <a:srgbClr val="0D2D7F"/>
                    </a:solidFill>
                    <a:latin typeface="+mj-ea"/>
                    <a:ea typeface="+mj-ea"/>
                    <a:cs typeface="Microsoft GothicNeo" panose="020B0500000101010101" pitchFamily="34" charset="-127"/>
                  </a:rPr>
                  <a:t>环境语义感知</a:t>
                </a:r>
                <a:endParaRPr kumimoji="1" lang="en-US" altLang="zh-CN" sz="2000" b="1" kern="1300" dirty="0">
                  <a:effectLst/>
                  <a:latin typeface="+mj-ea"/>
                  <a:ea typeface="+mj-ea"/>
                  <a:cs typeface="Microsoft GothicNeo" panose="020B0500000101010101" pitchFamily="34" charset="-127"/>
                </a:endParaRPr>
              </a:p>
            </p:txBody>
          </p:sp>
          <p:sp>
            <p:nvSpPr>
              <p:cNvPr id="82" name="文本框 81">
                <a:extLst>
                  <a:ext uri="{FF2B5EF4-FFF2-40B4-BE49-F238E27FC236}">
                    <a16:creationId xmlns:a16="http://schemas.microsoft.com/office/drawing/2014/main" id="{2F813CAF-8810-0B94-5C95-7ACF2DA56FD4}"/>
                  </a:ext>
                </a:extLst>
              </p:cNvPr>
              <p:cNvSpPr txBox="1"/>
              <p:nvPr/>
            </p:nvSpPr>
            <p:spPr bwMode="auto">
              <a:xfrm>
                <a:off x="613619" y="4945657"/>
                <a:ext cx="4606289"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solidFill>
                      <a:srgbClr val="0D2D7F"/>
                    </a:solidFill>
                    <a:latin typeface="+mj-ea"/>
                    <a:ea typeface="+mj-ea"/>
                    <a:cs typeface="Microsoft GothicNeo" panose="020B0500000101010101" pitchFamily="34" charset="-127"/>
                  </a:rPr>
                  <a:t>状态估计</a:t>
                </a:r>
                <a:endParaRPr kumimoji="1" lang="en-US" altLang="zh-CN" sz="2000" b="1" kern="1300" dirty="0">
                  <a:solidFill>
                    <a:srgbClr val="0D2D7F"/>
                  </a:solidFill>
                  <a:effectLst/>
                  <a:latin typeface="+mj-ea"/>
                  <a:ea typeface="+mj-ea"/>
                  <a:cs typeface="Microsoft GothicNeo" panose="020B0500000101010101" pitchFamily="34" charset="-127"/>
                </a:endParaRPr>
              </a:p>
            </p:txBody>
          </p:sp>
          <p:sp>
            <p:nvSpPr>
              <p:cNvPr id="11" name="文本框 10">
                <a:extLst>
                  <a:ext uri="{FF2B5EF4-FFF2-40B4-BE49-F238E27FC236}">
                    <a16:creationId xmlns:a16="http://schemas.microsoft.com/office/drawing/2014/main" id="{B6706C77-0613-00E2-EC6A-322DF9259C90}"/>
                  </a:ext>
                </a:extLst>
              </p:cNvPr>
              <p:cNvSpPr txBox="1"/>
              <p:nvPr/>
            </p:nvSpPr>
            <p:spPr bwMode="auto">
              <a:xfrm>
                <a:off x="613619" y="5362729"/>
                <a:ext cx="4606289"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solidFill>
                      <a:srgbClr val="0D2D7F"/>
                    </a:solidFill>
                    <a:latin typeface="+mj-ea"/>
                    <a:ea typeface="+mj-ea"/>
                    <a:cs typeface="Microsoft GothicNeo" panose="020B0500000101010101" pitchFamily="34" charset="-127"/>
                  </a:rPr>
                  <a:t>同步定位与建图</a:t>
                </a:r>
                <a:r>
                  <a:rPr kumimoji="1" lang="en-US" altLang="zh-CN" sz="2000" b="1" kern="1300" dirty="0">
                    <a:solidFill>
                      <a:srgbClr val="0D2D7F"/>
                    </a:solidFill>
                    <a:latin typeface="+mj-ea"/>
                    <a:ea typeface="+mj-ea"/>
                    <a:cs typeface="Microsoft GothicNeo" panose="020B0500000101010101" pitchFamily="34" charset="-127"/>
                  </a:rPr>
                  <a:t>(SLAM)</a:t>
                </a:r>
                <a:endParaRPr kumimoji="1" lang="en-US" altLang="zh-CN" sz="2000" b="1" kern="1300" dirty="0">
                  <a:solidFill>
                    <a:srgbClr val="0D2D7F"/>
                  </a:solidFill>
                  <a:effectLst/>
                  <a:latin typeface="+mj-ea"/>
                  <a:ea typeface="+mj-ea"/>
                  <a:cs typeface="Microsoft GothicNeo" panose="020B0500000101010101" pitchFamily="34" charset="-127"/>
                </a:endParaRPr>
              </a:p>
            </p:txBody>
          </p:sp>
        </p:grpSp>
        <p:pic>
          <p:nvPicPr>
            <p:cNvPr id="17" name="图片 16" descr="图示&#10;&#10;AI 生成的内容可能不正确。">
              <a:extLst>
                <a:ext uri="{FF2B5EF4-FFF2-40B4-BE49-F238E27FC236}">
                  <a16:creationId xmlns:a16="http://schemas.microsoft.com/office/drawing/2014/main" id="{3D8DD446-57BC-F81A-FF8B-364435DD3510}"/>
                </a:ext>
              </a:extLst>
            </p:cNvPr>
            <p:cNvPicPr>
              <a:picLocks noChangeAspect="1"/>
            </p:cNvPicPr>
            <p:nvPr/>
          </p:nvPicPr>
          <p:blipFill>
            <a:blip r:embed="rId6"/>
            <a:stretch>
              <a:fillRect/>
            </a:stretch>
          </p:blipFill>
          <p:spPr>
            <a:xfrm>
              <a:off x="3533498" y="4853068"/>
              <a:ext cx="2513651" cy="1001920"/>
            </a:xfrm>
            <a:prstGeom prst="rect">
              <a:avLst/>
            </a:prstGeom>
          </p:spPr>
        </p:pic>
        <p:sp>
          <p:nvSpPr>
            <p:cNvPr id="18" name="文本框 17">
              <a:extLst>
                <a:ext uri="{FF2B5EF4-FFF2-40B4-BE49-F238E27FC236}">
                  <a16:creationId xmlns:a16="http://schemas.microsoft.com/office/drawing/2014/main" id="{202054CD-CE54-7519-65F2-EC006BFEC845}"/>
                </a:ext>
              </a:extLst>
            </p:cNvPr>
            <p:cNvSpPr txBox="1"/>
            <p:nvPr/>
          </p:nvSpPr>
          <p:spPr bwMode="auto">
            <a:xfrm>
              <a:off x="3533498" y="5900698"/>
              <a:ext cx="4606289"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en-US" altLang="zh-CN" sz="2000" b="1" kern="1300" dirty="0" err="1">
                  <a:effectLst/>
                  <a:latin typeface="+mj-ea"/>
                  <a:ea typeface="+mj-ea"/>
                  <a:cs typeface="Microsoft GothicNeo" panose="020B0500000101010101" pitchFamily="34" charset="-127"/>
                </a:rPr>
                <a:t>PointNet</a:t>
              </a:r>
              <a:r>
                <a:rPr kumimoji="1" lang="zh-CN" altLang="en-US" sz="2000" b="1" kern="1300" dirty="0">
                  <a:effectLst/>
                  <a:latin typeface="+mj-ea"/>
                  <a:ea typeface="+mj-ea"/>
                  <a:cs typeface="Microsoft GothicNeo" panose="020B0500000101010101" pitchFamily="34" charset="-127"/>
                </a:rPr>
                <a:t>、</a:t>
              </a:r>
              <a:r>
                <a:rPr kumimoji="1" lang="en-US" altLang="zh-CN" sz="2000" b="1" kern="1300" dirty="0" err="1">
                  <a:effectLst/>
                  <a:latin typeface="+mj-ea"/>
                  <a:ea typeface="+mj-ea"/>
                  <a:cs typeface="Microsoft GothicNeo" panose="020B0500000101010101" pitchFamily="34" charset="-127"/>
                </a:rPr>
                <a:t>SegNet</a:t>
              </a:r>
              <a:r>
                <a:rPr kumimoji="1" lang="en-US" altLang="zh-CN" sz="2000" b="1" kern="1300" dirty="0">
                  <a:effectLst/>
                  <a:latin typeface="+mj-ea"/>
                  <a:ea typeface="+mj-ea"/>
                  <a:cs typeface="Microsoft GothicNeo" panose="020B0500000101010101" pitchFamily="34" charset="-127"/>
                </a:rPr>
                <a:t> …</a:t>
              </a:r>
            </a:p>
          </p:txBody>
        </p:sp>
      </p:grpSp>
      <p:grpSp>
        <p:nvGrpSpPr>
          <p:cNvPr id="30" name="组合 29">
            <a:extLst>
              <a:ext uri="{FF2B5EF4-FFF2-40B4-BE49-F238E27FC236}">
                <a16:creationId xmlns:a16="http://schemas.microsoft.com/office/drawing/2014/main" id="{4A051407-3639-6BC7-A9BC-00F4B0F33A7C}"/>
              </a:ext>
            </a:extLst>
          </p:cNvPr>
          <p:cNvGrpSpPr/>
          <p:nvPr/>
        </p:nvGrpSpPr>
        <p:grpSpPr>
          <a:xfrm>
            <a:off x="6656684" y="4015757"/>
            <a:ext cx="5316934" cy="2667487"/>
            <a:chOff x="6656684" y="4015757"/>
            <a:chExt cx="5316934" cy="2667487"/>
          </a:xfrm>
        </p:grpSpPr>
        <p:grpSp>
          <p:nvGrpSpPr>
            <p:cNvPr id="20" name="组合 19">
              <a:extLst>
                <a:ext uri="{FF2B5EF4-FFF2-40B4-BE49-F238E27FC236}">
                  <a16:creationId xmlns:a16="http://schemas.microsoft.com/office/drawing/2014/main" id="{F3617C6D-DCC5-9BD1-5547-1706464CD691}"/>
                </a:ext>
              </a:extLst>
            </p:cNvPr>
            <p:cNvGrpSpPr/>
            <p:nvPr/>
          </p:nvGrpSpPr>
          <p:grpSpPr>
            <a:xfrm>
              <a:off x="6656684" y="5197074"/>
              <a:ext cx="4606288" cy="1486170"/>
              <a:chOff x="613619" y="4496959"/>
              <a:chExt cx="5861543" cy="1486170"/>
            </a:xfrm>
          </p:grpSpPr>
          <p:sp>
            <p:nvSpPr>
              <p:cNvPr id="21" name="文本框 20">
                <a:extLst>
                  <a:ext uri="{FF2B5EF4-FFF2-40B4-BE49-F238E27FC236}">
                    <a16:creationId xmlns:a16="http://schemas.microsoft.com/office/drawing/2014/main" id="{DCD67D83-7870-ED20-E486-3A95AC46E111}"/>
                  </a:ext>
                </a:extLst>
              </p:cNvPr>
              <p:cNvSpPr txBox="1"/>
              <p:nvPr/>
            </p:nvSpPr>
            <p:spPr bwMode="auto">
              <a:xfrm>
                <a:off x="613620" y="4496959"/>
                <a:ext cx="4606289"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solidFill>
                      <a:srgbClr val="0D2D7F"/>
                    </a:solidFill>
                    <a:latin typeface="+mj-ea"/>
                    <a:ea typeface="+mj-ea"/>
                    <a:cs typeface="Microsoft GothicNeo" panose="020B0500000101010101" pitchFamily="34" charset="-127"/>
                  </a:rPr>
                  <a:t>基于值函数</a:t>
                </a:r>
                <a:r>
                  <a:rPr kumimoji="1" lang="en-US" altLang="zh-CN" sz="2000" b="1" kern="1300" dirty="0">
                    <a:solidFill>
                      <a:srgbClr val="0D2D7F"/>
                    </a:solidFill>
                    <a:latin typeface="+mj-ea"/>
                    <a:ea typeface="+mj-ea"/>
                    <a:cs typeface="Microsoft GothicNeo" panose="020B0500000101010101" pitchFamily="34" charset="-127"/>
                  </a:rPr>
                  <a:t>	</a:t>
                </a:r>
                <a:r>
                  <a:rPr kumimoji="1" lang="en-US" altLang="zh-CN" sz="2000" b="1" kern="1300" dirty="0">
                    <a:latin typeface="+mj-ea"/>
                    <a:ea typeface="+mj-ea"/>
                    <a:cs typeface="Microsoft GothicNeo" panose="020B0500000101010101" pitchFamily="34" charset="-127"/>
                  </a:rPr>
                  <a:t>Q-learning</a:t>
                </a:r>
                <a:endParaRPr kumimoji="1" lang="en-US" altLang="zh-CN" sz="2000" b="1" kern="1300" dirty="0">
                  <a:effectLst/>
                  <a:latin typeface="+mj-ea"/>
                  <a:ea typeface="+mj-ea"/>
                  <a:cs typeface="Microsoft GothicNeo" panose="020B0500000101010101" pitchFamily="34" charset="-127"/>
                </a:endParaRPr>
              </a:p>
            </p:txBody>
          </p:sp>
          <p:sp>
            <p:nvSpPr>
              <p:cNvPr id="22" name="文本框 21">
                <a:extLst>
                  <a:ext uri="{FF2B5EF4-FFF2-40B4-BE49-F238E27FC236}">
                    <a16:creationId xmlns:a16="http://schemas.microsoft.com/office/drawing/2014/main" id="{08821C52-F4B3-344B-56B0-33BB0D271E74}"/>
                  </a:ext>
                </a:extLst>
              </p:cNvPr>
              <p:cNvSpPr txBox="1"/>
              <p:nvPr/>
            </p:nvSpPr>
            <p:spPr bwMode="auto">
              <a:xfrm>
                <a:off x="613619" y="4945657"/>
                <a:ext cx="5196679"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solidFill>
                      <a:srgbClr val="0D2D7F"/>
                    </a:solidFill>
                    <a:latin typeface="+mj-ea"/>
                    <a:ea typeface="+mj-ea"/>
                    <a:cs typeface="Microsoft GothicNeo" panose="020B0500000101010101" pitchFamily="34" charset="-127"/>
                  </a:rPr>
                  <a:t>基于策略梯度</a:t>
                </a:r>
                <a:r>
                  <a:rPr kumimoji="1" lang="en-US" altLang="zh-CN" sz="2000" b="1" kern="1300" dirty="0">
                    <a:solidFill>
                      <a:srgbClr val="0D2D7F"/>
                    </a:solidFill>
                    <a:latin typeface="+mj-ea"/>
                    <a:ea typeface="+mj-ea"/>
                    <a:cs typeface="Microsoft GothicNeo" panose="020B0500000101010101" pitchFamily="34" charset="-127"/>
                  </a:rPr>
                  <a:t>	</a:t>
                </a:r>
                <a:r>
                  <a:rPr kumimoji="1" lang="en-US" altLang="zh-CN" sz="2000" b="1" kern="1300" dirty="0">
                    <a:latin typeface="+mj-ea"/>
                    <a:ea typeface="+mj-ea"/>
                    <a:cs typeface="Microsoft GothicNeo" panose="020B0500000101010101" pitchFamily="34" charset="-127"/>
                  </a:rPr>
                  <a:t>PPO</a:t>
                </a:r>
                <a:r>
                  <a:rPr kumimoji="1" lang="zh-CN" altLang="en-US" sz="2000" b="1" kern="1300" dirty="0">
                    <a:latin typeface="+mj-ea"/>
                    <a:ea typeface="+mj-ea"/>
                    <a:cs typeface="Microsoft GothicNeo" panose="020B0500000101010101" pitchFamily="34" charset="-127"/>
                  </a:rPr>
                  <a:t>、</a:t>
                </a:r>
                <a:r>
                  <a:rPr kumimoji="1" lang="en-US" altLang="zh-CN" sz="2000" b="1" kern="1300" dirty="0">
                    <a:latin typeface="+mj-ea"/>
                    <a:ea typeface="+mj-ea"/>
                    <a:cs typeface="Microsoft GothicNeo" panose="020B0500000101010101" pitchFamily="34" charset="-127"/>
                  </a:rPr>
                  <a:t>DPG</a:t>
                </a:r>
                <a:endParaRPr kumimoji="1" lang="en-US" altLang="zh-CN" sz="2000" b="1" kern="1300" dirty="0">
                  <a:effectLst/>
                  <a:latin typeface="+mj-ea"/>
                  <a:ea typeface="+mj-ea"/>
                  <a:cs typeface="Microsoft GothicNeo" panose="020B0500000101010101" pitchFamily="34" charset="-127"/>
                </a:endParaRPr>
              </a:p>
            </p:txBody>
          </p:sp>
          <p:sp>
            <p:nvSpPr>
              <p:cNvPr id="23" name="文本框 22">
                <a:extLst>
                  <a:ext uri="{FF2B5EF4-FFF2-40B4-BE49-F238E27FC236}">
                    <a16:creationId xmlns:a16="http://schemas.microsoft.com/office/drawing/2014/main" id="{303AD0D4-6D77-7286-924F-870E71DB9C96}"/>
                  </a:ext>
                </a:extLst>
              </p:cNvPr>
              <p:cNvSpPr txBox="1"/>
              <p:nvPr/>
            </p:nvSpPr>
            <p:spPr bwMode="auto">
              <a:xfrm>
                <a:off x="613619" y="5362729"/>
                <a:ext cx="5861543"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solidFill>
                      <a:srgbClr val="0D2D7F"/>
                    </a:solidFill>
                    <a:latin typeface="+mj-ea"/>
                    <a:ea typeface="+mj-ea"/>
                    <a:cs typeface="Microsoft GothicNeo" panose="020B0500000101010101" pitchFamily="34" charset="-127"/>
                  </a:rPr>
                  <a:t>基于深度强化学习</a:t>
                </a:r>
                <a:r>
                  <a:rPr kumimoji="1" lang="en-US" altLang="zh-CN" sz="2000" b="1" kern="1300" dirty="0">
                    <a:solidFill>
                      <a:srgbClr val="0D2D7F"/>
                    </a:solidFill>
                    <a:latin typeface="+mj-ea"/>
                    <a:ea typeface="+mj-ea"/>
                    <a:cs typeface="Microsoft GothicNeo" panose="020B0500000101010101" pitchFamily="34" charset="-127"/>
                  </a:rPr>
                  <a:t>  </a:t>
                </a:r>
                <a:r>
                  <a:rPr kumimoji="1" lang="en-US" altLang="zh-CN" sz="2000" b="1" kern="1300" dirty="0">
                    <a:latin typeface="+mj-ea"/>
                    <a:ea typeface="+mj-ea"/>
                    <a:cs typeface="Microsoft GothicNeo" panose="020B0500000101010101" pitchFamily="34" charset="-127"/>
                  </a:rPr>
                  <a:t>DQN</a:t>
                </a:r>
                <a:r>
                  <a:rPr kumimoji="1" lang="zh-CN" altLang="en-US" sz="2000" b="1" kern="1300" dirty="0">
                    <a:latin typeface="+mj-ea"/>
                    <a:ea typeface="+mj-ea"/>
                    <a:cs typeface="Microsoft GothicNeo" panose="020B0500000101010101" pitchFamily="34" charset="-127"/>
                  </a:rPr>
                  <a:t>、</a:t>
                </a:r>
                <a:r>
                  <a:rPr kumimoji="1" lang="en-US" altLang="zh-CN" sz="2000" b="1" kern="1300" dirty="0">
                    <a:latin typeface="+mj-ea"/>
                    <a:ea typeface="+mj-ea"/>
                    <a:cs typeface="Microsoft GothicNeo" panose="020B0500000101010101" pitchFamily="34" charset="-127"/>
                  </a:rPr>
                  <a:t>DDPG</a:t>
                </a:r>
                <a:endParaRPr kumimoji="1" lang="en-US" altLang="zh-CN" sz="2000" b="1" kern="1300" dirty="0">
                  <a:effectLst/>
                  <a:latin typeface="+mj-ea"/>
                  <a:ea typeface="+mj-ea"/>
                  <a:cs typeface="Microsoft GothicNeo" panose="020B0500000101010101" pitchFamily="34" charset="-127"/>
                </a:endParaRPr>
              </a:p>
            </p:txBody>
          </p:sp>
        </p:grpSp>
        <p:sp>
          <p:nvSpPr>
            <p:cNvPr id="24" name="文本框 23">
              <a:extLst>
                <a:ext uri="{FF2B5EF4-FFF2-40B4-BE49-F238E27FC236}">
                  <a16:creationId xmlns:a16="http://schemas.microsoft.com/office/drawing/2014/main" id="{EE6370E8-CED5-439E-3ABD-BC3DC8A4B332}"/>
                </a:ext>
              </a:extLst>
            </p:cNvPr>
            <p:cNvSpPr txBox="1"/>
            <p:nvPr/>
          </p:nvSpPr>
          <p:spPr bwMode="auto">
            <a:xfrm>
              <a:off x="6814115" y="4521400"/>
              <a:ext cx="4606289"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en-US" altLang="zh-CN" sz="2000" kern="1300" dirty="0">
                  <a:latin typeface="+mj-ea"/>
                  <a:ea typeface="+mj-ea"/>
                  <a:cs typeface="Microsoft GothicNeo" panose="020B0500000101010101" pitchFamily="34" charset="-127"/>
                </a:rPr>
                <a:t>Agent</a:t>
              </a:r>
              <a:r>
                <a:rPr kumimoji="1" lang="zh-CN" altLang="en-US" sz="2000" kern="1300" dirty="0">
                  <a:latin typeface="+mj-ea"/>
                  <a:ea typeface="+mj-ea"/>
                  <a:cs typeface="Microsoft GothicNeo" panose="020B0500000101010101" pitchFamily="34" charset="-127"/>
                </a:rPr>
                <a:t>自主探索导航</a:t>
              </a:r>
              <a:endParaRPr kumimoji="1" lang="en-US" altLang="zh-CN" sz="2000" kern="1300" dirty="0">
                <a:effectLst/>
                <a:latin typeface="+mj-ea"/>
                <a:ea typeface="+mj-ea"/>
                <a:cs typeface="Microsoft GothicNeo" panose="020B0500000101010101" pitchFamily="34" charset="-127"/>
              </a:endParaRPr>
            </a:p>
          </p:txBody>
        </p:sp>
        <p:pic>
          <p:nvPicPr>
            <p:cNvPr id="26" name="图片 25" descr="图示&#10;&#10;AI 生成的内容可能不正确。">
              <a:extLst>
                <a:ext uri="{FF2B5EF4-FFF2-40B4-BE49-F238E27FC236}">
                  <a16:creationId xmlns:a16="http://schemas.microsoft.com/office/drawing/2014/main" id="{CC1CEBD4-410E-3CB7-7B23-C426AA9DD434}"/>
                </a:ext>
              </a:extLst>
            </p:cNvPr>
            <p:cNvPicPr>
              <a:picLocks noChangeAspect="1"/>
            </p:cNvPicPr>
            <p:nvPr/>
          </p:nvPicPr>
          <p:blipFill>
            <a:blip r:embed="rId7"/>
            <a:stretch>
              <a:fillRect/>
            </a:stretch>
          </p:blipFill>
          <p:spPr>
            <a:xfrm>
              <a:off x="9507360" y="4015757"/>
              <a:ext cx="2466258" cy="1181317"/>
            </a:xfrm>
            <a:prstGeom prst="rect">
              <a:avLst/>
            </a:prstGeom>
          </p:spPr>
        </p:pic>
      </p:grpSp>
    </p:spTree>
    <p:extLst>
      <p:ext uri="{BB962C8B-B14F-4D97-AF65-F5344CB8AC3E}">
        <p14:creationId xmlns:p14="http://schemas.microsoft.com/office/powerpoint/2010/main" val="2360707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anim calcmode="lin" valueType="num">
                                      <p:cBhvr>
                                        <p:cTn id="8" dur="500" fill="hold"/>
                                        <p:tgtEl>
                                          <p:spTgt spid="28"/>
                                        </p:tgtEl>
                                        <p:attrNameLst>
                                          <p:attrName>ppt_x</p:attrName>
                                        </p:attrNameLst>
                                      </p:cBhvr>
                                      <p:tavLst>
                                        <p:tav tm="0">
                                          <p:val>
                                            <p:strVal val="#ppt_x"/>
                                          </p:val>
                                        </p:tav>
                                        <p:tav tm="100000">
                                          <p:val>
                                            <p:strVal val="#ppt_x"/>
                                          </p:val>
                                        </p:tav>
                                      </p:tavLst>
                                    </p:anim>
                                    <p:anim calcmode="lin" valueType="num">
                                      <p:cBhvr>
                                        <p:cTn id="9" dur="500" fill="hold"/>
                                        <p:tgtEl>
                                          <p:spTgt spid="2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anim calcmode="lin" valueType="num">
                                      <p:cBhvr>
                                        <p:cTn id="14" dur="500" fill="hold"/>
                                        <p:tgtEl>
                                          <p:spTgt spid="31"/>
                                        </p:tgtEl>
                                        <p:attrNameLst>
                                          <p:attrName>ppt_x</p:attrName>
                                        </p:attrNameLst>
                                      </p:cBhvr>
                                      <p:tavLst>
                                        <p:tav tm="0">
                                          <p:val>
                                            <p:strVal val="#ppt_x"/>
                                          </p:val>
                                        </p:tav>
                                        <p:tav tm="100000">
                                          <p:val>
                                            <p:strVal val="#ppt_x"/>
                                          </p:val>
                                        </p:tav>
                                      </p:tavLst>
                                    </p:anim>
                                    <p:anim calcmode="lin" valueType="num">
                                      <p:cBhvr>
                                        <p:cTn id="15"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1000"/>
                                        <p:tgtEl>
                                          <p:spTgt spid="29"/>
                                        </p:tgtEl>
                                      </p:cBhvr>
                                    </p:animEffect>
                                    <p:anim calcmode="lin" valueType="num">
                                      <p:cBhvr>
                                        <p:cTn id="21" dur="1000" fill="hold"/>
                                        <p:tgtEl>
                                          <p:spTgt spid="29"/>
                                        </p:tgtEl>
                                        <p:attrNameLst>
                                          <p:attrName>ppt_x</p:attrName>
                                        </p:attrNameLst>
                                      </p:cBhvr>
                                      <p:tavLst>
                                        <p:tav tm="0">
                                          <p:val>
                                            <p:strVal val="#ppt_x"/>
                                          </p:val>
                                        </p:tav>
                                        <p:tav tm="100000">
                                          <p:val>
                                            <p:strVal val="#ppt_x"/>
                                          </p:val>
                                        </p:tav>
                                      </p:tavLst>
                                    </p:anim>
                                    <p:anim calcmode="lin" valueType="num">
                                      <p:cBhvr>
                                        <p:cTn id="22"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1000"/>
                                        <p:tgtEl>
                                          <p:spTgt spid="30"/>
                                        </p:tgtEl>
                                      </p:cBhvr>
                                    </p:animEffect>
                                    <p:anim calcmode="lin" valueType="num">
                                      <p:cBhvr>
                                        <p:cTn id="28" dur="1000" fill="hold"/>
                                        <p:tgtEl>
                                          <p:spTgt spid="30"/>
                                        </p:tgtEl>
                                        <p:attrNameLst>
                                          <p:attrName>ppt_x</p:attrName>
                                        </p:attrNameLst>
                                      </p:cBhvr>
                                      <p:tavLst>
                                        <p:tav tm="0">
                                          <p:val>
                                            <p:strVal val="#ppt_x"/>
                                          </p:val>
                                        </p:tav>
                                        <p:tav tm="100000">
                                          <p:val>
                                            <p:strVal val="#ppt_x"/>
                                          </p:val>
                                        </p:tav>
                                      </p:tavLst>
                                    </p:anim>
                                    <p:anim calcmode="lin" valueType="num">
                                      <p:cBhvr>
                                        <p:cTn id="2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25B9A-C526-0ECA-7AC5-672D1A66F21B}"/>
            </a:ext>
          </a:extLst>
        </p:cNvPr>
        <p:cNvGrpSpPr/>
        <p:nvPr/>
      </p:nvGrpSpPr>
      <p:grpSpPr>
        <a:xfrm>
          <a:off x="0" y="0"/>
          <a:ext cx="0" cy="0"/>
          <a:chOff x="0" y="0"/>
          <a:chExt cx="0" cy="0"/>
        </a:xfrm>
      </p:grpSpPr>
      <p:sp>
        <p:nvSpPr>
          <p:cNvPr id="71" name="矩形 70">
            <a:extLst>
              <a:ext uri="{FF2B5EF4-FFF2-40B4-BE49-F238E27FC236}">
                <a16:creationId xmlns:a16="http://schemas.microsoft.com/office/drawing/2014/main" id="{B4868B09-20BA-05AA-8CE4-EC21C2662F01}"/>
              </a:ext>
            </a:extLst>
          </p:cNvPr>
          <p:cNvSpPr/>
          <p:nvPr/>
        </p:nvSpPr>
        <p:spPr>
          <a:xfrm>
            <a:off x="1174458" y="1644234"/>
            <a:ext cx="2311692" cy="434885"/>
          </a:xfrm>
          <a:prstGeom prst="rect">
            <a:avLst/>
          </a:prstGeom>
          <a:solidFill>
            <a:srgbClr val="C00000">
              <a:alpha val="10000"/>
            </a:srgb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latin typeface="+mj-ea"/>
                <a:ea typeface="+mj-ea"/>
              </a:rPr>
              <a:t>样本效率问题</a:t>
            </a:r>
          </a:p>
        </p:txBody>
      </p:sp>
      <p:grpSp>
        <p:nvGrpSpPr>
          <p:cNvPr id="56" name="组合 55">
            <a:extLst>
              <a:ext uri="{FF2B5EF4-FFF2-40B4-BE49-F238E27FC236}">
                <a16:creationId xmlns:a16="http://schemas.microsoft.com/office/drawing/2014/main" id="{A568F3DC-81F5-2FD6-93BB-01ED83431C9D}"/>
              </a:ext>
            </a:extLst>
          </p:cNvPr>
          <p:cNvGrpSpPr/>
          <p:nvPr/>
        </p:nvGrpSpPr>
        <p:grpSpPr>
          <a:xfrm>
            <a:off x="-1" y="939798"/>
            <a:ext cx="7848600" cy="625474"/>
            <a:chOff x="-1" y="1075267"/>
            <a:chExt cx="7848600" cy="625474"/>
          </a:xfrm>
        </p:grpSpPr>
        <p:sp>
          <p:nvSpPr>
            <p:cNvPr id="58" name="矩形 57">
              <a:extLst>
                <a:ext uri="{FF2B5EF4-FFF2-40B4-BE49-F238E27FC236}">
                  <a16:creationId xmlns:a16="http://schemas.microsoft.com/office/drawing/2014/main" id="{367AB6BA-2D26-C8E4-77B7-DBE8D3B0C2BE}"/>
                </a:ext>
              </a:extLst>
            </p:cNvPr>
            <p:cNvSpPr/>
            <p:nvPr/>
          </p:nvSpPr>
          <p:spPr>
            <a:xfrm>
              <a:off x="-1" y="1075267"/>
              <a:ext cx="5833533"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7F43D1EB-D6F0-1344-B9A5-F0514BD28A6B}"/>
                </a:ext>
              </a:extLst>
            </p:cNvPr>
            <p:cNvSpPr txBox="1"/>
            <p:nvPr/>
          </p:nvSpPr>
          <p:spPr>
            <a:xfrm>
              <a:off x="270932" y="1157172"/>
              <a:ext cx="7577667" cy="461665"/>
            </a:xfrm>
            <a:prstGeom prst="rect">
              <a:avLst/>
            </a:prstGeom>
            <a:noFill/>
          </p:spPr>
          <p:txBody>
            <a:bodyPr wrap="square">
              <a:spAutoFit/>
            </a:bodyPr>
            <a:lstStyle/>
            <a:p>
              <a:r>
                <a:rPr lang="en-US" altLang="zh-CN" sz="2400" b="1" dirty="0">
                  <a:solidFill>
                    <a:schemeClr val="accent1"/>
                  </a:solidFill>
                  <a:latin typeface="+mj-lt"/>
                </a:rPr>
                <a:t>5.1.3 </a:t>
              </a:r>
              <a:r>
                <a:rPr lang="zh-CN" altLang="en-US" sz="2400" b="1" dirty="0">
                  <a:solidFill>
                    <a:schemeClr val="accent1"/>
                  </a:solidFill>
                  <a:latin typeface="+mj-lt"/>
                </a:rPr>
                <a:t>学习算法在机器人导航中的问题和挑战</a:t>
              </a:r>
            </a:p>
          </p:txBody>
        </p:sp>
      </p:grpSp>
      <p:pic>
        <p:nvPicPr>
          <p:cNvPr id="61" name="图片 60" descr="图形用户界面, 网站&#10;&#10;AI 生成的内容可能不正确。">
            <a:extLst>
              <a:ext uri="{FF2B5EF4-FFF2-40B4-BE49-F238E27FC236}">
                <a16:creationId xmlns:a16="http://schemas.microsoft.com/office/drawing/2014/main" id="{32EDA661-7B12-E26B-BBE9-7E3EF6EBCFB5}"/>
              </a:ext>
            </a:extLst>
          </p:cNvPr>
          <p:cNvPicPr>
            <a:picLocks noChangeAspect="1"/>
          </p:cNvPicPr>
          <p:nvPr/>
        </p:nvPicPr>
        <p:blipFill>
          <a:blip r:embed="rId3"/>
          <a:stretch>
            <a:fillRect/>
          </a:stretch>
        </p:blipFill>
        <p:spPr>
          <a:xfrm>
            <a:off x="4965975" y="1691270"/>
            <a:ext cx="6408246" cy="4503213"/>
          </a:xfrm>
          <a:prstGeom prst="rect">
            <a:avLst/>
          </a:prstGeom>
        </p:spPr>
      </p:pic>
      <p:sp>
        <p:nvSpPr>
          <p:cNvPr id="66" name="矩形 65">
            <a:extLst>
              <a:ext uri="{FF2B5EF4-FFF2-40B4-BE49-F238E27FC236}">
                <a16:creationId xmlns:a16="http://schemas.microsoft.com/office/drawing/2014/main" id="{12B54482-9EB7-A1CA-2E4F-2C0E6D943860}"/>
              </a:ext>
            </a:extLst>
          </p:cNvPr>
          <p:cNvSpPr/>
          <p:nvPr/>
        </p:nvSpPr>
        <p:spPr>
          <a:xfrm>
            <a:off x="1227802" y="2790990"/>
            <a:ext cx="2311692" cy="434885"/>
          </a:xfrm>
          <a:prstGeom prst="rect">
            <a:avLst/>
          </a:prstGeom>
          <a:solidFill>
            <a:srgbClr val="C00000">
              <a:alpha val="10000"/>
            </a:srgb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latin typeface="+mj-ea"/>
                <a:ea typeface="+mj-ea"/>
              </a:rPr>
              <a:t>感知能力问题</a:t>
            </a:r>
          </a:p>
        </p:txBody>
      </p:sp>
      <p:sp>
        <p:nvSpPr>
          <p:cNvPr id="72" name="矩形 71">
            <a:extLst>
              <a:ext uri="{FF2B5EF4-FFF2-40B4-BE49-F238E27FC236}">
                <a16:creationId xmlns:a16="http://schemas.microsoft.com/office/drawing/2014/main" id="{37B1DC62-A79A-C0D1-9291-F2D796A9AD7C}"/>
              </a:ext>
            </a:extLst>
          </p:cNvPr>
          <p:cNvSpPr/>
          <p:nvPr/>
        </p:nvSpPr>
        <p:spPr>
          <a:xfrm>
            <a:off x="1227802" y="3866653"/>
            <a:ext cx="2311692" cy="434885"/>
          </a:xfrm>
          <a:prstGeom prst="rect">
            <a:avLst/>
          </a:prstGeom>
          <a:solidFill>
            <a:srgbClr val="C00000">
              <a:alpha val="10000"/>
            </a:srgb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latin typeface="+mj-ea"/>
                <a:ea typeface="+mj-ea"/>
              </a:rPr>
              <a:t>探索策略问题</a:t>
            </a:r>
          </a:p>
        </p:txBody>
      </p:sp>
      <p:sp>
        <p:nvSpPr>
          <p:cNvPr id="78" name="矩形 77">
            <a:extLst>
              <a:ext uri="{FF2B5EF4-FFF2-40B4-BE49-F238E27FC236}">
                <a16:creationId xmlns:a16="http://schemas.microsoft.com/office/drawing/2014/main" id="{0D8D0964-C1CB-C282-567B-CBE278DF5E9B}"/>
              </a:ext>
            </a:extLst>
          </p:cNvPr>
          <p:cNvSpPr/>
          <p:nvPr/>
        </p:nvSpPr>
        <p:spPr>
          <a:xfrm>
            <a:off x="1227802" y="4863734"/>
            <a:ext cx="2311692" cy="434885"/>
          </a:xfrm>
          <a:prstGeom prst="rect">
            <a:avLst/>
          </a:prstGeom>
          <a:solidFill>
            <a:srgbClr val="C00000">
              <a:alpha val="10000"/>
            </a:srgb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latin typeface="+mj-ea"/>
                <a:ea typeface="+mj-ea"/>
              </a:rPr>
              <a:t>安全性问题</a:t>
            </a:r>
          </a:p>
        </p:txBody>
      </p:sp>
      <p:sp>
        <p:nvSpPr>
          <p:cNvPr id="79" name="矩形 78">
            <a:extLst>
              <a:ext uri="{FF2B5EF4-FFF2-40B4-BE49-F238E27FC236}">
                <a16:creationId xmlns:a16="http://schemas.microsoft.com/office/drawing/2014/main" id="{ED1DFCFA-86DA-A8B5-0AE3-4E198DC1453B}"/>
              </a:ext>
            </a:extLst>
          </p:cNvPr>
          <p:cNvSpPr/>
          <p:nvPr/>
        </p:nvSpPr>
        <p:spPr>
          <a:xfrm>
            <a:off x="1254474" y="5889917"/>
            <a:ext cx="2258348" cy="434885"/>
          </a:xfrm>
          <a:prstGeom prst="rect">
            <a:avLst/>
          </a:prstGeom>
          <a:solidFill>
            <a:srgbClr val="C00000">
              <a:alpha val="10000"/>
            </a:srgb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latin typeface="+mj-ea"/>
                <a:ea typeface="+mj-ea"/>
              </a:rPr>
              <a:t>泛化能力问题</a:t>
            </a:r>
          </a:p>
        </p:txBody>
      </p:sp>
      <p:grpSp>
        <p:nvGrpSpPr>
          <p:cNvPr id="84" name="组合 83">
            <a:extLst>
              <a:ext uri="{FF2B5EF4-FFF2-40B4-BE49-F238E27FC236}">
                <a16:creationId xmlns:a16="http://schemas.microsoft.com/office/drawing/2014/main" id="{975147DA-BA91-DBCB-CBF3-953FD59E52CE}"/>
              </a:ext>
            </a:extLst>
          </p:cNvPr>
          <p:cNvGrpSpPr/>
          <p:nvPr/>
        </p:nvGrpSpPr>
        <p:grpSpPr>
          <a:xfrm>
            <a:off x="1068345" y="2160401"/>
            <a:ext cx="4606290" cy="4780480"/>
            <a:chOff x="1068345" y="2160401"/>
            <a:chExt cx="4606290" cy="4780480"/>
          </a:xfrm>
        </p:grpSpPr>
        <p:sp>
          <p:nvSpPr>
            <p:cNvPr id="67" name="文本框 66">
              <a:extLst>
                <a:ext uri="{FF2B5EF4-FFF2-40B4-BE49-F238E27FC236}">
                  <a16:creationId xmlns:a16="http://schemas.microsoft.com/office/drawing/2014/main" id="{9100716F-0674-8816-294F-77AA1ADBD6A2}"/>
                </a:ext>
              </a:extLst>
            </p:cNvPr>
            <p:cNvSpPr txBox="1"/>
            <p:nvPr/>
          </p:nvSpPr>
          <p:spPr bwMode="auto">
            <a:xfrm>
              <a:off x="1068346" y="2160401"/>
              <a:ext cx="3135208"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solidFill>
                    <a:srgbClr val="0D2D7F"/>
                  </a:solidFill>
                  <a:effectLst/>
                  <a:latin typeface="+mj-ea"/>
                  <a:ea typeface="+mj-ea"/>
                  <a:cs typeface="Microsoft GothicNeo" panose="020B0500000101010101" pitchFamily="34" charset="-127"/>
                </a:rPr>
                <a:t>海量</a:t>
              </a:r>
              <a:r>
                <a:rPr kumimoji="1" lang="zh-CN" altLang="en-US" sz="2000" b="1" kern="1300" dirty="0">
                  <a:effectLst/>
                  <a:latin typeface="+mj-ea"/>
                  <a:ea typeface="+mj-ea"/>
                  <a:cs typeface="Microsoft GothicNeo" panose="020B0500000101010101" pitchFamily="34" charset="-127"/>
                </a:rPr>
                <a:t>训练样本</a:t>
              </a:r>
              <a:endParaRPr kumimoji="1" lang="en-US" altLang="zh-CN" sz="2000" b="1" kern="1300" dirty="0">
                <a:effectLst/>
                <a:latin typeface="+mj-ea"/>
                <a:ea typeface="+mj-ea"/>
                <a:cs typeface="Microsoft GothicNeo" panose="020B0500000101010101" pitchFamily="34" charset="-127"/>
              </a:endParaRPr>
            </a:p>
          </p:txBody>
        </p:sp>
        <p:sp>
          <p:nvSpPr>
            <p:cNvPr id="80" name="文本框 79">
              <a:extLst>
                <a:ext uri="{FF2B5EF4-FFF2-40B4-BE49-F238E27FC236}">
                  <a16:creationId xmlns:a16="http://schemas.microsoft.com/office/drawing/2014/main" id="{DB4600AE-B196-62F9-BF8C-BD6527521C5E}"/>
                </a:ext>
              </a:extLst>
            </p:cNvPr>
            <p:cNvSpPr txBox="1"/>
            <p:nvPr/>
          </p:nvSpPr>
          <p:spPr bwMode="auto">
            <a:xfrm>
              <a:off x="1068346" y="3246253"/>
              <a:ext cx="4606289"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solidFill>
                    <a:srgbClr val="0D2D7F"/>
                  </a:solidFill>
                  <a:effectLst/>
                  <a:latin typeface="+mj-ea"/>
                  <a:ea typeface="+mj-ea"/>
                  <a:cs typeface="Microsoft GothicNeo" panose="020B0500000101010101" pitchFamily="34" charset="-127"/>
                </a:rPr>
                <a:t>复杂</a:t>
              </a:r>
              <a:r>
                <a:rPr kumimoji="1" lang="zh-CN" altLang="en-US" sz="2000" b="1" kern="1300" dirty="0">
                  <a:latin typeface="+mj-ea"/>
                  <a:ea typeface="+mj-ea"/>
                  <a:cs typeface="Microsoft GothicNeo" panose="020B0500000101010101" pitchFamily="34" charset="-127"/>
                </a:rPr>
                <a:t>的语义场景解释</a:t>
              </a:r>
              <a:endParaRPr kumimoji="1" lang="en-US" altLang="zh-CN" sz="2000" b="1" kern="1300" dirty="0">
                <a:effectLst/>
                <a:latin typeface="+mj-ea"/>
                <a:ea typeface="+mj-ea"/>
                <a:cs typeface="Microsoft GothicNeo" panose="020B0500000101010101" pitchFamily="34" charset="-127"/>
              </a:endParaRPr>
            </a:p>
          </p:txBody>
        </p:sp>
        <p:sp>
          <p:nvSpPr>
            <p:cNvPr id="81" name="文本框 80">
              <a:extLst>
                <a:ext uri="{FF2B5EF4-FFF2-40B4-BE49-F238E27FC236}">
                  <a16:creationId xmlns:a16="http://schemas.microsoft.com/office/drawing/2014/main" id="{35CD50D0-70CD-9554-B30D-660D02EF9BF1}"/>
                </a:ext>
              </a:extLst>
            </p:cNvPr>
            <p:cNvSpPr txBox="1"/>
            <p:nvPr/>
          </p:nvSpPr>
          <p:spPr bwMode="auto">
            <a:xfrm>
              <a:off x="1068345" y="4257885"/>
              <a:ext cx="4606289"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solidFill>
                    <a:srgbClr val="0D2D7F"/>
                  </a:solidFill>
                  <a:latin typeface="+mj-ea"/>
                  <a:ea typeface="+mj-ea"/>
                  <a:cs typeface="Microsoft GothicNeo" panose="020B0500000101010101" pitchFamily="34" charset="-127"/>
                </a:rPr>
                <a:t>平衡</a:t>
              </a:r>
              <a:r>
                <a:rPr kumimoji="1" lang="zh-CN" altLang="en-US" sz="2000" b="1" kern="1300" dirty="0">
                  <a:latin typeface="+mj-ea"/>
                  <a:ea typeface="+mj-ea"/>
                  <a:cs typeface="Microsoft GothicNeo" panose="020B0500000101010101" pitchFamily="34" charset="-127"/>
                </a:rPr>
                <a:t>探索与利用</a:t>
              </a:r>
              <a:endParaRPr kumimoji="1" lang="en-US" altLang="zh-CN" sz="2000" b="1" kern="1300" dirty="0">
                <a:effectLst/>
                <a:latin typeface="+mj-ea"/>
                <a:ea typeface="+mj-ea"/>
                <a:cs typeface="Microsoft GothicNeo" panose="020B0500000101010101" pitchFamily="34" charset="-127"/>
              </a:endParaRPr>
            </a:p>
          </p:txBody>
        </p:sp>
        <p:sp>
          <p:nvSpPr>
            <p:cNvPr id="82" name="文本框 81">
              <a:extLst>
                <a:ext uri="{FF2B5EF4-FFF2-40B4-BE49-F238E27FC236}">
                  <a16:creationId xmlns:a16="http://schemas.microsoft.com/office/drawing/2014/main" id="{2B52A090-B52B-C6C8-D713-0335600E99FA}"/>
                </a:ext>
              </a:extLst>
            </p:cNvPr>
            <p:cNvSpPr txBox="1"/>
            <p:nvPr/>
          </p:nvSpPr>
          <p:spPr bwMode="auto">
            <a:xfrm>
              <a:off x="1068345" y="5269517"/>
              <a:ext cx="4606289"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latin typeface="+mj-ea"/>
                  <a:ea typeface="+mj-ea"/>
                  <a:cs typeface="Microsoft GothicNeo" panose="020B0500000101010101" pitchFamily="34" charset="-127"/>
                </a:rPr>
                <a:t>合理安全的</a:t>
              </a:r>
              <a:r>
                <a:rPr kumimoji="1" lang="zh-CN" altLang="en-US" sz="2000" b="1" kern="1300" dirty="0">
                  <a:solidFill>
                    <a:srgbClr val="0D2D7F"/>
                  </a:solidFill>
                  <a:latin typeface="+mj-ea"/>
                  <a:ea typeface="+mj-ea"/>
                  <a:cs typeface="Microsoft GothicNeo" panose="020B0500000101010101" pitchFamily="34" charset="-127"/>
                </a:rPr>
                <a:t>规划避障</a:t>
              </a:r>
              <a:endParaRPr kumimoji="1" lang="en-US" altLang="zh-CN" sz="2000" b="1" kern="1300" dirty="0">
                <a:effectLst/>
                <a:latin typeface="+mj-ea"/>
                <a:ea typeface="+mj-ea"/>
                <a:cs typeface="Microsoft GothicNeo" panose="020B0500000101010101" pitchFamily="34" charset="-127"/>
              </a:endParaRPr>
            </a:p>
          </p:txBody>
        </p:sp>
        <p:sp>
          <p:nvSpPr>
            <p:cNvPr id="83" name="文本框 82">
              <a:extLst>
                <a:ext uri="{FF2B5EF4-FFF2-40B4-BE49-F238E27FC236}">
                  <a16:creationId xmlns:a16="http://schemas.microsoft.com/office/drawing/2014/main" id="{9E904742-0695-AFE2-78EF-D1CF2131E1FB}"/>
                </a:ext>
              </a:extLst>
            </p:cNvPr>
            <p:cNvSpPr txBox="1"/>
            <p:nvPr/>
          </p:nvSpPr>
          <p:spPr bwMode="auto">
            <a:xfrm>
              <a:off x="1068345" y="6320481"/>
              <a:ext cx="4606289" cy="620400"/>
            </a:xfrm>
            <a:prstGeom prst="rect">
              <a:avLst/>
            </a:prstGeom>
            <a:noFill/>
            <a:ln w="28575">
              <a:noFill/>
              <a:miter lim="800000"/>
              <a:headEnd/>
              <a:tailEnd/>
            </a:ln>
          </p:spPr>
          <p:txBody>
            <a:bodyPr wrap="square" lIns="162000" tIns="154800" bIns="154800" rtlCol="0">
              <a:spAutoFit/>
            </a:bodyPr>
            <a:lstStyle/>
            <a:p>
              <a:pPr algn="just">
                <a:spcBef>
                  <a:spcPts val="0"/>
                </a:spcBef>
                <a:buClrTx/>
                <a:buSzTx/>
              </a:pPr>
              <a:r>
                <a:rPr kumimoji="1" lang="zh-CN" altLang="en-US" sz="2000" b="1" kern="1300" dirty="0">
                  <a:solidFill>
                    <a:srgbClr val="0D2D7F"/>
                  </a:solidFill>
                  <a:latin typeface="+mj-ea"/>
                  <a:ea typeface="+mj-ea"/>
                  <a:cs typeface="Microsoft GothicNeo" panose="020B0500000101010101" pitchFamily="34" charset="-127"/>
                </a:rPr>
                <a:t>多场景</a:t>
              </a:r>
              <a:r>
                <a:rPr kumimoji="1" lang="zh-CN" altLang="en-US" sz="2000" b="1" kern="1300" dirty="0">
                  <a:latin typeface="+mj-ea"/>
                  <a:ea typeface="+mj-ea"/>
                  <a:cs typeface="Microsoft GothicNeo" panose="020B0500000101010101" pitchFamily="34" charset="-127"/>
                </a:rPr>
                <a:t>自适应鲁棒</a:t>
              </a:r>
              <a:endParaRPr kumimoji="1" lang="en-US" altLang="zh-CN" sz="2000" b="1" kern="1300" dirty="0">
                <a:effectLst/>
                <a:latin typeface="+mj-ea"/>
                <a:ea typeface="+mj-ea"/>
                <a:cs typeface="Microsoft GothicNeo" panose="020B0500000101010101" pitchFamily="34" charset="-127"/>
              </a:endParaRPr>
            </a:p>
          </p:txBody>
        </p:sp>
      </p:grpSp>
    </p:spTree>
    <p:extLst>
      <p:ext uri="{BB962C8B-B14F-4D97-AF65-F5344CB8AC3E}">
        <p14:creationId xmlns:p14="http://schemas.microsoft.com/office/powerpoint/2010/main" val="228766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anim calcmode="lin" valueType="num">
                                      <p:cBhvr>
                                        <p:cTn id="8" dur="500" fill="hold"/>
                                        <p:tgtEl>
                                          <p:spTgt spid="71"/>
                                        </p:tgtEl>
                                        <p:attrNameLst>
                                          <p:attrName>ppt_x</p:attrName>
                                        </p:attrNameLst>
                                      </p:cBhvr>
                                      <p:tavLst>
                                        <p:tav tm="0">
                                          <p:val>
                                            <p:strVal val="#ppt_x"/>
                                          </p:val>
                                        </p:tav>
                                        <p:tav tm="100000">
                                          <p:val>
                                            <p:strVal val="#ppt_x"/>
                                          </p:val>
                                        </p:tav>
                                      </p:tavLst>
                                    </p:anim>
                                    <p:anim calcmode="lin" valueType="num">
                                      <p:cBhvr>
                                        <p:cTn id="9" dur="500" fill="hold"/>
                                        <p:tgtEl>
                                          <p:spTgt spid="7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500"/>
                                        <p:tgtEl>
                                          <p:spTgt spid="66"/>
                                        </p:tgtEl>
                                      </p:cBhvr>
                                    </p:animEffect>
                                    <p:anim calcmode="lin" valueType="num">
                                      <p:cBhvr>
                                        <p:cTn id="13" dur="500" fill="hold"/>
                                        <p:tgtEl>
                                          <p:spTgt spid="66"/>
                                        </p:tgtEl>
                                        <p:attrNameLst>
                                          <p:attrName>ppt_x</p:attrName>
                                        </p:attrNameLst>
                                      </p:cBhvr>
                                      <p:tavLst>
                                        <p:tav tm="0">
                                          <p:val>
                                            <p:strVal val="#ppt_x"/>
                                          </p:val>
                                        </p:tav>
                                        <p:tav tm="100000">
                                          <p:val>
                                            <p:strVal val="#ppt_x"/>
                                          </p:val>
                                        </p:tav>
                                      </p:tavLst>
                                    </p:anim>
                                    <p:anim calcmode="lin" valueType="num">
                                      <p:cBhvr>
                                        <p:cTn id="14" dur="500" fill="hold"/>
                                        <p:tgtEl>
                                          <p:spTgt spid="6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fade">
                                      <p:cBhvr>
                                        <p:cTn id="17" dur="500"/>
                                        <p:tgtEl>
                                          <p:spTgt spid="72"/>
                                        </p:tgtEl>
                                      </p:cBhvr>
                                    </p:animEffect>
                                    <p:anim calcmode="lin" valueType="num">
                                      <p:cBhvr>
                                        <p:cTn id="18" dur="500" fill="hold"/>
                                        <p:tgtEl>
                                          <p:spTgt spid="72"/>
                                        </p:tgtEl>
                                        <p:attrNameLst>
                                          <p:attrName>ppt_x</p:attrName>
                                        </p:attrNameLst>
                                      </p:cBhvr>
                                      <p:tavLst>
                                        <p:tav tm="0">
                                          <p:val>
                                            <p:strVal val="#ppt_x"/>
                                          </p:val>
                                        </p:tav>
                                        <p:tav tm="100000">
                                          <p:val>
                                            <p:strVal val="#ppt_x"/>
                                          </p:val>
                                        </p:tav>
                                      </p:tavLst>
                                    </p:anim>
                                    <p:anim calcmode="lin" valueType="num">
                                      <p:cBhvr>
                                        <p:cTn id="19" dur="500" fill="hold"/>
                                        <p:tgtEl>
                                          <p:spTgt spid="7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fade">
                                      <p:cBhvr>
                                        <p:cTn id="22" dur="500"/>
                                        <p:tgtEl>
                                          <p:spTgt spid="78"/>
                                        </p:tgtEl>
                                      </p:cBhvr>
                                    </p:animEffect>
                                    <p:anim calcmode="lin" valueType="num">
                                      <p:cBhvr>
                                        <p:cTn id="23" dur="500" fill="hold"/>
                                        <p:tgtEl>
                                          <p:spTgt spid="78"/>
                                        </p:tgtEl>
                                        <p:attrNameLst>
                                          <p:attrName>ppt_x</p:attrName>
                                        </p:attrNameLst>
                                      </p:cBhvr>
                                      <p:tavLst>
                                        <p:tav tm="0">
                                          <p:val>
                                            <p:strVal val="#ppt_x"/>
                                          </p:val>
                                        </p:tav>
                                        <p:tav tm="100000">
                                          <p:val>
                                            <p:strVal val="#ppt_x"/>
                                          </p:val>
                                        </p:tav>
                                      </p:tavLst>
                                    </p:anim>
                                    <p:anim calcmode="lin" valueType="num">
                                      <p:cBhvr>
                                        <p:cTn id="24" dur="500" fill="hold"/>
                                        <p:tgtEl>
                                          <p:spTgt spid="7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fade">
                                      <p:cBhvr>
                                        <p:cTn id="27" dur="500"/>
                                        <p:tgtEl>
                                          <p:spTgt spid="79"/>
                                        </p:tgtEl>
                                      </p:cBhvr>
                                    </p:animEffect>
                                    <p:anim calcmode="lin" valueType="num">
                                      <p:cBhvr>
                                        <p:cTn id="28" dur="500" fill="hold"/>
                                        <p:tgtEl>
                                          <p:spTgt spid="79"/>
                                        </p:tgtEl>
                                        <p:attrNameLst>
                                          <p:attrName>ppt_x</p:attrName>
                                        </p:attrNameLst>
                                      </p:cBhvr>
                                      <p:tavLst>
                                        <p:tav tm="0">
                                          <p:val>
                                            <p:strVal val="#ppt_x"/>
                                          </p:val>
                                        </p:tav>
                                        <p:tav tm="100000">
                                          <p:val>
                                            <p:strVal val="#ppt_x"/>
                                          </p:val>
                                        </p:tav>
                                      </p:tavLst>
                                    </p:anim>
                                    <p:anim calcmode="lin" valueType="num">
                                      <p:cBhvr>
                                        <p:cTn id="29" dur="500" fill="hold"/>
                                        <p:tgtEl>
                                          <p:spTgt spid="79"/>
                                        </p:tgtEl>
                                        <p:attrNameLst>
                                          <p:attrName>ppt_y</p:attrName>
                                        </p:attrNameLst>
                                      </p:cBhvr>
                                      <p:tavLst>
                                        <p:tav tm="0">
                                          <p:val>
                                            <p:strVal val="#ppt_y+.1"/>
                                          </p:val>
                                        </p:tav>
                                        <p:tav tm="100000">
                                          <p:val>
                                            <p:strVal val="#ppt_y"/>
                                          </p:val>
                                        </p:tav>
                                      </p:tavLst>
                                    </p:anim>
                                  </p:childTnLst>
                                </p:cTn>
                              </p:par>
                            </p:childTnLst>
                          </p:cTn>
                        </p:par>
                        <p:par>
                          <p:cTn id="30" fill="hold">
                            <p:stCondLst>
                              <p:cond delay="500"/>
                            </p:stCondLst>
                            <p:childTnLst>
                              <p:par>
                                <p:cTn id="31" presetID="42" presetClass="entr" presetSubtype="0" fill="hold" nodeType="afterEffect">
                                  <p:stCondLst>
                                    <p:cond delay="0"/>
                                  </p:stCondLst>
                                  <p:childTnLst>
                                    <p:set>
                                      <p:cBhvr>
                                        <p:cTn id="32" dur="1" fill="hold">
                                          <p:stCondLst>
                                            <p:cond delay="0"/>
                                          </p:stCondLst>
                                        </p:cTn>
                                        <p:tgtEl>
                                          <p:spTgt spid="84"/>
                                        </p:tgtEl>
                                        <p:attrNameLst>
                                          <p:attrName>style.visibility</p:attrName>
                                        </p:attrNameLst>
                                      </p:cBhvr>
                                      <p:to>
                                        <p:strVal val="visible"/>
                                      </p:to>
                                    </p:set>
                                    <p:animEffect transition="in" filter="fade">
                                      <p:cBhvr>
                                        <p:cTn id="33" dur="1000"/>
                                        <p:tgtEl>
                                          <p:spTgt spid="84"/>
                                        </p:tgtEl>
                                      </p:cBhvr>
                                    </p:animEffect>
                                    <p:anim calcmode="lin" valueType="num">
                                      <p:cBhvr>
                                        <p:cTn id="34" dur="1000" fill="hold"/>
                                        <p:tgtEl>
                                          <p:spTgt spid="84"/>
                                        </p:tgtEl>
                                        <p:attrNameLst>
                                          <p:attrName>ppt_x</p:attrName>
                                        </p:attrNameLst>
                                      </p:cBhvr>
                                      <p:tavLst>
                                        <p:tav tm="0">
                                          <p:val>
                                            <p:strVal val="#ppt_x"/>
                                          </p:val>
                                        </p:tav>
                                        <p:tav tm="100000">
                                          <p:val>
                                            <p:strVal val="#ppt_x"/>
                                          </p:val>
                                        </p:tav>
                                      </p:tavLst>
                                    </p:anim>
                                    <p:anim calcmode="lin" valueType="num">
                                      <p:cBhvr>
                                        <p:cTn id="35" dur="1000" fill="hold"/>
                                        <p:tgtEl>
                                          <p:spTgt spid="8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66" grpId="0" animBg="1"/>
      <p:bldP spid="72" grpId="0" animBg="1"/>
      <p:bldP spid="78" grpId="0" animBg="1"/>
      <p:bldP spid="7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939798"/>
            <a:ext cx="5022850" cy="625474"/>
            <a:chOff x="0" y="1075267"/>
            <a:chExt cx="5022850"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0933" y="1157172"/>
              <a:ext cx="3505200" cy="460375"/>
            </a:xfrm>
            <a:prstGeom prst="rect">
              <a:avLst/>
            </a:prstGeom>
            <a:noFill/>
          </p:spPr>
          <p:txBody>
            <a:bodyPr wrap="square">
              <a:spAutoFit/>
            </a:bodyPr>
            <a:lstStyle/>
            <a:p>
              <a:r>
                <a:rPr lang="en-US" altLang="zh-CN" sz="2400" b="1" dirty="0">
                  <a:solidFill>
                    <a:schemeClr val="accent1"/>
                  </a:solidFill>
                  <a:latin typeface="+mj-lt"/>
                </a:rPr>
                <a:t>5.2.1 </a:t>
              </a:r>
              <a:r>
                <a:rPr lang="zh-CN" altLang="en-US" sz="2400" b="1" dirty="0">
                  <a:solidFill>
                    <a:schemeClr val="accent1"/>
                  </a:solidFill>
                  <a:latin typeface="+mj-lt"/>
                </a:rPr>
                <a:t>决策树导航策略</a:t>
              </a:r>
              <a:endParaRPr lang="en-US" altLang="zh-CN" sz="2400" b="1" dirty="0">
                <a:solidFill>
                  <a:schemeClr val="accent1"/>
                </a:solidFill>
                <a:latin typeface="+mj-lt"/>
              </a:endParaRPr>
            </a:p>
          </p:txBody>
        </p:sp>
      </p:grpSp>
      <p:sp>
        <p:nvSpPr>
          <p:cNvPr id="5" name="矩形 4"/>
          <p:cNvSpPr/>
          <p:nvPr/>
        </p:nvSpPr>
        <p:spPr>
          <a:xfrm>
            <a:off x="5291603" y="5253183"/>
            <a:ext cx="6030502" cy="454284"/>
          </a:xfrm>
          <a:prstGeom prst="rect">
            <a:avLst/>
          </a:prstGeom>
          <a:gradFill>
            <a:gsLst>
              <a:gs pos="19000">
                <a:schemeClr val="bg1"/>
              </a:gs>
              <a:gs pos="95000">
                <a:schemeClr val="accent1">
                  <a:lumMod val="20000"/>
                  <a:lumOff val="8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mj-ea"/>
                <a:ea typeface="+mj-ea"/>
              </a:rPr>
              <a:t>决策树分类</a:t>
            </a:r>
          </a:p>
        </p:txBody>
      </p:sp>
      <p:pic>
        <p:nvPicPr>
          <p:cNvPr id="22" name="图片 21" descr="图片包含 游戏机, 雪, 桌子, 滑雪&#10;&#10;AI 生成的内容可能不正确。">
            <a:extLst>
              <a:ext uri="{FF2B5EF4-FFF2-40B4-BE49-F238E27FC236}">
                <a16:creationId xmlns:a16="http://schemas.microsoft.com/office/drawing/2014/main" id="{92B20F9F-61AF-AC85-E532-0B4B7861D10C}"/>
              </a:ext>
            </a:extLst>
          </p:cNvPr>
          <p:cNvPicPr>
            <a:picLocks noChangeAspect="1"/>
          </p:cNvPicPr>
          <p:nvPr/>
        </p:nvPicPr>
        <p:blipFill>
          <a:blip r:embed="rId3">
            <a:extLst>
              <a:ext uri="{28A0092B-C50C-407E-A947-70E740481C1C}">
                <a14:useLocalDpi xmlns:a14="http://schemas.microsoft.com/office/drawing/2010/main" val="0"/>
              </a:ext>
            </a:extLst>
          </a:blip>
          <a:srcRect l="4786" r="15139" b="24260"/>
          <a:stretch>
            <a:fillRect/>
          </a:stretch>
        </p:blipFill>
        <p:spPr>
          <a:xfrm>
            <a:off x="5291603" y="2358189"/>
            <a:ext cx="6030502" cy="2963745"/>
          </a:xfrm>
          <a:prstGeom prst="rect">
            <a:avLst/>
          </a:prstGeom>
        </p:spPr>
      </p:pic>
      <p:sp>
        <p:nvSpPr>
          <p:cNvPr id="23" name="文本框 22">
            <a:extLst>
              <a:ext uri="{FF2B5EF4-FFF2-40B4-BE49-F238E27FC236}">
                <a16:creationId xmlns:a16="http://schemas.microsoft.com/office/drawing/2014/main" id="{E9F228A1-B1B5-03B6-8789-D06CEA2ADAA1}"/>
              </a:ext>
            </a:extLst>
          </p:cNvPr>
          <p:cNvSpPr txBox="1"/>
          <p:nvPr/>
        </p:nvSpPr>
        <p:spPr>
          <a:xfrm>
            <a:off x="408230" y="2213454"/>
            <a:ext cx="4533499" cy="728533"/>
          </a:xfrm>
          <a:prstGeom prst="rect">
            <a:avLst/>
          </a:prstGeom>
          <a:noFill/>
        </p:spPr>
        <p:txBody>
          <a:bodyPr wrap="square" rtlCol="0">
            <a:spAutoFit/>
          </a:bodyPr>
          <a:lstStyle/>
          <a:p>
            <a:pPr>
              <a:lnSpc>
                <a:spcPct val="120000"/>
              </a:lnSpc>
            </a:pPr>
            <a:r>
              <a:rPr lang="zh-CN" altLang="en-US" b="1" dirty="0"/>
              <a:t>决策树算法（</a:t>
            </a:r>
            <a:r>
              <a:rPr lang="en-US" altLang="zh-CN" b="1" dirty="0"/>
              <a:t>Decision Tree, DT</a:t>
            </a:r>
            <a:r>
              <a:rPr lang="zh-CN" altLang="en-US" b="1" dirty="0"/>
              <a:t>）是一种常用于数据分类与回归分析的方法</a:t>
            </a:r>
            <a:endParaRPr lang="zh-CN" altLang="en-US" sz="2000" b="1" dirty="0"/>
          </a:p>
        </p:txBody>
      </p:sp>
      <p:cxnSp>
        <p:nvCxnSpPr>
          <p:cNvPr id="25" name="直接箭头连接符 24">
            <a:extLst>
              <a:ext uri="{FF2B5EF4-FFF2-40B4-BE49-F238E27FC236}">
                <a16:creationId xmlns:a16="http://schemas.microsoft.com/office/drawing/2014/main" id="{F0BB2ABB-AF8D-5B41-0DE3-88B5276EF3B8}"/>
              </a:ext>
            </a:extLst>
          </p:cNvPr>
          <p:cNvCxnSpPr/>
          <p:nvPr/>
        </p:nvCxnSpPr>
        <p:spPr>
          <a:xfrm>
            <a:off x="6096000" y="2640557"/>
            <a:ext cx="0" cy="2426941"/>
          </a:xfrm>
          <a:prstGeom prst="straightConnector1">
            <a:avLst/>
          </a:prstGeom>
          <a:ln w="19050" cap="flat" cmpd="sng" algn="ctr">
            <a:solidFill>
              <a:srgbClr val="C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7" name="文本框 26">
            <a:extLst>
              <a:ext uri="{FF2B5EF4-FFF2-40B4-BE49-F238E27FC236}">
                <a16:creationId xmlns:a16="http://schemas.microsoft.com/office/drawing/2014/main" id="{985B1A74-2CB5-2C2A-8C35-DF732D7BC96D}"/>
              </a:ext>
            </a:extLst>
          </p:cNvPr>
          <p:cNvSpPr txBox="1"/>
          <p:nvPr/>
        </p:nvSpPr>
        <p:spPr>
          <a:xfrm>
            <a:off x="5634335" y="2804853"/>
            <a:ext cx="461665" cy="2675472"/>
          </a:xfrm>
          <a:prstGeom prst="rect">
            <a:avLst/>
          </a:prstGeom>
          <a:noFill/>
        </p:spPr>
        <p:txBody>
          <a:bodyPr vert="eaVert" wrap="square" rtlCol="0">
            <a:spAutoFit/>
          </a:bodyPr>
          <a:lstStyle/>
          <a:p>
            <a:r>
              <a:rPr lang="zh-CN" altLang="en-US" dirty="0">
                <a:solidFill>
                  <a:srgbClr val="C00000"/>
                </a:solidFill>
              </a:rPr>
              <a:t>自顶向下的递归思路</a:t>
            </a:r>
          </a:p>
        </p:txBody>
      </p:sp>
      <p:sp>
        <p:nvSpPr>
          <p:cNvPr id="28" name="文本框 27">
            <a:extLst>
              <a:ext uri="{FF2B5EF4-FFF2-40B4-BE49-F238E27FC236}">
                <a16:creationId xmlns:a16="http://schemas.microsoft.com/office/drawing/2014/main" id="{2463448D-EC5E-601A-DC02-CFEA1C9DCE75}"/>
              </a:ext>
            </a:extLst>
          </p:cNvPr>
          <p:cNvSpPr txBox="1"/>
          <p:nvPr/>
        </p:nvSpPr>
        <p:spPr>
          <a:xfrm>
            <a:off x="408229" y="3498857"/>
            <a:ext cx="4533499" cy="1754326"/>
          </a:xfrm>
          <a:prstGeom prst="rect">
            <a:avLst/>
          </a:prstGeom>
          <a:noFill/>
        </p:spPr>
        <p:txBody>
          <a:bodyPr wrap="square" rtlCol="0">
            <a:spAutoFit/>
          </a:bodyPr>
          <a:lstStyle/>
          <a:p>
            <a:r>
              <a:rPr lang="zh-CN" altLang="en-US" b="1" dirty="0"/>
              <a:t>决策树中的节点表示一个属性，测试结果则输出在叶节点的分支中。</a:t>
            </a:r>
            <a:endParaRPr lang="en-US" altLang="zh-CN" b="1" dirty="0"/>
          </a:p>
          <a:p>
            <a:endParaRPr lang="en-US" altLang="zh-CN" b="1" dirty="0"/>
          </a:p>
          <a:p>
            <a:endParaRPr lang="en-US" altLang="zh-CN" b="1" dirty="0"/>
          </a:p>
          <a:p>
            <a:r>
              <a:rPr lang="zh-CN" altLang="en-US" b="1" dirty="0"/>
              <a:t>从决策树的根到叶节点的每条路径对应了一种选择办法。</a:t>
            </a:r>
            <a:endParaRPr lang="zh-CN" altLang="en-US" sz="2000" b="1" dirty="0"/>
          </a:p>
        </p:txBody>
      </p:sp>
      <p:sp>
        <p:nvSpPr>
          <p:cNvPr id="29" name="文本框 28">
            <a:extLst>
              <a:ext uri="{FF2B5EF4-FFF2-40B4-BE49-F238E27FC236}">
                <a16:creationId xmlns:a16="http://schemas.microsoft.com/office/drawing/2014/main" id="{55AC0302-EBDC-61A5-42EE-7E29669DD56D}"/>
              </a:ext>
            </a:extLst>
          </p:cNvPr>
          <p:cNvSpPr txBox="1"/>
          <p:nvPr/>
        </p:nvSpPr>
        <p:spPr>
          <a:xfrm>
            <a:off x="489351" y="5407744"/>
            <a:ext cx="4533499" cy="1129476"/>
          </a:xfrm>
          <a:prstGeom prst="rect">
            <a:avLst/>
          </a:prstGeom>
          <a:noFill/>
        </p:spPr>
        <p:txBody>
          <a:bodyPr wrap="square" rtlCol="0">
            <a:spAutoFit/>
          </a:bodyPr>
          <a:lstStyle/>
          <a:p>
            <a:pPr>
              <a:lnSpc>
                <a:spcPct val="120000"/>
              </a:lnSpc>
            </a:pPr>
            <a:r>
              <a:rPr lang="zh-CN" altLang="en-US" b="1" dirty="0"/>
              <a:t>二叉树：</a:t>
            </a:r>
            <a:endParaRPr lang="en-US" altLang="zh-CN" b="1" dirty="0"/>
          </a:p>
          <a:p>
            <a:pPr>
              <a:lnSpc>
                <a:spcPct val="120000"/>
              </a:lnSpc>
            </a:pPr>
            <a:r>
              <a:rPr lang="zh-CN" altLang="en-US" sz="2000" b="1" dirty="0"/>
              <a:t>节点：逻辑判断</a:t>
            </a:r>
            <a:endParaRPr lang="en-US" altLang="zh-CN" sz="2000" b="1" dirty="0"/>
          </a:p>
          <a:p>
            <a:pPr>
              <a:lnSpc>
                <a:spcPct val="120000"/>
              </a:lnSpc>
            </a:pPr>
            <a:r>
              <a:rPr lang="zh-CN" altLang="en-US" sz="2000" b="1" dirty="0"/>
              <a:t>边：判断结果</a:t>
            </a:r>
          </a:p>
        </p:txBody>
      </p:sp>
      <p:sp>
        <p:nvSpPr>
          <p:cNvPr id="30" name="文本框 29">
            <a:extLst>
              <a:ext uri="{FF2B5EF4-FFF2-40B4-BE49-F238E27FC236}">
                <a16:creationId xmlns:a16="http://schemas.microsoft.com/office/drawing/2014/main" id="{C8B53F29-380E-F1E1-4E67-F70828198D41}"/>
              </a:ext>
            </a:extLst>
          </p:cNvPr>
          <p:cNvSpPr txBox="1"/>
          <p:nvPr/>
        </p:nvSpPr>
        <p:spPr>
          <a:xfrm>
            <a:off x="3192731" y="5407744"/>
            <a:ext cx="4533499" cy="1131592"/>
          </a:xfrm>
          <a:prstGeom prst="rect">
            <a:avLst/>
          </a:prstGeom>
          <a:noFill/>
        </p:spPr>
        <p:txBody>
          <a:bodyPr wrap="square" rtlCol="0">
            <a:spAutoFit/>
          </a:bodyPr>
          <a:lstStyle/>
          <a:p>
            <a:pPr>
              <a:lnSpc>
                <a:spcPct val="120000"/>
              </a:lnSpc>
            </a:pPr>
            <a:r>
              <a:rPr lang="zh-CN" altLang="en-US" b="1" dirty="0"/>
              <a:t>多叉树：</a:t>
            </a:r>
            <a:endParaRPr lang="en-US" altLang="zh-CN" b="1" dirty="0"/>
          </a:p>
          <a:p>
            <a:pPr>
              <a:lnSpc>
                <a:spcPct val="120000"/>
              </a:lnSpc>
            </a:pPr>
            <a:r>
              <a:rPr lang="zh-CN" altLang="en-US" sz="2000" b="1" dirty="0"/>
              <a:t>节点：属性</a:t>
            </a:r>
            <a:endParaRPr lang="en-US" altLang="zh-CN" sz="2000" b="1" dirty="0"/>
          </a:p>
          <a:p>
            <a:pPr>
              <a:lnSpc>
                <a:spcPct val="120000"/>
              </a:lnSpc>
            </a:pPr>
            <a:r>
              <a:rPr lang="zh-CN" altLang="en-US" sz="2000" b="1" dirty="0"/>
              <a:t>边：属性取值</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3" name="组合 102"/>
          <p:cNvGrpSpPr/>
          <p:nvPr/>
        </p:nvGrpSpPr>
        <p:grpSpPr>
          <a:xfrm>
            <a:off x="0" y="939798"/>
            <a:ext cx="5022850" cy="625474"/>
            <a:chOff x="0" y="1075267"/>
            <a:chExt cx="5022850" cy="625474"/>
          </a:xfrm>
        </p:grpSpPr>
        <p:sp>
          <p:nvSpPr>
            <p:cNvPr id="104" name="矩形 103"/>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p:cNvSpPr txBox="1"/>
            <p:nvPr/>
          </p:nvSpPr>
          <p:spPr>
            <a:xfrm>
              <a:off x="270933" y="1157172"/>
              <a:ext cx="3505200" cy="460375"/>
            </a:xfrm>
            <a:prstGeom prst="rect">
              <a:avLst/>
            </a:prstGeom>
            <a:noFill/>
          </p:spPr>
          <p:txBody>
            <a:bodyPr wrap="square">
              <a:spAutoFit/>
            </a:bodyPr>
            <a:lstStyle/>
            <a:p>
              <a:r>
                <a:rPr lang="en-US" altLang="zh-CN" sz="2400" b="1" dirty="0">
                  <a:solidFill>
                    <a:schemeClr val="accent1"/>
                  </a:solidFill>
                  <a:latin typeface="+mj-lt"/>
                </a:rPr>
                <a:t>5.2.1 </a:t>
              </a:r>
              <a:r>
                <a:rPr lang="zh-CN" altLang="en-US" sz="2400" b="1" dirty="0">
                  <a:solidFill>
                    <a:schemeClr val="accent1"/>
                  </a:solidFill>
                  <a:latin typeface="+mj-lt"/>
                </a:rPr>
                <a:t>决策树导航策略</a:t>
              </a:r>
            </a:p>
          </p:txBody>
        </p:sp>
      </p:grpSp>
      <p:sp>
        <p:nvSpPr>
          <p:cNvPr id="7" name="文本框 6">
            <a:extLst>
              <a:ext uri="{FF2B5EF4-FFF2-40B4-BE49-F238E27FC236}">
                <a16:creationId xmlns:a16="http://schemas.microsoft.com/office/drawing/2014/main" id="{426358DB-EA52-014C-D537-4236014039EE}"/>
              </a:ext>
            </a:extLst>
          </p:cNvPr>
          <p:cNvSpPr txBox="1"/>
          <p:nvPr/>
        </p:nvSpPr>
        <p:spPr>
          <a:xfrm>
            <a:off x="321827" y="2260475"/>
            <a:ext cx="6204615" cy="1060931"/>
          </a:xfrm>
          <a:prstGeom prst="rect">
            <a:avLst/>
          </a:prstGeom>
          <a:noFill/>
        </p:spPr>
        <p:txBody>
          <a:bodyPr wrap="square" rtlCol="0">
            <a:spAutoFit/>
          </a:bodyPr>
          <a:lstStyle/>
          <a:p>
            <a:pPr>
              <a:lnSpc>
                <a:spcPct val="120000"/>
              </a:lnSpc>
            </a:pPr>
            <a:r>
              <a:rPr lang="zh-CN" altLang="en-US" b="1" dirty="0"/>
              <a:t>输入</a:t>
            </a:r>
            <a:r>
              <a:rPr lang="zh-CN" altLang="en-US" dirty="0"/>
              <a:t>：样本训练集</a:t>
            </a:r>
            <a:r>
              <a:rPr lang="en-US" altLang="zh-CN" dirty="0"/>
              <a:t>samples; </a:t>
            </a:r>
            <a:r>
              <a:rPr lang="zh-CN" altLang="en-US" dirty="0"/>
              <a:t>候选属性集</a:t>
            </a:r>
            <a:r>
              <a:rPr lang="en-US" altLang="zh-CN" dirty="0" err="1"/>
              <a:t>attribute_list</a:t>
            </a:r>
            <a:r>
              <a:rPr lang="zh-CN" altLang="en-US" dirty="0"/>
              <a:t>。</a:t>
            </a:r>
            <a:endParaRPr lang="en-US" altLang="zh-CN" dirty="0"/>
          </a:p>
          <a:p>
            <a:pPr>
              <a:lnSpc>
                <a:spcPct val="120000"/>
              </a:lnSpc>
            </a:pPr>
            <a:r>
              <a:rPr lang="zh-CN" altLang="en-US" dirty="0"/>
              <a:t>其中，</a:t>
            </a:r>
            <a:r>
              <a:rPr lang="en-US" altLang="zh-CN" dirty="0"/>
              <a:t>samples </a:t>
            </a:r>
            <a:r>
              <a:rPr lang="zh-CN" altLang="en-US" dirty="0"/>
              <a:t>的属性值为离散状态。</a:t>
            </a:r>
            <a:endParaRPr lang="en-US" altLang="zh-CN" dirty="0"/>
          </a:p>
          <a:p>
            <a:pPr>
              <a:lnSpc>
                <a:spcPct val="120000"/>
              </a:lnSpc>
            </a:pPr>
            <a:r>
              <a:rPr lang="zh-CN" altLang="en-US" b="1" dirty="0"/>
              <a:t>输出</a:t>
            </a:r>
            <a:r>
              <a:rPr lang="zh-CN" altLang="en-US" dirty="0"/>
              <a:t>：由给定样本产生的一棵决策树</a:t>
            </a:r>
          </a:p>
        </p:txBody>
      </p:sp>
      <p:sp>
        <p:nvSpPr>
          <p:cNvPr id="8" name="文本框 7">
            <a:extLst>
              <a:ext uri="{FF2B5EF4-FFF2-40B4-BE49-F238E27FC236}">
                <a16:creationId xmlns:a16="http://schemas.microsoft.com/office/drawing/2014/main" id="{F18F7843-B2B5-23B9-7036-D840F6E80D50}"/>
              </a:ext>
            </a:extLst>
          </p:cNvPr>
          <p:cNvSpPr txBox="1"/>
          <p:nvPr/>
        </p:nvSpPr>
        <p:spPr>
          <a:xfrm>
            <a:off x="864923" y="1826494"/>
            <a:ext cx="4533499" cy="396134"/>
          </a:xfrm>
          <a:prstGeom prst="rect">
            <a:avLst/>
          </a:prstGeom>
          <a:noFill/>
        </p:spPr>
        <p:txBody>
          <a:bodyPr wrap="square" rtlCol="0">
            <a:spAutoFit/>
          </a:bodyPr>
          <a:lstStyle/>
          <a:p>
            <a:pPr>
              <a:lnSpc>
                <a:spcPct val="120000"/>
              </a:lnSpc>
            </a:pPr>
            <a:r>
              <a:rPr lang="zh-CN" altLang="en-US" b="1" dirty="0"/>
              <a:t>决策树算法整体流程</a:t>
            </a:r>
            <a:endParaRPr lang="zh-CN" altLang="en-US" sz="2000" b="1" dirty="0"/>
          </a:p>
        </p:txBody>
      </p:sp>
      <p:sp>
        <p:nvSpPr>
          <p:cNvPr id="9" name="文本框 8">
            <a:extLst>
              <a:ext uri="{FF2B5EF4-FFF2-40B4-BE49-F238E27FC236}">
                <a16:creationId xmlns:a16="http://schemas.microsoft.com/office/drawing/2014/main" id="{6486947F-08B2-32BC-D89E-68F92DA227C0}"/>
              </a:ext>
            </a:extLst>
          </p:cNvPr>
          <p:cNvSpPr txBox="1"/>
          <p:nvPr/>
        </p:nvSpPr>
        <p:spPr>
          <a:xfrm>
            <a:off x="5820154" y="1251890"/>
            <a:ext cx="6204615" cy="5355312"/>
          </a:xfrm>
          <a:prstGeom prst="rect">
            <a:avLst/>
          </a:prstGeom>
          <a:noFill/>
        </p:spPr>
        <p:txBody>
          <a:bodyPr wrap="square" rtlCol="0">
            <a:spAutoFit/>
          </a:bodyPr>
          <a:lstStyle/>
          <a:p>
            <a:r>
              <a:rPr lang="en-US" altLang="zh-CN" dirty="0"/>
              <a:t>1</a:t>
            </a:r>
            <a:r>
              <a:rPr lang="zh-CN" altLang="en-US" dirty="0"/>
              <a:t>） 创建节点</a:t>
            </a:r>
            <a:r>
              <a:rPr lang="en-US" altLang="zh-CN" dirty="0"/>
              <a:t>N</a:t>
            </a:r>
            <a:r>
              <a:rPr lang="zh-CN" altLang="en-US" dirty="0"/>
              <a:t>；</a:t>
            </a:r>
            <a:endParaRPr lang="en-US" altLang="zh-CN" dirty="0"/>
          </a:p>
          <a:p>
            <a:endParaRPr lang="zh-CN" altLang="en-US" dirty="0"/>
          </a:p>
          <a:p>
            <a:r>
              <a:rPr lang="en-US" altLang="zh-CN" dirty="0"/>
              <a:t>2</a:t>
            </a:r>
            <a:r>
              <a:rPr lang="zh-CN" altLang="en-US" dirty="0"/>
              <a:t>） 如果</a:t>
            </a:r>
            <a:r>
              <a:rPr lang="en-US" altLang="zh-CN" dirty="0"/>
              <a:t>samples </a:t>
            </a:r>
            <a:r>
              <a:rPr lang="zh-CN" altLang="en-US" dirty="0"/>
              <a:t>均属于同一个类</a:t>
            </a:r>
            <a:r>
              <a:rPr lang="en-US" altLang="zh-CN" dirty="0"/>
              <a:t>C</a:t>
            </a:r>
            <a:r>
              <a:rPr lang="zh-CN" altLang="en-US" dirty="0"/>
              <a:t>，那么返回</a:t>
            </a:r>
            <a:r>
              <a:rPr lang="en-US" altLang="zh-CN" dirty="0"/>
              <a:t>N </a:t>
            </a:r>
            <a:r>
              <a:rPr lang="zh-CN" altLang="en-US" dirty="0"/>
              <a:t>作为叶子节点，并标记类</a:t>
            </a:r>
            <a:r>
              <a:rPr lang="en-US" altLang="zh-CN" dirty="0"/>
              <a:t>C</a:t>
            </a:r>
            <a:r>
              <a:rPr lang="zh-CN" altLang="en-US" dirty="0"/>
              <a:t>，程序结束；</a:t>
            </a:r>
            <a:endParaRPr lang="en-US" altLang="zh-CN" dirty="0"/>
          </a:p>
          <a:p>
            <a:endParaRPr lang="zh-CN" altLang="en-US" dirty="0"/>
          </a:p>
          <a:p>
            <a:r>
              <a:rPr lang="en-US" altLang="zh-CN" dirty="0"/>
              <a:t>3</a:t>
            </a:r>
            <a:r>
              <a:rPr lang="zh-CN" altLang="en-US" dirty="0"/>
              <a:t>） 如果集合</a:t>
            </a:r>
            <a:r>
              <a:rPr lang="en-US" altLang="zh-CN" dirty="0" err="1"/>
              <a:t>attribute_list</a:t>
            </a:r>
            <a:r>
              <a:rPr lang="en-US" altLang="zh-CN" dirty="0"/>
              <a:t> </a:t>
            </a:r>
            <a:r>
              <a:rPr lang="zh-CN" altLang="en-US" dirty="0"/>
              <a:t>值为空，标记为</a:t>
            </a:r>
            <a:r>
              <a:rPr lang="en-US" altLang="zh-CN" dirty="0"/>
              <a:t>samples </a:t>
            </a:r>
            <a:r>
              <a:rPr lang="zh-CN" altLang="en-US" dirty="0"/>
              <a:t>中最普通的类，同时返回</a:t>
            </a:r>
            <a:r>
              <a:rPr lang="en-US" altLang="zh-CN" dirty="0"/>
              <a:t>N</a:t>
            </a:r>
            <a:r>
              <a:rPr lang="zh-CN" altLang="en-US" dirty="0"/>
              <a:t>作叶节点，程序结束；</a:t>
            </a:r>
            <a:endParaRPr lang="en-US" altLang="zh-CN" dirty="0"/>
          </a:p>
          <a:p>
            <a:endParaRPr lang="zh-CN" altLang="en-US" dirty="0"/>
          </a:p>
          <a:p>
            <a:r>
              <a:rPr lang="en-US" altLang="zh-CN" dirty="0"/>
              <a:t>4</a:t>
            </a:r>
            <a:r>
              <a:rPr lang="zh-CN" altLang="en-US" dirty="0"/>
              <a:t>） 选择</a:t>
            </a:r>
            <a:r>
              <a:rPr lang="en-US" altLang="zh-CN" dirty="0" err="1"/>
              <a:t>attribute_list</a:t>
            </a:r>
            <a:r>
              <a:rPr lang="en-US" altLang="zh-CN" dirty="0"/>
              <a:t> </a:t>
            </a:r>
            <a:r>
              <a:rPr lang="zh-CN" altLang="en-US" dirty="0"/>
              <a:t>中信息增益值最高的属性</a:t>
            </a:r>
            <a:r>
              <a:rPr lang="en-US" altLang="zh-CN" dirty="0" err="1"/>
              <a:t>h_attribute</a:t>
            </a:r>
            <a:r>
              <a:rPr lang="zh-CN" altLang="en-US" dirty="0"/>
              <a:t>；</a:t>
            </a:r>
            <a:endParaRPr lang="en-US" altLang="zh-CN" dirty="0"/>
          </a:p>
          <a:p>
            <a:endParaRPr lang="zh-CN" altLang="en-US" dirty="0"/>
          </a:p>
          <a:p>
            <a:r>
              <a:rPr lang="en-US" altLang="zh-CN" dirty="0"/>
              <a:t>5</a:t>
            </a:r>
            <a:r>
              <a:rPr lang="zh-CN" altLang="en-US" dirty="0"/>
              <a:t>） 标记节点</a:t>
            </a:r>
            <a:r>
              <a:rPr lang="en-US" altLang="zh-CN" dirty="0"/>
              <a:t>N </a:t>
            </a:r>
            <a:r>
              <a:rPr lang="zh-CN" altLang="en-US" dirty="0"/>
              <a:t>为</a:t>
            </a:r>
            <a:r>
              <a:rPr lang="en-US" altLang="zh-CN" dirty="0" err="1"/>
              <a:t>h_attribute</a:t>
            </a:r>
            <a:r>
              <a:rPr lang="zh-CN" altLang="en-US" dirty="0"/>
              <a:t>；</a:t>
            </a:r>
            <a:endParaRPr lang="en-US" altLang="zh-CN" dirty="0"/>
          </a:p>
          <a:p>
            <a:endParaRPr lang="zh-CN" altLang="en-US" dirty="0"/>
          </a:p>
          <a:p>
            <a:r>
              <a:rPr lang="en-US" altLang="zh-CN" dirty="0"/>
              <a:t>6</a:t>
            </a:r>
            <a:r>
              <a:rPr lang="zh-CN" altLang="en-US" dirty="0"/>
              <a:t>） 对于</a:t>
            </a:r>
            <a:r>
              <a:rPr lang="en-US" altLang="zh-CN" dirty="0" err="1"/>
              <a:t>h_attribute</a:t>
            </a:r>
            <a:r>
              <a:rPr lang="en-US" altLang="zh-CN" dirty="0"/>
              <a:t> </a:t>
            </a:r>
            <a:r>
              <a:rPr lang="zh-CN" altLang="en-US" dirty="0"/>
              <a:t>中的每一个已知值</a:t>
            </a:r>
            <a:r>
              <a:rPr lang="en-US" altLang="zh-CN" dirty="0"/>
              <a:t>Si</a:t>
            </a:r>
            <a:r>
              <a:rPr lang="zh-CN" altLang="en-US" dirty="0"/>
              <a:t>，由节点</a:t>
            </a:r>
            <a:r>
              <a:rPr lang="en-US" altLang="zh-CN" dirty="0"/>
              <a:t>N </a:t>
            </a:r>
            <a:r>
              <a:rPr lang="zh-CN" altLang="en-US" dirty="0"/>
              <a:t>生长出一个条件为</a:t>
            </a:r>
            <a:r>
              <a:rPr lang="en-US" altLang="zh-CN" dirty="0" err="1"/>
              <a:t>h_attribute</a:t>
            </a:r>
            <a:r>
              <a:rPr lang="en-US" altLang="zh-CN" dirty="0"/>
              <a:t>=Si</a:t>
            </a:r>
            <a:r>
              <a:rPr lang="zh-CN" altLang="en-US" dirty="0"/>
              <a:t>的分枝；</a:t>
            </a:r>
            <a:endParaRPr lang="en-US" altLang="zh-CN" dirty="0"/>
          </a:p>
          <a:p>
            <a:endParaRPr lang="zh-CN" altLang="en-US" dirty="0"/>
          </a:p>
          <a:p>
            <a:r>
              <a:rPr lang="en-US" altLang="zh-CN" dirty="0"/>
              <a:t>7</a:t>
            </a:r>
            <a:r>
              <a:rPr lang="zh-CN" altLang="en-US" dirty="0"/>
              <a:t>）设</a:t>
            </a:r>
            <a:r>
              <a:rPr lang="en-US" altLang="zh-CN" dirty="0"/>
              <a:t>Si </a:t>
            </a:r>
            <a:r>
              <a:rPr lang="zh-CN" altLang="en-US" dirty="0"/>
              <a:t>是</a:t>
            </a:r>
            <a:r>
              <a:rPr lang="en-US" altLang="zh-CN" dirty="0"/>
              <a:t>samples </a:t>
            </a:r>
            <a:r>
              <a:rPr lang="zh-CN" altLang="en-US" dirty="0"/>
              <a:t>中满足条件“</a:t>
            </a:r>
            <a:r>
              <a:rPr lang="en-US" altLang="zh-CN" dirty="0" err="1"/>
              <a:t>h_attribute</a:t>
            </a:r>
            <a:r>
              <a:rPr lang="en-US" altLang="zh-CN" dirty="0"/>
              <a:t>=Si”</a:t>
            </a:r>
            <a:r>
              <a:rPr lang="zh-CN" altLang="en-US" dirty="0"/>
              <a:t>的样本的集合，倘若</a:t>
            </a:r>
            <a:r>
              <a:rPr lang="en-US" altLang="zh-CN" dirty="0"/>
              <a:t>Si </a:t>
            </a:r>
            <a:r>
              <a:rPr lang="zh-CN" altLang="en-US" dirty="0"/>
              <a:t>为空，加上一个树叶，并将其标记为</a:t>
            </a:r>
            <a:r>
              <a:rPr lang="en-US" altLang="zh-CN" dirty="0"/>
              <a:t>samples </a:t>
            </a:r>
            <a:r>
              <a:rPr lang="zh-CN" altLang="en-US" dirty="0"/>
              <a:t>中最普通的类，否则加上一个</a:t>
            </a:r>
            <a:r>
              <a:rPr lang="en-US" altLang="zh-CN" dirty="0" err="1"/>
              <a:t>Generate_decision_tree</a:t>
            </a:r>
            <a:endParaRPr lang="en-US" altLang="zh-CN" dirty="0"/>
          </a:p>
          <a:p>
            <a:r>
              <a:rPr lang="zh-CN" altLang="en-US" dirty="0"/>
              <a:t>（</a:t>
            </a:r>
            <a:r>
              <a:rPr lang="en-US" altLang="zh-CN" dirty="0"/>
              <a:t>Si, </a:t>
            </a:r>
            <a:r>
              <a:rPr lang="en-US" altLang="zh-CN" dirty="0" err="1"/>
              <a:t>attribute_list</a:t>
            </a:r>
            <a:r>
              <a:rPr lang="en-US" altLang="zh-CN" dirty="0"/>
              <a:t>, </a:t>
            </a:r>
            <a:r>
              <a:rPr lang="en-US" altLang="zh-CN" dirty="0" err="1"/>
              <a:t>h_attribute</a:t>
            </a:r>
            <a:r>
              <a:rPr lang="zh-CN" altLang="en-US" dirty="0"/>
              <a:t>） 返回的节点。</a:t>
            </a:r>
          </a:p>
        </p:txBody>
      </p:sp>
      <p:grpSp>
        <p:nvGrpSpPr>
          <p:cNvPr id="20" name="组合 19">
            <a:extLst>
              <a:ext uri="{FF2B5EF4-FFF2-40B4-BE49-F238E27FC236}">
                <a16:creationId xmlns:a16="http://schemas.microsoft.com/office/drawing/2014/main" id="{392AEDDA-8E62-D4BE-4959-26CA03BA7D79}"/>
              </a:ext>
            </a:extLst>
          </p:cNvPr>
          <p:cNvGrpSpPr/>
          <p:nvPr/>
        </p:nvGrpSpPr>
        <p:grpSpPr>
          <a:xfrm>
            <a:off x="570421" y="3806729"/>
            <a:ext cx="4084081" cy="773380"/>
            <a:chOff x="137028" y="2126468"/>
            <a:chExt cx="4084081" cy="773380"/>
          </a:xfrm>
        </p:grpSpPr>
        <p:sp>
          <p:nvSpPr>
            <p:cNvPr id="23" name="矩形: 圆角 22">
              <a:extLst>
                <a:ext uri="{FF2B5EF4-FFF2-40B4-BE49-F238E27FC236}">
                  <a16:creationId xmlns:a16="http://schemas.microsoft.com/office/drawing/2014/main" id="{9701EA85-9D76-ECB4-8564-DEAE237ABFF4}"/>
                </a:ext>
              </a:extLst>
            </p:cNvPr>
            <p:cNvSpPr/>
            <p:nvPr/>
          </p:nvSpPr>
          <p:spPr>
            <a:xfrm>
              <a:off x="137028" y="2126468"/>
              <a:ext cx="4084081" cy="773380"/>
            </a:xfrm>
            <a:prstGeom prst="roundRect">
              <a:avLst>
                <a:gd name="adj" fmla="val 397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108000" bIns="108000" rtlCol="0" anchor="ctr"/>
            <a:lstStyle/>
            <a:p>
              <a:pPr algn="ctr"/>
              <a:r>
                <a:rPr lang="zh-CN" altLang="en-US" sz="2400" b="1" dirty="0">
                  <a:solidFill>
                    <a:schemeClr val="bg1"/>
                  </a:solidFill>
                </a:rPr>
                <a:t>           </a:t>
              </a:r>
              <a:r>
                <a:rPr lang="zh-CN" altLang="en-US" sz="1600" b="1" dirty="0">
                  <a:solidFill>
                    <a:schemeClr val="bg1"/>
                  </a:solidFill>
                </a:rPr>
                <a:t>如何选择好的逻辑判断或属性？</a:t>
              </a:r>
            </a:p>
          </p:txBody>
        </p:sp>
        <p:pic>
          <p:nvPicPr>
            <p:cNvPr id="24" name="Picture 2" descr="查看图片">
              <a:extLst>
                <a:ext uri="{FF2B5EF4-FFF2-40B4-BE49-F238E27FC236}">
                  <a16:creationId xmlns:a16="http://schemas.microsoft.com/office/drawing/2014/main" id="{7C46687C-F0C5-3C46-4263-C3900FE03C6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6281" b="12842"/>
            <a:stretch/>
          </p:blipFill>
          <p:spPr bwMode="auto">
            <a:xfrm>
              <a:off x="244906" y="2194754"/>
              <a:ext cx="898466" cy="636808"/>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文本框 24">
            <a:extLst>
              <a:ext uri="{FF2B5EF4-FFF2-40B4-BE49-F238E27FC236}">
                <a16:creationId xmlns:a16="http://schemas.microsoft.com/office/drawing/2014/main" id="{0A432C62-4B98-240C-0A03-10F250ECDB16}"/>
              </a:ext>
            </a:extLst>
          </p:cNvPr>
          <p:cNvSpPr txBox="1"/>
          <p:nvPr/>
        </p:nvSpPr>
        <p:spPr>
          <a:xfrm>
            <a:off x="1643940" y="4648395"/>
            <a:ext cx="1937041" cy="1725729"/>
          </a:xfrm>
          <a:prstGeom prst="rect">
            <a:avLst/>
          </a:prstGeom>
          <a:noFill/>
        </p:spPr>
        <p:txBody>
          <a:bodyPr wrap="square" rtlCol="0">
            <a:spAutoFit/>
          </a:bodyPr>
          <a:lstStyle/>
          <a:p>
            <a:pPr>
              <a:lnSpc>
                <a:spcPct val="120000"/>
              </a:lnSpc>
            </a:pPr>
            <a:r>
              <a:rPr lang="zh-CN" altLang="en-US" b="1" dirty="0"/>
              <a:t>启发式策略</a:t>
            </a:r>
            <a:endParaRPr lang="en-US" altLang="zh-CN" b="1" dirty="0"/>
          </a:p>
          <a:p>
            <a:pPr>
              <a:lnSpc>
                <a:spcPct val="120000"/>
              </a:lnSpc>
            </a:pPr>
            <a:r>
              <a:rPr lang="zh-CN" altLang="en-US" dirty="0"/>
              <a:t>信息增益</a:t>
            </a:r>
            <a:endParaRPr lang="en-US" altLang="zh-CN" dirty="0"/>
          </a:p>
          <a:p>
            <a:pPr>
              <a:lnSpc>
                <a:spcPct val="120000"/>
              </a:lnSpc>
            </a:pPr>
            <a:r>
              <a:rPr lang="zh-CN" altLang="en-US" dirty="0"/>
              <a:t>信息增益比</a:t>
            </a:r>
            <a:endParaRPr lang="en-US" altLang="zh-CN" dirty="0"/>
          </a:p>
          <a:p>
            <a:pPr>
              <a:lnSpc>
                <a:spcPct val="120000"/>
              </a:lnSpc>
            </a:pPr>
            <a:r>
              <a:rPr lang="zh-CN" altLang="en-US" dirty="0"/>
              <a:t>证据权重</a:t>
            </a:r>
            <a:endParaRPr lang="en-US" altLang="zh-CN" dirty="0"/>
          </a:p>
          <a:p>
            <a:pPr>
              <a:lnSpc>
                <a:spcPct val="120000"/>
              </a:lnSpc>
            </a:pPr>
            <a:r>
              <a:rPr lang="zh-CN" altLang="en-US" dirty="0"/>
              <a:t>最小描述长度</a:t>
            </a:r>
            <a:r>
              <a:rPr lang="en-US" altLang="zh-CN" dirty="0"/>
              <a:t>…</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D6FCC-7D57-C911-6F37-A5162C6F8D3F}"/>
            </a:ext>
          </a:extLst>
        </p:cNvPr>
        <p:cNvGrpSpPr/>
        <p:nvPr/>
      </p:nvGrpSpPr>
      <p:grpSpPr>
        <a:xfrm>
          <a:off x="0" y="0"/>
          <a:ext cx="0" cy="0"/>
          <a:chOff x="0" y="0"/>
          <a:chExt cx="0" cy="0"/>
        </a:xfrm>
      </p:grpSpPr>
      <p:grpSp>
        <p:nvGrpSpPr>
          <p:cNvPr id="103" name="组合 102">
            <a:extLst>
              <a:ext uri="{FF2B5EF4-FFF2-40B4-BE49-F238E27FC236}">
                <a16:creationId xmlns:a16="http://schemas.microsoft.com/office/drawing/2014/main" id="{B6DB09ED-E9E5-1B30-EAB6-A0628584825B}"/>
              </a:ext>
            </a:extLst>
          </p:cNvPr>
          <p:cNvGrpSpPr/>
          <p:nvPr/>
        </p:nvGrpSpPr>
        <p:grpSpPr>
          <a:xfrm>
            <a:off x="0" y="939798"/>
            <a:ext cx="5022850" cy="625474"/>
            <a:chOff x="0" y="1075267"/>
            <a:chExt cx="5022850" cy="625474"/>
          </a:xfrm>
        </p:grpSpPr>
        <p:sp>
          <p:nvSpPr>
            <p:cNvPr id="104" name="矩形 103">
              <a:extLst>
                <a:ext uri="{FF2B5EF4-FFF2-40B4-BE49-F238E27FC236}">
                  <a16:creationId xmlns:a16="http://schemas.microsoft.com/office/drawing/2014/main" id="{2A7FAF0E-852D-1072-0C8D-8BF15FEAEC9E}"/>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a:extLst>
                <a:ext uri="{FF2B5EF4-FFF2-40B4-BE49-F238E27FC236}">
                  <a16:creationId xmlns:a16="http://schemas.microsoft.com/office/drawing/2014/main" id="{3993B2E0-4207-E1E0-CF63-069624622122}"/>
                </a:ext>
              </a:extLst>
            </p:cNvPr>
            <p:cNvSpPr txBox="1"/>
            <p:nvPr/>
          </p:nvSpPr>
          <p:spPr>
            <a:xfrm>
              <a:off x="270933" y="1157172"/>
              <a:ext cx="3505200" cy="460375"/>
            </a:xfrm>
            <a:prstGeom prst="rect">
              <a:avLst/>
            </a:prstGeom>
            <a:noFill/>
          </p:spPr>
          <p:txBody>
            <a:bodyPr wrap="square">
              <a:spAutoFit/>
            </a:bodyPr>
            <a:lstStyle/>
            <a:p>
              <a:r>
                <a:rPr lang="en-US" altLang="zh-CN" sz="2400" b="1" dirty="0">
                  <a:solidFill>
                    <a:schemeClr val="accent1"/>
                  </a:solidFill>
                  <a:latin typeface="+mj-lt"/>
                </a:rPr>
                <a:t>5.2.1 </a:t>
              </a:r>
              <a:r>
                <a:rPr lang="zh-CN" altLang="en-US" sz="2400" b="1" dirty="0">
                  <a:solidFill>
                    <a:schemeClr val="accent1"/>
                  </a:solidFill>
                  <a:latin typeface="+mj-lt"/>
                </a:rPr>
                <a:t>决策树导航策略</a:t>
              </a:r>
            </a:p>
          </p:txBody>
        </p:sp>
      </p:grpSp>
      <p:sp>
        <p:nvSpPr>
          <p:cNvPr id="7" name="文本框 6">
            <a:extLst>
              <a:ext uri="{FF2B5EF4-FFF2-40B4-BE49-F238E27FC236}">
                <a16:creationId xmlns:a16="http://schemas.microsoft.com/office/drawing/2014/main" id="{10CE2BD2-B641-0B70-A52E-9BA7C467D027}"/>
              </a:ext>
            </a:extLst>
          </p:cNvPr>
          <p:cNvSpPr txBox="1"/>
          <p:nvPr/>
        </p:nvSpPr>
        <p:spPr>
          <a:xfrm>
            <a:off x="108698" y="2109978"/>
            <a:ext cx="5405204" cy="2308324"/>
          </a:xfrm>
          <a:prstGeom prst="rect">
            <a:avLst/>
          </a:prstGeom>
          <a:noFill/>
        </p:spPr>
        <p:txBody>
          <a:bodyPr wrap="square" rtlCol="0">
            <a:spAutoFit/>
          </a:bodyPr>
          <a:lstStyle/>
          <a:p>
            <a:r>
              <a:rPr lang="zh-CN" altLang="en-US" dirty="0"/>
              <a:t>对未知环境的导航问题，设计两级决策系统。</a:t>
            </a:r>
            <a:endParaRPr lang="en-US" altLang="zh-CN" dirty="0"/>
          </a:p>
          <a:p>
            <a:endParaRPr lang="en-US" altLang="zh-CN" dirty="0"/>
          </a:p>
          <a:p>
            <a:r>
              <a:rPr lang="zh-CN" altLang="en-US" b="1" dirty="0"/>
              <a:t>第</a:t>
            </a:r>
            <a:r>
              <a:rPr lang="en-US" altLang="zh-CN" b="1" dirty="0"/>
              <a:t>1 </a:t>
            </a:r>
            <a:r>
              <a:rPr lang="zh-CN" altLang="en-US" b="1" dirty="0"/>
              <a:t>级</a:t>
            </a:r>
            <a:r>
              <a:rPr lang="zh-CN" altLang="en-US" dirty="0"/>
              <a:t>以距离传感器的</a:t>
            </a:r>
            <a:r>
              <a:rPr lang="zh-CN" altLang="en-US" b="1" dirty="0"/>
              <a:t>探测数据</a:t>
            </a:r>
            <a:r>
              <a:rPr lang="zh-CN" altLang="en-US" dirty="0"/>
              <a:t>作为模糊算法的输入，输出机器人</a:t>
            </a:r>
            <a:r>
              <a:rPr lang="zh-CN" altLang="en-US" b="1" dirty="0"/>
              <a:t>运动线速度</a:t>
            </a:r>
            <a:r>
              <a:rPr lang="zh-CN" altLang="en-US" dirty="0"/>
              <a:t>和</a:t>
            </a:r>
            <a:r>
              <a:rPr lang="zh-CN" altLang="en-US" b="1" dirty="0"/>
              <a:t>角速度</a:t>
            </a:r>
            <a:r>
              <a:rPr lang="zh-CN" altLang="en-US" dirty="0"/>
              <a:t>的强度因子；</a:t>
            </a:r>
            <a:endParaRPr lang="en-US" altLang="zh-CN" dirty="0"/>
          </a:p>
          <a:p>
            <a:endParaRPr lang="en-US" altLang="zh-CN" dirty="0"/>
          </a:p>
          <a:p>
            <a:r>
              <a:rPr lang="zh-CN" altLang="en-US" b="1" dirty="0"/>
              <a:t>第</a:t>
            </a:r>
            <a:r>
              <a:rPr lang="en-US" altLang="zh-CN" b="1" dirty="0"/>
              <a:t>2 </a:t>
            </a:r>
            <a:r>
              <a:rPr lang="zh-CN" altLang="en-US" b="1" dirty="0"/>
              <a:t>级</a:t>
            </a:r>
            <a:r>
              <a:rPr lang="zh-CN" altLang="en-US" dirty="0"/>
              <a:t>以局部环境下的</a:t>
            </a:r>
            <a:r>
              <a:rPr lang="zh-CN" altLang="en-US" b="1" dirty="0"/>
              <a:t>虚拟路径子目标点</a:t>
            </a:r>
            <a:r>
              <a:rPr lang="zh-CN" altLang="en-US" dirty="0"/>
              <a:t>和</a:t>
            </a:r>
            <a:r>
              <a:rPr lang="zh-CN" altLang="en-US" b="1" dirty="0"/>
              <a:t>目标点</a:t>
            </a:r>
            <a:r>
              <a:rPr lang="zh-CN" altLang="en-US" dirty="0"/>
              <a:t>、</a:t>
            </a:r>
            <a:r>
              <a:rPr lang="zh-CN" altLang="en-US" b="1" dirty="0"/>
              <a:t>障碍物分布信息</a:t>
            </a:r>
            <a:r>
              <a:rPr lang="zh-CN" altLang="en-US" dirty="0"/>
              <a:t>作为输入，由行为决策树输出</a:t>
            </a:r>
            <a:r>
              <a:rPr lang="zh-CN" altLang="en-US" b="1" dirty="0"/>
              <a:t>相应行为</a:t>
            </a:r>
            <a:r>
              <a:rPr lang="zh-CN" altLang="en-US" dirty="0"/>
              <a:t>。</a:t>
            </a:r>
          </a:p>
        </p:txBody>
      </p:sp>
      <p:sp>
        <p:nvSpPr>
          <p:cNvPr id="8" name="文本框 7">
            <a:extLst>
              <a:ext uri="{FF2B5EF4-FFF2-40B4-BE49-F238E27FC236}">
                <a16:creationId xmlns:a16="http://schemas.microsoft.com/office/drawing/2014/main" id="{AB452132-3B01-1E47-B708-2EFCA7063E11}"/>
              </a:ext>
            </a:extLst>
          </p:cNvPr>
          <p:cNvSpPr txBox="1"/>
          <p:nvPr/>
        </p:nvSpPr>
        <p:spPr>
          <a:xfrm>
            <a:off x="804241" y="1715768"/>
            <a:ext cx="4533499" cy="394210"/>
          </a:xfrm>
          <a:prstGeom prst="rect">
            <a:avLst/>
          </a:prstGeom>
          <a:noFill/>
        </p:spPr>
        <p:txBody>
          <a:bodyPr wrap="square" rtlCol="0">
            <a:spAutoFit/>
          </a:bodyPr>
          <a:lstStyle/>
          <a:p>
            <a:pPr>
              <a:lnSpc>
                <a:spcPct val="120000"/>
              </a:lnSpc>
            </a:pPr>
            <a:r>
              <a:rPr lang="zh-CN" altLang="en-US" b="1" dirty="0"/>
              <a:t>案例：基于决策树的导航系统设计</a:t>
            </a:r>
            <a:endParaRPr lang="zh-CN" altLang="en-US" sz="2000" b="1" dirty="0"/>
          </a:p>
        </p:txBody>
      </p:sp>
      <p:sp>
        <p:nvSpPr>
          <p:cNvPr id="9" name="文本框 8">
            <a:extLst>
              <a:ext uri="{FF2B5EF4-FFF2-40B4-BE49-F238E27FC236}">
                <a16:creationId xmlns:a16="http://schemas.microsoft.com/office/drawing/2014/main" id="{5AB9AF1B-9BE1-53B3-B242-5B2253FB46D6}"/>
              </a:ext>
            </a:extLst>
          </p:cNvPr>
          <p:cNvSpPr txBox="1"/>
          <p:nvPr/>
        </p:nvSpPr>
        <p:spPr>
          <a:xfrm>
            <a:off x="5758277" y="2663976"/>
            <a:ext cx="6204615" cy="1754326"/>
          </a:xfrm>
          <a:prstGeom prst="rect">
            <a:avLst/>
          </a:prstGeom>
          <a:noFill/>
        </p:spPr>
        <p:txBody>
          <a:bodyPr wrap="square" rtlCol="0">
            <a:spAutoFit/>
          </a:bodyPr>
          <a:lstStyle/>
          <a:p>
            <a:r>
              <a:rPr lang="zh-CN" altLang="en-US" b="1" dirty="0"/>
              <a:t>第</a:t>
            </a:r>
            <a:r>
              <a:rPr lang="en-US" altLang="zh-CN" b="1" dirty="0"/>
              <a:t>1 </a:t>
            </a:r>
            <a:r>
              <a:rPr lang="zh-CN" altLang="en-US" b="1" dirty="0"/>
              <a:t>级决策</a:t>
            </a:r>
            <a:r>
              <a:rPr lang="zh-CN" altLang="en-US" dirty="0"/>
              <a:t>：机器人</a:t>
            </a:r>
            <a:r>
              <a:rPr lang="zh-CN" altLang="en-US" b="1" dirty="0"/>
              <a:t>运动强度模糊决策</a:t>
            </a:r>
            <a:r>
              <a:rPr lang="zh-CN" altLang="en-US" dirty="0"/>
              <a:t>。当机器人处于导航运动时，其运动策略应随周围环境状态的改变而改变，例如障碍物靠近时，机器人运动速度减缓，障碍物远离时，机器人则全速运动。</a:t>
            </a:r>
            <a:endParaRPr lang="en-US" altLang="zh-CN" dirty="0"/>
          </a:p>
          <a:p>
            <a:endParaRPr lang="en-US" altLang="zh-CN" dirty="0"/>
          </a:p>
          <a:p>
            <a:endParaRPr lang="en-US" altLang="zh-CN" dirty="0"/>
          </a:p>
        </p:txBody>
      </p:sp>
      <p:pic>
        <p:nvPicPr>
          <p:cNvPr id="3" name="图片 2" descr="图示&#10;&#10;AI 生成的内容可能不正确。">
            <a:extLst>
              <a:ext uri="{FF2B5EF4-FFF2-40B4-BE49-F238E27FC236}">
                <a16:creationId xmlns:a16="http://schemas.microsoft.com/office/drawing/2014/main" id="{50F3B2F7-2C88-B8B4-38A1-AD06969CEA70}"/>
              </a:ext>
            </a:extLst>
          </p:cNvPr>
          <p:cNvPicPr>
            <a:picLocks noChangeAspect="1"/>
          </p:cNvPicPr>
          <p:nvPr/>
        </p:nvPicPr>
        <p:blipFill>
          <a:blip r:embed="rId3"/>
          <a:stretch>
            <a:fillRect/>
          </a:stretch>
        </p:blipFill>
        <p:spPr>
          <a:xfrm>
            <a:off x="714242" y="4387364"/>
            <a:ext cx="4194116" cy="2321435"/>
          </a:xfrm>
          <a:prstGeom prst="rect">
            <a:avLst/>
          </a:prstGeom>
        </p:spPr>
      </p:pic>
      <p:sp>
        <p:nvSpPr>
          <p:cNvPr id="5" name="文本框 4">
            <a:extLst>
              <a:ext uri="{FF2B5EF4-FFF2-40B4-BE49-F238E27FC236}">
                <a16:creationId xmlns:a16="http://schemas.microsoft.com/office/drawing/2014/main" id="{2C2F37FD-D797-9A20-BB28-C717C7D63548}"/>
              </a:ext>
            </a:extLst>
          </p:cNvPr>
          <p:cNvSpPr txBox="1"/>
          <p:nvPr/>
        </p:nvSpPr>
        <p:spPr>
          <a:xfrm>
            <a:off x="5837035" y="4709504"/>
            <a:ext cx="4551374" cy="1051904"/>
          </a:xfrm>
          <a:prstGeom prst="rect">
            <a:avLst/>
          </a:prstGeom>
          <a:noFill/>
        </p:spPr>
        <p:txBody>
          <a:bodyPr vert="eaVert" wrap="square" rtlCol="0">
            <a:spAutoFit/>
          </a:bodyPr>
          <a:lstStyle/>
          <a:p>
            <a:endParaRPr lang="zh-CN" altLang="en-US" dirty="0"/>
          </a:p>
        </p:txBody>
      </p:sp>
      <p:sp>
        <p:nvSpPr>
          <p:cNvPr id="6" name="文本框 5">
            <a:extLst>
              <a:ext uri="{FF2B5EF4-FFF2-40B4-BE49-F238E27FC236}">
                <a16:creationId xmlns:a16="http://schemas.microsoft.com/office/drawing/2014/main" id="{EEE6DBFE-1CDD-2E00-2EAD-48F94E7A0081}"/>
              </a:ext>
            </a:extLst>
          </p:cNvPr>
          <p:cNvSpPr txBox="1"/>
          <p:nvPr/>
        </p:nvSpPr>
        <p:spPr>
          <a:xfrm>
            <a:off x="5758277" y="4840355"/>
            <a:ext cx="5097645" cy="1477328"/>
          </a:xfrm>
          <a:prstGeom prst="rect">
            <a:avLst/>
          </a:prstGeom>
          <a:noFill/>
        </p:spPr>
        <p:txBody>
          <a:bodyPr wrap="square" rtlCol="0">
            <a:spAutoFit/>
          </a:bodyPr>
          <a:lstStyle/>
          <a:p>
            <a:r>
              <a:rPr lang="en-US" altLang="zh-CN" dirty="0"/>
              <a:t>1</a:t>
            </a:r>
            <a:r>
              <a:rPr lang="zh-CN" altLang="en-US" dirty="0"/>
              <a:t>）距离传感器和机器人当前位姿作为输入</a:t>
            </a:r>
            <a:endParaRPr lang="en-US" altLang="zh-CN" dirty="0"/>
          </a:p>
          <a:p>
            <a:endParaRPr lang="en-US" altLang="zh-CN" dirty="0"/>
          </a:p>
          <a:p>
            <a:r>
              <a:rPr lang="en-US" altLang="zh-CN" dirty="0"/>
              <a:t>2</a:t>
            </a:r>
            <a:r>
              <a:rPr lang="zh-CN" altLang="en-US" dirty="0"/>
              <a:t>）对机器人探测到的最近障碍物信息进行模糊化，再根据推理规则输出其强度因子</a:t>
            </a:r>
          </a:p>
          <a:p>
            <a:endParaRPr lang="zh-CN" altLang="en-US" dirty="0"/>
          </a:p>
        </p:txBody>
      </p:sp>
    </p:spTree>
    <p:extLst>
      <p:ext uri="{BB962C8B-B14F-4D97-AF65-F5344CB8AC3E}">
        <p14:creationId xmlns:p14="http://schemas.microsoft.com/office/powerpoint/2010/main" val="1381669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9" grpId="1"/>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1C943-4629-7B25-DA96-775005D99EE2}"/>
            </a:ext>
          </a:extLst>
        </p:cNvPr>
        <p:cNvGrpSpPr/>
        <p:nvPr/>
      </p:nvGrpSpPr>
      <p:grpSpPr>
        <a:xfrm>
          <a:off x="0" y="0"/>
          <a:ext cx="0" cy="0"/>
          <a:chOff x="0" y="0"/>
          <a:chExt cx="0" cy="0"/>
        </a:xfrm>
      </p:grpSpPr>
      <p:grpSp>
        <p:nvGrpSpPr>
          <p:cNvPr id="103" name="组合 102">
            <a:extLst>
              <a:ext uri="{FF2B5EF4-FFF2-40B4-BE49-F238E27FC236}">
                <a16:creationId xmlns:a16="http://schemas.microsoft.com/office/drawing/2014/main" id="{17D227A6-8ABE-F498-64F3-CBF85F9DC531}"/>
              </a:ext>
            </a:extLst>
          </p:cNvPr>
          <p:cNvGrpSpPr/>
          <p:nvPr/>
        </p:nvGrpSpPr>
        <p:grpSpPr>
          <a:xfrm>
            <a:off x="0" y="939798"/>
            <a:ext cx="5022850" cy="625474"/>
            <a:chOff x="0" y="1075267"/>
            <a:chExt cx="5022850" cy="625474"/>
          </a:xfrm>
        </p:grpSpPr>
        <p:sp>
          <p:nvSpPr>
            <p:cNvPr id="104" name="矩形 103">
              <a:extLst>
                <a:ext uri="{FF2B5EF4-FFF2-40B4-BE49-F238E27FC236}">
                  <a16:creationId xmlns:a16="http://schemas.microsoft.com/office/drawing/2014/main" id="{E061E203-D450-24F0-C0FA-84A7E0D312C5}"/>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a:extLst>
                <a:ext uri="{FF2B5EF4-FFF2-40B4-BE49-F238E27FC236}">
                  <a16:creationId xmlns:a16="http://schemas.microsoft.com/office/drawing/2014/main" id="{5404839A-D83F-1327-9D3C-2961A9FC7528}"/>
                </a:ext>
              </a:extLst>
            </p:cNvPr>
            <p:cNvSpPr txBox="1"/>
            <p:nvPr/>
          </p:nvSpPr>
          <p:spPr>
            <a:xfrm>
              <a:off x="270933" y="1157172"/>
              <a:ext cx="3505200" cy="460375"/>
            </a:xfrm>
            <a:prstGeom prst="rect">
              <a:avLst/>
            </a:prstGeom>
            <a:noFill/>
          </p:spPr>
          <p:txBody>
            <a:bodyPr wrap="square">
              <a:spAutoFit/>
            </a:bodyPr>
            <a:lstStyle/>
            <a:p>
              <a:r>
                <a:rPr lang="en-US" altLang="zh-CN" sz="2400" b="1" dirty="0">
                  <a:solidFill>
                    <a:schemeClr val="accent1"/>
                  </a:solidFill>
                  <a:latin typeface="+mj-lt"/>
                </a:rPr>
                <a:t>5.2.1 </a:t>
              </a:r>
              <a:r>
                <a:rPr lang="zh-CN" altLang="en-US" sz="2400" b="1" dirty="0">
                  <a:solidFill>
                    <a:schemeClr val="accent1"/>
                  </a:solidFill>
                  <a:latin typeface="+mj-lt"/>
                </a:rPr>
                <a:t>决策树导航策略</a:t>
              </a:r>
            </a:p>
          </p:txBody>
        </p:sp>
      </p:gr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C143A04-6A5A-EFB0-8393-A492FD0BEDB9}"/>
                  </a:ext>
                </a:extLst>
              </p:cNvPr>
              <p:cNvSpPr txBox="1"/>
              <p:nvPr/>
            </p:nvSpPr>
            <p:spPr>
              <a:xfrm>
                <a:off x="583086" y="2650955"/>
                <a:ext cx="5405204" cy="1754326"/>
              </a:xfrm>
              <a:prstGeom prst="rect">
                <a:avLst/>
              </a:prstGeom>
              <a:noFill/>
            </p:spPr>
            <p:txBody>
              <a:bodyPr wrap="square" rtlCol="0">
                <a:spAutoFit/>
              </a:bodyPr>
              <a:lstStyle/>
              <a:p>
                <a:r>
                  <a:rPr lang="zh-CN" altLang="en-US" dirty="0"/>
                  <a:t>将障碍物距离输入变量</a:t>
                </a:r>
                <a14:m>
                  <m:oMath xmlns:m="http://schemas.openxmlformats.org/officeDocument/2006/math">
                    <m:r>
                      <a:rPr lang="en-US" altLang="zh-CN" b="0" i="1" smtClean="0">
                        <a:latin typeface="Cambria Math" panose="02040503050406030204" pitchFamily="18" charset="0"/>
                      </a:rPr>
                      <m:t>𝑑</m:t>
                    </m:r>
                  </m:oMath>
                </a14:m>
                <a:r>
                  <a:rPr lang="zh-CN" altLang="en-US" dirty="0"/>
                  <a:t>的论域划分为</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𝑉𝑁</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m:t>
                    </m:r>
                    <m:r>
                      <a:rPr lang="en-US" altLang="zh-CN" b="0" i="1" smtClean="0">
                        <a:latin typeface="Cambria Math" panose="02040503050406030204" pitchFamily="18" charset="0"/>
                      </a:rPr>
                      <m:t>𝐿𝐹</m:t>
                    </m:r>
                    <m:r>
                      <a:rPr lang="en-US" altLang="zh-CN" b="0" i="1" smtClean="0">
                        <a:latin typeface="Cambria Math" panose="02040503050406030204" pitchFamily="18" charset="0"/>
                      </a:rPr>
                      <m:t>,</m:t>
                    </m:r>
                    <m:r>
                      <a:rPr lang="en-US" altLang="zh-CN" b="0" i="1" smtClean="0">
                        <a:latin typeface="Cambria Math" panose="02040503050406030204" pitchFamily="18" charset="0"/>
                      </a:rPr>
                      <m:t>𝐹</m:t>
                    </m:r>
                    <m:r>
                      <a:rPr lang="en-US" altLang="zh-CN" b="0" i="1" smtClean="0">
                        <a:latin typeface="Cambria Math" panose="02040503050406030204" pitchFamily="18" charset="0"/>
                      </a:rPr>
                      <m:t>}</m:t>
                    </m:r>
                  </m:oMath>
                </a14:m>
                <a:r>
                  <a:rPr lang="zh-CN" altLang="en-US" dirty="0"/>
                  <a:t>。其中</a:t>
                </a:r>
                <a:r>
                  <a:rPr lang="en-US" altLang="zh-CN" dirty="0"/>
                  <a:t>,</a:t>
                </a:r>
                <a14:m>
                  <m:oMath xmlns:m="http://schemas.openxmlformats.org/officeDocument/2006/math">
                    <m:r>
                      <a:rPr lang="en-US" altLang="zh-CN" b="0" i="1" smtClean="0">
                        <a:latin typeface="Cambria Math" panose="02040503050406030204" pitchFamily="18" charset="0"/>
                      </a:rPr>
                      <m:t>𝑉𝑁</m:t>
                    </m:r>
                    <m:r>
                      <a:rPr lang="en-US" altLang="zh-CN" b="0" i="1" smtClean="0">
                        <a:latin typeface="Cambria Math" panose="02040503050406030204" pitchFamily="18" charset="0"/>
                      </a:rPr>
                      <m:t>:</m:t>
                    </m:r>
                    <m:r>
                      <m:rPr>
                        <m:sty m:val="p"/>
                      </m:rPr>
                      <a:rPr lang="en-US" altLang="zh-CN" i="1">
                        <a:latin typeface="Cambria Math" panose="02040503050406030204" pitchFamily="18" charset="0"/>
                      </a:rPr>
                      <m:t>ver</m:t>
                    </m:r>
                    <m:r>
                      <a:rPr lang="en-US" altLang="zh-CN" b="0" i="1" smtClean="0">
                        <a:latin typeface="Cambria Math" panose="02040503050406030204" pitchFamily="18" charset="0"/>
                      </a:rPr>
                      <m:t>𝑦</m:t>
                    </m:r>
                    <m:r>
                      <a:rPr lang="en-US" altLang="zh-CN" b="0" i="1" smtClean="0">
                        <a:latin typeface="Cambria Math" panose="02040503050406030204" pitchFamily="18" charset="0"/>
                      </a:rPr>
                      <m:t> </m:t>
                    </m:r>
                    <m:r>
                      <a:rPr lang="en-US" altLang="zh-CN" b="0" i="1" smtClean="0">
                        <a:latin typeface="Cambria Math" panose="02040503050406030204" pitchFamily="18" charset="0"/>
                      </a:rPr>
                      <m:t>𝑛𝑒𝑎𝑟</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m:t>
                    </m:r>
                    <m:r>
                      <a:rPr lang="en-US" altLang="zh-CN" b="0" i="1" smtClean="0">
                        <a:latin typeface="Cambria Math" panose="02040503050406030204" pitchFamily="18" charset="0"/>
                      </a:rPr>
                      <m:t>𝑛𝑒𝑎𝑟</m:t>
                    </m:r>
                    <m:r>
                      <a:rPr lang="en-US" altLang="zh-CN" b="0" i="1" smtClean="0">
                        <a:latin typeface="Cambria Math" panose="02040503050406030204" pitchFamily="18" charset="0"/>
                      </a:rPr>
                      <m:t>,</m:t>
                    </m:r>
                    <m:r>
                      <a:rPr lang="en-US" altLang="zh-CN" b="0" i="1" smtClean="0">
                        <a:latin typeface="Cambria Math" panose="02040503050406030204" pitchFamily="18" charset="0"/>
                      </a:rPr>
                      <m:t>𝐿𝐹</m:t>
                    </m:r>
                    <m:r>
                      <a:rPr lang="en-US" altLang="zh-CN" b="0" i="1" smtClean="0">
                        <a:latin typeface="Cambria Math" panose="02040503050406030204" pitchFamily="18" charset="0"/>
                      </a:rPr>
                      <m:t>:</m:t>
                    </m:r>
                    <m:r>
                      <a:rPr lang="en-US" altLang="zh-CN" b="0" i="1" smtClean="0">
                        <a:latin typeface="Cambria Math" panose="02040503050406030204" pitchFamily="18" charset="0"/>
                      </a:rPr>
                      <m:t>𝑙𝑖𝑡𝑡𝑙𝑒</m:t>
                    </m:r>
                    <m:r>
                      <a:rPr lang="en-US" altLang="zh-CN" b="0" i="1" smtClean="0">
                        <a:latin typeface="Cambria Math" panose="02040503050406030204" pitchFamily="18" charset="0"/>
                      </a:rPr>
                      <m:t> </m:t>
                    </m:r>
                    <m:r>
                      <a:rPr lang="en-US" altLang="zh-CN" b="0" i="1" smtClean="0">
                        <a:latin typeface="Cambria Math" panose="02040503050406030204" pitchFamily="18" charset="0"/>
                      </a:rPr>
                      <m:t>𝑓𝑎𝑟</m:t>
                    </m:r>
                    <m:r>
                      <a:rPr lang="en-US" altLang="zh-CN" b="0" i="1" smtClean="0">
                        <a:latin typeface="Cambria Math" panose="02040503050406030204" pitchFamily="18" charset="0"/>
                      </a:rPr>
                      <m:t>, </m:t>
                    </m:r>
                    <m:r>
                      <a:rPr lang="en-US" altLang="zh-CN" b="0" i="1" smtClean="0">
                        <a:latin typeface="Cambria Math" panose="02040503050406030204" pitchFamily="18" charset="0"/>
                      </a:rPr>
                      <m:t>𝐹</m:t>
                    </m:r>
                    <m:r>
                      <a:rPr lang="en-US" altLang="zh-CN" b="0" i="1" smtClean="0">
                        <a:latin typeface="Cambria Math" panose="02040503050406030204" pitchFamily="18" charset="0"/>
                      </a:rPr>
                      <m:t>:</m:t>
                    </m:r>
                    <m:r>
                      <a:rPr lang="en-US" altLang="zh-CN" b="0" i="1" smtClean="0">
                        <a:latin typeface="Cambria Math" panose="02040503050406030204" pitchFamily="18" charset="0"/>
                      </a:rPr>
                      <m:t>𝑓𝑎𝑟</m:t>
                    </m:r>
                  </m:oMath>
                </a14:m>
                <a:endParaRPr lang="en-US" altLang="zh-CN" dirty="0"/>
              </a:p>
              <a:p>
                <a:endParaRPr lang="en-US" altLang="zh-CN" dirty="0"/>
              </a:p>
              <a:p>
                <a:r>
                  <a:rPr lang="zh-CN" altLang="en-US" b="1" dirty="0"/>
                  <a:t>第</a:t>
                </a:r>
                <a:r>
                  <a:rPr lang="en-US" altLang="zh-CN" b="1" dirty="0"/>
                  <a:t>2 </a:t>
                </a:r>
                <a:r>
                  <a:rPr lang="zh-CN" altLang="en-US" b="1" dirty="0"/>
                  <a:t>级决策</a:t>
                </a:r>
                <a:r>
                  <a:rPr lang="zh-CN" altLang="en-US" dirty="0"/>
                  <a:t>：</a:t>
                </a:r>
                <a:r>
                  <a:rPr lang="zh-CN" altLang="en-US" b="1" dirty="0"/>
                  <a:t>行为决策</a:t>
                </a:r>
                <a:r>
                  <a:rPr lang="zh-CN" altLang="en-US" dirty="0"/>
                  <a:t>系统。本行为决策系统根据人类寻路经验建立合适的推理规则来选择行为，引导机器人到达目标。</a:t>
                </a:r>
                <a:endParaRPr lang="en-US" altLang="zh-CN" dirty="0"/>
              </a:p>
            </p:txBody>
          </p:sp>
        </mc:Choice>
        <mc:Fallback xmlns="">
          <p:sp>
            <p:nvSpPr>
              <p:cNvPr id="7" name="文本框 6">
                <a:extLst>
                  <a:ext uri="{FF2B5EF4-FFF2-40B4-BE49-F238E27FC236}">
                    <a16:creationId xmlns:a16="http://schemas.microsoft.com/office/drawing/2014/main" id="{DC143A04-6A5A-EFB0-8393-A492FD0BEDB9}"/>
                  </a:ext>
                </a:extLst>
              </p:cNvPr>
              <p:cNvSpPr txBox="1">
                <a:spLocks noRot="1" noChangeAspect="1" noMove="1" noResize="1" noEditPoints="1" noAdjustHandles="1" noChangeArrowheads="1" noChangeShapeType="1" noTextEdit="1"/>
              </p:cNvSpPr>
              <p:nvPr/>
            </p:nvSpPr>
            <p:spPr>
              <a:xfrm>
                <a:off x="583086" y="2650955"/>
                <a:ext cx="5405204" cy="1754326"/>
              </a:xfrm>
              <a:prstGeom prst="rect">
                <a:avLst/>
              </a:prstGeom>
              <a:blipFill>
                <a:blip r:embed="rId3"/>
                <a:stretch>
                  <a:fillRect l="-1016" t="-2083" r="-5192" b="-4514"/>
                </a:stretch>
              </a:blipFill>
            </p:spPr>
            <p:txBody>
              <a:bodyPr/>
              <a:lstStyle/>
              <a:p>
                <a:r>
                  <a:rPr lang="zh-CN" altLang="en-US">
                    <a:noFill/>
                  </a:rPr>
                  <a:t> </a:t>
                </a:r>
              </a:p>
            </p:txBody>
          </p:sp>
        </mc:Fallback>
      </mc:AlternateContent>
      <p:pic>
        <p:nvPicPr>
          <p:cNvPr id="4" name="图片 3" descr="图示&#10;&#10;AI 生成的内容可能不正确。">
            <a:extLst>
              <a:ext uri="{FF2B5EF4-FFF2-40B4-BE49-F238E27FC236}">
                <a16:creationId xmlns:a16="http://schemas.microsoft.com/office/drawing/2014/main" id="{7BB01251-CA25-AB12-F314-AC47FEF0C47D}"/>
              </a:ext>
            </a:extLst>
          </p:cNvPr>
          <p:cNvPicPr>
            <a:picLocks noChangeAspect="1"/>
          </p:cNvPicPr>
          <p:nvPr/>
        </p:nvPicPr>
        <p:blipFill>
          <a:blip r:embed="rId4"/>
          <a:stretch>
            <a:fillRect/>
          </a:stretch>
        </p:blipFill>
        <p:spPr>
          <a:xfrm>
            <a:off x="6713565" y="1102391"/>
            <a:ext cx="4101105" cy="5012461"/>
          </a:xfrm>
          <a:prstGeom prst="rect">
            <a:avLst/>
          </a:prstGeom>
        </p:spPr>
      </p:pic>
    </p:spTree>
    <p:extLst>
      <p:ext uri="{BB962C8B-B14F-4D97-AF65-F5344CB8AC3E}">
        <p14:creationId xmlns:p14="http://schemas.microsoft.com/office/powerpoint/2010/main" val="3220230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939798"/>
            <a:ext cx="5022850" cy="625474"/>
            <a:chOff x="0" y="1075267"/>
            <a:chExt cx="5022850" cy="625474"/>
          </a:xfrm>
        </p:grpSpPr>
        <p:sp>
          <p:nvSpPr>
            <p:cNvPr id="11" name="矩形 10"/>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71145" y="1157182"/>
              <a:ext cx="4676140" cy="460375"/>
            </a:xfrm>
            <a:prstGeom prst="rect">
              <a:avLst/>
            </a:prstGeom>
            <a:noFill/>
          </p:spPr>
          <p:txBody>
            <a:bodyPr wrap="square">
              <a:spAutoFit/>
            </a:bodyPr>
            <a:lstStyle/>
            <a:p>
              <a:r>
                <a:rPr lang="en-US" altLang="zh-CN" sz="2400" b="1" dirty="0">
                  <a:solidFill>
                    <a:schemeClr val="accent1"/>
                  </a:solidFill>
                  <a:latin typeface="+mj-lt"/>
                </a:rPr>
                <a:t>5.2.2 </a:t>
              </a:r>
              <a:r>
                <a:rPr lang="zh-CN" altLang="en-US" sz="2400" b="1" dirty="0">
                  <a:solidFill>
                    <a:schemeClr val="accent1"/>
                  </a:solidFill>
                  <a:latin typeface="+mj-lt"/>
                </a:rPr>
                <a:t>随机森林路径规划</a:t>
              </a:r>
            </a:p>
          </p:txBody>
        </p:sp>
      </p:grpSp>
      <p:graphicFrame>
        <p:nvGraphicFramePr>
          <p:cNvPr id="24" name="对象 23"/>
          <p:cNvGraphicFramePr>
            <a:graphicFrameLocks noChangeAspect="1"/>
          </p:cNvGraphicFramePr>
          <p:nvPr/>
        </p:nvGraphicFramePr>
        <p:xfrm>
          <a:off x="6316304" y="3353416"/>
          <a:ext cx="914400" cy="198438"/>
        </p:xfrm>
        <a:graphic>
          <a:graphicData uri="http://schemas.openxmlformats.org/presentationml/2006/ole">
            <mc:AlternateContent xmlns:mc="http://schemas.openxmlformats.org/markup-compatibility/2006">
              <mc:Choice xmlns:v="urn:schemas-microsoft-com:vml" Requires="v">
                <p:oleObj name="Equation" r:id="rId3" imgW="2743200" imgH="4267200" progId="Equation.DSMT4">
                  <p:embed/>
                </p:oleObj>
              </mc:Choice>
              <mc:Fallback>
                <p:oleObj name="Equation" r:id="rId3" imgW="2743200" imgH="4267200" progId="Equation.DSMT4">
                  <p:embed/>
                  <p:pic>
                    <p:nvPicPr>
                      <p:cNvPr id="24" name="对象 23"/>
                      <p:cNvPicPr/>
                      <p:nvPr/>
                    </p:nvPicPr>
                    <p:blipFill>
                      <a:blip r:embed="rId4"/>
                      <a:stretch>
                        <a:fillRect/>
                      </a:stretch>
                    </p:blipFill>
                    <p:spPr>
                      <a:xfrm>
                        <a:off x="6316304" y="3353416"/>
                        <a:ext cx="914400" cy="198438"/>
                      </a:xfrm>
                      <a:prstGeom prst="rect">
                        <a:avLst/>
                      </a:prstGeom>
                    </p:spPr>
                  </p:pic>
                </p:oleObj>
              </mc:Fallback>
            </mc:AlternateContent>
          </a:graphicData>
        </a:graphic>
      </p:graphicFrame>
      <p:sp>
        <p:nvSpPr>
          <p:cNvPr id="30" name="文本框 29"/>
          <p:cNvSpPr txBox="1"/>
          <p:nvPr/>
        </p:nvSpPr>
        <p:spPr>
          <a:xfrm>
            <a:off x="271144" y="1714487"/>
            <a:ext cx="4533499" cy="534035"/>
          </a:xfrm>
          <a:prstGeom prst="rect">
            <a:avLst/>
          </a:prstGeom>
          <a:noFill/>
        </p:spPr>
        <p:txBody>
          <a:bodyPr wrap="square" rtlCol="0">
            <a:spAutoFit/>
          </a:bodyPr>
          <a:lstStyle/>
          <a:p>
            <a:pPr algn="l">
              <a:lnSpc>
                <a:spcPct val="120000"/>
              </a:lnSpc>
            </a:pPr>
            <a:r>
              <a:rPr lang="zh-CN" altLang="en-US" sz="2400" b="1"/>
              <a:t>集成学习</a:t>
            </a:r>
            <a:endParaRPr lang="zh-CN" altLang="en-US" sz="2400" b="1" dirty="0"/>
          </a:p>
        </p:txBody>
      </p:sp>
      <p:sp>
        <p:nvSpPr>
          <p:cNvPr id="36" name="左大括号 35"/>
          <p:cNvSpPr/>
          <p:nvPr/>
        </p:nvSpPr>
        <p:spPr>
          <a:xfrm>
            <a:off x="1643380" y="1714500"/>
            <a:ext cx="94615" cy="638175"/>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37" name="文本框 36"/>
          <p:cNvSpPr txBox="1"/>
          <p:nvPr/>
        </p:nvSpPr>
        <p:spPr>
          <a:xfrm>
            <a:off x="1807844" y="1539227"/>
            <a:ext cx="4533499" cy="460375"/>
          </a:xfrm>
          <a:prstGeom prst="rect">
            <a:avLst/>
          </a:prstGeom>
          <a:noFill/>
        </p:spPr>
        <p:txBody>
          <a:bodyPr wrap="square" rtlCol="0">
            <a:spAutoFit/>
          </a:bodyPr>
          <a:lstStyle/>
          <a:p>
            <a:pPr algn="l">
              <a:lnSpc>
                <a:spcPct val="120000"/>
              </a:lnSpc>
            </a:pPr>
            <a:r>
              <a:rPr lang="en-US" altLang="zh-CN" sz="2000" b="1"/>
              <a:t>Boosting</a:t>
            </a:r>
            <a:endParaRPr lang="en-US" altLang="zh-CN" sz="2000" b="1" dirty="0"/>
          </a:p>
        </p:txBody>
      </p:sp>
      <p:sp>
        <p:nvSpPr>
          <p:cNvPr id="38" name="文本框 37"/>
          <p:cNvSpPr txBox="1"/>
          <p:nvPr/>
        </p:nvSpPr>
        <p:spPr>
          <a:xfrm>
            <a:off x="1807844" y="2004047"/>
            <a:ext cx="4533499" cy="460375"/>
          </a:xfrm>
          <a:prstGeom prst="rect">
            <a:avLst/>
          </a:prstGeom>
          <a:noFill/>
        </p:spPr>
        <p:txBody>
          <a:bodyPr wrap="square" rtlCol="0">
            <a:spAutoFit/>
          </a:bodyPr>
          <a:lstStyle/>
          <a:p>
            <a:pPr algn="l">
              <a:lnSpc>
                <a:spcPct val="120000"/>
              </a:lnSpc>
            </a:pPr>
            <a:r>
              <a:rPr lang="en-US" altLang="zh-CN" sz="2000" b="1">
                <a:solidFill>
                  <a:srgbClr val="C00000"/>
                </a:solidFill>
              </a:rPr>
              <a:t>Bagging</a:t>
            </a:r>
            <a:endParaRPr lang="en-US" altLang="zh-CN" sz="2000" b="1" dirty="0">
              <a:solidFill>
                <a:srgbClr val="C00000"/>
              </a:solidFill>
            </a:endParaRPr>
          </a:p>
        </p:txBody>
      </p:sp>
      <p:sp>
        <p:nvSpPr>
          <p:cNvPr id="42" name="文本框 41"/>
          <p:cNvSpPr txBox="1"/>
          <p:nvPr/>
        </p:nvSpPr>
        <p:spPr>
          <a:xfrm>
            <a:off x="775969" y="2551417"/>
            <a:ext cx="4533499" cy="460375"/>
          </a:xfrm>
          <a:prstGeom prst="rect">
            <a:avLst/>
          </a:prstGeom>
          <a:noFill/>
        </p:spPr>
        <p:txBody>
          <a:bodyPr wrap="square" rtlCol="0">
            <a:spAutoFit/>
          </a:bodyPr>
          <a:lstStyle/>
          <a:p>
            <a:pPr algn="l">
              <a:lnSpc>
                <a:spcPct val="120000"/>
              </a:lnSpc>
            </a:pPr>
            <a:r>
              <a:rPr lang="en-US" altLang="zh-CN" sz="2000" b="1" dirty="0"/>
              <a:t>1)</a:t>
            </a:r>
            <a:r>
              <a:rPr lang="zh-CN" altLang="en-US" sz="2000" b="1" dirty="0"/>
              <a:t>随机选择训练样本</a:t>
            </a:r>
          </a:p>
        </p:txBody>
      </p:sp>
      <p:sp>
        <p:nvSpPr>
          <p:cNvPr id="43" name="文本框 42"/>
          <p:cNvSpPr txBox="1"/>
          <p:nvPr/>
        </p:nvSpPr>
        <p:spPr>
          <a:xfrm>
            <a:off x="775969" y="4306557"/>
            <a:ext cx="4533499" cy="460375"/>
          </a:xfrm>
          <a:prstGeom prst="rect">
            <a:avLst/>
          </a:prstGeom>
          <a:noFill/>
        </p:spPr>
        <p:txBody>
          <a:bodyPr wrap="square" rtlCol="0">
            <a:spAutoFit/>
          </a:bodyPr>
          <a:lstStyle/>
          <a:p>
            <a:pPr algn="l">
              <a:lnSpc>
                <a:spcPct val="120000"/>
              </a:lnSpc>
            </a:pPr>
            <a:r>
              <a:rPr lang="en-US" altLang="zh-CN" sz="2000" b="1"/>
              <a:t>3)</a:t>
            </a:r>
            <a:r>
              <a:rPr lang="zh-CN" altLang="en-US" sz="2000" b="1"/>
              <a:t>投票得到最终分类结果</a:t>
            </a:r>
            <a:endParaRPr lang="zh-CN" altLang="en-US" sz="2000" b="1" dirty="0"/>
          </a:p>
        </p:txBody>
      </p:sp>
      <p:sp>
        <p:nvSpPr>
          <p:cNvPr id="47" name="文本框 46"/>
          <p:cNvSpPr txBox="1"/>
          <p:nvPr/>
        </p:nvSpPr>
        <p:spPr>
          <a:xfrm>
            <a:off x="775970" y="3280410"/>
            <a:ext cx="3142615" cy="829945"/>
          </a:xfrm>
          <a:prstGeom prst="rect">
            <a:avLst/>
          </a:prstGeom>
          <a:noFill/>
        </p:spPr>
        <p:txBody>
          <a:bodyPr wrap="square" rtlCol="0">
            <a:spAutoFit/>
          </a:bodyPr>
          <a:lstStyle/>
          <a:p>
            <a:pPr algn="l">
              <a:lnSpc>
                <a:spcPct val="120000"/>
              </a:lnSpc>
            </a:pPr>
            <a:r>
              <a:rPr lang="en-US" altLang="zh-CN" sz="2000" b="1"/>
              <a:t>2)</a:t>
            </a:r>
            <a:r>
              <a:rPr lang="zh-CN" altLang="en-US" sz="2000" b="1"/>
              <a:t>在随机特征子集中评估最佳分类特征</a:t>
            </a:r>
            <a:endParaRPr lang="zh-CN" altLang="en-US" sz="2000" b="1" dirty="0"/>
          </a:p>
        </p:txBody>
      </p:sp>
      <mc:AlternateContent xmlns:mc="http://schemas.openxmlformats.org/markup-compatibility/2006" xmlns:a14="http://schemas.microsoft.com/office/drawing/2010/main">
        <mc:Choice Requires="a14">
          <p:sp>
            <p:nvSpPr>
              <p:cNvPr id="48" name="文本框 47"/>
              <p:cNvSpPr txBox="1"/>
              <p:nvPr/>
            </p:nvSpPr>
            <p:spPr>
              <a:xfrm>
                <a:off x="528320" y="4765675"/>
                <a:ext cx="4998085" cy="807085"/>
              </a:xfrm>
              <a:prstGeom prst="rect">
                <a:avLst/>
              </a:prstGeom>
              <a:noFill/>
            </p:spPr>
            <p:txBody>
              <a:bodyPr wrap="square" rtlCol="0">
                <a:noAutofit/>
              </a:bodyPr>
              <a:lstStyle/>
              <a:p>
                <a:pPr algn="l">
                  <a:lnSpc>
                    <a:spcPct val="120000"/>
                  </a:lnSpc>
                </a:pPr>
                <a14:m>
                  <m:oMathPara xmlns:m="http://schemas.openxmlformats.org/officeDocument/2006/math">
                    <m:oMath>
                      <m:r>
                        <a:rPr lang="en-US" altLang="zh-CN" i="1" dirty="0">
                          <a:latin typeface="Cambria Math" panose="02040503050406030204" pitchFamily="18" charset="0"/>
                          <a:cs typeface="DejaVu Math TeX Gyre" panose="02000503000000000000" charset="0"/>
                        </a:rPr>
                        <m:t>𝐻</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𝑥</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𝑎𝑟𝑔𝑚𝑎𝑥</m:t>
                      </m:r>
                      <m:nary>
                        <m:naryPr>
                          <m:chr m:val="∑"/>
                          <m:limLoc m:val="undOvr"/>
                          <m:ctrlPr>
                            <a:rPr lang="en-US" altLang="zh-CN" i="1" dirty="0">
                              <a:latin typeface="Cambria Math" panose="02040503050406030204" pitchFamily="18" charset="0"/>
                              <a:cs typeface="DejaVu Math TeX Gyre" panose="02000503000000000000" charset="0"/>
                            </a:rPr>
                          </m:ctrlPr>
                        </m:naryPr>
                        <m:sub>
                          <m:r>
                            <a:rPr lang="en-US" altLang="zh-CN" i="1" dirty="0">
                              <a:latin typeface="Cambria Math" panose="02040503050406030204" pitchFamily="18" charset="0"/>
                              <a:cs typeface="DejaVu Math TeX Gyre" panose="02000503000000000000" charset="0"/>
                            </a:rPr>
                            <m:t>𝑖</m:t>
                          </m:r>
                          <m:r>
                            <a:rPr lang="en-US" altLang="zh-CN" i="1" dirty="0">
                              <a:latin typeface="Cambria Math" panose="02040503050406030204" pitchFamily="18" charset="0"/>
                              <a:cs typeface="DejaVu Math TeX Gyre" panose="02000503000000000000" charset="0"/>
                            </a:rPr>
                            <m:t>=1</m:t>
                          </m:r>
                        </m:sub>
                        <m:sup>
                          <m:r>
                            <a:rPr lang="en-US" altLang="zh-CN" i="1" dirty="0">
                              <a:latin typeface="Cambria Math" panose="02040503050406030204" pitchFamily="18" charset="0"/>
                              <a:cs typeface="DejaVu Math TeX Gyre" panose="02000503000000000000" charset="0"/>
                            </a:rPr>
                            <m:t>𝑘</m:t>
                          </m:r>
                        </m:sup>
                        <m:e>
                          <m:r>
                            <a:rPr lang="en-US" altLang="zh-CN" i="1" dirty="0">
                              <a:latin typeface="Cambria Math" panose="02040503050406030204" pitchFamily="18" charset="0"/>
                              <a:cs typeface="DejaVu Math TeX Gyre" panose="02000503000000000000" charset="0"/>
                            </a:rPr>
                            <m:t>𝐼</m:t>
                          </m:r>
                          <m:r>
                            <a:rPr lang="en-US" altLang="zh-CN" i="1" dirty="0">
                              <a:latin typeface="Cambria Math" panose="02040503050406030204" pitchFamily="18" charset="0"/>
                              <a:cs typeface="DejaVu Math TeX Gyre" panose="02000503000000000000" charset="0"/>
                            </a:rPr>
                            <m:t>(</m:t>
                          </m:r>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ℎ</m:t>
                              </m:r>
                            </m:e>
                            <m:sub>
                              <m:r>
                                <a:rPr lang="en-US" altLang="zh-CN" i="1" dirty="0">
                                  <a:latin typeface="Cambria Math" panose="02040503050406030204" pitchFamily="18" charset="0"/>
                                  <a:cs typeface="DejaVu Math TeX Gyre" panose="02000503000000000000" charset="0"/>
                                </a:rPr>
                                <m:t>𝑖</m:t>
                              </m:r>
                            </m:sub>
                          </m:sSub>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𝑥</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𝑌</m:t>
                          </m:r>
                          <m:r>
                            <a:rPr lang="en-US" altLang="zh-CN" i="1" dirty="0">
                              <a:latin typeface="Cambria Math" panose="02040503050406030204" pitchFamily="18" charset="0"/>
                              <a:cs typeface="DejaVu Math TeX Gyre" panose="02000503000000000000" charset="0"/>
                            </a:rPr>
                            <m:t>)</m:t>
                          </m:r>
                        </m:e>
                      </m:nary>
                    </m:oMath>
                  </m:oMathPara>
                </a14:m>
                <a:endParaRPr lang="zh-CN" altLang="en-US" dirty="0"/>
              </a:p>
            </p:txBody>
          </p:sp>
        </mc:Choice>
        <mc:Fallback xmlns="">
          <p:sp>
            <p:nvSpPr>
              <p:cNvPr id="48" name="文本框 47"/>
              <p:cNvSpPr txBox="1">
                <a:spLocks noRot="1" noChangeAspect="1" noMove="1" noResize="1" noEditPoints="1" noAdjustHandles="1" noChangeArrowheads="1" noChangeShapeType="1" noTextEdit="1"/>
              </p:cNvSpPr>
              <p:nvPr/>
            </p:nvSpPr>
            <p:spPr>
              <a:xfrm>
                <a:off x="528320" y="4765675"/>
                <a:ext cx="4998085" cy="807085"/>
              </a:xfrm>
              <a:prstGeom prst="rect">
                <a:avLst/>
              </a:prstGeom>
              <a:blipFill rotWithShape="1">
                <a:blip r:embed="rId6"/>
                <a:stretch>
                  <a:fillRect b="-11330"/>
                </a:stretch>
              </a:blipFill>
            </p:spPr>
            <p:txBody>
              <a:bodyPr/>
              <a:lstStyle/>
              <a:p>
                <a:r>
                  <a:rPr lang="zh-CN" altLang="en-US">
                    <a:noFill/>
                  </a:rPr>
                  <a:t> </a:t>
                </a:r>
              </a:p>
            </p:txBody>
          </p:sp>
        </mc:Fallback>
      </mc:AlternateContent>
      <p:pic>
        <p:nvPicPr>
          <p:cNvPr id="4" name="图片 3" descr="电脑游戏的截图">
            <a:extLst>
              <a:ext uri="{FF2B5EF4-FFF2-40B4-BE49-F238E27FC236}">
                <a16:creationId xmlns:a16="http://schemas.microsoft.com/office/drawing/2014/main" id="{885F9F9A-896D-1C65-D94B-02EC57EC997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226629" y="884134"/>
            <a:ext cx="3619925" cy="2157724"/>
          </a:xfrm>
          <a:prstGeom prst="rect">
            <a:avLst/>
          </a:prstGeom>
        </p:spPr>
      </p:pic>
      <p:pic>
        <p:nvPicPr>
          <p:cNvPr id="6" name="图片 5" descr="图表&#10;&#10;AI 生成的内容可能不正确。">
            <a:extLst>
              <a:ext uri="{FF2B5EF4-FFF2-40B4-BE49-F238E27FC236}">
                <a16:creationId xmlns:a16="http://schemas.microsoft.com/office/drawing/2014/main" id="{F8A57D4B-1B5E-4882-D495-3F6C8F281C4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04643" y="3551854"/>
            <a:ext cx="7205974" cy="3031013"/>
          </a:xfrm>
          <a:prstGeom prst="rect">
            <a:avLst/>
          </a:prstGeom>
        </p:spPr>
      </p:pic>
      <p:sp>
        <p:nvSpPr>
          <p:cNvPr id="7" name="文本框 6">
            <a:extLst>
              <a:ext uri="{FF2B5EF4-FFF2-40B4-BE49-F238E27FC236}">
                <a16:creationId xmlns:a16="http://schemas.microsoft.com/office/drawing/2014/main" id="{3008B4C5-3429-9702-0FC1-1B91E6FB0E15}"/>
              </a:ext>
            </a:extLst>
          </p:cNvPr>
          <p:cNvSpPr txBox="1"/>
          <p:nvPr/>
        </p:nvSpPr>
        <p:spPr>
          <a:xfrm>
            <a:off x="4832571" y="1012110"/>
            <a:ext cx="4533499" cy="427746"/>
          </a:xfrm>
          <a:prstGeom prst="rect">
            <a:avLst/>
          </a:prstGeom>
          <a:noFill/>
        </p:spPr>
        <p:txBody>
          <a:bodyPr wrap="square" rtlCol="0">
            <a:spAutoFit/>
          </a:bodyPr>
          <a:lstStyle/>
          <a:p>
            <a:pPr algn="l">
              <a:lnSpc>
                <a:spcPct val="120000"/>
              </a:lnSpc>
            </a:pPr>
            <a:r>
              <a:rPr lang="zh-CN" altLang="en-US" sz="2000" b="1" dirty="0"/>
              <a:t>简单案例：随机森林确定道路速度</a:t>
            </a:r>
          </a:p>
        </p:txBody>
      </p:sp>
      <p:sp>
        <p:nvSpPr>
          <p:cNvPr id="8" name="文本框 7">
            <a:extLst>
              <a:ext uri="{FF2B5EF4-FFF2-40B4-BE49-F238E27FC236}">
                <a16:creationId xmlns:a16="http://schemas.microsoft.com/office/drawing/2014/main" id="{DFEC638D-B103-4D1B-9CC9-5023B815B4DE}"/>
              </a:ext>
            </a:extLst>
          </p:cNvPr>
          <p:cNvSpPr txBox="1"/>
          <p:nvPr/>
        </p:nvSpPr>
        <p:spPr>
          <a:xfrm>
            <a:off x="4871468" y="1440313"/>
            <a:ext cx="6623846" cy="2154436"/>
          </a:xfrm>
          <a:prstGeom prst="rect">
            <a:avLst/>
          </a:prstGeom>
          <a:noFill/>
        </p:spPr>
        <p:txBody>
          <a:bodyPr wrap="square" rtlCol="0">
            <a:spAutoFit/>
          </a:bodyPr>
          <a:lstStyle/>
          <a:p>
            <a:r>
              <a:rPr lang="zh-CN" altLang="en-US" sz="2000" b="1" dirty="0"/>
              <a:t>训练样本自变量</a:t>
            </a:r>
            <a:r>
              <a:rPr lang="zh-CN" altLang="en-US" sz="2000" dirty="0"/>
              <a:t>：道路等级、可视域、坡度、道路起伏度</a:t>
            </a:r>
            <a:endParaRPr lang="en-US" altLang="zh-CN" sz="2000" dirty="0"/>
          </a:p>
          <a:p>
            <a:r>
              <a:rPr lang="zh-CN" altLang="en-US" sz="2000" b="1" dirty="0"/>
              <a:t>应变量</a:t>
            </a:r>
            <a:r>
              <a:rPr lang="zh-CN" altLang="en-US" sz="2000" dirty="0"/>
              <a:t>：速度</a:t>
            </a:r>
            <a:endParaRPr lang="en-US" altLang="zh-CN" sz="2000" dirty="0"/>
          </a:p>
          <a:p>
            <a:endParaRPr lang="en-US" altLang="zh-CN" sz="2000" dirty="0"/>
          </a:p>
          <a:p>
            <a:r>
              <a:rPr lang="zh-CN" altLang="en-US" dirty="0"/>
              <a:t>选取典型路段利用经验人为确定合理的运动速度，并获取样本相应的环境因子数据，采用随机森林分类获得其他路段的安全运动速度。</a:t>
            </a:r>
            <a:endParaRPr lang="en-US" altLang="zh-CN" dirty="0"/>
          </a:p>
          <a:p>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4"/>
                                        </p:tgtEl>
                                        <p:attrNameLst>
                                          <p:attrName>style.visibility</p:attrName>
                                        </p:attrNameLst>
                                      </p:cBhvr>
                                      <p:to>
                                        <p:strVal val="hidden"/>
                                      </p:to>
                                    </p:set>
                                  </p:childTnLst>
                                </p:cTn>
                              </p:par>
                              <p:par>
                                <p:cTn id="17" presetID="1" presetClass="entr" presetSubtype="0" fill="hold" grpId="1"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2" grpId="1"/>
      <p:bldP spid="43" grpId="0"/>
      <p:bldP spid="43" grpId="1"/>
      <p:bldP spid="47" grpId="0"/>
      <p:bldP spid="47" grpId="1"/>
      <p:bldP spid="48" grpId="0"/>
      <p:bldP spid="48" grpId="1"/>
      <p:bldP spid="7" grpId="0"/>
      <p:bldP spid="7" grpId="1"/>
      <p:bldP spid="8" grpId="0"/>
      <p:bldP spid="8"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939798"/>
            <a:ext cx="5022850" cy="625474"/>
            <a:chOff x="0" y="1075267"/>
            <a:chExt cx="5022850"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4322445" cy="460375"/>
            </a:xfrm>
            <a:prstGeom prst="rect">
              <a:avLst/>
            </a:prstGeom>
            <a:noFill/>
          </p:spPr>
          <p:txBody>
            <a:bodyPr wrap="square">
              <a:spAutoFit/>
            </a:bodyPr>
            <a:lstStyle/>
            <a:p>
              <a:r>
                <a:rPr lang="en-US" altLang="zh-CN" sz="2400" b="1" dirty="0">
                  <a:solidFill>
                    <a:schemeClr val="accent1"/>
                  </a:solidFill>
                  <a:latin typeface="+mj-lt"/>
                </a:rPr>
                <a:t>5.2.3 </a:t>
              </a:r>
              <a:r>
                <a:rPr lang="zh-CN" altLang="en-US" sz="2400" b="1" dirty="0">
                  <a:solidFill>
                    <a:schemeClr val="accent1"/>
                  </a:solidFill>
                  <a:latin typeface="+mj-lt"/>
                </a:rPr>
                <a:t>支持向量机避障策略</a:t>
              </a:r>
            </a:p>
          </p:txBody>
        </p:sp>
      </p:grpSp>
      <p:cxnSp>
        <p:nvCxnSpPr>
          <p:cNvPr id="67" name="直接箭头连接符 66"/>
          <p:cNvCxnSpPr/>
          <p:nvPr/>
        </p:nvCxnSpPr>
        <p:spPr>
          <a:xfrm flipV="1">
            <a:off x="6948170" y="5103495"/>
            <a:ext cx="3295650" cy="19050"/>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68" name="直接箭头连接符 67"/>
          <p:cNvCxnSpPr/>
          <p:nvPr/>
        </p:nvCxnSpPr>
        <p:spPr>
          <a:xfrm flipV="1">
            <a:off x="6948170" y="1884045"/>
            <a:ext cx="0" cy="3200400"/>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sp>
        <p:nvSpPr>
          <p:cNvPr id="69" name="椭圆 68"/>
          <p:cNvSpPr/>
          <p:nvPr/>
        </p:nvSpPr>
        <p:spPr>
          <a:xfrm>
            <a:off x="7272020" y="363664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7653020" y="376364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7297420" y="41668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7602220" y="41668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7780020" y="414464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7602220" y="45700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8234045" y="45700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8024495" y="446532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8024495" y="40398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7675245" y="33889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8465820" y="40620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8543925" y="273050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8986520" y="22269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9494520" y="243649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9196070" y="301752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9875520" y="29127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a:off x="8986520" y="275399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a:off x="10081895" y="351599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9599295" y="29127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9494520" y="328422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9238615" y="362077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a:off x="8753475" y="31794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p:cNvSpPr/>
          <p:nvPr/>
        </p:nvSpPr>
        <p:spPr>
          <a:xfrm>
            <a:off x="10462895" y="177927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a:off x="10462895" y="21221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4" name="文本框 93"/>
              <p:cNvSpPr txBox="1"/>
              <p:nvPr/>
            </p:nvSpPr>
            <p:spPr>
              <a:xfrm>
                <a:off x="10567670" y="1646555"/>
                <a:ext cx="4064000" cy="370840"/>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𝑦</m:t>
                          </m:r>
                        </m:e>
                        <m:sub>
                          <m:r>
                            <a:rPr lang="en-US" altLang="zh-CN" i="1">
                              <a:latin typeface="Cambria Math" panose="02040503050406030204" pitchFamily="18" charset="0"/>
                              <a:cs typeface="DejaVu Math TeX Gyre" panose="02000503000000000000" charset="0"/>
                            </a:rPr>
                            <m:t>𝑖</m:t>
                          </m:r>
                        </m:sub>
                      </m:sSub>
                      <m:r>
                        <a:rPr lang="en-US" altLang="zh-CN" i="1">
                          <a:latin typeface="Cambria Math" panose="02040503050406030204" pitchFamily="18" charset="0"/>
                          <a:cs typeface="DejaVu Math TeX Gyre" panose="02000503000000000000" charset="0"/>
                        </a:rPr>
                        <m:t>=1</m:t>
                      </m:r>
                    </m:oMath>
                  </m:oMathPara>
                </a14:m>
                <a:endParaRPr lang="zh-CN" altLang="en-US"/>
              </a:p>
            </p:txBody>
          </p:sp>
        </mc:Choice>
        <mc:Fallback xmlns="">
          <p:sp>
            <p:nvSpPr>
              <p:cNvPr id="94" name="文本框 93"/>
              <p:cNvSpPr txBox="1">
                <a:spLocks noRot="1" noChangeAspect="1" noMove="1" noResize="1" noEditPoints="1" noAdjustHandles="1" noChangeArrowheads="1" noChangeShapeType="1" noTextEdit="1"/>
              </p:cNvSpPr>
              <p:nvPr/>
            </p:nvSpPr>
            <p:spPr>
              <a:xfrm>
                <a:off x="10567670" y="1646555"/>
                <a:ext cx="4064000" cy="37084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文本框 94"/>
              <p:cNvSpPr txBox="1"/>
              <p:nvPr/>
            </p:nvSpPr>
            <p:spPr>
              <a:xfrm>
                <a:off x="10567670" y="1960880"/>
                <a:ext cx="4064000" cy="370840"/>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𝑦</m:t>
                          </m:r>
                        </m:e>
                        <m:sub>
                          <m:r>
                            <a:rPr lang="en-US" altLang="zh-CN" i="1">
                              <a:latin typeface="Cambria Math" panose="02040503050406030204" pitchFamily="18" charset="0"/>
                              <a:cs typeface="DejaVu Math TeX Gyre" panose="02000503000000000000" charset="0"/>
                            </a:rPr>
                            <m:t>𝑖</m:t>
                          </m:r>
                        </m:sub>
                      </m:sSub>
                      <m:r>
                        <a:rPr lang="en-US" altLang="zh-CN" i="1">
                          <a:latin typeface="Cambria Math" panose="02040503050406030204" pitchFamily="18" charset="0"/>
                          <a:cs typeface="DejaVu Math TeX Gyre" panose="02000503000000000000" charset="0"/>
                        </a:rPr>
                        <m:t>=−1</m:t>
                      </m:r>
                    </m:oMath>
                  </m:oMathPara>
                </a14:m>
                <a:endParaRPr lang="zh-CN" altLang="en-US"/>
              </a:p>
            </p:txBody>
          </p:sp>
        </mc:Choice>
        <mc:Fallback xmlns="">
          <p:sp>
            <p:nvSpPr>
              <p:cNvPr id="95" name="文本框 94"/>
              <p:cNvSpPr txBox="1">
                <a:spLocks noRot="1" noChangeAspect="1" noMove="1" noResize="1" noEditPoints="1" noAdjustHandles="1" noChangeArrowheads="1" noChangeShapeType="1" noTextEdit="1"/>
              </p:cNvSpPr>
              <p:nvPr/>
            </p:nvSpPr>
            <p:spPr>
              <a:xfrm>
                <a:off x="10567670" y="1960880"/>
                <a:ext cx="4064000" cy="370840"/>
              </a:xfrm>
              <a:prstGeom prst="rect">
                <a:avLst/>
              </a:prstGeom>
              <a:blipFill rotWithShape="1">
                <a:blip r:embed="rId4"/>
                <a:stretch>
                  <a:fillRect/>
                </a:stretch>
              </a:blipFill>
            </p:spPr>
            <p:txBody>
              <a:bodyPr/>
              <a:lstStyle/>
              <a:p>
                <a:r>
                  <a:rPr lang="zh-CN" altLang="en-US">
                    <a:noFill/>
                  </a:rPr>
                  <a:t> </a:t>
                </a:r>
              </a:p>
            </p:txBody>
          </p:sp>
        </mc:Fallback>
      </mc:AlternateContent>
      <p:sp>
        <p:nvSpPr>
          <p:cNvPr id="97" name="文本框 96"/>
          <p:cNvSpPr txBox="1"/>
          <p:nvPr/>
        </p:nvSpPr>
        <p:spPr>
          <a:xfrm>
            <a:off x="370205" y="1884045"/>
            <a:ext cx="6247765" cy="829945"/>
          </a:xfrm>
          <a:prstGeom prst="rect">
            <a:avLst/>
          </a:prstGeom>
          <a:noFill/>
        </p:spPr>
        <p:txBody>
          <a:bodyPr wrap="square" rtlCol="0">
            <a:spAutoFit/>
          </a:bodyPr>
          <a:lstStyle/>
          <a:p>
            <a:pPr algn="l">
              <a:lnSpc>
                <a:spcPct val="120000"/>
              </a:lnSpc>
            </a:pPr>
            <a:r>
              <a:rPr lang="zh-CN" altLang="en-US" sz="2000" b="1" dirty="0"/>
              <a:t>支持向量机（</a:t>
            </a:r>
            <a:r>
              <a:rPr lang="en-US" altLang="zh-CN" sz="2000" b="1" dirty="0"/>
              <a:t>Support Vector Machine, SVM</a:t>
            </a:r>
            <a:r>
              <a:rPr lang="zh-CN" altLang="en-US" sz="2000" b="1" dirty="0"/>
              <a:t>）</a:t>
            </a:r>
          </a:p>
          <a:p>
            <a:pPr algn="l">
              <a:lnSpc>
                <a:spcPct val="120000"/>
              </a:lnSpc>
            </a:pPr>
            <a:endParaRPr lang="zh-CN" altLang="en-US" sz="2000" b="1" dirty="0"/>
          </a:p>
        </p:txBody>
      </p:sp>
      <p:sp>
        <p:nvSpPr>
          <p:cNvPr id="100" name="文本框 99"/>
          <p:cNvSpPr txBox="1"/>
          <p:nvPr/>
        </p:nvSpPr>
        <p:spPr>
          <a:xfrm>
            <a:off x="675005" y="2835275"/>
            <a:ext cx="6247765" cy="829945"/>
          </a:xfrm>
          <a:prstGeom prst="rect">
            <a:avLst/>
          </a:prstGeom>
          <a:noFill/>
        </p:spPr>
        <p:txBody>
          <a:bodyPr wrap="square" rtlCol="0">
            <a:spAutoFit/>
          </a:bodyPr>
          <a:lstStyle/>
          <a:p>
            <a:pPr algn="l">
              <a:lnSpc>
                <a:spcPct val="120000"/>
              </a:lnSpc>
            </a:pPr>
            <a:r>
              <a:rPr lang="en-US" altLang="zh-CN" sz="2000" b="1" dirty="0"/>
              <a:t>1)</a:t>
            </a:r>
            <a:r>
              <a:rPr lang="zh-CN" altLang="en-US" sz="2000" b="1" dirty="0"/>
              <a:t>将数据映射到高维空间</a:t>
            </a:r>
          </a:p>
          <a:p>
            <a:pPr algn="l">
              <a:lnSpc>
                <a:spcPct val="120000"/>
              </a:lnSpc>
            </a:pPr>
            <a:endParaRPr lang="zh-CN" altLang="en-US" sz="2000" b="1" dirty="0"/>
          </a:p>
        </p:txBody>
      </p:sp>
      <p:sp>
        <p:nvSpPr>
          <p:cNvPr id="101" name="文本框 100"/>
          <p:cNvSpPr txBox="1"/>
          <p:nvPr/>
        </p:nvSpPr>
        <p:spPr>
          <a:xfrm>
            <a:off x="675005" y="3820795"/>
            <a:ext cx="6247765" cy="460375"/>
          </a:xfrm>
          <a:prstGeom prst="rect">
            <a:avLst/>
          </a:prstGeom>
          <a:noFill/>
        </p:spPr>
        <p:txBody>
          <a:bodyPr wrap="square" rtlCol="0">
            <a:spAutoFit/>
          </a:bodyPr>
          <a:lstStyle/>
          <a:p>
            <a:pPr algn="l">
              <a:lnSpc>
                <a:spcPct val="120000"/>
              </a:lnSpc>
            </a:pPr>
            <a:r>
              <a:rPr lang="en-US" altLang="zh-CN" sz="2000" b="1" dirty="0"/>
              <a:t>2)</a:t>
            </a:r>
            <a:r>
              <a:rPr lang="zh-CN" altLang="en-US" sz="2000" b="1" dirty="0"/>
              <a:t>寻找超平面分割不同类别数据</a:t>
            </a:r>
          </a:p>
        </p:txBody>
      </p:sp>
      <p:grpSp>
        <p:nvGrpSpPr>
          <p:cNvPr id="103" name="组合 102"/>
          <p:cNvGrpSpPr/>
          <p:nvPr/>
        </p:nvGrpSpPr>
        <p:grpSpPr>
          <a:xfrm>
            <a:off x="856615" y="4098925"/>
            <a:ext cx="3281680" cy="1606550"/>
            <a:chOff x="826614" y="1573901"/>
            <a:chExt cx="3281680" cy="1606867"/>
          </a:xfrm>
        </p:grpSpPr>
        <p:sp>
          <p:nvSpPr>
            <p:cNvPr id="104" name="直角三角形 17"/>
            <p:cNvSpPr/>
            <p:nvPr/>
          </p:nvSpPr>
          <p:spPr>
            <a:xfrm rot="16200000" flipV="1">
              <a:off x="1902304" y="1569138"/>
              <a:ext cx="780415" cy="789940"/>
            </a:xfrm>
            <a:custGeom>
              <a:avLst/>
              <a:gdLst>
                <a:gd name="connsiteX0" fmla="*/ 0 w 1604755"/>
                <a:gd name="connsiteY0" fmla="*/ 550392 h 550392"/>
                <a:gd name="connsiteX1" fmla="*/ 0 w 1604755"/>
                <a:gd name="connsiteY1" fmla="*/ 0 h 550392"/>
                <a:gd name="connsiteX2" fmla="*/ 1604755 w 1604755"/>
                <a:gd name="connsiteY2" fmla="*/ 550392 h 550392"/>
                <a:gd name="connsiteX3" fmla="*/ 0 w 1604755"/>
                <a:gd name="connsiteY3" fmla="*/ 550392 h 550392"/>
                <a:gd name="connsiteX0-1" fmla="*/ 0 w 2879835"/>
                <a:gd name="connsiteY0-2" fmla="*/ 550392 h 1525752"/>
                <a:gd name="connsiteX1-3" fmla="*/ 0 w 2879835"/>
                <a:gd name="connsiteY1-4" fmla="*/ 0 h 1525752"/>
                <a:gd name="connsiteX2-5" fmla="*/ 2879835 w 2879835"/>
                <a:gd name="connsiteY2-6" fmla="*/ 1525752 h 1525752"/>
                <a:gd name="connsiteX3-7" fmla="*/ 0 w 2879835"/>
                <a:gd name="connsiteY3-8" fmla="*/ 550392 h 1525752"/>
                <a:gd name="connsiteX0-9" fmla="*/ 0 w 2790935"/>
                <a:gd name="connsiteY0-10" fmla="*/ 550392 h 1532102"/>
                <a:gd name="connsiteX1-11" fmla="*/ 0 w 2790935"/>
                <a:gd name="connsiteY1-12" fmla="*/ 0 h 1532102"/>
                <a:gd name="connsiteX2-13" fmla="*/ 2790935 w 2790935"/>
                <a:gd name="connsiteY2-14" fmla="*/ 1532102 h 1532102"/>
                <a:gd name="connsiteX3-15" fmla="*/ 0 w 2790935"/>
                <a:gd name="connsiteY3-16" fmla="*/ 550392 h 1532102"/>
                <a:gd name="connsiteX0-17" fmla="*/ 0 w 2473220"/>
                <a:gd name="connsiteY0-18" fmla="*/ 550392 h 1516604"/>
                <a:gd name="connsiteX1-19" fmla="*/ 0 w 2473220"/>
                <a:gd name="connsiteY1-20" fmla="*/ 0 h 1516604"/>
                <a:gd name="connsiteX2-21" fmla="*/ 2473220 w 2473220"/>
                <a:gd name="connsiteY2-22" fmla="*/ 1516604 h 1516604"/>
                <a:gd name="connsiteX3-23" fmla="*/ 0 w 2473220"/>
                <a:gd name="connsiteY3-24" fmla="*/ 550392 h 1516604"/>
                <a:gd name="connsiteX0-25" fmla="*/ 0 w 1448753"/>
                <a:gd name="connsiteY0-26" fmla="*/ 550392 h 1533537"/>
                <a:gd name="connsiteX1-27" fmla="*/ 0 w 1448753"/>
                <a:gd name="connsiteY1-28" fmla="*/ 0 h 1533537"/>
                <a:gd name="connsiteX2-29" fmla="*/ 1448753 w 1448753"/>
                <a:gd name="connsiteY2-30" fmla="*/ 1533537 h 1533537"/>
                <a:gd name="connsiteX3-31" fmla="*/ 0 w 1448753"/>
                <a:gd name="connsiteY3-32" fmla="*/ 550392 h 1533537"/>
                <a:gd name="connsiteX0-33" fmla="*/ 0 w 1469919"/>
                <a:gd name="connsiteY0-34" fmla="*/ 550392 h 1575870"/>
                <a:gd name="connsiteX1-35" fmla="*/ 0 w 1469919"/>
                <a:gd name="connsiteY1-36" fmla="*/ 0 h 1575870"/>
                <a:gd name="connsiteX2-37" fmla="*/ 1469919 w 1469919"/>
                <a:gd name="connsiteY2-38" fmla="*/ 1575870 h 1575870"/>
                <a:gd name="connsiteX3-39" fmla="*/ 0 w 1469919"/>
                <a:gd name="connsiteY3-40" fmla="*/ 550392 h 1575870"/>
                <a:gd name="connsiteX0-41" fmla="*/ 0 w 1469919"/>
                <a:gd name="connsiteY0-42" fmla="*/ 1007592 h 1575870"/>
                <a:gd name="connsiteX1-43" fmla="*/ 0 w 1469919"/>
                <a:gd name="connsiteY1-44" fmla="*/ 0 h 1575870"/>
                <a:gd name="connsiteX2-45" fmla="*/ 1469919 w 1469919"/>
                <a:gd name="connsiteY2-46" fmla="*/ 1575870 h 1575870"/>
                <a:gd name="connsiteX3-47" fmla="*/ 0 w 1469919"/>
                <a:gd name="connsiteY3-48" fmla="*/ 1007592 h 1575870"/>
              </a:gdLst>
              <a:ahLst/>
              <a:cxnLst>
                <a:cxn ang="0">
                  <a:pos x="connsiteX0-1" y="connsiteY0-2"/>
                </a:cxn>
                <a:cxn ang="0">
                  <a:pos x="connsiteX1-3" y="connsiteY1-4"/>
                </a:cxn>
                <a:cxn ang="0">
                  <a:pos x="connsiteX2-5" y="connsiteY2-6"/>
                </a:cxn>
                <a:cxn ang="0">
                  <a:pos x="connsiteX3-7" y="connsiteY3-8"/>
                </a:cxn>
              </a:cxnLst>
              <a:rect l="l" t="t" r="r" b="b"/>
              <a:pathLst>
                <a:path w="1469919" h="1575870">
                  <a:moveTo>
                    <a:pt x="0" y="1007592"/>
                  </a:moveTo>
                  <a:lnTo>
                    <a:pt x="0" y="0"/>
                  </a:lnTo>
                  <a:lnTo>
                    <a:pt x="1469919" y="1575870"/>
                  </a:lnTo>
                  <a:lnTo>
                    <a:pt x="0" y="1007592"/>
                  </a:lnTo>
                  <a:close/>
                </a:path>
              </a:pathLst>
            </a:custGeom>
            <a:gradFill>
              <a:gsLst>
                <a:gs pos="3000">
                  <a:schemeClr val="accent1">
                    <a:alpha val="91000"/>
                  </a:schemeClr>
                </a:gs>
                <a:gs pos="93000">
                  <a:schemeClr val="accent1">
                    <a:lumMod val="20000"/>
                    <a:lumOff val="80000"/>
                    <a:alpha val="54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5" name="矩形: 圆角 6"/>
            <p:cNvSpPr/>
            <p:nvPr/>
          </p:nvSpPr>
          <p:spPr>
            <a:xfrm>
              <a:off x="826614" y="2353998"/>
              <a:ext cx="3281680" cy="826770"/>
            </a:xfrm>
            <a:prstGeom prst="roundRect">
              <a:avLst>
                <a:gd name="adj" fmla="val 397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108000" bIns="108000" rtlCol="0" anchor="ctr"/>
            <a:lstStyle/>
            <a:p>
              <a:pPr algn="ctr"/>
              <a:r>
                <a:rPr lang="zh-CN" altLang="en-US" sz="2400" b="1" dirty="0">
                  <a:solidFill>
                    <a:schemeClr val="bg1"/>
                  </a:solidFill>
                </a:rPr>
                <a:t>          </a:t>
              </a:r>
              <a:r>
                <a:rPr lang="zh-CN" altLang="en-US" sz="2000" b="1" dirty="0">
                  <a:solidFill>
                    <a:schemeClr val="bg1"/>
                  </a:solidFill>
                </a:rPr>
                <a:t> 高维非线性数据？</a:t>
              </a:r>
              <a:endParaRPr lang="en-US" altLang="zh-CN" sz="2000" b="1" dirty="0">
                <a:solidFill>
                  <a:schemeClr val="bg1"/>
                </a:solidFill>
              </a:endParaRPr>
            </a:p>
          </p:txBody>
        </p:sp>
        <p:pic>
          <p:nvPicPr>
            <p:cNvPr id="106" name="Picture 2" descr="查看图片"/>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6281" b="12842"/>
            <a:stretch>
              <a:fillRect/>
            </a:stretch>
          </p:blipFill>
          <p:spPr bwMode="auto">
            <a:xfrm>
              <a:off x="921181" y="2409946"/>
              <a:ext cx="976063" cy="691807"/>
            </a:xfrm>
            <a:prstGeom prst="rect">
              <a:avLst/>
            </a:prstGeom>
            <a:noFill/>
            <a:extLst>
              <a:ext uri="{909E8E84-426E-40DD-AFC4-6F175D3DCCD1}">
                <a14:hiddenFill xmlns:a14="http://schemas.microsoft.com/office/drawing/2010/main">
                  <a:solidFill>
                    <a:srgbClr val="FFFFFF"/>
                  </a:solidFill>
                </a14:hiddenFill>
              </a:ext>
            </a:extLst>
          </p:spPr>
        </p:pic>
      </p:grpSp>
      <p:sp>
        <p:nvSpPr>
          <p:cNvPr id="110" name="矩形 109"/>
          <p:cNvSpPr/>
          <p:nvPr/>
        </p:nvSpPr>
        <p:spPr>
          <a:xfrm>
            <a:off x="6656705" y="5551170"/>
            <a:ext cx="3910965" cy="561340"/>
          </a:xfrm>
          <a:prstGeom prst="rect">
            <a:avLst/>
          </a:prstGeom>
          <a:gradFill flip="none" rotWithShape="1">
            <a:gsLst>
              <a:gs pos="88000">
                <a:srgbClr val="C00000"/>
              </a:gs>
              <a:gs pos="0">
                <a:srgbClr val="C00000"/>
              </a:gs>
              <a:gs pos="100000">
                <a:srgbClr val="C00000">
                  <a:alpha val="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t>不同类别间边界最大化</a:t>
            </a:r>
          </a:p>
        </p:txBody>
      </p:sp>
      <p:sp>
        <p:nvSpPr>
          <p:cNvPr id="111" name="椭圆 110"/>
          <p:cNvSpPr/>
          <p:nvPr/>
        </p:nvSpPr>
        <p:spPr>
          <a:xfrm>
            <a:off x="7561580" y="330644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p:nvSpPr>
        <p:spPr>
          <a:xfrm>
            <a:off x="8361045" y="396684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p:nvSpPr>
        <p:spPr>
          <a:xfrm>
            <a:off x="8648700" y="308419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p:nvSpPr>
        <p:spPr>
          <a:xfrm>
            <a:off x="9091295" y="351599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5" name="直接连接符 114"/>
          <p:cNvCxnSpPr/>
          <p:nvPr/>
        </p:nvCxnSpPr>
        <p:spPr>
          <a:xfrm>
            <a:off x="7845425" y="2378075"/>
            <a:ext cx="2273935" cy="201295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17" name="直接连接符 116"/>
          <p:cNvCxnSpPr/>
          <p:nvPr/>
        </p:nvCxnSpPr>
        <p:spPr>
          <a:xfrm>
            <a:off x="7254875" y="3006725"/>
            <a:ext cx="2172335" cy="190500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18" name="直接连接符 117"/>
          <p:cNvCxnSpPr/>
          <p:nvPr/>
        </p:nvCxnSpPr>
        <p:spPr>
          <a:xfrm>
            <a:off x="7561580" y="2713990"/>
            <a:ext cx="2273935" cy="2012950"/>
          </a:xfrm>
          <a:prstGeom prst="line">
            <a:avLst/>
          </a:prstGeom>
        </p:spPr>
        <p:style>
          <a:lnRef idx="3">
            <a:schemeClr val="accent1"/>
          </a:lnRef>
          <a:fillRef idx="0">
            <a:srgbClr val="FFFFFF"/>
          </a:fillRef>
          <a:effectRef idx="0">
            <a:srgbClr val="FFFFFF"/>
          </a:effectRef>
          <a:fontRef idx="minor">
            <a:schemeClr val="tx1"/>
          </a:fontRef>
        </p:style>
      </p:cxnSp>
      <p:cxnSp>
        <p:nvCxnSpPr>
          <p:cNvPr id="119" name="直接箭头连接符 118"/>
          <p:cNvCxnSpPr/>
          <p:nvPr/>
        </p:nvCxnSpPr>
        <p:spPr>
          <a:xfrm flipV="1">
            <a:off x="9566910" y="4156075"/>
            <a:ext cx="279400" cy="31750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121" name="直接箭头连接符 120"/>
          <p:cNvCxnSpPr/>
          <p:nvPr/>
        </p:nvCxnSpPr>
        <p:spPr>
          <a:xfrm flipH="1">
            <a:off x="9274810" y="4473575"/>
            <a:ext cx="292100" cy="34290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22" name="文本框 121"/>
              <p:cNvSpPr txBox="1"/>
              <p:nvPr/>
            </p:nvSpPr>
            <p:spPr>
              <a:xfrm>
                <a:off x="7477760" y="1960880"/>
                <a:ext cx="4023995" cy="291465"/>
              </a:xfrm>
              <a:prstGeom prst="rect">
                <a:avLst/>
              </a:prstGeom>
              <a:noFill/>
            </p:spPr>
            <p:txBody>
              <a:bodyPr wrap="square" rtlCol="0">
                <a:no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𝐻</m:t>
                          </m:r>
                        </m:e>
                        <m:sub>
                          <m:r>
                            <a:rPr lang="en-US" altLang="zh-CN" i="1">
                              <a:latin typeface="Cambria Math" panose="02040503050406030204" pitchFamily="18" charset="0"/>
                              <a:cs typeface="DejaVu Math TeX Gyre" panose="02000503000000000000" charset="0"/>
                            </a:rPr>
                            <m:t>1</m:t>
                          </m:r>
                        </m:sub>
                      </m:sSub>
                    </m:oMath>
                  </m:oMathPara>
                </a14:m>
                <a:endParaRPr lang="zh-CN" altLang="en-US"/>
              </a:p>
            </p:txBody>
          </p:sp>
        </mc:Choice>
        <mc:Fallback xmlns="">
          <p:sp>
            <p:nvSpPr>
              <p:cNvPr id="122" name="文本框 121"/>
              <p:cNvSpPr txBox="1">
                <a:spLocks noRot="1" noChangeAspect="1" noMove="1" noResize="1" noEditPoints="1" noAdjustHandles="1" noChangeArrowheads="1" noChangeShapeType="1" noTextEdit="1"/>
              </p:cNvSpPr>
              <p:nvPr/>
            </p:nvSpPr>
            <p:spPr>
              <a:xfrm>
                <a:off x="7477760" y="1960880"/>
                <a:ext cx="4023995" cy="291465"/>
              </a:xfrm>
              <a:prstGeom prst="rect">
                <a:avLst/>
              </a:prstGeom>
              <a:blipFill rotWithShape="1">
                <a:blip r:embed="rId6"/>
                <a:stretch>
                  <a:fillRect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3" name="文本框 122"/>
              <p:cNvSpPr txBox="1"/>
              <p:nvPr/>
            </p:nvSpPr>
            <p:spPr>
              <a:xfrm>
                <a:off x="7178675" y="2329815"/>
                <a:ext cx="4023995" cy="291465"/>
              </a:xfrm>
              <a:prstGeom prst="rect">
                <a:avLst/>
              </a:prstGeom>
              <a:noFill/>
            </p:spPr>
            <p:txBody>
              <a:bodyPr wrap="square" rtlCol="0">
                <a:noAutofit/>
              </a:bodyPr>
              <a:lstStyle/>
              <a:p>
                <a:pPr/>
                <a14:m>
                  <m:oMathPara xmlns:m="http://schemas.openxmlformats.org/officeDocument/2006/math">
                    <m:oMathParaPr>
                      <m:jc m:val="left"/>
                    </m:oMathParaPr>
                    <m:oMath>
                      <m:r>
                        <a:rPr lang="en-US" altLang="zh-CN" i="1">
                          <a:latin typeface="Cambria Math" panose="02040503050406030204" pitchFamily="18" charset="0"/>
                          <a:cs typeface="DejaVu Math TeX Gyre" panose="02000503000000000000" charset="0"/>
                        </a:rPr>
                        <m:t>𝐻</m:t>
                      </m:r>
                    </m:oMath>
                  </m:oMathPara>
                </a14:m>
                <a:endParaRPr lang="zh-CN" altLang="en-US"/>
              </a:p>
            </p:txBody>
          </p:sp>
        </mc:Choice>
        <mc:Fallback xmlns="">
          <p:sp>
            <p:nvSpPr>
              <p:cNvPr id="123" name="文本框 122"/>
              <p:cNvSpPr txBox="1">
                <a:spLocks noRot="1" noChangeAspect="1" noMove="1" noResize="1" noEditPoints="1" noAdjustHandles="1" noChangeArrowheads="1" noChangeShapeType="1" noTextEdit="1"/>
              </p:cNvSpPr>
              <p:nvPr/>
            </p:nvSpPr>
            <p:spPr>
              <a:xfrm>
                <a:off x="7178675" y="2329815"/>
                <a:ext cx="4023995" cy="291465"/>
              </a:xfrm>
              <a:prstGeom prst="rect">
                <a:avLst/>
              </a:prstGeom>
              <a:blipFill rotWithShape="1">
                <a:blip r:embed="rId7"/>
                <a:stretch>
                  <a:fillRect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4" name="文本框 123"/>
              <p:cNvSpPr txBox="1"/>
              <p:nvPr/>
            </p:nvSpPr>
            <p:spPr>
              <a:xfrm>
                <a:off x="6836410" y="2621280"/>
                <a:ext cx="4023995" cy="291465"/>
              </a:xfrm>
              <a:prstGeom prst="rect">
                <a:avLst/>
              </a:prstGeom>
              <a:noFill/>
            </p:spPr>
            <p:txBody>
              <a:bodyPr wrap="square" rtlCol="0">
                <a:no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𝐻</m:t>
                          </m:r>
                        </m:e>
                        <m:sub>
                          <m:r>
                            <a:rPr lang="en-US" altLang="zh-CN" i="1">
                              <a:latin typeface="Cambria Math" panose="02040503050406030204" pitchFamily="18" charset="0"/>
                              <a:cs typeface="DejaVu Math TeX Gyre" panose="02000503000000000000" charset="0"/>
                            </a:rPr>
                            <m:t>2</m:t>
                          </m:r>
                        </m:sub>
                      </m:sSub>
                    </m:oMath>
                  </m:oMathPara>
                </a14:m>
                <a:endParaRPr lang="zh-CN" altLang="en-US"/>
              </a:p>
            </p:txBody>
          </p:sp>
        </mc:Choice>
        <mc:Fallback xmlns="">
          <p:sp>
            <p:nvSpPr>
              <p:cNvPr id="124" name="文本框 123"/>
              <p:cNvSpPr txBox="1">
                <a:spLocks noRot="1" noChangeAspect="1" noMove="1" noResize="1" noEditPoints="1" noAdjustHandles="1" noChangeArrowheads="1" noChangeShapeType="1" noTextEdit="1"/>
              </p:cNvSpPr>
              <p:nvPr/>
            </p:nvSpPr>
            <p:spPr>
              <a:xfrm>
                <a:off x="6836410" y="2621280"/>
                <a:ext cx="4023995" cy="291465"/>
              </a:xfrm>
              <a:prstGeom prst="rect">
                <a:avLst/>
              </a:prstGeom>
              <a:blipFill rotWithShape="1">
                <a:blip r:embed="rId8"/>
                <a:stretch>
                  <a:fillRect b="-9804"/>
                </a:stretch>
              </a:blipFill>
            </p:spPr>
            <p:txBody>
              <a:bodyPr/>
              <a:lstStyle/>
              <a:p>
                <a:r>
                  <a:rPr lang="zh-CN" altLang="en-US">
                    <a:noFill/>
                  </a:rPr>
                  <a:t> </a:t>
                </a:r>
              </a:p>
            </p:txBody>
          </p:sp>
        </mc:Fallback>
      </mc:AlternateContent>
      <p:cxnSp>
        <p:nvCxnSpPr>
          <p:cNvPr id="127" name="直接连接符 126"/>
          <p:cNvCxnSpPr/>
          <p:nvPr/>
        </p:nvCxnSpPr>
        <p:spPr>
          <a:xfrm>
            <a:off x="7972425" y="2505075"/>
            <a:ext cx="2273935" cy="201295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8" name="直接连接符 127"/>
          <p:cNvCxnSpPr/>
          <p:nvPr/>
        </p:nvCxnSpPr>
        <p:spPr>
          <a:xfrm>
            <a:off x="7381875" y="3133725"/>
            <a:ext cx="2172335" cy="190500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path" presetSubtype="0" accel="50000" decel="50000" fill="hold" nodeType="clickEffect">
                                  <p:stCondLst>
                                    <p:cond delay="0"/>
                                  </p:stCondLst>
                                  <p:childTnLst>
                                    <p:animMotion origin="layout" path="M 0.00765625 0.0100926 L 0.0336458 -0.0286111 " pathEditMode="relative" rAng="0" ptsTypes="">
                                      <p:cBhvr>
                                        <p:cTn id="6" dur="1000" fill="hold"/>
                                        <p:tgtEl>
                                          <p:spTgt spid="117"/>
                                        </p:tgtEl>
                                        <p:attrNameLst>
                                          <p:attrName>ppt_x</p:attrName>
                                          <p:attrName>ppt_y</p:attrName>
                                        </p:attrNameLst>
                                      </p:cBhvr>
                                      <p:rCtr x="1100" y="-2100"/>
                                    </p:animMotion>
                                  </p:childTnLst>
                                </p:cTn>
                              </p:par>
                              <p:par>
                                <p:cTn id="7" presetID="56" presetClass="path" presetSubtype="0" accel="50000" decel="50000" fill="hold" nodeType="withEffect">
                                  <p:stCondLst>
                                    <p:cond delay="0"/>
                                  </p:stCondLst>
                                  <p:childTnLst>
                                    <p:animMotion origin="layout" path="M 0.00296875 0.00787037 L -0.0198958 0.0524074 " pathEditMode="relative" rAng="0" ptsTypes="">
                                      <p:cBhvr>
                                        <p:cTn id="8" dur="1000" fill="hold"/>
                                        <p:tgtEl>
                                          <p:spTgt spid="115"/>
                                        </p:tgtEl>
                                        <p:attrNameLst>
                                          <p:attrName>ppt_x</p:attrName>
                                          <p:attrName>ppt_y</p:attrName>
                                        </p:attrNameLst>
                                      </p:cBhvr>
                                      <p:rCtr x="12400" y="-12800"/>
                                    </p:animMotion>
                                  </p:childTnLst>
                                </p:cTn>
                              </p:par>
                            </p:childTnLst>
                          </p:cTn>
                        </p:par>
                        <p:par>
                          <p:cTn id="9" fill="hold">
                            <p:stCondLst>
                              <p:cond delay="1000"/>
                            </p:stCondLst>
                            <p:childTnLst>
                              <p:par>
                                <p:cTn id="10" presetID="3" presetClass="entr" presetSubtype="10" fill="hold" grpId="0" nodeType="afterEffect">
                                  <p:stCondLst>
                                    <p:cond delay="0"/>
                                  </p:stCondLst>
                                  <p:childTnLst>
                                    <p:set>
                                      <p:cBhvr>
                                        <p:cTn id="11" dur="1" fill="hold">
                                          <p:stCondLst>
                                            <p:cond delay="0"/>
                                          </p:stCondLst>
                                        </p:cTn>
                                        <p:tgtEl>
                                          <p:spTgt spid="110"/>
                                        </p:tgtEl>
                                        <p:attrNameLst>
                                          <p:attrName>style.visibility</p:attrName>
                                        </p:attrNameLst>
                                      </p:cBhvr>
                                      <p:to>
                                        <p:strVal val="visible"/>
                                      </p:to>
                                    </p:set>
                                    <p:animEffect transition="in" filter="blinds(horizontal)">
                                      <p:cBhvr>
                                        <p:cTn id="12" dur="500"/>
                                        <p:tgtEl>
                                          <p:spTgt spid="110"/>
                                        </p:tgtEl>
                                      </p:cBhvr>
                                    </p:animEffect>
                                  </p:childTnLst>
                                </p:cTn>
                              </p:par>
                            </p:childTnLst>
                          </p:cTn>
                        </p:par>
                        <p:par>
                          <p:cTn id="13" fill="hold">
                            <p:stCondLst>
                              <p:cond delay="1500"/>
                            </p:stCondLst>
                            <p:childTnLst>
                              <p:par>
                                <p:cTn id="14" presetID="1" presetClass="entr" presetSubtype="0" fill="hold" nodeType="afterEffect">
                                  <p:stCondLst>
                                    <p:cond delay="0"/>
                                  </p:stCondLst>
                                  <p:childTnLst>
                                    <p:set>
                                      <p:cBhvr>
                                        <p:cTn id="15" dur="1" fill="hold">
                                          <p:stCondLst>
                                            <p:cond delay="0"/>
                                          </p:stCondLst>
                                        </p:cTn>
                                        <p:tgtEl>
                                          <p:spTgt spid="11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23"/>
                                        </p:tgtEl>
                                        <p:attrNameLst>
                                          <p:attrName>style.visibility</p:attrName>
                                        </p:attrNameLst>
                                      </p:cBhvr>
                                      <p:to>
                                        <p:strVal val="visible"/>
                                      </p:to>
                                    </p:set>
                                  </p:childTnLst>
                                </p:cTn>
                              </p:par>
                            </p:childTnLst>
                          </p:cTn>
                        </p:par>
                        <p:par>
                          <p:cTn id="18" fill="hold">
                            <p:stCondLst>
                              <p:cond delay="1500"/>
                            </p:stCondLst>
                            <p:childTnLst>
                              <p:par>
                                <p:cTn id="19" presetID="1" presetClass="entr" presetSubtype="0" fill="hold" nodeType="afterEffect">
                                  <p:stCondLst>
                                    <p:cond delay="0"/>
                                  </p:stCondLst>
                                  <p:childTnLst>
                                    <p:set>
                                      <p:cBhvr>
                                        <p:cTn id="20" dur="1" fill="hold">
                                          <p:stCondLst>
                                            <p:cond delay="0"/>
                                          </p:stCondLst>
                                        </p:cTn>
                                        <p:tgtEl>
                                          <p:spTgt spid="1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P spid="110" grpId="0" animBg="1"/>
      <p:bldP spid="110" grpId="1" animBg="1"/>
      <p:bldP spid="123" grpId="0"/>
      <p:bldP spid="123"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939798"/>
            <a:ext cx="5022850" cy="625474"/>
            <a:chOff x="0" y="1075267"/>
            <a:chExt cx="5022850"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4262755" cy="460375"/>
            </a:xfrm>
            <a:prstGeom prst="rect">
              <a:avLst/>
            </a:prstGeom>
            <a:noFill/>
          </p:spPr>
          <p:txBody>
            <a:bodyPr wrap="square">
              <a:spAutoFit/>
            </a:bodyPr>
            <a:lstStyle/>
            <a:p>
              <a:r>
                <a:rPr lang="en-US" altLang="zh-CN" sz="2400" b="1" dirty="0">
                  <a:solidFill>
                    <a:schemeClr val="accent1"/>
                  </a:solidFill>
                  <a:latin typeface="+mj-lt"/>
                </a:rPr>
                <a:t>5.2.3 </a:t>
              </a:r>
              <a:r>
                <a:rPr lang="zh-CN" altLang="en-US" sz="2400" b="1" dirty="0">
                  <a:solidFill>
                    <a:schemeClr val="accent1"/>
                  </a:solidFill>
                  <a:latin typeface="+mj-lt"/>
                  <a:sym typeface="+mn-ea"/>
                </a:rPr>
                <a:t>支持向量机避障策略</a:t>
              </a:r>
              <a:endParaRPr lang="zh-CN" altLang="en-US" sz="2400" b="1" dirty="0">
                <a:solidFill>
                  <a:schemeClr val="accent1"/>
                </a:solidFill>
                <a:latin typeface="+mj-lt"/>
              </a:endParaRPr>
            </a:p>
          </p:txBody>
        </p:sp>
      </p:grpSp>
      <p:cxnSp>
        <p:nvCxnSpPr>
          <p:cNvPr id="67" name="直接箭头连接符 66"/>
          <p:cNvCxnSpPr/>
          <p:nvPr/>
        </p:nvCxnSpPr>
        <p:spPr>
          <a:xfrm flipV="1">
            <a:off x="6948170" y="5103495"/>
            <a:ext cx="3295650" cy="19050"/>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68" name="直接箭头连接符 67"/>
          <p:cNvCxnSpPr/>
          <p:nvPr/>
        </p:nvCxnSpPr>
        <p:spPr>
          <a:xfrm flipV="1">
            <a:off x="6948170" y="1884045"/>
            <a:ext cx="0" cy="3200400"/>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sp>
        <p:nvSpPr>
          <p:cNvPr id="69" name="椭圆 68"/>
          <p:cNvSpPr/>
          <p:nvPr/>
        </p:nvSpPr>
        <p:spPr>
          <a:xfrm>
            <a:off x="7272020" y="363664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7653020" y="376364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7297420" y="41668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7602220" y="41668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7780020" y="414464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7602220" y="45700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8234045" y="45700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8024495" y="446532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8024495" y="40398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7675245" y="33889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8465820" y="40620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8543925" y="273050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8986520" y="22269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9494520" y="243649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9196070" y="301752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9875520" y="29127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a:off x="8986520" y="275399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a:off x="10081895" y="351599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9599295" y="29127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9494520" y="328422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9238615" y="362077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a:off x="8753475" y="31794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p:cNvSpPr/>
          <p:nvPr/>
        </p:nvSpPr>
        <p:spPr>
          <a:xfrm>
            <a:off x="10462895" y="177927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a:off x="10462895" y="21221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p:cNvSpPr/>
          <p:nvPr/>
        </p:nvSpPr>
        <p:spPr>
          <a:xfrm>
            <a:off x="7561580" y="330644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p:nvSpPr>
        <p:spPr>
          <a:xfrm>
            <a:off x="8361045" y="396684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p:nvSpPr>
        <p:spPr>
          <a:xfrm>
            <a:off x="8648700" y="308419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p:nvSpPr>
        <p:spPr>
          <a:xfrm>
            <a:off x="9091295" y="351599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5" name="直接连接符 114"/>
          <p:cNvCxnSpPr/>
          <p:nvPr/>
        </p:nvCxnSpPr>
        <p:spPr>
          <a:xfrm>
            <a:off x="7845425" y="2378075"/>
            <a:ext cx="2273935" cy="201295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17" name="直接连接符 116"/>
          <p:cNvCxnSpPr/>
          <p:nvPr/>
        </p:nvCxnSpPr>
        <p:spPr>
          <a:xfrm>
            <a:off x="7254875" y="3006725"/>
            <a:ext cx="2172335" cy="190500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18" name="直接连接符 117"/>
          <p:cNvCxnSpPr/>
          <p:nvPr/>
        </p:nvCxnSpPr>
        <p:spPr>
          <a:xfrm>
            <a:off x="7561580" y="2713990"/>
            <a:ext cx="2273935" cy="2012950"/>
          </a:xfrm>
          <a:prstGeom prst="line">
            <a:avLst/>
          </a:prstGeom>
        </p:spPr>
        <p:style>
          <a:lnRef idx="3">
            <a:schemeClr val="accent1"/>
          </a:lnRef>
          <a:fillRef idx="0">
            <a:srgbClr val="FFFFFF"/>
          </a:fillRef>
          <a:effectRef idx="0">
            <a:srgbClr val="FFFFFF"/>
          </a:effectRef>
          <a:fontRef idx="minor">
            <a:schemeClr val="tx1"/>
          </a:fontRef>
        </p:style>
      </p:cxnSp>
      <p:cxnSp>
        <p:nvCxnSpPr>
          <p:cNvPr id="119" name="直接箭头连接符 118"/>
          <p:cNvCxnSpPr/>
          <p:nvPr/>
        </p:nvCxnSpPr>
        <p:spPr>
          <a:xfrm flipV="1">
            <a:off x="9566910" y="4156075"/>
            <a:ext cx="279400" cy="31750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121" name="直接箭头连接符 120"/>
          <p:cNvCxnSpPr/>
          <p:nvPr/>
        </p:nvCxnSpPr>
        <p:spPr>
          <a:xfrm flipH="1">
            <a:off x="9274810" y="4473575"/>
            <a:ext cx="292100" cy="34290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22" name="文本框 121"/>
              <p:cNvSpPr txBox="1"/>
              <p:nvPr/>
            </p:nvSpPr>
            <p:spPr>
              <a:xfrm>
                <a:off x="7477760" y="1960880"/>
                <a:ext cx="4023995" cy="291465"/>
              </a:xfrm>
              <a:prstGeom prst="rect">
                <a:avLst/>
              </a:prstGeom>
              <a:noFill/>
            </p:spPr>
            <p:txBody>
              <a:bodyPr wrap="square" rtlCol="0">
                <a:no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𝐻</m:t>
                          </m:r>
                        </m:e>
                        <m:sub>
                          <m:r>
                            <a:rPr lang="en-US" altLang="zh-CN" i="1">
                              <a:latin typeface="Cambria Math" panose="02040503050406030204" pitchFamily="18" charset="0"/>
                              <a:cs typeface="DejaVu Math TeX Gyre" panose="02000503000000000000" charset="0"/>
                            </a:rPr>
                            <m:t>1</m:t>
                          </m:r>
                        </m:sub>
                      </m:sSub>
                    </m:oMath>
                  </m:oMathPara>
                </a14:m>
                <a:endParaRPr lang="zh-CN" altLang="en-US"/>
              </a:p>
            </p:txBody>
          </p:sp>
        </mc:Choice>
        <mc:Fallback xmlns="">
          <p:sp>
            <p:nvSpPr>
              <p:cNvPr id="122" name="文本框 121"/>
              <p:cNvSpPr txBox="1">
                <a:spLocks noRot="1" noChangeAspect="1" noMove="1" noResize="1" noEditPoints="1" noAdjustHandles="1" noChangeArrowheads="1" noChangeShapeType="1" noTextEdit="1"/>
              </p:cNvSpPr>
              <p:nvPr/>
            </p:nvSpPr>
            <p:spPr>
              <a:xfrm>
                <a:off x="7477760" y="1960880"/>
                <a:ext cx="4023995" cy="291465"/>
              </a:xfrm>
              <a:prstGeom prst="rect">
                <a:avLst/>
              </a:prstGeom>
              <a:blipFill rotWithShape="1">
                <a:blip r:embed="rId3"/>
                <a:stretch>
                  <a:fillRect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3" name="文本框 122"/>
              <p:cNvSpPr txBox="1"/>
              <p:nvPr/>
            </p:nvSpPr>
            <p:spPr>
              <a:xfrm>
                <a:off x="7178675" y="2329815"/>
                <a:ext cx="4023995" cy="291465"/>
              </a:xfrm>
              <a:prstGeom prst="rect">
                <a:avLst/>
              </a:prstGeom>
              <a:noFill/>
            </p:spPr>
            <p:txBody>
              <a:bodyPr wrap="square" rtlCol="0">
                <a:noAutofit/>
              </a:bodyPr>
              <a:lstStyle/>
              <a:p>
                <a:pPr/>
                <a14:m>
                  <m:oMathPara xmlns:m="http://schemas.openxmlformats.org/officeDocument/2006/math">
                    <m:oMathParaPr>
                      <m:jc m:val="left"/>
                    </m:oMathParaPr>
                    <m:oMath>
                      <m:r>
                        <a:rPr lang="en-US" altLang="zh-CN" i="1">
                          <a:latin typeface="Cambria Math" panose="02040503050406030204" pitchFamily="18" charset="0"/>
                          <a:cs typeface="DejaVu Math TeX Gyre" panose="02000503000000000000" charset="0"/>
                        </a:rPr>
                        <m:t>𝐻</m:t>
                      </m:r>
                    </m:oMath>
                  </m:oMathPara>
                </a14:m>
                <a:endParaRPr lang="zh-CN" altLang="en-US"/>
              </a:p>
            </p:txBody>
          </p:sp>
        </mc:Choice>
        <mc:Fallback xmlns="">
          <p:sp>
            <p:nvSpPr>
              <p:cNvPr id="123" name="文本框 122"/>
              <p:cNvSpPr txBox="1">
                <a:spLocks noRot="1" noChangeAspect="1" noMove="1" noResize="1" noEditPoints="1" noAdjustHandles="1" noChangeArrowheads="1" noChangeShapeType="1" noTextEdit="1"/>
              </p:cNvSpPr>
              <p:nvPr/>
            </p:nvSpPr>
            <p:spPr>
              <a:xfrm>
                <a:off x="7178675" y="2329815"/>
                <a:ext cx="4023995" cy="291465"/>
              </a:xfrm>
              <a:prstGeom prst="rect">
                <a:avLst/>
              </a:prstGeom>
              <a:blipFill rotWithShape="1">
                <a:blip r:embed="rId4"/>
                <a:stretch>
                  <a:fillRect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4" name="文本框 123"/>
              <p:cNvSpPr txBox="1"/>
              <p:nvPr/>
            </p:nvSpPr>
            <p:spPr>
              <a:xfrm>
                <a:off x="6836410" y="2621280"/>
                <a:ext cx="4023995" cy="291465"/>
              </a:xfrm>
              <a:prstGeom prst="rect">
                <a:avLst/>
              </a:prstGeom>
              <a:noFill/>
            </p:spPr>
            <p:txBody>
              <a:bodyPr wrap="square" rtlCol="0">
                <a:no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𝐻</m:t>
                          </m:r>
                        </m:e>
                        <m:sub>
                          <m:r>
                            <a:rPr lang="en-US" altLang="zh-CN" i="1">
                              <a:latin typeface="Cambria Math" panose="02040503050406030204" pitchFamily="18" charset="0"/>
                              <a:cs typeface="DejaVu Math TeX Gyre" panose="02000503000000000000" charset="0"/>
                            </a:rPr>
                            <m:t>2</m:t>
                          </m:r>
                        </m:sub>
                      </m:sSub>
                    </m:oMath>
                  </m:oMathPara>
                </a14:m>
                <a:endParaRPr lang="zh-CN" altLang="en-US"/>
              </a:p>
            </p:txBody>
          </p:sp>
        </mc:Choice>
        <mc:Fallback xmlns="">
          <p:sp>
            <p:nvSpPr>
              <p:cNvPr id="124" name="文本框 123"/>
              <p:cNvSpPr txBox="1">
                <a:spLocks noRot="1" noChangeAspect="1" noMove="1" noResize="1" noEditPoints="1" noAdjustHandles="1" noChangeArrowheads="1" noChangeShapeType="1" noTextEdit="1"/>
              </p:cNvSpPr>
              <p:nvPr/>
            </p:nvSpPr>
            <p:spPr>
              <a:xfrm>
                <a:off x="6836410" y="2621280"/>
                <a:ext cx="4023995" cy="291465"/>
              </a:xfrm>
              <a:prstGeom prst="rect">
                <a:avLst/>
              </a:prstGeom>
              <a:blipFill rotWithShape="1">
                <a:blip r:embed="rId5"/>
                <a:stretch>
                  <a:fillRect b="-9804"/>
                </a:stretch>
              </a:blipFill>
            </p:spPr>
            <p:txBody>
              <a:bodyPr/>
              <a:lstStyle/>
              <a:p>
                <a:r>
                  <a:rPr lang="zh-CN" altLang="en-US">
                    <a:noFill/>
                  </a:rPr>
                  <a:t> </a:t>
                </a:r>
              </a:p>
            </p:txBody>
          </p:sp>
        </mc:Fallback>
      </mc:AlternateContent>
      <p:cxnSp>
        <p:nvCxnSpPr>
          <p:cNvPr id="127" name="直接连接符 126"/>
          <p:cNvCxnSpPr/>
          <p:nvPr/>
        </p:nvCxnSpPr>
        <p:spPr>
          <a:xfrm>
            <a:off x="7972425" y="2505075"/>
            <a:ext cx="2273935" cy="201295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8" name="直接连接符 127"/>
          <p:cNvCxnSpPr/>
          <p:nvPr/>
        </p:nvCxnSpPr>
        <p:spPr>
          <a:xfrm>
            <a:off x="7381875" y="3133725"/>
            <a:ext cx="2172335" cy="190500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94" name="文本框 93"/>
              <p:cNvSpPr txBox="1"/>
              <p:nvPr/>
            </p:nvSpPr>
            <p:spPr>
              <a:xfrm>
                <a:off x="10567670" y="1646555"/>
                <a:ext cx="4064000" cy="370840"/>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𝑦</m:t>
                          </m:r>
                        </m:e>
                        <m:sub>
                          <m:r>
                            <a:rPr lang="en-US" altLang="zh-CN" i="1">
                              <a:latin typeface="Cambria Math" panose="02040503050406030204" pitchFamily="18" charset="0"/>
                              <a:cs typeface="DejaVu Math TeX Gyre" panose="02000503000000000000" charset="0"/>
                            </a:rPr>
                            <m:t>𝑖</m:t>
                          </m:r>
                        </m:sub>
                      </m:sSub>
                      <m:r>
                        <a:rPr lang="en-US" altLang="zh-CN" i="1">
                          <a:latin typeface="Cambria Math" panose="02040503050406030204" pitchFamily="18" charset="0"/>
                          <a:cs typeface="DejaVu Math TeX Gyre" panose="02000503000000000000" charset="0"/>
                        </a:rPr>
                        <m:t>=1</m:t>
                      </m:r>
                    </m:oMath>
                  </m:oMathPara>
                </a14:m>
                <a:endParaRPr lang="zh-CN" altLang="en-US"/>
              </a:p>
            </p:txBody>
          </p:sp>
        </mc:Choice>
        <mc:Fallback xmlns="">
          <p:sp>
            <p:nvSpPr>
              <p:cNvPr id="94" name="文本框 93"/>
              <p:cNvSpPr txBox="1">
                <a:spLocks noRot="1" noChangeAspect="1" noMove="1" noResize="1" noEditPoints="1" noAdjustHandles="1" noChangeArrowheads="1" noChangeShapeType="1" noTextEdit="1"/>
              </p:cNvSpPr>
              <p:nvPr/>
            </p:nvSpPr>
            <p:spPr>
              <a:xfrm>
                <a:off x="10567670" y="1646555"/>
                <a:ext cx="4064000" cy="37084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文本框 94"/>
              <p:cNvSpPr txBox="1"/>
              <p:nvPr/>
            </p:nvSpPr>
            <p:spPr>
              <a:xfrm>
                <a:off x="10567670" y="1960880"/>
                <a:ext cx="4064000" cy="370840"/>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𝑦</m:t>
                          </m:r>
                        </m:e>
                        <m:sub>
                          <m:r>
                            <a:rPr lang="en-US" altLang="zh-CN" i="1">
                              <a:latin typeface="Cambria Math" panose="02040503050406030204" pitchFamily="18" charset="0"/>
                              <a:cs typeface="DejaVu Math TeX Gyre" panose="02000503000000000000" charset="0"/>
                            </a:rPr>
                            <m:t>𝑖</m:t>
                          </m:r>
                        </m:sub>
                      </m:sSub>
                      <m:r>
                        <a:rPr lang="en-US" altLang="zh-CN" i="1">
                          <a:latin typeface="Cambria Math" panose="02040503050406030204" pitchFamily="18" charset="0"/>
                          <a:cs typeface="DejaVu Math TeX Gyre" panose="02000503000000000000" charset="0"/>
                        </a:rPr>
                        <m:t>=−1</m:t>
                      </m:r>
                    </m:oMath>
                  </m:oMathPara>
                </a14:m>
                <a:endParaRPr lang="zh-CN" altLang="en-US"/>
              </a:p>
            </p:txBody>
          </p:sp>
        </mc:Choice>
        <mc:Fallback xmlns="">
          <p:sp>
            <p:nvSpPr>
              <p:cNvPr id="95" name="文本框 94"/>
              <p:cNvSpPr txBox="1">
                <a:spLocks noRot="1" noChangeAspect="1" noMove="1" noResize="1" noEditPoints="1" noAdjustHandles="1" noChangeArrowheads="1" noChangeShapeType="1" noTextEdit="1"/>
              </p:cNvSpPr>
              <p:nvPr/>
            </p:nvSpPr>
            <p:spPr>
              <a:xfrm>
                <a:off x="10567670" y="1960880"/>
                <a:ext cx="4064000" cy="37084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 name="文本框 99"/>
              <p:cNvSpPr txBox="1"/>
              <p:nvPr/>
            </p:nvSpPr>
            <p:spPr>
              <a:xfrm>
                <a:off x="271145" y="2164715"/>
                <a:ext cx="6247765" cy="357505"/>
              </a:xfrm>
              <a:prstGeom prst="rect">
                <a:avLst/>
              </a:prstGeom>
              <a:noFill/>
            </p:spPr>
            <p:txBody>
              <a:bodyPr wrap="square" rtlCol="0">
                <a:spAutoFit/>
              </a:bodyPr>
              <a:lstStyle/>
              <a:p>
                <a:pPr algn="l">
                  <a:lnSpc>
                    <a:spcPct val="120000"/>
                  </a:lnSpc>
                </a:pPr>
                <a14:m>
                  <m:oMathPara xmlns:m="http://schemas.openxmlformats.org/officeDocument/2006/math">
                    <m:oMath>
                      <m:r>
                        <a:rPr lang="en-US" altLang="zh-CN" sz="1400" b="1" i="1" dirty="0">
                          <a:latin typeface="Cambria Math" panose="02040503050406030204" pitchFamily="18" charset="0"/>
                          <a:cs typeface="DejaVu Math TeX Gyre" panose="02000503000000000000" charset="0"/>
                        </a:rPr>
                        <m:t>𝑿</m:t>
                      </m:r>
                      <m:r>
                        <a:rPr lang="en-US" altLang="zh-CN" sz="1400" i="1" dirty="0">
                          <a:latin typeface="Cambria Math" panose="02040503050406030204" pitchFamily="18" charset="0"/>
                          <a:cs typeface="DejaVu Math TeX Gyre" panose="02000503000000000000" charset="0"/>
                        </a:rPr>
                        <m:t>={(</m:t>
                      </m:r>
                      <m:sSub>
                        <m:sSubPr>
                          <m:ctrlPr>
                            <a:rPr lang="en-US" altLang="zh-CN" sz="1400" b="1" i="1" dirty="0">
                              <a:latin typeface="Cambria Math" panose="02040503050406030204" pitchFamily="18" charset="0"/>
                              <a:cs typeface="DejaVu Math TeX Gyre" panose="02000503000000000000" charset="0"/>
                            </a:rPr>
                          </m:ctrlPr>
                        </m:sSubPr>
                        <m:e>
                          <m:r>
                            <a:rPr lang="en-US" altLang="zh-CN" sz="1400" b="1" i="1" dirty="0">
                              <a:latin typeface="Cambria Math" panose="02040503050406030204" pitchFamily="18" charset="0"/>
                              <a:cs typeface="DejaVu Math TeX Gyre" panose="02000503000000000000" charset="0"/>
                            </a:rPr>
                            <m:t>𝒙</m:t>
                          </m:r>
                        </m:e>
                        <m:sub>
                          <m:r>
                            <a:rPr lang="en-US" altLang="zh-CN" sz="1400" b="1" i="1" dirty="0">
                              <a:latin typeface="Cambria Math" panose="02040503050406030204" pitchFamily="18" charset="0"/>
                              <a:cs typeface="DejaVu Math TeX Gyre" panose="02000503000000000000" charset="0"/>
                            </a:rPr>
                            <m:t>𝒊</m:t>
                          </m:r>
                        </m:sub>
                      </m:sSub>
                      <m:r>
                        <a:rPr lang="en-US" altLang="zh-CN" sz="1400" i="1" dirty="0">
                          <a:latin typeface="Cambria Math" panose="02040503050406030204" pitchFamily="18" charset="0"/>
                          <a:cs typeface="DejaVu Math TeX Gyre" panose="02000503000000000000" charset="0"/>
                        </a:rPr>
                        <m:t>,</m:t>
                      </m:r>
                      <m:sSub>
                        <m:sSubPr>
                          <m:ctrlPr>
                            <a:rPr lang="en-US" altLang="zh-CN" sz="1400" i="1" dirty="0">
                              <a:latin typeface="Cambria Math" panose="02040503050406030204" pitchFamily="18" charset="0"/>
                              <a:cs typeface="DejaVu Math TeX Gyre" panose="02000503000000000000" charset="0"/>
                            </a:rPr>
                          </m:ctrlPr>
                        </m:sSubPr>
                        <m:e>
                          <m:r>
                            <a:rPr lang="en-US" altLang="zh-CN" sz="1400" i="1" dirty="0">
                              <a:latin typeface="Cambria Math" panose="02040503050406030204" pitchFamily="18" charset="0"/>
                              <a:cs typeface="DejaVu Math TeX Gyre" panose="02000503000000000000" charset="0"/>
                            </a:rPr>
                            <m:t>𝑦</m:t>
                          </m:r>
                        </m:e>
                        <m:sub>
                          <m:r>
                            <a:rPr lang="en-US" altLang="zh-CN" sz="1400" i="1" dirty="0">
                              <a:latin typeface="Cambria Math" panose="02040503050406030204" pitchFamily="18" charset="0"/>
                              <a:cs typeface="DejaVu Math TeX Gyre" panose="02000503000000000000" charset="0"/>
                            </a:rPr>
                            <m:t>𝑖</m:t>
                          </m:r>
                        </m:sub>
                      </m:sSub>
                      <m:r>
                        <a:rPr lang="en-US" altLang="zh-CN" sz="1400" i="1" dirty="0">
                          <a:latin typeface="Cambria Math" panose="02040503050406030204" pitchFamily="18" charset="0"/>
                          <a:cs typeface="DejaVu Math TeX Gyre" panose="02000503000000000000" charset="0"/>
                        </a:rPr>
                        <m:t>)|</m:t>
                      </m:r>
                      <m:sSub>
                        <m:sSubPr>
                          <m:ctrlPr>
                            <a:rPr lang="en-US" altLang="zh-CN" sz="1400" b="1" i="1" dirty="0">
                              <a:latin typeface="Cambria Math" panose="02040503050406030204" pitchFamily="18" charset="0"/>
                              <a:cs typeface="DejaVu Math TeX Gyre" panose="02000503000000000000" charset="0"/>
                            </a:rPr>
                          </m:ctrlPr>
                        </m:sSubPr>
                        <m:e>
                          <m:r>
                            <a:rPr lang="en-US" altLang="zh-CN" sz="1400" b="1" i="1" dirty="0">
                              <a:latin typeface="Cambria Math" panose="02040503050406030204" pitchFamily="18" charset="0"/>
                              <a:cs typeface="DejaVu Math TeX Gyre" panose="02000503000000000000" charset="0"/>
                            </a:rPr>
                            <m:t>𝒙</m:t>
                          </m:r>
                        </m:e>
                        <m:sub>
                          <m:r>
                            <a:rPr lang="en-US" altLang="zh-CN" sz="1400" b="1" i="1" dirty="0">
                              <a:latin typeface="Cambria Math" panose="02040503050406030204" pitchFamily="18" charset="0"/>
                              <a:cs typeface="DejaVu Math TeX Gyre" panose="02000503000000000000" charset="0"/>
                            </a:rPr>
                            <m:t>𝒊</m:t>
                          </m:r>
                        </m:sub>
                      </m:sSub>
                      <m:r>
                        <a:rPr lang="en-US" altLang="zh-CN" sz="1400" i="1" dirty="0">
                          <a:latin typeface="Cambria Math" panose="02040503050406030204" pitchFamily="18" charset="0"/>
                          <a:cs typeface="DejaVu Math TeX Gyre" panose="02000503000000000000" charset="0"/>
                        </a:rPr>
                        <m:t>∈</m:t>
                      </m:r>
                      <m:sSup>
                        <m:sSupPr>
                          <m:ctrlPr>
                            <a:rPr lang="en-US" altLang="zh-CN" sz="1400" i="1" dirty="0">
                              <a:latin typeface="Cambria Math" panose="02040503050406030204" pitchFamily="18" charset="0"/>
                              <a:cs typeface="DejaVu Math TeX Gyre" panose="02000503000000000000" charset="0"/>
                            </a:rPr>
                          </m:ctrlPr>
                        </m:sSupPr>
                        <m:e>
                          <m:r>
                            <a:rPr lang="en-US" altLang="zh-CN" sz="1400" i="1" dirty="0">
                              <a:latin typeface="Cambria Math" panose="02040503050406030204" pitchFamily="18" charset="0"/>
                              <a:cs typeface="DejaVu Math TeX Gyre" panose="02000503000000000000" charset="0"/>
                            </a:rPr>
                            <m:t>𝑅</m:t>
                          </m:r>
                        </m:e>
                        <m:sup>
                          <m:r>
                            <a:rPr lang="en-US" altLang="zh-CN" sz="1400" i="1" dirty="0">
                              <a:latin typeface="Cambria Math" panose="02040503050406030204" pitchFamily="18" charset="0"/>
                              <a:cs typeface="DejaVu Math TeX Gyre" panose="02000503000000000000" charset="0"/>
                            </a:rPr>
                            <m:t>𝑁</m:t>
                          </m:r>
                        </m:sup>
                      </m:sSup>
                      <m:r>
                        <a:rPr lang="en-US" altLang="zh-CN" sz="1400" i="1" dirty="0">
                          <a:latin typeface="Cambria Math" panose="02040503050406030204" pitchFamily="18" charset="0"/>
                          <a:cs typeface="DejaVu Math TeX Gyre" panose="02000503000000000000" charset="0"/>
                        </a:rPr>
                        <m:t>,</m:t>
                      </m:r>
                      <m:sSub>
                        <m:sSubPr>
                          <m:ctrlPr>
                            <a:rPr lang="en-US" altLang="zh-CN" sz="1400" i="1" dirty="0">
                              <a:latin typeface="Cambria Math" panose="02040503050406030204" pitchFamily="18" charset="0"/>
                              <a:cs typeface="DejaVu Math TeX Gyre" panose="02000503000000000000" charset="0"/>
                            </a:rPr>
                          </m:ctrlPr>
                        </m:sSubPr>
                        <m:e>
                          <m:r>
                            <a:rPr lang="en-US" altLang="zh-CN" sz="1400" i="1" dirty="0">
                              <a:latin typeface="Cambria Math" panose="02040503050406030204" pitchFamily="18" charset="0"/>
                              <a:cs typeface="DejaVu Math TeX Gyre" panose="02000503000000000000" charset="0"/>
                            </a:rPr>
                            <m:t>𝑦</m:t>
                          </m:r>
                        </m:e>
                        <m:sub>
                          <m:r>
                            <a:rPr lang="en-US" altLang="zh-CN" sz="1400" i="1" dirty="0">
                              <a:latin typeface="Cambria Math" panose="02040503050406030204" pitchFamily="18" charset="0"/>
                              <a:cs typeface="DejaVu Math TeX Gyre" panose="02000503000000000000" charset="0"/>
                            </a:rPr>
                            <m:t>𝑖</m:t>
                          </m:r>
                        </m:sub>
                      </m:sSub>
                      <m:r>
                        <a:rPr lang="en-US" altLang="zh-CN" sz="1400" i="1" dirty="0">
                          <a:latin typeface="Cambria Math" panose="02040503050406030204" pitchFamily="18" charset="0"/>
                          <a:cs typeface="DejaVu Math TeX Gyre" panose="02000503000000000000" charset="0"/>
                        </a:rPr>
                        <m:t>∈{−1,+1},</m:t>
                      </m:r>
                      <m:r>
                        <a:rPr lang="en-US" altLang="zh-CN" sz="1400" i="1" dirty="0">
                          <a:latin typeface="Cambria Math" panose="02040503050406030204" pitchFamily="18" charset="0"/>
                          <a:cs typeface="DejaVu Math TeX Gyre" panose="02000503000000000000" charset="0"/>
                        </a:rPr>
                        <m:t>𝑖</m:t>
                      </m:r>
                      <m:r>
                        <a:rPr lang="en-US" altLang="zh-CN" sz="1400" i="1" dirty="0">
                          <a:latin typeface="Cambria Math" panose="02040503050406030204" pitchFamily="18" charset="0"/>
                          <a:cs typeface="DejaVu Math TeX Gyre" panose="02000503000000000000" charset="0"/>
                        </a:rPr>
                        <m:t>=1,2,3,...</m:t>
                      </m:r>
                      <m:r>
                        <a:rPr lang="en-US" altLang="zh-CN" sz="1400" i="1" dirty="0">
                          <a:latin typeface="Cambria Math" panose="02040503050406030204" pitchFamily="18" charset="0"/>
                          <a:cs typeface="DejaVu Math TeX Gyre" panose="02000503000000000000" charset="0"/>
                        </a:rPr>
                        <m:t>𝑛</m:t>
                      </m:r>
                      <m:r>
                        <a:rPr lang="en-US" altLang="zh-CN" sz="1400" i="1" dirty="0">
                          <a:latin typeface="Cambria Math" panose="02040503050406030204" pitchFamily="18" charset="0"/>
                          <a:cs typeface="DejaVu Math TeX Gyre" panose="02000503000000000000" charset="0"/>
                        </a:rPr>
                        <m:t>}</m:t>
                      </m:r>
                    </m:oMath>
                  </m:oMathPara>
                </a14:m>
                <a:endParaRPr lang="en-US" altLang="zh-CN" sz="1400" dirty="0"/>
              </a:p>
            </p:txBody>
          </p:sp>
        </mc:Choice>
        <mc:Fallback xmlns="">
          <p:sp>
            <p:nvSpPr>
              <p:cNvPr id="100" name="文本框 99"/>
              <p:cNvSpPr txBox="1">
                <a:spLocks noRot="1" noChangeAspect="1" noMove="1" noResize="1" noEditPoints="1" noAdjustHandles="1" noChangeArrowheads="1" noChangeShapeType="1" noTextEdit="1"/>
              </p:cNvSpPr>
              <p:nvPr/>
            </p:nvSpPr>
            <p:spPr>
              <a:xfrm>
                <a:off x="271145" y="2164715"/>
                <a:ext cx="6247765" cy="357505"/>
              </a:xfrm>
              <a:prstGeom prst="rect">
                <a:avLst/>
              </a:prstGeom>
              <a:blipFill rotWithShape="1">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p:cNvSpPr txBox="1"/>
              <p:nvPr/>
            </p:nvSpPr>
            <p:spPr>
              <a:xfrm>
                <a:off x="271145" y="1704340"/>
                <a:ext cx="6247765" cy="460375"/>
              </a:xfrm>
              <a:prstGeom prst="rect">
                <a:avLst/>
              </a:prstGeom>
              <a:noFill/>
            </p:spPr>
            <p:txBody>
              <a:bodyPr wrap="square" rtlCol="0">
                <a:spAutoFit/>
              </a:bodyPr>
              <a:lstStyle/>
              <a:p>
                <a:pPr algn="l">
                  <a:lnSpc>
                    <a:spcPct val="120000"/>
                  </a:lnSpc>
                </a:pPr>
                <a:r>
                  <a:rPr lang="zh-CN" sz="2000" b="1" dirty="0"/>
                  <a:t>样本训练集</a:t>
                </a:r>
                <a14:m>
                  <m:oMath xmlns:m="http://schemas.openxmlformats.org/officeDocument/2006/math">
                    <m:r>
                      <a:rPr lang="en-US" altLang="zh-CN" sz="2000" i="1" dirty="0">
                        <a:latin typeface="Cambria Math" panose="02040503050406030204" pitchFamily="18" charset="0"/>
                        <a:cs typeface="DejaVu Math TeX Gyre" panose="02000503000000000000" charset="0"/>
                      </a:rPr>
                      <m:t>𝑋</m:t>
                    </m:r>
                  </m:oMath>
                </a14:m>
                <a:r>
                  <a:rPr lang="en-US" altLang="zh-CN" sz="2000" b="1" dirty="0"/>
                  <a:t>:</a:t>
                </a:r>
              </a:p>
            </p:txBody>
          </p:sp>
        </mc:Choice>
        <mc:Fallback xmlns="">
          <p:sp>
            <p:nvSpPr>
              <p:cNvPr id="43" name="文本框 42"/>
              <p:cNvSpPr txBox="1">
                <a:spLocks noRot="1" noChangeAspect="1" noMove="1" noResize="1" noEditPoints="1" noAdjustHandles="1" noChangeArrowheads="1" noChangeShapeType="1" noTextEdit="1"/>
              </p:cNvSpPr>
              <p:nvPr/>
            </p:nvSpPr>
            <p:spPr>
              <a:xfrm>
                <a:off x="271145" y="1704340"/>
                <a:ext cx="6247765" cy="460375"/>
              </a:xfrm>
              <a:prstGeom prst="rect">
                <a:avLst/>
              </a:prstGeom>
              <a:blipFill rotWithShape="1">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p:cNvSpPr txBox="1"/>
              <p:nvPr/>
            </p:nvSpPr>
            <p:spPr>
              <a:xfrm>
                <a:off x="271145" y="2589530"/>
                <a:ext cx="6247765" cy="829945"/>
              </a:xfrm>
              <a:prstGeom prst="rect">
                <a:avLst/>
              </a:prstGeom>
              <a:noFill/>
            </p:spPr>
            <p:txBody>
              <a:bodyPr wrap="square" rtlCol="0">
                <a:spAutoFit/>
              </a:bodyPr>
              <a:lstStyle/>
              <a:p>
                <a:pPr algn="l">
                  <a:lnSpc>
                    <a:spcPct val="120000"/>
                  </a:lnSpc>
                </a:pPr>
                <a:r>
                  <a:rPr lang="zh-CN" altLang="en-US" sz="2000" b="1" dirty="0"/>
                  <a:t>假设</a:t>
                </a:r>
                <a14:m>
                  <m:oMath xmlns:m="http://schemas.openxmlformats.org/officeDocument/2006/math">
                    <m:r>
                      <a:rPr lang="en-US" altLang="zh-CN" sz="2000" b="1" i="1" dirty="0">
                        <a:latin typeface="Cambria Math" panose="02040503050406030204" pitchFamily="18" charset="0"/>
                        <a:cs typeface="DejaVu Math TeX Gyre" panose="02000503000000000000" charset="0"/>
                      </a:rPr>
                      <m:t>𝑿</m:t>
                    </m:r>
                  </m:oMath>
                </a14:m>
                <a:r>
                  <a:rPr lang="zh-CN" altLang="en-US" sz="2000" b="1" dirty="0"/>
                  <a:t>仅有两个类别，</a:t>
                </a:r>
                <a14:m>
                  <m:oMath xmlns:m="http://schemas.openxmlformats.org/officeDocument/2006/math">
                    <m:r>
                      <a:rPr lang="en-US" altLang="zh-CN" sz="2000" b="1" i="1" dirty="0">
                        <a:latin typeface="Cambria Math" panose="02040503050406030204" pitchFamily="18" charset="0"/>
                        <a:cs typeface="DejaVu Math TeX Gyre" panose="02000503000000000000" charset="0"/>
                      </a:rPr>
                      <m:t>∃</m:t>
                    </m:r>
                    <m:r>
                      <a:rPr lang="en-US" altLang="zh-CN" sz="2000" i="1" dirty="0">
                        <a:latin typeface="Cambria Math" panose="02040503050406030204" pitchFamily="18" charset="0"/>
                        <a:cs typeface="DejaVu Math TeX Gyre" panose="02000503000000000000" charset="0"/>
                      </a:rPr>
                      <m:t>𝐻</m:t>
                    </m:r>
                  </m:oMath>
                </a14:m>
                <a:r>
                  <a:rPr lang="zh-CN" altLang="en-US" sz="2000" b="1" dirty="0">
                    <a:latin typeface="DejaVu Math TeX Gyre" panose="02000503000000000000" charset="0"/>
                    <a:cs typeface="DejaVu Math TeX Gyre" panose="02000503000000000000" charset="0"/>
                  </a:rPr>
                  <a:t>使样本可分</a:t>
                </a:r>
              </a:p>
              <a:p>
                <a:pPr algn="l">
                  <a:lnSpc>
                    <a:spcPct val="120000"/>
                  </a:lnSpc>
                </a:pPr>
                <a:endParaRPr lang="en-US" altLang="zh-CN" sz="2000" b="1" dirty="0">
                  <a:latin typeface="DejaVu Math TeX Gyre" panose="02000503000000000000" charset="0"/>
                  <a:cs typeface="DejaVu Math TeX Gyre" panose="02000503000000000000" charset="0"/>
                </a:endParaRPr>
              </a:p>
            </p:txBody>
          </p:sp>
        </mc:Choice>
        <mc:Fallback xmlns="">
          <p:sp>
            <p:nvSpPr>
              <p:cNvPr id="44" name="文本框 43"/>
              <p:cNvSpPr txBox="1">
                <a:spLocks noRot="1" noChangeAspect="1" noMove="1" noResize="1" noEditPoints="1" noAdjustHandles="1" noChangeArrowheads="1" noChangeShapeType="1" noTextEdit="1"/>
              </p:cNvSpPr>
              <p:nvPr/>
            </p:nvSpPr>
            <p:spPr>
              <a:xfrm>
                <a:off x="271145" y="2589530"/>
                <a:ext cx="6247765" cy="829945"/>
              </a:xfrm>
              <a:prstGeom prst="rect">
                <a:avLst/>
              </a:prstGeom>
              <a:blipFill rotWithShape="1">
                <a:blip r:embed="rId10"/>
                <a:stretch>
                  <a:fillRect/>
                </a:stretch>
              </a:blipFill>
            </p:spPr>
            <p:txBody>
              <a:bodyPr/>
              <a:lstStyle/>
              <a:p>
                <a:r>
                  <a:rPr lang="zh-CN" altLang="en-US">
                    <a:noFill/>
                  </a:rPr>
                  <a:t> </a:t>
                </a:r>
              </a:p>
            </p:txBody>
          </p:sp>
        </mc:Fallback>
      </mc:AlternateContent>
      <p:sp>
        <p:nvSpPr>
          <p:cNvPr id="45" name="文本框 44"/>
          <p:cNvSpPr txBox="1"/>
          <p:nvPr/>
        </p:nvSpPr>
        <p:spPr>
          <a:xfrm>
            <a:off x="271145" y="3033395"/>
            <a:ext cx="6247765" cy="386080"/>
          </a:xfrm>
          <a:prstGeom prst="rect">
            <a:avLst/>
          </a:prstGeom>
          <a:noFill/>
        </p:spPr>
        <p:txBody>
          <a:bodyPr wrap="square" rtlCol="0">
            <a:spAutoFit/>
          </a:bodyPr>
          <a:lstStyle/>
          <a:p>
            <a:pPr algn="l">
              <a:lnSpc>
                <a:spcPct val="120000"/>
              </a:lnSpc>
            </a:pPr>
            <a:r>
              <a:rPr lang="en-US" altLang="zh-CN" sz="1600" i="1" dirty="0">
                <a:latin typeface="DejaVu Math TeX Gyre" panose="02000503000000000000" charset="0"/>
                <a:cs typeface="DejaVu Math TeX Gyre" panose="02000503000000000000" charset="0"/>
              </a:rPr>
              <a:t>                     </a:t>
            </a:r>
            <a:r>
              <a:rPr lang="en-US" altLang="zh-CN" sz="1600" b="1" i="1" dirty="0">
                <a:latin typeface="DejaVu Math TeX Gyre" panose="02000503000000000000" charset="0"/>
                <a:cs typeface="DejaVu Math TeX Gyre" panose="02000503000000000000" charset="0"/>
              </a:rPr>
              <a:t>H</a:t>
            </a:r>
            <a:r>
              <a:rPr lang="en-US" altLang="zh-CN" sz="1600" i="1" dirty="0">
                <a:latin typeface="DejaVu Math TeX Gyre" panose="02000503000000000000" charset="0"/>
                <a:cs typeface="DejaVu Math TeX Gyre" panose="02000503000000000000" charset="0"/>
              </a:rPr>
              <a:t>:	  (</a:t>
            </a:r>
            <a:r>
              <a:rPr lang="en-US" altLang="zh-CN" sz="1600" b="1" i="1" dirty="0">
                <a:latin typeface="DejaVu Math TeX Gyre" panose="02000503000000000000" charset="0"/>
                <a:cs typeface="DejaVu Math TeX Gyre" panose="02000503000000000000" charset="0"/>
              </a:rPr>
              <a:t>w·x</a:t>
            </a:r>
            <a:r>
              <a:rPr lang="en-US" altLang="zh-CN" sz="1600" i="1" dirty="0">
                <a:latin typeface="DejaVu Math TeX Gyre" panose="02000503000000000000" charset="0"/>
                <a:cs typeface="DejaVu Math TeX Gyre" panose="02000503000000000000" charset="0"/>
              </a:rPr>
              <a:t>)+b=0</a:t>
            </a:r>
          </a:p>
        </p:txBody>
      </p:sp>
      <mc:AlternateContent xmlns:mc="http://schemas.openxmlformats.org/markup-compatibility/2006" xmlns:a14="http://schemas.microsoft.com/office/drawing/2010/main">
        <mc:Choice Requires="a14">
          <p:sp>
            <p:nvSpPr>
              <p:cNvPr id="46" name="文本框 45"/>
              <p:cNvSpPr txBox="1"/>
              <p:nvPr/>
            </p:nvSpPr>
            <p:spPr>
              <a:xfrm>
                <a:off x="271145" y="3419475"/>
                <a:ext cx="6247765" cy="829945"/>
              </a:xfrm>
              <a:prstGeom prst="rect">
                <a:avLst/>
              </a:prstGeom>
              <a:noFill/>
            </p:spPr>
            <p:txBody>
              <a:bodyPr wrap="square" rtlCol="0">
                <a:spAutoFit/>
              </a:bodyPr>
              <a:lstStyle/>
              <a:p>
                <a:pPr algn="l">
                  <a:lnSpc>
                    <a:spcPct val="120000"/>
                  </a:lnSpc>
                </a:pPr>
                <a14:m>
                  <m:oMath xmlns:m="http://schemas.openxmlformats.org/officeDocument/2006/math">
                    <m:r>
                      <a:rPr lang="en-US" altLang="zh-CN" sz="2000" b="1" i="1" dirty="0">
                        <a:latin typeface="Cambria Math" panose="02040503050406030204" pitchFamily="18" charset="0"/>
                        <a:cs typeface="DejaVu Math TeX Gyre" panose="02000503000000000000" charset="0"/>
                      </a:rPr>
                      <m:t>𝒘</m:t>
                    </m:r>
                  </m:oMath>
                </a14:m>
                <a:r>
                  <a:rPr lang="zh-CN" altLang="en-US" sz="2000" b="1" dirty="0">
                    <a:latin typeface="DejaVu Math TeX Gyre" panose="02000503000000000000" charset="0"/>
                    <a:cs typeface="DejaVu Math TeX Gyre" panose="02000503000000000000" charset="0"/>
                  </a:rPr>
                  <a:t>是超平面</a:t>
                </a:r>
                <a14:m>
                  <m:oMath xmlns:m="http://schemas.openxmlformats.org/officeDocument/2006/math">
                    <m:r>
                      <a:rPr lang="en-US" altLang="zh-CN" sz="2000" i="1" dirty="0">
                        <a:latin typeface="Cambria Math" panose="02040503050406030204" pitchFamily="18" charset="0"/>
                        <a:cs typeface="DejaVu Math TeX Gyre" panose="02000503000000000000" charset="0"/>
                      </a:rPr>
                      <m:t>𝐻</m:t>
                    </m:r>
                  </m:oMath>
                </a14:m>
                <a:r>
                  <a:rPr lang="zh-CN" altLang="en-US" sz="2000" b="1" dirty="0">
                    <a:latin typeface="DejaVu Math TeX Gyre" panose="02000503000000000000" charset="0"/>
                    <a:cs typeface="DejaVu Math TeX Gyre" panose="02000503000000000000" charset="0"/>
                  </a:rPr>
                  <a:t>法向量，</a:t>
                </a:r>
                <a14:m>
                  <m:oMath xmlns:m="http://schemas.openxmlformats.org/officeDocument/2006/math">
                    <m:r>
                      <a:rPr lang="en-US" altLang="zh-CN" sz="2000" i="1" dirty="0">
                        <a:latin typeface="Cambria Math" panose="02040503050406030204" pitchFamily="18" charset="0"/>
                        <a:cs typeface="DejaVu Math TeX Gyre" panose="02000503000000000000" charset="0"/>
                      </a:rPr>
                      <m:t>∃</m:t>
                    </m:r>
                  </m:oMath>
                </a14:m>
                <a:r>
                  <a:rPr lang="zh-CN" altLang="en-US" sz="2000" b="1" dirty="0">
                    <a:latin typeface="DejaVu Math TeX Gyre" panose="02000503000000000000" charset="0"/>
                    <a:cs typeface="DejaVu Math TeX Gyre" panose="02000503000000000000" charset="0"/>
                  </a:rPr>
                  <a:t>分类平面</a:t>
                </a:r>
                <a14:m>
                  <m:oMath xmlns:m="http://schemas.openxmlformats.org/officeDocument/2006/math">
                    <m:sSub>
                      <m:sSubPr>
                        <m:ctrlPr>
                          <a:rPr lang="en-US" altLang="zh-CN" sz="2000" i="1" dirty="0">
                            <a:latin typeface="Cambria Math" panose="02040503050406030204" pitchFamily="18" charset="0"/>
                            <a:cs typeface="DejaVu Math TeX Gyre" panose="02000503000000000000" charset="0"/>
                          </a:rPr>
                        </m:ctrlPr>
                      </m:sSubPr>
                      <m:e>
                        <m:r>
                          <a:rPr lang="en-US" altLang="zh-CN" sz="2000" i="1" dirty="0">
                            <a:latin typeface="Cambria Math" panose="02040503050406030204" pitchFamily="18" charset="0"/>
                            <a:cs typeface="DejaVu Math TeX Gyre" panose="02000503000000000000" charset="0"/>
                          </a:rPr>
                          <m:t>𝐻</m:t>
                        </m:r>
                      </m:e>
                      <m:sub>
                        <m:r>
                          <a:rPr lang="en-US" altLang="zh-CN" sz="2000" i="1" dirty="0">
                            <a:latin typeface="Cambria Math" panose="02040503050406030204" pitchFamily="18" charset="0"/>
                            <a:cs typeface="DejaVu Math TeX Gyre" panose="02000503000000000000" charset="0"/>
                          </a:rPr>
                          <m:t>1</m:t>
                        </m:r>
                      </m:sub>
                    </m:sSub>
                  </m:oMath>
                </a14:m>
                <a:r>
                  <a:rPr lang="zh-CN" altLang="en-US" sz="2000" dirty="0">
                    <a:latin typeface="DejaVu Math TeX Gyre" panose="02000503000000000000" charset="0"/>
                    <a:cs typeface="DejaVu Math TeX Gyre" panose="02000503000000000000" charset="0"/>
                  </a:rPr>
                  <a:t>和</a:t>
                </a:r>
                <a14:m>
                  <m:oMath xmlns:m="http://schemas.openxmlformats.org/officeDocument/2006/math">
                    <m:sSub>
                      <m:sSubPr>
                        <m:ctrlPr>
                          <a:rPr lang="en-US" altLang="zh-CN" sz="2000" i="1" dirty="0">
                            <a:latin typeface="Cambria Math" panose="02040503050406030204" pitchFamily="18" charset="0"/>
                            <a:cs typeface="DejaVu Math TeX Gyre" panose="02000503000000000000" charset="0"/>
                          </a:rPr>
                        </m:ctrlPr>
                      </m:sSubPr>
                      <m:e>
                        <m:r>
                          <a:rPr lang="en-US" altLang="zh-CN" sz="2000" i="1" dirty="0">
                            <a:latin typeface="Cambria Math" panose="02040503050406030204" pitchFamily="18" charset="0"/>
                            <a:cs typeface="DejaVu Math TeX Gyre" panose="02000503000000000000" charset="0"/>
                          </a:rPr>
                          <m:t>𝐻</m:t>
                        </m:r>
                      </m:e>
                      <m:sub>
                        <m:r>
                          <a:rPr lang="en-US" altLang="zh-CN" sz="2000" i="1" dirty="0">
                            <a:latin typeface="Cambria Math" panose="02040503050406030204" pitchFamily="18" charset="0"/>
                            <a:cs typeface="DejaVu Math TeX Gyre" panose="02000503000000000000" charset="0"/>
                          </a:rPr>
                          <m:t>2</m:t>
                        </m:r>
                      </m:sub>
                    </m:sSub>
                  </m:oMath>
                </a14:m>
                <a:r>
                  <a:rPr lang="en-US" altLang="zh-CN" sz="2000" b="1" dirty="0">
                    <a:latin typeface="DejaVu Math TeX Gyre" panose="02000503000000000000" charset="0"/>
                    <a:cs typeface="DejaVu Math TeX Gyre" panose="02000503000000000000" charset="0"/>
                  </a:rPr>
                  <a:t>:</a:t>
                </a:r>
                <a:endParaRPr lang="en-US" altLang="zh-CN" sz="2000" i="1" dirty="0">
                  <a:latin typeface="DejaVu Math TeX Gyre" panose="02000503000000000000" charset="0"/>
                  <a:cs typeface="DejaVu Math TeX Gyre" panose="02000503000000000000" charset="0"/>
                </a:endParaRPr>
              </a:p>
              <a:p>
                <a:pPr algn="l">
                  <a:lnSpc>
                    <a:spcPct val="120000"/>
                  </a:lnSpc>
                </a:pPr>
                <a:endParaRPr lang="zh-CN" altLang="en-US" sz="2000" b="1" dirty="0">
                  <a:latin typeface="DejaVu Math TeX Gyre" panose="02000503000000000000" charset="0"/>
                  <a:cs typeface="DejaVu Math TeX Gyre" panose="02000503000000000000" charset="0"/>
                </a:endParaRPr>
              </a:p>
            </p:txBody>
          </p:sp>
        </mc:Choice>
        <mc:Fallback xmlns="">
          <p:sp>
            <p:nvSpPr>
              <p:cNvPr id="46" name="文本框 45"/>
              <p:cNvSpPr txBox="1">
                <a:spLocks noRot="1" noChangeAspect="1" noMove="1" noResize="1" noEditPoints="1" noAdjustHandles="1" noChangeArrowheads="1" noChangeShapeType="1" noTextEdit="1"/>
              </p:cNvSpPr>
              <p:nvPr/>
            </p:nvSpPr>
            <p:spPr>
              <a:xfrm>
                <a:off x="271145" y="3419475"/>
                <a:ext cx="6247765" cy="829945"/>
              </a:xfrm>
              <a:prstGeom prst="rect">
                <a:avLst/>
              </a:prstGeom>
              <a:blipFill rotWithShape="1">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p:cNvSpPr txBox="1"/>
              <p:nvPr/>
            </p:nvSpPr>
            <p:spPr>
              <a:xfrm>
                <a:off x="-186055" y="3886200"/>
                <a:ext cx="6247765" cy="683895"/>
              </a:xfrm>
              <a:prstGeom prst="rect">
                <a:avLst/>
              </a:prstGeom>
              <a:noFill/>
            </p:spPr>
            <p:txBody>
              <a:bodyPr wrap="square" rtlCol="0">
                <a:spAutoFit/>
              </a:bodyPr>
              <a:lstStyle/>
              <a:p>
                <a:pPr algn="l">
                  <a:lnSpc>
                    <a:spcPct val="120000"/>
                  </a:lnSpc>
                </a:pPr>
                <a14:m>
                  <m:oMathPara xmlns:m="http://schemas.openxmlformats.org/officeDocument/2006/math">
                    <m:oMath>
                      <m:d>
                        <m:dPr>
                          <m:begChr m:val="{"/>
                          <m:endChr m:val=""/>
                          <m:ctrlPr>
                            <a:rPr lang="en-US" altLang="zh-CN" sz="1600" i="1" dirty="0">
                              <a:latin typeface="Cambria Math" panose="02040503050406030204" pitchFamily="18" charset="0"/>
                              <a:cs typeface="DejaVu Math TeX Gyre" panose="02000503000000000000" charset="0"/>
                            </a:rPr>
                          </m:ctrlPr>
                        </m:dPr>
                        <m:e>
                          <m:eqArr>
                            <m:eqArrPr>
                              <m:ctrlPr>
                                <a:rPr lang="en-US" altLang="zh-CN" sz="1600" i="1" dirty="0">
                                  <a:latin typeface="Cambria Math" panose="02040503050406030204" pitchFamily="18" charset="0"/>
                                  <a:cs typeface="DejaVu Math TeX Gyre" panose="02000503000000000000" charset="0"/>
                                </a:rPr>
                              </m:ctrlPr>
                            </m:eqArrPr>
                            <m:e>
                              <m:sSub>
                                <m:sSubPr>
                                  <m:ctrlPr>
                                    <a:rPr lang="en-US" altLang="zh-CN" sz="1600" i="1" dirty="0">
                                      <a:latin typeface="Cambria Math" panose="02040503050406030204" pitchFamily="18" charset="0"/>
                                      <a:cs typeface="DejaVu Math TeX Gyre" panose="02000503000000000000" charset="0"/>
                                    </a:rPr>
                                  </m:ctrlPr>
                                </m:sSubPr>
                                <m:e>
                                  <m:r>
                                    <a:rPr lang="en-US" altLang="zh-CN" sz="1600" i="1" dirty="0">
                                      <a:latin typeface="Cambria Math" panose="02040503050406030204" pitchFamily="18" charset="0"/>
                                      <a:cs typeface="DejaVu Math TeX Gyre" panose="02000503000000000000" charset="0"/>
                                    </a:rPr>
                                    <m:t>𝐻</m:t>
                                  </m:r>
                                </m:e>
                                <m:sub>
                                  <m:r>
                                    <a:rPr lang="en-US" altLang="zh-CN" sz="1600" i="1" dirty="0">
                                      <a:latin typeface="Cambria Math" panose="02040503050406030204" pitchFamily="18" charset="0"/>
                                      <a:cs typeface="DejaVu Math TeX Gyre" panose="02000503000000000000" charset="0"/>
                                    </a:rPr>
                                    <m:t>1</m:t>
                                  </m:r>
                                </m:sub>
                              </m:sSub>
                              <m:r>
                                <a:rPr lang="en-US" altLang="zh-CN" sz="1600" i="1" dirty="0">
                                  <a:latin typeface="Cambria Math" panose="02040503050406030204" pitchFamily="18" charset="0"/>
                                  <a:cs typeface="DejaVu Math TeX Gyre" panose="02000503000000000000" charset="0"/>
                                </a:rPr>
                                <m:t>:(</m:t>
                              </m:r>
                              <m:r>
                                <a:rPr lang="en-US" altLang="zh-CN" sz="1600" b="1" i="1" dirty="0">
                                  <a:latin typeface="Cambria Math" panose="02040503050406030204" pitchFamily="18" charset="0"/>
                                  <a:cs typeface="DejaVu Math TeX Gyre" panose="02000503000000000000" charset="0"/>
                                </a:rPr>
                                <m:t>𝒘</m:t>
                              </m:r>
                              <m:r>
                                <a:rPr lang="en-US" altLang="zh-CN" sz="1600" b="1" i="1" dirty="0">
                                  <a:latin typeface="Cambria Math" panose="02040503050406030204" pitchFamily="18" charset="0"/>
                                  <a:cs typeface="DejaVu Math TeX Gyre" panose="02000503000000000000" charset="0"/>
                                </a:rPr>
                                <m:t>·</m:t>
                              </m:r>
                              <m:sSub>
                                <m:sSubPr>
                                  <m:ctrlPr>
                                    <a:rPr lang="en-US" altLang="zh-CN" sz="1600" b="1" i="1" dirty="0">
                                      <a:latin typeface="Cambria Math" panose="02040503050406030204" pitchFamily="18" charset="0"/>
                                      <a:cs typeface="DejaVu Math TeX Gyre" panose="02000503000000000000" charset="0"/>
                                    </a:rPr>
                                  </m:ctrlPr>
                                </m:sSubPr>
                                <m:e>
                                  <m:r>
                                    <a:rPr lang="en-US" altLang="zh-CN" sz="1600" b="1" i="1" dirty="0">
                                      <a:latin typeface="Cambria Math" panose="02040503050406030204" pitchFamily="18" charset="0"/>
                                      <a:cs typeface="DejaVu Math TeX Gyre" panose="02000503000000000000" charset="0"/>
                                    </a:rPr>
                                    <m:t>𝒙</m:t>
                                  </m:r>
                                </m:e>
                                <m:sub>
                                  <m:r>
                                    <a:rPr lang="en-US" altLang="zh-CN" sz="1600" b="1" i="1" dirty="0">
                                      <a:latin typeface="Cambria Math" panose="02040503050406030204" pitchFamily="18" charset="0"/>
                                      <a:cs typeface="DejaVu Math TeX Gyre" panose="02000503000000000000" charset="0"/>
                                    </a:rPr>
                                    <m:t>𝒊</m:t>
                                  </m:r>
                                </m:sub>
                              </m:sSub>
                              <m:r>
                                <a:rPr lang="en-US" altLang="zh-CN" sz="1600" i="1" dirty="0">
                                  <a:latin typeface="Cambria Math" panose="02040503050406030204" pitchFamily="18" charset="0"/>
                                  <a:cs typeface="DejaVu Math TeX Gyre" panose="02000503000000000000" charset="0"/>
                                </a:rPr>
                                <m:t>)+</m:t>
                              </m:r>
                              <m:r>
                                <a:rPr lang="en-US" altLang="zh-CN" sz="1600" i="1" dirty="0">
                                  <a:latin typeface="Cambria Math" panose="02040503050406030204" pitchFamily="18" charset="0"/>
                                  <a:cs typeface="DejaVu Math TeX Gyre" panose="02000503000000000000" charset="0"/>
                                </a:rPr>
                                <m:t>𝑏</m:t>
                              </m:r>
                              <m:r>
                                <a:rPr lang="en-US" altLang="zh-CN" sz="1600" i="1" dirty="0">
                                  <a:latin typeface="Cambria Math" panose="02040503050406030204" pitchFamily="18" charset="0"/>
                                  <a:cs typeface="DejaVu Math TeX Gyre" panose="02000503000000000000" charset="0"/>
                                </a:rPr>
                                <m:t>=+1,</m:t>
                              </m:r>
                              <m:r>
                                <a:rPr lang="en-US" altLang="zh-CN" sz="1600" i="1" dirty="0">
                                  <a:latin typeface="Cambria Math" panose="02040503050406030204" pitchFamily="18" charset="0"/>
                                  <a:cs typeface="DejaVu Math TeX Gyre" panose="02000503000000000000" charset="0"/>
                                </a:rPr>
                                <m:t>𝑖𝑓</m:t>
                              </m:r>
                              <m:sSub>
                                <m:sSubPr>
                                  <m:ctrlPr>
                                    <a:rPr lang="en-US" altLang="zh-CN" sz="1600" i="1" dirty="0">
                                      <a:latin typeface="Cambria Math" panose="02040503050406030204" pitchFamily="18" charset="0"/>
                                      <a:cs typeface="DejaVu Math TeX Gyre" panose="02000503000000000000" charset="0"/>
                                    </a:rPr>
                                  </m:ctrlPr>
                                </m:sSubPr>
                                <m:e>
                                  <m:r>
                                    <a:rPr lang="en-US" altLang="zh-CN" sz="1600" i="1" dirty="0">
                                      <a:latin typeface="Cambria Math" panose="02040503050406030204" pitchFamily="18" charset="0"/>
                                      <a:cs typeface="DejaVu Math TeX Gyre" panose="02000503000000000000" charset="0"/>
                                    </a:rPr>
                                    <m:t>𝑦</m:t>
                                  </m:r>
                                </m:e>
                                <m:sub>
                                  <m:r>
                                    <a:rPr lang="en-US" altLang="zh-CN" sz="1600" i="1" dirty="0">
                                      <a:latin typeface="Cambria Math" panose="02040503050406030204" pitchFamily="18" charset="0"/>
                                      <a:cs typeface="DejaVu Math TeX Gyre" panose="02000503000000000000" charset="0"/>
                                    </a:rPr>
                                    <m:t>𝑖</m:t>
                                  </m:r>
                                </m:sub>
                              </m:sSub>
                              <m:r>
                                <a:rPr lang="en-US" altLang="zh-CN" sz="1600" i="1" dirty="0">
                                  <a:latin typeface="Cambria Math" panose="02040503050406030204" pitchFamily="18" charset="0"/>
                                  <a:cs typeface="DejaVu Math TeX Gyre" panose="02000503000000000000" charset="0"/>
                                </a:rPr>
                                <m:t>=+1</m:t>
                              </m:r>
                            </m:e>
                            <m:e>
                              <m:sSub>
                                <m:sSubPr>
                                  <m:ctrlPr>
                                    <a:rPr lang="en-US" altLang="zh-CN" sz="1600" i="1" dirty="0">
                                      <a:latin typeface="Cambria Math" panose="02040503050406030204" pitchFamily="18" charset="0"/>
                                      <a:cs typeface="DejaVu Math TeX Gyre" panose="02000503000000000000" charset="0"/>
                                    </a:rPr>
                                  </m:ctrlPr>
                                </m:sSubPr>
                                <m:e>
                                  <m:r>
                                    <a:rPr lang="en-US" altLang="zh-CN" sz="1600" i="1" dirty="0">
                                      <a:latin typeface="Cambria Math" panose="02040503050406030204" pitchFamily="18" charset="0"/>
                                      <a:cs typeface="DejaVu Math TeX Gyre" panose="02000503000000000000" charset="0"/>
                                    </a:rPr>
                                    <m:t>𝐻</m:t>
                                  </m:r>
                                </m:e>
                                <m:sub>
                                  <m:r>
                                    <a:rPr lang="en-US" altLang="zh-CN" sz="1600" i="1" dirty="0">
                                      <a:latin typeface="Cambria Math" panose="02040503050406030204" pitchFamily="18" charset="0"/>
                                      <a:cs typeface="DejaVu Math TeX Gyre" panose="02000503000000000000" charset="0"/>
                                    </a:rPr>
                                    <m:t>2</m:t>
                                  </m:r>
                                </m:sub>
                              </m:sSub>
                              <m:r>
                                <a:rPr lang="en-US" altLang="zh-CN" sz="1600" i="1" dirty="0">
                                  <a:latin typeface="Cambria Math" panose="02040503050406030204" pitchFamily="18" charset="0"/>
                                  <a:cs typeface="DejaVu Math TeX Gyre" panose="02000503000000000000" charset="0"/>
                                </a:rPr>
                                <m:t>:(</m:t>
                              </m:r>
                              <m:r>
                                <a:rPr lang="en-US" altLang="zh-CN" sz="1600" b="1" i="1" dirty="0">
                                  <a:solidFill>
                                    <a:schemeClr val="tx1"/>
                                  </a:solidFill>
                                  <a:latin typeface="Cambria Math" panose="02040503050406030204" pitchFamily="18" charset="0"/>
                                  <a:cs typeface="DejaVu Math TeX Gyre" panose="02000503000000000000" charset="0"/>
                                </a:rPr>
                                <m:t>𝒘</m:t>
                              </m:r>
                              <m:r>
                                <a:rPr lang="en-US" altLang="zh-CN" sz="1600" b="1" i="1" dirty="0">
                                  <a:solidFill>
                                    <a:schemeClr val="tx1"/>
                                  </a:solidFill>
                                  <a:latin typeface="Cambria Math" panose="02040503050406030204" pitchFamily="18" charset="0"/>
                                  <a:cs typeface="DejaVu Math TeX Gyre" panose="02000503000000000000" charset="0"/>
                                </a:rPr>
                                <m:t>·</m:t>
                              </m:r>
                              <m:sSub>
                                <m:sSubPr>
                                  <m:ctrlPr>
                                    <a:rPr lang="en-US" altLang="zh-CN" sz="1600" b="1" i="1" dirty="0">
                                      <a:solidFill>
                                        <a:schemeClr val="tx1"/>
                                      </a:solidFill>
                                      <a:latin typeface="Cambria Math" panose="02040503050406030204" pitchFamily="18" charset="0"/>
                                      <a:cs typeface="DejaVu Math TeX Gyre" panose="02000503000000000000" charset="0"/>
                                    </a:rPr>
                                  </m:ctrlPr>
                                </m:sSubPr>
                                <m:e>
                                  <m:r>
                                    <a:rPr lang="en-US" altLang="zh-CN" sz="1600" b="1" i="1" dirty="0">
                                      <a:solidFill>
                                        <a:schemeClr val="tx1"/>
                                      </a:solidFill>
                                      <a:latin typeface="Cambria Math" panose="02040503050406030204" pitchFamily="18" charset="0"/>
                                      <a:cs typeface="DejaVu Math TeX Gyre" panose="02000503000000000000" charset="0"/>
                                    </a:rPr>
                                    <m:t>𝒙</m:t>
                                  </m:r>
                                </m:e>
                                <m:sub>
                                  <m:r>
                                    <a:rPr lang="en-US" altLang="zh-CN" sz="1600" b="1" i="1" dirty="0">
                                      <a:solidFill>
                                        <a:schemeClr val="tx1"/>
                                      </a:solidFill>
                                      <a:latin typeface="Cambria Math" panose="02040503050406030204" pitchFamily="18" charset="0"/>
                                      <a:cs typeface="DejaVu Math TeX Gyre" panose="02000503000000000000" charset="0"/>
                                    </a:rPr>
                                    <m:t>𝒊</m:t>
                                  </m:r>
                                </m:sub>
                              </m:sSub>
                              <m:r>
                                <a:rPr lang="en-US" altLang="zh-CN" sz="1600" i="1" dirty="0">
                                  <a:latin typeface="Cambria Math" panose="02040503050406030204" pitchFamily="18" charset="0"/>
                                  <a:cs typeface="DejaVu Math TeX Gyre" panose="02000503000000000000" charset="0"/>
                                </a:rPr>
                                <m:t>)+</m:t>
                              </m:r>
                              <m:r>
                                <a:rPr lang="en-US" altLang="zh-CN" sz="1600" i="1" dirty="0">
                                  <a:latin typeface="Cambria Math" panose="02040503050406030204" pitchFamily="18" charset="0"/>
                                  <a:cs typeface="DejaVu Math TeX Gyre" panose="02000503000000000000" charset="0"/>
                                </a:rPr>
                                <m:t>𝑏</m:t>
                              </m:r>
                              <m:r>
                                <a:rPr lang="en-US" altLang="zh-CN" sz="1600" i="1" dirty="0">
                                  <a:latin typeface="Cambria Math" panose="02040503050406030204" pitchFamily="18" charset="0"/>
                                  <a:cs typeface="DejaVu Math TeX Gyre" panose="02000503000000000000" charset="0"/>
                                </a:rPr>
                                <m:t>=−1,</m:t>
                              </m:r>
                              <m:r>
                                <a:rPr lang="en-US" altLang="zh-CN" sz="1600" i="1" dirty="0">
                                  <a:latin typeface="Cambria Math" panose="02040503050406030204" pitchFamily="18" charset="0"/>
                                  <a:cs typeface="DejaVu Math TeX Gyre" panose="02000503000000000000" charset="0"/>
                                </a:rPr>
                                <m:t>𝑖𝑓</m:t>
                              </m:r>
                              <m:sSub>
                                <m:sSubPr>
                                  <m:ctrlPr>
                                    <a:rPr lang="en-US" altLang="zh-CN" sz="1600" i="1" dirty="0">
                                      <a:latin typeface="Cambria Math" panose="02040503050406030204" pitchFamily="18" charset="0"/>
                                      <a:cs typeface="DejaVu Math TeX Gyre" panose="02000503000000000000" charset="0"/>
                                    </a:rPr>
                                  </m:ctrlPr>
                                </m:sSubPr>
                                <m:e>
                                  <m:r>
                                    <a:rPr lang="en-US" altLang="zh-CN" sz="1600" i="1" dirty="0">
                                      <a:latin typeface="Cambria Math" panose="02040503050406030204" pitchFamily="18" charset="0"/>
                                      <a:cs typeface="DejaVu Math TeX Gyre" panose="02000503000000000000" charset="0"/>
                                    </a:rPr>
                                    <m:t>𝑦</m:t>
                                  </m:r>
                                </m:e>
                                <m:sub>
                                  <m:r>
                                    <a:rPr lang="en-US" altLang="zh-CN" sz="1600" i="1" dirty="0">
                                      <a:latin typeface="Cambria Math" panose="02040503050406030204" pitchFamily="18" charset="0"/>
                                      <a:cs typeface="DejaVu Math TeX Gyre" panose="02000503000000000000" charset="0"/>
                                    </a:rPr>
                                    <m:t>𝑖</m:t>
                                  </m:r>
                                </m:sub>
                              </m:sSub>
                              <m:r>
                                <a:rPr lang="en-US" altLang="zh-CN" sz="1600" i="1" dirty="0">
                                  <a:latin typeface="Cambria Math" panose="02040503050406030204" pitchFamily="18" charset="0"/>
                                  <a:cs typeface="DejaVu Math TeX Gyre" panose="02000503000000000000" charset="0"/>
                                </a:rPr>
                                <m:t>=−1</m:t>
                              </m:r>
                            </m:e>
                          </m:eqArr>
                        </m:e>
                      </m:d>
                    </m:oMath>
                  </m:oMathPara>
                </a14:m>
                <a:endParaRPr lang="zh-CN" altLang="en-US" sz="1600" dirty="0">
                  <a:latin typeface="DejaVu Math TeX Gyre" panose="02000503000000000000" charset="0"/>
                  <a:cs typeface="DejaVu Math TeX Gyre" panose="02000503000000000000" charset="0"/>
                </a:endParaRPr>
              </a:p>
            </p:txBody>
          </p:sp>
        </mc:Choice>
        <mc:Fallback xmlns="">
          <p:sp>
            <p:nvSpPr>
              <p:cNvPr id="47" name="文本框 46"/>
              <p:cNvSpPr txBox="1">
                <a:spLocks noRot="1" noChangeAspect="1" noMove="1" noResize="1" noEditPoints="1" noAdjustHandles="1" noChangeArrowheads="1" noChangeShapeType="1" noTextEdit="1"/>
              </p:cNvSpPr>
              <p:nvPr/>
            </p:nvSpPr>
            <p:spPr>
              <a:xfrm>
                <a:off x="-186055" y="3886200"/>
                <a:ext cx="6247765" cy="683895"/>
              </a:xfrm>
              <a:prstGeom prst="rect">
                <a:avLst/>
              </a:prstGeom>
              <a:blipFill rotWithShape="1">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p:cNvSpPr txBox="1"/>
              <p:nvPr/>
            </p:nvSpPr>
            <p:spPr>
              <a:xfrm>
                <a:off x="8904605" y="4674870"/>
                <a:ext cx="2597150" cy="321310"/>
              </a:xfrm>
              <a:prstGeom prst="rect">
                <a:avLst/>
              </a:prstGeom>
              <a:noFill/>
            </p:spPr>
            <p:txBody>
              <a:bodyPr wrap="square" rtlCol="0">
                <a:noAutofit/>
              </a:bodyPr>
              <a:lstStyle/>
              <a:p>
                <a:pPr algn="l">
                  <a:lnSpc>
                    <a:spcPct val="120000"/>
                  </a:lnSpc>
                </a:pPr>
                <a14:m>
                  <m:oMathPara xmlns:m="http://schemas.openxmlformats.org/officeDocument/2006/math">
                    <m:oMath>
                      <m:r>
                        <a:rPr lang="en-US" altLang="zh-CN" sz="1400" i="1" dirty="0">
                          <a:latin typeface="Cambria Math" panose="02040503050406030204" pitchFamily="18" charset="0"/>
                          <a:cs typeface="DejaVu Math TeX Gyre" panose="02000503000000000000" charset="0"/>
                        </a:rPr>
                        <m:t>𝑀𝑎𝑟𝑔𝑖𝑛</m:t>
                      </m:r>
                      <m:r>
                        <a:rPr lang="en-US" altLang="zh-CN" sz="1400" i="1" dirty="0">
                          <a:latin typeface="Cambria Math" panose="02040503050406030204" pitchFamily="18" charset="0"/>
                          <a:cs typeface="DejaVu Math TeX Gyre" panose="02000503000000000000" charset="0"/>
                        </a:rPr>
                        <m:t>=2/||</m:t>
                      </m:r>
                      <m:r>
                        <a:rPr lang="en-US" altLang="zh-CN" sz="1400" b="1" i="1" dirty="0">
                          <a:latin typeface="Cambria Math" panose="02040503050406030204" pitchFamily="18" charset="0"/>
                          <a:cs typeface="DejaVu Math TeX Gyre" panose="02000503000000000000" charset="0"/>
                        </a:rPr>
                        <m:t>𝒘</m:t>
                      </m:r>
                      <m:r>
                        <a:rPr lang="en-US" altLang="zh-CN" sz="1400" i="1" dirty="0">
                          <a:latin typeface="Cambria Math" panose="02040503050406030204" pitchFamily="18" charset="0"/>
                          <a:cs typeface="DejaVu Math TeX Gyre" panose="02000503000000000000" charset="0"/>
                        </a:rPr>
                        <m:t>||</m:t>
                      </m:r>
                    </m:oMath>
                  </m:oMathPara>
                </a14:m>
                <a:endParaRPr lang="zh-CN" altLang="en-US" sz="1400" dirty="0">
                  <a:latin typeface="DejaVu Math TeX Gyre" panose="02000503000000000000" charset="0"/>
                  <a:cs typeface="DejaVu Math TeX Gyre" panose="02000503000000000000" charset="0"/>
                </a:endParaRPr>
              </a:p>
            </p:txBody>
          </p:sp>
        </mc:Choice>
        <mc:Fallback xmlns="">
          <p:sp>
            <p:nvSpPr>
              <p:cNvPr id="48" name="文本框 47"/>
              <p:cNvSpPr txBox="1">
                <a:spLocks noRot="1" noChangeAspect="1" noMove="1" noResize="1" noEditPoints="1" noAdjustHandles="1" noChangeArrowheads="1" noChangeShapeType="1" noTextEdit="1"/>
              </p:cNvSpPr>
              <p:nvPr/>
            </p:nvSpPr>
            <p:spPr>
              <a:xfrm>
                <a:off x="8904605" y="4674870"/>
                <a:ext cx="2597150" cy="321310"/>
              </a:xfrm>
              <a:prstGeom prst="rect">
                <a:avLst/>
              </a:prstGeom>
              <a:blipFill rotWithShape="1">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p:cNvSpPr txBox="1"/>
              <p:nvPr/>
            </p:nvSpPr>
            <p:spPr>
              <a:xfrm>
                <a:off x="271145" y="4674870"/>
                <a:ext cx="6247765" cy="1568450"/>
              </a:xfrm>
              <a:prstGeom prst="rect">
                <a:avLst/>
              </a:prstGeom>
              <a:noFill/>
            </p:spPr>
            <p:txBody>
              <a:bodyPr wrap="square" rtlCol="0">
                <a:spAutoFit/>
              </a:bodyPr>
              <a:lstStyle/>
              <a:p>
                <a:pPr algn="l">
                  <a:lnSpc>
                    <a:spcPct val="120000"/>
                  </a:lnSpc>
                </a:pPr>
                <a14:m>
                  <m:oMath xmlns:m="http://schemas.openxmlformats.org/officeDocument/2006/math">
                    <m:sSub>
                      <m:sSubPr>
                        <m:ctrlPr>
                          <a:rPr lang="en-US" altLang="zh-CN" sz="2000" i="1" dirty="0">
                            <a:latin typeface="Cambria Math" panose="02040503050406030204" pitchFamily="18" charset="0"/>
                            <a:cs typeface="DejaVu Math TeX Gyre" panose="02000503000000000000" charset="0"/>
                          </a:rPr>
                        </m:ctrlPr>
                      </m:sSubPr>
                      <m:e>
                        <m:r>
                          <a:rPr lang="en-US" altLang="zh-CN" sz="2000" i="1" dirty="0">
                            <a:latin typeface="Cambria Math" panose="02040503050406030204" pitchFamily="18" charset="0"/>
                            <a:cs typeface="DejaVu Math TeX Gyre" panose="02000503000000000000" charset="0"/>
                          </a:rPr>
                          <m:t>𝐻</m:t>
                        </m:r>
                      </m:e>
                      <m:sub>
                        <m:r>
                          <a:rPr lang="en-US" altLang="zh-CN" sz="2000" i="1" dirty="0">
                            <a:latin typeface="Cambria Math" panose="02040503050406030204" pitchFamily="18" charset="0"/>
                            <a:cs typeface="DejaVu Math TeX Gyre" panose="02000503000000000000" charset="0"/>
                          </a:rPr>
                          <m:t>1</m:t>
                        </m:r>
                      </m:sub>
                    </m:sSub>
                  </m:oMath>
                </a14:m>
                <a:r>
                  <a:rPr lang="zh-CN" altLang="en-US" sz="2000" b="1" dirty="0">
                    <a:latin typeface="DejaVu Math TeX Gyre" panose="02000503000000000000" charset="0"/>
                    <a:cs typeface="DejaVu Math TeX Gyre" panose="02000503000000000000" charset="0"/>
                  </a:rPr>
                  <a:t>和</a:t>
                </a:r>
                <a14:m>
                  <m:oMath xmlns:m="http://schemas.openxmlformats.org/officeDocument/2006/math">
                    <m:sSub>
                      <m:sSubPr>
                        <m:ctrlPr>
                          <a:rPr lang="en-US" altLang="zh-CN" sz="2000" i="1" dirty="0">
                            <a:latin typeface="Cambria Math" panose="02040503050406030204" pitchFamily="18" charset="0"/>
                            <a:cs typeface="DejaVu Math TeX Gyre" panose="02000503000000000000" charset="0"/>
                          </a:rPr>
                        </m:ctrlPr>
                      </m:sSubPr>
                      <m:e>
                        <m:r>
                          <a:rPr lang="en-US" altLang="zh-CN" sz="2000" i="1" dirty="0">
                            <a:latin typeface="Cambria Math" panose="02040503050406030204" pitchFamily="18" charset="0"/>
                            <a:cs typeface="DejaVu Math TeX Gyre" panose="02000503000000000000" charset="0"/>
                          </a:rPr>
                          <m:t>𝐻</m:t>
                        </m:r>
                      </m:e>
                      <m:sub>
                        <m:r>
                          <a:rPr lang="en-US" altLang="zh-CN" sz="2000" i="1" dirty="0">
                            <a:latin typeface="Cambria Math" panose="02040503050406030204" pitchFamily="18" charset="0"/>
                            <a:cs typeface="DejaVu Math TeX Gyre" panose="02000503000000000000" charset="0"/>
                          </a:rPr>
                          <m:t>2</m:t>
                        </m:r>
                      </m:sub>
                    </m:sSub>
                  </m:oMath>
                </a14:m>
                <a:r>
                  <a:rPr lang="zh-CN" altLang="en-US" sz="2000" b="1" dirty="0">
                    <a:latin typeface="DejaVu Math TeX Gyre" panose="02000503000000000000" charset="0"/>
                    <a:cs typeface="DejaVu Math TeX Gyre" panose="02000503000000000000" charset="0"/>
                  </a:rPr>
                  <a:t>之间距离为分类间隔</a:t>
                </a:r>
                <a:r>
                  <a:rPr lang="zh-CN" altLang="en-US" sz="2000" dirty="0">
                    <a:latin typeface="DejaVu Math TeX Gyre" panose="02000503000000000000" charset="0"/>
                    <a:cs typeface="DejaVu Math TeX Gyre" panose="02000503000000000000" charset="0"/>
                  </a:rPr>
                  <a:t>，</a:t>
                </a:r>
                <a:r>
                  <a:rPr lang="zh-CN" altLang="en-US" sz="2000" b="1" dirty="0">
                    <a:latin typeface="DejaVu Math TeX Gyre" panose="02000503000000000000" charset="0"/>
                    <a:cs typeface="DejaVu Math TeX Gyre" panose="02000503000000000000" charset="0"/>
                  </a:rPr>
                  <a:t>则有</a:t>
                </a:r>
                <a14:m>
                  <m:oMath xmlns:m="http://schemas.openxmlformats.org/officeDocument/2006/math">
                    <m:r>
                      <a:rPr lang="en-US" altLang="zh-CN" sz="1400" i="1" dirty="0">
                        <a:latin typeface="Cambria Math" panose="02040503050406030204" pitchFamily="18" charset="0"/>
                        <a:cs typeface="DejaVu Math TeX Gyre" panose="02000503000000000000" charset="0"/>
                      </a:rPr>
                      <m:t>𝑀𝑎𝑟𝑔𝑖𝑛</m:t>
                    </m:r>
                    <m:r>
                      <a:rPr lang="en-US" altLang="zh-CN" sz="1400" i="1" dirty="0">
                        <a:latin typeface="Cambria Math" panose="02040503050406030204" pitchFamily="18" charset="0"/>
                        <a:cs typeface="DejaVu Math TeX Gyre" panose="02000503000000000000" charset="0"/>
                      </a:rPr>
                      <m:t>=2/</m:t>
                    </m:r>
                    <m:r>
                      <a:rPr lang="en-US" altLang="zh-CN" sz="1400" i="1" dirty="0">
                        <a:latin typeface="Cambria Math" panose="02040503050406030204" pitchFamily="18" charset="0"/>
                        <a:cs typeface="DejaVu Math TeX Gyre" panose="02000503000000000000" charset="0"/>
                      </a:rPr>
                      <m:t>𝑤</m:t>
                    </m:r>
                  </m:oMath>
                </a14:m>
                <a:r>
                  <a:rPr lang="zh-CN" altLang="en-US" sz="2000" dirty="0">
                    <a:latin typeface="DejaVu Math TeX Gyre" panose="02000503000000000000" charset="0"/>
                    <a:cs typeface="DejaVu Math TeX Gyre" panose="02000503000000000000" charset="0"/>
                  </a:rPr>
                  <a:t>，</a:t>
                </a:r>
                <a:r>
                  <a:rPr lang="zh-CN" altLang="en-US" sz="2000" b="1" dirty="0">
                    <a:latin typeface="DejaVu Math TeX Gyre" panose="02000503000000000000" charset="0"/>
                    <a:cs typeface="DejaVu Math TeX Gyre" panose="02000503000000000000" charset="0"/>
                  </a:rPr>
                  <a:t>其中</a:t>
                </a:r>
                <a14:m>
                  <m:oMath xmlns:m="http://schemas.openxmlformats.org/officeDocument/2006/math">
                    <m:r>
                      <a:rPr lang="en-US" altLang="zh-CN" sz="2000" i="1" dirty="0">
                        <a:latin typeface="Cambria Math" panose="02040503050406030204" pitchFamily="18" charset="0"/>
                        <a:cs typeface="DejaVu Math TeX Gyre" panose="02000503000000000000" charset="0"/>
                      </a:rPr>
                      <m:t>𝑤</m:t>
                    </m:r>
                  </m:oMath>
                </a14:m>
                <a:r>
                  <a:rPr lang="zh-CN" altLang="en-US" sz="2000" b="1" dirty="0">
                    <a:latin typeface="DejaVu Math TeX Gyre" panose="02000503000000000000" charset="0"/>
                    <a:cs typeface="DejaVu Math TeX Gyre" panose="02000503000000000000" charset="0"/>
                  </a:rPr>
                  <a:t>为向量</a:t>
                </a:r>
                <a14:m>
                  <m:oMath xmlns:m="http://schemas.openxmlformats.org/officeDocument/2006/math">
                    <m:r>
                      <a:rPr lang="en-US" altLang="zh-CN" sz="2000" b="1" i="1" dirty="0">
                        <a:latin typeface="Cambria Math" panose="02040503050406030204" pitchFamily="18" charset="0"/>
                        <a:cs typeface="DejaVu Math TeX Gyre" panose="02000503000000000000" charset="0"/>
                      </a:rPr>
                      <m:t>𝒘</m:t>
                    </m:r>
                  </m:oMath>
                </a14:m>
                <a:r>
                  <a:rPr lang="zh-CN" altLang="en-US" sz="2000" b="1" dirty="0">
                    <a:latin typeface="DejaVu Math TeX Gyre" panose="02000503000000000000" charset="0"/>
                    <a:cs typeface="DejaVu Math TeX Gyre" panose="02000503000000000000" charset="0"/>
                  </a:rPr>
                  <a:t>的范数</a:t>
                </a:r>
                <a:r>
                  <a:rPr lang="zh-CN" altLang="en-US" sz="2000" dirty="0">
                    <a:latin typeface="DejaVu Math TeX Gyre" panose="02000503000000000000" charset="0"/>
                    <a:cs typeface="DejaVu Math TeX Gyre" panose="02000503000000000000" charset="0"/>
                  </a:rPr>
                  <a:t>。</a:t>
                </a:r>
                <a14:m>
                  <m:oMath xmlns:m="http://schemas.openxmlformats.org/officeDocument/2006/math">
                    <m:r>
                      <a:rPr lang="en-US" altLang="zh-CN" sz="1400" i="1" dirty="0">
                        <a:latin typeface="Cambria Math" panose="02040503050406030204" pitchFamily="18" charset="0"/>
                        <a:cs typeface="DejaVu Math TeX Gyre" panose="02000503000000000000" charset="0"/>
                      </a:rPr>
                      <m:t>𝑀𝑎𝑟𝑔𝑖𝑛</m:t>
                    </m:r>
                  </m:oMath>
                </a14:m>
                <a:r>
                  <a:rPr lang="zh-CN" altLang="en-US" sz="2000" b="1" dirty="0">
                    <a:latin typeface="DejaVu Math TeX Gyre" panose="02000503000000000000" charset="0"/>
                    <a:cs typeface="DejaVu Math TeX Gyre" panose="02000503000000000000" charset="0"/>
                  </a:rPr>
                  <a:t>最大时</a:t>
                </a:r>
                <a:r>
                  <a:rPr lang="zh-CN" altLang="en-US" sz="2000" dirty="0">
                    <a:latin typeface="DejaVu Math TeX Gyre" panose="02000503000000000000" charset="0"/>
                    <a:cs typeface="DejaVu Math TeX Gyre" panose="02000503000000000000" charset="0"/>
                  </a:rPr>
                  <a:t>，</a:t>
                </a:r>
                <a14:m>
                  <m:oMath xmlns:m="http://schemas.openxmlformats.org/officeDocument/2006/math">
                    <m:r>
                      <a:rPr lang="en-US" altLang="zh-CN" sz="2000" i="1" dirty="0">
                        <a:latin typeface="Cambria Math" panose="02040503050406030204" pitchFamily="18" charset="0"/>
                        <a:cs typeface="DejaVu Math TeX Gyre" panose="02000503000000000000" charset="0"/>
                      </a:rPr>
                      <m:t>𝐻</m:t>
                    </m:r>
                  </m:oMath>
                </a14:m>
                <a:r>
                  <a:rPr lang="zh-CN" altLang="en-US" sz="2000" b="1" dirty="0">
                    <a:latin typeface="DejaVu Math TeX Gyre" panose="02000503000000000000" charset="0"/>
                    <a:cs typeface="DejaVu Math TeX Gyre" panose="02000503000000000000" charset="0"/>
                  </a:rPr>
                  <a:t>为最优分类超平面</a:t>
                </a:r>
                <a:r>
                  <a:rPr lang="zh-CN" altLang="en-US" sz="2000" dirty="0">
                    <a:latin typeface="DejaVu Math TeX Gyre" panose="02000503000000000000" charset="0"/>
                    <a:cs typeface="DejaVu Math TeX Gyre" panose="02000503000000000000" charset="0"/>
                  </a:rPr>
                  <a:t>。</a:t>
                </a:r>
                <a:endParaRPr lang="en-US" altLang="zh-CN" sz="2000" i="1" dirty="0">
                  <a:latin typeface="DejaVu Math TeX Gyre" panose="02000503000000000000" charset="0"/>
                  <a:cs typeface="DejaVu Math TeX Gyre" panose="02000503000000000000" charset="0"/>
                </a:endParaRPr>
              </a:p>
              <a:p>
                <a:pPr algn="l">
                  <a:lnSpc>
                    <a:spcPct val="120000"/>
                  </a:lnSpc>
                </a:pPr>
                <a:endParaRPr lang="zh-CN" altLang="en-US" sz="2000" dirty="0">
                  <a:latin typeface="DejaVu Math TeX Gyre" panose="02000503000000000000" charset="0"/>
                  <a:cs typeface="DejaVu Math TeX Gyre" panose="02000503000000000000" charset="0"/>
                </a:endParaRPr>
              </a:p>
            </p:txBody>
          </p:sp>
        </mc:Choice>
        <mc:Fallback xmlns="">
          <p:sp>
            <p:nvSpPr>
              <p:cNvPr id="49" name="文本框 48"/>
              <p:cNvSpPr txBox="1">
                <a:spLocks noRot="1" noChangeAspect="1" noMove="1" noResize="1" noEditPoints="1" noAdjustHandles="1" noChangeArrowheads="1" noChangeShapeType="1" noTextEdit="1"/>
              </p:cNvSpPr>
              <p:nvPr/>
            </p:nvSpPr>
            <p:spPr>
              <a:xfrm>
                <a:off x="271145" y="4674870"/>
                <a:ext cx="6247765" cy="1568450"/>
              </a:xfrm>
              <a:prstGeom prst="rect">
                <a:avLst/>
              </a:prstGeom>
              <a:blipFill rotWithShape="1">
                <a:blip r:embed="rId14"/>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p:bldP spid="48" grpId="0"/>
      <p:bldP spid="4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939798"/>
            <a:ext cx="5022850" cy="625474"/>
            <a:chOff x="0" y="1075267"/>
            <a:chExt cx="5022850"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4584065" cy="460375"/>
            </a:xfrm>
            <a:prstGeom prst="rect">
              <a:avLst/>
            </a:prstGeom>
            <a:noFill/>
          </p:spPr>
          <p:txBody>
            <a:bodyPr wrap="square">
              <a:spAutoFit/>
            </a:bodyPr>
            <a:lstStyle/>
            <a:p>
              <a:r>
                <a:rPr lang="en-US" altLang="zh-CN" sz="2400" b="1" dirty="0">
                  <a:solidFill>
                    <a:schemeClr val="accent1"/>
                  </a:solidFill>
                  <a:latin typeface="+mj-lt"/>
                  <a:sym typeface="+mn-ea"/>
                </a:rPr>
                <a:t>5.2.3 </a:t>
              </a:r>
              <a:r>
                <a:rPr lang="zh-CN" altLang="en-US" sz="2400" b="1" dirty="0">
                  <a:solidFill>
                    <a:schemeClr val="accent1"/>
                  </a:solidFill>
                  <a:latin typeface="+mj-lt"/>
                  <a:sym typeface="+mn-ea"/>
                </a:rPr>
                <a:t>支持向量机避障策略</a:t>
              </a:r>
              <a:endParaRPr lang="zh-CN" altLang="en-US" sz="2400" b="1" dirty="0">
                <a:solidFill>
                  <a:schemeClr val="accent1"/>
                </a:solidFill>
                <a:latin typeface="+mj-lt"/>
              </a:endParaRPr>
            </a:p>
          </p:txBody>
        </p:sp>
      </p:grpSp>
      <p:cxnSp>
        <p:nvCxnSpPr>
          <p:cNvPr id="67" name="直接箭头连接符 66"/>
          <p:cNvCxnSpPr/>
          <p:nvPr/>
        </p:nvCxnSpPr>
        <p:spPr>
          <a:xfrm flipV="1">
            <a:off x="6948170" y="5103495"/>
            <a:ext cx="3295650" cy="19050"/>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68" name="直接箭头连接符 67"/>
          <p:cNvCxnSpPr/>
          <p:nvPr/>
        </p:nvCxnSpPr>
        <p:spPr>
          <a:xfrm flipV="1">
            <a:off x="6948170" y="1884045"/>
            <a:ext cx="0" cy="3200400"/>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sp>
        <p:nvSpPr>
          <p:cNvPr id="69" name="椭圆 68"/>
          <p:cNvSpPr/>
          <p:nvPr/>
        </p:nvSpPr>
        <p:spPr>
          <a:xfrm>
            <a:off x="7272020" y="363664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7653020" y="376364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7297420" y="41668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7602220" y="41668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7780020" y="414464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7602220" y="45700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8234045" y="45700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8024495" y="446532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8024495" y="40398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7675245" y="33889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8465820" y="40620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8543925" y="273050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8986520" y="22269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9494520" y="243649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9196070" y="301752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9875520" y="29127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a:off x="8986520" y="275399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a:off x="10081895" y="351599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9599295" y="29127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9494520" y="328422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9238615" y="362077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a:off x="8753475" y="31794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p:cNvSpPr/>
          <p:nvPr/>
        </p:nvSpPr>
        <p:spPr>
          <a:xfrm>
            <a:off x="10462895" y="177927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a:off x="10462895" y="21221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p:cNvSpPr/>
          <p:nvPr/>
        </p:nvSpPr>
        <p:spPr>
          <a:xfrm>
            <a:off x="7561580" y="330644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p:nvSpPr>
        <p:spPr>
          <a:xfrm>
            <a:off x="8361045" y="396684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p:nvSpPr>
        <p:spPr>
          <a:xfrm>
            <a:off x="8648700" y="308419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p:nvSpPr>
        <p:spPr>
          <a:xfrm>
            <a:off x="9091295" y="351599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5" name="直接连接符 114"/>
          <p:cNvCxnSpPr/>
          <p:nvPr/>
        </p:nvCxnSpPr>
        <p:spPr>
          <a:xfrm>
            <a:off x="7845425" y="2378075"/>
            <a:ext cx="2273935" cy="201295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17" name="直接连接符 116"/>
          <p:cNvCxnSpPr/>
          <p:nvPr/>
        </p:nvCxnSpPr>
        <p:spPr>
          <a:xfrm>
            <a:off x="7254875" y="3006725"/>
            <a:ext cx="2172335" cy="190500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18" name="直接连接符 117"/>
          <p:cNvCxnSpPr/>
          <p:nvPr/>
        </p:nvCxnSpPr>
        <p:spPr>
          <a:xfrm>
            <a:off x="7561580" y="2713990"/>
            <a:ext cx="2273935" cy="2012950"/>
          </a:xfrm>
          <a:prstGeom prst="line">
            <a:avLst/>
          </a:prstGeom>
        </p:spPr>
        <p:style>
          <a:lnRef idx="3">
            <a:schemeClr val="accent1"/>
          </a:lnRef>
          <a:fillRef idx="0">
            <a:srgbClr val="FFFFFF"/>
          </a:fillRef>
          <a:effectRef idx="0">
            <a:srgbClr val="FFFFFF"/>
          </a:effectRef>
          <a:fontRef idx="minor">
            <a:schemeClr val="tx1"/>
          </a:fontRef>
        </p:style>
      </p:cxnSp>
      <p:cxnSp>
        <p:nvCxnSpPr>
          <p:cNvPr id="119" name="直接箭头连接符 118"/>
          <p:cNvCxnSpPr/>
          <p:nvPr/>
        </p:nvCxnSpPr>
        <p:spPr>
          <a:xfrm flipV="1">
            <a:off x="9566910" y="4156075"/>
            <a:ext cx="279400" cy="31750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121" name="直接箭头连接符 120"/>
          <p:cNvCxnSpPr/>
          <p:nvPr/>
        </p:nvCxnSpPr>
        <p:spPr>
          <a:xfrm flipH="1">
            <a:off x="9274810" y="4473575"/>
            <a:ext cx="292100" cy="34290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22" name="文本框 121"/>
              <p:cNvSpPr txBox="1"/>
              <p:nvPr/>
            </p:nvSpPr>
            <p:spPr>
              <a:xfrm>
                <a:off x="7477760" y="1960880"/>
                <a:ext cx="4023995" cy="291465"/>
              </a:xfrm>
              <a:prstGeom prst="rect">
                <a:avLst/>
              </a:prstGeom>
              <a:noFill/>
            </p:spPr>
            <p:txBody>
              <a:bodyPr wrap="square" rtlCol="0">
                <a:no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𝐻</m:t>
                          </m:r>
                        </m:e>
                        <m:sub>
                          <m:r>
                            <a:rPr lang="en-US" altLang="zh-CN" i="1">
                              <a:latin typeface="Cambria Math" panose="02040503050406030204" pitchFamily="18" charset="0"/>
                              <a:cs typeface="DejaVu Math TeX Gyre" panose="02000503000000000000" charset="0"/>
                            </a:rPr>
                            <m:t>1</m:t>
                          </m:r>
                        </m:sub>
                      </m:sSub>
                    </m:oMath>
                  </m:oMathPara>
                </a14:m>
                <a:endParaRPr lang="zh-CN" altLang="en-US"/>
              </a:p>
            </p:txBody>
          </p:sp>
        </mc:Choice>
        <mc:Fallback xmlns="">
          <p:sp>
            <p:nvSpPr>
              <p:cNvPr id="122" name="文本框 121"/>
              <p:cNvSpPr txBox="1">
                <a:spLocks noRot="1" noChangeAspect="1" noMove="1" noResize="1" noEditPoints="1" noAdjustHandles="1" noChangeArrowheads="1" noChangeShapeType="1" noTextEdit="1"/>
              </p:cNvSpPr>
              <p:nvPr/>
            </p:nvSpPr>
            <p:spPr>
              <a:xfrm>
                <a:off x="7477760" y="1960880"/>
                <a:ext cx="4023995" cy="291465"/>
              </a:xfrm>
              <a:prstGeom prst="rect">
                <a:avLst/>
              </a:prstGeom>
              <a:blipFill rotWithShape="1">
                <a:blip r:embed="rId3"/>
                <a:stretch>
                  <a:fillRect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3" name="文本框 122"/>
              <p:cNvSpPr txBox="1"/>
              <p:nvPr/>
            </p:nvSpPr>
            <p:spPr>
              <a:xfrm>
                <a:off x="7178675" y="2329815"/>
                <a:ext cx="4023995" cy="291465"/>
              </a:xfrm>
              <a:prstGeom prst="rect">
                <a:avLst/>
              </a:prstGeom>
              <a:noFill/>
            </p:spPr>
            <p:txBody>
              <a:bodyPr wrap="square" rtlCol="0">
                <a:noAutofit/>
              </a:bodyPr>
              <a:lstStyle/>
              <a:p>
                <a:pPr/>
                <a14:m>
                  <m:oMathPara xmlns:m="http://schemas.openxmlformats.org/officeDocument/2006/math">
                    <m:oMathParaPr>
                      <m:jc m:val="left"/>
                    </m:oMathParaPr>
                    <m:oMath>
                      <m:r>
                        <a:rPr lang="en-US" altLang="zh-CN" i="1">
                          <a:latin typeface="Cambria Math" panose="02040503050406030204" pitchFamily="18" charset="0"/>
                          <a:cs typeface="DejaVu Math TeX Gyre" panose="02000503000000000000" charset="0"/>
                        </a:rPr>
                        <m:t>𝐻</m:t>
                      </m:r>
                    </m:oMath>
                  </m:oMathPara>
                </a14:m>
                <a:endParaRPr lang="zh-CN" altLang="en-US"/>
              </a:p>
            </p:txBody>
          </p:sp>
        </mc:Choice>
        <mc:Fallback xmlns="">
          <p:sp>
            <p:nvSpPr>
              <p:cNvPr id="123" name="文本框 122"/>
              <p:cNvSpPr txBox="1">
                <a:spLocks noRot="1" noChangeAspect="1" noMove="1" noResize="1" noEditPoints="1" noAdjustHandles="1" noChangeArrowheads="1" noChangeShapeType="1" noTextEdit="1"/>
              </p:cNvSpPr>
              <p:nvPr/>
            </p:nvSpPr>
            <p:spPr>
              <a:xfrm>
                <a:off x="7178675" y="2329815"/>
                <a:ext cx="4023995" cy="291465"/>
              </a:xfrm>
              <a:prstGeom prst="rect">
                <a:avLst/>
              </a:prstGeom>
              <a:blipFill rotWithShape="1">
                <a:blip r:embed="rId4"/>
                <a:stretch>
                  <a:fillRect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4" name="文本框 123"/>
              <p:cNvSpPr txBox="1"/>
              <p:nvPr/>
            </p:nvSpPr>
            <p:spPr>
              <a:xfrm>
                <a:off x="6836410" y="2621280"/>
                <a:ext cx="4023995" cy="291465"/>
              </a:xfrm>
              <a:prstGeom prst="rect">
                <a:avLst/>
              </a:prstGeom>
              <a:noFill/>
            </p:spPr>
            <p:txBody>
              <a:bodyPr wrap="square" rtlCol="0">
                <a:no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𝐻</m:t>
                          </m:r>
                        </m:e>
                        <m:sub>
                          <m:r>
                            <a:rPr lang="en-US" altLang="zh-CN" i="1">
                              <a:latin typeface="Cambria Math" panose="02040503050406030204" pitchFamily="18" charset="0"/>
                              <a:cs typeface="DejaVu Math TeX Gyre" panose="02000503000000000000" charset="0"/>
                            </a:rPr>
                            <m:t>2</m:t>
                          </m:r>
                        </m:sub>
                      </m:sSub>
                    </m:oMath>
                  </m:oMathPara>
                </a14:m>
                <a:endParaRPr lang="zh-CN" altLang="en-US"/>
              </a:p>
            </p:txBody>
          </p:sp>
        </mc:Choice>
        <mc:Fallback xmlns="">
          <p:sp>
            <p:nvSpPr>
              <p:cNvPr id="124" name="文本框 123"/>
              <p:cNvSpPr txBox="1">
                <a:spLocks noRot="1" noChangeAspect="1" noMove="1" noResize="1" noEditPoints="1" noAdjustHandles="1" noChangeArrowheads="1" noChangeShapeType="1" noTextEdit="1"/>
              </p:cNvSpPr>
              <p:nvPr/>
            </p:nvSpPr>
            <p:spPr>
              <a:xfrm>
                <a:off x="6836410" y="2621280"/>
                <a:ext cx="4023995" cy="291465"/>
              </a:xfrm>
              <a:prstGeom prst="rect">
                <a:avLst/>
              </a:prstGeom>
              <a:blipFill rotWithShape="1">
                <a:blip r:embed="rId5"/>
                <a:stretch>
                  <a:fillRect b="-9804"/>
                </a:stretch>
              </a:blipFill>
            </p:spPr>
            <p:txBody>
              <a:bodyPr/>
              <a:lstStyle/>
              <a:p>
                <a:r>
                  <a:rPr lang="zh-CN" altLang="en-US">
                    <a:noFill/>
                  </a:rPr>
                  <a:t> </a:t>
                </a:r>
              </a:p>
            </p:txBody>
          </p:sp>
        </mc:Fallback>
      </mc:AlternateContent>
      <p:cxnSp>
        <p:nvCxnSpPr>
          <p:cNvPr id="127" name="直接连接符 126"/>
          <p:cNvCxnSpPr/>
          <p:nvPr/>
        </p:nvCxnSpPr>
        <p:spPr>
          <a:xfrm>
            <a:off x="7972425" y="2505075"/>
            <a:ext cx="2273935" cy="201295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8" name="直接连接符 127"/>
          <p:cNvCxnSpPr/>
          <p:nvPr/>
        </p:nvCxnSpPr>
        <p:spPr>
          <a:xfrm>
            <a:off x="7381875" y="3133725"/>
            <a:ext cx="2172335" cy="190500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94" name="文本框 93"/>
              <p:cNvSpPr txBox="1"/>
              <p:nvPr/>
            </p:nvSpPr>
            <p:spPr>
              <a:xfrm>
                <a:off x="10567670" y="1646555"/>
                <a:ext cx="4064000" cy="370840"/>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𝑦</m:t>
                          </m:r>
                        </m:e>
                        <m:sub>
                          <m:r>
                            <a:rPr lang="en-US" altLang="zh-CN" i="1">
                              <a:latin typeface="Cambria Math" panose="02040503050406030204" pitchFamily="18" charset="0"/>
                              <a:cs typeface="DejaVu Math TeX Gyre" panose="02000503000000000000" charset="0"/>
                            </a:rPr>
                            <m:t>𝑖</m:t>
                          </m:r>
                        </m:sub>
                      </m:sSub>
                      <m:r>
                        <a:rPr lang="en-US" altLang="zh-CN" i="1">
                          <a:latin typeface="Cambria Math" panose="02040503050406030204" pitchFamily="18" charset="0"/>
                          <a:cs typeface="DejaVu Math TeX Gyre" panose="02000503000000000000" charset="0"/>
                        </a:rPr>
                        <m:t>=1</m:t>
                      </m:r>
                    </m:oMath>
                  </m:oMathPara>
                </a14:m>
                <a:endParaRPr lang="zh-CN" altLang="en-US"/>
              </a:p>
            </p:txBody>
          </p:sp>
        </mc:Choice>
        <mc:Fallback xmlns="">
          <p:sp>
            <p:nvSpPr>
              <p:cNvPr id="94" name="文本框 93"/>
              <p:cNvSpPr txBox="1">
                <a:spLocks noRot="1" noChangeAspect="1" noMove="1" noResize="1" noEditPoints="1" noAdjustHandles="1" noChangeArrowheads="1" noChangeShapeType="1" noTextEdit="1"/>
              </p:cNvSpPr>
              <p:nvPr/>
            </p:nvSpPr>
            <p:spPr>
              <a:xfrm>
                <a:off x="10567670" y="1646555"/>
                <a:ext cx="4064000" cy="37084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文本框 94"/>
              <p:cNvSpPr txBox="1"/>
              <p:nvPr/>
            </p:nvSpPr>
            <p:spPr>
              <a:xfrm>
                <a:off x="10567670" y="1960880"/>
                <a:ext cx="4064000" cy="370840"/>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𝑦</m:t>
                          </m:r>
                        </m:e>
                        <m:sub>
                          <m:r>
                            <a:rPr lang="en-US" altLang="zh-CN" i="1">
                              <a:latin typeface="Cambria Math" panose="02040503050406030204" pitchFamily="18" charset="0"/>
                              <a:cs typeface="DejaVu Math TeX Gyre" panose="02000503000000000000" charset="0"/>
                            </a:rPr>
                            <m:t>𝑖</m:t>
                          </m:r>
                        </m:sub>
                      </m:sSub>
                      <m:r>
                        <a:rPr lang="en-US" altLang="zh-CN" i="1">
                          <a:latin typeface="Cambria Math" panose="02040503050406030204" pitchFamily="18" charset="0"/>
                          <a:cs typeface="DejaVu Math TeX Gyre" panose="02000503000000000000" charset="0"/>
                        </a:rPr>
                        <m:t>=−1</m:t>
                      </m:r>
                    </m:oMath>
                  </m:oMathPara>
                </a14:m>
                <a:endParaRPr lang="zh-CN" altLang="en-US"/>
              </a:p>
            </p:txBody>
          </p:sp>
        </mc:Choice>
        <mc:Fallback xmlns="">
          <p:sp>
            <p:nvSpPr>
              <p:cNvPr id="95" name="文本框 94"/>
              <p:cNvSpPr txBox="1">
                <a:spLocks noRot="1" noChangeAspect="1" noMove="1" noResize="1" noEditPoints="1" noAdjustHandles="1" noChangeArrowheads="1" noChangeShapeType="1" noTextEdit="1"/>
              </p:cNvSpPr>
              <p:nvPr/>
            </p:nvSpPr>
            <p:spPr>
              <a:xfrm>
                <a:off x="10567670" y="1960880"/>
                <a:ext cx="4064000" cy="37084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p:cNvSpPr txBox="1"/>
              <p:nvPr/>
            </p:nvSpPr>
            <p:spPr>
              <a:xfrm>
                <a:off x="8904605" y="4674870"/>
                <a:ext cx="2597150" cy="321310"/>
              </a:xfrm>
              <a:prstGeom prst="rect">
                <a:avLst/>
              </a:prstGeom>
              <a:noFill/>
            </p:spPr>
            <p:txBody>
              <a:bodyPr wrap="square" rtlCol="0">
                <a:noAutofit/>
              </a:bodyPr>
              <a:lstStyle/>
              <a:p>
                <a:pPr algn="l">
                  <a:lnSpc>
                    <a:spcPct val="120000"/>
                  </a:lnSpc>
                </a:pPr>
                <a14:m>
                  <m:oMathPara xmlns:m="http://schemas.openxmlformats.org/officeDocument/2006/math">
                    <m:oMath>
                      <m:r>
                        <a:rPr lang="en-US" altLang="zh-CN" sz="1400" i="1" dirty="0">
                          <a:latin typeface="Cambria Math" panose="02040503050406030204" pitchFamily="18" charset="0"/>
                          <a:cs typeface="DejaVu Math TeX Gyre" panose="02000503000000000000" charset="0"/>
                        </a:rPr>
                        <m:t>𝑀𝑎𝑟𝑔𝑖𝑛</m:t>
                      </m:r>
                      <m:r>
                        <a:rPr lang="en-US" altLang="zh-CN" sz="1400" i="1" dirty="0">
                          <a:latin typeface="Cambria Math" panose="02040503050406030204" pitchFamily="18" charset="0"/>
                          <a:cs typeface="DejaVu Math TeX Gyre" panose="02000503000000000000" charset="0"/>
                        </a:rPr>
                        <m:t>=2/||</m:t>
                      </m:r>
                      <m:r>
                        <a:rPr lang="en-US" altLang="zh-CN" sz="1400" b="1" i="1" dirty="0">
                          <a:latin typeface="Cambria Math" panose="02040503050406030204" pitchFamily="18" charset="0"/>
                          <a:cs typeface="DejaVu Math TeX Gyre" panose="02000503000000000000" charset="0"/>
                        </a:rPr>
                        <m:t>𝒘</m:t>
                      </m:r>
                      <m:r>
                        <a:rPr lang="en-US" altLang="zh-CN" sz="1400" i="1" dirty="0">
                          <a:latin typeface="Cambria Math" panose="02040503050406030204" pitchFamily="18" charset="0"/>
                          <a:cs typeface="DejaVu Math TeX Gyre" panose="02000503000000000000" charset="0"/>
                        </a:rPr>
                        <m:t>||</m:t>
                      </m:r>
                    </m:oMath>
                  </m:oMathPara>
                </a14:m>
                <a:endParaRPr lang="zh-CN" altLang="en-US" sz="1400" dirty="0">
                  <a:latin typeface="DejaVu Math TeX Gyre" panose="02000503000000000000" charset="0"/>
                  <a:cs typeface="DejaVu Math TeX Gyre" panose="02000503000000000000" charset="0"/>
                </a:endParaRPr>
              </a:p>
            </p:txBody>
          </p:sp>
        </mc:Choice>
        <mc:Fallback xmlns="">
          <p:sp>
            <p:nvSpPr>
              <p:cNvPr id="30" name="文本框 29"/>
              <p:cNvSpPr txBox="1">
                <a:spLocks noRot="1" noChangeAspect="1" noMove="1" noResize="1" noEditPoints="1" noAdjustHandles="1" noChangeArrowheads="1" noChangeShapeType="1" noTextEdit="1"/>
              </p:cNvSpPr>
              <p:nvPr/>
            </p:nvSpPr>
            <p:spPr>
              <a:xfrm>
                <a:off x="8904605" y="4674870"/>
                <a:ext cx="2597150" cy="321310"/>
              </a:xfrm>
              <a:prstGeom prst="rect">
                <a:avLst/>
              </a:prstGeom>
              <a:blipFill rotWithShape="1">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p:cNvSpPr txBox="1"/>
              <p:nvPr/>
            </p:nvSpPr>
            <p:spPr>
              <a:xfrm>
                <a:off x="76200" y="1694180"/>
                <a:ext cx="6247765" cy="683895"/>
              </a:xfrm>
              <a:prstGeom prst="rect">
                <a:avLst/>
              </a:prstGeom>
              <a:noFill/>
            </p:spPr>
            <p:txBody>
              <a:bodyPr wrap="square" rtlCol="0">
                <a:spAutoFit/>
              </a:bodyPr>
              <a:lstStyle/>
              <a:p>
                <a:pPr algn="l">
                  <a:lnSpc>
                    <a:spcPct val="120000"/>
                  </a:lnSpc>
                </a:pPr>
                <a14:m>
                  <m:oMathPara xmlns:m="http://schemas.openxmlformats.org/officeDocument/2006/math">
                    <m:oMath>
                      <m:d>
                        <m:dPr>
                          <m:begChr m:val="{"/>
                          <m:endChr m:val=""/>
                          <m:ctrlPr>
                            <a:rPr lang="en-US" altLang="zh-CN" sz="1600" i="1" dirty="0">
                              <a:latin typeface="Cambria Math" panose="02040503050406030204" pitchFamily="18" charset="0"/>
                              <a:cs typeface="DejaVu Math TeX Gyre" panose="02000503000000000000" charset="0"/>
                            </a:rPr>
                          </m:ctrlPr>
                        </m:dPr>
                        <m:e>
                          <m:eqArr>
                            <m:eqArrPr>
                              <m:ctrlPr>
                                <a:rPr lang="en-US" altLang="zh-CN" sz="1600" i="1" dirty="0">
                                  <a:latin typeface="Cambria Math" panose="02040503050406030204" pitchFamily="18" charset="0"/>
                                  <a:cs typeface="DejaVu Math TeX Gyre" panose="02000503000000000000" charset="0"/>
                                </a:rPr>
                              </m:ctrlPr>
                            </m:eqArrPr>
                            <m:e>
                              <m:sSub>
                                <m:sSubPr>
                                  <m:ctrlPr>
                                    <a:rPr lang="en-US" altLang="zh-CN" sz="1600" i="1" dirty="0">
                                      <a:latin typeface="Cambria Math" panose="02040503050406030204" pitchFamily="18" charset="0"/>
                                      <a:cs typeface="DejaVu Math TeX Gyre" panose="02000503000000000000" charset="0"/>
                                    </a:rPr>
                                  </m:ctrlPr>
                                </m:sSubPr>
                                <m:e>
                                  <m:r>
                                    <a:rPr lang="en-US" altLang="zh-CN" sz="1600" i="1" dirty="0">
                                      <a:latin typeface="Cambria Math" panose="02040503050406030204" pitchFamily="18" charset="0"/>
                                      <a:cs typeface="DejaVu Math TeX Gyre" panose="02000503000000000000" charset="0"/>
                                    </a:rPr>
                                    <m:t>𝐻</m:t>
                                  </m:r>
                                </m:e>
                                <m:sub>
                                  <m:r>
                                    <a:rPr lang="en-US" altLang="zh-CN" sz="1600" i="1" dirty="0">
                                      <a:latin typeface="Cambria Math" panose="02040503050406030204" pitchFamily="18" charset="0"/>
                                      <a:cs typeface="DejaVu Math TeX Gyre" panose="02000503000000000000" charset="0"/>
                                    </a:rPr>
                                    <m:t>1</m:t>
                                  </m:r>
                                </m:sub>
                              </m:sSub>
                              <m:r>
                                <a:rPr lang="en-US" altLang="zh-CN" sz="1600" i="1" dirty="0">
                                  <a:latin typeface="Cambria Math" panose="02040503050406030204" pitchFamily="18" charset="0"/>
                                  <a:cs typeface="DejaVu Math TeX Gyre" panose="02000503000000000000" charset="0"/>
                                </a:rPr>
                                <m:t>:(</m:t>
                              </m:r>
                              <m:r>
                                <a:rPr lang="en-US" altLang="zh-CN" sz="1600" b="1" i="1" dirty="0">
                                  <a:latin typeface="Cambria Math" panose="02040503050406030204" pitchFamily="18" charset="0"/>
                                  <a:cs typeface="DejaVu Math TeX Gyre" panose="02000503000000000000" charset="0"/>
                                </a:rPr>
                                <m:t>𝒘</m:t>
                              </m:r>
                              <m:r>
                                <a:rPr lang="en-US" altLang="zh-CN" sz="1600" b="1" i="1" dirty="0">
                                  <a:latin typeface="Cambria Math" panose="02040503050406030204" pitchFamily="18" charset="0"/>
                                  <a:cs typeface="DejaVu Math TeX Gyre" panose="02000503000000000000" charset="0"/>
                                </a:rPr>
                                <m:t>·</m:t>
                              </m:r>
                              <m:sSub>
                                <m:sSubPr>
                                  <m:ctrlPr>
                                    <a:rPr lang="en-US" altLang="zh-CN" sz="1600" b="1" i="1" dirty="0">
                                      <a:latin typeface="Cambria Math" panose="02040503050406030204" pitchFamily="18" charset="0"/>
                                      <a:cs typeface="DejaVu Math TeX Gyre" panose="02000503000000000000" charset="0"/>
                                    </a:rPr>
                                  </m:ctrlPr>
                                </m:sSubPr>
                                <m:e>
                                  <m:r>
                                    <a:rPr lang="en-US" altLang="zh-CN" sz="1600" b="1" i="1" dirty="0">
                                      <a:latin typeface="Cambria Math" panose="02040503050406030204" pitchFamily="18" charset="0"/>
                                      <a:cs typeface="DejaVu Math TeX Gyre" panose="02000503000000000000" charset="0"/>
                                    </a:rPr>
                                    <m:t>𝒙</m:t>
                                  </m:r>
                                </m:e>
                                <m:sub>
                                  <m:r>
                                    <a:rPr lang="en-US" altLang="zh-CN" sz="1600" b="1" i="1" dirty="0">
                                      <a:latin typeface="Cambria Math" panose="02040503050406030204" pitchFamily="18" charset="0"/>
                                      <a:cs typeface="DejaVu Math TeX Gyre" panose="02000503000000000000" charset="0"/>
                                    </a:rPr>
                                    <m:t>𝒊</m:t>
                                  </m:r>
                                </m:sub>
                              </m:sSub>
                              <m:r>
                                <a:rPr lang="en-US" altLang="zh-CN" sz="1600" i="1" dirty="0">
                                  <a:latin typeface="Cambria Math" panose="02040503050406030204" pitchFamily="18" charset="0"/>
                                  <a:cs typeface="DejaVu Math TeX Gyre" panose="02000503000000000000" charset="0"/>
                                </a:rPr>
                                <m:t>)+</m:t>
                              </m:r>
                              <m:r>
                                <a:rPr lang="en-US" altLang="zh-CN" sz="1600" i="1" dirty="0">
                                  <a:latin typeface="Cambria Math" panose="02040503050406030204" pitchFamily="18" charset="0"/>
                                  <a:cs typeface="DejaVu Math TeX Gyre" panose="02000503000000000000" charset="0"/>
                                </a:rPr>
                                <m:t>𝑏</m:t>
                              </m:r>
                              <m:r>
                                <a:rPr lang="en-US" altLang="zh-CN" sz="1600" i="1" dirty="0">
                                  <a:latin typeface="Cambria Math" panose="02040503050406030204" pitchFamily="18" charset="0"/>
                                  <a:cs typeface="DejaVu Math TeX Gyre" panose="02000503000000000000" charset="0"/>
                                </a:rPr>
                                <m:t>=+1,</m:t>
                              </m:r>
                              <m:r>
                                <a:rPr lang="en-US" altLang="zh-CN" sz="1600" i="1" dirty="0">
                                  <a:latin typeface="Cambria Math" panose="02040503050406030204" pitchFamily="18" charset="0"/>
                                  <a:cs typeface="DejaVu Math TeX Gyre" panose="02000503000000000000" charset="0"/>
                                </a:rPr>
                                <m:t>𝑖𝑓</m:t>
                              </m:r>
                              <m:sSub>
                                <m:sSubPr>
                                  <m:ctrlPr>
                                    <a:rPr lang="en-US" altLang="zh-CN" sz="1600" i="1" dirty="0">
                                      <a:latin typeface="Cambria Math" panose="02040503050406030204" pitchFamily="18" charset="0"/>
                                      <a:cs typeface="DejaVu Math TeX Gyre" panose="02000503000000000000" charset="0"/>
                                    </a:rPr>
                                  </m:ctrlPr>
                                </m:sSubPr>
                                <m:e>
                                  <m:r>
                                    <a:rPr lang="en-US" altLang="zh-CN" sz="1600" i="1" dirty="0">
                                      <a:latin typeface="Cambria Math" panose="02040503050406030204" pitchFamily="18" charset="0"/>
                                      <a:cs typeface="DejaVu Math TeX Gyre" panose="02000503000000000000" charset="0"/>
                                    </a:rPr>
                                    <m:t>𝑦</m:t>
                                  </m:r>
                                </m:e>
                                <m:sub>
                                  <m:r>
                                    <a:rPr lang="en-US" altLang="zh-CN" sz="1600" i="1" dirty="0">
                                      <a:latin typeface="Cambria Math" panose="02040503050406030204" pitchFamily="18" charset="0"/>
                                      <a:cs typeface="DejaVu Math TeX Gyre" panose="02000503000000000000" charset="0"/>
                                    </a:rPr>
                                    <m:t>𝑖</m:t>
                                  </m:r>
                                </m:sub>
                              </m:sSub>
                              <m:r>
                                <a:rPr lang="en-US" altLang="zh-CN" sz="1600" i="1" dirty="0">
                                  <a:latin typeface="Cambria Math" panose="02040503050406030204" pitchFamily="18" charset="0"/>
                                  <a:cs typeface="DejaVu Math TeX Gyre" panose="02000503000000000000" charset="0"/>
                                </a:rPr>
                                <m:t>=+1</m:t>
                              </m:r>
                            </m:e>
                            <m:e>
                              <m:sSub>
                                <m:sSubPr>
                                  <m:ctrlPr>
                                    <a:rPr lang="en-US" altLang="zh-CN" sz="1600" i="1" dirty="0">
                                      <a:latin typeface="Cambria Math" panose="02040503050406030204" pitchFamily="18" charset="0"/>
                                      <a:cs typeface="DejaVu Math TeX Gyre" panose="02000503000000000000" charset="0"/>
                                    </a:rPr>
                                  </m:ctrlPr>
                                </m:sSubPr>
                                <m:e>
                                  <m:r>
                                    <a:rPr lang="en-US" altLang="zh-CN" sz="1600" i="1" dirty="0">
                                      <a:latin typeface="Cambria Math" panose="02040503050406030204" pitchFamily="18" charset="0"/>
                                      <a:cs typeface="DejaVu Math TeX Gyre" panose="02000503000000000000" charset="0"/>
                                    </a:rPr>
                                    <m:t>𝐻</m:t>
                                  </m:r>
                                </m:e>
                                <m:sub>
                                  <m:r>
                                    <a:rPr lang="en-US" altLang="zh-CN" sz="1600" i="1" dirty="0">
                                      <a:latin typeface="Cambria Math" panose="02040503050406030204" pitchFamily="18" charset="0"/>
                                      <a:cs typeface="DejaVu Math TeX Gyre" panose="02000503000000000000" charset="0"/>
                                    </a:rPr>
                                    <m:t>2</m:t>
                                  </m:r>
                                </m:sub>
                              </m:sSub>
                              <m:r>
                                <a:rPr lang="en-US" altLang="zh-CN" sz="1600" i="1" dirty="0">
                                  <a:latin typeface="Cambria Math" panose="02040503050406030204" pitchFamily="18" charset="0"/>
                                  <a:cs typeface="DejaVu Math TeX Gyre" panose="02000503000000000000" charset="0"/>
                                </a:rPr>
                                <m:t>:(</m:t>
                              </m:r>
                              <m:r>
                                <a:rPr lang="en-US" altLang="zh-CN" sz="1600" b="1" i="1" dirty="0">
                                  <a:solidFill>
                                    <a:schemeClr val="tx1"/>
                                  </a:solidFill>
                                  <a:latin typeface="Cambria Math" panose="02040503050406030204" pitchFamily="18" charset="0"/>
                                  <a:cs typeface="DejaVu Math TeX Gyre" panose="02000503000000000000" charset="0"/>
                                </a:rPr>
                                <m:t>𝒘</m:t>
                              </m:r>
                              <m:r>
                                <a:rPr lang="en-US" altLang="zh-CN" sz="1600" b="1" i="1" dirty="0">
                                  <a:solidFill>
                                    <a:schemeClr val="tx1"/>
                                  </a:solidFill>
                                  <a:latin typeface="Cambria Math" panose="02040503050406030204" pitchFamily="18" charset="0"/>
                                  <a:cs typeface="DejaVu Math TeX Gyre" panose="02000503000000000000" charset="0"/>
                                </a:rPr>
                                <m:t>·</m:t>
                              </m:r>
                              <m:sSub>
                                <m:sSubPr>
                                  <m:ctrlPr>
                                    <a:rPr lang="en-US" altLang="zh-CN" sz="1600" b="1" i="1" dirty="0">
                                      <a:solidFill>
                                        <a:schemeClr val="tx1"/>
                                      </a:solidFill>
                                      <a:latin typeface="Cambria Math" panose="02040503050406030204" pitchFamily="18" charset="0"/>
                                      <a:cs typeface="DejaVu Math TeX Gyre" panose="02000503000000000000" charset="0"/>
                                    </a:rPr>
                                  </m:ctrlPr>
                                </m:sSubPr>
                                <m:e>
                                  <m:r>
                                    <a:rPr lang="en-US" altLang="zh-CN" sz="1600" b="1" i="1" dirty="0">
                                      <a:solidFill>
                                        <a:schemeClr val="tx1"/>
                                      </a:solidFill>
                                      <a:latin typeface="Cambria Math" panose="02040503050406030204" pitchFamily="18" charset="0"/>
                                      <a:cs typeface="DejaVu Math TeX Gyre" panose="02000503000000000000" charset="0"/>
                                    </a:rPr>
                                    <m:t>𝒙</m:t>
                                  </m:r>
                                </m:e>
                                <m:sub>
                                  <m:r>
                                    <a:rPr lang="en-US" altLang="zh-CN" sz="1600" b="1" i="1" dirty="0">
                                      <a:solidFill>
                                        <a:schemeClr val="tx1"/>
                                      </a:solidFill>
                                      <a:latin typeface="Cambria Math" panose="02040503050406030204" pitchFamily="18" charset="0"/>
                                      <a:cs typeface="DejaVu Math TeX Gyre" panose="02000503000000000000" charset="0"/>
                                    </a:rPr>
                                    <m:t>𝒊</m:t>
                                  </m:r>
                                </m:sub>
                              </m:sSub>
                              <m:r>
                                <a:rPr lang="en-US" altLang="zh-CN" sz="1600" i="1" dirty="0">
                                  <a:latin typeface="Cambria Math" panose="02040503050406030204" pitchFamily="18" charset="0"/>
                                  <a:cs typeface="DejaVu Math TeX Gyre" panose="02000503000000000000" charset="0"/>
                                </a:rPr>
                                <m:t>)+</m:t>
                              </m:r>
                              <m:r>
                                <a:rPr lang="en-US" altLang="zh-CN" sz="1600" i="1" dirty="0">
                                  <a:latin typeface="Cambria Math" panose="02040503050406030204" pitchFamily="18" charset="0"/>
                                  <a:cs typeface="DejaVu Math TeX Gyre" panose="02000503000000000000" charset="0"/>
                                </a:rPr>
                                <m:t>𝑏</m:t>
                              </m:r>
                              <m:r>
                                <a:rPr lang="en-US" altLang="zh-CN" sz="1600" i="1" dirty="0">
                                  <a:latin typeface="Cambria Math" panose="02040503050406030204" pitchFamily="18" charset="0"/>
                                  <a:cs typeface="DejaVu Math TeX Gyre" panose="02000503000000000000" charset="0"/>
                                </a:rPr>
                                <m:t>=−1,</m:t>
                              </m:r>
                              <m:r>
                                <a:rPr lang="en-US" altLang="zh-CN" sz="1600" i="1" dirty="0">
                                  <a:latin typeface="Cambria Math" panose="02040503050406030204" pitchFamily="18" charset="0"/>
                                  <a:cs typeface="DejaVu Math TeX Gyre" panose="02000503000000000000" charset="0"/>
                                </a:rPr>
                                <m:t>𝑖𝑓</m:t>
                              </m:r>
                              <m:sSub>
                                <m:sSubPr>
                                  <m:ctrlPr>
                                    <a:rPr lang="en-US" altLang="zh-CN" sz="1600" i="1" dirty="0">
                                      <a:latin typeface="Cambria Math" panose="02040503050406030204" pitchFamily="18" charset="0"/>
                                      <a:cs typeface="DejaVu Math TeX Gyre" panose="02000503000000000000" charset="0"/>
                                    </a:rPr>
                                  </m:ctrlPr>
                                </m:sSubPr>
                                <m:e>
                                  <m:r>
                                    <a:rPr lang="en-US" altLang="zh-CN" sz="1600" i="1" dirty="0">
                                      <a:latin typeface="Cambria Math" panose="02040503050406030204" pitchFamily="18" charset="0"/>
                                      <a:cs typeface="DejaVu Math TeX Gyre" panose="02000503000000000000" charset="0"/>
                                    </a:rPr>
                                    <m:t>𝑦</m:t>
                                  </m:r>
                                </m:e>
                                <m:sub>
                                  <m:r>
                                    <a:rPr lang="en-US" altLang="zh-CN" sz="1600" i="1" dirty="0">
                                      <a:latin typeface="Cambria Math" panose="02040503050406030204" pitchFamily="18" charset="0"/>
                                      <a:cs typeface="DejaVu Math TeX Gyre" panose="02000503000000000000" charset="0"/>
                                    </a:rPr>
                                    <m:t>𝑖</m:t>
                                  </m:r>
                                </m:sub>
                              </m:sSub>
                              <m:r>
                                <a:rPr lang="en-US" altLang="zh-CN" sz="1600" i="1" dirty="0">
                                  <a:latin typeface="Cambria Math" panose="02040503050406030204" pitchFamily="18" charset="0"/>
                                  <a:cs typeface="DejaVu Math TeX Gyre" panose="02000503000000000000" charset="0"/>
                                </a:rPr>
                                <m:t>=−1</m:t>
                              </m:r>
                            </m:e>
                          </m:eqArr>
                        </m:e>
                      </m:d>
                    </m:oMath>
                  </m:oMathPara>
                </a14:m>
                <a:endParaRPr lang="zh-CN" altLang="en-US" sz="1600" dirty="0">
                  <a:latin typeface="DejaVu Math TeX Gyre" panose="02000503000000000000" charset="0"/>
                  <a:cs typeface="DejaVu Math TeX Gyre" panose="02000503000000000000" charset="0"/>
                </a:endParaRPr>
              </a:p>
            </p:txBody>
          </p:sp>
        </mc:Choice>
        <mc:Fallback xmlns="">
          <p:sp>
            <p:nvSpPr>
              <p:cNvPr id="31" name="文本框 30"/>
              <p:cNvSpPr txBox="1">
                <a:spLocks noRot="1" noChangeAspect="1" noMove="1" noResize="1" noEditPoints="1" noAdjustHandles="1" noChangeArrowheads="1" noChangeShapeType="1" noTextEdit="1"/>
              </p:cNvSpPr>
              <p:nvPr/>
            </p:nvSpPr>
            <p:spPr>
              <a:xfrm>
                <a:off x="76200" y="1694180"/>
                <a:ext cx="6247765" cy="683895"/>
              </a:xfrm>
              <a:prstGeom prst="rect">
                <a:avLst/>
              </a:prstGeom>
              <a:blipFill rotWithShape="1">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本框 60"/>
              <p:cNvSpPr txBox="1"/>
              <p:nvPr/>
            </p:nvSpPr>
            <p:spPr>
              <a:xfrm>
                <a:off x="448945" y="2436495"/>
                <a:ext cx="6247765" cy="755650"/>
              </a:xfrm>
              <a:prstGeom prst="rect">
                <a:avLst/>
              </a:prstGeom>
              <a:noFill/>
            </p:spPr>
            <p:txBody>
              <a:bodyPr wrap="square" rtlCol="0">
                <a:spAutoFit/>
              </a:bodyPr>
              <a:lstStyle/>
              <a:p>
                <a:pPr algn="l">
                  <a:lnSpc>
                    <a:spcPct val="120000"/>
                  </a:lnSpc>
                </a:pPr>
                <a14:m>
                  <m:oMath xmlns:m="http://schemas.openxmlformats.org/officeDocument/2006/math">
                    <m:r>
                      <a:rPr lang="en-US" altLang="zh-CN" i="1" dirty="0">
                        <a:latin typeface="Cambria Math" panose="02040503050406030204" pitchFamily="18" charset="0"/>
                        <a:cs typeface="DejaVu Math TeX Gyre" panose="02000503000000000000" charset="0"/>
                      </a:rPr>
                      <m:t>∀</m:t>
                    </m:r>
                    <m:sSub>
                      <m:sSubPr>
                        <m:ctrlPr>
                          <a:rPr lang="en-US" altLang="zh-CN" b="1" i="1" dirty="0">
                            <a:latin typeface="Cambria Math" panose="02040503050406030204" pitchFamily="18" charset="0"/>
                            <a:cs typeface="DejaVu Math TeX Gyre" panose="02000503000000000000" charset="0"/>
                          </a:rPr>
                        </m:ctrlPr>
                      </m:sSubPr>
                      <m:e>
                        <m:r>
                          <a:rPr lang="en-US" altLang="zh-CN" b="1" i="1" dirty="0">
                            <a:latin typeface="Cambria Math" panose="02040503050406030204" pitchFamily="18" charset="0"/>
                            <a:cs typeface="DejaVu Math TeX Gyre" panose="02000503000000000000" charset="0"/>
                          </a:rPr>
                          <m:t>𝒙</m:t>
                        </m:r>
                      </m:e>
                      <m:sub>
                        <m:r>
                          <a:rPr lang="en-US" altLang="zh-CN" b="1" i="1" dirty="0">
                            <a:latin typeface="Cambria Math" panose="02040503050406030204" pitchFamily="18" charset="0"/>
                            <a:cs typeface="DejaVu Math TeX Gyre" panose="02000503000000000000" charset="0"/>
                          </a:rPr>
                          <m:t>𝒊</m:t>
                        </m:r>
                      </m:sub>
                    </m:sSub>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𝑋</m:t>
                    </m:r>
                  </m:oMath>
                </a14:m>
                <a:r>
                  <a:rPr lang="zh-CN" altLang="en-US" dirty="0">
                    <a:latin typeface="DejaVu Math TeX Gyre" panose="02000503000000000000" charset="0"/>
                    <a:cs typeface="DejaVu Math TeX Gyre" panose="02000503000000000000" charset="0"/>
                  </a:rPr>
                  <a:t>，有</a:t>
                </a:r>
                <a:r>
                  <a:rPr lang="en-US" altLang="zh-CN" dirty="0">
                    <a:latin typeface="DejaVu Math TeX Gyre" panose="02000503000000000000" charset="0"/>
                    <a:cs typeface="DejaVu Math TeX Gyre" panose="02000503000000000000" charset="0"/>
                  </a:rPr>
                  <a:t>:</a:t>
                </a:r>
              </a:p>
              <a:p>
                <a:pPr algn="l">
                  <a:lnSpc>
                    <a:spcPct val="120000"/>
                  </a:lnSpc>
                </a:pPr>
                <a:endParaRPr lang="en-US" altLang="zh-CN" dirty="0">
                  <a:latin typeface="DejaVu Math TeX Gyre" panose="02000503000000000000" charset="0"/>
                  <a:cs typeface="DejaVu Math TeX Gyre" panose="02000503000000000000" charset="0"/>
                </a:endParaRPr>
              </a:p>
            </p:txBody>
          </p:sp>
        </mc:Choice>
        <mc:Fallback xmlns="">
          <p:sp>
            <p:nvSpPr>
              <p:cNvPr id="61" name="文本框 60"/>
              <p:cNvSpPr txBox="1">
                <a:spLocks noRot="1" noChangeAspect="1" noMove="1" noResize="1" noEditPoints="1" noAdjustHandles="1" noChangeArrowheads="1" noChangeShapeType="1" noTextEdit="1"/>
              </p:cNvSpPr>
              <p:nvPr/>
            </p:nvSpPr>
            <p:spPr>
              <a:xfrm>
                <a:off x="448945" y="2436495"/>
                <a:ext cx="6247765" cy="755650"/>
              </a:xfrm>
              <a:prstGeom prst="rect">
                <a:avLst/>
              </a:prstGeom>
              <a:blipFill rotWithShape="1">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p:cNvSpPr txBox="1"/>
              <p:nvPr/>
            </p:nvSpPr>
            <p:spPr>
              <a:xfrm>
                <a:off x="-97790" y="2835275"/>
                <a:ext cx="6247765" cy="756285"/>
              </a:xfrm>
              <a:prstGeom prst="rect">
                <a:avLst/>
              </a:prstGeom>
              <a:noFill/>
            </p:spPr>
            <p:txBody>
              <a:bodyPr wrap="square" rtlCol="0">
                <a:spAutoFit/>
              </a:bodyPr>
              <a:lstStyle/>
              <a:p>
                <a:pPr algn="l">
                  <a:lnSpc>
                    <a:spcPct val="120000"/>
                  </a:lnSpc>
                </a:pPr>
                <a14:m>
                  <m:oMathPara xmlns:m="http://schemas.openxmlformats.org/officeDocument/2006/math">
                    <m:oMath>
                      <m:d>
                        <m:dPr>
                          <m:begChr m:val="{"/>
                          <m:endChr m:val=""/>
                          <m:ctrlPr>
                            <a:rPr lang="en-US" altLang="zh-CN" i="1" dirty="0">
                              <a:latin typeface="Cambria Math" panose="02040503050406030204" pitchFamily="18" charset="0"/>
                              <a:cs typeface="DejaVu Math TeX Gyre" panose="02000503000000000000" charset="0"/>
                            </a:rPr>
                          </m:ctrlPr>
                        </m:dPr>
                        <m:e>
                          <m:eqArr>
                            <m:eqArrPr>
                              <m:ctrlPr>
                                <a:rPr lang="en-US" altLang="zh-CN" i="1" dirty="0">
                                  <a:latin typeface="Cambria Math" panose="02040503050406030204" pitchFamily="18" charset="0"/>
                                  <a:cs typeface="DejaVu Math TeX Gyre" panose="02000503000000000000" charset="0"/>
                                </a:rPr>
                              </m:ctrlPr>
                            </m:eqArrPr>
                            <m:e>
                              <m:r>
                                <a:rPr lang="en-US" altLang="zh-CN" i="1" dirty="0">
                                  <a:latin typeface="Cambria Math" panose="02040503050406030204" pitchFamily="18" charset="0"/>
                                  <a:cs typeface="DejaVu Math TeX Gyre" panose="02000503000000000000" charset="0"/>
                                </a:rPr>
                                <m:t>(</m:t>
                              </m:r>
                              <m:r>
                                <a:rPr lang="en-US" altLang="zh-CN" b="1" i="1" dirty="0">
                                  <a:latin typeface="Cambria Math" panose="02040503050406030204" pitchFamily="18" charset="0"/>
                                  <a:cs typeface="DejaVu Math TeX Gyre" panose="02000503000000000000" charset="0"/>
                                </a:rPr>
                                <m:t>𝒘</m:t>
                              </m:r>
                              <m:r>
                                <a:rPr lang="en-US" altLang="zh-CN" b="1" i="1" dirty="0">
                                  <a:latin typeface="Cambria Math" panose="02040503050406030204" pitchFamily="18" charset="0"/>
                                  <a:cs typeface="DejaVu Math TeX Gyre" panose="02000503000000000000" charset="0"/>
                                </a:rPr>
                                <m:t>·</m:t>
                              </m:r>
                              <m:sSub>
                                <m:sSubPr>
                                  <m:ctrlPr>
                                    <a:rPr lang="en-US" altLang="zh-CN" b="1" i="1" dirty="0">
                                      <a:latin typeface="Cambria Math" panose="02040503050406030204" pitchFamily="18" charset="0"/>
                                      <a:cs typeface="DejaVu Math TeX Gyre" panose="02000503000000000000" charset="0"/>
                                    </a:rPr>
                                  </m:ctrlPr>
                                </m:sSubPr>
                                <m:e>
                                  <m:r>
                                    <a:rPr lang="en-US" altLang="zh-CN" b="1" i="1" dirty="0">
                                      <a:latin typeface="Cambria Math" panose="02040503050406030204" pitchFamily="18" charset="0"/>
                                      <a:cs typeface="DejaVu Math TeX Gyre" panose="02000503000000000000" charset="0"/>
                                    </a:rPr>
                                    <m:t>𝒙</m:t>
                                  </m:r>
                                </m:e>
                                <m:sub>
                                  <m:r>
                                    <a:rPr lang="en-US" altLang="zh-CN" b="1" i="1" dirty="0">
                                      <a:latin typeface="Cambria Math" panose="02040503050406030204" pitchFamily="18" charset="0"/>
                                      <a:cs typeface="DejaVu Math TeX Gyre" panose="02000503000000000000" charset="0"/>
                                    </a:rPr>
                                    <m:t>𝒊</m:t>
                                  </m:r>
                                </m:sub>
                              </m:sSub>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𝑏</m:t>
                              </m:r>
                              <m:r>
                                <a:rPr lang="en-US" altLang="zh-CN" i="1" dirty="0">
                                  <a:latin typeface="Cambria Math" panose="02040503050406030204" pitchFamily="18" charset="0"/>
                                  <a:cs typeface="DejaVu Math TeX Gyre" panose="02000503000000000000" charset="0"/>
                                </a:rPr>
                                <m:t>≥+1,</m:t>
                              </m:r>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𝑦</m:t>
                                  </m:r>
                                </m:e>
                                <m:sub>
                                  <m:r>
                                    <a:rPr lang="en-US" altLang="zh-CN" i="1" dirty="0">
                                      <a:latin typeface="Cambria Math" panose="02040503050406030204" pitchFamily="18" charset="0"/>
                                      <a:cs typeface="DejaVu Math TeX Gyre" panose="02000503000000000000" charset="0"/>
                                    </a:rPr>
                                    <m:t>𝑖</m:t>
                                  </m:r>
                                </m:sub>
                              </m:sSub>
                              <m:r>
                                <a:rPr lang="en-US" altLang="zh-CN" i="1" dirty="0">
                                  <a:latin typeface="Cambria Math" panose="02040503050406030204" pitchFamily="18" charset="0"/>
                                  <a:cs typeface="DejaVu Math TeX Gyre" panose="02000503000000000000" charset="0"/>
                                </a:rPr>
                                <m:t>=+1</m:t>
                              </m:r>
                            </m:e>
                            <m:e>
                              <m:r>
                                <a:rPr lang="en-US" altLang="zh-CN" i="1" dirty="0">
                                  <a:latin typeface="Cambria Math" panose="02040503050406030204" pitchFamily="18" charset="0"/>
                                  <a:cs typeface="DejaVu Math TeX Gyre" panose="02000503000000000000" charset="0"/>
                                </a:rPr>
                                <m:t>(</m:t>
                              </m:r>
                              <m:r>
                                <a:rPr lang="en-US" altLang="zh-CN" b="1" i="1" dirty="0">
                                  <a:latin typeface="Cambria Math" panose="02040503050406030204" pitchFamily="18" charset="0"/>
                                  <a:cs typeface="DejaVu Math TeX Gyre" panose="02000503000000000000" charset="0"/>
                                </a:rPr>
                                <m:t>𝒘</m:t>
                              </m:r>
                              <m:r>
                                <a:rPr lang="en-US" altLang="zh-CN" b="1" i="1" dirty="0">
                                  <a:latin typeface="Cambria Math" panose="02040503050406030204" pitchFamily="18" charset="0"/>
                                  <a:cs typeface="DejaVu Math TeX Gyre" panose="02000503000000000000" charset="0"/>
                                </a:rPr>
                                <m:t>·</m:t>
                              </m:r>
                              <m:sSub>
                                <m:sSubPr>
                                  <m:ctrlPr>
                                    <a:rPr lang="en-US" altLang="zh-CN" b="1" i="1" dirty="0">
                                      <a:latin typeface="Cambria Math" panose="02040503050406030204" pitchFamily="18" charset="0"/>
                                      <a:cs typeface="DejaVu Math TeX Gyre" panose="02000503000000000000" charset="0"/>
                                    </a:rPr>
                                  </m:ctrlPr>
                                </m:sSubPr>
                                <m:e>
                                  <m:r>
                                    <a:rPr lang="en-US" altLang="zh-CN" b="1" i="1" dirty="0">
                                      <a:latin typeface="Cambria Math" panose="02040503050406030204" pitchFamily="18" charset="0"/>
                                      <a:cs typeface="DejaVu Math TeX Gyre" panose="02000503000000000000" charset="0"/>
                                    </a:rPr>
                                    <m:t>𝒙</m:t>
                                  </m:r>
                                </m:e>
                                <m:sub>
                                  <m:r>
                                    <a:rPr lang="en-US" altLang="zh-CN" b="1" i="1" dirty="0">
                                      <a:latin typeface="Cambria Math" panose="02040503050406030204" pitchFamily="18" charset="0"/>
                                      <a:cs typeface="DejaVu Math TeX Gyre" panose="02000503000000000000" charset="0"/>
                                    </a:rPr>
                                    <m:t>𝒊</m:t>
                                  </m:r>
                                </m:sub>
                              </m:sSub>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𝑏</m:t>
                              </m:r>
                              <m:r>
                                <a:rPr lang="en-US" altLang="zh-CN" i="1" dirty="0">
                                  <a:latin typeface="Cambria Math" panose="02040503050406030204" pitchFamily="18" charset="0"/>
                                  <a:cs typeface="DejaVu Math TeX Gyre" panose="02000503000000000000" charset="0"/>
                                </a:rPr>
                                <m:t>≤−1,</m:t>
                              </m:r>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𝑦</m:t>
                                  </m:r>
                                </m:e>
                                <m:sub>
                                  <m:r>
                                    <a:rPr lang="en-US" altLang="zh-CN" i="1" dirty="0">
                                      <a:latin typeface="Cambria Math" panose="02040503050406030204" pitchFamily="18" charset="0"/>
                                      <a:cs typeface="DejaVu Math TeX Gyre" panose="02000503000000000000" charset="0"/>
                                    </a:rPr>
                                    <m:t>𝑖</m:t>
                                  </m:r>
                                </m:sub>
                              </m:sSub>
                              <m:r>
                                <a:rPr lang="en-US" altLang="zh-CN" i="1" dirty="0">
                                  <a:latin typeface="Cambria Math" panose="02040503050406030204" pitchFamily="18" charset="0"/>
                                  <a:cs typeface="DejaVu Math TeX Gyre" panose="02000503000000000000" charset="0"/>
                                </a:rPr>
                                <m:t>=−1</m:t>
                              </m:r>
                            </m:e>
                          </m:eqArr>
                        </m:e>
                      </m:d>
                    </m:oMath>
                  </m:oMathPara>
                </a14:m>
                <a:endParaRPr lang="en-US" altLang="zh-CN" dirty="0">
                  <a:latin typeface="DejaVu Math TeX Gyre" panose="02000503000000000000" charset="0"/>
                  <a:cs typeface="DejaVu Math TeX Gyre" panose="02000503000000000000" charset="0"/>
                </a:endParaRPr>
              </a:p>
            </p:txBody>
          </p:sp>
        </mc:Choice>
        <mc:Fallback xmlns="">
          <p:sp>
            <p:nvSpPr>
              <p:cNvPr id="62" name="文本框 61"/>
              <p:cNvSpPr txBox="1">
                <a:spLocks noRot="1" noChangeAspect="1" noMove="1" noResize="1" noEditPoints="1" noAdjustHandles="1" noChangeArrowheads="1" noChangeShapeType="1" noTextEdit="1"/>
              </p:cNvSpPr>
              <p:nvPr/>
            </p:nvSpPr>
            <p:spPr>
              <a:xfrm>
                <a:off x="-97790" y="2835275"/>
                <a:ext cx="6247765" cy="756285"/>
              </a:xfrm>
              <a:prstGeom prst="rect">
                <a:avLst/>
              </a:prstGeom>
              <a:blipFill rotWithShape="1">
                <a:blip r:embed="rId11"/>
                <a:stretch>
                  <a:fillRect/>
                </a:stretch>
              </a:blipFill>
            </p:spPr>
            <p:txBody>
              <a:bodyPr/>
              <a:lstStyle/>
              <a:p>
                <a:r>
                  <a:rPr lang="zh-CN" altLang="en-US">
                    <a:noFill/>
                  </a:rPr>
                  <a:t> </a:t>
                </a:r>
              </a:p>
            </p:txBody>
          </p:sp>
        </mc:Fallback>
      </mc:AlternateContent>
      <p:sp>
        <p:nvSpPr>
          <p:cNvPr id="63" name="文本框 62"/>
          <p:cNvSpPr txBox="1"/>
          <p:nvPr/>
        </p:nvSpPr>
        <p:spPr>
          <a:xfrm>
            <a:off x="514985" y="3525520"/>
            <a:ext cx="6247765" cy="755650"/>
          </a:xfrm>
          <a:prstGeom prst="rect">
            <a:avLst/>
          </a:prstGeom>
          <a:noFill/>
        </p:spPr>
        <p:txBody>
          <a:bodyPr wrap="square" rtlCol="0">
            <a:spAutoFit/>
          </a:bodyPr>
          <a:lstStyle/>
          <a:p>
            <a:pPr algn="l">
              <a:lnSpc>
                <a:spcPct val="120000"/>
              </a:lnSpc>
            </a:pPr>
            <a:r>
              <a:rPr lang="zh-CN" altLang="en-US" dirty="0">
                <a:latin typeface="DejaVu Math TeX Gyre" panose="02000503000000000000" charset="0"/>
                <a:cs typeface="DejaVu Math TeX Gyre" panose="02000503000000000000" charset="0"/>
              </a:rPr>
              <a:t>即</a:t>
            </a:r>
            <a:r>
              <a:rPr lang="en-US" altLang="zh-CN" dirty="0">
                <a:latin typeface="DejaVu Math TeX Gyre" panose="02000503000000000000" charset="0"/>
                <a:cs typeface="DejaVu Math TeX Gyre" panose="02000503000000000000" charset="0"/>
              </a:rPr>
              <a:t>:</a:t>
            </a:r>
          </a:p>
          <a:p>
            <a:pPr algn="l">
              <a:lnSpc>
                <a:spcPct val="120000"/>
              </a:lnSpc>
            </a:pPr>
            <a:endParaRPr lang="en-US" altLang="zh-CN" dirty="0">
              <a:latin typeface="DejaVu Math TeX Gyre" panose="02000503000000000000" charset="0"/>
              <a:cs typeface="DejaVu Math TeX Gyre" panose="02000503000000000000" charset="0"/>
            </a:endParaRPr>
          </a:p>
        </p:txBody>
      </p:sp>
      <mc:AlternateContent xmlns:mc="http://schemas.openxmlformats.org/markup-compatibility/2006" xmlns:a14="http://schemas.microsoft.com/office/drawing/2010/main">
        <mc:Choice Requires="a14">
          <p:sp>
            <p:nvSpPr>
              <p:cNvPr id="64" name="文本框 63"/>
              <p:cNvSpPr txBox="1"/>
              <p:nvPr/>
            </p:nvSpPr>
            <p:spPr>
              <a:xfrm>
                <a:off x="271145" y="3963670"/>
                <a:ext cx="6247765" cy="427355"/>
              </a:xfrm>
              <a:prstGeom prst="rect">
                <a:avLst/>
              </a:prstGeom>
              <a:noFill/>
            </p:spPr>
            <p:txBody>
              <a:bodyPr wrap="square" rtlCol="0">
                <a:spAutoFit/>
              </a:bodyPr>
              <a:lstStyle/>
              <a:p>
                <a:pPr algn="l">
                  <a:lnSpc>
                    <a:spcPct val="120000"/>
                  </a:lnSpc>
                </a:pPr>
                <a14:m>
                  <m:oMathPara xmlns:m="http://schemas.openxmlformats.org/officeDocument/2006/math">
                    <m:oMath>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𝑦</m:t>
                          </m:r>
                        </m:e>
                        <m:sub>
                          <m:r>
                            <a:rPr lang="en-US" altLang="zh-CN" i="1" dirty="0">
                              <a:latin typeface="Cambria Math" panose="02040503050406030204" pitchFamily="18" charset="0"/>
                              <a:cs typeface="DejaVu Math TeX Gyre" panose="02000503000000000000" charset="0"/>
                            </a:rPr>
                            <m:t>𝑖</m:t>
                          </m:r>
                        </m:sub>
                      </m:sSub>
                      <m:r>
                        <a:rPr lang="en-US" altLang="zh-CN" i="1" dirty="0">
                          <a:latin typeface="Cambria Math" panose="02040503050406030204" pitchFamily="18" charset="0"/>
                          <a:cs typeface="DejaVu Math TeX Gyre" panose="02000503000000000000" charset="0"/>
                        </a:rPr>
                        <m:t>((</m:t>
                      </m:r>
                      <m:r>
                        <a:rPr lang="en-US" altLang="zh-CN" b="1" i="1" dirty="0">
                          <a:latin typeface="Cambria Math" panose="02040503050406030204" pitchFamily="18" charset="0"/>
                          <a:cs typeface="DejaVu Math TeX Gyre" panose="02000503000000000000" charset="0"/>
                        </a:rPr>
                        <m:t>𝒘</m:t>
                      </m:r>
                      <m:r>
                        <a:rPr lang="en-US" altLang="zh-CN" b="1" i="1" dirty="0">
                          <a:latin typeface="Cambria Math" panose="02040503050406030204" pitchFamily="18" charset="0"/>
                          <a:cs typeface="DejaVu Math TeX Gyre" panose="02000503000000000000" charset="0"/>
                        </a:rPr>
                        <m:t>·</m:t>
                      </m:r>
                      <m:sSub>
                        <m:sSubPr>
                          <m:ctrlPr>
                            <a:rPr lang="en-US" altLang="zh-CN" b="1" i="1" dirty="0">
                              <a:latin typeface="Cambria Math" panose="02040503050406030204" pitchFamily="18" charset="0"/>
                              <a:cs typeface="DejaVu Math TeX Gyre" panose="02000503000000000000" charset="0"/>
                            </a:rPr>
                          </m:ctrlPr>
                        </m:sSubPr>
                        <m:e>
                          <m:r>
                            <a:rPr lang="en-US" altLang="zh-CN" b="1" i="1" dirty="0">
                              <a:latin typeface="Cambria Math" panose="02040503050406030204" pitchFamily="18" charset="0"/>
                              <a:cs typeface="DejaVu Math TeX Gyre" panose="02000503000000000000" charset="0"/>
                            </a:rPr>
                            <m:t>𝒙</m:t>
                          </m:r>
                        </m:e>
                        <m:sub>
                          <m:r>
                            <a:rPr lang="en-US" altLang="zh-CN" b="1" i="1" dirty="0">
                              <a:latin typeface="Cambria Math" panose="02040503050406030204" pitchFamily="18" charset="0"/>
                              <a:cs typeface="DejaVu Math TeX Gyre" panose="02000503000000000000" charset="0"/>
                            </a:rPr>
                            <m:t>𝒊</m:t>
                          </m:r>
                        </m:sub>
                      </m:sSub>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𝑏</m:t>
                      </m:r>
                      <m:r>
                        <a:rPr lang="en-US" altLang="zh-CN" i="1" dirty="0">
                          <a:latin typeface="Cambria Math" panose="02040503050406030204" pitchFamily="18" charset="0"/>
                          <a:cs typeface="DejaVu Math TeX Gyre" panose="02000503000000000000" charset="0"/>
                        </a:rPr>
                        <m:t>)−1≥0,</m:t>
                      </m:r>
                      <m:r>
                        <a:rPr lang="en-US" altLang="zh-CN" i="1" dirty="0">
                          <a:latin typeface="Cambria Math" panose="02040503050406030204" pitchFamily="18" charset="0"/>
                          <a:cs typeface="DejaVu Math TeX Gyre" panose="02000503000000000000" charset="0"/>
                        </a:rPr>
                        <m:t>𝑖</m:t>
                      </m:r>
                      <m:r>
                        <a:rPr lang="en-US" altLang="zh-CN" i="1" dirty="0">
                          <a:latin typeface="Cambria Math" panose="02040503050406030204" pitchFamily="18" charset="0"/>
                          <a:cs typeface="DejaVu Math TeX Gyre" panose="02000503000000000000" charset="0"/>
                        </a:rPr>
                        <m:t>=1,2,3,...,</m:t>
                      </m:r>
                      <m:r>
                        <a:rPr lang="en-US" altLang="zh-CN" i="1" dirty="0">
                          <a:latin typeface="Cambria Math" panose="02040503050406030204" pitchFamily="18" charset="0"/>
                          <a:cs typeface="DejaVu Math TeX Gyre" panose="02000503000000000000" charset="0"/>
                        </a:rPr>
                        <m:t>𝑛</m:t>
                      </m:r>
                    </m:oMath>
                  </m:oMathPara>
                </a14:m>
                <a:endParaRPr lang="en-US" altLang="zh-CN" dirty="0">
                  <a:latin typeface="DejaVu Math TeX Gyre" panose="02000503000000000000" charset="0"/>
                  <a:cs typeface="DejaVu Math TeX Gyre" panose="02000503000000000000" charset="0"/>
                </a:endParaRPr>
              </a:p>
            </p:txBody>
          </p:sp>
        </mc:Choice>
        <mc:Fallback xmlns="">
          <p:sp>
            <p:nvSpPr>
              <p:cNvPr id="64" name="文本框 63"/>
              <p:cNvSpPr txBox="1">
                <a:spLocks noRot="1" noChangeAspect="1" noMove="1" noResize="1" noEditPoints="1" noAdjustHandles="1" noChangeArrowheads="1" noChangeShapeType="1" noTextEdit="1"/>
              </p:cNvSpPr>
              <p:nvPr/>
            </p:nvSpPr>
            <p:spPr>
              <a:xfrm>
                <a:off x="271145" y="3963670"/>
                <a:ext cx="6247765" cy="427355"/>
              </a:xfrm>
              <a:prstGeom prst="rect">
                <a:avLst/>
              </a:prstGeom>
              <a:blipFill rotWithShape="1">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p:cNvSpPr txBox="1"/>
              <p:nvPr/>
            </p:nvSpPr>
            <p:spPr>
              <a:xfrm>
                <a:off x="271145" y="4473575"/>
                <a:ext cx="6247765" cy="755650"/>
              </a:xfrm>
              <a:prstGeom prst="rect">
                <a:avLst/>
              </a:prstGeom>
              <a:noFill/>
            </p:spPr>
            <p:txBody>
              <a:bodyPr wrap="square" rtlCol="0">
                <a:spAutoFit/>
              </a:bodyPr>
              <a:lstStyle/>
              <a:p>
                <a:pPr algn="l">
                  <a:lnSpc>
                    <a:spcPct val="120000"/>
                  </a:lnSpc>
                </a:pPr>
                <a:r>
                  <a:rPr lang="zh-CN" altLang="en-US" dirty="0">
                    <a:latin typeface="DejaVu Math TeX Gyre" panose="02000503000000000000" charset="0"/>
                    <a:cs typeface="DejaVu Math TeX Gyre" panose="02000503000000000000" charset="0"/>
                  </a:rPr>
                  <a:t>获取最优分类超平面</a:t>
                </a:r>
                <a14:m>
                  <m:oMath xmlns:m="http://schemas.openxmlformats.org/officeDocument/2006/math">
                    <m:r>
                      <a:rPr lang="en-US" altLang="zh-CN" i="1" dirty="0">
                        <a:latin typeface="Cambria Math" panose="02040503050406030204" pitchFamily="18" charset="0"/>
                        <a:cs typeface="DejaVu Math TeX Gyre" panose="02000503000000000000" charset="0"/>
                      </a:rPr>
                      <m:t>𝐻</m:t>
                    </m:r>
                  </m:oMath>
                </a14:m>
                <a:r>
                  <a:rPr lang="zh-CN" altLang="en-US" dirty="0">
                    <a:latin typeface="DejaVu Math TeX Gyre" panose="02000503000000000000" charset="0"/>
                    <a:cs typeface="DejaVu Math TeX Gyre" panose="02000503000000000000" charset="0"/>
                  </a:rPr>
                  <a:t>等价于</a:t>
                </a:r>
                <a:r>
                  <a:rPr lang="en-US" altLang="zh-CN" dirty="0">
                    <a:latin typeface="DejaVu Math TeX Gyre" panose="02000503000000000000" charset="0"/>
                    <a:cs typeface="DejaVu Math TeX Gyre" panose="02000503000000000000" charset="0"/>
                  </a:rPr>
                  <a:t>:</a:t>
                </a:r>
              </a:p>
              <a:p>
                <a:pPr algn="l">
                  <a:lnSpc>
                    <a:spcPct val="120000"/>
                  </a:lnSpc>
                </a:pPr>
                <a:endParaRPr lang="en-US" altLang="zh-CN" dirty="0">
                  <a:latin typeface="DejaVu Math TeX Gyre" panose="02000503000000000000" charset="0"/>
                  <a:cs typeface="DejaVu Math TeX Gyre" panose="02000503000000000000" charset="0"/>
                </a:endParaRPr>
              </a:p>
            </p:txBody>
          </p:sp>
        </mc:Choice>
        <mc:Fallback xmlns="">
          <p:sp>
            <p:nvSpPr>
              <p:cNvPr id="65" name="文本框 64"/>
              <p:cNvSpPr txBox="1">
                <a:spLocks noRot="1" noChangeAspect="1" noMove="1" noResize="1" noEditPoints="1" noAdjustHandles="1" noChangeArrowheads="1" noChangeShapeType="1" noTextEdit="1"/>
              </p:cNvSpPr>
              <p:nvPr/>
            </p:nvSpPr>
            <p:spPr>
              <a:xfrm>
                <a:off x="271145" y="4473575"/>
                <a:ext cx="6247765" cy="755650"/>
              </a:xfrm>
              <a:prstGeom prst="rect">
                <a:avLst/>
              </a:prstGeom>
              <a:blipFill rotWithShape="1">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文本框 65"/>
              <p:cNvSpPr txBox="1"/>
              <p:nvPr/>
            </p:nvSpPr>
            <p:spPr>
              <a:xfrm>
                <a:off x="448945" y="4996180"/>
                <a:ext cx="6247765" cy="1087120"/>
              </a:xfrm>
              <a:prstGeom prst="rect">
                <a:avLst/>
              </a:prstGeom>
              <a:noFill/>
            </p:spPr>
            <p:txBody>
              <a:bodyPr wrap="square" rtlCol="0">
                <a:spAutoFit/>
              </a:bodyPr>
              <a:lstStyle/>
              <a:p>
                <a:pPr algn="l">
                  <a:lnSpc>
                    <a:spcPct val="120000"/>
                  </a:lnSpc>
                </a:pPr>
                <a14:m>
                  <m:oMathPara xmlns:m="http://schemas.openxmlformats.org/officeDocument/2006/math">
                    <m:oMath>
                      <m:d>
                        <m:dPr>
                          <m:begChr m:val="{"/>
                          <m:endChr m:val=""/>
                          <m:ctrlPr>
                            <a:rPr lang="en-US" altLang="zh-CN" i="1" dirty="0">
                              <a:latin typeface="Cambria Math" panose="02040503050406030204" pitchFamily="18" charset="0"/>
                              <a:cs typeface="DejaVu Math TeX Gyre" panose="02000503000000000000" charset="0"/>
                            </a:rPr>
                          </m:ctrlPr>
                        </m:dPr>
                        <m:e>
                          <m:eqArr>
                            <m:eqArrPr>
                              <m:ctrlPr>
                                <a:rPr lang="en-US" altLang="zh-CN" i="1" dirty="0">
                                  <a:latin typeface="Cambria Math" panose="02040503050406030204" pitchFamily="18" charset="0"/>
                                  <a:cs typeface="DejaVu Math TeX Gyre" panose="02000503000000000000" charset="0"/>
                                </a:rPr>
                              </m:ctrlPr>
                            </m:eqArrPr>
                            <m:e>
                              <m:r>
                                <a:rPr lang="en-US" altLang="zh-CN" i="1" dirty="0">
                                  <a:latin typeface="Cambria Math" panose="02040503050406030204" pitchFamily="18" charset="0"/>
                                  <a:cs typeface="DejaVu Math TeX Gyre" panose="02000503000000000000" charset="0"/>
                                </a:rPr>
                                <m:t>𝑚𝑖𝑛</m:t>
                              </m:r>
                              <m:r>
                                <a:rPr lang="en-US" altLang="zh-CN" i="1" dirty="0">
                                  <a:latin typeface="Cambria Math" panose="02040503050406030204" pitchFamily="18" charset="0"/>
                                  <a:cs typeface="DejaVu Math TeX Gyre" panose="02000503000000000000" charset="0"/>
                                </a:rPr>
                                <m:t>(</m:t>
                              </m:r>
                              <m:f>
                                <m:fPr>
                                  <m:ctrlPr>
                                    <a:rPr lang="en-US" altLang="zh-CN" i="1" dirty="0">
                                      <a:latin typeface="Cambria Math" panose="02040503050406030204" pitchFamily="18" charset="0"/>
                                      <a:cs typeface="DejaVu Math TeX Gyre" panose="02000503000000000000" charset="0"/>
                                    </a:rPr>
                                  </m:ctrlPr>
                                </m:fPr>
                                <m:num>
                                  <m:r>
                                    <a:rPr lang="en-US" altLang="zh-CN" i="1" dirty="0">
                                      <a:latin typeface="Cambria Math" panose="02040503050406030204" pitchFamily="18" charset="0"/>
                                      <a:cs typeface="DejaVu Math TeX Gyre" panose="02000503000000000000" charset="0"/>
                                    </a:rPr>
                                    <m:t>1</m:t>
                                  </m:r>
                                </m:num>
                                <m:den>
                                  <m:r>
                                    <a:rPr lang="en-US" altLang="zh-CN" i="1" dirty="0">
                                      <a:latin typeface="Cambria Math" panose="02040503050406030204" pitchFamily="18" charset="0"/>
                                      <a:cs typeface="DejaVu Math TeX Gyre" panose="02000503000000000000" charset="0"/>
                                    </a:rPr>
                                    <m:t>2</m:t>
                                  </m:r>
                                </m:den>
                              </m:f>
                              <m:sSup>
                                <m:sSupPr>
                                  <m:ctrlPr>
                                    <a:rPr lang="en-US" altLang="zh-CN" b="1" i="1" dirty="0">
                                      <a:latin typeface="Cambria Math" panose="02040503050406030204" pitchFamily="18" charset="0"/>
                                      <a:cs typeface="DejaVu Math TeX Gyre" panose="02000503000000000000" charset="0"/>
                                    </a:rPr>
                                  </m:ctrlPr>
                                </m:sSupPr>
                                <m:e>
                                  <m:r>
                                    <a:rPr lang="en-US" altLang="zh-CN" b="1" i="1" dirty="0">
                                      <a:latin typeface="Cambria Math" panose="02040503050406030204" pitchFamily="18" charset="0"/>
                                      <a:cs typeface="DejaVu Math TeX Gyre" panose="02000503000000000000" charset="0"/>
                                    </a:rPr>
                                    <m:t>𝒘</m:t>
                                  </m:r>
                                </m:e>
                                <m:sup>
                                  <m:r>
                                    <a:rPr lang="en-US" altLang="zh-CN" i="1" dirty="0">
                                      <a:latin typeface="Cambria Math" panose="02040503050406030204" pitchFamily="18" charset="0"/>
                                      <a:cs typeface="DejaVu Math TeX Gyre" panose="02000503000000000000" charset="0"/>
                                    </a:rPr>
                                    <m:t>2</m:t>
                                  </m:r>
                                </m:sup>
                              </m:sSup>
                              <m:r>
                                <a:rPr lang="en-US" altLang="zh-CN" i="1" dirty="0">
                                  <a:latin typeface="Cambria Math" panose="02040503050406030204" pitchFamily="18" charset="0"/>
                                  <a:cs typeface="DejaVu Math TeX Gyre" panose="02000503000000000000" charset="0"/>
                                </a:rPr>
                                <m:t>)</m:t>
                              </m:r>
                            </m:e>
                            <m:e>
                              <m:r>
                                <a:rPr lang="en-US" altLang="zh-CN" i="1" dirty="0">
                                  <a:latin typeface="Cambria Math" panose="02040503050406030204" pitchFamily="18" charset="0"/>
                                  <a:cs typeface="DejaVu Math TeX Gyre" panose="02000503000000000000" charset="0"/>
                                </a:rPr>
                                <m:t>𝑠</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𝑡</m:t>
                              </m:r>
                              <m:r>
                                <a:rPr lang="en-US" altLang="zh-CN" i="1" dirty="0">
                                  <a:latin typeface="Cambria Math" panose="02040503050406030204" pitchFamily="18" charset="0"/>
                                  <a:cs typeface="DejaVu Math TeX Gyre" panose="02000503000000000000" charset="0"/>
                                </a:rPr>
                                <m:t>.</m:t>
                              </m:r>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𝑦</m:t>
                                  </m:r>
                                </m:e>
                                <m:sub>
                                  <m:r>
                                    <a:rPr lang="en-US" altLang="zh-CN" i="1" dirty="0">
                                      <a:latin typeface="Cambria Math" panose="02040503050406030204" pitchFamily="18" charset="0"/>
                                      <a:cs typeface="DejaVu Math TeX Gyre" panose="02000503000000000000" charset="0"/>
                                    </a:rPr>
                                    <m:t>𝑖</m:t>
                                  </m:r>
                                </m:sub>
                              </m:sSub>
                              <m:r>
                                <a:rPr lang="en-US" altLang="zh-CN" i="1" dirty="0">
                                  <a:latin typeface="Cambria Math" panose="02040503050406030204" pitchFamily="18" charset="0"/>
                                  <a:cs typeface="DejaVu Math TeX Gyre" panose="02000503000000000000" charset="0"/>
                                </a:rPr>
                                <m:t>(</m:t>
                              </m:r>
                              <m:r>
                                <a:rPr lang="en-US" altLang="zh-CN" b="1" i="1" dirty="0">
                                  <a:latin typeface="Cambria Math" panose="02040503050406030204" pitchFamily="18" charset="0"/>
                                  <a:cs typeface="DejaVu Math TeX Gyre" panose="02000503000000000000" charset="0"/>
                                </a:rPr>
                                <m:t>𝒘</m:t>
                              </m:r>
                              <m:r>
                                <a:rPr lang="en-US" altLang="zh-CN" b="1" i="1" dirty="0">
                                  <a:latin typeface="Cambria Math" panose="02040503050406030204" pitchFamily="18" charset="0"/>
                                  <a:cs typeface="DejaVu Math TeX Gyre" panose="02000503000000000000" charset="0"/>
                                </a:rPr>
                                <m:t>·</m:t>
                              </m:r>
                              <m:sSub>
                                <m:sSubPr>
                                  <m:ctrlPr>
                                    <a:rPr lang="en-US" altLang="zh-CN" b="1" i="1" dirty="0">
                                      <a:latin typeface="Cambria Math" panose="02040503050406030204" pitchFamily="18" charset="0"/>
                                      <a:cs typeface="DejaVu Math TeX Gyre" panose="02000503000000000000" charset="0"/>
                                    </a:rPr>
                                  </m:ctrlPr>
                                </m:sSubPr>
                                <m:e>
                                  <m:r>
                                    <a:rPr lang="en-US" altLang="zh-CN" b="1" i="1" dirty="0">
                                      <a:latin typeface="Cambria Math" panose="02040503050406030204" pitchFamily="18" charset="0"/>
                                      <a:cs typeface="DejaVu Math TeX Gyre" panose="02000503000000000000" charset="0"/>
                                    </a:rPr>
                                    <m:t>𝒙</m:t>
                                  </m:r>
                                </m:e>
                                <m:sub>
                                  <m:r>
                                    <a:rPr lang="en-US" altLang="zh-CN" b="1" i="1" dirty="0">
                                      <a:latin typeface="Cambria Math" panose="02040503050406030204" pitchFamily="18" charset="0"/>
                                      <a:cs typeface="DejaVu Math TeX Gyre" panose="02000503000000000000" charset="0"/>
                                    </a:rPr>
                                    <m:t>𝒊</m:t>
                                  </m:r>
                                </m:sub>
                              </m:sSub>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𝑏</m:t>
                              </m:r>
                              <m:r>
                                <a:rPr lang="en-US" altLang="zh-CN" i="1" dirty="0">
                                  <a:latin typeface="Cambria Math" panose="02040503050406030204" pitchFamily="18" charset="0"/>
                                  <a:cs typeface="DejaVu Math TeX Gyre" panose="02000503000000000000" charset="0"/>
                                </a:rPr>
                                <m:t>−1≥0,</m:t>
                              </m:r>
                              <m:r>
                                <a:rPr lang="en-US" altLang="zh-CN" i="1" dirty="0">
                                  <a:latin typeface="Cambria Math" panose="02040503050406030204" pitchFamily="18" charset="0"/>
                                  <a:cs typeface="DejaVu Math TeX Gyre" panose="02000503000000000000" charset="0"/>
                                </a:rPr>
                                <m:t>𝑖</m:t>
                              </m:r>
                              <m:r>
                                <a:rPr lang="en-US" altLang="zh-CN" i="1" dirty="0">
                                  <a:latin typeface="Cambria Math" panose="02040503050406030204" pitchFamily="18" charset="0"/>
                                  <a:cs typeface="DejaVu Math TeX Gyre" panose="02000503000000000000" charset="0"/>
                                </a:rPr>
                                <m:t>=1,2,3,...,</m:t>
                              </m:r>
                              <m:r>
                                <a:rPr lang="en-US" altLang="zh-CN" i="1" dirty="0">
                                  <a:latin typeface="Cambria Math" panose="02040503050406030204" pitchFamily="18" charset="0"/>
                                  <a:cs typeface="DejaVu Math TeX Gyre" panose="02000503000000000000" charset="0"/>
                                </a:rPr>
                                <m:t>𝑛</m:t>
                              </m:r>
                            </m:e>
                          </m:eqArr>
                        </m:e>
                      </m:d>
                    </m:oMath>
                  </m:oMathPara>
                </a14:m>
                <a:endParaRPr lang="en-US" altLang="zh-CN" dirty="0">
                  <a:latin typeface="DejaVu Math TeX Gyre" panose="02000503000000000000" charset="0"/>
                  <a:cs typeface="DejaVu Math TeX Gyre" panose="02000503000000000000" charset="0"/>
                </a:endParaRPr>
              </a:p>
            </p:txBody>
          </p:sp>
        </mc:Choice>
        <mc:Fallback xmlns="">
          <p:sp>
            <p:nvSpPr>
              <p:cNvPr id="66" name="文本框 65"/>
              <p:cNvSpPr txBox="1">
                <a:spLocks noRot="1" noChangeAspect="1" noMove="1" noResize="1" noEditPoints="1" noAdjustHandles="1" noChangeArrowheads="1" noChangeShapeType="1" noTextEdit="1"/>
              </p:cNvSpPr>
              <p:nvPr/>
            </p:nvSpPr>
            <p:spPr>
              <a:xfrm>
                <a:off x="448945" y="4996180"/>
                <a:ext cx="6247765" cy="1087120"/>
              </a:xfrm>
              <a:prstGeom prst="rect">
                <a:avLst/>
              </a:prstGeom>
              <a:blipFill rotWithShape="1">
                <a:blip r:embed="rId14"/>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939798"/>
            <a:ext cx="5022850" cy="625474"/>
            <a:chOff x="0" y="1075267"/>
            <a:chExt cx="5022850"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4137025" cy="460375"/>
            </a:xfrm>
            <a:prstGeom prst="rect">
              <a:avLst/>
            </a:prstGeom>
            <a:noFill/>
          </p:spPr>
          <p:txBody>
            <a:bodyPr wrap="square">
              <a:spAutoFit/>
            </a:bodyPr>
            <a:lstStyle/>
            <a:p>
              <a:r>
                <a:rPr lang="en-US" altLang="zh-CN" sz="2400" b="1" dirty="0">
                  <a:solidFill>
                    <a:schemeClr val="accent1"/>
                  </a:solidFill>
                  <a:latin typeface="+mj-lt"/>
                  <a:sym typeface="+mn-ea"/>
                </a:rPr>
                <a:t>5.2.3 </a:t>
              </a:r>
              <a:r>
                <a:rPr lang="zh-CN" altLang="en-US" sz="2400" b="1" dirty="0">
                  <a:solidFill>
                    <a:schemeClr val="accent1"/>
                  </a:solidFill>
                  <a:latin typeface="+mj-lt"/>
                  <a:sym typeface="+mn-ea"/>
                </a:rPr>
                <a:t>支持向量机避障策略</a:t>
              </a:r>
              <a:endParaRPr lang="zh-CN" altLang="en-US" sz="2400" b="1" dirty="0">
                <a:solidFill>
                  <a:schemeClr val="accent1"/>
                </a:solidFill>
                <a:latin typeface="+mj-lt"/>
              </a:endParaRPr>
            </a:p>
          </p:txBody>
        </p:sp>
      </p:grpSp>
      <mc:AlternateContent xmlns:mc="http://schemas.openxmlformats.org/markup-compatibility/2006" xmlns:a14="http://schemas.microsoft.com/office/drawing/2010/main">
        <mc:Choice Requires="a14">
          <p:sp>
            <p:nvSpPr>
              <p:cNvPr id="50" name="文本框 49"/>
              <p:cNvSpPr txBox="1"/>
              <p:nvPr/>
            </p:nvSpPr>
            <p:spPr>
              <a:xfrm>
                <a:off x="-167640" y="1643380"/>
                <a:ext cx="5852160" cy="957580"/>
              </a:xfrm>
              <a:prstGeom prst="rect">
                <a:avLst/>
              </a:prstGeom>
              <a:noFill/>
            </p:spPr>
            <p:txBody>
              <a:bodyPr wrap="square" rtlCol="0">
                <a:noAutofit/>
              </a:bodyPr>
              <a:lstStyle/>
              <a:p>
                <a:pPr algn="l">
                  <a:lnSpc>
                    <a:spcPct val="120000"/>
                  </a:lnSpc>
                </a:pPr>
                <a14:m>
                  <m:oMathPara xmlns:m="http://schemas.openxmlformats.org/officeDocument/2006/math">
                    <m:oMath>
                      <m:d>
                        <m:dPr>
                          <m:begChr m:val="{"/>
                          <m:endChr m:val=""/>
                          <m:ctrlPr>
                            <a:rPr lang="en-US" altLang="zh-CN" i="1" dirty="0">
                              <a:latin typeface="Cambria Math" panose="02040503050406030204" pitchFamily="18" charset="0"/>
                              <a:cs typeface="DejaVu Math TeX Gyre" panose="02000503000000000000" charset="0"/>
                            </a:rPr>
                          </m:ctrlPr>
                        </m:dPr>
                        <m:e>
                          <m:eqArr>
                            <m:eqArrPr>
                              <m:ctrlPr>
                                <a:rPr lang="en-US" altLang="zh-CN" i="1" dirty="0">
                                  <a:latin typeface="Cambria Math" panose="02040503050406030204" pitchFamily="18" charset="0"/>
                                  <a:cs typeface="DejaVu Math TeX Gyre" panose="02000503000000000000" charset="0"/>
                                </a:rPr>
                              </m:ctrlPr>
                            </m:eqArrPr>
                            <m:e>
                              <m:r>
                                <a:rPr lang="en-US" altLang="zh-CN" i="1" dirty="0">
                                  <a:latin typeface="Cambria Math" panose="02040503050406030204" pitchFamily="18" charset="0"/>
                                  <a:cs typeface="DejaVu Math TeX Gyre" panose="02000503000000000000" charset="0"/>
                                </a:rPr>
                                <m:t>𝑚𝑖𝑛</m:t>
                              </m:r>
                              <m:r>
                                <a:rPr lang="en-US" altLang="zh-CN" i="1" dirty="0">
                                  <a:latin typeface="Cambria Math" panose="02040503050406030204" pitchFamily="18" charset="0"/>
                                  <a:cs typeface="DejaVu Math TeX Gyre" panose="02000503000000000000" charset="0"/>
                                </a:rPr>
                                <m:t>(</m:t>
                              </m:r>
                              <m:f>
                                <m:fPr>
                                  <m:ctrlPr>
                                    <a:rPr lang="en-US" altLang="zh-CN" i="1" dirty="0">
                                      <a:latin typeface="Cambria Math" panose="02040503050406030204" pitchFamily="18" charset="0"/>
                                      <a:cs typeface="DejaVu Math TeX Gyre" panose="02000503000000000000" charset="0"/>
                                    </a:rPr>
                                  </m:ctrlPr>
                                </m:fPr>
                                <m:num>
                                  <m:r>
                                    <a:rPr lang="en-US" altLang="zh-CN" i="1" dirty="0">
                                      <a:latin typeface="Cambria Math" panose="02040503050406030204" pitchFamily="18" charset="0"/>
                                      <a:cs typeface="DejaVu Math TeX Gyre" panose="02000503000000000000" charset="0"/>
                                    </a:rPr>
                                    <m:t>1</m:t>
                                  </m:r>
                                </m:num>
                                <m:den>
                                  <m:r>
                                    <a:rPr lang="en-US" altLang="zh-CN" i="1" dirty="0">
                                      <a:latin typeface="Cambria Math" panose="02040503050406030204" pitchFamily="18" charset="0"/>
                                      <a:cs typeface="DejaVu Math TeX Gyre" panose="02000503000000000000" charset="0"/>
                                    </a:rPr>
                                    <m:t>2</m:t>
                                  </m:r>
                                </m:den>
                              </m:f>
                              <m:sSup>
                                <m:sSupPr>
                                  <m:ctrlPr>
                                    <a:rPr lang="en-US" altLang="zh-CN" b="1" i="1" dirty="0">
                                      <a:latin typeface="Cambria Math" panose="02040503050406030204" pitchFamily="18" charset="0"/>
                                      <a:cs typeface="DejaVu Math TeX Gyre" panose="02000503000000000000" charset="0"/>
                                    </a:rPr>
                                  </m:ctrlPr>
                                </m:sSupPr>
                                <m:e>
                                  <m:r>
                                    <a:rPr lang="en-US" altLang="zh-CN" b="1" i="1" dirty="0">
                                      <a:latin typeface="Cambria Math" panose="02040503050406030204" pitchFamily="18" charset="0"/>
                                      <a:cs typeface="DejaVu Math TeX Gyre" panose="02000503000000000000" charset="0"/>
                                    </a:rPr>
                                    <m:t>𝒘</m:t>
                                  </m:r>
                                </m:e>
                                <m:sup>
                                  <m:r>
                                    <a:rPr lang="en-US" altLang="zh-CN" i="1" dirty="0">
                                      <a:latin typeface="Cambria Math" panose="02040503050406030204" pitchFamily="18" charset="0"/>
                                      <a:cs typeface="DejaVu Math TeX Gyre" panose="02000503000000000000" charset="0"/>
                                    </a:rPr>
                                    <m:t>2</m:t>
                                  </m:r>
                                </m:sup>
                              </m:sSup>
                              <m:r>
                                <a:rPr lang="en-US" altLang="zh-CN" i="1" dirty="0">
                                  <a:latin typeface="Cambria Math" panose="02040503050406030204" pitchFamily="18" charset="0"/>
                                  <a:cs typeface="DejaVu Math TeX Gyre" panose="02000503000000000000" charset="0"/>
                                </a:rPr>
                                <m:t>)</m:t>
                              </m:r>
                            </m:e>
                            <m:e>
                              <m:r>
                                <a:rPr lang="en-US" altLang="zh-CN" i="1" dirty="0">
                                  <a:latin typeface="Cambria Math" panose="02040503050406030204" pitchFamily="18" charset="0"/>
                                  <a:cs typeface="DejaVu Math TeX Gyre" panose="02000503000000000000" charset="0"/>
                                </a:rPr>
                                <m:t>𝑠</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𝑡</m:t>
                              </m:r>
                              <m:r>
                                <a:rPr lang="en-US" altLang="zh-CN" i="1" dirty="0">
                                  <a:latin typeface="Cambria Math" panose="02040503050406030204" pitchFamily="18" charset="0"/>
                                  <a:cs typeface="DejaVu Math TeX Gyre" panose="02000503000000000000" charset="0"/>
                                </a:rPr>
                                <m:t>.</m:t>
                              </m:r>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𝑦</m:t>
                                  </m:r>
                                </m:e>
                                <m:sub>
                                  <m:r>
                                    <a:rPr lang="en-US" altLang="zh-CN" i="1" dirty="0">
                                      <a:latin typeface="Cambria Math" panose="02040503050406030204" pitchFamily="18" charset="0"/>
                                      <a:cs typeface="DejaVu Math TeX Gyre" panose="02000503000000000000" charset="0"/>
                                    </a:rPr>
                                    <m:t>𝑖</m:t>
                                  </m:r>
                                </m:sub>
                              </m:sSub>
                              <m:r>
                                <a:rPr lang="en-US" altLang="zh-CN" i="1" dirty="0">
                                  <a:latin typeface="Cambria Math" panose="02040503050406030204" pitchFamily="18" charset="0"/>
                                  <a:cs typeface="DejaVu Math TeX Gyre" panose="02000503000000000000" charset="0"/>
                                </a:rPr>
                                <m:t>(</m:t>
                              </m:r>
                              <m:r>
                                <a:rPr lang="en-US" altLang="zh-CN" b="1" i="1" dirty="0">
                                  <a:latin typeface="Cambria Math" panose="02040503050406030204" pitchFamily="18" charset="0"/>
                                  <a:cs typeface="DejaVu Math TeX Gyre" panose="02000503000000000000" charset="0"/>
                                </a:rPr>
                                <m:t>𝒘</m:t>
                              </m:r>
                              <m:r>
                                <a:rPr lang="en-US" altLang="zh-CN" b="1" i="1" dirty="0">
                                  <a:latin typeface="Cambria Math" panose="02040503050406030204" pitchFamily="18" charset="0"/>
                                  <a:cs typeface="DejaVu Math TeX Gyre" panose="02000503000000000000" charset="0"/>
                                </a:rPr>
                                <m:t>·</m:t>
                              </m:r>
                              <m:sSub>
                                <m:sSubPr>
                                  <m:ctrlPr>
                                    <a:rPr lang="en-US" altLang="zh-CN" b="1" i="1" dirty="0">
                                      <a:latin typeface="Cambria Math" panose="02040503050406030204" pitchFamily="18" charset="0"/>
                                      <a:cs typeface="DejaVu Math TeX Gyre" panose="02000503000000000000" charset="0"/>
                                    </a:rPr>
                                  </m:ctrlPr>
                                </m:sSubPr>
                                <m:e>
                                  <m:r>
                                    <a:rPr lang="en-US" altLang="zh-CN" b="1" i="1" dirty="0">
                                      <a:latin typeface="Cambria Math" panose="02040503050406030204" pitchFamily="18" charset="0"/>
                                      <a:cs typeface="DejaVu Math TeX Gyre" panose="02000503000000000000" charset="0"/>
                                    </a:rPr>
                                    <m:t>𝒙</m:t>
                                  </m:r>
                                </m:e>
                                <m:sub>
                                  <m:r>
                                    <a:rPr lang="en-US" altLang="zh-CN" b="1" i="1" dirty="0">
                                      <a:latin typeface="Cambria Math" panose="02040503050406030204" pitchFamily="18" charset="0"/>
                                      <a:cs typeface="DejaVu Math TeX Gyre" panose="02000503000000000000" charset="0"/>
                                    </a:rPr>
                                    <m:t>𝒊</m:t>
                                  </m:r>
                                </m:sub>
                              </m:sSub>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𝑏</m:t>
                              </m:r>
                              <m:r>
                                <a:rPr lang="en-US" altLang="zh-CN" i="1" dirty="0">
                                  <a:latin typeface="Cambria Math" panose="02040503050406030204" pitchFamily="18" charset="0"/>
                                  <a:cs typeface="DejaVu Math TeX Gyre" panose="02000503000000000000" charset="0"/>
                                </a:rPr>
                                <m:t>−1≥0,</m:t>
                              </m:r>
                              <m:r>
                                <a:rPr lang="en-US" altLang="zh-CN" i="1" dirty="0">
                                  <a:latin typeface="Cambria Math" panose="02040503050406030204" pitchFamily="18" charset="0"/>
                                  <a:cs typeface="DejaVu Math TeX Gyre" panose="02000503000000000000" charset="0"/>
                                </a:rPr>
                                <m:t>𝑖</m:t>
                              </m:r>
                              <m:r>
                                <a:rPr lang="en-US" altLang="zh-CN" i="1" dirty="0">
                                  <a:latin typeface="Cambria Math" panose="02040503050406030204" pitchFamily="18" charset="0"/>
                                  <a:cs typeface="DejaVu Math TeX Gyre" panose="02000503000000000000" charset="0"/>
                                </a:rPr>
                                <m:t>=1,2,3,...,</m:t>
                              </m:r>
                              <m:r>
                                <a:rPr lang="en-US" altLang="zh-CN" i="1" dirty="0">
                                  <a:latin typeface="Cambria Math" panose="02040503050406030204" pitchFamily="18" charset="0"/>
                                  <a:cs typeface="DejaVu Math TeX Gyre" panose="02000503000000000000" charset="0"/>
                                </a:rPr>
                                <m:t>𝑛</m:t>
                              </m:r>
                            </m:e>
                          </m:eqArr>
                        </m:e>
                      </m:d>
                    </m:oMath>
                  </m:oMathPara>
                </a14:m>
                <a:endParaRPr lang="en-US" altLang="zh-CN" dirty="0">
                  <a:latin typeface="DejaVu Math TeX Gyre" panose="02000503000000000000" charset="0"/>
                  <a:cs typeface="DejaVu Math TeX Gyre" panose="02000503000000000000" charset="0"/>
                </a:endParaRPr>
              </a:p>
            </p:txBody>
          </p:sp>
        </mc:Choice>
        <mc:Fallback xmlns="">
          <p:sp>
            <p:nvSpPr>
              <p:cNvPr id="50" name="文本框 49"/>
              <p:cNvSpPr txBox="1">
                <a:spLocks noRot="1" noChangeAspect="1" noMove="1" noResize="1" noEditPoints="1" noAdjustHandles="1" noChangeArrowheads="1" noChangeShapeType="1" noTextEdit="1"/>
              </p:cNvSpPr>
              <p:nvPr/>
            </p:nvSpPr>
            <p:spPr>
              <a:xfrm>
                <a:off x="-167640" y="1643380"/>
                <a:ext cx="5852160" cy="957580"/>
              </a:xfrm>
              <a:prstGeom prst="rect">
                <a:avLst/>
              </a:prstGeom>
              <a:blipFill rotWithShape="1">
                <a:blip r:embed="rId3"/>
                <a:stretch>
                  <a:fillRect b="-77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p:cNvSpPr txBox="1"/>
              <p:nvPr/>
            </p:nvSpPr>
            <p:spPr>
              <a:xfrm>
                <a:off x="385445" y="4070350"/>
                <a:ext cx="6247765" cy="755650"/>
              </a:xfrm>
              <a:prstGeom prst="rect">
                <a:avLst/>
              </a:prstGeom>
              <a:noFill/>
            </p:spPr>
            <p:txBody>
              <a:bodyPr wrap="square" rtlCol="0">
                <a:spAutoFit/>
              </a:bodyPr>
              <a:lstStyle/>
              <a:p>
                <a:pPr algn="l">
                  <a:lnSpc>
                    <a:spcPct val="120000"/>
                  </a:lnSpc>
                </a:pPr>
                <a:r>
                  <a:rPr lang="en-US" altLang="zh-CN" dirty="0">
                    <a:latin typeface="DejaVu Math TeX Gyre" panose="02000503000000000000" charset="0"/>
                    <a:cs typeface="DejaVu Math TeX Gyre" panose="02000503000000000000" charset="0"/>
                  </a:rPr>
                  <a:t>Lagrange</a:t>
                </a:r>
                <a:r>
                  <a:rPr lang="zh-CN" altLang="en-US" dirty="0">
                    <a:latin typeface="DejaVu Math TeX Gyre" panose="02000503000000000000" charset="0"/>
                    <a:cs typeface="DejaVu Math TeX Gyre" panose="02000503000000000000" charset="0"/>
                  </a:rPr>
                  <a:t>函数</a:t>
                </a:r>
                <a14:m>
                  <m:oMath xmlns:m="http://schemas.openxmlformats.org/officeDocument/2006/math">
                    <m:r>
                      <a:rPr lang="en-US" altLang="zh-CN" i="1" dirty="0">
                        <a:latin typeface="Cambria Math" panose="02040503050406030204" pitchFamily="18" charset="0"/>
                        <a:cs typeface="DejaVu Math TeX Gyre" panose="02000503000000000000" charset="0"/>
                      </a:rPr>
                      <m:t>𝐿</m:t>
                    </m:r>
                    <m:r>
                      <a:rPr lang="en-US" altLang="zh-CN" i="1" dirty="0">
                        <a:latin typeface="Cambria Math" panose="02040503050406030204" pitchFamily="18" charset="0"/>
                        <a:cs typeface="DejaVu Math TeX Gyre" panose="02000503000000000000" charset="0"/>
                      </a:rPr>
                      <m:t>(</m:t>
                    </m:r>
                    <m:r>
                      <a:rPr lang="en-US" altLang="zh-CN" b="1" i="1" dirty="0">
                        <a:latin typeface="Cambria Math" panose="02040503050406030204" pitchFamily="18" charset="0"/>
                        <a:cs typeface="DejaVu Math TeX Gyre" panose="02000503000000000000" charset="0"/>
                      </a:rPr>
                      <m:t>𝒘</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𝑏</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𝑎</m:t>
                    </m:r>
                    <m:r>
                      <a:rPr lang="en-US" altLang="zh-CN" i="1" dirty="0">
                        <a:latin typeface="Cambria Math" panose="02040503050406030204" pitchFamily="18" charset="0"/>
                        <a:cs typeface="DejaVu Math TeX Gyre" panose="02000503000000000000" charset="0"/>
                      </a:rPr>
                      <m:t>)</m:t>
                    </m:r>
                  </m:oMath>
                </a14:m>
                <a:r>
                  <a:rPr lang="zh-CN" altLang="en-US" dirty="0">
                    <a:latin typeface="DejaVu Math TeX Gyre" panose="02000503000000000000" charset="0"/>
                    <a:cs typeface="DejaVu Math TeX Gyre" panose="02000503000000000000" charset="0"/>
                  </a:rPr>
                  <a:t>分别对</a:t>
                </a:r>
                <a14:m>
                  <m:oMath xmlns:m="http://schemas.openxmlformats.org/officeDocument/2006/math">
                    <m:r>
                      <a:rPr lang="en-US" altLang="zh-CN" b="1" i="1" dirty="0">
                        <a:latin typeface="Cambria Math" panose="02040503050406030204" pitchFamily="18" charset="0"/>
                        <a:cs typeface="DejaVu Math TeX Gyre" panose="02000503000000000000" charset="0"/>
                      </a:rPr>
                      <m:t>𝒘</m:t>
                    </m:r>
                  </m:oMath>
                </a14:m>
                <a:r>
                  <a:rPr lang="zh-CN" altLang="en-US" dirty="0">
                    <a:latin typeface="DejaVu Math TeX Gyre" panose="02000503000000000000" charset="0"/>
                    <a:cs typeface="DejaVu Math TeX Gyre" panose="02000503000000000000" charset="0"/>
                  </a:rPr>
                  <a:t>和</a:t>
                </a:r>
                <a14:m>
                  <m:oMath xmlns:m="http://schemas.openxmlformats.org/officeDocument/2006/math">
                    <m:r>
                      <a:rPr lang="en-US" altLang="zh-CN" i="1" dirty="0">
                        <a:latin typeface="Cambria Math" panose="02040503050406030204" pitchFamily="18" charset="0"/>
                        <a:cs typeface="DejaVu Math TeX Gyre" panose="02000503000000000000" charset="0"/>
                      </a:rPr>
                      <m:t>𝑏</m:t>
                    </m:r>
                  </m:oMath>
                </a14:m>
                <a:r>
                  <a:rPr lang="zh-CN" altLang="en-US" dirty="0">
                    <a:latin typeface="DejaVu Math TeX Gyre" panose="02000503000000000000" charset="0"/>
                    <a:cs typeface="DejaVu Math TeX Gyre" panose="02000503000000000000" charset="0"/>
                  </a:rPr>
                  <a:t>求偏微分，得</a:t>
                </a:r>
                <a:r>
                  <a:rPr lang="en-US" altLang="zh-CN" dirty="0">
                    <a:latin typeface="DejaVu Math TeX Gyre" panose="02000503000000000000" charset="0"/>
                    <a:cs typeface="DejaVu Math TeX Gyre" panose="02000503000000000000" charset="0"/>
                  </a:rPr>
                  <a:t>:</a:t>
                </a:r>
              </a:p>
              <a:p>
                <a:pPr algn="l">
                  <a:lnSpc>
                    <a:spcPct val="120000"/>
                  </a:lnSpc>
                </a:pPr>
                <a:endParaRPr lang="en-US" altLang="zh-CN" dirty="0">
                  <a:latin typeface="DejaVu Math TeX Gyre" panose="02000503000000000000" charset="0"/>
                  <a:cs typeface="DejaVu Math TeX Gyre" panose="02000503000000000000" charset="0"/>
                </a:endParaRPr>
              </a:p>
            </p:txBody>
          </p:sp>
        </mc:Choice>
        <mc:Fallback xmlns="">
          <p:sp>
            <p:nvSpPr>
              <p:cNvPr id="51" name="文本框 50"/>
              <p:cNvSpPr txBox="1">
                <a:spLocks noRot="1" noChangeAspect="1" noMove="1" noResize="1" noEditPoints="1" noAdjustHandles="1" noChangeArrowheads="1" noChangeShapeType="1" noTextEdit="1"/>
              </p:cNvSpPr>
              <p:nvPr/>
            </p:nvSpPr>
            <p:spPr>
              <a:xfrm>
                <a:off x="385445" y="4070350"/>
                <a:ext cx="6247765" cy="75565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p:cNvSpPr txBox="1"/>
              <p:nvPr/>
            </p:nvSpPr>
            <p:spPr>
              <a:xfrm>
                <a:off x="68580" y="3172460"/>
                <a:ext cx="5852160" cy="957580"/>
              </a:xfrm>
              <a:prstGeom prst="rect">
                <a:avLst/>
              </a:prstGeom>
              <a:noFill/>
            </p:spPr>
            <p:txBody>
              <a:bodyPr wrap="square" rtlCol="0">
                <a:noAutofit/>
              </a:bodyPr>
              <a:lstStyle/>
              <a:p>
                <a:pPr algn="l">
                  <a:lnSpc>
                    <a:spcPct val="120000"/>
                  </a:lnSpc>
                </a:pPr>
                <a14:m>
                  <m:oMathPara xmlns:m="http://schemas.openxmlformats.org/officeDocument/2006/math">
                    <m:oMath>
                      <m:r>
                        <a:rPr lang="en-US" altLang="zh-CN" i="1" dirty="0">
                          <a:latin typeface="Cambria Math" panose="02040503050406030204" pitchFamily="18" charset="0"/>
                          <a:cs typeface="DejaVu Math TeX Gyre" panose="02000503000000000000" charset="0"/>
                        </a:rPr>
                        <m:t>𝐿</m:t>
                      </m:r>
                      <m:r>
                        <a:rPr lang="en-US" altLang="zh-CN" i="1" dirty="0">
                          <a:latin typeface="Cambria Math" panose="02040503050406030204" pitchFamily="18" charset="0"/>
                          <a:cs typeface="DejaVu Math TeX Gyre" panose="02000503000000000000" charset="0"/>
                        </a:rPr>
                        <m:t>(</m:t>
                      </m:r>
                      <m:r>
                        <a:rPr lang="en-US" altLang="zh-CN" b="1" i="1" dirty="0">
                          <a:latin typeface="Cambria Math" panose="02040503050406030204" pitchFamily="18" charset="0"/>
                          <a:cs typeface="DejaVu Math TeX Gyre" panose="02000503000000000000" charset="0"/>
                        </a:rPr>
                        <m:t>𝒘</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𝑏</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𝑎</m:t>
                      </m:r>
                      <m:r>
                        <a:rPr lang="en-US" altLang="zh-CN" i="1" dirty="0">
                          <a:latin typeface="Cambria Math" panose="02040503050406030204" pitchFamily="18" charset="0"/>
                          <a:cs typeface="DejaVu Math TeX Gyre" panose="02000503000000000000" charset="0"/>
                        </a:rPr>
                        <m:t>)=</m:t>
                      </m:r>
                      <m:f>
                        <m:fPr>
                          <m:ctrlPr>
                            <a:rPr lang="en-US" altLang="zh-CN" i="1" dirty="0">
                              <a:latin typeface="Cambria Math" panose="02040503050406030204" pitchFamily="18" charset="0"/>
                              <a:cs typeface="DejaVu Math TeX Gyre" panose="02000503000000000000" charset="0"/>
                            </a:rPr>
                          </m:ctrlPr>
                        </m:fPr>
                        <m:num>
                          <m:r>
                            <a:rPr lang="en-US" altLang="zh-CN" i="1" dirty="0">
                              <a:latin typeface="Cambria Math" panose="02040503050406030204" pitchFamily="18" charset="0"/>
                              <a:cs typeface="DejaVu Math TeX Gyre" panose="02000503000000000000" charset="0"/>
                            </a:rPr>
                            <m:t>1</m:t>
                          </m:r>
                        </m:num>
                        <m:den>
                          <m:r>
                            <a:rPr lang="en-US" altLang="zh-CN" i="1" dirty="0">
                              <a:latin typeface="Cambria Math" panose="02040503050406030204" pitchFamily="18" charset="0"/>
                              <a:cs typeface="DejaVu Math TeX Gyre" panose="02000503000000000000" charset="0"/>
                            </a:rPr>
                            <m:t>2</m:t>
                          </m:r>
                        </m:den>
                      </m:f>
                      <m:sSup>
                        <m:sSupPr>
                          <m:ctrlPr>
                            <a:rPr lang="en-US" altLang="zh-CN" b="1" i="1" dirty="0">
                              <a:latin typeface="Cambria Math" panose="02040503050406030204" pitchFamily="18" charset="0"/>
                              <a:cs typeface="DejaVu Math TeX Gyre" panose="02000503000000000000" charset="0"/>
                            </a:rPr>
                          </m:ctrlPr>
                        </m:sSupPr>
                        <m:e>
                          <m:r>
                            <a:rPr lang="en-US" altLang="zh-CN" b="1" i="1" dirty="0">
                              <a:latin typeface="Cambria Math" panose="02040503050406030204" pitchFamily="18" charset="0"/>
                              <a:cs typeface="DejaVu Math TeX Gyre" panose="02000503000000000000" charset="0"/>
                            </a:rPr>
                            <m:t>𝒘</m:t>
                          </m:r>
                        </m:e>
                        <m:sup>
                          <m:r>
                            <a:rPr lang="en-US" altLang="zh-CN" i="1" dirty="0">
                              <a:latin typeface="Cambria Math" panose="02040503050406030204" pitchFamily="18" charset="0"/>
                              <a:cs typeface="DejaVu Math TeX Gyre" panose="02000503000000000000" charset="0"/>
                            </a:rPr>
                            <m:t>2</m:t>
                          </m:r>
                        </m:sup>
                      </m:sSup>
                      <m:r>
                        <a:rPr lang="en-US" altLang="zh-CN" i="1" dirty="0">
                          <a:latin typeface="Cambria Math" panose="02040503050406030204" pitchFamily="18" charset="0"/>
                          <a:cs typeface="DejaVu Math TeX Gyre" panose="02000503000000000000" charset="0"/>
                        </a:rPr>
                        <m:t>−</m:t>
                      </m:r>
                      <m:nary>
                        <m:naryPr>
                          <m:chr m:val="∑"/>
                          <m:limLoc m:val="undOvr"/>
                          <m:ctrlPr>
                            <a:rPr lang="en-US" altLang="zh-CN" i="1" dirty="0">
                              <a:latin typeface="Cambria Math" panose="02040503050406030204" pitchFamily="18" charset="0"/>
                              <a:cs typeface="DejaVu Math TeX Gyre" panose="02000503000000000000" charset="0"/>
                            </a:rPr>
                          </m:ctrlPr>
                        </m:naryPr>
                        <m:sub>
                          <m:r>
                            <a:rPr lang="en-US" altLang="zh-CN" i="1" dirty="0">
                              <a:latin typeface="Cambria Math" panose="02040503050406030204" pitchFamily="18" charset="0"/>
                              <a:cs typeface="DejaVu Math TeX Gyre" panose="02000503000000000000" charset="0"/>
                            </a:rPr>
                            <m:t>𝑖</m:t>
                          </m:r>
                          <m:r>
                            <a:rPr lang="en-US" altLang="zh-CN" i="1" dirty="0">
                              <a:latin typeface="Cambria Math" panose="02040503050406030204" pitchFamily="18" charset="0"/>
                              <a:cs typeface="DejaVu Math TeX Gyre" panose="02000503000000000000" charset="0"/>
                            </a:rPr>
                            <m:t>=1</m:t>
                          </m:r>
                        </m:sub>
                        <m:sup>
                          <m:r>
                            <a:rPr lang="en-US" altLang="zh-CN" i="1" dirty="0">
                              <a:latin typeface="Cambria Math" panose="02040503050406030204" pitchFamily="18" charset="0"/>
                              <a:cs typeface="DejaVu Math TeX Gyre" panose="02000503000000000000" charset="0"/>
                            </a:rPr>
                            <m:t>𝑛</m:t>
                          </m:r>
                        </m:sup>
                        <m:e>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𝑎</m:t>
                              </m:r>
                            </m:e>
                            <m:sub>
                              <m:r>
                                <a:rPr lang="en-US" altLang="zh-CN" i="1" dirty="0">
                                  <a:latin typeface="Cambria Math" panose="02040503050406030204" pitchFamily="18" charset="0"/>
                                  <a:cs typeface="DejaVu Math TeX Gyre" panose="02000503000000000000" charset="0"/>
                                </a:rPr>
                                <m:t>𝑖</m:t>
                              </m:r>
                            </m:sub>
                          </m:sSub>
                          <m:r>
                            <a:rPr lang="en-US" altLang="zh-CN" i="1" dirty="0">
                              <a:latin typeface="Cambria Math" panose="02040503050406030204" pitchFamily="18" charset="0"/>
                              <a:cs typeface="DejaVu Math TeX Gyre" panose="02000503000000000000" charset="0"/>
                            </a:rPr>
                            <m:t>(</m:t>
                          </m:r>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𝑦</m:t>
                              </m:r>
                            </m:e>
                            <m:sub>
                              <m:r>
                                <a:rPr lang="en-US" altLang="zh-CN" i="1" dirty="0">
                                  <a:latin typeface="Cambria Math" panose="02040503050406030204" pitchFamily="18" charset="0"/>
                                  <a:cs typeface="DejaVu Math TeX Gyre" panose="02000503000000000000" charset="0"/>
                                </a:rPr>
                                <m:t>𝑖</m:t>
                              </m:r>
                            </m:sub>
                          </m:sSub>
                          <m:r>
                            <a:rPr lang="en-US" altLang="zh-CN" i="1" dirty="0">
                              <a:latin typeface="Cambria Math" panose="02040503050406030204" pitchFamily="18" charset="0"/>
                              <a:cs typeface="DejaVu Math TeX Gyre" panose="02000503000000000000" charset="0"/>
                            </a:rPr>
                            <m:t>((</m:t>
                          </m:r>
                          <m:r>
                            <a:rPr lang="en-US" altLang="zh-CN" b="1" i="1" dirty="0">
                              <a:latin typeface="Cambria Math" panose="02040503050406030204" pitchFamily="18" charset="0"/>
                              <a:cs typeface="DejaVu Math TeX Gyre" panose="02000503000000000000" charset="0"/>
                            </a:rPr>
                            <m:t>𝒘</m:t>
                          </m:r>
                          <m:r>
                            <a:rPr lang="en-US" altLang="zh-CN" b="1" i="1" dirty="0">
                              <a:latin typeface="Cambria Math" panose="02040503050406030204" pitchFamily="18" charset="0"/>
                              <a:cs typeface="DejaVu Math TeX Gyre" panose="02000503000000000000" charset="0"/>
                            </a:rPr>
                            <m:t>·</m:t>
                          </m:r>
                          <m:sSub>
                            <m:sSubPr>
                              <m:ctrlPr>
                                <a:rPr lang="en-US" altLang="zh-CN" b="1" i="1" dirty="0">
                                  <a:latin typeface="Cambria Math" panose="02040503050406030204" pitchFamily="18" charset="0"/>
                                  <a:cs typeface="DejaVu Math TeX Gyre" panose="02000503000000000000" charset="0"/>
                                </a:rPr>
                              </m:ctrlPr>
                            </m:sSubPr>
                            <m:e>
                              <m:r>
                                <a:rPr lang="en-US" altLang="zh-CN" b="1" i="1" dirty="0">
                                  <a:latin typeface="Cambria Math" panose="02040503050406030204" pitchFamily="18" charset="0"/>
                                  <a:cs typeface="DejaVu Math TeX Gyre" panose="02000503000000000000" charset="0"/>
                                </a:rPr>
                                <m:t>𝒙</m:t>
                              </m:r>
                            </m:e>
                            <m:sub>
                              <m:r>
                                <a:rPr lang="en-US" altLang="zh-CN" b="1" i="1" dirty="0">
                                  <a:latin typeface="Cambria Math" panose="02040503050406030204" pitchFamily="18" charset="0"/>
                                  <a:cs typeface="DejaVu Math TeX Gyre" panose="02000503000000000000" charset="0"/>
                                </a:rPr>
                                <m:t>𝒊</m:t>
                              </m:r>
                            </m:sub>
                          </m:sSub>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𝑏</m:t>
                          </m:r>
                          <m:r>
                            <a:rPr lang="en-US" altLang="zh-CN" i="1" dirty="0">
                              <a:latin typeface="Cambria Math" panose="02040503050406030204" pitchFamily="18" charset="0"/>
                              <a:cs typeface="DejaVu Math TeX Gyre" panose="02000503000000000000" charset="0"/>
                            </a:rPr>
                            <m:t>)−1)</m:t>
                          </m:r>
                        </m:e>
                      </m:nary>
                    </m:oMath>
                  </m:oMathPara>
                </a14:m>
                <a:endParaRPr lang="en-US" altLang="zh-CN" dirty="0">
                  <a:latin typeface="DejaVu Math TeX Gyre" panose="02000503000000000000" charset="0"/>
                  <a:cs typeface="DejaVu Math TeX Gyre" panose="02000503000000000000" charset="0"/>
                </a:endParaRPr>
              </a:p>
            </p:txBody>
          </p:sp>
        </mc:Choice>
        <mc:Fallback xmlns="">
          <p:sp>
            <p:nvSpPr>
              <p:cNvPr id="52" name="文本框 51"/>
              <p:cNvSpPr txBox="1">
                <a:spLocks noRot="1" noChangeAspect="1" noMove="1" noResize="1" noEditPoints="1" noAdjustHandles="1" noChangeArrowheads="1" noChangeShapeType="1" noTextEdit="1"/>
              </p:cNvSpPr>
              <p:nvPr/>
            </p:nvSpPr>
            <p:spPr>
              <a:xfrm>
                <a:off x="68580" y="3172460"/>
                <a:ext cx="5852160" cy="957580"/>
              </a:xfrm>
              <a:prstGeom prst="rect">
                <a:avLst/>
              </a:prstGeom>
              <a:blipFill rotWithShape="1">
                <a:blip r:embed="rId5"/>
                <a:stretch>
                  <a:fillRect/>
                </a:stretch>
              </a:blipFill>
            </p:spPr>
            <p:txBody>
              <a:bodyPr/>
              <a:lstStyle/>
              <a:p>
                <a:r>
                  <a:rPr lang="zh-CN" altLang="en-US">
                    <a:noFill/>
                  </a:rPr>
                  <a:t> </a:t>
                </a:r>
              </a:p>
            </p:txBody>
          </p:sp>
        </mc:Fallback>
      </mc:AlternateContent>
      <p:sp>
        <p:nvSpPr>
          <p:cNvPr id="53" name="文本框 52"/>
          <p:cNvSpPr txBox="1"/>
          <p:nvPr/>
        </p:nvSpPr>
        <p:spPr>
          <a:xfrm>
            <a:off x="512445" y="2889250"/>
            <a:ext cx="6247765" cy="755650"/>
          </a:xfrm>
          <a:prstGeom prst="rect">
            <a:avLst/>
          </a:prstGeom>
          <a:noFill/>
        </p:spPr>
        <p:txBody>
          <a:bodyPr wrap="square" rtlCol="0">
            <a:spAutoFit/>
          </a:bodyPr>
          <a:lstStyle/>
          <a:p>
            <a:pPr algn="l">
              <a:lnSpc>
                <a:spcPct val="120000"/>
              </a:lnSpc>
            </a:pPr>
            <a:r>
              <a:rPr lang="zh-CN" altLang="en-US" dirty="0">
                <a:latin typeface="DejaVu Math TeX Gyre" panose="02000503000000000000" charset="0"/>
                <a:cs typeface="DejaVu Math TeX Gyre" panose="02000503000000000000" charset="0"/>
              </a:rPr>
              <a:t>构造</a:t>
            </a:r>
            <a:r>
              <a:rPr lang="en-US" altLang="zh-CN" dirty="0">
                <a:latin typeface="DejaVu Math TeX Gyre" panose="02000503000000000000" charset="0"/>
                <a:cs typeface="DejaVu Math TeX Gyre" panose="02000503000000000000" charset="0"/>
              </a:rPr>
              <a:t>Lagrange</a:t>
            </a:r>
            <a:r>
              <a:rPr lang="zh-CN" altLang="en-US" dirty="0">
                <a:latin typeface="DejaVu Math TeX Gyre" panose="02000503000000000000" charset="0"/>
                <a:cs typeface="DejaVu Math TeX Gyre" panose="02000503000000000000" charset="0"/>
              </a:rPr>
              <a:t>函数</a:t>
            </a:r>
            <a:r>
              <a:rPr lang="en-US" altLang="zh-CN" dirty="0">
                <a:latin typeface="DejaVu Math TeX Gyre" panose="02000503000000000000" charset="0"/>
                <a:cs typeface="DejaVu Math TeX Gyre" panose="02000503000000000000" charset="0"/>
              </a:rPr>
              <a:t>:</a:t>
            </a:r>
          </a:p>
          <a:p>
            <a:pPr algn="l">
              <a:lnSpc>
                <a:spcPct val="120000"/>
              </a:lnSpc>
            </a:pPr>
            <a:endParaRPr lang="en-US" altLang="zh-CN" dirty="0">
              <a:latin typeface="DejaVu Math TeX Gyre" panose="02000503000000000000" charset="0"/>
              <a:cs typeface="DejaVu Math TeX Gyre" panose="02000503000000000000" charset="0"/>
            </a:endParaRPr>
          </a:p>
        </p:txBody>
      </p:sp>
      <p:sp>
        <p:nvSpPr>
          <p:cNvPr id="54" name="文本框 53"/>
          <p:cNvSpPr txBox="1"/>
          <p:nvPr/>
        </p:nvSpPr>
        <p:spPr>
          <a:xfrm>
            <a:off x="149860" y="4427220"/>
            <a:ext cx="5852160" cy="957580"/>
          </a:xfrm>
          <a:prstGeom prst="rect">
            <a:avLst/>
          </a:prstGeom>
          <a:noFill/>
        </p:spPr>
        <p:txBody>
          <a:bodyPr wrap="square" rtlCol="0">
            <a:noAutofit/>
          </a:bodyPr>
          <a:lstStyle/>
          <a:p>
            <a:pPr algn="l">
              <a:lnSpc>
                <a:spcPct val="120000"/>
              </a:lnSpc>
            </a:pPr>
            <a:endParaRPr lang="en-US" altLang="zh-CN" dirty="0">
              <a:latin typeface="DejaVu Math TeX Gyre" panose="02000503000000000000" charset="0"/>
              <a:cs typeface="DejaVu Math TeX Gyre" panose="02000503000000000000" charset="0"/>
            </a:endParaRPr>
          </a:p>
        </p:txBody>
      </p:sp>
      <p:sp>
        <p:nvSpPr>
          <p:cNvPr id="56" name="文本框 55"/>
          <p:cNvSpPr txBox="1"/>
          <p:nvPr/>
        </p:nvSpPr>
        <p:spPr>
          <a:xfrm>
            <a:off x="6276975" y="2177415"/>
            <a:ext cx="6247765" cy="423545"/>
          </a:xfrm>
          <a:prstGeom prst="rect">
            <a:avLst/>
          </a:prstGeom>
          <a:noFill/>
        </p:spPr>
        <p:txBody>
          <a:bodyPr wrap="square" rtlCol="0">
            <a:spAutoFit/>
          </a:bodyPr>
          <a:lstStyle/>
          <a:p>
            <a:pPr algn="l">
              <a:lnSpc>
                <a:spcPct val="120000"/>
              </a:lnSpc>
            </a:pPr>
            <a:r>
              <a:rPr lang="zh-CN" altLang="en-US" dirty="0">
                <a:latin typeface="DejaVu Math TeX Gyre" panose="02000503000000000000" charset="0"/>
                <a:cs typeface="DejaVu Math TeX Gyre" panose="02000503000000000000" charset="0"/>
              </a:rPr>
              <a:t>由</a:t>
            </a:r>
            <a:r>
              <a:rPr lang="en-US" altLang="zh-CN" dirty="0">
                <a:latin typeface="DejaVu Math TeX Gyre" panose="02000503000000000000" charset="0"/>
                <a:cs typeface="DejaVu Math TeX Gyre" panose="02000503000000000000" charset="0"/>
              </a:rPr>
              <a:t>KKT</a:t>
            </a:r>
            <a:r>
              <a:rPr lang="zh-CN" altLang="en-US" dirty="0">
                <a:latin typeface="DejaVu Math TeX Gyre" panose="02000503000000000000" charset="0"/>
                <a:cs typeface="DejaVu Math TeX Gyre" panose="02000503000000000000" charset="0"/>
              </a:rPr>
              <a:t>条件，最优解应当满足</a:t>
            </a:r>
            <a:r>
              <a:rPr lang="en-US" altLang="zh-CN" dirty="0">
                <a:latin typeface="DejaVu Math TeX Gyre" panose="02000503000000000000" charset="0"/>
                <a:cs typeface="DejaVu Math TeX Gyre" panose="02000503000000000000" charset="0"/>
              </a:rPr>
              <a:t>:</a:t>
            </a:r>
          </a:p>
        </p:txBody>
      </p:sp>
      <mc:AlternateContent xmlns:mc="http://schemas.openxmlformats.org/markup-compatibility/2006" xmlns:a14="http://schemas.microsoft.com/office/drawing/2010/main">
        <mc:Choice Requires="a14">
          <p:sp>
            <p:nvSpPr>
              <p:cNvPr id="57" name="文本框 56"/>
              <p:cNvSpPr txBox="1"/>
              <p:nvPr/>
            </p:nvSpPr>
            <p:spPr>
              <a:xfrm>
                <a:off x="5859780" y="2748280"/>
                <a:ext cx="5737860" cy="424180"/>
              </a:xfrm>
              <a:prstGeom prst="rect">
                <a:avLst/>
              </a:prstGeom>
              <a:noFill/>
            </p:spPr>
            <p:txBody>
              <a:bodyPr wrap="square" rtlCol="0">
                <a:noAutofit/>
              </a:bodyPr>
              <a:lstStyle/>
              <a:p>
                <a:pPr algn="l">
                  <a:lnSpc>
                    <a:spcPct val="120000"/>
                  </a:lnSpc>
                </a:pPr>
                <a14:m>
                  <m:oMathPara xmlns:m="http://schemas.openxmlformats.org/officeDocument/2006/math">
                    <m:oMath>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𝑎</m:t>
                          </m:r>
                        </m:e>
                        <m:sub>
                          <m:r>
                            <a:rPr lang="en-US" altLang="zh-CN" i="1" dirty="0">
                              <a:latin typeface="Cambria Math" panose="02040503050406030204" pitchFamily="18" charset="0"/>
                              <a:cs typeface="DejaVu Math TeX Gyre" panose="02000503000000000000" charset="0"/>
                            </a:rPr>
                            <m:t>𝑖</m:t>
                          </m:r>
                        </m:sub>
                      </m:sSub>
                      <m:r>
                        <a:rPr lang="en-US" altLang="zh-CN" i="1" dirty="0">
                          <a:latin typeface="Cambria Math" panose="02040503050406030204" pitchFamily="18" charset="0"/>
                          <a:cs typeface="DejaVu Math TeX Gyre" panose="02000503000000000000" charset="0"/>
                        </a:rPr>
                        <m:t>(</m:t>
                      </m:r>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𝑦</m:t>
                          </m:r>
                        </m:e>
                        <m:sub>
                          <m:r>
                            <a:rPr lang="en-US" altLang="zh-CN" i="1" dirty="0">
                              <a:latin typeface="Cambria Math" panose="02040503050406030204" pitchFamily="18" charset="0"/>
                              <a:cs typeface="DejaVu Math TeX Gyre" panose="02000503000000000000" charset="0"/>
                            </a:rPr>
                            <m:t>𝑖</m:t>
                          </m:r>
                        </m:sub>
                      </m:sSub>
                      <m:r>
                        <a:rPr lang="en-US" altLang="zh-CN" i="1" dirty="0">
                          <a:latin typeface="Cambria Math" panose="02040503050406030204" pitchFamily="18" charset="0"/>
                          <a:cs typeface="DejaVu Math TeX Gyre" panose="02000503000000000000" charset="0"/>
                        </a:rPr>
                        <m:t>((</m:t>
                      </m:r>
                      <m:r>
                        <a:rPr lang="en-US" altLang="zh-CN" b="1" i="1" dirty="0">
                          <a:latin typeface="Cambria Math" panose="02040503050406030204" pitchFamily="18" charset="0"/>
                          <a:cs typeface="DejaVu Math TeX Gyre" panose="02000503000000000000" charset="0"/>
                        </a:rPr>
                        <m:t>𝒘</m:t>
                      </m:r>
                      <m:r>
                        <a:rPr lang="en-US" altLang="zh-CN" b="1" i="1" dirty="0">
                          <a:latin typeface="Cambria Math" panose="02040503050406030204" pitchFamily="18" charset="0"/>
                          <a:cs typeface="DejaVu Math TeX Gyre" panose="02000503000000000000" charset="0"/>
                        </a:rPr>
                        <m:t>·</m:t>
                      </m:r>
                      <m:sSub>
                        <m:sSubPr>
                          <m:ctrlPr>
                            <a:rPr lang="en-US" altLang="zh-CN" b="1" i="1" dirty="0">
                              <a:latin typeface="Cambria Math" panose="02040503050406030204" pitchFamily="18" charset="0"/>
                              <a:cs typeface="DejaVu Math TeX Gyre" panose="02000503000000000000" charset="0"/>
                            </a:rPr>
                          </m:ctrlPr>
                        </m:sSubPr>
                        <m:e>
                          <m:r>
                            <a:rPr lang="en-US" altLang="zh-CN" b="1" i="1" dirty="0">
                              <a:latin typeface="Cambria Math" panose="02040503050406030204" pitchFamily="18" charset="0"/>
                              <a:cs typeface="DejaVu Math TeX Gyre" panose="02000503000000000000" charset="0"/>
                            </a:rPr>
                            <m:t>𝒙</m:t>
                          </m:r>
                        </m:e>
                        <m:sub>
                          <m:r>
                            <a:rPr lang="en-US" altLang="zh-CN" b="1" i="1" dirty="0">
                              <a:latin typeface="Cambria Math" panose="02040503050406030204" pitchFamily="18" charset="0"/>
                              <a:cs typeface="DejaVu Math TeX Gyre" panose="02000503000000000000" charset="0"/>
                            </a:rPr>
                            <m:t>𝒊</m:t>
                          </m:r>
                        </m:sub>
                      </m:sSub>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𝑏</m:t>
                      </m:r>
                      <m:r>
                        <a:rPr lang="en-US" altLang="zh-CN" i="1" dirty="0">
                          <a:latin typeface="Cambria Math" panose="02040503050406030204" pitchFamily="18" charset="0"/>
                          <a:cs typeface="DejaVu Math TeX Gyre" panose="02000503000000000000" charset="0"/>
                        </a:rPr>
                        <m:t>)−1)=0,</m:t>
                      </m:r>
                      <m:r>
                        <a:rPr lang="en-US" altLang="zh-CN" i="1" dirty="0">
                          <a:latin typeface="Cambria Math" panose="02040503050406030204" pitchFamily="18" charset="0"/>
                          <a:cs typeface="DejaVu Math TeX Gyre" panose="02000503000000000000" charset="0"/>
                        </a:rPr>
                        <m:t>𝑖</m:t>
                      </m:r>
                      <m:r>
                        <a:rPr lang="en-US" altLang="zh-CN" i="1" dirty="0">
                          <a:latin typeface="Cambria Math" panose="02040503050406030204" pitchFamily="18" charset="0"/>
                          <a:cs typeface="DejaVu Math TeX Gyre" panose="02000503000000000000" charset="0"/>
                        </a:rPr>
                        <m:t>=1,2,3,...,</m:t>
                      </m:r>
                      <m:r>
                        <a:rPr lang="en-US" altLang="zh-CN" i="1" dirty="0">
                          <a:latin typeface="Cambria Math" panose="02040503050406030204" pitchFamily="18" charset="0"/>
                          <a:cs typeface="DejaVu Math TeX Gyre" panose="02000503000000000000" charset="0"/>
                        </a:rPr>
                        <m:t>𝑛</m:t>
                      </m:r>
                    </m:oMath>
                  </m:oMathPara>
                </a14:m>
                <a:endParaRPr lang="en-US" altLang="zh-CN" dirty="0">
                  <a:latin typeface="DejaVu Math TeX Gyre" panose="02000503000000000000" charset="0"/>
                  <a:cs typeface="DejaVu Math TeX Gyre" panose="02000503000000000000" charset="0"/>
                </a:endParaRPr>
              </a:p>
            </p:txBody>
          </p:sp>
        </mc:Choice>
        <mc:Fallback xmlns="">
          <p:sp>
            <p:nvSpPr>
              <p:cNvPr id="57" name="文本框 56"/>
              <p:cNvSpPr txBox="1">
                <a:spLocks noRot="1" noChangeAspect="1" noMove="1" noResize="1" noEditPoints="1" noAdjustHandles="1" noChangeArrowheads="1" noChangeShapeType="1" noTextEdit="1"/>
              </p:cNvSpPr>
              <p:nvPr/>
            </p:nvSpPr>
            <p:spPr>
              <a:xfrm>
                <a:off x="5859780" y="2748280"/>
                <a:ext cx="5737860" cy="42418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p:cNvSpPr txBox="1"/>
              <p:nvPr/>
            </p:nvSpPr>
            <p:spPr>
              <a:xfrm>
                <a:off x="195580" y="4462780"/>
                <a:ext cx="5852160" cy="957580"/>
              </a:xfrm>
              <a:prstGeom prst="rect">
                <a:avLst/>
              </a:prstGeom>
              <a:noFill/>
            </p:spPr>
            <p:txBody>
              <a:bodyPr wrap="square" rtlCol="0">
                <a:noAutofit/>
              </a:bodyPr>
              <a:lstStyle/>
              <a:p>
                <a:pPr algn="l">
                  <a:lnSpc>
                    <a:spcPct val="120000"/>
                  </a:lnSpc>
                </a:pPr>
                <a14:m>
                  <m:oMathPara xmlns:m="http://schemas.openxmlformats.org/officeDocument/2006/math">
                    <m:oMath>
                      <m:d>
                        <m:dPr>
                          <m:begChr m:val="{"/>
                          <m:endChr m:val=""/>
                          <m:ctrlPr>
                            <a:rPr lang="en-US" altLang="zh-CN" i="1" dirty="0">
                              <a:latin typeface="Cambria Math" panose="02040503050406030204" pitchFamily="18" charset="0"/>
                              <a:cs typeface="DejaVu Math TeX Gyre" panose="02000503000000000000" charset="0"/>
                            </a:rPr>
                          </m:ctrlPr>
                        </m:dPr>
                        <m:e>
                          <m:eqArr>
                            <m:eqArrPr>
                              <m:ctrlPr>
                                <a:rPr lang="en-US" altLang="zh-CN" i="1" dirty="0">
                                  <a:latin typeface="Cambria Math" panose="02040503050406030204" pitchFamily="18" charset="0"/>
                                  <a:cs typeface="DejaVu Math TeX Gyre" panose="02000503000000000000" charset="0"/>
                                </a:rPr>
                              </m:ctrlPr>
                            </m:eqArrPr>
                            <m:e>
                              <m:f>
                                <m:fPr>
                                  <m:ctrlPr>
                                    <a:rPr lang="en-US" altLang="zh-CN" i="1" dirty="0">
                                      <a:latin typeface="Cambria Math" panose="02040503050406030204" pitchFamily="18" charset="0"/>
                                      <a:cs typeface="DejaVu Math TeX Gyre" panose="02000503000000000000" charset="0"/>
                                    </a:rPr>
                                  </m:ctrlPr>
                                </m:fPr>
                                <m:num>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𝐿</m:t>
                                  </m:r>
                                  <m:r>
                                    <a:rPr lang="en-US" altLang="zh-CN" i="1" dirty="0">
                                      <a:latin typeface="Cambria Math" panose="02040503050406030204" pitchFamily="18" charset="0"/>
                                      <a:cs typeface="DejaVu Math TeX Gyre" panose="02000503000000000000" charset="0"/>
                                    </a:rPr>
                                    <m:t>(</m:t>
                                  </m:r>
                                  <m:r>
                                    <a:rPr lang="en-US" altLang="zh-CN" b="1" i="1" dirty="0">
                                      <a:latin typeface="Cambria Math" panose="02040503050406030204" pitchFamily="18" charset="0"/>
                                      <a:cs typeface="DejaVu Math TeX Gyre" panose="02000503000000000000" charset="0"/>
                                    </a:rPr>
                                    <m:t>𝒘</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𝑏</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𝑎</m:t>
                                  </m:r>
                                  <m:r>
                                    <a:rPr lang="en-US" altLang="zh-CN" i="1" dirty="0">
                                      <a:latin typeface="Cambria Math" panose="02040503050406030204" pitchFamily="18" charset="0"/>
                                      <a:cs typeface="DejaVu Math TeX Gyre" panose="02000503000000000000" charset="0"/>
                                    </a:rPr>
                                    <m:t>)</m:t>
                                  </m:r>
                                </m:num>
                                <m:den>
                                  <m:r>
                                    <a:rPr lang="en-US" altLang="zh-CN" i="1" dirty="0">
                                      <a:latin typeface="Cambria Math" panose="02040503050406030204" pitchFamily="18" charset="0"/>
                                      <a:cs typeface="DejaVu Math TeX Gyre" panose="02000503000000000000" charset="0"/>
                                    </a:rPr>
                                    <m:t>𝜕</m:t>
                                  </m:r>
                                  <m:r>
                                    <a:rPr lang="en-US" altLang="zh-CN" b="1" i="1" dirty="0">
                                      <a:latin typeface="Cambria Math" panose="02040503050406030204" pitchFamily="18" charset="0"/>
                                      <a:cs typeface="DejaVu Math TeX Gyre" panose="02000503000000000000" charset="0"/>
                                    </a:rPr>
                                    <m:t>𝒘</m:t>
                                  </m:r>
                                </m:den>
                              </m:f>
                              <m:r>
                                <a:rPr lang="en-US" altLang="zh-CN" i="1" dirty="0">
                                  <a:latin typeface="Cambria Math" panose="02040503050406030204" pitchFamily="18" charset="0"/>
                                  <a:cs typeface="DejaVu Math TeX Gyre" panose="02000503000000000000" charset="0"/>
                                </a:rPr>
                                <m:t>=</m:t>
                              </m:r>
                              <m:r>
                                <a:rPr lang="en-US" altLang="zh-CN" b="1" i="1" dirty="0">
                                  <a:latin typeface="Cambria Math" panose="02040503050406030204" pitchFamily="18" charset="0"/>
                                  <a:cs typeface="DejaVu Math TeX Gyre" panose="02000503000000000000" charset="0"/>
                                </a:rPr>
                                <m:t>𝒘</m:t>
                              </m:r>
                              <m:r>
                                <a:rPr lang="en-US" altLang="zh-CN" i="1" dirty="0">
                                  <a:latin typeface="Cambria Math" panose="02040503050406030204" pitchFamily="18" charset="0"/>
                                  <a:cs typeface="DejaVu Math TeX Gyre" panose="02000503000000000000" charset="0"/>
                                </a:rPr>
                                <m:t>−</m:t>
                              </m:r>
                              <m:nary>
                                <m:naryPr>
                                  <m:chr m:val="∑"/>
                                  <m:limLoc m:val="undOvr"/>
                                  <m:ctrlPr>
                                    <a:rPr lang="en-US" altLang="zh-CN" i="1" dirty="0">
                                      <a:latin typeface="Cambria Math" panose="02040503050406030204" pitchFamily="18" charset="0"/>
                                      <a:cs typeface="DejaVu Math TeX Gyre" panose="02000503000000000000" charset="0"/>
                                    </a:rPr>
                                  </m:ctrlPr>
                                </m:naryPr>
                                <m:sub>
                                  <m:r>
                                    <a:rPr lang="en-US" altLang="zh-CN" i="1" dirty="0">
                                      <a:latin typeface="Cambria Math" panose="02040503050406030204" pitchFamily="18" charset="0"/>
                                      <a:cs typeface="DejaVu Math TeX Gyre" panose="02000503000000000000" charset="0"/>
                                    </a:rPr>
                                    <m:t>𝑖</m:t>
                                  </m:r>
                                  <m:r>
                                    <a:rPr lang="en-US" altLang="zh-CN" i="1" dirty="0">
                                      <a:latin typeface="Cambria Math" panose="02040503050406030204" pitchFamily="18" charset="0"/>
                                      <a:cs typeface="DejaVu Math TeX Gyre" panose="02000503000000000000" charset="0"/>
                                    </a:rPr>
                                    <m:t>=1</m:t>
                                  </m:r>
                                </m:sub>
                                <m:sup>
                                  <m:r>
                                    <a:rPr lang="en-US" altLang="zh-CN" i="1" dirty="0">
                                      <a:latin typeface="Cambria Math" panose="02040503050406030204" pitchFamily="18" charset="0"/>
                                      <a:cs typeface="DejaVu Math TeX Gyre" panose="02000503000000000000" charset="0"/>
                                    </a:rPr>
                                    <m:t>𝑛</m:t>
                                  </m:r>
                                </m:sup>
                                <m:e>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𝑎</m:t>
                                      </m:r>
                                    </m:e>
                                    <m:sub>
                                      <m:r>
                                        <a:rPr lang="en-US" altLang="zh-CN" i="1" dirty="0">
                                          <a:latin typeface="Cambria Math" panose="02040503050406030204" pitchFamily="18" charset="0"/>
                                          <a:cs typeface="DejaVu Math TeX Gyre" panose="02000503000000000000" charset="0"/>
                                        </a:rPr>
                                        <m:t>𝑖</m:t>
                                      </m:r>
                                    </m:sub>
                                  </m:sSub>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𝑦</m:t>
                                      </m:r>
                                    </m:e>
                                    <m:sub>
                                      <m:r>
                                        <a:rPr lang="en-US" altLang="zh-CN" i="1" dirty="0">
                                          <a:latin typeface="Cambria Math" panose="02040503050406030204" pitchFamily="18" charset="0"/>
                                          <a:cs typeface="DejaVu Math TeX Gyre" panose="02000503000000000000" charset="0"/>
                                        </a:rPr>
                                        <m:t>𝑖</m:t>
                                      </m:r>
                                    </m:sub>
                                  </m:sSub>
                                  <m:sSub>
                                    <m:sSubPr>
                                      <m:ctrlPr>
                                        <a:rPr lang="en-US" altLang="zh-CN" b="1" i="1" dirty="0">
                                          <a:latin typeface="Cambria Math" panose="02040503050406030204" pitchFamily="18" charset="0"/>
                                          <a:cs typeface="DejaVu Math TeX Gyre" panose="02000503000000000000" charset="0"/>
                                        </a:rPr>
                                      </m:ctrlPr>
                                    </m:sSubPr>
                                    <m:e>
                                      <m:r>
                                        <a:rPr lang="en-US" altLang="zh-CN" b="1" i="1" dirty="0">
                                          <a:latin typeface="Cambria Math" panose="02040503050406030204" pitchFamily="18" charset="0"/>
                                          <a:cs typeface="DejaVu Math TeX Gyre" panose="02000503000000000000" charset="0"/>
                                        </a:rPr>
                                        <m:t>𝒙</m:t>
                                      </m:r>
                                    </m:e>
                                    <m:sub>
                                      <m:r>
                                        <a:rPr lang="en-US" altLang="zh-CN" b="1" i="1" dirty="0">
                                          <a:latin typeface="Cambria Math" panose="02040503050406030204" pitchFamily="18" charset="0"/>
                                          <a:cs typeface="DejaVu Math TeX Gyre" panose="02000503000000000000" charset="0"/>
                                        </a:rPr>
                                        <m:t>𝒊</m:t>
                                      </m:r>
                                    </m:sub>
                                  </m:sSub>
                                  <m:r>
                                    <a:rPr lang="en-US" altLang="zh-CN" i="1" dirty="0">
                                      <a:latin typeface="Cambria Math" panose="02040503050406030204" pitchFamily="18" charset="0"/>
                                      <a:cs typeface="DejaVu Math TeX Gyre" panose="02000503000000000000" charset="0"/>
                                    </a:rPr>
                                    <m:t>=0</m:t>
                                  </m:r>
                                </m:e>
                              </m:nary>
                            </m:e>
                            <m:e>
                              <m:f>
                                <m:fPr>
                                  <m:ctrlPr>
                                    <a:rPr lang="en-US" altLang="zh-CN" i="1" dirty="0">
                                      <a:latin typeface="Cambria Math" panose="02040503050406030204" pitchFamily="18" charset="0"/>
                                      <a:cs typeface="DejaVu Math TeX Gyre" panose="02000503000000000000" charset="0"/>
                                    </a:rPr>
                                  </m:ctrlPr>
                                </m:fPr>
                                <m:num>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𝐿</m:t>
                                  </m:r>
                                  <m:r>
                                    <a:rPr lang="en-US" altLang="zh-CN" i="1" dirty="0">
                                      <a:latin typeface="Cambria Math" panose="02040503050406030204" pitchFamily="18" charset="0"/>
                                      <a:cs typeface="DejaVu Math TeX Gyre" panose="02000503000000000000" charset="0"/>
                                    </a:rPr>
                                    <m:t>(</m:t>
                                  </m:r>
                                  <m:r>
                                    <a:rPr lang="en-US" altLang="zh-CN" b="1" i="1" dirty="0">
                                      <a:latin typeface="Cambria Math" panose="02040503050406030204" pitchFamily="18" charset="0"/>
                                      <a:cs typeface="DejaVu Math TeX Gyre" panose="02000503000000000000" charset="0"/>
                                    </a:rPr>
                                    <m:t>𝒘</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𝑏</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𝑎</m:t>
                                  </m:r>
                                  <m:r>
                                    <a:rPr lang="en-US" altLang="zh-CN" i="1" dirty="0">
                                      <a:latin typeface="Cambria Math" panose="02040503050406030204" pitchFamily="18" charset="0"/>
                                      <a:cs typeface="DejaVu Math TeX Gyre" panose="02000503000000000000" charset="0"/>
                                    </a:rPr>
                                    <m:t>)</m:t>
                                  </m:r>
                                </m:num>
                                <m:den>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𝑏</m:t>
                                  </m:r>
                                </m:den>
                              </m:f>
                              <m:r>
                                <a:rPr lang="en-US" altLang="zh-CN" i="1" dirty="0">
                                  <a:latin typeface="Cambria Math" panose="02040503050406030204" pitchFamily="18" charset="0"/>
                                  <a:cs typeface="DejaVu Math TeX Gyre" panose="02000503000000000000" charset="0"/>
                                </a:rPr>
                                <m:t>=−</m:t>
                              </m:r>
                              <m:nary>
                                <m:naryPr>
                                  <m:chr m:val="∑"/>
                                  <m:limLoc m:val="undOvr"/>
                                  <m:ctrlPr>
                                    <a:rPr lang="en-US" altLang="zh-CN" i="1" dirty="0">
                                      <a:latin typeface="Cambria Math" panose="02040503050406030204" pitchFamily="18" charset="0"/>
                                      <a:cs typeface="DejaVu Math TeX Gyre" panose="02000503000000000000" charset="0"/>
                                    </a:rPr>
                                  </m:ctrlPr>
                                </m:naryPr>
                                <m:sub>
                                  <m:r>
                                    <a:rPr lang="en-US" altLang="zh-CN" i="1" dirty="0">
                                      <a:latin typeface="Cambria Math" panose="02040503050406030204" pitchFamily="18" charset="0"/>
                                      <a:cs typeface="DejaVu Math TeX Gyre" panose="02000503000000000000" charset="0"/>
                                    </a:rPr>
                                    <m:t>𝑖</m:t>
                                  </m:r>
                                  <m:r>
                                    <a:rPr lang="en-US" altLang="zh-CN" i="1" dirty="0">
                                      <a:latin typeface="Cambria Math" panose="02040503050406030204" pitchFamily="18" charset="0"/>
                                      <a:cs typeface="DejaVu Math TeX Gyre" panose="02000503000000000000" charset="0"/>
                                    </a:rPr>
                                    <m:t>=1</m:t>
                                  </m:r>
                                </m:sub>
                                <m:sup>
                                  <m:r>
                                    <a:rPr lang="en-US" altLang="zh-CN" i="1" dirty="0">
                                      <a:latin typeface="Cambria Math" panose="02040503050406030204" pitchFamily="18" charset="0"/>
                                      <a:cs typeface="DejaVu Math TeX Gyre" panose="02000503000000000000" charset="0"/>
                                    </a:rPr>
                                    <m:t>𝑛</m:t>
                                  </m:r>
                                </m:sup>
                                <m:e>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𝑎</m:t>
                                      </m:r>
                                    </m:e>
                                    <m:sub>
                                      <m:r>
                                        <a:rPr lang="en-US" altLang="zh-CN" i="1" dirty="0">
                                          <a:latin typeface="Cambria Math" panose="02040503050406030204" pitchFamily="18" charset="0"/>
                                          <a:cs typeface="DejaVu Math TeX Gyre" panose="02000503000000000000" charset="0"/>
                                        </a:rPr>
                                        <m:t>𝑖</m:t>
                                      </m:r>
                                    </m:sub>
                                  </m:sSub>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𝑦</m:t>
                                      </m:r>
                                    </m:e>
                                    <m:sub>
                                      <m:r>
                                        <a:rPr lang="en-US" altLang="zh-CN" i="1" dirty="0">
                                          <a:latin typeface="Cambria Math" panose="02040503050406030204" pitchFamily="18" charset="0"/>
                                          <a:cs typeface="DejaVu Math TeX Gyre" panose="02000503000000000000" charset="0"/>
                                        </a:rPr>
                                        <m:t>𝑖</m:t>
                                      </m:r>
                                    </m:sub>
                                  </m:sSub>
                                  <m:r>
                                    <a:rPr lang="en-US" altLang="zh-CN" i="1" dirty="0">
                                      <a:latin typeface="Cambria Math" panose="02040503050406030204" pitchFamily="18" charset="0"/>
                                      <a:cs typeface="DejaVu Math TeX Gyre" panose="02000503000000000000" charset="0"/>
                                    </a:rPr>
                                    <m:t>=0</m:t>
                                  </m:r>
                                </m:e>
                              </m:nary>
                            </m:e>
                          </m:eqArr>
                        </m:e>
                      </m:d>
                    </m:oMath>
                  </m:oMathPara>
                </a14:m>
                <a:endParaRPr lang="en-US" altLang="zh-CN" dirty="0">
                  <a:latin typeface="DejaVu Math TeX Gyre" panose="02000503000000000000" charset="0"/>
                  <a:cs typeface="DejaVu Math TeX Gyre" panose="02000503000000000000" charset="0"/>
                </a:endParaRPr>
              </a:p>
            </p:txBody>
          </p:sp>
        </mc:Choice>
        <mc:Fallback xmlns="">
          <p:sp>
            <p:nvSpPr>
              <p:cNvPr id="78" name="文本框 77"/>
              <p:cNvSpPr txBox="1">
                <a:spLocks noRot="1" noChangeAspect="1" noMove="1" noResize="1" noEditPoints="1" noAdjustHandles="1" noChangeArrowheads="1" noChangeShapeType="1" noTextEdit="1"/>
              </p:cNvSpPr>
              <p:nvPr/>
            </p:nvSpPr>
            <p:spPr>
              <a:xfrm>
                <a:off x="195580" y="4462780"/>
                <a:ext cx="5852160" cy="957580"/>
              </a:xfrm>
              <a:prstGeom prst="rect">
                <a:avLst/>
              </a:prstGeom>
              <a:blipFill rotWithShape="1">
                <a:blip r:embed="rId7"/>
                <a:stretch>
                  <a:fillRect b="-79045"/>
                </a:stretch>
              </a:blipFill>
            </p:spPr>
            <p:txBody>
              <a:bodyPr/>
              <a:lstStyle/>
              <a:p>
                <a:r>
                  <a:rPr lang="zh-CN" altLang="en-US">
                    <a:noFill/>
                  </a:rPr>
                  <a:t> </a:t>
                </a:r>
              </a:p>
            </p:txBody>
          </p:sp>
        </mc:Fallback>
      </mc:AlternateContent>
      <p:sp>
        <p:nvSpPr>
          <p:cNvPr id="80" name="文本框 79"/>
          <p:cNvSpPr txBox="1"/>
          <p:nvPr/>
        </p:nvSpPr>
        <p:spPr>
          <a:xfrm>
            <a:off x="6276975" y="3409315"/>
            <a:ext cx="6247765" cy="423545"/>
          </a:xfrm>
          <a:prstGeom prst="rect">
            <a:avLst/>
          </a:prstGeom>
          <a:noFill/>
        </p:spPr>
        <p:txBody>
          <a:bodyPr wrap="square" rtlCol="0">
            <a:spAutoFit/>
          </a:bodyPr>
          <a:lstStyle/>
          <a:p>
            <a:pPr algn="l">
              <a:lnSpc>
                <a:spcPct val="120000"/>
              </a:lnSpc>
            </a:pPr>
            <a:r>
              <a:rPr lang="zh-CN" altLang="en-US" dirty="0">
                <a:latin typeface="DejaVu Math TeX Gyre" panose="02000503000000000000" charset="0"/>
                <a:cs typeface="DejaVu Math TeX Gyre" panose="02000503000000000000" charset="0"/>
              </a:rPr>
              <a:t>最优超平面问题等价对偶形式</a:t>
            </a:r>
            <a:r>
              <a:rPr lang="en-US" altLang="zh-CN" dirty="0">
                <a:latin typeface="DejaVu Math TeX Gyre" panose="02000503000000000000" charset="0"/>
                <a:cs typeface="DejaVu Math TeX Gyre" panose="02000503000000000000" charset="0"/>
              </a:rPr>
              <a:t>:</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581DF35-A374-7E6F-1BCA-4B3C2982E982}"/>
                  </a:ext>
                </a:extLst>
              </p:cNvPr>
              <p:cNvSpPr txBox="1"/>
              <p:nvPr/>
            </p:nvSpPr>
            <p:spPr>
              <a:xfrm>
                <a:off x="6364605" y="3980815"/>
                <a:ext cx="3080459" cy="1707134"/>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func>
                                <m:funcPr>
                                  <m:ctrlPr>
                                    <a:rPr lang="en-US" altLang="zh-CN" i="1" smtClean="0">
                                      <a:latin typeface="Cambria Math" panose="02040503050406030204" pitchFamily="18" charset="0"/>
                                    </a:rPr>
                                  </m:ctrlPr>
                                </m:funcPr>
                                <m:fName>
                                  <m:limLow>
                                    <m:limLowPr>
                                      <m:ctrlPr>
                                        <a:rPr lang="en-US" altLang="zh-CN" i="0" smtClean="0">
                                          <a:latin typeface="Cambria Math" panose="02040503050406030204" pitchFamily="18" charset="0"/>
                                        </a:rPr>
                                      </m:ctrlPr>
                                    </m:limLowPr>
                                    <m:e>
                                      <m:r>
                                        <m:rPr>
                                          <m:sty m:val="p"/>
                                        </m:rPr>
                                        <a:rPr lang="en-US" altLang="zh-CN" i="0" smtClean="0">
                                          <a:latin typeface="Cambria Math" panose="02040503050406030204" pitchFamily="18" charset="0"/>
                                        </a:rPr>
                                        <m:t>min</m:t>
                                      </m:r>
                                    </m:e>
                                    <m:lim>
                                      <m:r>
                                        <a:rPr lang="en-US" altLang="zh-CN" b="0" i="1" smtClean="0">
                                          <a:latin typeface="Cambria Math" panose="02040503050406030204" pitchFamily="18" charset="0"/>
                                        </a:rPr>
                                        <m:t>𝑎</m:t>
                                      </m:r>
                                    </m:lim>
                                  </m:limLow>
                                </m:fName>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𝑗</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𝑖</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𝒊</m:t>
                                              </m:r>
                                            </m:sub>
                                          </m:sSub>
                                          <m:r>
                                            <a:rPr lang="en-US" altLang="zh-CN" b="1" i="1">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𝒋</m:t>
                                              </m:r>
                                            </m:sub>
                                          </m:sSub>
                                          <m:r>
                                            <a:rPr lang="en-US" altLang="zh-CN" b="0" i="1" smtClean="0">
                                              <a:latin typeface="Cambria Math" panose="02040503050406030204" pitchFamily="18" charset="0"/>
                                            </a:rPr>
                                            <m:t>)</m:t>
                                          </m:r>
                                        </m:e>
                                      </m:nary>
                                    </m:e>
                                  </m:nary>
                                </m:e>
                              </m:func>
                            </m:e>
                            <m:e>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=0</m:t>
                                  </m:r>
                                </m:e>
                              </m:nary>
                            </m:e>
                          </m:eqArr>
                        </m:e>
                      </m:d>
                    </m:oMath>
                  </m:oMathPara>
                </a14:m>
                <a:endParaRPr lang="zh-CN" altLang="en-US" dirty="0"/>
              </a:p>
            </p:txBody>
          </p:sp>
        </mc:Choice>
        <mc:Fallback xmlns="">
          <p:sp>
            <p:nvSpPr>
              <p:cNvPr id="6" name="文本框 5">
                <a:extLst>
                  <a:ext uri="{FF2B5EF4-FFF2-40B4-BE49-F238E27FC236}">
                    <a16:creationId xmlns:a16="http://schemas.microsoft.com/office/drawing/2014/main" id="{F581DF35-A374-7E6F-1BCA-4B3C2982E982}"/>
                  </a:ext>
                </a:extLst>
              </p:cNvPr>
              <p:cNvSpPr txBox="1">
                <a:spLocks noRot="1" noChangeAspect="1" noMove="1" noResize="1" noEditPoints="1" noAdjustHandles="1" noChangeArrowheads="1" noChangeShapeType="1" noTextEdit="1"/>
              </p:cNvSpPr>
              <p:nvPr/>
            </p:nvSpPr>
            <p:spPr>
              <a:xfrm>
                <a:off x="6364605" y="3980815"/>
                <a:ext cx="3080459" cy="1707134"/>
              </a:xfrm>
              <a:prstGeom prst="rect">
                <a:avLst/>
              </a:prstGeom>
              <a:blipFill>
                <a:blip r:embed="rId8"/>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939798"/>
            <a:ext cx="5022850" cy="625474"/>
            <a:chOff x="0" y="1075267"/>
            <a:chExt cx="5022850"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4228465" cy="460375"/>
            </a:xfrm>
            <a:prstGeom prst="rect">
              <a:avLst/>
            </a:prstGeom>
            <a:noFill/>
          </p:spPr>
          <p:txBody>
            <a:bodyPr wrap="square">
              <a:spAutoFit/>
            </a:bodyPr>
            <a:lstStyle/>
            <a:p>
              <a:r>
                <a:rPr lang="en-US" altLang="zh-CN" sz="2400" b="1" dirty="0">
                  <a:solidFill>
                    <a:schemeClr val="accent1"/>
                  </a:solidFill>
                  <a:latin typeface="+mj-lt"/>
                  <a:sym typeface="+mn-ea"/>
                </a:rPr>
                <a:t>5.2.3 </a:t>
              </a:r>
              <a:r>
                <a:rPr lang="zh-CN" altLang="en-US" sz="2400" b="1" dirty="0">
                  <a:solidFill>
                    <a:schemeClr val="accent1"/>
                  </a:solidFill>
                  <a:latin typeface="+mj-lt"/>
                  <a:sym typeface="+mn-ea"/>
                </a:rPr>
                <a:t>支持向量机避障策略</a:t>
              </a:r>
              <a:endParaRPr lang="zh-CN" altLang="en-US" sz="2400" b="1" dirty="0">
                <a:solidFill>
                  <a:schemeClr val="accent1"/>
                </a:solidFill>
                <a:latin typeface="+mj-lt"/>
              </a:endParaRPr>
            </a:p>
          </p:txBody>
        </p:sp>
      </p:grpSp>
      <p:cxnSp>
        <p:nvCxnSpPr>
          <p:cNvPr id="67" name="直接箭头连接符 66"/>
          <p:cNvCxnSpPr/>
          <p:nvPr/>
        </p:nvCxnSpPr>
        <p:spPr>
          <a:xfrm flipV="1">
            <a:off x="6872605" y="5763895"/>
            <a:ext cx="3295650" cy="19050"/>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68" name="直接箭头连接符 67"/>
          <p:cNvCxnSpPr/>
          <p:nvPr/>
        </p:nvCxnSpPr>
        <p:spPr>
          <a:xfrm flipV="1">
            <a:off x="6872605" y="2544445"/>
            <a:ext cx="0" cy="3200400"/>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sp>
        <p:nvSpPr>
          <p:cNvPr id="69" name="椭圆 68"/>
          <p:cNvSpPr/>
          <p:nvPr/>
        </p:nvSpPr>
        <p:spPr>
          <a:xfrm>
            <a:off x="7196455" y="429704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7577455" y="442404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7221855" y="48272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7526655" y="48272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7704455" y="480504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7526655" y="52304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8158480" y="52304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7948930" y="512572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7948930" y="47002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7599680" y="40493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8390255" y="4722495"/>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8468360" y="339090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8910955" y="28873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9418955" y="309689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9120505" y="367792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9799955" y="35731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a:off x="8910955" y="341439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a:off x="10006330" y="417639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9523730" y="35731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9418955" y="394462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9163050" y="428117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a:off x="8677910" y="3839845"/>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p:cNvSpPr/>
          <p:nvPr/>
        </p:nvSpPr>
        <p:spPr>
          <a:xfrm>
            <a:off x="10387330" y="2439670"/>
            <a:ext cx="104775" cy="10477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a:off x="10387330" y="2782570"/>
            <a:ext cx="104775" cy="10477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p:cNvSpPr/>
          <p:nvPr/>
        </p:nvSpPr>
        <p:spPr>
          <a:xfrm>
            <a:off x="7486015" y="396684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p:nvSpPr>
        <p:spPr>
          <a:xfrm>
            <a:off x="8285480" y="462724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p:nvSpPr>
        <p:spPr>
          <a:xfrm>
            <a:off x="8573135" y="374459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p:nvSpPr>
        <p:spPr>
          <a:xfrm>
            <a:off x="9015730" y="4176395"/>
            <a:ext cx="323215" cy="314325"/>
          </a:xfrm>
          <a:prstGeom prst="ellipse">
            <a:avLst/>
          </a:prstGeom>
          <a:noFill/>
          <a:extLst>
            <a:ext uri="{909E8E84-426E-40DD-AFC4-6F175D3DCCD1}">
              <a14:hiddenFill xmlns:a14="http://schemas.microsoft.com/office/drawing/2010/main">
                <a:solidFill>
                  <a:schemeClr val="bg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5" name="直接连接符 114"/>
          <p:cNvCxnSpPr/>
          <p:nvPr/>
        </p:nvCxnSpPr>
        <p:spPr>
          <a:xfrm>
            <a:off x="7769860" y="3038475"/>
            <a:ext cx="2273935" cy="201295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17" name="直接连接符 116"/>
          <p:cNvCxnSpPr/>
          <p:nvPr/>
        </p:nvCxnSpPr>
        <p:spPr>
          <a:xfrm>
            <a:off x="7179310" y="3667125"/>
            <a:ext cx="2172335" cy="190500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18" name="直接连接符 117"/>
          <p:cNvCxnSpPr/>
          <p:nvPr/>
        </p:nvCxnSpPr>
        <p:spPr>
          <a:xfrm>
            <a:off x="7486015" y="3374390"/>
            <a:ext cx="2273935" cy="2012950"/>
          </a:xfrm>
          <a:prstGeom prst="line">
            <a:avLst/>
          </a:prstGeom>
        </p:spPr>
        <p:style>
          <a:lnRef idx="3">
            <a:schemeClr val="accent1"/>
          </a:lnRef>
          <a:fillRef idx="0">
            <a:srgbClr val="FFFFFF"/>
          </a:fillRef>
          <a:effectRef idx="0">
            <a:srgbClr val="FFFFFF"/>
          </a:effectRef>
          <a:fontRef idx="minor">
            <a:schemeClr val="tx1"/>
          </a:fontRef>
        </p:style>
      </p:cxnSp>
      <p:cxnSp>
        <p:nvCxnSpPr>
          <p:cNvPr id="119" name="直接箭头连接符 118"/>
          <p:cNvCxnSpPr/>
          <p:nvPr/>
        </p:nvCxnSpPr>
        <p:spPr>
          <a:xfrm flipV="1">
            <a:off x="9491345" y="4816475"/>
            <a:ext cx="279400" cy="31750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121" name="直接箭头连接符 120"/>
          <p:cNvCxnSpPr/>
          <p:nvPr/>
        </p:nvCxnSpPr>
        <p:spPr>
          <a:xfrm flipH="1">
            <a:off x="9199245" y="5133975"/>
            <a:ext cx="292100" cy="34290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22" name="文本框 121"/>
              <p:cNvSpPr txBox="1"/>
              <p:nvPr/>
            </p:nvSpPr>
            <p:spPr>
              <a:xfrm>
                <a:off x="7402195" y="2621280"/>
                <a:ext cx="4023995" cy="291465"/>
              </a:xfrm>
              <a:prstGeom prst="rect">
                <a:avLst/>
              </a:prstGeom>
              <a:noFill/>
            </p:spPr>
            <p:txBody>
              <a:bodyPr wrap="square" rtlCol="0">
                <a:no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𝐻</m:t>
                          </m:r>
                        </m:e>
                        <m:sub>
                          <m:r>
                            <a:rPr lang="en-US" altLang="zh-CN" i="1">
                              <a:latin typeface="Cambria Math" panose="02040503050406030204" pitchFamily="18" charset="0"/>
                              <a:cs typeface="DejaVu Math TeX Gyre" panose="02000503000000000000" charset="0"/>
                            </a:rPr>
                            <m:t>1</m:t>
                          </m:r>
                        </m:sub>
                      </m:sSub>
                    </m:oMath>
                  </m:oMathPara>
                </a14:m>
                <a:endParaRPr lang="zh-CN" altLang="en-US"/>
              </a:p>
            </p:txBody>
          </p:sp>
        </mc:Choice>
        <mc:Fallback xmlns="">
          <p:sp>
            <p:nvSpPr>
              <p:cNvPr id="122" name="文本框 121"/>
              <p:cNvSpPr txBox="1">
                <a:spLocks noRot="1" noChangeAspect="1" noMove="1" noResize="1" noEditPoints="1" noAdjustHandles="1" noChangeArrowheads="1" noChangeShapeType="1" noTextEdit="1"/>
              </p:cNvSpPr>
              <p:nvPr/>
            </p:nvSpPr>
            <p:spPr>
              <a:xfrm>
                <a:off x="7402195" y="2621280"/>
                <a:ext cx="4023995" cy="291465"/>
              </a:xfrm>
              <a:prstGeom prst="rect">
                <a:avLst/>
              </a:prstGeom>
              <a:blipFill rotWithShape="1">
                <a:blip r:embed="rId3"/>
                <a:stretch>
                  <a:fillRect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3" name="文本框 122"/>
              <p:cNvSpPr txBox="1"/>
              <p:nvPr/>
            </p:nvSpPr>
            <p:spPr>
              <a:xfrm>
                <a:off x="7103110" y="2990215"/>
                <a:ext cx="4023995" cy="291465"/>
              </a:xfrm>
              <a:prstGeom prst="rect">
                <a:avLst/>
              </a:prstGeom>
              <a:noFill/>
            </p:spPr>
            <p:txBody>
              <a:bodyPr wrap="square" rtlCol="0">
                <a:noAutofit/>
              </a:bodyPr>
              <a:lstStyle/>
              <a:p>
                <a:pPr/>
                <a14:m>
                  <m:oMathPara xmlns:m="http://schemas.openxmlformats.org/officeDocument/2006/math">
                    <m:oMathParaPr>
                      <m:jc m:val="left"/>
                    </m:oMathParaPr>
                    <m:oMath>
                      <m:r>
                        <a:rPr lang="en-US" altLang="zh-CN" i="1">
                          <a:latin typeface="Cambria Math" panose="02040503050406030204" pitchFamily="18" charset="0"/>
                          <a:cs typeface="DejaVu Math TeX Gyre" panose="02000503000000000000" charset="0"/>
                        </a:rPr>
                        <m:t>𝐻</m:t>
                      </m:r>
                    </m:oMath>
                  </m:oMathPara>
                </a14:m>
                <a:endParaRPr lang="zh-CN" altLang="en-US"/>
              </a:p>
            </p:txBody>
          </p:sp>
        </mc:Choice>
        <mc:Fallback xmlns="">
          <p:sp>
            <p:nvSpPr>
              <p:cNvPr id="123" name="文本框 122"/>
              <p:cNvSpPr txBox="1">
                <a:spLocks noRot="1" noChangeAspect="1" noMove="1" noResize="1" noEditPoints="1" noAdjustHandles="1" noChangeArrowheads="1" noChangeShapeType="1" noTextEdit="1"/>
              </p:cNvSpPr>
              <p:nvPr/>
            </p:nvSpPr>
            <p:spPr>
              <a:xfrm>
                <a:off x="7103110" y="2990215"/>
                <a:ext cx="4023995" cy="291465"/>
              </a:xfrm>
              <a:prstGeom prst="rect">
                <a:avLst/>
              </a:prstGeom>
              <a:blipFill rotWithShape="1">
                <a:blip r:embed="rId4"/>
                <a:stretch>
                  <a:fillRect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4" name="文本框 123"/>
              <p:cNvSpPr txBox="1"/>
              <p:nvPr/>
            </p:nvSpPr>
            <p:spPr>
              <a:xfrm>
                <a:off x="6760845" y="3281680"/>
                <a:ext cx="4023995" cy="291465"/>
              </a:xfrm>
              <a:prstGeom prst="rect">
                <a:avLst/>
              </a:prstGeom>
              <a:noFill/>
            </p:spPr>
            <p:txBody>
              <a:bodyPr wrap="square" rtlCol="0">
                <a:no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𝐻</m:t>
                          </m:r>
                        </m:e>
                        <m:sub>
                          <m:r>
                            <a:rPr lang="en-US" altLang="zh-CN" i="1">
                              <a:latin typeface="Cambria Math" panose="02040503050406030204" pitchFamily="18" charset="0"/>
                              <a:cs typeface="DejaVu Math TeX Gyre" panose="02000503000000000000" charset="0"/>
                            </a:rPr>
                            <m:t>2</m:t>
                          </m:r>
                        </m:sub>
                      </m:sSub>
                    </m:oMath>
                  </m:oMathPara>
                </a14:m>
                <a:endParaRPr lang="zh-CN" altLang="en-US"/>
              </a:p>
            </p:txBody>
          </p:sp>
        </mc:Choice>
        <mc:Fallback xmlns="">
          <p:sp>
            <p:nvSpPr>
              <p:cNvPr id="124" name="文本框 123"/>
              <p:cNvSpPr txBox="1">
                <a:spLocks noRot="1" noChangeAspect="1" noMove="1" noResize="1" noEditPoints="1" noAdjustHandles="1" noChangeArrowheads="1" noChangeShapeType="1" noTextEdit="1"/>
              </p:cNvSpPr>
              <p:nvPr/>
            </p:nvSpPr>
            <p:spPr>
              <a:xfrm>
                <a:off x="6760845" y="3281680"/>
                <a:ext cx="4023995" cy="291465"/>
              </a:xfrm>
              <a:prstGeom prst="rect">
                <a:avLst/>
              </a:prstGeom>
              <a:blipFill rotWithShape="1">
                <a:blip r:embed="rId5"/>
                <a:stretch>
                  <a:fillRect b="-9804"/>
                </a:stretch>
              </a:blipFill>
            </p:spPr>
            <p:txBody>
              <a:bodyPr/>
              <a:lstStyle/>
              <a:p>
                <a:r>
                  <a:rPr lang="zh-CN" altLang="en-US">
                    <a:noFill/>
                  </a:rPr>
                  <a:t> </a:t>
                </a:r>
              </a:p>
            </p:txBody>
          </p:sp>
        </mc:Fallback>
      </mc:AlternateContent>
      <p:cxnSp>
        <p:nvCxnSpPr>
          <p:cNvPr id="127" name="直接连接符 126"/>
          <p:cNvCxnSpPr/>
          <p:nvPr/>
        </p:nvCxnSpPr>
        <p:spPr>
          <a:xfrm>
            <a:off x="7896860" y="3165475"/>
            <a:ext cx="2273935" cy="201295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8" name="直接连接符 127"/>
          <p:cNvCxnSpPr/>
          <p:nvPr/>
        </p:nvCxnSpPr>
        <p:spPr>
          <a:xfrm>
            <a:off x="7306310" y="3794125"/>
            <a:ext cx="2172335" cy="190500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94" name="文本框 93"/>
              <p:cNvSpPr txBox="1"/>
              <p:nvPr/>
            </p:nvSpPr>
            <p:spPr>
              <a:xfrm>
                <a:off x="10492105" y="2306955"/>
                <a:ext cx="4064000" cy="370840"/>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𝑦</m:t>
                          </m:r>
                        </m:e>
                        <m:sub>
                          <m:r>
                            <a:rPr lang="en-US" altLang="zh-CN" i="1">
                              <a:latin typeface="Cambria Math" panose="02040503050406030204" pitchFamily="18" charset="0"/>
                              <a:cs typeface="DejaVu Math TeX Gyre" panose="02000503000000000000" charset="0"/>
                            </a:rPr>
                            <m:t>𝑖</m:t>
                          </m:r>
                        </m:sub>
                      </m:sSub>
                      <m:r>
                        <a:rPr lang="en-US" altLang="zh-CN" i="1">
                          <a:latin typeface="Cambria Math" panose="02040503050406030204" pitchFamily="18" charset="0"/>
                          <a:cs typeface="DejaVu Math TeX Gyre" panose="02000503000000000000" charset="0"/>
                        </a:rPr>
                        <m:t>=1</m:t>
                      </m:r>
                    </m:oMath>
                  </m:oMathPara>
                </a14:m>
                <a:endParaRPr lang="zh-CN" altLang="en-US"/>
              </a:p>
            </p:txBody>
          </p:sp>
        </mc:Choice>
        <mc:Fallback xmlns="">
          <p:sp>
            <p:nvSpPr>
              <p:cNvPr id="94" name="文本框 93"/>
              <p:cNvSpPr txBox="1">
                <a:spLocks noRot="1" noChangeAspect="1" noMove="1" noResize="1" noEditPoints="1" noAdjustHandles="1" noChangeArrowheads="1" noChangeShapeType="1" noTextEdit="1"/>
              </p:cNvSpPr>
              <p:nvPr/>
            </p:nvSpPr>
            <p:spPr>
              <a:xfrm>
                <a:off x="10492105" y="2306955"/>
                <a:ext cx="4064000" cy="37084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文本框 94"/>
              <p:cNvSpPr txBox="1"/>
              <p:nvPr/>
            </p:nvSpPr>
            <p:spPr>
              <a:xfrm>
                <a:off x="10492105" y="2621280"/>
                <a:ext cx="4064000" cy="370840"/>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altLang="zh-CN" i="1">
                              <a:latin typeface="Cambria Math" panose="02040503050406030204" pitchFamily="18" charset="0"/>
                              <a:cs typeface="DejaVu Math TeX Gyre" panose="02000503000000000000" charset="0"/>
                            </a:rPr>
                          </m:ctrlPr>
                        </m:sSubPr>
                        <m:e>
                          <m:r>
                            <a:rPr lang="en-US" altLang="zh-CN" i="1">
                              <a:latin typeface="Cambria Math" panose="02040503050406030204" pitchFamily="18" charset="0"/>
                              <a:cs typeface="DejaVu Math TeX Gyre" panose="02000503000000000000" charset="0"/>
                            </a:rPr>
                            <m:t>𝑦</m:t>
                          </m:r>
                        </m:e>
                        <m:sub>
                          <m:r>
                            <a:rPr lang="en-US" altLang="zh-CN" i="1">
                              <a:latin typeface="Cambria Math" panose="02040503050406030204" pitchFamily="18" charset="0"/>
                              <a:cs typeface="DejaVu Math TeX Gyre" panose="02000503000000000000" charset="0"/>
                            </a:rPr>
                            <m:t>𝑖</m:t>
                          </m:r>
                        </m:sub>
                      </m:sSub>
                      <m:r>
                        <a:rPr lang="en-US" altLang="zh-CN" i="1">
                          <a:latin typeface="Cambria Math" panose="02040503050406030204" pitchFamily="18" charset="0"/>
                          <a:cs typeface="DejaVu Math TeX Gyre" panose="02000503000000000000" charset="0"/>
                        </a:rPr>
                        <m:t>=−1</m:t>
                      </m:r>
                    </m:oMath>
                  </m:oMathPara>
                </a14:m>
                <a:endParaRPr lang="zh-CN" altLang="en-US"/>
              </a:p>
            </p:txBody>
          </p:sp>
        </mc:Choice>
        <mc:Fallback xmlns="">
          <p:sp>
            <p:nvSpPr>
              <p:cNvPr id="95" name="文本框 94"/>
              <p:cNvSpPr txBox="1">
                <a:spLocks noRot="1" noChangeAspect="1" noMove="1" noResize="1" noEditPoints="1" noAdjustHandles="1" noChangeArrowheads="1" noChangeShapeType="1" noTextEdit="1"/>
              </p:cNvSpPr>
              <p:nvPr/>
            </p:nvSpPr>
            <p:spPr>
              <a:xfrm>
                <a:off x="10492105" y="2621280"/>
                <a:ext cx="4064000" cy="37084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p:cNvSpPr txBox="1"/>
              <p:nvPr/>
            </p:nvSpPr>
            <p:spPr>
              <a:xfrm>
                <a:off x="8829040" y="5335270"/>
                <a:ext cx="2597150" cy="321310"/>
              </a:xfrm>
              <a:prstGeom prst="rect">
                <a:avLst/>
              </a:prstGeom>
              <a:noFill/>
            </p:spPr>
            <p:txBody>
              <a:bodyPr wrap="square" rtlCol="0">
                <a:noAutofit/>
              </a:bodyPr>
              <a:lstStyle/>
              <a:p>
                <a:pPr algn="l">
                  <a:lnSpc>
                    <a:spcPct val="120000"/>
                  </a:lnSpc>
                </a:pPr>
                <a14:m>
                  <m:oMathPara xmlns:m="http://schemas.openxmlformats.org/officeDocument/2006/math">
                    <m:oMath>
                      <m:r>
                        <a:rPr lang="en-US" altLang="zh-CN" sz="1400" i="1" dirty="0">
                          <a:latin typeface="Cambria Math" panose="02040503050406030204" pitchFamily="18" charset="0"/>
                          <a:cs typeface="DejaVu Math TeX Gyre" panose="02000503000000000000" charset="0"/>
                        </a:rPr>
                        <m:t>𝑀𝑎𝑟𝑔𝑖𝑛</m:t>
                      </m:r>
                      <m:r>
                        <a:rPr lang="en-US" altLang="zh-CN" sz="1400" i="1" dirty="0">
                          <a:latin typeface="Cambria Math" panose="02040503050406030204" pitchFamily="18" charset="0"/>
                          <a:cs typeface="DejaVu Math TeX Gyre" panose="02000503000000000000" charset="0"/>
                        </a:rPr>
                        <m:t>=2/||</m:t>
                      </m:r>
                      <m:r>
                        <a:rPr lang="en-US" altLang="zh-CN" sz="1400" b="1" i="1" dirty="0">
                          <a:latin typeface="Cambria Math" panose="02040503050406030204" pitchFamily="18" charset="0"/>
                          <a:cs typeface="DejaVu Math TeX Gyre" panose="02000503000000000000" charset="0"/>
                        </a:rPr>
                        <m:t>𝒘</m:t>
                      </m:r>
                      <m:r>
                        <a:rPr lang="en-US" altLang="zh-CN" sz="1400" i="1" dirty="0">
                          <a:latin typeface="Cambria Math" panose="02040503050406030204" pitchFamily="18" charset="0"/>
                          <a:cs typeface="DejaVu Math TeX Gyre" panose="02000503000000000000" charset="0"/>
                        </a:rPr>
                        <m:t>||</m:t>
                      </m:r>
                    </m:oMath>
                  </m:oMathPara>
                </a14:m>
                <a:endParaRPr lang="zh-CN" altLang="en-US" sz="1400" dirty="0">
                  <a:latin typeface="DejaVu Math TeX Gyre" panose="02000503000000000000" charset="0"/>
                  <a:cs typeface="DejaVu Math TeX Gyre" panose="02000503000000000000" charset="0"/>
                </a:endParaRPr>
              </a:p>
            </p:txBody>
          </p:sp>
        </mc:Choice>
        <mc:Fallback xmlns="">
          <p:sp>
            <p:nvSpPr>
              <p:cNvPr id="30" name="文本框 29"/>
              <p:cNvSpPr txBox="1">
                <a:spLocks noRot="1" noChangeAspect="1" noMove="1" noResize="1" noEditPoints="1" noAdjustHandles="1" noChangeArrowheads="1" noChangeShapeType="1" noTextEdit="1"/>
              </p:cNvSpPr>
              <p:nvPr/>
            </p:nvSpPr>
            <p:spPr>
              <a:xfrm>
                <a:off x="8829040" y="5335270"/>
                <a:ext cx="2597150" cy="321310"/>
              </a:xfrm>
              <a:prstGeom prst="rect">
                <a:avLst/>
              </a:prstGeom>
              <a:blipFill rotWithShape="1">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p:cNvSpPr txBox="1"/>
              <p:nvPr/>
            </p:nvSpPr>
            <p:spPr>
              <a:xfrm>
                <a:off x="354965" y="6109970"/>
                <a:ext cx="5245735" cy="539115"/>
              </a:xfrm>
              <a:prstGeom prst="rect">
                <a:avLst/>
              </a:prstGeom>
              <a:noFill/>
            </p:spPr>
            <p:txBody>
              <a:bodyPr wrap="square" rtlCol="0">
                <a:noAutofit/>
              </a:bodyPr>
              <a:lstStyle/>
              <a:p>
                <a:pPr algn="l">
                  <a:lnSpc>
                    <a:spcPct val="120000"/>
                  </a:lnSpc>
                </a:pPr>
                <a14:m>
                  <m:oMathPara xmlns:m="http://schemas.openxmlformats.org/officeDocument/2006/math">
                    <m:oMath>
                      <m:r>
                        <a:rPr lang="en-US" altLang="zh-CN" i="1" dirty="0">
                          <a:latin typeface="Cambria Math" panose="02040503050406030204" pitchFamily="18" charset="0"/>
                          <a:cs typeface="DejaVu Math TeX Gyre" panose="02000503000000000000" charset="0"/>
                        </a:rPr>
                        <m:t>𝑓</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𝑥</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𝑠𝑔𝑛</m:t>
                      </m:r>
                      <m:r>
                        <a:rPr lang="en-US" altLang="zh-CN" i="1" dirty="0">
                          <a:latin typeface="Cambria Math" panose="02040503050406030204" pitchFamily="18" charset="0"/>
                          <a:cs typeface="DejaVu Math TeX Gyre" panose="02000503000000000000" charset="0"/>
                        </a:rPr>
                        <m:t>((</m:t>
                      </m:r>
                      <m:sSup>
                        <m:sSupPr>
                          <m:ctrlPr>
                            <a:rPr lang="en-US" altLang="zh-CN" b="1" i="1" dirty="0">
                              <a:latin typeface="Cambria Math" panose="02040503050406030204" pitchFamily="18" charset="0"/>
                              <a:cs typeface="DejaVu Math TeX Gyre" panose="02000503000000000000" charset="0"/>
                            </a:rPr>
                          </m:ctrlPr>
                        </m:sSupPr>
                        <m:e>
                          <m:r>
                            <a:rPr lang="en-US" altLang="zh-CN" b="1" i="1" dirty="0">
                              <a:latin typeface="Cambria Math" panose="02040503050406030204" pitchFamily="18" charset="0"/>
                              <a:cs typeface="DejaVu Math TeX Gyre" panose="02000503000000000000" charset="0"/>
                            </a:rPr>
                            <m:t>𝒘</m:t>
                          </m:r>
                        </m:e>
                        <m:sup>
                          <m:r>
                            <a:rPr lang="en-US" altLang="zh-CN" b="1" i="1" dirty="0">
                              <a:latin typeface="Cambria Math" panose="02040503050406030204" pitchFamily="18" charset="0"/>
                              <a:cs typeface="DejaVu Math TeX Gyre" panose="02000503000000000000" charset="0"/>
                            </a:rPr>
                            <m:t>∗</m:t>
                          </m:r>
                        </m:sup>
                      </m:sSup>
                      <m:r>
                        <a:rPr lang="en-US" altLang="zh-CN" b="1" i="1" dirty="0">
                          <a:latin typeface="Cambria Math" panose="02040503050406030204" pitchFamily="18" charset="0"/>
                          <a:cs typeface="DejaVu Math TeX Gyre" panose="02000503000000000000" charset="0"/>
                        </a:rPr>
                        <m:t>·</m:t>
                      </m:r>
                      <m:r>
                        <a:rPr lang="en-US" altLang="zh-CN" b="1" i="1" dirty="0">
                          <a:latin typeface="Cambria Math" panose="02040503050406030204" pitchFamily="18" charset="0"/>
                          <a:cs typeface="DejaVu Math TeX Gyre" panose="02000503000000000000" charset="0"/>
                        </a:rPr>
                        <m:t>𝒙</m:t>
                      </m:r>
                      <m:r>
                        <a:rPr lang="en-US" altLang="zh-CN" i="1" dirty="0">
                          <a:latin typeface="Cambria Math" panose="02040503050406030204" pitchFamily="18" charset="0"/>
                          <a:cs typeface="DejaVu Math TeX Gyre" panose="02000503000000000000" charset="0"/>
                        </a:rPr>
                        <m:t>)+</m:t>
                      </m:r>
                      <m:sSup>
                        <m:sSupPr>
                          <m:ctrlPr>
                            <a:rPr lang="en-US" altLang="zh-CN" i="1" dirty="0">
                              <a:latin typeface="Cambria Math" panose="02040503050406030204" pitchFamily="18" charset="0"/>
                              <a:cs typeface="DejaVu Math TeX Gyre" panose="02000503000000000000" charset="0"/>
                            </a:rPr>
                          </m:ctrlPr>
                        </m:sSupPr>
                        <m:e>
                          <m:r>
                            <a:rPr lang="en-US" altLang="zh-CN" i="1" dirty="0">
                              <a:latin typeface="Cambria Math" panose="02040503050406030204" pitchFamily="18" charset="0"/>
                              <a:cs typeface="DejaVu Math TeX Gyre" panose="02000503000000000000" charset="0"/>
                            </a:rPr>
                            <m:t>𝑏</m:t>
                          </m:r>
                        </m:e>
                        <m:sup>
                          <m:r>
                            <a:rPr lang="en-US" altLang="zh-CN" i="1" dirty="0">
                              <a:latin typeface="Cambria Math" panose="02040503050406030204" pitchFamily="18" charset="0"/>
                              <a:cs typeface="DejaVu Math TeX Gyre" panose="02000503000000000000" charset="0"/>
                            </a:rPr>
                            <m:t>∗</m:t>
                          </m:r>
                        </m:sup>
                      </m:sSup>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𝑥</m:t>
                      </m:r>
                      <m:r>
                        <a:rPr lang="en-US" altLang="zh-CN" i="1" dirty="0">
                          <a:latin typeface="Cambria Math" panose="02040503050406030204" pitchFamily="18" charset="0"/>
                          <a:cs typeface="DejaVu Math TeX Gyre" panose="02000503000000000000" charset="0"/>
                        </a:rPr>
                        <m:t>∈</m:t>
                      </m:r>
                      <m:sSup>
                        <m:sSupPr>
                          <m:ctrlPr>
                            <a:rPr lang="en-US" altLang="zh-CN" i="1" dirty="0">
                              <a:latin typeface="Cambria Math" panose="02040503050406030204" pitchFamily="18" charset="0"/>
                              <a:cs typeface="DejaVu Math TeX Gyre" panose="02000503000000000000" charset="0"/>
                            </a:rPr>
                          </m:ctrlPr>
                        </m:sSupPr>
                        <m:e>
                          <m:r>
                            <a:rPr lang="en-US" altLang="zh-CN" i="1" dirty="0">
                              <a:latin typeface="Cambria Math" panose="02040503050406030204" pitchFamily="18" charset="0"/>
                              <a:cs typeface="DejaVu Math TeX Gyre" panose="02000503000000000000" charset="0"/>
                            </a:rPr>
                            <m:t>𝑅</m:t>
                          </m:r>
                        </m:e>
                        <m:sup>
                          <m:r>
                            <a:rPr lang="en-US" altLang="zh-CN" i="1" dirty="0">
                              <a:latin typeface="Cambria Math" panose="02040503050406030204" pitchFamily="18" charset="0"/>
                              <a:cs typeface="DejaVu Math TeX Gyre" panose="02000503000000000000" charset="0"/>
                            </a:rPr>
                            <m:t>𝑁</m:t>
                          </m:r>
                        </m:sup>
                      </m:sSup>
                    </m:oMath>
                  </m:oMathPara>
                </a14:m>
                <a:endParaRPr lang="en-US" altLang="zh-CN" dirty="0">
                  <a:latin typeface="DejaVu Math TeX Gyre" panose="02000503000000000000" charset="0"/>
                  <a:cs typeface="DejaVu Math TeX Gyre" panose="02000503000000000000" charset="0"/>
                </a:endParaRPr>
              </a:p>
            </p:txBody>
          </p:sp>
        </mc:Choice>
        <mc:Fallback xmlns="">
          <p:sp>
            <p:nvSpPr>
              <p:cNvPr id="52" name="文本框 51"/>
              <p:cNvSpPr txBox="1">
                <a:spLocks noRot="1" noChangeAspect="1" noMove="1" noResize="1" noEditPoints="1" noAdjustHandles="1" noChangeArrowheads="1" noChangeShapeType="1" noTextEdit="1"/>
              </p:cNvSpPr>
              <p:nvPr/>
            </p:nvSpPr>
            <p:spPr>
              <a:xfrm>
                <a:off x="354965" y="6109970"/>
                <a:ext cx="5245735" cy="539115"/>
              </a:xfrm>
              <a:prstGeom prst="rect">
                <a:avLst/>
              </a:prstGeom>
              <a:blipFill rotWithShape="1">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p:cNvSpPr txBox="1"/>
              <p:nvPr/>
            </p:nvSpPr>
            <p:spPr>
              <a:xfrm>
                <a:off x="1135380" y="5762116"/>
                <a:ext cx="2964815" cy="518160"/>
              </a:xfrm>
              <a:prstGeom prst="rect">
                <a:avLst/>
              </a:prstGeom>
              <a:noFill/>
            </p:spPr>
            <p:txBody>
              <a:bodyPr wrap="square" rtlCol="0">
                <a:noAutofit/>
              </a:bodyPr>
              <a:lstStyle/>
              <a:p>
                <a:pPr algn="l">
                  <a:lnSpc>
                    <a:spcPct val="120000"/>
                  </a:lnSpc>
                </a:pPr>
                <a:r>
                  <a:rPr lang="zh-CN" altLang="en-US" b="1" dirty="0">
                    <a:latin typeface="DejaVu Math TeX Gyre" panose="02000503000000000000" charset="0"/>
                    <a:cs typeface="DejaVu Math TeX Gyre" panose="02000503000000000000" charset="0"/>
                  </a:rPr>
                  <a:t>得到最优分类函数</a:t>
                </a:r>
                <a14:m>
                  <m:oMath xmlns:m="http://schemas.openxmlformats.org/officeDocument/2006/math">
                    <m:r>
                      <a:rPr lang="en-US" altLang="zh-CN" i="1" dirty="0">
                        <a:latin typeface="Cambria Math" panose="02040503050406030204" pitchFamily="18" charset="0"/>
                        <a:cs typeface="DejaVu Math TeX Gyre" panose="02000503000000000000" charset="0"/>
                      </a:rPr>
                      <m:t>𝑓</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𝑥</m:t>
                    </m:r>
                    <m:r>
                      <a:rPr lang="en-US" altLang="zh-CN" i="1" dirty="0">
                        <a:latin typeface="Cambria Math" panose="02040503050406030204" pitchFamily="18" charset="0"/>
                        <a:cs typeface="DejaVu Math TeX Gyre" panose="02000503000000000000" charset="0"/>
                      </a:rPr>
                      <m:t>)</m:t>
                    </m:r>
                  </m:oMath>
                </a14:m>
                <a:r>
                  <a:rPr lang="zh-CN" altLang="en-US" b="1" dirty="0">
                    <a:latin typeface="DejaVu Math TeX Gyre" panose="02000503000000000000" charset="0"/>
                    <a:cs typeface="DejaVu Math TeX Gyre" panose="02000503000000000000" charset="0"/>
                  </a:rPr>
                  <a:t>为</a:t>
                </a:r>
                <a:r>
                  <a:rPr lang="en-US" altLang="zh-CN" dirty="0">
                    <a:latin typeface="DejaVu Math TeX Gyre" panose="02000503000000000000" charset="0"/>
                    <a:cs typeface="DejaVu Math TeX Gyre" panose="02000503000000000000" charset="0"/>
                  </a:rPr>
                  <a:t>:</a:t>
                </a:r>
              </a:p>
            </p:txBody>
          </p:sp>
        </mc:Choice>
        <mc:Fallback xmlns="">
          <p:sp>
            <p:nvSpPr>
              <p:cNvPr id="51" name="文本框 50"/>
              <p:cNvSpPr txBox="1">
                <a:spLocks noRot="1" noChangeAspect="1" noMove="1" noResize="1" noEditPoints="1" noAdjustHandles="1" noChangeArrowheads="1" noChangeShapeType="1" noTextEdit="1"/>
              </p:cNvSpPr>
              <p:nvPr/>
            </p:nvSpPr>
            <p:spPr>
              <a:xfrm>
                <a:off x="1135380" y="5762116"/>
                <a:ext cx="2964815" cy="518160"/>
              </a:xfrm>
              <a:prstGeom prst="rect">
                <a:avLst/>
              </a:prstGeom>
              <a:blipFill>
                <a:blip r:embed="rId10"/>
                <a:stretch>
                  <a:fillRect l="-16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1268730" y="3164840"/>
                <a:ext cx="3417570" cy="779780"/>
              </a:xfrm>
              <a:prstGeom prst="rect">
                <a:avLst/>
              </a:prstGeom>
              <a:noFill/>
            </p:spPr>
            <p:txBody>
              <a:bodyPr wrap="square" rtlCol="0">
                <a:noAutofit/>
              </a:bodyPr>
              <a:lstStyle/>
              <a:p>
                <a:pPr algn="l">
                  <a:lnSpc>
                    <a:spcPct val="120000"/>
                  </a:lnSpc>
                </a:pPr>
                <a:r>
                  <a:rPr lang="zh-CN" altLang="en-US" b="1" dirty="0">
                    <a:latin typeface="DejaVu Math TeX Gyre" panose="02000503000000000000" charset="0"/>
                    <a:cs typeface="DejaVu Math TeX Gyre" panose="02000503000000000000" charset="0"/>
                  </a:rPr>
                  <a:t>当</a:t>
                </a:r>
                <a14:m>
                  <m:oMath xmlns:m="http://schemas.openxmlformats.org/officeDocument/2006/math">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𝑎</m:t>
                        </m:r>
                      </m:e>
                      <m:sub>
                        <m:r>
                          <a:rPr lang="en-US" altLang="zh-CN" i="1" dirty="0">
                            <a:latin typeface="Cambria Math" panose="02040503050406030204" pitchFamily="18" charset="0"/>
                            <a:cs typeface="DejaVu Math TeX Gyre" panose="02000503000000000000" charset="0"/>
                          </a:rPr>
                          <m:t>𝑖</m:t>
                        </m:r>
                      </m:sub>
                    </m:sSub>
                  </m:oMath>
                </a14:m>
                <a:r>
                  <a:rPr lang="zh-CN" altLang="en-US" b="1" dirty="0">
                    <a:latin typeface="DejaVu Math TeX Gyre" panose="02000503000000000000" charset="0"/>
                    <a:cs typeface="DejaVu Math TeX Gyre" panose="02000503000000000000" charset="0"/>
                  </a:rPr>
                  <a:t>不等于</a:t>
                </a:r>
                <a:r>
                  <a:rPr lang="en-US" altLang="zh-CN" dirty="0">
                    <a:latin typeface="DejaVu Math TeX Gyre" panose="02000503000000000000" charset="0"/>
                    <a:cs typeface="DejaVu Math TeX Gyre" panose="02000503000000000000" charset="0"/>
                  </a:rPr>
                  <a:t>0</a:t>
                </a:r>
                <a:r>
                  <a:rPr lang="zh-CN" altLang="en-US" b="1" dirty="0">
                    <a:latin typeface="DejaVu Math TeX Gyre" panose="02000503000000000000" charset="0"/>
                    <a:cs typeface="DejaVu Math TeX Gyre" panose="02000503000000000000" charset="0"/>
                  </a:rPr>
                  <a:t>时</a:t>
                </a:r>
                <a:r>
                  <a:rPr lang="zh-CN" altLang="en-US" dirty="0">
                    <a:latin typeface="DejaVu Math TeX Gyre" panose="02000503000000000000" charset="0"/>
                    <a:cs typeface="DejaVu Math TeX Gyre" panose="02000503000000000000" charset="0"/>
                  </a:rPr>
                  <a:t>，</a:t>
                </a:r>
                <a:r>
                  <a:rPr lang="zh-CN" altLang="en-US" b="1" dirty="0">
                    <a:latin typeface="DejaVu Math TeX Gyre" panose="02000503000000000000" charset="0"/>
                    <a:cs typeface="DejaVu Math TeX Gyre" panose="02000503000000000000" charset="0"/>
                  </a:rPr>
                  <a:t>其对应的</a:t>
                </a:r>
              </a:p>
              <a:p>
                <a:pPr algn="l">
                  <a:lnSpc>
                    <a:spcPct val="120000"/>
                  </a:lnSpc>
                </a:pPr>
                <a:r>
                  <a:rPr lang="zh-CN" altLang="en-US" b="1" dirty="0">
                    <a:latin typeface="DejaVu Math TeX Gyre" panose="02000503000000000000" charset="0"/>
                    <a:cs typeface="DejaVu Math TeX Gyre" panose="02000503000000000000" charset="0"/>
                  </a:rPr>
                  <a:t>样本向量</a:t>
                </a:r>
                <a14:m>
                  <m:oMath xmlns:m="http://schemas.openxmlformats.org/officeDocument/2006/math">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𝑥</m:t>
                        </m:r>
                      </m:e>
                      <m:sub>
                        <m:r>
                          <a:rPr lang="en-US" altLang="zh-CN" i="1" dirty="0">
                            <a:latin typeface="Cambria Math" panose="02040503050406030204" pitchFamily="18" charset="0"/>
                            <a:cs typeface="DejaVu Math TeX Gyre" panose="02000503000000000000" charset="0"/>
                          </a:rPr>
                          <m:t>𝑖</m:t>
                        </m:r>
                      </m:sub>
                    </m:sSub>
                  </m:oMath>
                </a14:m>
                <a:r>
                  <a:rPr lang="zh-CN" altLang="en-US" b="1" dirty="0">
                    <a:latin typeface="DejaVu Math TeX Gyre" panose="02000503000000000000" charset="0"/>
                    <a:cs typeface="DejaVu Math TeX Gyre" panose="02000503000000000000" charset="0"/>
                  </a:rPr>
                  <a:t>称为</a:t>
                </a:r>
                <a:r>
                  <a:rPr lang="zh-CN" altLang="en-US" b="1" dirty="0">
                    <a:solidFill>
                      <a:srgbClr val="C00000"/>
                    </a:solidFill>
                    <a:latin typeface="DejaVu Math TeX Gyre" panose="02000503000000000000" charset="0"/>
                    <a:cs typeface="DejaVu Math TeX Gyre" panose="02000503000000000000" charset="0"/>
                  </a:rPr>
                  <a:t>支持向量</a:t>
                </a:r>
                <a:endParaRPr lang="zh-CN" altLang="en-US" dirty="0">
                  <a:solidFill>
                    <a:schemeClr val="tx1"/>
                  </a:solidFill>
                  <a:latin typeface="DejaVu Math TeX Gyre" panose="02000503000000000000" charset="0"/>
                  <a:cs typeface="DejaVu Math TeX Gyre" panose="02000503000000000000" charset="0"/>
                </a:endParaRPr>
              </a:p>
            </p:txBody>
          </p:sp>
        </mc:Choice>
        <mc:Fallback xmlns="">
          <p:sp>
            <p:nvSpPr>
              <p:cNvPr id="19" name="文本框 18"/>
              <p:cNvSpPr txBox="1">
                <a:spLocks noRot="1" noChangeAspect="1" noMove="1" noResize="1" noEditPoints="1" noAdjustHandles="1" noChangeArrowheads="1" noChangeShapeType="1" noTextEdit="1"/>
              </p:cNvSpPr>
              <p:nvPr/>
            </p:nvSpPr>
            <p:spPr>
              <a:xfrm>
                <a:off x="1268730" y="3164840"/>
                <a:ext cx="3417570" cy="779780"/>
              </a:xfrm>
              <a:prstGeom prst="rect">
                <a:avLst/>
              </a:prstGeom>
              <a:blipFill rotWithShape="1">
                <a:blip r:embed="rId11"/>
                <a:stretch>
                  <a:fillRect/>
                </a:stretch>
              </a:blipFill>
            </p:spPr>
            <p:txBody>
              <a:bodyPr/>
              <a:lstStyle/>
              <a:p>
                <a:r>
                  <a:rPr lang="zh-CN" altLang="en-US">
                    <a:noFill/>
                  </a:rPr>
                  <a:t> </a:t>
                </a:r>
              </a:p>
            </p:txBody>
          </p:sp>
        </mc:Fallback>
      </mc:AlternateContent>
      <p:sp>
        <p:nvSpPr>
          <p:cNvPr id="20" name="椭圆 19"/>
          <p:cNvSpPr/>
          <p:nvPr/>
        </p:nvSpPr>
        <p:spPr>
          <a:xfrm>
            <a:off x="8677910" y="3839845"/>
            <a:ext cx="104775" cy="104775"/>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highlight>
                <a:srgbClr val="FFFF00"/>
              </a:highlight>
            </a:endParaRPr>
          </a:p>
        </p:txBody>
      </p:sp>
      <p:sp>
        <p:nvSpPr>
          <p:cNvPr id="21" name="椭圆 20"/>
          <p:cNvSpPr/>
          <p:nvPr/>
        </p:nvSpPr>
        <p:spPr>
          <a:xfrm>
            <a:off x="9163050" y="4281170"/>
            <a:ext cx="104775" cy="104775"/>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highlight>
                <a:srgbClr val="FFFF00"/>
              </a:highlight>
            </a:endParaRPr>
          </a:p>
        </p:txBody>
      </p:sp>
      <p:sp>
        <p:nvSpPr>
          <p:cNvPr id="22" name="椭圆 21"/>
          <p:cNvSpPr/>
          <p:nvPr/>
        </p:nvSpPr>
        <p:spPr>
          <a:xfrm>
            <a:off x="8390255" y="4722495"/>
            <a:ext cx="104775" cy="104775"/>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highlight>
                <a:srgbClr val="FFFF00"/>
              </a:highlight>
            </a:endParaRPr>
          </a:p>
        </p:txBody>
      </p:sp>
      <p:sp>
        <p:nvSpPr>
          <p:cNvPr id="23" name="椭圆 22"/>
          <p:cNvSpPr/>
          <p:nvPr/>
        </p:nvSpPr>
        <p:spPr>
          <a:xfrm>
            <a:off x="7599680" y="4058920"/>
            <a:ext cx="104775" cy="104775"/>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highlight>
                <a:srgbClr val="FFFF00"/>
              </a:highlight>
            </a:endParaRPr>
          </a:p>
        </p:txBody>
      </p:sp>
      <p:sp>
        <p:nvSpPr>
          <p:cNvPr id="24" name="文本框 23"/>
          <p:cNvSpPr txBox="1"/>
          <p:nvPr/>
        </p:nvSpPr>
        <p:spPr>
          <a:xfrm>
            <a:off x="975995" y="3905885"/>
            <a:ext cx="3710305" cy="518160"/>
          </a:xfrm>
          <a:prstGeom prst="rect">
            <a:avLst/>
          </a:prstGeom>
          <a:noFill/>
        </p:spPr>
        <p:txBody>
          <a:bodyPr wrap="square" rtlCol="0">
            <a:noAutofit/>
          </a:bodyPr>
          <a:lstStyle/>
          <a:p>
            <a:pPr algn="l">
              <a:lnSpc>
                <a:spcPct val="120000"/>
              </a:lnSpc>
            </a:pPr>
            <a:r>
              <a:rPr lang="zh-CN" dirty="0">
                <a:latin typeface="DejaVu Math TeX Gyre" panose="02000503000000000000" charset="0"/>
                <a:cs typeface="DejaVu Math TeX Gyre" panose="02000503000000000000" charset="0"/>
              </a:rPr>
              <a:t>由</a:t>
            </a:r>
            <a:r>
              <a:rPr lang="en-US" altLang="zh-CN" dirty="0">
                <a:latin typeface="DejaVu Math TeX Gyre" panose="02000503000000000000" charset="0"/>
                <a:cs typeface="DejaVu Math TeX Gyre" panose="02000503000000000000" charset="0"/>
              </a:rPr>
              <a:t>Lagrange</a:t>
            </a:r>
            <a:r>
              <a:rPr lang="zh-CN" altLang="en-US" dirty="0">
                <a:latin typeface="DejaVu Math TeX Gyre" panose="02000503000000000000" charset="0"/>
                <a:cs typeface="DejaVu Math TeX Gyre" panose="02000503000000000000" charset="0"/>
              </a:rPr>
              <a:t>偏导和</a:t>
            </a:r>
            <a:r>
              <a:rPr lang="en-US" altLang="zh-CN" dirty="0">
                <a:latin typeface="DejaVu Math TeX Gyre" panose="02000503000000000000" charset="0"/>
                <a:cs typeface="DejaVu Math TeX Gyre" panose="02000503000000000000" charset="0"/>
              </a:rPr>
              <a:t>KKT</a:t>
            </a:r>
            <a:r>
              <a:rPr lang="zh-CN" altLang="en-US" dirty="0">
                <a:latin typeface="DejaVu Math TeX Gyre" panose="02000503000000000000" charset="0"/>
                <a:cs typeface="DejaVu Math TeX Gyre" panose="02000503000000000000" charset="0"/>
              </a:rPr>
              <a:t>条件，有</a:t>
            </a:r>
            <a:r>
              <a:rPr lang="en-US" altLang="zh-CN" dirty="0">
                <a:latin typeface="DejaVu Math TeX Gyre" panose="02000503000000000000" charset="0"/>
                <a:cs typeface="DejaVu Math TeX Gyre" panose="02000503000000000000" charset="0"/>
              </a:rPr>
              <a:t>:</a:t>
            </a:r>
          </a:p>
          <a:p>
            <a:pPr algn="l">
              <a:lnSpc>
                <a:spcPct val="120000"/>
              </a:lnSpc>
            </a:pPr>
            <a:endParaRPr lang="en-US" altLang="zh-CN" dirty="0">
              <a:latin typeface="DejaVu Math TeX Gyre" panose="02000503000000000000" charset="0"/>
              <a:cs typeface="DejaVu Math TeX Gyre" panose="02000503000000000000" charset="0"/>
            </a:endParaRPr>
          </a:p>
        </p:txBody>
      </p:sp>
      <mc:AlternateContent xmlns:mc="http://schemas.openxmlformats.org/markup-compatibility/2006" xmlns:a14="http://schemas.microsoft.com/office/drawing/2010/main">
        <mc:Choice Requires="a14">
          <p:sp>
            <p:nvSpPr>
              <p:cNvPr id="25" name="文本框 24"/>
              <p:cNvSpPr txBox="1"/>
              <p:nvPr/>
            </p:nvSpPr>
            <p:spPr>
              <a:xfrm>
                <a:off x="423671" y="3859162"/>
                <a:ext cx="5264785" cy="1640205"/>
              </a:xfrm>
              <a:prstGeom prst="rect">
                <a:avLst/>
              </a:prstGeom>
              <a:noFill/>
            </p:spPr>
            <p:txBody>
              <a:bodyPr wrap="square" rtlCol="0">
                <a:noAutofit/>
              </a:bodyPr>
              <a:lstStyle/>
              <a:p>
                <a:pPr algn="l">
                  <a:lnSpc>
                    <a:spcPct val="120000"/>
                  </a:lnSpc>
                </a:pPr>
                <a14:m>
                  <m:oMathPara xmlns:m="http://schemas.openxmlformats.org/officeDocument/2006/math">
                    <m:oMath>
                      <m:d>
                        <m:dPr>
                          <m:begChr m:val="{"/>
                          <m:endChr m:val=""/>
                          <m:ctrlPr>
                            <a:rPr lang="en-US" altLang="zh-CN" i="1" dirty="0">
                              <a:latin typeface="Cambria Math" panose="02040503050406030204" pitchFamily="18" charset="0"/>
                              <a:cs typeface="DejaVu Math TeX Gyre" panose="02000503000000000000" charset="0"/>
                            </a:rPr>
                          </m:ctrlPr>
                        </m:dPr>
                        <m:e>
                          <m:eqArr>
                            <m:eqArrPr>
                              <m:ctrlPr>
                                <a:rPr lang="en-US" altLang="zh-CN" i="1" dirty="0">
                                  <a:latin typeface="Cambria Math" panose="02040503050406030204" pitchFamily="18" charset="0"/>
                                  <a:cs typeface="DejaVu Math TeX Gyre" panose="02000503000000000000" charset="0"/>
                                </a:rPr>
                              </m:ctrlPr>
                            </m:eqArrPr>
                            <m:e>
                              <m:sSup>
                                <m:sSupPr>
                                  <m:ctrlPr>
                                    <a:rPr lang="en-US" altLang="zh-CN" b="1" i="1" dirty="0">
                                      <a:latin typeface="Cambria Math" panose="02040503050406030204" pitchFamily="18" charset="0"/>
                                      <a:cs typeface="DejaVu Math TeX Gyre" panose="02000503000000000000" charset="0"/>
                                    </a:rPr>
                                  </m:ctrlPr>
                                </m:sSupPr>
                                <m:e>
                                  <m:r>
                                    <a:rPr lang="en-US" altLang="zh-CN" b="1" i="1" dirty="0">
                                      <a:latin typeface="Cambria Math" panose="02040503050406030204" pitchFamily="18" charset="0"/>
                                      <a:cs typeface="DejaVu Math TeX Gyre" panose="02000503000000000000" charset="0"/>
                                    </a:rPr>
                                    <m:t>𝒘</m:t>
                                  </m:r>
                                </m:e>
                                <m:sup>
                                  <m:r>
                                    <a:rPr lang="en-US" altLang="zh-CN" b="1" i="1" dirty="0">
                                      <a:latin typeface="Cambria Math" panose="02040503050406030204" pitchFamily="18" charset="0"/>
                                      <a:cs typeface="DejaVu Math TeX Gyre" panose="02000503000000000000" charset="0"/>
                                    </a:rPr>
                                    <m:t>∗</m:t>
                                  </m:r>
                                </m:sup>
                              </m:sSup>
                              <m:r>
                                <a:rPr lang="en-US" altLang="zh-CN" i="1" dirty="0">
                                  <a:latin typeface="Cambria Math" panose="02040503050406030204" pitchFamily="18" charset="0"/>
                                  <a:cs typeface="DejaVu Math TeX Gyre" panose="02000503000000000000" charset="0"/>
                                </a:rPr>
                                <m:t>=</m:t>
                              </m:r>
                              <m:nary>
                                <m:naryPr>
                                  <m:chr m:val="∑"/>
                                  <m:limLoc m:val="undOvr"/>
                                  <m:supHide m:val="on"/>
                                  <m:ctrlPr>
                                    <a:rPr lang="en-US" altLang="zh-CN" i="1" dirty="0">
                                      <a:latin typeface="Cambria Math" panose="02040503050406030204" pitchFamily="18" charset="0"/>
                                      <a:cs typeface="DejaVu Math TeX Gyre" panose="02000503000000000000" charset="0"/>
                                    </a:rPr>
                                  </m:ctrlPr>
                                </m:naryPr>
                                <m:sub>
                                  <m:sSubSup>
                                    <m:sSubSupPr>
                                      <m:ctrlPr>
                                        <a:rPr lang="en-US" altLang="zh-CN" i="1" dirty="0">
                                          <a:latin typeface="Cambria Math" panose="02040503050406030204" pitchFamily="18" charset="0"/>
                                          <a:cs typeface="DejaVu Math TeX Gyre" panose="02000503000000000000" charset="0"/>
                                        </a:rPr>
                                      </m:ctrlPr>
                                    </m:sSubSupPr>
                                    <m:e>
                                      <m:r>
                                        <a:rPr lang="en-US" altLang="zh-CN" i="1" dirty="0">
                                          <a:latin typeface="Cambria Math" panose="02040503050406030204" pitchFamily="18" charset="0"/>
                                          <a:cs typeface="DejaVu Math TeX Gyre" panose="02000503000000000000" charset="0"/>
                                        </a:rPr>
                                        <m:t>𝑎</m:t>
                                      </m:r>
                                    </m:e>
                                    <m:sub>
                                      <m:r>
                                        <a:rPr lang="en-US" altLang="zh-CN" i="1" dirty="0">
                                          <a:latin typeface="Cambria Math" panose="02040503050406030204" pitchFamily="18" charset="0"/>
                                          <a:cs typeface="DejaVu Math TeX Gyre" panose="02000503000000000000" charset="0"/>
                                        </a:rPr>
                                        <m:t>𝑖</m:t>
                                      </m:r>
                                    </m:sub>
                                    <m:sup>
                                      <m:r>
                                        <a:rPr lang="en-US" altLang="zh-CN" i="1" dirty="0">
                                          <a:latin typeface="Cambria Math" panose="02040503050406030204" pitchFamily="18" charset="0"/>
                                          <a:cs typeface="DejaVu Math TeX Gyre" panose="02000503000000000000" charset="0"/>
                                        </a:rPr>
                                        <m:t>∗</m:t>
                                      </m:r>
                                    </m:sup>
                                  </m:sSubSup>
                                  <m:r>
                                    <a:rPr lang="en-US" altLang="zh-CN" i="1" dirty="0">
                                      <a:latin typeface="Cambria Math" panose="02040503050406030204" pitchFamily="18" charset="0"/>
                                      <a:cs typeface="DejaVu Math TeX Gyre" panose="02000503000000000000" charset="0"/>
                                    </a:rPr>
                                    <m:t>&gt;0</m:t>
                                  </m:r>
                                </m:sub>
                                <m:sup/>
                                <m:e>
                                  <m:sSubSup>
                                    <m:sSubSupPr>
                                      <m:ctrlPr>
                                        <a:rPr lang="en-US" altLang="zh-CN" i="1" dirty="0">
                                          <a:latin typeface="Cambria Math" panose="02040503050406030204" pitchFamily="18" charset="0"/>
                                          <a:cs typeface="DejaVu Math TeX Gyre" panose="02000503000000000000" charset="0"/>
                                        </a:rPr>
                                      </m:ctrlPr>
                                    </m:sSubSupPr>
                                    <m:e>
                                      <m:r>
                                        <a:rPr lang="en-US" altLang="zh-CN" i="1" dirty="0">
                                          <a:latin typeface="Cambria Math" panose="02040503050406030204" pitchFamily="18" charset="0"/>
                                          <a:cs typeface="DejaVu Math TeX Gyre" panose="02000503000000000000" charset="0"/>
                                        </a:rPr>
                                        <m:t>𝑎</m:t>
                                      </m:r>
                                    </m:e>
                                    <m:sub>
                                      <m:r>
                                        <a:rPr lang="en-US" altLang="zh-CN" i="1" dirty="0">
                                          <a:latin typeface="Cambria Math" panose="02040503050406030204" pitchFamily="18" charset="0"/>
                                          <a:cs typeface="DejaVu Math TeX Gyre" panose="02000503000000000000" charset="0"/>
                                        </a:rPr>
                                        <m:t>𝑖</m:t>
                                      </m:r>
                                    </m:sub>
                                    <m:sup>
                                      <m:r>
                                        <a:rPr lang="en-US" altLang="zh-CN" i="1" dirty="0">
                                          <a:latin typeface="Cambria Math" panose="02040503050406030204" pitchFamily="18" charset="0"/>
                                          <a:cs typeface="DejaVu Math TeX Gyre" panose="02000503000000000000" charset="0"/>
                                        </a:rPr>
                                        <m:t>∗</m:t>
                                      </m:r>
                                    </m:sup>
                                  </m:sSubSup>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𝑦</m:t>
                                      </m:r>
                                    </m:e>
                                    <m:sub>
                                      <m:r>
                                        <a:rPr lang="en-US" altLang="zh-CN" i="1" dirty="0">
                                          <a:latin typeface="Cambria Math" panose="02040503050406030204" pitchFamily="18" charset="0"/>
                                          <a:cs typeface="DejaVu Math TeX Gyre" panose="02000503000000000000" charset="0"/>
                                        </a:rPr>
                                        <m:t>𝑖</m:t>
                                      </m:r>
                                    </m:sub>
                                  </m:sSub>
                                  <m:sSub>
                                    <m:sSubPr>
                                      <m:ctrlPr>
                                        <a:rPr lang="en-US" altLang="zh-CN" b="1" i="1" dirty="0">
                                          <a:latin typeface="Cambria Math" panose="02040503050406030204" pitchFamily="18" charset="0"/>
                                          <a:cs typeface="DejaVu Math TeX Gyre" panose="02000503000000000000" charset="0"/>
                                        </a:rPr>
                                      </m:ctrlPr>
                                    </m:sSubPr>
                                    <m:e>
                                      <m:r>
                                        <a:rPr lang="en-US" altLang="zh-CN" b="1" i="1" dirty="0">
                                          <a:latin typeface="Cambria Math" panose="02040503050406030204" pitchFamily="18" charset="0"/>
                                          <a:cs typeface="DejaVu Math TeX Gyre" panose="02000503000000000000" charset="0"/>
                                        </a:rPr>
                                        <m:t>𝒙</m:t>
                                      </m:r>
                                    </m:e>
                                    <m:sub>
                                      <m:r>
                                        <a:rPr lang="en-US" altLang="zh-CN" b="1" i="1" dirty="0">
                                          <a:latin typeface="Cambria Math" panose="02040503050406030204" pitchFamily="18" charset="0"/>
                                          <a:cs typeface="DejaVu Math TeX Gyre" panose="02000503000000000000" charset="0"/>
                                        </a:rPr>
                                        <m:t>𝒊</m:t>
                                      </m:r>
                                    </m:sub>
                                  </m:sSub>
                                </m:e>
                              </m:nary>
                            </m:e>
                            <m:e>
                              <m:sSup>
                                <m:sSupPr>
                                  <m:ctrlPr>
                                    <a:rPr lang="en-US" altLang="zh-CN" i="1" dirty="0">
                                      <a:latin typeface="Cambria Math" panose="02040503050406030204" pitchFamily="18" charset="0"/>
                                      <a:cs typeface="DejaVu Math TeX Gyre" panose="02000503000000000000" charset="0"/>
                                    </a:rPr>
                                  </m:ctrlPr>
                                </m:sSupPr>
                                <m:e>
                                  <m:r>
                                    <a:rPr lang="en-US" altLang="zh-CN" i="1" dirty="0">
                                      <a:latin typeface="Cambria Math" panose="02040503050406030204" pitchFamily="18" charset="0"/>
                                      <a:cs typeface="DejaVu Math TeX Gyre" panose="02000503000000000000" charset="0"/>
                                    </a:rPr>
                                    <m:t>𝑏</m:t>
                                  </m:r>
                                </m:e>
                                <m:sup>
                                  <m:r>
                                    <a:rPr lang="en-US" altLang="zh-CN" i="1" dirty="0">
                                      <a:latin typeface="Cambria Math" panose="02040503050406030204" pitchFamily="18" charset="0"/>
                                      <a:cs typeface="DejaVu Math TeX Gyre" panose="02000503000000000000" charset="0"/>
                                    </a:rPr>
                                    <m:t>∗</m:t>
                                  </m:r>
                                </m:sup>
                              </m:sSup>
                              <m:r>
                                <a:rPr lang="en-US" altLang="zh-CN" i="1" dirty="0">
                                  <a:latin typeface="Cambria Math" panose="02040503050406030204" pitchFamily="18" charset="0"/>
                                  <a:cs typeface="DejaVu Math TeX Gyre" panose="02000503000000000000" charset="0"/>
                                </a:rPr>
                                <m:t>=</m:t>
                              </m:r>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𝑦</m:t>
                                  </m:r>
                                </m:e>
                                <m:sub>
                                  <m:r>
                                    <a:rPr lang="en-US" altLang="zh-CN" i="1" dirty="0">
                                      <a:latin typeface="Cambria Math" panose="02040503050406030204" pitchFamily="18" charset="0"/>
                                      <a:cs typeface="DejaVu Math TeX Gyre" panose="02000503000000000000" charset="0"/>
                                    </a:rPr>
                                    <m:t>𝑖</m:t>
                                  </m:r>
                                </m:sub>
                              </m:sSub>
                              <m:r>
                                <a:rPr lang="en-US" altLang="zh-CN" i="1" dirty="0">
                                  <a:latin typeface="Cambria Math" panose="02040503050406030204" pitchFamily="18" charset="0"/>
                                  <a:cs typeface="DejaVu Math TeX Gyre" panose="02000503000000000000" charset="0"/>
                                </a:rPr>
                                <m:t>−</m:t>
                              </m:r>
                              <m:nary>
                                <m:naryPr>
                                  <m:chr m:val="∑"/>
                                  <m:limLoc m:val="undOvr"/>
                                  <m:supHide m:val="on"/>
                                  <m:ctrlPr>
                                    <a:rPr lang="en-US" altLang="zh-CN" i="1" dirty="0">
                                      <a:latin typeface="Cambria Math" panose="02040503050406030204" pitchFamily="18" charset="0"/>
                                      <a:cs typeface="DejaVu Math TeX Gyre" panose="02000503000000000000" charset="0"/>
                                    </a:rPr>
                                  </m:ctrlPr>
                                </m:naryPr>
                                <m:sub>
                                  <m:sSubSup>
                                    <m:sSubSupPr>
                                      <m:ctrlPr>
                                        <a:rPr lang="en-US" altLang="zh-CN" i="1" dirty="0">
                                          <a:latin typeface="Cambria Math" panose="02040503050406030204" pitchFamily="18" charset="0"/>
                                          <a:cs typeface="DejaVu Math TeX Gyre" panose="02000503000000000000" charset="0"/>
                                        </a:rPr>
                                      </m:ctrlPr>
                                    </m:sSubSupPr>
                                    <m:e>
                                      <m:r>
                                        <a:rPr lang="en-US" altLang="zh-CN" i="1" dirty="0">
                                          <a:latin typeface="Cambria Math" panose="02040503050406030204" pitchFamily="18" charset="0"/>
                                          <a:cs typeface="DejaVu Math TeX Gyre" panose="02000503000000000000" charset="0"/>
                                        </a:rPr>
                                        <m:t>𝑎</m:t>
                                      </m:r>
                                    </m:e>
                                    <m:sub>
                                      <m:r>
                                        <a:rPr lang="en-US" altLang="zh-CN" i="1" dirty="0">
                                          <a:latin typeface="Cambria Math" panose="02040503050406030204" pitchFamily="18" charset="0"/>
                                          <a:cs typeface="DejaVu Math TeX Gyre" panose="02000503000000000000" charset="0"/>
                                        </a:rPr>
                                        <m:t>𝑖</m:t>
                                      </m:r>
                                    </m:sub>
                                    <m:sup>
                                      <m:r>
                                        <a:rPr lang="en-US" altLang="zh-CN" i="1" dirty="0">
                                          <a:latin typeface="Cambria Math" panose="02040503050406030204" pitchFamily="18" charset="0"/>
                                          <a:cs typeface="DejaVu Math TeX Gyre" panose="02000503000000000000" charset="0"/>
                                        </a:rPr>
                                        <m:t>∗</m:t>
                                      </m:r>
                                    </m:sup>
                                  </m:sSubSup>
                                  <m:r>
                                    <a:rPr lang="en-US" altLang="zh-CN" i="1" dirty="0">
                                      <a:latin typeface="Cambria Math" panose="02040503050406030204" pitchFamily="18" charset="0"/>
                                      <a:cs typeface="DejaVu Math TeX Gyre" panose="02000503000000000000" charset="0"/>
                                    </a:rPr>
                                    <m:t>&gt;0</m:t>
                                  </m:r>
                                </m:sub>
                                <m:sup/>
                                <m:e>
                                  <m:sSub>
                                    <m:sSubPr>
                                      <m:ctrlPr>
                                        <a:rPr lang="en-US" altLang="zh-CN" i="1" dirty="0">
                                          <a:latin typeface="Cambria Math" panose="02040503050406030204" pitchFamily="18" charset="0"/>
                                          <a:cs typeface="DejaVu Math TeX Gyre" panose="02000503000000000000" charset="0"/>
                                        </a:rPr>
                                      </m:ctrlPr>
                                    </m:sSubPr>
                                    <m:e>
                                      <m:r>
                                        <a:rPr lang="en-US" altLang="zh-CN" i="1" dirty="0">
                                          <a:latin typeface="Cambria Math" panose="02040503050406030204" pitchFamily="18" charset="0"/>
                                          <a:cs typeface="DejaVu Math TeX Gyre" panose="02000503000000000000" charset="0"/>
                                        </a:rPr>
                                        <m:t>𝑦</m:t>
                                      </m:r>
                                    </m:e>
                                    <m:sub>
                                      <m:r>
                                        <a:rPr lang="en-US" altLang="zh-CN" i="1" dirty="0">
                                          <a:latin typeface="Cambria Math" panose="02040503050406030204" pitchFamily="18" charset="0"/>
                                          <a:cs typeface="DejaVu Math TeX Gyre" panose="02000503000000000000" charset="0"/>
                                        </a:rPr>
                                        <m:t>𝑖</m:t>
                                      </m:r>
                                    </m:sub>
                                  </m:sSub>
                                  <m:sSubSup>
                                    <m:sSubSupPr>
                                      <m:ctrlPr>
                                        <a:rPr lang="en-US" altLang="zh-CN" i="1" dirty="0">
                                          <a:latin typeface="Cambria Math" panose="02040503050406030204" pitchFamily="18" charset="0"/>
                                          <a:cs typeface="DejaVu Math TeX Gyre" panose="02000503000000000000" charset="0"/>
                                        </a:rPr>
                                      </m:ctrlPr>
                                    </m:sSubSupPr>
                                    <m:e>
                                      <m:r>
                                        <a:rPr lang="en-US" altLang="zh-CN" i="1" dirty="0">
                                          <a:latin typeface="Cambria Math" panose="02040503050406030204" pitchFamily="18" charset="0"/>
                                          <a:cs typeface="DejaVu Math TeX Gyre" panose="02000503000000000000" charset="0"/>
                                        </a:rPr>
                                        <m:t>𝑎</m:t>
                                      </m:r>
                                    </m:e>
                                    <m:sub>
                                      <m:r>
                                        <a:rPr lang="en-US" altLang="zh-CN" i="1" dirty="0">
                                          <a:latin typeface="Cambria Math" panose="02040503050406030204" pitchFamily="18" charset="0"/>
                                          <a:cs typeface="DejaVu Math TeX Gyre" panose="02000503000000000000" charset="0"/>
                                        </a:rPr>
                                        <m:t>𝑖</m:t>
                                      </m:r>
                                    </m:sub>
                                    <m:sup>
                                      <m:r>
                                        <a:rPr lang="en-US" altLang="zh-CN" i="1" dirty="0">
                                          <a:latin typeface="Cambria Math" panose="02040503050406030204" pitchFamily="18" charset="0"/>
                                          <a:cs typeface="DejaVu Math TeX Gyre" panose="02000503000000000000" charset="0"/>
                                        </a:rPr>
                                        <m:t>∗</m:t>
                                      </m:r>
                                    </m:sup>
                                  </m:sSubSup>
                                  <m:r>
                                    <a:rPr lang="en-US" altLang="zh-CN" i="1" dirty="0">
                                      <a:latin typeface="Cambria Math" panose="02040503050406030204" pitchFamily="18" charset="0"/>
                                      <a:cs typeface="DejaVu Math TeX Gyre" panose="02000503000000000000" charset="0"/>
                                    </a:rPr>
                                    <m:t>(</m:t>
                                  </m:r>
                                  <m:sSub>
                                    <m:sSubPr>
                                      <m:ctrlPr>
                                        <a:rPr lang="en-US" altLang="zh-CN" b="1" i="1" dirty="0">
                                          <a:latin typeface="Cambria Math" panose="02040503050406030204" pitchFamily="18" charset="0"/>
                                          <a:cs typeface="DejaVu Math TeX Gyre" panose="02000503000000000000" charset="0"/>
                                        </a:rPr>
                                      </m:ctrlPr>
                                    </m:sSubPr>
                                    <m:e>
                                      <m:r>
                                        <a:rPr lang="en-US" altLang="zh-CN" b="1" i="1" dirty="0">
                                          <a:latin typeface="Cambria Math" panose="02040503050406030204" pitchFamily="18" charset="0"/>
                                          <a:cs typeface="DejaVu Math TeX Gyre" panose="02000503000000000000" charset="0"/>
                                        </a:rPr>
                                        <m:t>𝒙</m:t>
                                      </m:r>
                                    </m:e>
                                    <m:sub>
                                      <m:r>
                                        <a:rPr lang="en-US" altLang="zh-CN" b="1" i="1" dirty="0">
                                          <a:latin typeface="Cambria Math" panose="02040503050406030204" pitchFamily="18" charset="0"/>
                                          <a:cs typeface="DejaVu Math TeX Gyre" panose="02000503000000000000" charset="0"/>
                                        </a:rPr>
                                        <m:t>𝒊</m:t>
                                      </m:r>
                                    </m:sub>
                                  </m:sSub>
                                  <m:r>
                                    <a:rPr lang="en-US" altLang="zh-CN" b="1" i="1" dirty="0">
                                      <a:latin typeface="Cambria Math" panose="02040503050406030204" pitchFamily="18" charset="0"/>
                                      <a:cs typeface="DejaVu Math TeX Gyre" panose="02000503000000000000" charset="0"/>
                                    </a:rPr>
                                    <m:t>·</m:t>
                                  </m:r>
                                  <m:sSub>
                                    <m:sSubPr>
                                      <m:ctrlPr>
                                        <a:rPr lang="en-US" altLang="zh-CN" b="1" i="1" dirty="0">
                                          <a:latin typeface="Cambria Math" panose="02040503050406030204" pitchFamily="18" charset="0"/>
                                          <a:cs typeface="DejaVu Math TeX Gyre" panose="02000503000000000000" charset="0"/>
                                        </a:rPr>
                                      </m:ctrlPr>
                                    </m:sSubPr>
                                    <m:e>
                                      <m:r>
                                        <a:rPr lang="en-US" altLang="zh-CN" b="1" i="1" dirty="0">
                                          <a:latin typeface="Cambria Math" panose="02040503050406030204" pitchFamily="18" charset="0"/>
                                          <a:cs typeface="DejaVu Math TeX Gyre" panose="02000503000000000000" charset="0"/>
                                        </a:rPr>
                                        <m:t>𝒙</m:t>
                                      </m:r>
                                    </m:e>
                                    <m:sub>
                                      <m:r>
                                        <a:rPr lang="en-US" altLang="zh-CN" b="1" i="1" dirty="0">
                                          <a:latin typeface="Cambria Math" panose="02040503050406030204" pitchFamily="18" charset="0"/>
                                          <a:cs typeface="DejaVu Math TeX Gyre" panose="02000503000000000000" charset="0"/>
                                        </a:rPr>
                                        <m:t>𝒋</m:t>
                                      </m:r>
                                    </m:sub>
                                  </m:sSub>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𝑗</m:t>
                                  </m:r>
                                  <m:r>
                                    <a:rPr lang="en-US" altLang="zh-CN" i="1" dirty="0">
                                      <a:latin typeface="Cambria Math" panose="02040503050406030204" pitchFamily="18" charset="0"/>
                                      <a:cs typeface="DejaVu Math TeX Gyre" panose="02000503000000000000" charset="0"/>
                                    </a:rPr>
                                    <m:t>∈{</m:t>
                                  </m:r>
                                  <m:r>
                                    <a:rPr lang="en-US" altLang="zh-CN" i="1" dirty="0">
                                      <a:latin typeface="Cambria Math" panose="02040503050406030204" pitchFamily="18" charset="0"/>
                                      <a:cs typeface="DejaVu Math TeX Gyre" panose="02000503000000000000" charset="0"/>
                                    </a:rPr>
                                    <m:t>𝑗</m:t>
                                  </m:r>
                                  <m:r>
                                    <a:rPr lang="en-US" altLang="zh-CN" i="1" dirty="0">
                                      <a:latin typeface="Cambria Math" panose="02040503050406030204" pitchFamily="18" charset="0"/>
                                      <a:cs typeface="DejaVu Math TeX Gyre" panose="02000503000000000000" charset="0"/>
                                    </a:rPr>
                                    <m:t>|</m:t>
                                  </m:r>
                                  <m:sSubSup>
                                    <m:sSubSupPr>
                                      <m:ctrlPr>
                                        <a:rPr lang="en-US" altLang="zh-CN" i="1" dirty="0">
                                          <a:latin typeface="Cambria Math" panose="02040503050406030204" pitchFamily="18" charset="0"/>
                                          <a:cs typeface="DejaVu Math TeX Gyre" panose="02000503000000000000" charset="0"/>
                                        </a:rPr>
                                      </m:ctrlPr>
                                    </m:sSubSupPr>
                                    <m:e>
                                      <m:r>
                                        <a:rPr lang="en-US" altLang="zh-CN" i="1" dirty="0">
                                          <a:latin typeface="Cambria Math" panose="02040503050406030204" pitchFamily="18" charset="0"/>
                                          <a:cs typeface="DejaVu Math TeX Gyre" panose="02000503000000000000" charset="0"/>
                                        </a:rPr>
                                        <m:t>𝑎</m:t>
                                      </m:r>
                                    </m:e>
                                    <m:sub>
                                      <m:r>
                                        <a:rPr lang="en-US" altLang="zh-CN" i="1" dirty="0">
                                          <a:latin typeface="Cambria Math" panose="02040503050406030204" pitchFamily="18" charset="0"/>
                                          <a:cs typeface="DejaVu Math TeX Gyre" panose="02000503000000000000" charset="0"/>
                                        </a:rPr>
                                        <m:t>𝑗</m:t>
                                      </m:r>
                                    </m:sub>
                                    <m:sup>
                                      <m:r>
                                        <a:rPr lang="en-US" altLang="zh-CN" i="1" dirty="0">
                                          <a:latin typeface="Cambria Math" panose="02040503050406030204" pitchFamily="18" charset="0"/>
                                          <a:cs typeface="DejaVu Math TeX Gyre" panose="02000503000000000000" charset="0"/>
                                        </a:rPr>
                                        <m:t>∗</m:t>
                                      </m:r>
                                    </m:sup>
                                  </m:sSubSup>
                                  <m:r>
                                    <a:rPr lang="en-US" altLang="zh-CN" i="1" dirty="0">
                                      <a:latin typeface="Cambria Math" panose="02040503050406030204" pitchFamily="18" charset="0"/>
                                      <a:cs typeface="DejaVu Math TeX Gyre" panose="02000503000000000000" charset="0"/>
                                    </a:rPr>
                                    <m:t>&gt;0}</m:t>
                                  </m:r>
                                </m:e>
                              </m:nary>
                            </m:e>
                          </m:eqArr>
                        </m:e>
                      </m:d>
                    </m:oMath>
                  </m:oMathPara>
                </a14:m>
                <a:endParaRPr lang="en-US" altLang="zh-CN" dirty="0">
                  <a:latin typeface="DejaVu Math TeX Gyre" panose="02000503000000000000" charset="0"/>
                  <a:cs typeface="DejaVu Math TeX Gyre" panose="02000503000000000000" charset="0"/>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423671" y="3859162"/>
                <a:ext cx="5264785" cy="1640205"/>
              </a:xfrm>
              <a:prstGeom prst="rect">
                <a:avLst/>
              </a:prstGeom>
              <a:blipFill>
                <a:blip r:embed="rId12"/>
                <a:stretch>
                  <a:fillRect b="-174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5316A08-E9B9-082F-40A9-324C357BD017}"/>
                  </a:ext>
                </a:extLst>
              </p:cNvPr>
              <p:cNvSpPr txBox="1"/>
              <p:nvPr/>
            </p:nvSpPr>
            <p:spPr>
              <a:xfrm>
                <a:off x="892663" y="1586103"/>
                <a:ext cx="3080459" cy="1707134"/>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func>
                                <m:funcPr>
                                  <m:ctrlPr>
                                    <a:rPr lang="en-US" altLang="zh-CN" i="1" smtClean="0">
                                      <a:latin typeface="Cambria Math" panose="02040503050406030204" pitchFamily="18" charset="0"/>
                                    </a:rPr>
                                  </m:ctrlPr>
                                </m:funcPr>
                                <m:fName>
                                  <m:limLow>
                                    <m:limLowPr>
                                      <m:ctrlPr>
                                        <a:rPr lang="en-US" altLang="zh-CN" i="0" smtClean="0">
                                          <a:latin typeface="Cambria Math" panose="02040503050406030204" pitchFamily="18" charset="0"/>
                                        </a:rPr>
                                      </m:ctrlPr>
                                    </m:limLowPr>
                                    <m:e>
                                      <m:r>
                                        <m:rPr>
                                          <m:sty m:val="p"/>
                                        </m:rPr>
                                        <a:rPr lang="en-US" altLang="zh-CN" i="0" smtClean="0">
                                          <a:latin typeface="Cambria Math" panose="02040503050406030204" pitchFamily="18" charset="0"/>
                                        </a:rPr>
                                        <m:t>min</m:t>
                                      </m:r>
                                    </m:e>
                                    <m:lim>
                                      <m:r>
                                        <a:rPr lang="en-US" altLang="zh-CN" b="0" i="1" smtClean="0">
                                          <a:latin typeface="Cambria Math" panose="02040503050406030204" pitchFamily="18" charset="0"/>
                                        </a:rPr>
                                        <m:t>𝑎</m:t>
                                      </m:r>
                                    </m:lim>
                                  </m:limLow>
                                </m:fName>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𝑗</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𝑖</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𝒊</m:t>
                                              </m:r>
                                            </m:sub>
                                          </m:sSub>
                                          <m:r>
                                            <a:rPr lang="en-US" altLang="zh-CN" b="1" i="1">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𝒋</m:t>
                                              </m:r>
                                            </m:sub>
                                          </m:sSub>
                                          <m:r>
                                            <a:rPr lang="en-US" altLang="zh-CN" b="0" i="1" smtClean="0">
                                              <a:latin typeface="Cambria Math" panose="02040503050406030204" pitchFamily="18" charset="0"/>
                                            </a:rPr>
                                            <m:t>)</m:t>
                                          </m:r>
                                        </m:e>
                                      </m:nary>
                                    </m:e>
                                  </m:nary>
                                </m:e>
                              </m:func>
                            </m:e>
                            <m:e>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=0</m:t>
                                  </m:r>
                                </m:e>
                              </m:nary>
                            </m:e>
                          </m:eqArr>
                        </m:e>
                      </m:d>
                    </m:oMath>
                  </m:oMathPara>
                </a14:m>
                <a:endParaRPr lang="zh-CN" altLang="en-US" dirty="0"/>
              </a:p>
            </p:txBody>
          </p:sp>
        </mc:Choice>
        <mc:Fallback xmlns="">
          <p:sp>
            <p:nvSpPr>
              <p:cNvPr id="5" name="文本框 4">
                <a:extLst>
                  <a:ext uri="{FF2B5EF4-FFF2-40B4-BE49-F238E27FC236}">
                    <a16:creationId xmlns:a16="http://schemas.microsoft.com/office/drawing/2014/main" id="{15316A08-E9B9-082F-40A9-324C357BD017}"/>
                  </a:ext>
                </a:extLst>
              </p:cNvPr>
              <p:cNvSpPr txBox="1">
                <a:spLocks noRot="1" noChangeAspect="1" noMove="1" noResize="1" noEditPoints="1" noAdjustHandles="1" noChangeArrowheads="1" noChangeShapeType="1" noTextEdit="1"/>
              </p:cNvSpPr>
              <p:nvPr/>
            </p:nvSpPr>
            <p:spPr>
              <a:xfrm>
                <a:off x="892663" y="1586103"/>
                <a:ext cx="3080459" cy="1707134"/>
              </a:xfrm>
              <a:prstGeom prst="rect">
                <a:avLst/>
              </a:prstGeom>
              <a:blipFill>
                <a:blip r:embed="rId13"/>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57F55-87D7-D093-3C63-406864919DF2}"/>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8821C8F-CC55-B675-B0E9-E3564C92DC99}"/>
              </a:ext>
            </a:extLst>
          </p:cNvPr>
          <p:cNvGrpSpPr/>
          <p:nvPr/>
        </p:nvGrpSpPr>
        <p:grpSpPr>
          <a:xfrm>
            <a:off x="0" y="939798"/>
            <a:ext cx="5022850" cy="625474"/>
            <a:chOff x="0" y="1075267"/>
            <a:chExt cx="5022850" cy="625474"/>
          </a:xfrm>
        </p:grpSpPr>
        <p:sp>
          <p:nvSpPr>
            <p:cNvPr id="3" name="矩形 2">
              <a:extLst>
                <a:ext uri="{FF2B5EF4-FFF2-40B4-BE49-F238E27FC236}">
                  <a16:creationId xmlns:a16="http://schemas.microsoft.com/office/drawing/2014/main" id="{1C60EDB7-685E-2B3C-C72C-773EE80F7D4B}"/>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702BBE87-0C26-9413-BCF4-FC9D4BACFDFC}"/>
                </a:ext>
              </a:extLst>
            </p:cNvPr>
            <p:cNvSpPr txBox="1"/>
            <p:nvPr/>
          </p:nvSpPr>
          <p:spPr>
            <a:xfrm>
              <a:off x="270932" y="1157172"/>
              <a:ext cx="3964183" cy="461665"/>
            </a:xfrm>
            <a:prstGeom prst="rect">
              <a:avLst/>
            </a:prstGeom>
            <a:noFill/>
          </p:spPr>
          <p:txBody>
            <a:bodyPr wrap="square">
              <a:spAutoFit/>
            </a:bodyPr>
            <a:lstStyle/>
            <a:p>
              <a:r>
                <a:rPr lang="en-US" altLang="zh-CN" sz="2400" b="1" dirty="0">
                  <a:solidFill>
                    <a:schemeClr val="accent1"/>
                  </a:solidFill>
                  <a:sym typeface="+mn-ea"/>
                </a:rPr>
                <a:t>5.2.3 </a:t>
              </a:r>
              <a:r>
                <a:rPr lang="zh-CN" altLang="en-US" sz="2400" b="1" dirty="0">
                  <a:solidFill>
                    <a:schemeClr val="accent1"/>
                  </a:solidFill>
                  <a:sym typeface="+mn-ea"/>
                </a:rPr>
                <a:t>支持向量机避障策略</a:t>
              </a:r>
              <a:endParaRPr lang="zh-CN" altLang="en-US" sz="2400" b="1" dirty="0">
                <a:solidFill>
                  <a:schemeClr val="accent1"/>
                </a:solidFill>
              </a:endParaRPr>
            </a:p>
          </p:txBody>
        </p:sp>
      </p:grpSp>
      <p:pic>
        <p:nvPicPr>
          <p:cNvPr id="6" name="图片 5" descr="形状, 图标, 箭头&#10;&#10;AI 生成的内容可能不正确。">
            <a:extLst>
              <a:ext uri="{FF2B5EF4-FFF2-40B4-BE49-F238E27FC236}">
                <a16:creationId xmlns:a16="http://schemas.microsoft.com/office/drawing/2014/main" id="{B168B33B-99FA-7038-D7E3-A1A296C325D5}"/>
              </a:ext>
            </a:extLst>
          </p:cNvPr>
          <p:cNvPicPr>
            <a:picLocks noChangeAspect="1"/>
          </p:cNvPicPr>
          <p:nvPr/>
        </p:nvPicPr>
        <p:blipFill>
          <a:blip r:embed="rId3"/>
          <a:stretch>
            <a:fillRect/>
          </a:stretch>
        </p:blipFill>
        <p:spPr>
          <a:xfrm>
            <a:off x="7383953" y="3986417"/>
            <a:ext cx="1718796" cy="1648641"/>
          </a:xfrm>
          <a:prstGeom prst="rect">
            <a:avLst/>
          </a:prstGeom>
        </p:spPr>
      </p:pic>
      <p:sp>
        <p:nvSpPr>
          <p:cNvPr id="8" name="文本框 7">
            <a:extLst>
              <a:ext uri="{FF2B5EF4-FFF2-40B4-BE49-F238E27FC236}">
                <a16:creationId xmlns:a16="http://schemas.microsoft.com/office/drawing/2014/main" id="{63D7043B-D9E5-B0DF-A8EE-99C5004AA4D5}"/>
              </a:ext>
            </a:extLst>
          </p:cNvPr>
          <p:cNvSpPr txBox="1"/>
          <p:nvPr/>
        </p:nvSpPr>
        <p:spPr>
          <a:xfrm>
            <a:off x="1011741" y="1589416"/>
            <a:ext cx="4444551" cy="779780"/>
          </a:xfrm>
          <a:prstGeom prst="rect">
            <a:avLst/>
          </a:prstGeom>
          <a:noFill/>
        </p:spPr>
        <p:txBody>
          <a:bodyPr wrap="square" rtlCol="0">
            <a:noAutofit/>
          </a:bodyPr>
          <a:lstStyle/>
          <a:p>
            <a:pPr algn="l">
              <a:lnSpc>
                <a:spcPct val="120000"/>
              </a:lnSpc>
            </a:pPr>
            <a:r>
              <a:rPr lang="zh-CN" altLang="en-US" b="1" dirty="0">
                <a:latin typeface="DejaVu Math TeX Gyre" panose="02000503000000000000" charset="0"/>
                <a:cs typeface="DejaVu Math TeX Gyre" panose="02000503000000000000" charset="0"/>
              </a:rPr>
              <a:t>实际案例</a:t>
            </a:r>
            <a:r>
              <a:rPr lang="en-US" altLang="zh-CN" b="1" dirty="0">
                <a:latin typeface="DejaVu Math TeX Gyre" panose="02000503000000000000" charset="0"/>
                <a:cs typeface="DejaVu Math TeX Gyre" panose="02000503000000000000" charset="0"/>
              </a:rPr>
              <a:t>:</a:t>
            </a:r>
            <a:r>
              <a:rPr lang="zh-CN" altLang="en-US" b="1" dirty="0">
                <a:latin typeface="DejaVu Math TeX Gyre" panose="02000503000000000000" charset="0"/>
                <a:cs typeface="DejaVu Math TeX Gyre" panose="02000503000000000000" charset="0"/>
              </a:rPr>
              <a:t>移动机器人避障</a:t>
            </a:r>
            <a:endParaRPr lang="zh-CN" altLang="en-US" dirty="0">
              <a:solidFill>
                <a:schemeClr val="tx1"/>
              </a:solidFill>
              <a:latin typeface="DejaVu Math TeX Gyre" panose="02000503000000000000" charset="0"/>
              <a:cs typeface="DejaVu Math TeX Gyre" panose="02000503000000000000" charset="0"/>
            </a:endParaRPr>
          </a:p>
        </p:txBody>
      </p:sp>
      <p:sp>
        <p:nvSpPr>
          <p:cNvPr id="11" name="文本框 10">
            <a:extLst>
              <a:ext uri="{FF2B5EF4-FFF2-40B4-BE49-F238E27FC236}">
                <a16:creationId xmlns:a16="http://schemas.microsoft.com/office/drawing/2014/main" id="{717F4B28-4EA7-D7DB-70C8-507B739B6FEE}"/>
              </a:ext>
            </a:extLst>
          </p:cNvPr>
          <p:cNvSpPr txBox="1"/>
          <p:nvPr/>
        </p:nvSpPr>
        <p:spPr>
          <a:xfrm>
            <a:off x="7304367" y="3217014"/>
            <a:ext cx="4444551" cy="779780"/>
          </a:xfrm>
          <a:prstGeom prst="rect">
            <a:avLst/>
          </a:prstGeom>
          <a:noFill/>
        </p:spPr>
        <p:txBody>
          <a:bodyPr wrap="square" rtlCol="0">
            <a:noAutofit/>
          </a:bodyPr>
          <a:lstStyle/>
          <a:p>
            <a:pPr algn="l">
              <a:lnSpc>
                <a:spcPct val="120000"/>
              </a:lnSpc>
            </a:pPr>
            <a:r>
              <a:rPr lang="zh-CN" altLang="en-US" b="1" dirty="0">
                <a:latin typeface="DejaVu Math TeX Gyre" panose="02000503000000000000" charset="0"/>
                <a:cs typeface="DejaVu Math TeX Gyre" panose="02000503000000000000" charset="0"/>
              </a:rPr>
              <a:t>六个前进方向为例</a:t>
            </a:r>
            <a:endParaRPr lang="zh-CN" altLang="en-US" dirty="0">
              <a:solidFill>
                <a:schemeClr val="tx1"/>
              </a:solidFill>
              <a:latin typeface="DejaVu Math TeX Gyre" panose="02000503000000000000" charset="0"/>
              <a:cs typeface="DejaVu Math TeX Gyre" panose="02000503000000000000" charset="0"/>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648E1B1-7E85-2735-0AEB-01606F0A3A8C}"/>
                  </a:ext>
                </a:extLst>
              </p:cNvPr>
              <p:cNvSpPr txBox="1"/>
              <p:nvPr/>
            </p:nvSpPr>
            <p:spPr>
              <a:xfrm>
                <a:off x="917469" y="3388895"/>
                <a:ext cx="4633093" cy="1374200"/>
              </a:xfrm>
              <a:prstGeom prst="rect">
                <a:avLst/>
              </a:prstGeom>
              <a:noFill/>
            </p:spPr>
            <p:txBody>
              <a:bodyPr wrap="square" rtlCol="0">
                <a:noAutofit/>
              </a:bodyPr>
              <a:lstStyle/>
              <a:p>
                <a:pPr>
                  <a:lnSpc>
                    <a:spcPct val="120000"/>
                  </a:lnSpc>
                </a:pPr>
                <a:r>
                  <a:rPr lang="en-US" altLang="zh-CN" dirty="0">
                    <a:solidFill>
                      <a:schemeClr val="tx1"/>
                    </a:solidFill>
                    <a:latin typeface="DejaVu Math TeX Gyre" panose="02000503000000000000" charset="0"/>
                    <a:cs typeface="DejaVu Math TeX Gyre" panose="02000503000000000000" charset="0"/>
                  </a:rPr>
                  <a:t>2</a:t>
                </a:r>
                <a:r>
                  <a:rPr lang="zh-CN" altLang="en-US" dirty="0">
                    <a:solidFill>
                      <a:schemeClr val="tx1"/>
                    </a:solidFill>
                    <a:latin typeface="DejaVu Math TeX Gyre" panose="02000503000000000000" charset="0"/>
                    <a:cs typeface="DejaVu Math TeX Gyre" panose="02000503000000000000" charset="0"/>
                  </a:rPr>
                  <a:t>）选取</a:t>
                </a:r>
                <a:r>
                  <a:rPr lang="en-US" altLang="zh-CN" dirty="0">
                    <a:solidFill>
                      <a:schemeClr val="tx1"/>
                    </a:solidFill>
                    <a:latin typeface="DejaVu Math TeX Gyre" panose="02000503000000000000" charset="0"/>
                    <a:cs typeface="DejaVu Math TeX Gyre" panose="02000503000000000000" charset="0"/>
                  </a:rPr>
                  <a:t>RBF</a:t>
                </a:r>
                <a:r>
                  <a:rPr lang="zh-CN" altLang="en-US" dirty="0">
                    <a:solidFill>
                      <a:schemeClr val="tx1"/>
                    </a:solidFill>
                    <a:latin typeface="DejaVu Math TeX Gyre" panose="02000503000000000000" charset="0"/>
                    <a:cs typeface="DejaVu Math TeX Gyre" panose="02000503000000000000" charset="0"/>
                  </a:rPr>
                  <a:t>（</a:t>
                </a:r>
                <a:r>
                  <a:rPr lang="en-US" altLang="zh-CN" dirty="0">
                    <a:solidFill>
                      <a:schemeClr val="tx1"/>
                    </a:solidFill>
                    <a:latin typeface="DejaVu Math TeX Gyre" panose="02000503000000000000" charset="0"/>
                    <a:cs typeface="DejaVu Math TeX Gyre" panose="02000503000000000000" charset="0"/>
                  </a:rPr>
                  <a:t>Radial Basis Function</a:t>
                </a:r>
                <a:r>
                  <a:rPr lang="zh-CN" altLang="en-US" dirty="0">
                    <a:solidFill>
                      <a:schemeClr val="tx1"/>
                    </a:solidFill>
                    <a:latin typeface="DejaVu Math TeX Gyre" panose="02000503000000000000" charset="0"/>
                    <a:cs typeface="DejaVu Math TeX Gyre" panose="02000503000000000000" charset="0"/>
                  </a:rPr>
                  <a:t>）核函数</a:t>
                </a:r>
                <a:endParaRPr lang="en-US" altLang="zh-CN" dirty="0">
                  <a:solidFill>
                    <a:schemeClr val="tx1"/>
                  </a:solidFill>
                  <a:latin typeface="DejaVu Math TeX Gyre" panose="02000503000000000000" charset="0"/>
                  <a:cs typeface="DejaVu Math TeX Gyre" panose="02000503000000000000" charset="0"/>
                </a:endParaRPr>
              </a:p>
              <a:p>
                <a:pPr>
                  <a:lnSpc>
                    <a:spcPct val="120000"/>
                  </a:lnSpc>
                </a:pPr>
                <a14:m>
                  <m:oMathPara xmlns:m="http://schemas.openxmlformats.org/officeDocument/2006/math">
                    <m:oMath>
                      <m:r>
                        <a:rPr lang="en-US" altLang="zh-CN" b="0" i="1" smtClean="0">
                          <a:solidFill>
                            <a:schemeClr val="tx1"/>
                          </a:solidFill>
                          <a:latin typeface="Cambria Math" panose="02040503050406030204" pitchFamily="18" charset="0"/>
                          <a:cs typeface="DejaVu Math TeX Gyre" panose="02000503000000000000" charset="0"/>
                        </a:rPr>
                        <m:t>𝐾</m:t>
                      </m:r>
                      <m:d>
                        <m:dPr>
                          <m:ctrlPr>
                            <a:rPr lang="en-US" altLang="zh-CN" b="1" i="1" smtClean="0">
                              <a:solidFill>
                                <a:schemeClr val="tx1"/>
                              </a:solidFill>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smtClean="0">
                                  <a:solidFill>
                                    <a:schemeClr val="tx1"/>
                                  </a:solidFill>
                                  <a:latin typeface="Cambria Math" panose="02040503050406030204" pitchFamily="18" charset="0"/>
                                </a:rPr>
                                <m:t>𝒊</m:t>
                              </m:r>
                            </m:sub>
                          </m:sSub>
                          <m:r>
                            <a:rPr lang="en-US" altLang="zh-CN" b="1" i="1" smtClean="0">
                              <a:solidFill>
                                <a:schemeClr val="tx1"/>
                              </a:solidFill>
                              <a:latin typeface="Cambria Math" panose="02040503050406030204" pitchFamily="18" charset="0"/>
                            </a:rPr>
                            <m:t>,</m:t>
                          </m:r>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𝒋</m:t>
                              </m:r>
                            </m:sub>
                          </m:sSub>
                        </m:e>
                      </m:d>
                      <m:r>
                        <a:rPr lang="en-US" altLang="zh-CN" b="0" i="1" smtClean="0">
                          <a:solidFill>
                            <a:schemeClr val="tx1"/>
                          </a:solidFill>
                          <a:latin typeface="Cambria Math" panose="02040503050406030204" pitchFamily="18" charset="0"/>
                          <a:cs typeface="DejaVu Math TeX Gyre" panose="02000503000000000000" charset="0"/>
                        </a:rPr>
                        <m:t>=</m:t>
                      </m:r>
                      <m:func>
                        <m:funcPr>
                          <m:ctrlPr>
                            <a:rPr lang="en-US" altLang="zh-CN" b="0" i="0" smtClean="0">
                              <a:solidFill>
                                <a:schemeClr val="tx1"/>
                              </a:solidFill>
                              <a:latin typeface="Cambria Math" panose="02040503050406030204" pitchFamily="18" charset="0"/>
                              <a:cs typeface="DejaVu Math TeX Gyre" panose="02000503000000000000" charset="0"/>
                            </a:rPr>
                          </m:ctrlPr>
                        </m:funcPr>
                        <m:fName>
                          <m:r>
                            <m:rPr>
                              <m:sty m:val="p"/>
                            </m:rPr>
                            <a:rPr lang="en-US" altLang="zh-CN" b="0" i="0" smtClean="0">
                              <a:solidFill>
                                <a:schemeClr val="tx1"/>
                              </a:solidFill>
                              <a:latin typeface="Cambria Math" panose="02040503050406030204" pitchFamily="18" charset="0"/>
                              <a:cs typeface="DejaVu Math TeX Gyre" panose="02000503000000000000" charset="0"/>
                            </a:rPr>
                            <m:t>exp</m:t>
                          </m:r>
                        </m:fName>
                        <m:e>
                          <m:d>
                            <m:dPr>
                              <m:ctrlPr>
                                <a:rPr lang="en-US" altLang="zh-CN" b="0" i="1" smtClean="0">
                                  <a:solidFill>
                                    <a:schemeClr val="tx1"/>
                                  </a:solidFill>
                                  <a:latin typeface="Cambria Math" panose="02040503050406030204" pitchFamily="18" charset="0"/>
                                  <a:cs typeface="DejaVu Math TeX Gyre" panose="02000503000000000000" charset="0"/>
                                </a:rPr>
                              </m:ctrlPr>
                            </m:dPr>
                            <m:e>
                              <m:r>
                                <a:rPr lang="en-US" altLang="zh-CN" b="0" i="1" smtClean="0">
                                  <a:solidFill>
                                    <a:schemeClr val="tx1"/>
                                  </a:solidFill>
                                  <a:latin typeface="Cambria Math" panose="02040503050406030204" pitchFamily="18" charset="0"/>
                                  <a:cs typeface="DejaVu Math TeX Gyre" panose="02000503000000000000" charset="0"/>
                                </a:rPr>
                                <m:t>−</m:t>
                              </m:r>
                              <m:r>
                                <a:rPr lang="en-US" altLang="zh-CN" b="0" i="1" smtClean="0">
                                  <a:solidFill>
                                    <a:schemeClr val="tx1"/>
                                  </a:solidFill>
                                  <a:latin typeface="Cambria Math" panose="02040503050406030204" pitchFamily="18" charset="0"/>
                                  <a:cs typeface="DejaVu Math TeX Gyre" panose="02000503000000000000" charset="0"/>
                                </a:rPr>
                                <m:t>𝑟</m:t>
                              </m:r>
                              <m:sSup>
                                <m:sSupPr>
                                  <m:ctrlPr>
                                    <a:rPr lang="en-US" altLang="zh-CN" b="0" i="1" smtClean="0">
                                      <a:solidFill>
                                        <a:schemeClr val="tx1"/>
                                      </a:solidFill>
                                      <a:latin typeface="Cambria Math" panose="02040503050406030204" pitchFamily="18" charset="0"/>
                                    </a:rPr>
                                  </m:ctrlPr>
                                </m:sSupPr>
                                <m:e>
                                  <m:d>
                                    <m:dPr>
                                      <m:begChr m:val="|"/>
                                      <m:endChr m:val="|"/>
                                      <m:ctrlPr>
                                        <a:rPr lang="en-US" altLang="zh-CN" b="0" i="1" smtClean="0">
                                          <a:solidFill>
                                            <a:schemeClr val="tx1"/>
                                          </a:solidFill>
                                          <a:latin typeface="Cambria Math" panose="02040503050406030204" pitchFamily="18" charset="0"/>
                                        </a:rPr>
                                      </m:ctrlPr>
                                    </m:dPr>
                                    <m:e>
                                      <m:d>
                                        <m:dPr>
                                          <m:begChr m:val="|"/>
                                          <m:endChr m:val="|"/>
                                          <m:ctrlPr>
                                            <a:rPr lang="en-US" altLang="zh-CN" b="1" i="1" smtClean="0">
                                              <a:solidFill>
                                                <a:schemeClr val="tx1"/>
                                              </a:solidFill>
                                              <a:latin typeface="Cambria Math" panose="02040503050406030204" pitchFamily="18" charset="0"/>
                                            </a:rPr>
                                          </m:ctrlPr>
                                        </m:dPr>
                                        <m:e>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𝒊</m:t>
                                              </m:r>
                                            </m:sub>
                                          </m:sSub>
                                          <m:r>
                                            <a:rPr lang="en-US" altLang="zh-CN" b="0" i="1" smtClean="0">
                                              <a:solidFill>
                                                <a:schemeClr val="tx1"/>
                                              </a:solidFill>
                                              <a:latin typeface="Cambria Math" panose="02040503050406030204" pitchFamily="18" charset="0"/>
                                            </a:rPr>
                                            <m:t>−</m:t>
                                          </m:r>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𝒋</m:t>
                                              </m:r>
                                            </m:sub>
                                          </m:sSub>
                                        </m:e>
                                      </m:d>
                                    </m:e>
                                  </m:d>
                                </m:e>
                                <m:sup>
                                  <m:r>
                                    <a:rPr lang="en-US" altLang="zh-CN" b="0" i="1" smtClean="0">
                                      <a:solidFill>
                                        <a:schemeClr val="tx1"/>
                                      </a:solidFill>
                                      <a:latin typeface="Cambria Math" panose="02040503050406030204" pitchFamily="18" charset="0"/>
                                    </a:rPr>
                                    <m:t>2</m:t>
                                  </m:r>
                                </m:sup>
                              </m:sSup>
                            </m:e>
                          </m:d>
                        </m:e>
                      </m:func>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𝑟</m:t>
                      </m:r>
                      <m:r>
                        <a:rPr lang="en-US" altLang="zh-CN" b="0" i="1" smtClean="0">
                          <a:solidFill>
                            <a:schemeClr val="tx1"/>
                          </a:solidFill>
                          <a:latin typeface="Cambria Math" panose="02040503050406030204" pitchFamily="18" charset="0"/>
                        </a:rPr>
                        <m:t>&gt;0</m:t>
                      </m:r>
                    </m:oMath>
                  </m:oMathPara>
                </a14:m>
                <a:endParaRPr lang="zh-CN" altLang="en-US" dirty="0">
                  <a:solidFill>
                    <a:schemeClr val="tx1"/>
                  </a:solidFill>
                  <a:latin typeface="DejaVu Math TeX Gyre" panose="02000503000000000000" charset="0"/>
                  <a:cs typeface="DejaVu Math TeX Gyre" panose="02000503000000000000" charset="0"/>
                </a:endParaRPr>
              </a:p>
            </p:txBody>
          </p:sp>
        </mc:Choice>
        <mc:Fallback xmlns="">
          <p:sp>
            <p:nvSpPr>
              <p:cNvPr id="5" name="文本框 4">
                <a:extLst>
                  <a:ext uri="{FF2B5EF4-FFF2-40B4-BE49-F238E27FC236}">
                    <a16:creationId xmlns:a16="http://schemas.microsoft.com/office/drawing/2014/main" id="{1648E1B1-7E85-2735-0AEB-01606F0A3A8C}"/>
                  </a:ext>
                </a:extLst>
              </p:cNvPr>
              <p:cNvSpPr txBox="1">
                <a:spLocks noRot="1" noChangeAspect="1" noMove="1" noResize="1" noEditPoints="1" noAdjustHandles="1" noChangeArrowheads="1" noChangeShapeType="1" noTextEdit="1"/>
              </p:cNvSpPr>
              <p:nvPr/>
            </p:nvSpPr>
            <p:spPr>
              <a:xfrm>
                <a:off x="917469" y="3388895"/>
                <a:ext cx="4633093" cy="1374200"/>
              </a:xfrm>
              <a:prstGeom prst="rect">
                <a:avLst/>
              </a:prstGeom>
              <a:blipFill>
                <a:blip r:embed="rId4"/>
                <a:stretch>
                  <a:fillRect l="-1184" t="-4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9168D3B-AE14-3C1B-6087-7D8597833249}"/>
                  </a:ext>
                </a:extLst>
              </p:cNvPr>
              <p:cNvSpPr txBox="1"/>
              <p:nvPr/>
            </p:nvSpPr>
            <p:spPr>
              <a:xfrm>
                <a:off x="917469" y="2124698"/>
                <a:ext cx="4633093" cy="1374200"/>
              </a:xfrm>
              <a:prstGeom prst="rect">
                <a:avLst/>
              </a:prstGeom>
              <a:noFill/>
            </p:spPr>
            <p:txBody>
              <a:bodyPr wrap="square" rtlCol="0">
                <a:noAutofit/>
              </a:bodyPr>
              <a:lstStyle/>
              <a:p>
                <a:pPr algn="l">
                  <a:lnSpc>
                    <a:spcPct val="120000"/>
                  </a:lnSpc>
                </a:pPr>
                <a:r>
                  <a:rPr lang="en-US" altLang="zh-CN" dirty="0">
                    <a:solidFill>
                      <a:schemeClr val="tx1"/>
                    </a:solidFill>
                    <a:latin typeface="DejaVu Math TeX Gyre" panose="02000503000000000000" charset="0"/>
                    <a:cs typeface="DejaVu Math TeX Gyre" panose="02000503000000000000" charset="0"/>
                  </a:rPr>
                  <a:t>SVM</a:t>
                </a:r>
                <a:r>
                  <a:rPr lang="zh-CN" altLang="en-US" dirty="0">
                    <a:solidFill>
                      <a:schemeClr val="tx1"/>
                    </a:solidFill>
                    <a:latin typeface="DejaVu Math TeX Gyre" panose="02000503000000000000" charset="0"/>
                    <a:cs typeface="DejaVu Math TeX Gyre" panose="02000503000000000000" charset="0"/>
                  </a:rPr>
                  <a:t>分类构造</a:t>
                </a:r>
                <a:r>
                  <a:rPr lang="zh-CN" altLang="en-US" dirty="0">
                    <a:latin typeface="DejaVu Math TeX Gyre" panose="02000503000000000000" charset="0"/>
                    <a:cs typeface="DejaVu Math TeX Gyre" panose="02000503000000000000" charset="0"/>
                  </a:rPr>
                  <a:t>步骤如下</a:t>
                </a:r>
                <a:r>
                  <a:rPr lang="en-US" altLang="zh-CN" dirty="0">
                    <a:latin typeface="DejaVu Math TeX Gyre" panose="02000503000000000000" charset="0"/>
                    <a:cs typeface="DejaVu Math TeX Gyre" panose="02000503000000000000" charset="0"/>
                  </a:rPr>
                  <a:t>:</a:t>
                </a:r>
              </a:p>
              <a:p>
                <a:pPr>
                  <a:lnSpc>
                    <a:spcPct val="120000"/>
                  </a:lnSpc>
                </a:pPr>
                <a:r>
                  <a:rPr lang="en-US" altLang="zh-CN" dirty="0">
                    <a:solidFill>
                      <a:schemeClr val="tx1"/>
                    </a:solidFill>
                    <a:latin typeface="DejaVu Math TeX Gyre" panose="02000503000000000000" charset="0"/>
                    <a:cs typeface="DejaVu Math TeX Gyre" panose="02000503000000000000" charset="0"/>
                  </a:rPr>
                  <a:t>1</a:t>
                </a:r>
                <a:r>
                  <a:rPr lang="zh-CN" altLang="en-US" dirty="0">
                    <a:solidFill>
                      <a:schemeClr val="tx1"/>
                    </a:solidFill>
                    <a:latin typeface="DejaVu Math TeX Gyre" panose="02000503000000000000" charset="0"/>
                    <a:cs typeface="DejaVu Math TeX Gyre" panose="02000503000000000000" charset="0"/>
                  </a:rPr>
                  <a:t>）首先</a:t>
                </a:r>
                <a:r>
                  <a:rPr lang="zh-CN" altLang="en-US" dirty="0"/>
                  <a:t>根据获取的测试数据建立训练集</a:t>
                </a:r>
                <a:endParaRPr lang="en-US" altLang="zh-CN" dirty="0"/>
              </a:p>
              <a:p>
                <a:pPr>
                  <a:lnSpc>
                    <a:spcPct val="120000"/>
                  </a:lnSpc>
                </a:pPr>
                <a14:m>
                  <m:oMathPara xmlns:m="http://schemas.openxmlformats.org/officeDocument/2006/math">
                    <m:oMath>
                      <m:r>
                        <a:rPr lang="en-US" altLang="zh-CN" b="0" i="1" smtClean="0">
                          <a:latin typeface="Cambria Math" panose="02040503050406030204" pitchFamily="18" charset="0"/>
                        </a:rPr>
                        <m:t>𝐷</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d>
                            <m:dPr>
                              <m:ctrlPr>
                                <a:rPr lang="en-US" altLang="zh-CN" b="1" i="1" smtClean="0">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smtClean="0">
                                      <a:latin typeface="Cambria Math" panose="02040503050406030204" pitchFamily="18" charset="0"/>
                                    </a:rPr>
                                    <m:t>𝟏</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d>
                            <m:dPr>
                              <m:ctrlPr>
                                <a:rPr lang="en-US" altLang="zh-CN" b="1"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smtClean="0">
                                      <a:latin typeface="Cambria Math" panose="02040503050406030204" pitchFamily="18" charset="0"/>
                                    </a:rPr>
                                    <m:t>𝟐</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m:t>
                          </m:r>
                          <m:d>
                            <m:dPr>
                              <m:ctrlPr>
                                <a:rPr lang="en-US" altLang="zh-CN" b="1"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smtClean="0">
                                      <a:latin typeface="Cambria Math" panose="02040503050406030204" pitchFamily="18" charset="0"/>
                                    </a:rPr>
                                    <m:t>𝒎</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b="0" i="1" smtClean="0">
                                      <a:latin typeface="Cambria Math" panose="02040503050406030204" pitchFamily="18" charset="0"/>
                                    </a:rPr>
                                    <m:t>𝑚</m:t>
                                  </m:r>
                                </m:sub>
                              </m:sSub>
                            </m:e>
                          </m:d>
                        </m:e>
                      </m:d>
                    </m:oMath>
                  </m:oMathPara>
                </a14:m>
                <a:endParaRPr lang="zh-CN" altLang="en-US" dirty="0">
                  <a:solidFill>
                    <a:schemeClr val="tx1"/>
                  </a:solidFill>
                  <a:latin typeface="DejaVu Math TeX Gyre" panose="02000503000000000000" charset="0"/>
                  <a:cs typeface="DejaVu Math TeX Gyre" panose="02000503000000000000" charset="0"/>
                </a:endParaRPr>
              </a:p>
            </p:txBody>
          </p:sp>
        </mc:Choice>
        <mc:Fallback xmlns="">
          <p:sp>
            <p:nvSpPr>
              <p:cNvPr id="12" name="文本框 11">
                <a:extLst>
                  <a:ext uri="{FF2B5EF4-FFF2-40B4-BE49-F238E27FC236}">
                    <a16:creationId xmlns:a16="http://schemas.microsoft.com/office/drawing/2014/main" id="{F9168D3B-AE14-3C1B-6087-7D8597833249}"/>
                  </a:ext>
                </a:extLst>
              </p:cNvPr>
              <p:cNvSpPr txBox="1">
                <a:spLocks noRot="1" noChangeAspect="1" noMove="1" noResize="1" noEditPoints="1" noAdjustHandles="1" noChangeArrowheads="1" noChangeShapeType="1" noTextEdit="1"/>
              </p:cNvSpPr>
              <p:nvPr/>
            </p:nvSpPr>
            <p:spPr>
              <a:xfrm>
                <a:off x="917469" y="2124698"/>
                <a:ext cx="4633093" cy="1374200"/>
              </a:xfrm>
              <a:prstGeom prst="rect">
                <a:avLst/>
              </a:prstGeom>
              <a:blipFill>
                <a:blip r:embed="rId5"/>
                <a:stretch>
                  <a:fillRect l="-1184" t="-4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7FE9ECB6-B5CE-AC46-7B0F-26E5FFDEF036}"/>
                  </a:ext>
                </a:extLst>
              </p:cNvPr>
              <p:cNvSpPr txBox="1"/>
              <p:nvPr/>
            </p:nvSpPr>
            <p:spPr>
              <a:xfrm>
                <a:off x="917469" y="4462097"/>
                <a:ext cx="5178532" cy="873049"/>
              </a:xfrm>
              <a:prstGeom prst="rect">
                <a:avLst/>
              </a:prstGeom>
              <a:noFill/>
            </p:spPr>
            <p:txBody>
              <a:bodyPr wrap="square" rtlCol="0">
                <a:noAutofit/>
              </a:bodyPr>
              <a:lstStyle/>
              <a:p>
                <a:pPr>
                  <a:lnSpc>
                    <a:spcPct val="120000"/>
                  </a:lnSpc>
                </a:pPr>
                <a:r>
                  <a:rPr lang="en-US" altLang="zh-CN" dirty="0">
                    <a:latin typeface="DejaVu Math TeX Gyre" panose="02000503000000000000" charset="0"/>
                    <a:cs typeface="DejaVu Math TeX Gyre" panose="02000503000000000000" charset="0"/>
                  </a:rPr>
                  <a:t>3</a:t>
                </a:r>
                <a:r>
                  <a:rPr lang="zh-CN" altLang="en-US" dirty="0">
                    <a:solidFill>
                      <a:schemeClr val="tx1"/>
                    </a:solidFill>
                    <a:latin typeface="DejaVu Math TeX Gyre" panose="02000503000000000000" charset="0"/>
                    <a:cs typeface="DejaVu Math TeX Gyre" panose="02000503000000000000" charset="0"/>
                  </a:rPr>
                  <a:t>）</a:t>
                </a:r>
                <a:r>
                  <a:rPr lang="zh-CN" altLang="en-US" dirty="0"/>
                  <a:t>根据获取的核函数和参数求得最优解</a:t>
                </a:r>
                <a14:m>
                  <m:oMath xmlns:m="http://schemas.openxmlformats.org/officeDocument/2006/math">
                    <m:sSup>
                      <m:sSupPr>
                        <m:ctrlPr>
                          <a:rPr lang="en-US" altLang="zh-CN" b="1" i="1">
                            <a:latin typeface="Cambria Math" panose="02040503050406030204" pitchFamily="18" charset="0"/>
                          </a:rPr>
                        </m:ctrlPr>
                      </m:sSupPr>
                      <m:e>
                        <m:r>
                          <a:rPr lang="en-US" altLang="zh-CN" b="1" i="1">
                            <a:latin typeface="Cambria Math" panose="02040503050406030204" pitchFamily="18" charset="0"/>
                          </a:rPr>
                          <m:t>𝒘</m:t>
                        </m:r>
                      </m:e>
                      <m:sup>
                        <m:r>
                          <a:rPr lang="en-US" altLang="zh-CN" b="0" i="1" smtClean="0">
                            <a:latin typeface="Cambria Math" panose="02040503050406030204" pitchFamily="18" charset="0"/>
                          </a:rPr>
                          <m:t>∗</m:t>
                        </m:r>
                      </m:sup>
                    </m:sSup>
                  </m:oMath>
                </a14:m>
                <a:r>
                  <a:rPr lang="zh-CN" altLang="en-US" dirty="0">
                    <a:solidFill>
                      <a:schemeClr val="tx1"/>
                    </a:solidFill>
                    <a:latin typeface="DejaVu Math TeX Gyre" panose="02000503000000000000" charset="0"/>
                    <a:cs typeface="DejaVu Math TeX Gyre" panose="02000503000000000000" charset="0"/>
                  </a:rPr>
                  <a:t>和</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𝑏</m:t>
                        </m:r>
                      </m:e>
                      <m:sup>
                        <m:r>
                          <a:rPr lang="en-US" altLang="zh-CN" i="1">
                            <a:latin typeface="Cambria Math" panose="02040503050406030204" pitchFamily="18" charset="0"/>
                          </a:rPr>
                          <m:t>∗</m:t>
                        </m:r>
                      </m:sup>
                    </m:sSup>
                  </m:oMath>
                </a14:m>
                <a:endParaRPr lang="zh-CN" altLang="en-US" dirty="0">
                  <a:solidFill>
                    <a:schemeClr val="tx1"/>
                  </a:solidFill>
                  <a:latin typeface="DejaVu Math TeX Gyre" panose="02000503000000000000" charset="0"/>
                  <a:cs typeface="DejaVu Math TeX Gyre" panose="02000503000000000000" charset="0"/>
                </a:endParaRPr>
              </a:p>
            </p:txBody>
          </p:sp>
        </mc:Choice>
        <mc:Fallback xmlns="">
          <p:sp>
            <p:nvSpPr>
              <p:cNvPr id="13" name="文本框 12">
                <a:extLst>
                  <a:ext uri="{FF2B5EF4-FFF2-40B4-BE49-F238E27FC236}">
                    <a16:creationId xmlns:a16="http://schemas.microsoft.com/office/drawing/2014/main" id="{7FE9ECB6-B5CE-AC46-7B0F-26E5FFDEF036}"/>
                  </a:ext>
                </a:extLst>
              </p:cNvPr>
              <p:cNvSpPr txBox="1">
                <a:spLocks noRot="1" noChangeAspect="1" noMove="1" noResize="1" noEditPoints="1" noAdjustHandles="1" noChangeArrowheads="1" noChangeShapeType="1" noTextEdit="1"/>
              </p:cNvSpPr>
              <p:nvPr/>
            </p:nvSpPr>
            <p:spPr>
              <a:xfrm>
                <a:off x="917469" y="4462097"/>
                <a:ext cx="5178532" cy="873049"/>
              </a:xfrm>
              <a:prstGeom prst="rect">
                <a:avLst/>
              </a:prstGeom>
              <a:blipFill>
                <a:blip r:embed="rId6"/>
                <a:stretch>
                  <a:fillRect l="-1060" t="-6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35DF88F-821E-A776-4521-7FBAF3164E67}"/>
                  </a:ext>
                </a:extLst>
              </p:cNvPr>
              <p:cNvSpPr txBox="1"/>
              <p:nvPr/>
            </p:nvSpPr>
            <p:spPr>
              <a:xfrm>
                <a:off x="917468" y="5268584"/>
                <a:ext cx="5178532" cy="873049"/>
              </a:xfrm>
              <a:prstGeom prst="rect">
                <a:avLst/>
              </a:prstGeom>
              <a:noFill/>
            </p:spPr>
            <p:txBody>
              <a:bodyPr wrap="square" rtlCol="0">
                <a:noAutofit/>
              </a:bodyPr>
              <a:lstStyle/>
              <a:p>
                <a:pPr>
                  <a:lnSpc>
                    <a:spcPct val="120000"/>
                  </a:lnSpc>
                </a:pPr>
                <a:r>
                  <a:rPr lang="en-US" altLang="zh-CN" dirty="0">
                    <a:solidFill>
                      <a:schemeClr val="tx1"/>
                    </a:solidFill>
                    <a:latin typeface="DejaVu Math TeX Gyre" panose="02000503000000000000" charset="0"/>
                    <a:cs typeface="DejaVu Math TeX Gyre" panose="02000503000000000000" charset="0"/>
                  </a:rPr>
                  <a:t>4</a:t>
                </a:r>
                <a:r>
                  <a:rPr lang="zh-CN" altLang="en-US" dirty="0">
                    <a:solidFill>
                      <a:schemeClr val="tx1"/>
                    </a:solidFill>
                    <a:latin typeface="DejaVu Math TeX Gyre" panose="02000503000000000000" charset="0"/>
                    <a:cs typeface="DejaVu Math TeX Gyre" panose="02000503000000000000" charset="0"/>
                  </a:rPr>
                  <a:t>）</a:t>
                </a:r>
                <a:r>
                  <a:rPr lang="zh-CN" altLang="en-US" dirty="0"/>
                  <a:t>把 </a:t>
                </a:r>
                <a:r>
                  <a:rPr lang="en-US" altLang="zh-CN" dirty="0"/>
                  <a:t>RBF </a:t>
                </a:r>
                <a:r>
                  <a:rPr lang="zh-CN" altLang="en-US" dirty="0"/>
                  <a:t>核函数、最优解</a:t>
                </a:r>
                <a14:m>
                  <m:oMath xmlns:m="http://schemas.openxmlformats.org/officeDocument/2006/math">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𝒘</m:t>
                        </m:r>
                      </m:e>
                      <m:sup>
                        <m:r>
                          <a:rPr lang="en-US" altLang="zh-CN" b="0" i="1" smtClean="0">
                            <a:latin typeface="Cambria Math" panose="02040503050406030204" pitchFamily="18" charset="0"/>
                          </a:rPr>
                          <m:t>∗</m:t>
                        </m:r>
                      </m:sup>
                    </m:sSup>
                  </m:oMath>
                </a14:m>
                <a:r>
                  <a:rPr lang="zh-CN" altLang="en-US" dirty="0"/>
                  <a:t>和</a:t>
                </a:r>
                <a14:m>
                  <m:oMath xmlns:m="http://schemas.openxmlformats.org/officeDocument/2006/math">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𝑏</m:t>
                        </m:r>
                      </m:e>
                      <m:sup>
                        <m:r>
                          <a:rPr lang="en-US" altLang="zh-CN" b="0" i="1" dirty="0" smtClean="0">
                            <a:latin typeface="Cambria Math" panose="02040503050406030204" pitchFamily="18" charset="0"/>
                          </a:rPr>
                          <m:t>∗</m:t>
                        </m:r>
                      </m:sup>
                    </m:sSup>
                  </m:oMath>
                </a14:m>
                <a:r>
                  <a:rPr lang="zh-CN" altLang="en-US" dirty="0"/>
                  <a:t>代入，获得最优分类函数</a:t>
                </a:r>
                <a14:m>
                  <m:oMath xmlns:m="http://schemas.openxmlformats.org/officeDocument/2006/math">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oMath>
                </a14:m>
                <a:r>
                  <a:rPr lang="zh-CN" altLang="en-US" dirty="0"/>
                  <a:t>，从而完成 </a:t>
                </a:r>
                <a:r>
                  <a:rPr lang="en-US" altLang="zh-CN" dirty="0"/>
                  <a:t>SVM</a:t>
                </a:r>
                <a:r>
                  <a:rPr lang="zh-CN" altLang="en-US" dirty="0"/>
                  <a:t>分类器的构造。</a:t>
                </a:r>
                <a:endParaRPr lang="zh-CN" altLang="en-US" dirty="0">
                  <a:solidFill>
                    <a:schemeClr val="tx1"/>
                  </a:solidFill>
                  <a:latin typeface="DejaVu Math TeX Gyre" panose="02000503000000000000" charset="0"/>
                  <a:cs typeface="DejaVu Math TeX Gyre" panose="02000503000000000000" charset="0"/>
                </a:endParaRPr>
              </a:p>
            </p:txBody>
          </p:sp>
        </mc:Choice>
        <mc:Fallback xmlns="">
          <p:sp>
            <p:nvSpPr>
              <p:cNvPr id="14" name="文本框 13">
                <a:extLst>
                  <a:ext uri="{FF2B5EF4-FFF2-40B4-BE49-F238E27FC236}">
                    <a16:creationId xmlns:a16="http://schemas.microsoft.com/office/drawing/2014/main" id="{235DF88F-821E-A776-4521-7FBAF3164E67}"/>
                  </a:ext>
                </a:extLst>
              </p:cNvPr>
              <p:cNvSpPr txBox="1">
                <a:spLocks noRot="1" noChangeAspect="1" noMove="1" noResize="1" noEditPoints="1" noAdjustHandles="1" noChangeArrowheads="1" noChangeShapeType="1" noTextEdit="1"/>
              </p:cNvSpPr>
              <p:nvPr/>
            </p:nvSpPr>
            <p:spPr>
              <a:xfrm>
                <a:off x="917468" y="5268584"/>
                <a:ext cx="5178532" cy="873049"/>
              </a:xfrm>
              <a:prstGeom prst="rect">
                <a:avLst/>
              </a:prstGeom>
              <a:blipFill>
                <a:blip r:embed="rId7"/>
                <a:stretch>
                  <a:fillRect l="-1060"/>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7D6B0A89-51B7-8F7D-689C-EFB418B8041E}"/>
              </a:ext>
            </a:extLst>
          </p:cNvPr>
          <p:cNvSpPr txBox="1"/>
          <p:nvPr/>
        </p:nvSpPr>
        <p:spPr>
          <a:xfrm>
            <a:off x="6212877" y="1621521"/>
            <a:ext cx="4444551" cy="779780"/>
          </a:xfrm>
          <a:prstGeom prst="rect">
            <a:avLst/>
          </a:prstGeom>
          <a:noFill/>
        </p:spPr>
        <p:txBody>
          <a:bodyPr wrap="square" rtlCol="0">
            <a:noAutofit/>
          </a:bodyPr>
          <a:lstStyle/>
          <a:p>
            <a:r>
              <a:rPr lang="zh-CN" altLang="en-US" b="1" dirty="0"/>
              <a:t>避障</a:t>
            </a:r>
            <a:r>
              <a:rPr lang="zh-CN" altLang="en-US" dirty="0"/>
              <a:t>即移动机器人传感器对环境中障碍物进行测试所获得测试数据，判断移动机器人下一步的行进方向</a:t>
            </a:r>
            <a:endParaRPr lang="zh-CN" altLang="en-US" dirty="0">
              <a:solidFill>
                <a:schemeClr val="tx1"/>
              </a:solidFill>
              <a:latin typeface="DejaVu Math TeX Gyre" panose="02000503000000000000" charset="0"/>
              <a:cs typeface="DejaVu Math TeX Gyre" panose="02000503000000000000" charset="0"/>
            </a:endParaRPr>
          </a:p>
        </p:txBody>
      </p:sp>
    </p:spTree>
    <p:extLst>
      <p:ext uri="{BB962C8B-B14F-4D97-AF65-F5344CB8AC3E}">
        <p14:creationId xmlns:p14="http://schemas.microsoft.com/office/powerpoint/2010/main" val="1748877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939798"/>
            <a:ext cx="5022850" cy="625474"/>
            <a:chOff x="0" y="1075267"/>
            <a:chExt cx="5022850"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0932" y="1157172"/>
              <a:ext cx="3964183" cy="461665"/>
            </a:xfrm>
            <a:prstGeom prst="rect">
              <a:avLst/>
            </a:prstGeom>
            <a:noFill/>
          </p:spPr>
          <p:txBody>
            <a:bodyPr wrap="square">
              <a:spAutoFit/>
            </a:bodyPr>
            <a:lstStyle/>
            <a:p>
              <a:r>
                <a:rPr lang="en-US" altLang="zh-CN" sz="2400" b="1" dirty="0">
                  <a:solidFill>
                    <a:schemeClr val="accent1"/>
                  </a:solidFill>
                  <a:sym typeface="+mn-ea"/>
                </a:rPr>
                <a:t>5.2.3 </a:t>
              </a:r>
              <a:r>
                <a:rPr lang="zh-CN" altLang="en-US" sz="2400" b="1" dirty="0">
                  <a:solidFill>
                    <a:schemeClr val="accent1"/>
                  </a:solidFill>
                  <a:sym typeface="+mn-ea"/>
                </a:rPr>
                <a:t>支持向量机避障策略</a:t>
              </a:r>
              <a:endParaRPr lang="zh-CN" altLang="en-US" sz="2400" b="1" dirty="0">
                <a:solidFill>
                  <a:schemeClr val="accent1"/>
                </a:solidFill>
              </a:endParaRPr>
            </a:p>
          </p:txBody>
        </p:sp>
      </p:grpSp>
      <p:pic>
        <p:nvPicPr>
          <p:cNvPr id="6" name="图片 5" descr="形状, 图标, 箭头&#10;&#10;AI 生成的内容可能不正确。">
            <a:extLst>
              <a:ext uri="{FF2B5EF4-FFF2-40B4-BE49-F238E27FC236}">
                <a16:creationId xmlns:a16="http://schemas.microsoft.com/office/drawing/2014/main" id="{BA657571-524A-E56D-E566-DD95E88D52CA}"/>
              </a:ext>
            </a:extLst>
          </p:cNvPr>
          <p:cNvPicPr>
            <a:picLocks noChangeAspect="1"/>
          </p:cNvPicPr>
          <p:nvPr/>
        </p:nvPicPr>
        <p:blipFill>
          <a:blip r:embed="rId3"/>
          <a:stretch>
            <a:fillRect/>
          </a:stretch>
        </p:blipFill>
        <p:spPr>
          <a:xfrm>
            <a:off x="8250226" y="2373343"/>
            <a:ext cx="1718796" cy="1648641"/>
          </a:xfrm>
          <a:prstGeom prst="rect">
            <a:avLst/>
          </a:prstGeom>
        </p:spPr>
      </p:pic>
      <p:sp>
        <p:nvSpPr>
          <p:cNvPr id="8" name="文本框 7">
            <a:extLst>
              <a:ext uri="{FF2B5EF4-FFF2-40B4-BE49-F238E27FC236}">
                <a16:creationId xmlns:a16="http://schemas.microsoft.com/office/drawing/2014/main" id="{B469A129-C02B-2A49-291B-1A0F2A561E82}"/>
              </a:ext>
            </a:extLst>
          </p:cNvPr>
          <p:cNvSpPr txBox="1"/>
          <p:nvPr/>
        </p:nvSpPr>
        <p:spPr>
          <a:xfrm>
            <a:off x="732464" y="1658190"/>
            <a:ext cx="4444551" cy="779780"/>
          </a:xfrm>
          <a:prstGeom prst="rect">
            <a:avLst/>
          </a:prstGeom>
          <a:noFill/>
        </p:spPr>
        <p:txBody>
          <a:bodyPr wrap="square" rtlCol="0">
            <a:noAutofit/>
          </a:bodyPr>
          <a:lstStyle/>
          <a:p>
            <a:pPr algn="l">
              <a:lnSpc>
                <a:spcPct val="120000"/>
              </a:lnSpc>
            </a:pPr>
            <a:r>
              <a:rPr lang="en-US" altLang="zh-CN" b="1" dirty="0">
                <a:latin typeface="DejaVu Math TeX Gyre" panose="02000503000000000000" charset="0"/>
                <a:cs typeface="DejaVu Math TeX Gyre" panose="02000503000000000000" charset="0"/>
              </a:rPr>
              <a:t>SVM</a:t>
            </a:r>
            <a:r>
              <a:rPr lang="zh-CN" altLang="en-US" b="1" dirty="0">
                <a:latin typeface="DejaVu Math TeX Gyre" panose="02000503000000000000" charset="0"/>
                <a:cs typeface="DejaVu Math TeX Gyre" panose="02000503000000000000" charset="0"/>
              </a:rPr>
              <a:t>算法移动机器人避障具体步骤如下</a:t>
            </a:r>
            <a:r>
              <a:rPr lang="en-US" altLang="zh-CN" b="1" dirty="0">
                <a:latin typeface="DejaVu Math TeX Gyre" panose="02000503000000000000" charset="0"/>
                <a:cs typeface="DejaVu Math TeX Gyre" panose="02000503000000000000" charset="0"/>
              </a:rPr>
              <a:t>:</a:t>
            </a:r>
            <a:endParaRPr lang="zh-CN" altLang="en-US" dirty="0">
              <a:solidFill>
                <a:schemeClr val="tx1"/>
              </a:solidFill>
              <a:latin typeface="DejaVu Math TeX Gyre" panose="02000503000000000000" charset="0"/>
              <a:cs typeface="DejaVu Math TeX Gyre" panose="02000503000000000000" charset="0"/>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09137FB-1932-8666-C598-EF759A383CA0}"/>
                  </a:ext>
                </a:extLst>
              </p:cNvPr>
              <p:cNvSpPr txBox="1"/>
              <p:nvPr/>
            </p:nvSpPr>
            <p:spPr>
              <a:xfrm>
                <a:off x="409712" y="2114081"/>
                <a:ext cx="5991087" cy="1907903"/>
              </a:xfrm>
              <a:prstGeom prst="rect">
                <a:avLst/>
              </a:prstGeom>
              <a:noFill/>
            </p:spPr>
            <p:txBody>
              <a:bodyPr wrap="square" rtlCol="0">
                <a:noAutofit/>
              </a:bodyPr>
              <a:lstStyle/>
              <a:p>
                <a:pPr algn="l">
                  <a:lnSpc>
                    <a:spcPct val="120000"/>
                  </a:lnSpc>
                </a:pPr>
                <a:r>
                  <a:rPr lang="en-US" altLang="zh-CN" dirty="0">
                    <a:latin typeface="DejaVu Math TeX Gyre" panose="02000503000000000000" charset="0"/>
                    <a:cs typeface="DejaVu Math TeX Gyre" panose="02000503000000000000" charset="0"/>
                  </a:rPr>
                  <a:t>1</a:t>
                </a:r>
                <a:r>
                  <a:rPr lang="zh-CN" altLang="en-US" dirty="0">
                    <a:latin typeface="DejaVu Math TeX Gyre" panose="02000503000000000000" charset="0"/>
                    <a:cs typeface="DejaVu Math TeX Gyre" panose="02000503000000000000" charset="0"/>
                  </a:rPr>
                  <a:t>）从六种类别中分别选取两个不同类别构成一种</a:t>
                </a:r>
                <a:r>
                  <a:rPr lang="en-US" altLang="zh-CN" dirty="0">
                    <a:latin typeface="DejaVu Math TeX Gyre" panose="02000503000000000000" charset="0"/>
                    <a:cs typeface="DejaVu Math TeX Gyre" panose="02000503000000000000" charset="0"/>
                  </a:rPr>
                  <a:t>SVM </a:t>
                </a:r>
                <a:r>
                  <a:rPr lang="zh-CN" altLang="en-US" dirty="0">
                    <a:latin typeface="DejaVu Math TeX Gyre" panose="02000503000000000000" charset="0"/>
                    <a:cs typeface="DejaVu Math TeX Gyre" panose="02000503000000000000" charset="0"/>
                  </a:rPr>
                  <a:t>子分类。针对</a:t>
                </a:r>
                <a:r>
                  <a:rPr lang="en-US" altLang="zh-CN" dirty="0">
                    <a:latin typeface="DejaVu Math TeX Gyre" panose="02000503000000000000" charset="0"/>
                    <a:cs typeface="DejaVu Math TeX Gyre" panose="02000503000000000000" charset="0"/>
                  </a:rPr>
                  <a:t>15 </a:t>
                </a:r>
                <a:r>
                  <a:rPr lang="zh-CN" altLang="en-US" dirty="0">
                    <a:latin typeface="DejaVu Math TeX Gyre" panose="02000503000000000000" charset="0"/>
                    <a:cs typeface="DejaVu Math TeX Gyre" panose="02000503000000000000" charset="0"/>
                  </a:rPr>
                  <a:t>种</a:t>
                </a:r>
                <a:r>
                  <a:rPr lang="en-US" altLang="zh-CN" dirty="0">
                    <a:latin typeface="DejaVu Math TeX Gyre" panose="02000503000000000000" charset="0"/>
                    <a:cs typeface="DejaVu Math TeX Gyre" panose="02000503000000000000" charset="0"/>
                  </a:rPr>
                  <a:t>SVM </a:t>
                </a:r>
                <a:r>
                  <a:rPr lang="zh-CN" altLang="en-US" dirty="0">
                    <a:latin typeface="DejaVu Math TeX Gyre" panose="02000503000000000000" charset="0"/>
                    <a:cs typeface="DejaVu Math TeX Gyre" panose="02000503000000000000" charset="0"/>
                  </a:rPr>
                  <a:t>子分类通过对已知样本训练的训练集分别构造</a:t>
                </a:r>
                <a:r>
                  <a:rPr lang="en-US" altLang="zh-CN" dirty="0">
                    <a:latin typeface="DejaVu Math TeX Gyre" panose="02000503000000000000" charset="0"/>
                    <a:cs typeface="DejaVu Math TeX Gyre" panose="02000503000000000000" charset="0"/>
                  </a:rPr>
                  <a:t>15 </a:t>
                </a:r>
                <a:r>
                  <a:rPr lang="zh-CN" altLang="en-US" dirty="0">
                    <a:latin typeface="DejaVu Math TeX Gyre" panose="02000503000000000000" charset="0"/>
                    <a:cs typeface="DejaVu Math TeX Gyre" panose="02000503000000000000" charset="0"/>
                  </a:rPr>
                  <a:t>个</a:t>
                </a:r>
                <a:r>
                  <a:rPr lang="en-US" altLang="zh-CN" dirty="0">
                    <a:latin typeface="DejaVu Math TeX Gyre" panose="02000503000000000000" charset="0"/>
                    <a:cs typeface="DejaVu Math TeX Gyre" panose="02000503000000000000" charset="0"/>
                  </a:rPr>
                  <a:t>SVM </a:t>
                </a:r>
                <a:r>
                  <a:rPr lang="zh-CN" altLang="en-US" dirty="0">
                    <a:latin typeface="DejaVu Math TeX Gyre" panose="02000503000000000000" charset="0"/>
                    <a:cs typeface="DejaVu Math TeX Gyre" panose="02000503000000000000" charset="0"/>
                  </a:rPr>
                  <a:t>分类器，获得</a:t>
                </a:r>
                <a:r>
                  <a:rPr lang="en-US" altLang="zh-CN" dirty="0">
                    <a:latin typeface="DejaVu Math TeX Gyre" panose="02000503000000000000" charset="0"/>
                    <a:cs typeface="DejaVu Math TeX Gyre" panose="02000503000000000000" charset="0"/>
                  </a:rPr>
                  <a:t>15 </a:t>
                </a:r>
                <a:r>
                  <a:rPr lang="zh-CN" altLang="en-US" dirty="0">
                    <a:latin typeface="DejaVu Math TeX Gyre" panose="02000503000000000000" charset="0"/>
                    <a:cs typeface="DejaVu Math TeX Gyre" panose="02000503000000000000" charset="0"/>
                  </a:rPr>
                  <a:t>个最优分类函数</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=1,2,…,6）</m:t>
                    </m:r>
                  </m:oMath>
                </a14:m>
                <a:endParaRPr lang="zh-CN" altLang="en-US" dirty="0">
                  <a:solidFill>
                    <a:schemeClr val="tx1"/>
                  </a:solidFill>
                  <a:latin typeface="DejaVu Math TeX Gyre" panose="02000503000000000000" charset="0"/>
                  <a:cs typeface="DejaVu Math TeX Gyre" panose="02000503000000000000" charset="0"/>
                </a:endParaRPr>
              </a:p>
            </p:txBody>
          </p:sp>
        </mc:Choice>
        <mc:Fallback xmlns="">
          <p:sp>
            <p:nvSpPr>
              <p:cNvPr id="9" name="文本框 8">
                <a:extLst>
                  <a:ext uri="{FF2B5EF4-FFF2-40B4-BE49-F238E27FC236}">
                    <a16:creationId xmlns:a16="http://schemas.microsoft.com/office/drawing/2014/main" id="{909137FB-1932-8666-C598-EF759A383CA0}"/>
                  </a:ext>
                </a:extLst>
              </p:cNvPr>
              <p:cNvSpPr txBox="1">
                <a:spLocks noRot="1" noChangeAspect="1" noMove="1" noResize="1" noEditPoints="1" noAdjustHandles="1" noChangeArrowheads="1" noChangeShapeType="1" noTextEdit="1"/>
              </p:cNvSpPr>
              <p:nvPr/>
            </p:nvSpPr>
            <p:spPr>
              <a:xfrm>
                <a:off x="409712" y="2114081"/>
                <a:ext cx="5991087" cy="1907903"/>
              </a:xfrm>
              <a:prstGeom prst="rect">
                <a:avLst/>
              </a:prstGeom>
              <a:blipFill>
                <a:blip r:embed="rId4"/>
                <a:stretch>
                  <a:fillRect l="-814" t="-319" r="-916"/>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5B81977E-A813-8B61-5602-5A0858ED2791}"/>
              </a:ext>
            </a:extLst>
          </p:cNvPr>
          <p:cNvSpPr txBox="1"/>
          <p:nvPr/>
        </p:nvSpPr>
        <p:spPr>
          <a:xfrm>
            <a:off x="7079408" y="1479435"/>
            <a:ext cx="4444551" cy="779780"/>
          </a:xfrm>
          <a:prstGeom prst="rect">
            <a:avLst/>
          </a:prstGeom>
          <a:noFill/>
        </p:spPr>
        <p:txBody>
          <a:bodyPr wrap="square" rtlCol="0">
            <a:noAutofit/>
          </a:bodyPr>
          <a:lstStyle/>
          <a:p>
            <a:pPr algn="l">
              <a:lnSpc>
                <a:spcPct val="120000"/>
              </a:lnSpc>
            </a:pPr>
            <a:r>
              <a:rPr lang="zh-CN" altLang="en-US" b="1" dirty="0">
                <a:latin typeface="DejaVu Math TeX Gyre" panose="02000503000000000000" charset="0"/>
                <a:cs typeface="DejaVu Math TeX Gyre" panose="02000503000000000000" charset="0"/>
              </a:rPr>
              <a:t>六个前进方向</a:t>
            </a:r>
            <a:endParaRPr lang="zh-CN" altLang="en-US" dirty="0">
              <a:solidFill>
                <a:schemeClr val="tx1"/>
              </a:solidFill>
              <a:latin typeface="DejaVu Math TeX Gyre" panose="02000503000000000000" charset="0"/>
              <a:cs typeface="DejaVu Math TeX Gyre" panose="02000503000000000000" charset="0"/>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9C153CC-C79F-6AF3-0A67-B9EFE57F2985}"/>
                  </a:ext>
                </a:extLst>
              </p:cNvPr>
              <p:cNvSpPr txBox="1"/>
              <p:nvPr/>
            </p:nvSpPr>
            <p:spPr>
              <a:xfrm>
                <a:off x="409712" y="3500749"/>
                <a:ext cx="5152316" cy="499454"/>
              </a:xfrm>
              <a:prstGeom prst="rect">
                <a:avLst/>
              </a:prstGeom>
              <a:noFill/>
            </p:spPr>
            <p:txBody>
              <a:bodyPr wrap="square" rtlCol="0">
                <a:noAutofit/>
              </a:bodyPr>
              <a:lstStyle/>
              <a:p>
                <a:pPr>
                  <a:lnSpc>
                    <a:spcPct val="120000"/>
                  </a:lnSpc>
                </a:pPr>
                <a:r>
                  <a:rPr lang="en-US" altLang="zh-CN" dirty="0">
                    <a:latin typeface="DejaVu Math TeX Gyre" panose="02000503000000000000" charset="0"/>
                    <a:cs typeface="DejaVu Math TeX Gyre" panose="02000503000000000000" charset="0"/>
                  </a:rPr>
                  <a:t>2</a:t>
                </a:r>
                <a:r>
                  <a:rPr lang="zh-CN" altLang="en-US" dirty="0">
                    <a:latin typeface="DejaVu Math TeX Gyre" panose="02000503000000000000" charset="0"/>
                    <a:cs typeface="DejaVu Math TeX Gyre" panose="02000503000000000000" charset="0"/>
                  </a:rPr>
                  <a:t>）</a:t>
                </a:r>
                <a:r>
                  <a:rPr lang="zh-CN" altLang="en-US" dirty="0"/>
                  <a:t>通过移动机器人的传感器获取待处理数据</a:t>
                </a:r>
                <a14:m>
                  <m:oMath xmlns:m="http://schemas.openxmlformats.org/officeDocument/2006/math">
                    <m:r>
                      <a:rPr lang="en-US" altLang="zh-CN" b="1" i="1" smtClean="0">
                        <a:latin typeface="Cambria Math" panose="02040503050406030204" pitchFamily="18" charset="0"/>
                      </a:rPr>
                      <m:t>𝒙</m:t>
                    </m:r>
                  </m:oMath>
                </a14:m>
                <a:endParaRPr lang="zh-CN" altLang="en-US" b="1" dirty="0">
                  <a:solidFill>
                    <a:schemeClr val="tx1"/>
                  </a:solidFill>
                  <a:latin typeface="DejaVu Math TeX Gyre" panose="02000503000000000000" charset="0"/>
                  <a:cs typeface="DejaVu Math TeX Gyre" panose="02000503000000000000" charset="0"/>
                </a:endParaRPr>
              </a:p>
            </p:txBody>
          </p:sp>
        </mc:Choice>
        <mc:Fallback xmlns="">
          <p:sp>
            <p:nvSpPr>
              <p:cNvPr id="5" name="文本框 4">
                <a:extLst>
                  <a:ext uri="{FF2B5EF4-FFF2-40B4-BE49-F238E27FC236}">
                    <a16:creationId xmlns:a16="http://schemas.microsoft.com/office/drawing/2014/main" id="{79C153CC-C79F-6AF3-0A67-B9EFE57F2985}"/>
                  </a:ext>
                </a:extLst>
              </p:cNvPr>
              <p:cNvSpPr txBox="1">
                <a:spLocks noRot="1" noChangeAspect="1" noMove="1" noResize="1" noEditPoints="1" noAdjustHandles="1" noChangeArrowheads="1" noChangeShapeType="1" noTextEdit="1"/>
              </p:cNvSpPr>
              <p:nvPr/>
            </p:nvSpPr>
            <p:spPr>
              <a:xfrm>
                <a:off x="409712" y="3500749"/>
                <a:ext cx="5152316" cy="499454"/>
              </a:xfrm>
              <a:prstGeom prst="rect">
                <a:avLst/>
              </a:prstGeom>
              <a:blipFill>
                <a:blip r:embed="rId5"/>
                <a:stretch>
                  <a:fillRect l="-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A91A9C06-460B-077D-8FAA-978D088471AF}"/>
                  </a:ext>
                </a:extLst>
              </p:cNvPr>
              <p:cNvSpPr txBox="1"/>
              <p:nvPr/>
            </p:nvSpPr>
            <p:spPr>
              <a:xfrm>
                <a:off x="409712" y="3978420"/>
                <a:ext cx="5227942" cy="827335"/>
              </a:xfrm>
              <a:prstGeom prst="rect">
                <a:avLst/>
              </a:prstGeom>
              <a:noFill/>
            </p:spPr>
            <p:txBody>
              <a:bodyPr wrap="square" rtlCol="0">
                <a:noAutofit/>
              </a:bodyPr>
              <a:lstStyle/>
              <a:p>
                <a:pPr>
                  <a:lnSpc>
                    <a:spcPct val="120000"/>
                  </a:lnSpc>
                </a:pPr>
                <a:r>
                  <a:rPr lang="en-US" altLang="zh-CN" dirty="0">
                    <a:latin typeface="DejaVu Math TeX Gyre" panose="02000503000000000000" charset="0"/>
                    <a:cs typeface="DejaVu Math TeX Gyre" panose="02000503000000000000" charset="0"/>
                  </a:rPr>
                  <a:t>3</a:t>
                </a:r>
                <a:r>
                  <a:rPr lang="zh-CN" altLang="en-US" dirty="0">
                    <a:latin typeface="DejaVu Math TeX Gyre" panose="02000503000000000000" charset="0"/>
                    <a:cs typeface="DejaVu Math TeX Gyre" panose="02000503000000000000" charset="0"/>
                  </a:rPr>
                  <a:t>）计算</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m:t>
                    </m:r>
                    <m:r>
                      <a:rPr lang="en-US" altLang="zh-CN" b="1" i="1" smtClean="0">
                        <a:latin typeface="Cambria Math" panose="02040503050406030204" pitchFamily="18" charset="0"/>
                      </a:rPr>
                      <m:t>𝒙</m:t>
                    </m:r>
                    <m:r>
                      <a:rPr lang="en-US" altLang="zh-CN" b="0" i="1" smtClean="0">
                        <a:latin typeface="Cambria Math" panose="02040503050406030204" pitchFamily="18" charset="0"/>
                      </a:rPr>
                      <m:t>)</m:t>
                    </m:r>
                  </m:oMath>
                </a14:m>
                <a:r>
                  <a:rPr lang="en-US" altLang="zh-CN" dirty="0">
                    <a:solidFill>
                      <a:schemeClr val="tx1"/>
                    </a:solidFill>
                    <a:latin typeface="DejaVu Math TeX Gyre" panose="02000503000000000000" charset="0"/>
                    <a:cs typeface="DejaVu Math TeX Gyre" panose="02000503000000000000" charset="0"/>
                  </a:rPr>
                  <a:t>,</a:t>
                </a:r>
                <a:r>
                  <a:rPr lang="zh-CN" altLang="en-US" dirty="0">
                    <a:solidFill>
                      <a:schemeClr val="tx1"/>
                    </a:solidFill>
                    <a:latin typeface="DejaVu Math TeX Gyre" panose="02000503000000000000" charset="0"/>
                    <a:cs typeface="DejaVu Math TeX Gyre" panose="02000503000000000000" charset="0"/>
                  </a:rPr>
                  <a:t>当</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𝑖𝑗</m:t>
                        </m:r>
                      </m:sub>
                    </m:sSub>
                    <m:d>
                      <m:dPr>
                        <m:ctrlPr>
                          <a:rPr lang="en-US" altLang="zh-CN" b="1" i="1">
                            <a:latin typeface="Cambria Math" panose="02040503050406030204" pitchFamily="18" charset="0"/>
                          </a:rPr>
                        </m:ctrlPr>
                      </m:dPr>
                      <m:e>
                        <m:r>
                          <a:rPr lang="en-US" altLang="zh-CN" b="1" i="1">
                            <a:latin typeface="Cambria Math" panose="02040503050406030204" pitchFamily="18" charset="0"/>
                          </a:rPr>
                          <m:t>𝒙</m:t>
                        </m:r>
                      </m:e>
                    </m:d>
                    <m:r>
                      <a:rPr lang="en-US" altLang="zh-CN" b="0" i="0" smtClean="0">
                        <a:latin typeface="Cambria Math" panose="02040503050406030204" pitchFamily="18" charset="0"/>
                      </a:rPr>
                      <m:t>=+1</m:t>
                    </m:r>
                  </m:oMath>
                </a14:m>
                <a:r>
                  <a:rPr lang="zh-CN" altLang="en-US" dirty="0">
                    <a:solidFill>
                      <a:schemeClr val="tx1"/>
                    </a:solidFill>
                    <a:latin typeface="DejaVu Math TeX Gyre" panose="02000503000000000000" charset="0"/>
                    <a:cs typeface="DejaVu Math TeX Gyre" panose="02000503000000000000" charset="0"/>
                  </a:rPr>
                  <a:t>时表示</a:t>
                </a:r>
                <a14:m>
                  <m:oMath xmlns:m="http://schemas.openxmlformats.org/officeDocument/2006/math">
                    <m:r>
                      <a:rPr lang="en-US" altLang="zh-CN" b="0" i="1" smtClean="0">
                        <a:solidFill>
                          <a:schemeClr val="tx1"/>
                        </a:solidFill>
                        <a:latin typeface="Cambria Math" panose="02040503050406030204" pitchFamily="18" charset="0"/>
                        <a:cs typeface="DejaVu Math TeX Gyre" panose="02000503000000000000" charset="0"/>
                      </a:rPr>
                      <m:t>𝑥</m:t>
                    </m:r>
                  </m:oMath>
                </a14:m>
                <a:r>
                  <a:rPr lang="zh-CN" altLang="en-US" dirty="0">
                    <a:solidFill>
                      <a:schemeClr val="tx1"/>
                    </a:solidFill>
                    <a:latin typeface="DejaVu Math TeX Gyre" panose="02000503000000000000" charset="0"/>
                    <a:cs typeface="DejaVu Math TeX Gyre" panose="02000503000000000000" charset="0"/>
                  </a:rPr>
                  <a:t>属于</a:t>
                </a:r>
                <a14:m>
                  <m:oMath xmlns:m="http://schemas.openxmlformats.org/officeDocument/2006/math">
                    <m:r>
                      <a:rPr lang="en-US" altLang="zh-CN" b="0" i="1" dirty="0" smtClean="0">
                        <a:solidFill>
                          <a:schemeClr val="tx1"/>
                        </a:solidFill>
                        <a:latin typeface="Cambria Math" panose="02040503050406030204" pitchFamily="18" charset="0"/>
                        <a:cs typeface="DejaVu Math TeX Gyre" panose="02000503000000000000" charset="0"/>
                      </a:rPr>
                      <m:t>𝑖</m:t>
                    </m:r>
                  </m:oMath>
                </a14:m>
                <a:r>
                  <a:rPr lang="zh-CN" altLang="en-US" dirty="0">
                    <a:latin typeface="DejaVu Math TeX Gyre" panose="02000503000000000000" charset="0"/>
                    <a:cs typeface="DejaVu Math TeX Gyre" panose="02000503000000000000" charset="0"/>
                  </a:rPr>
                  <a:t>类，当</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𝑖𝑗</m:t>
                        </m:r>
                      </m:sub>
                    </m:sSub>
                    <m:d>
                      <m:dPr>
                        <m:ctrlPr>
                          <a:rPr lang="en-US" altLang="zh-CN" b="1" i="1">
                            <a:latin typeface="Cambria Math" panose="02040503050406030204" pitchFamily="18" charset="0"/>
                          </a:rPr>
                        </m:ctrlPr>
                      </m:dPr>
                      <m:e>
                        <m:r>
                          <a:rPr lang="en-US" altLang="zh-CN" b="1" i="1">
                            <a:latin typeface="Cambria Math" panose="02040503050406030204" pitchFamily="18" charset="0"/>
                          </a:rPr>
                          <m:t>𝒙</m:t>
                        </m:r>
                      </m:e>
                    </m:d>
                    <m:r>
                      <a:rPr lang="en-US" altLang="zh-CN">
                        <a:latin typeface="Cambria Math" panose="02040503050406030204" pitchFamily="18" charset="0"/>
                      </a:rPr>
                      <m:t>=</m:t>
                    </m:r>
                    <m:r>
                      <a:rPr lang="en-US" altLang="zh-CN" b="0" i="0" smtClean="0">
                        <a:latin typeface="Cambria Math" panose="02040503050406030204" pitchFamily="18" charset="0"/>
                      </a:rPr>
                      <m:t>−</m:t>
                    </m:r>
                    <m:r>
                      <a:rPr lang="en-US" altLang="zh-CN">
                        <a:latin typeface="Cambria Math" panose="02040503050406030204" pitchFamily="18" charset="0"/>
                      </a:rPr>
                      <m:t>1</m:t>
                    </m:r>
                  </m:oMath>
                </a14:m>
                <a:r>
                  <a:rPr lang="zh-CN" altLang="en-US" dirty="0">
                    <a:latin typeface="DejaVu Math TeX Gyre" panose="02000503000000000000" charset="0"/>
                    <a:cs typeface="DejaVu Math TeX Gyre" panose="02000503000000000000" charset="0"/>
                  </a:rPr>
                  <a:t>时表示</a:t>
                </a:r>
                <a14:m>
                  <m:oMath xmlns:m="http://schemas.openxmlformats.org/officeDocument/2006/math">
                    <m:r>
                      <a:rPr lang="en-US" altLang="zh-CN" i="1">
                        <a:latin typeface="Cambria Math" panose="02040503050406030204" pitchFamily="18" charset="0"/>
                        <a:cs typeface="DejaVu Math TeX Gyre" panose="02000503000000000000" charset="0"/>
                      </a:rPr>
                      <m:t>𝑥</m:t>
                    </m:r>
                  </m:oMath>
                </a14:m>
                <a:r>
                  <a:rPr lang="zh-CN" altLang="en-US" dirty="0">
                    <a:latin typeface="DejaVu Math TeX Gyre" panose="02000503000000000000" charset="0"/>
                    <a:cs typeface="DejaVu Math TeX Gyre" panose="02000503000000000000" charset="0"/>
                  </a:rPr>
                  <a:t>属于</a:t>
                </a:r>
                <a14:m>
                  <m:oMath xmlns:m="http://schemas.openxmlformats.org/officeDocument/2006/math">
                    <m:r>
                      <a:rPr lang="en-US" altLang="zh-CN" b="0" i="1" dirty="0" smtClean="0">
                        <a:latin typeface="Cambria Math" panose="02040503050406030204" pitchFamily="18" charset="0"/>
                        <a:cs typeface="DejaVu Math TeX Gyre" panose="02000503000000000000" charset="0"/>
                      </a:rPr>
                      <m:t>𝑗</m:t>
                    </m:r>
                  </m:oMath>
                </a14:m>
                <a:r>
                  <a:rPr lang="zh-CN" altLang="en-US" dirty="0">
                    <a:latin typeface="DejaVu Math TeX Gyre" panose="02000503000000000000" charset="0"/>
                    <a:cs typeface="DejaVu Math TeX Gyre" panose="02000503000000000000" charset="0"/>
                  </a:rPr>
                  <a:t>类</a:t>
                </a:r>
                <a:endParaRPr lang="zh-CN" altLang="en-US" dirty="0">
                  <a:solidFill>
                    <a:schemeClr val="tx1"/>
                  </a:solidFill>
                  <a:latin typeface="DejaVu Math TeX Gyre" panose="02000503000000000000" charset="0"/>
                  <a:cs typeface="DejaVu Math TeX Gyre" panose="02000503000000000000" charset="0"/>
                </a:endParaRPr>
              </a:p>
            </p:txBody>
          </p:sp>
        </mc:Choice>
        <mc:Fallback xmlns="">
          <p:sp>
            <p:nvSpPr>
              <p:cNvPr id="7" name="文本框 6">
                <a:extLst>
                  <a:ext uri="{FF2B5EF4-FFF2-40B4-BE49-F238E27FC236}">
                    <a16:creationId xmlns:a16="http://schemas.microsoft.com/office/drawing/2014/main" id="{A91A9C06-460B-077D-8FAA-978D088471AF}"/>
                  </a:ext>
                </a:extLst>
              </p:cNvPr>
              <p:cNvSpPr txBox="1">
                <a:spLocks noRot="1" noChangeAspect="1" noMove="1" noResize="1" noEditPoints="1" noAdjustHandles="1" noChangeArrowheads="1" noChangeShapeType="1" noTextEdit="1"/>
              </p:cNvSpPr>
              <p:nvPr/>
            </p:nvSpPr>
            <p:spPr>
              <a:xfrm>
                <a:off x="409712" y="3978420"/>
                <a:ext cx="5227942" cy="827335"/>
              </a:xfrm>
              <a:prstGeom prst="rect">
                <a:avLst/>
              </a:prstGeom>
              <a:blipFill>
                <a:blip r:embed="rId6"/>
                <a:stretch>
                  <a:fillRect l="-932" b="-44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8384B8F-FC68-E945-AB73-DFD053A3A786}"/>
                  </a:ext>
                </a:extLst>
              </p:cNvPr>
              <p:cNvSpPr txBox="1"/>
              <p:nvPr/>
            </p:nvSpPr>
            <p:spPr>
              <a:xfrm>
                <a:off x="409712" y="4786142"/>
                <a:ext cx="5686288" cy="1883952"/>
              </a:xfrm>
              <a:prstGeom prst="rect">
                <a:avLst/>
              </a:prstGeom>
              <a:noFill/>
            </p:spPr>
            <p:txBody>
              <a:bodyPr wrap="square" rtlCol="0">
                <a:noAutofit/>
              </a:bodyPr>
              <a:lstStyle/>
              <a:p>
                <a:pPr>
                  <a:lnSpc>
                    <a:spcPct val="120000"/>
                  </a:lnSpc>
                </a:pPr>
                <a:r>
                  <a:rPr lang="en-US" altLang="zh-CN" dirty="0">
                    <a:latin typeface="DejaVu Math TeX Gyre" panose="02000503000000000000" charset="0"/>
                    <a:cs typeface="DejaVu Math TeX Gyre" panose="02000503000000000000" charset="0"/>
                  </a:rPr>
                  <a:t>4</a:t>
                </a:r>
                <a:r>
                  <a:rPr lang="zh-CN" altLang="en-US" dirty="0">
                    <a:latin typeface="DejaVu Math TeX Gyre" panose="02000503000000000000" charset="0"/>
                    <a:cs typeface="DejaVu Math TeX Gyre" panose="02000503000000000000" charset="0"/>
                  </a:rPr>
                  <a:t>）针对</a:t>
                </a:r>
                <a:r>
                  <a:rPr lang="en-US" altLang="zh-CN" dirty="0">
                    <a:latin typeface="DejaVu Math TeX Gyre" panose="02000503000000000000" charset="0"/>
                    <a:cs typeface="DejaVu Math TeX Gyre" panose="02000503000000000000" charset="0"/>
                  </a:rPr>
                  <a:t>15 </a:t>
                </a:r>
                <a:r>
                  <a:rPr lang="zh-CN" altLang="en-US" dirty="0">
                    <a:latin typeface="DejaVu Math TeX Gyre" panose="02000503000000000000" charset="0"/>
                    <a:cs typeface="DejaVu Math TeX Gyre" panose="02000503000000000000" charset="0"/>
                  </a:rPr>
                  <a:t>个最优分类函数的计算结果进行“ 投票”统计， 设</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=1,2,…,6)</m:t>
                    </m:r>
                  </m:oMath>
                </a14:m>
                <a:r>
                  <a:rPr lang="zh-CN" altLang="en-US" dirty="0">
                    <a:latin typeface="DejaVu Math TeX Gyre" panose="02000503000000000000" charset="0"/>
                    <a:cs typeface="DejaVu Math TeX Gyre" panose="02000503000000000000" charset="0"/>
                  </a:rPr>
                  <a:t>为记录第</a:t>
                </a:r>
                <a14:m>
                  <m:oMath xmlns:m="http://schemas.openxmlformats.org/officeDocument/2006/math">
                    <m:r>
                      <a:rPr lang="en-US" altLang="zh-CN" b="0" i="1" smtClean="0">
                        <a:latin typeface="Cambria Math" panose="02040503050406030204" pitchFamily="18" charset="0"/>
                        <a:cs typeface="DejaVu Math TeX Gyre" panose="02000503000000000000" charset="0"/>
                      </a:rPr>
                      <m:t>𝑖</m:t>
                    </m:r>
                  </m:oMath>
                </a14:m>
                <a:r>
                  <a:rPr lang="zh-CN" altLang="en-US" dirty="0">
                    <a:latin typeface="DejaVu Math TeX Gyre" panose="02000503000000000000" charset="0"/>
                    <a:cs typeface="DejaVu Math TeX Gyre" panose="02000503000000000000" charset="0"/>
                  </a:rPr>
                  <a:t>个类别的票数，当</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𝑖𝑗</m:t>
                        </m:r>
                      </m:sub>
                    </m:sSub>
                    <m:d>
                      <m:dPr>
                        <m:ctrlPr>
                          <a:rPr lang="en-US" altLang="zh-CN" b="1" i="1">
                            <a:latin typeface="Cambria Math" panose="02040503050406030204" pitchFamily="18" charset="0"/>
                          </a:rPr>
                        </m:ctrlPr>
                      </m:dPr>
                      <m:e>
                        <m:r>
                          <a:rPr lang="en-US" altLang="zh-CN" b="1" i="1">
                            <a:latin typeface="Cambria Math" panose="02040503050406030204" pitchFamily="18" charset="0"/>
                          </a:rPr>
                          <m:t>𝒙</m:t>
                        </m:r>
                      </m:e>
                    </m:d>
                    <m:r>
                      <a:rPr lang="en-US" altLang="zh-CN" b="0" i="0" smtClean="0">
                        <a:latin typeface="Cambria Math" panose="02040503050406030204" pitchFamily="18" charset="0"/>
                      </a:rPr>
                      <m:t>=1</m:t>
                    </m:r>
                  </m:oMath>
                </a14:m>
                <a:r>
                  <a:rPr lang="zh-CN" altLang="en-US" dirty="0">
                    <a:solidFill>
                      <a:schemeClr val="tx1"/>
                    </a:solidFill>
                    <a:latin typeface="DejaVu Math TeX Gyre" panose="02000503000000000000" charset="0"/>
                    <a:cs typeface="DejaVu Math TeX Gyre" panose="02000503000000000000" charset="0"/>
                  </a:rPr>
                  <a:t>时</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𝑖</m:t>
                        </m:r>
                      </m:sub>
                    </m:sSub>
                  </m:oMath>
                </a14:m>
                <a:r>
                  <a:rPr lang="zh-CN" altLang="en-US" dirty="0">
                    <a:solidFill>
                      <a:schemeClr val="tx1"/>
                    </a:solidFill>
                    <a:latin typeface="DejaVu Math TeX Gyre" panose="02000503000000000000" charset="0"/>
                    <a:cs typeface="DejaVu Math TeX Gyre" panose="02000503000000000000" charset="0"/>
                  </a:rPr>
                  <a:t>加</a:t>
                </a:r>
                <a:r>
                  <a:rPr lang="en-US" altLang="zh-CN" dirty="0">
                    <a:solidFill>
                      <a:schemeClr val="tx1"/>
                    </a:solidFill>
                    <a:latin typeface="DejaVu Math TeX Gyre" panose="02000503000000000000" charset="0"/>
                    <a:cs typeface="DejaVu Math TeX Gyre" panose="02000503000000000000" charset="0"/>
                  </a:rPr>
                  <a:t>1</a:t>
                </a:r>
                <a:r>
                  <a:rPr lang="zh-CN" altLang="en-US" dirty="0">
                    <a:solidFill>
                      <a:schemeClr val="tx1"/>
                    </a:solidFill>
                    <a:latin typeface="DejaVu Math TeX Gyre" panose="02000503000000000000" charset="0"/>
                    <a:cs typeface="DejaVu Math TeX Gyre" panose="02000503000000000000" charset="0"/>
                  </a:rPr>
                  <a:t>，当</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𝑖𝑗</m:t>
                        </m:r>
                      </m:sub>
                    </m:sSub>
                    <m:d>
                      <m:dPr>
                        <m:ctrlPr>
                          <a:rPr lang="en-US" altLang="zh-CN" b="1" i="1">
                            <a:latin typeface="Cambria Math" panose="02040503050406030204" pitchFamily="18" charset="0"/>
                          </a:rPr>
                        </m:ctrlPr>
                      </m:dPr>
                      <m:e>
                        <m:r>
                          <a:rPr lang="en-US" altLang="zh-CN" b="1" i="1">
                            <a:latin typeface="Cambria Math" panose="02040503050406030204" pitchFamily="18" charset="0"/>
                          </a:rPr>
                          <m:t>𝒙</m:t>
                        </m:r>
                      </m:e>
                    </m:d>
                    <m:r>
                      <a:rPr lang="en-US" altLang="zh-CN">
                        <a:latin typeface="Cambria Math" panose="02040503050406030204" pitchFamily="18" charset="0"/>
                      </a:rPr>
                      <m:t>=</m:t>
                    </m:r>
                    <m:r>
                      <a:rPr lang="en-US" altLang="zh-CN" b="0" i="0" smtClean="0">
                        <a:latin typeface="Cambria Math" panose="02040503050406030204" pitchFamily="18" charset="0"/>
                      </a:rPr>
                      <m:t>−</m:t>
                    </m:r>
                    <m:r>
                      <a:rPr lang="en-US" altLang="zh-CN">
                        <a:latin typeface="Cambria Math" panose="02040503050406030204" pitchFamily="18" charset="0"/>
                      </a:rPr>
                      <m:t>1</m:t>
                    </m:r>
                  </m:oMath>
                </a14:m>
                <a:r>
                  <a:rPr lang="zh-CN" altLang="en-US" dirty="0">
                    <a:solidFill>
                      <a:schemeClr val="tx1"/>
                    </a:solidFill>
                    <a:latin typeface="DejaVu Math TeX Gyre" panose="02000503000000000000" charset="0"/>
                    <a:cs typeface="DejaVu Math TeX Gyre" panose="02000503000000000000" charset="0"/>
                  </a:rPr>
                  <a:t>时</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m:rPr>
                            <m:sty m:val="p"/>
                          </m:rPr>
                          <a:rPr lang="en-US" altLang="zh-CN" i="1">
                            <a:latin typeface="Cambria Math" panose="02040503050406030204" pitchFamily="18" charset="0"/>
                          </a:rPr>
                          <m:t>j</m:t>
                        </m:r>
                      </m:sub>
                    </m:sSub>
                    <m:r>
                      <a:rPr lang="zh-CN" altLang="en-US" i="1">
                        <a:latin typeface="Cambria Math" panose="02040503050406030204" pitchFamily="18" charset="0"/>
                      </a:rPr>
                      <m:t>加</m:t>
                    </m:r>
                  </m:oMath>
                </a14:m>
                <a:r>
                  <a:rPr lang="en-US" altLang="zh-CN" dirty="0">
                    <a:solidFill>
                      <a:schemeClr val="tx1"/>
                    </a:solidFill>
                    <a:latin typeface="DejaVu Math TeX Gyre" panose="02000503000000000000" charset="0"/>
                    <a:cs typeface="DejaVu Math TeX Gyre" panose="02000503000000000000" charset="0"/>
                  </a:rPr>
                  <a:t>1</a:t>
                </a:r>
                <a:endParaRPr lang="zh-CN" altLang="en-US" dirty="0">
                  <a:solidFill>
                    <a:schemeClr val="tx1"/>
                  </a:solidFill>
                  <a:latin typeface="DejaVu Math TeX Gyre" panose="02000503000000000000" charset="0"/>
                  <a:cs typeface="DejaVu Math TeX Gyre" panose="02000503000000000000" charset="0"/>
                </a:endParaRPr>
              </a:p>
            </p:txBody>
          </p:sp>
        </mc:Choice>
        <mc:Fallback xmlns="">
          <p:sp>
            <p:nvSpPr>
              <p:cNvPr id="10" name="文本框 9">
                <a:extLst>
                  <a:ext uri="{FF2B5EF4-FFF2-40B4-BE49-F238E27FC236}">
                    <a16:creationId xmlns:a16="http://schemas.microsoft.com/office/drawing/2014/main" id="{D8384B8F-FC68-E945-AB73-DFD053A3A786}"/>
                  </a:ext>
                </a:extLst>
              </p:cNvPr>
              <p:cNvSpPr txBox="1">
                <a:spLocks noRot="1" noChangeAspect="1" noMove="1" noResize="1" noEditPoints="1" noAdjustHandles="1" noChangeArrowheads="1" noChangeShapeType="1" noTextEdit="1"/>
              </p:cNvSpPr>
              <p:nvPr/>
            </p:nvSpPr>
            <p:spPr>
              <a:xfrm>
                <a:off x="409712" y="4786142"/>
                <a:ext cx="5686288" cy="1883952"/>
              </a:xfrm>
              <a:prstGeom prst="rect">
                <a:avLst/>
              </a:prstGeom>
              <a:blipFill>
                <a:blip r:embed="rId7"/>
                <a:stretch>
                  <a:fillRect l="-857" r="-7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8B1967F-691C-0AF8-BB8A-C8927E80827E}"/>
                  </a:ext>
                </a:extLst>
              </p:cNvPr>
              <p:cNvSpPr txBox="1"/>
              <p:nvPr/>
            </p:nvSpPr>
            <p:spPr>
              <a:xfrm>
                <a:off x="6172265" y="4805755"/>
                <a:ext cx="5686288" cy="1883952"/>
              </a:xfrm>
              <a:prstGeom prst="rect">
                <a:avLst/>
              </a:prstGeom>
              <a:noFill/>
            </p:spPr>
            <p:txBody>
              <a:bodyPr wrap="square" rtlCol="0">
                <a:noAutofit/>
              </a:bodyPr>
              <a:lstStyle/>
              <a:p>
                <a:r>
                  <a:rPr lang="en-US" altLang="zh-CN" dirty="0">
                    <a:latin typeface="DejaVu Math TeX Gyre" panose="02000503000000000000" charset="0"/>
                    <a:cs typeface="DejaVu Math TeX Gyre" panose="02000503000000000000" charset="0"/>
                  </a:rPr>
                  <a:t>5</a:t>
                </a:r>
                <a:r>
                  <a:rPr lang="zh-CN" altLang="en-US" dirty="0">
                    <a:latin typeface="DejaVu Math TeX Gyre" panose="02000503000000000000" charset="0"/>
                    <a:cs typeface="DejaVu Math TeX Gyre" panose="02000503000000000000" charset="0"/>
                  </a:rPr>
                  <a:t>）</a:t>
                </a:r>
                <a:r>
                  <a:rPr lang="zh-CN" altLang="en-US" dirty="0"/>
                  <a:t>根据最终“得票”的统计，则</a:t>
                </a:r>
                <a14:m>
                  <m:oMath xmlns:m="http://schemas.openxmlformats.org/officeDocument/2006/math">
                    <m:r>
                      <a:rPr lang="en-US" altLang="zh-CN" b="0" i="1" smtClean="0">
                        <a:latin typeface="Cambria Math" panose="02040503050406030204" pitchFamily="18" charset="0"/>
                      </a:rPr>
                      <m:t>𝑥</m:t>
                    </m:r>
                  </m:oMath>
                </a14:m>
                <a:r>
                  <a:rPr lang="zh-CN" altLang="en-US" dirty="0"/>
                  <a:t>属于“得票”数最多的那一类，移动机器人根据这一结果选择下一步的动作</a:t>
                </a:r>
                <a:endParaRPr lang="zh-CN" altLang="en-US" dirty="0">
                  <a:solidFill>
                    <a:schemeClr val="tx1"/>
                  </a:solidFill>
                  <a:latin typeface="DejaVu Math TeX Gyre" panose="02000503000000000000" charset="0"/>
                  <a:cs typeface="DejaVu Math TeX Gyre" panose="02000503000000000000" charset="0"/>
                </a:endParaRPr>
              </a:p>
            </p:txBody>
          </p:sp>
        </mc:Choice>
        <mc:Fallback xmlns="">
          <p:sp>
            <p:nvSpPr>
              <p:cNvPr id="12" name="文本框 11">
                <a:extLst>
                  <a:ext uri="{FF2B5EF4-FFF2-40B4-BE49-F238E27FC236}">
                    <a16:creationId xmlns:a16="http://schemas.microsoft.com/office/drawing/2014/main" id="{48B1967F-691C-0AF8-BB8A-C8927E80827E}"/>
                  </a:ext>
                </a:extLst>
              </p:cNvPr>
              <p:cNvSpPr txBox="1">
                <a:spLocks noRot="1" noChangeAspect="1" noMove="1" noResize="1" noEditPoints="1" noAdjustHandles="1" noChangeArrowheads="1" noChangeShapeType="1" noTextEdit="1"/>
              </p:cNvSpPr>
              <p:nvPr/>
            </p:nvSpPr>
            <p:spPr>
              <a:xfrm>
                <a:off x="6172265" y="4805755"/>
                <a:ext cx="5686288" cy="1883952"/>
              </a:xfrm>
              <a:prstGeom prst="rect">
                <a:avLst/>
              </a:prstGeom>
              <a:blipFill>
                <a:blip r:embed="rId8"/>
                <a:stretch>
                  <a:fillRect l="-966" t="-1942" r="-966"/>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631278" y="825079"/>
            <a:ext cx="10929446" cy="1065947"/>
            <a:chOff x="631278" y="832487"/>
            <a:chExt cx="10929446" cy="1065947"/>
          </a:xfrm>
        </p:grpSpPr>
        <p:sp>
          <p:nvSpPr>
            <p:cNvPr id="17" name="梯形 16"/>
            <p:cNvSpPr/>
            <p:nvPr/>
          </p:nvSpPr>
          <p:spPr>
            <a:xfrm flipV="1">
              <a:off x="631278" y="922866"/>
              <a:ext cx="10929446" cy="975568"/>
            </a:xfrm>
            <a:prstGeom prst="trapezoid">
              <a:avLst>
                <a:gd name="adj" fmla="val 54064"/>
              </a:avLst>
            </a:prstGeom>
            <a:gradFill>
              <a:gsLst>
                <a:gs pos="0">
                  <a:schemeClr val="accent3">
                    <a:lumMod val="20000"/>
                    <a:lumOff val="80000"/>
                  </a:schemeClr>
                </a:gs>
                <a:gs pos="100000">
                  <a:schemeClr val="accent3">
                    <a:lumMod val="20000"/>
                    <a:lumOff val="80000"/>
                    <a:alpha val="0"/>
                  </a:schemeClr>
                </a:gs>
              </a:gsLst>
              <a:lin ang="5400000" scaled="0"/>
            </a:gra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1250214" y="832487"/>
              <a:ext cx="9838330" cy="1057459"/>
              <a:chOff x="1428368" y="214420"/>
              <a:chExt cx="9838330" cy="1057459"/>
            </a:xfrm>
          </p:grpSpPr>
          <p:sp>
            <p:nvSpPr>
              <p:cNvPr id="15" name="文本框 14"/>
              <p:cNvSpPr txBox="1"/>
              <p:nvPr/>
            </p:nvSpPr>
            <p:spPr>
              <a:xfrm>
                <a:off x="2764049" y="481540"/>
                <a:ext cx="8502649" cy="523220"/>
              </a:xfrm>
              <a:prstGeom prst="rect">
                <a:avLst/>
              </a:prstGeom>
              <a:noFill/>
            </p:spPr>
            <p:txBody>
              <a:bodyPr wrap="none" rtlCol="0">
                <a:spAutoFit/>
              </a:bodyPr>
              <a:lstStyle/>
              <a:p>
                <a:r>
                  <a:rPr lang="en-US" altLang="zh-CN" sz="2800" b="1" dirty="0"/>
                  <a:t>SVM</a:t>
                </a:r>
                <a:r>
                  <a:rPr lang="zh-CN" altLang="en-US" sz="2800" b="1" dirty="0"/>
                  <a:t>算法处理导航中避障策略的详细流程及示例代码</a:t>
                </a:r>
              </a:p>
            </p:txBody>
          </p:sp>
          <p:pic>
            <p:nvPicPr>
              <p:cNvPr id="15364" name="Picture 4" descr="查看图片"/>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28368" y="214420"/>
                <a:ext cx="1057459" cy="1057459"/>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0" name="组合 29"/>
          <p:cNvGrpSpPr/>
          <p:nvPr/>
        </p:nvGrpSpPr>
        <p:grpSpPr>
          <a:xfrm>
            <a:off x="631277" y="2157911"/>
            <a:ext cx="10929448" cy="3955023"/>
            <a:chOff x="631277" y="2157911"/>
            <a:chExt cx="10929448" cy="3955023"/>
          </a:xfrm>
        </p:grpSpPr>
        <p:sp>
          <p:nvSpPr>
            <p:cNvPr id="12" name="矩形 11"/>
            <p:cNvSpPr/>
            <p:nvPr/>
          </p:nvSpPr>
          <p:spPr>
            <a:xfrm>
              <a:off x="631277" y="2157911"/>
              <a:ext cx="10929448" cy="3955023"/>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p:nvCxnSpPr>
          <p:spPr>
            <a:xfrm>
              <a:off x="7561431" y="2783511"/>
              <a:ext cx="0" cy="3138395"/>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4191697" y="2783511"/>
              <a:ext cx="0" cy="3138395"/>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631276" y="1890790"/>
            <a:ext cx="10929449" cy="534670"/>
            <a:chOff x="892261" y="3321834"/>
            <a:chExt cx="5207163" cy="534670"/>
          </a:xfrm>
        </p:grpSpPr>
        <p:sp>
          <p:nvSpPr>
            <p:cNvPr id="2" name="object 41"/>
            <p:cNvSpPr/>
            <p:nvPr/>
          </p:nvSpPr>
          <p:spPr>
            <a:xfrm>
              <a:off x="3983935" y="3321834"/>
              <a:ext cx="2115489" cy="534670"/>
            </a:xfrm>
            <a:prstGeom prst="chevron">
              <a:avLst>
                <a:gd name="adj" fmla="val 38124"/>
              </a:avLst>
            </a:prstGeom>
            <a:gradFill flip="none" rotWithShape="1">
              <a:gsLst>
                <a:gs pos="0">
                  <a:schemeClr val="accent2"/>
                </a:gs>
                <a:gs pos="65000">
                  <a:schemeClr val="accent2"/>
                </a:gs>
                <a:gs pos="100000">
                  <a:schemeClr val="accent1"/>
                </a:gs>
              </a:gsLst>
              <a:lin ang="0" scaled="1"/>
              <a:tileRect/>
            </a:gradFill>
            <a:ln>
              <a:noFill/>
            </a:ln>
          </p:spPr>
          <p:txBody>
            <a:bodyPr wrap="square" lIns="0" tIns="0" rIns="0" bIns="0" rtlCol="0" anchor="ctr"/>
            <a:lstStyle/>
            <a:p>
              <a:pPr algn="ctr"/>
              <a:r>
                <a:rPr lang="zh-CN" altLang="en-US" sz="2000" b="1" dirty="0">
                  <a:solidFill>
                    <a:schemeClr val="bg1"/>
                  </a:solidFill>
                  <a:latin typeface="Arial" panose="02080604020202020204" pitchFamily="34" charset="0"/>
                </a:rPr>
                <a:t>三、决策与应用部署</a:t>
              </a:r>
            </a:p>
          </p:txBody>
        </p:sp>
        <p:sp>
          <p:nvSpPr>
            <p:cNvPr id="3" name="object 37"/>
            <p:cNvSpPr/>
            <p:nvPr/>
          </p:nvSpPr>
          <p:spPr>
            <a:xfrm>
              <a:off x="2354275" y="3321834"/>
              <a:ext cx="1769928" cy="534670"/>
            </a:xfrm>
            <a:prstGeom prst="chevron">
              <a:avLst>
                <a:gd name="adj" fmla="val 36540"/>
              </a:avLst>
            </a:prstGeom>
            <a:gradFill flip="none" rotWithShape="1">
              <a:gsLst>
                <a:gs pos="0">
                  <a:schemeClr val="accent2"/>
                </a:gs>
                <a:gs pos="65000">
                  <a:schemeClr val="accent2"/>
                </a:gs>
                <a:gs pos="100000">
                  <a:schemeClr val="accent1"/>
                </a:gs>
              </a:gsLst>
              <a:lin ang="0" scaled="1"/>
              <a:tileRect/>
            </a:gradFill>
            <a:ln>
              <a:noFill/>
            </a:ln>
          </p:spPr>
          <p:txBody>
            <a:bodyPr wrap="square" lIns="0" tIns="0" rIns="0" bIns="0" rtlCol="0" anchor="ctr"/>
            <a:lstStyle/>
            <a:p>
              <a:pPr algn="ctr"/>
              <a:r>
                <a:rPr lang="zh-CN" altLang="en-US" sz="2000" b="1" dirty="0">
                  <a:solidFill>
                    <a:schemeClr val="bg1"/>
                  </a:solidFill>
                  <a:latin typeface="Arial" panose="02080604020202020204" pitchFamily="34" charset="0"/>
                </a:rPr>
                <a:t>二、</a:t>
              </a:r>
              <a:r>
                <a:rPr lang="en-US" altLang="zh-CN" sz="2000" b="1" dirty="0">
                  <a:solidFill>
                    <a:schemeClr val="bg1"/>
                  </a:solidFill>
                  <a:latin typeface="Arial" panose="02080604020202020204" pitchFamily="34" charset="0"/>
                </a:rPr>
                <a:t>SVM</a:t>
              </a:r>
              <a:r>
                <a:rPr lang="zh-CN" altLang="en-US" sz="2000" b="1" dirty="0">
                  <a:solidFill>
                    <a:schemeClr val="bg1"/>
                  </a:solidFill>
                  <a:latin typeface="Arial" panose="02080604020202020204" pitchFamily="34" charset="0"/>
                </a:rPr>
                <a:t>问题求解</a:t>
              </a:r>
            </a:p>
          </p:txBody>
        </p:sp>
        <p:sp>
          <p:nvSpPr>
            <p:cNvPr id="4" name="object 40"/>
            <p:cNvSpPr/>
            <p:nvPr/>
          </p:nvSpPr>
          <p:spPr>
            <a:xfrm>
              <a:off x="892261" y="3321834"/>
              <a:ext cx="1597386" cy="534670"/>
            </a:xfrm>
            <a:prstGeom prst="homePlate">
              <a:avLst>
                <a:gd name="adj" fmla="val 36540"/>
              </a:avLst>
            </a:prstGeom>
            <a:gradFill flip="none" rotWithShape="1">
              <a:gsLst>
                <a:gs pos="0">
                  <a:schemeClr val="accent2"/>
                </a:gs>
                <a:gs pos="65000">
                  <a:schemeClr val="accent2"/>
                </a:gs>
                <a:gs pos="100000">
                  <a:schemeClr val="accent1"/>
                </a:gs>
              </a:gsLst>
              <a:lin ang="0" scaled="1"/>
              <a:tileRect/>
            </a:grad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Arial" panose="02080604020202020204" pitchFamily="34" charset="0"/>
                  <a:ea typeface="+mn-ea"/>
                  <a:cs typeface="+mn-cs"/>
                </a:rPr>
                <a:t>一、问题建模</a:t>
              </a:r>
            </a:p>
          </p:txBody>
        </p:sp>
      </p:grpSp>
      <p:grpSp>
        <p:nvGrpSpPr>
          <p:cNvPr id="13" name="组合 12">
            <a:extLst>
              <a:ext uri="{FF2B5EF4-FFF2-40B4-BE49-F238E27FC236}">
                <a16:creationId xmlns:a16="http://schemas.microsoft.com/office/drawing/2014/main" id="{A996BB81-73E8-7268-EBB6-B680AC9B14EE}"/>
              </a:ext>
            </a:extLst>
          </p:cNvPr>
          <p:cNvGrpSpPr/>
          <p:nvPr/>
        </p:nvGrpSpPr>
        <p:grpSpPr>
          <a:xfrm>
            <a:off x="725875" y="2590751"/>
            <a:ext cx="10731508" cy="3331155"/>
            <a:chOff x="725875" y="2590751"/>
            <a:chExt cx="10731508" cy="3331155"/>
          </a:xfrm>
        </p:grpSpPr>
        <p:pic>
          <p:nvPicPr>
            <p:cNvPr id="6" name="图片 5" descr="文本&#10;&#10;AI 生成的内容可能不正确。">
              <a:extLst>
                <a:ext uri="{FF2B5EF4-FFF2-40B4-BE49-F238E27FC236}">
                  <a16:creationId xmlns:a16="http://schemas.microsoft.com/office/drawing/2014/main" id="{22FBCF30-E92D-B8AC-E575-E93F53CC02D9}"/>
                </a:ext>
              </a:extLst>
            </p:cNvPr>
            <p:cNvPicPr>
              <a:picLocks noChangeAspect="1"/>
            </p:cNvPicPr>
            <p:nvPr/>
          </p:nvPicPr>
          <p:blipFill>
            <a:blip r:embed="rId4"/>
            <a:stretch>
              <a:fillRect/>
            </a:stretch>
          </p:blipFill>
          <p:spPr>
            <a:xfrm>
              <a:off x="725875" y="2590751"/>
              <a:ext cx="3371222" cy="3239408"/>
            </a:xfrm>
            <a:prstGeom prst="rect">
              <a:avLst/>
            </a:prstGeom>
          </p:spPr>
        </p:pic>
        <p:pic>
          <p:nvPicPr>
            <p:cNvPr id="8" name="图片 7" descr="文本&#10;&#10;AI 生成的内容可能不正确。">
              <a:extLst>
                <a:ext uri="{FF2B5EF4-FFF2-40B4-BE49-F238E27FC236}">
                  <a16:creationId xmlns:a16="http://schemas.microsoft.com/office/drawing/2014/main" id="{7A0ED42E-8921-1B1D-403A-AF22221659ED}"/>
                </a:ext>
              </a:extLst>
            </p:cNvPr>
            <p:cNvPicPr>
              <a:picLocks noChangeAspect="1"/>
            </p:cNvPicPr>
            <p:nvPr/>
          </p:nvPicPr>
          <p:blipFill>
            <a:blip r:embed="rId5"/>
            <a:stretch>
              <a:fillRect/>
            </a:stretch>
          </p:blipFill>
          <p:spPr>
            <a:xfrm>
              <a:off x="4281113" y="2642993"/>
              <a:ext cx="3184223" cy="3239408"/>
            </a:xfrm>
            <a:prstGeom prst="rect">
              <a:avLst/>
            </a:prstGeom>
          </p:spPr>
        </p:pic>
        <p:pic>
          <p:nvPicPr>
            <p:cNvPr id="10" name="图片 9" descr="文本&#10;&#10;AI 生成的内容可能不正确。">
              <a:extLst>
                <a:ext uri="{FF2B5EF4-FFF2-40B4-BE49-F238E27FC236}">
                  <a16:creationId xmlns:a16="http://schemas.microsoft.com/office/drawing/2014/main" id="{9A4F7EB7-4DF5-4C42-68CC-4236C40174A0}"/>
                </a:ext>
              </a:extLst>
            </p:cNvPr>
            <p:cNvPicPr>
              <a:picLocks noChangeAspect="1"/>
            </p:cNvPicPr>
            <p:nvPr/>
          </p:nvPicPr>
          <p:blipFill>
            <a:blip r:embed="rId6"/>
            <a:stretch>
              <a:fillRect/>
            </a:stretch>
          </p:blipFill>
          <p:spPr>
            <a:xfrm>
              <a:off x="7657517" y="2642993"/>
              <a:ext cx="3799866" cy="3278913"/>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25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childTnLst>
                          </p:cTn>
                        </p:par>
                        <p:par>
                          <p:cTn id="8" fill="hold">
                            <p:stCondLst>
                              <p:cond delay="750"/>
                            </p:stCondLst>
                            <p:childTnLst>
                              <p:par>
                                <p:cTn id="9" presetID="22" presetClass="entr" presetSubtype="8" fill="hold" nodeType="afterEffect">
                                  <p:stCondLst>
                                    <p:cond delay="25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750"/>
                                        <p:tgtEl>
                                          <p:spTgt spid="11"/>
                                        </p:tgtEl>
                                      </p:cBhvr>
                                    </p:animEffect>
                                  </p:childTnLst>
                                </p:cTn>
                              </p:par>
                            </p:childTnLst>
                          </p:cTn>
                        </p:par>
                        <p:par>
                          <p:cTn id="12" fill="hold">
                            <p:stCondLst>
                              <p:cond delay="2000"/>
                            </p:stCondLst>
                            <p:childTnLst>
                              <p:par>
                                <p:cTn id="13" presetID="10" presetClass="entr" presetSubtype="0" fill="hold" nodeType="afterEffect">
                                  <p:stCondLst>
                                    <p:cond delay="25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childTnLst>
                          </p:cTn>
                        </p:par>
                        <p:par>
                          <p:cTn id="16" fill="hold">
                            <p:stCondLst>
                              <p:cond delay="2750"/>
                            </p:stCondLst>
                            <p:childTnLst>
                              <p:par>
                                <p:cTn id="17" presetID="1"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939798"/>
            <a:ext cx="5743575" cy="625474"/>
            <a:chOff x="0" y="1075267"/>
            <a:chExt cx="5743575"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5472430" cy="460375"/>
            </a:xfrm>
            <a:prstGeom prst="rect">
              <a:avLst/>
            </a:prstGeom>
            <a:noFill/>
          </p:spPr>
          <p:txBody>
            <a:bodyPr wrap="square">
              <a:spAutoFit/>
            </a:bodyPr>
            <a:lstStyle/>
            <a:p>
              <a:r>
                <a:rPr lang="en-US" altLang="zh-CN" sz="2400" b="1" dirty="0">
                  <a:solidFill>
                    <a:schemeClr val="accent1"/>
                  </a:solidFill>
                  <a:latin typeface="+mj-lt"/>
                </a:rPr>
                <a:t>5.3.1 </a:t>
              </a:r>
              <a:r>
                <a:rPr lang="zh-CN" altLang="en-US" sz="2400" b="1" dirty="0">
                  <a:solidFill>
                    <a:schemeClr val="accent1"/>
                  </a:solidFill>
                  <a:latin typeface="+mj-lt"/>
                </a:rPr>
                <a:t>基于深度学习的环境语义感知</a:t>
              </a:r>
            </a:p>
          </p:txBody>
        </p:sp>
      </p:grpSp>
      <p:pic>
        <p:nvPicPr>
          <p:cNvPr id="18" name="Google Shape;85;p13" descr="image.png"/>
          <p:cNvPicPr preferRelativeResize="0"/>
          <p:nvPr/>
        </p:nvPicPr>
        <p:blipFill rotWithShape="1">
          <a:blip r:embed="rId3"/>
          <a:srcRect/>
          <a:stretch>
            <a:fillRect/>
          </a:stretch>
        </p:blipFill>
        <p:spPr>
          <a:xfrm>
            <a:off x="552450" y="1699260"/>
            <a:ext cx="5191125" cy="4871720"/>
          </a:xfrm>
          <a:prstGeom prst="rect">
            <a:avLst/>
          </a:prstGeom>
          <a:noFill/>
          <a:ln>
            <a:noFill/>
          </a:ln>
        </p:spPr>
      </p:pic>
      <p:pic>
        <p:nvPicPr>
          <p:cNvPr id="89" name="Google Shape;89;p13" descr="image.png"/>
          <p:cNvPicPr preferRelativeResize="0"/>
          <p:nvPr/>
        </p:nvPicPr>
        <p:blipFill rotWithShape="1">
          <a:blip r:embed="rId4"/>
          <a:srcRect/>
          <a:stretch>
            <a:fillRect/>
          </a:stretch>
        </p:blipFill>
        <p:spPr>
          <a:xfrm>
            <a:off x="771525" y="1808410"/>
            <a:ext cx="304800" cy="304800"/>
          </a:xfrm>
          <a:prstGeom prst="rect">
            <a:avLst/>
          </a:prstGeom>
          <a:noFill/>
          <a:ln>
            <a:noFill/>
          </a:ln>
        </p:spPr>
      </p:pic>
      <p:sp>
        <p:nvSpPr>
          <p:cNvPr id="90" name="Google Shape;90;p13"/>
          <p:cNvSpPr txBox="1"/>
          <p:nvPr/>
        </p:nvSpPr>
        <p:spPr>
          <a:xfrm>
            <a:off x="1219200" y="1779835"/>
            <a:ext cx="2116045"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3D 点云语义感知</a:t>
            </a:r>
          </a:p>
        </p:txBody>
      </p:sp>
      <p:sp>
        <p:nvSpPr>
          <p:cNvPr id="92" name="Google Shape;92;p13"/>
          <p:cNvSpPr txBox="1"/>
          <p:nvPr/>
        </p:nvSpPr>
        <p:spPr>
          <a:xfrm>
            <a:off x="1038225" y="4998015"/>
            <a:ext cx="4648200" cy="2714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25"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处理挑战：</a:t>
            </a:r>
            <a:r>
              <a:rPr lang="en-US" sz="1425" b="0" i="0" u="none" strike="noStrike" cap="non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应对数据非结构化、点云无序性。</a:t>
            </a:r>
          </a:p>
        </p:txBody>
      </p:sp>
      <p:sp>
        <p:nvSpPr>
          <p:cNvPr id="93" name="Google Shape;93;p13"/>
          <p:cNvSpPr txBox="1"/>
          <p:nvPr/>
        </p:nvSpPr>
        <p:spPr>
          <a:xfrm>
            <a:off x="1038225" y="5383778"/>
            <a:ext cx="4648200" cy="2714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25"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a:t>
            </a:r>
            <a:r>
              <a:rPr lang="en-US" sz="1425" b="0" i="0" u="none" strike="noStrike" cap="non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通过 </a:t>
            </a:r>
            <a:r>
              <a:rPr lang="en-US" sz="1425"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MLP与最大池化</a:t>
            </a:r>
            <a:r>
              <a:rPr lang="en-US" sz="1425" b="0" i="0" u="none" strike="noStrike" cap="non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提取全局特征。</a:t>
            </a:r>
          </a:p>
        </p:txBody>
      </p:sp>
      <p:sp>
        <p:nvSpPr>
          <p:cNvPr id="94" name="Google Shape;94;p13"/>
          <p:cNvSpPr txBox="1"/>
          <p:nvPr/>
        </p:nvSpPr>
        <p:spPr>
          <a:xfrm>
            <a:off x="1038225" y="5769540"/>
            <a:ext cx="4648200" cy="2714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25"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典型模型：</a:t>
            </a:r>
            <a:r>
              <a:rPr lang="en-US" sz="1425" b="0" i="0" u="none" strike="noStrike" cap="non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PointNet、PointNet++。</a:t>
            </a:r>
          </a:p>
        </p:txBody>
      </p:sp>
      <p:sp>
        <p:nvSpPr>
          <p:cNvPr id="95" name="Google Shape;95;p13"/>
          <p:cNvSpPr txBox="1"/>
          <p:nvPr/>
        </p:nvSpPr>
        <p:spPr>
          <a:xfrm>
            <a:off x="1038225" y="6155303"/>
            <a:ext cx="4648200" cy="2714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25"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应用价值：</a:t>
            </a:r>
            <a:r>
              <a:rPr lang="en-US" sz="1425" b="0" i="0" u="none" strike="noStrike" cap="non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3D目标检测、激光雷达高精定位。</a:t>
            </a:r>
          </a:p>
        </p:txBody>
      </p:sp>
      <p:pic>
        <p:nvPicPr>
          <p:cNvPr id="109" name="Google Shape;109;p13" descr="image.png"/>
          <p:cNvPicPr preferRelativeResize="0"/>
          <p:nvPr/>
        </p:nvPicPr>
        <p:blipFill rotWithShape="1">
          <a:blip r:embed="rId5"/>
          <a:srcRect/>
          <a:stretch>
            <a:fillRect/>
          </a:stretch>
        </p:blipFill>
        <p:spPr>
          <a:xfrm>
            <a:off x="771525" y="5080565"/>
            <a:ext cx="171450" cy="180975"/>
          </a:xfrm>
          <a:prstGeom prst="rect">
            <a:avLst/>
          </a:prstGeom>
          <a:noFill/>
          <a:ln>
            <a:noFill/>
          </a:ln>
        </p:spPr>
      </p:pic>
      <p:pic>
        <p:nvPicPr>
          <p:cNvPr id="110" name="Google Shape;110;p13" descr="image.png"/>
          <p:cNvPicPr preferRelativeResize="0"/>
          <p:nvPr/>
        </p:nvPicPr>
        <p:blipFill rotWithShape="1">
          <a:blip r:embed="rId5"/>
          <a:srcRect/>
          <a:stretch>
            <a:fillRect/>
          </a:stretch>
        </p:blipFill>
        <p:spPr>
          <a:xfrm>
            <a:off x="771525" y="5466328"/>
            <a:ext cx="171450" cy="180975"/>
          </a:xfrm>
          <a:prstGeom prst="rect">
            <a:avLst/>
          </a:prstGeom>
          <a:noFill/>
          <a:ln>
            <a:noFill/>
          </a:ln>
        </p:spPr>
      </p:pic>
      <p:pic>
        <p:nvPicPr>
          <p:cNvPr id="111" name="Google Shape;111;p13" descr="image.png"/>
          <p:cNvPicPr preferRelativeResize="0"/>
          <p:nvPr/>
        </p:nvPicPr>
        <p:blipFill rotWithShape="1">
          <a:blip r:embed="rId5"/>
          <a:srcRect/>
          <a:stretch>
            <a:fillRect/>
          </a:stretch>
        </p:blipFill>
        <p:spPr>
          <a:xfrm>
            <a:off x="771525" y="5852090"/>
            <a:ext cx="171450" cy="180975"/>
          </a:xfrm>
          <a:prstGeom prst="rect">
            <a:avLst/>
          </a:prstGeom>
          <a:noFill/>
          <a:ln>
            <a:noFill/>
          </a:ln>
        </p:spPr>
      </p:pic>
      <p:pic>
        <p:nvPicPr>
          <p:cNvPr id="112" name="Google Shape;112;p13" descr="image.png"/>
          <p:cNvPicPr preferRelativeResize="0"/>
          <p:nvPr/>
        </p:nvPicPr>
        <p:blipFill rotWithShape="1">
          <a:blip r:embed="rId5"/>
          <a:srcRect/>
          <a:stretch>
            <a:fillRect/>
          </a:stretch>
        </p:blipFill>
        <p:spPr>
          <a:xfrm>
            <a:off x="771525" y="6237853"/>
            <a:ext cx="171450" cy="180975"/>
          </a:xfrm>
          <a:prstGeom prst="rect">
            <a:avLst/>
          </a:prstGeom>
          <a:noFill/>
          <a:ln>
            <a:noFill/>
          </a:ln>
        </p:spPr>
      </p:pic>
      <p:pic>
        <p:nvPicPr>
          <p:cNvPr id="19" name="图片 18" descr="aff91a82294675f439cbe966b012a22a"/>
          <p:cNvPicPr>
            <a:picLocks noChangeAspect="1"/>
          </p:cNvPicPr>
          <p:nvPr/>
        </p:nvPicPr>
        <p:blipFill>
          <a:blip r:embed="rId6"/>
          <a:stretch>
            <a:fillRect/>
          </a:stretch>
        </p:blipFill>
        <p:spPr>
          <a:xfrm>
            <a:off x="838200" y="2308225"/>
            <a:ext cx="4485640" cy="2523490"/>
          </a:xfrm>
          <a:prstGeom prst="rect">
            <a:avLst/>
          </a:prstGeom>
        </p:spPr>
      </p:pic>
      <p:pic>
        <p:nvPicPr>
          <p:cNvPr id="56" name="Google Shape;86;p13" descr="image.png"/>
          <p:cNvPicPr preferRelativeResize="0"/>
          <p:nvPr/>
        </p:nvPicPr>
        <p:blipFill rotWithShape="1">
          <a:blip r:embed="rId3"/>
          <a:srcRect/>
          <a:stretch>
            <a:fillRect/>
          </a:stretch>
        </p:blipFill>
        <p:spPr>
          <a:xfrm>
            <a:off x="6204585" y="1699260"/>
            <a:ext cx="4970780" cy="4871720"/>
          </a:xfrm>
          <a:prstGeom prst="rect">
            <a:avLst/>
          </a:prstGeom>
          <a:noFill/>
          <a:ln>
            <a:noFill/>
          </a:ln>
        </p:spPr>
      </p:pic>
      <p:pic>
        <p:nvPicPr>
          <p:cNvPr id="57" name="Google Shape;98;p13" descr="image.png"/>
          <p:cNvPicPr preferRelativeResize="0"/>
          <p:nvPr/>
        </p:nvPicPr>
        <p:blipFill rotWithShape="1">
          <a:blip r:embed="rId7"/>
          <a:srcRect/>
          <a:stretch>
            <a:fillRect/>
          </a:stretch>
        </p:blipFill>
        <p:spPr>
          <a:xfrm>
            <a:off x="6343015" y="1796980"/>
            <a:ext cx="342900" cy="304800"/>
          </a:xfrm>
          <a:prstGeom prst="rect">
            <a:avLst/>
          </a:prstGeom>
          <a:noFill/>
          <a:ln>
            <a:noFill/>
          </a:ln>
        </p:spPr>
      </p:pic>
      <p:pic>
        <p:nvPicPr>
          <p:cNvPr id="58" name="Google Shape;100;p13" descr="image.png"/>
          <p:cNvPicPr preferRelativeResize="0"/>
          <p:nvPr/>
        </p:nvPicPr>
        <p:blipFill rotWithShape="1">
          <a:blip r:embed="rId8"/>
          <a:srcRect/>
          <a:stretch>
            <a:fillRect/>
          </a:stretch>
        </p:blipFill>
        <p:spPr>
          <a:xfrm>
            <a:off x="6260465" y="2222430"/>
            <a:ext cx="4914900" cy="2647950"/>
          </a:xfrm>
          <a:prstGeom prst="rect">
            <a:avLst/>
          </a:prstGeom>
          <a:noFill/>
          <a:ln>
            <a:noFill/>
          </a:ln>
        </p:spPr>
      </p:pic>
      <p:sp>
        <p:nvSpPr>
          <p:cNvPr id="59" name="Google Shape;101;p13"/>
          <p:cNvSpPr txBox="1"/>
          <p:nvPr/>
        </p:nvSpPr>
        <p:spPr>
          <a:xfrm>
            <a:off x="6690360" y="4990395"/>
            <a:ext cx="4648200" cy="2714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25"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处理挑战：</a:t>
            </a:r>
            <a:r>
              <a:rPr lang="en-US" sz="1425" b="0" i="0" u="none" strike="noStrike" cap="non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像素级密集预测与目标边界恢复。</a:t>
            </a:r>
          </a:p>
        </p:txBody>
      </p:sp>
      <p:sp>
        <p:nvSpPr>
          <p:cNvPr id="60" name="Google Shape;102;p13"/>
          <p:cNvSpPr txBox="1"/>
          <p:nvPr/>
        </p:nvSpPr>
        <p:spPr>
          <a:xfrm>
            <a:off x="6690360" y="5376158"/>
            <a:ext cx="4648200" cy="2714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25"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a:t>
            </a:r>
            <a:r>
              <a:rPr lang="en-US" sz="1425" b="0" i="0" u="none" strike="noStrike" cap="non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卷积神经网络 (CNN) 逐像素分类。</a:t>
            </a:r>
          </a:p>
        </p:txBody>
      </p:sp>
      <p:sp>
        <p:nvSpPr>
          <p:cNvPr id="61" name="Google Shape;103;p13"/>
          <p:cNvSpPr txBox="1"/>
          <p:nvPr/>
        </p:nvSpPr>
        <p:spPr>
          <a:xfrm>
            <a:off x="6690360" y="5761920"/>
            <a:ext cx="4648200" cy="2714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25"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典型模型：</a:t>
            </a:r>
            <a:r>
              <a:rPr lang="en-US" sz="1425" b="0" i="0" u="none" strike="noStrike" cap="non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FCN、SegNet (池化索引技术)。</a:t>
            </a:r>
          </a:p>
        </p:txBody>
      </p:sp>
      <p:sp>
        <p:nvSpPr>
          <p:cNvPr id="62" name="Google Shape;104;p13"/>
          <p:cNvSpPr txBox="1"/>
          <p:nvPr/>
        </p:nvSpPr>
        <p:spPr>
          <a:xfrm>
            <a:off x="6690360" y="6147683"/>
            <a:ext cx="4648200" cy="2714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25"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应用价值：</a:t>
            </a:r>
            <a:r>
              <a:rPr lang="en-US" sz="1425" b="0" i="0" u="none" strike="noStrike" cap="non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为导航提供丰富细节语义与局部特征。</a:t>
            </a:r>
          </a:p>
        </p:txBody>
      </p:sp>
      <p:pic>
        <p:nvPicPr>
          <p:cNvPr id="63" name="Google Shape;113;p13" descr="image.png"/>
          <p:cNvPicPr preferRelativeResize="0"/>
          <p:nvPr/>
        </p:nvPicPr>
        <p:blipFill rotWithShape="1">
          <a:blip r:embed="rId5"/>
          <a:srcRect/>
          <a:stretch>
            <a:fillRect/>
          </a:stretch>
        </p:blipFill>
        <p:spPr>
          <a:xfrm>
            <a:off x="6404610" y="5088820"/>
            <a:ext cx="171450" cy="180975"/>
          </a:xfrm>
          <a:prstGeom prst="rect">
            <a:avLst/>
          </a:prstGeom>
          <a:noFill/>
          <a:ln>
            <a:noFill/>
          </a:ln>
        </p:spPr>
      </p:pic>
      <p:pic>
        <p:nvPicPr>
          <p:cNvPr id="64" name="Google Shape;114;p13" descr="image.png"/>
          <p:cNvPicPr preferRelativeResize="0"/>
          <p:nvPr/>
        </p:nvPicPr>
        <p:blipFill rotWithShape="1">
          <a:blip r:embed="rId5"/>
          <a:srcRect/>
          <a:stretch>
            <a:fillRect/>
          </a:stretch>
        </p:blipFill>
        <p:spPr>
          <a:xfrm>
            <a:off x="6404610" y="5474583"/>
            <a:ext cx="171450" cy="180975"/>
          </a:xfrm>
          <a:prstGeom prst="rect">
            <a:avLst/>
          </a:prstGeom>
          <a:noFill/>
          <a:ln>
            <a:noFill/>
          </a:ln>
        </p:spPr>
      </p:pic>
      <p:pic>
        <p:nvPicPr>
          <p:cNvPr id="65" name="Google Shape;115;p13" descr="image.png"/>
          <p:cNvPicPr preferRelativeResize="0"/>
          <p:nvPr/>
        </p:nvPicPr>
        <p:blipFill rotWithShape="1">
          <a:blip r:embed="rId5"/>
          <a:srcRect/>
          <a:stretch>
            <a:fillRect/>
          </a:stretch>
        </p:blipFill>
        <p:spPr>
          <a:xfrm>
            <a:off x="6404610" y="5860345"/>
            <a:ext cx="171450" cy="180975"/>
          </a:xfrm>
          <a:prstGeom prst="rect">
            <a:avLst/>
          </a:prstGeom>
          <a:noFill/>
          <a:ln>
            <a:noFill/>
          </a:ln>
        </p:spPr>
      </p:pic>
      <p:pic>
        <p:nvPicPr>
          <p:cNvPr id="66" name="Google Shape;116;p13" descr="image.png"/>
          <p:cNvPicPr preferRelativeResize="0"/>
          <p:nvPr/>
        </p:nvPicPr>
        <p:blipFill rotWithShape="1">
          <a:blip r:embed="rId5"/>
          <a:srcRect/>
          <a:stretch>
            <a:fillRect/>
          </a:stretch>
        </p:blipFill>
        <p:spPr>
          <a:xfrm>
            <a:off x="6404610" y="6246108"/>
            <a:ext cx="171450" cy="180975"/>
          </a:xfrm>
          <a:prstGeom prst="rect">
            <a:avLst/>
          </a:prstGeom>
          <a:noFill/>
          <a:ln>
            <a:noFill/>
          </a:ln>
        </p:spPr>
      </p:pic>
      <p:sp>
        <p:nvSpPr>
          <p:cNvPr id="67" name="Google Shape;99;p13"/>
          <p:cNvSpPr txBox="1"/>
          <p:nvPr/>
        </p:nvSpPr>
        <p:spPr>
          <a:xfrm>
            <a:off x="6828790" y="1768405"/>
            <a:ext cx="1680210"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视觉语义感知</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120775" y="5025390"/>
            <a:ext cx="9414510" cy="94678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0" y="939798"/>
            <a:ext cx="6096000" cy="625474"/>
            <a:chOff x="0" y="1075267"/>
            <a:chExt cx="6096000"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5824855" cy="460375"/>
            </a:xfrm>
            <a:prstGeom prst="rect">
              <a:avLst/>
            </a:prstGeom>
            <a:noFill/>
          </p:spPr>
          <p:txBody>
            <a:bodyPr wrap="square">
              <a:spAutoFit/>
            </a:bodyPr>
            <a:lstStyle/>
            <a:p>
              <a:r>
                <a:rPr lang="en-US" altLang="zh-CN" sz="2400" b="1" dirty="0">
                  <a:solidFill>
                    <a:schemeClr val="accent1"/>
                  </a:solidFill>
                  <a:latin typeface="+mj-lt"/>
                </a:rPr>
                <a:t>5.3.1 </a:t>
              </a:r>
              <a:r>
                <a:rPr lang="zh-CN" altLang="en-US" sz="2400" b="1" dirty="0">
                  <a:solidFill>
                    <a:schemeClr val="accent1"/>
                  </a:solidFill>
                  <a:latin typeface="+mj-lt"/>
                </a:rPr>
                <a:t>基于深度学习的</a:t>
              </a:r>
              <a:r>
                <a:rPr lang="en-US" altLang="zh-CN" sz="2400" b="1" dirty="0">
                  <a:solidFill>
                    <a:schemeClr val="accent1"/>
                  </a:solidFill>
                  <a:latin typeface="+mj-lt"/>
                </a:rPr>
                <a:t>3D</a:t>
              </a:r>
              <a:r>
                <a:rPr lang="zh-CN" altLang="en-US" sz="2400" b="1" dirty="0">
                  <a:solidFill>
                    <a:schemeClr val="accent1"/>
                  </a:solidFill>
                  <a:latin typeface="+mj-lt"/>
                </a:rPr>
                <a:t>点云语义感知</a:t>
              </a:r>
            </a:p>
          </p:txBody>
        </p:sp>
      </p:grpSp>
      <p:pic>
        <p:nvPicPr>
          <p:cNvPr id="7" name="图片 6"/>
          <p:cNvPicPr>
            <a:picLocks noChangeAspect="1"/>
          </p:cNvPicPr>
          <p:nvPr/>
        </p:nvPicPr>
        <p:blipFill>
          <a:blip r:embed="rId3"/>
          <a:stretch>
            <a:fillRect/>
          </a:stretch>
        </p:blipFill>
        <p:spPr>
          <a:xfrm>
            <a:off x="710565" y="1668145"/>
            <a:ext cx="10195560" cy="3048000"/>
          </a:xfrm>
          <a:prstGeom prst="rect">
            <a:avLst/>
          </a:prstGeom>
        </p:spPr>
      </p:pic>
      <p:sp>
        <p:nvSpPr>
          <p:cNvPr id="9" name="文本框 8"/>
          <p:cNvSpPr txBox="1"/>
          <p:nvPr/>
        </p:nvSpPr>
        <p:spPr>
          <a:xfrm>
            <a:off x="1235075" y="5234305"/>
            <a:ext cx="9217660" cy="583565"/>
          </a:xfrm>
          <a:prstGeom prst="rect">
            <a:avLst/>
          </a:prstGeom>
          <a:noFill/>
        </p:spPr>
        <p:txBody>
          <a:bodyPr wrap="square" rtlCol="0">
            <a:spAutoFit/>
          </a:bodyPr>
          <a:lstStyle/>
          <a:p>
            <a:pPr algn="l">
              <a:buClrTx/>
              <a:buSzTx/>
              <a:buNone/>
            </a:pPr>
            <a:r>
              <a:rPr lang="en-US" altLang="zh-CN" sz="1600" b="1">
                <a:solidFill>
                  <a:schemeClr val="accent1"/>
                </a:solidFill>
              </a:rPr>
              <a:t>随着 3D 技术与传感器（如激光雷达、RGB-D 相机）的发展，已经得到了广泛的应用，如激光三维重建、计算机视觉与自动驾驶等。3D 点云的表达形式主要有四种，即点云、网格、体素和 RGB 深度图</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939798"/>
            <a:ext cx="6061710" cy="625474"/>
            <a:chOff x="0" y="1075267"/>
            <a:chExt cx="6061710"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5790565" cy="460375"/>
            </a:xfrm>
            <a:prstGeom prst="rect">
              <a:avLst/>
            </a:prstGeom>
            <a:noFill/>
          </p:spPr>
          <p:txBody>
            <a:bodyPr wrap="square">
              <a:spAutoFit/>
            </a:bodyPr>
            <a:lstStyle/>
            <a:p>
              <a:r>
                <a:rPr lang="en-US" altLang="zh-CN" sz="2400" b="1" dirty="0">
                  <a:solidFill>
                    <a:schemeClr val="accent1"/>
                  </a:solidFill>
                  <a:latin typeface="+mj-lt"/>
                  <a:sym typeface="+mn-ea"/>
                </a:rPr>
                <a:t>5.3.1 </a:t>
              </a:r>
              <a:r>
                <a:rPr lang="zh-CN" altLang="en-US" sz="2400" b="1" dirty="0">
                  <a:solidFill>
                    <a:schemeClr val="accent1"/>
                  </a:solidFill>
                  <a:latin typeface="+mj-lt"/>
                  <a:sym typeface="+mn-ea"/>
                </a:rPr>
                <a:t>基于深度学习的</a:t>
              </a:r>
              <a:r>
                <a:rPr lang="en-US" altLang="zh-CN" sz="2400" b="1" dirty="0">
                  <a:solidFill>
                    <a:schemeClr val="accent1"/>
                  </a:solidFill>
                  <a:latin typeface="+mj-lt"/>
                  <a:sym typeface="+mn-ea"/>
                </a:rPr>
                <a:t>3D</a:t>
              </a:r>
              <a:r>
                <a:rPr lang="zh-CN" altLang="en-US" sz="2400" b="1" dirty="0">
                  <a:solidFill>
                    <a:schemeClr val="accent1"/>
                  </a:solidFill>
                  <a:latin typeface="+mj-lt"/>
                  <a:sym typeface="+mn-ea"/>
                </a:rPr>
                <a:t>点云语义感知</a:t>
              </a:r>
              <a:endParaRPr lang="zh-CN" altLang="en-US" sz="2400" b="1" dirty="0">
                <a:solidFill>
                  <a:schemeClr val="accent1"/>
                </a:solidFill>
                <a:latin typeface="+mj-lt"/>
              </a:endParaRPr>
            </a:p>
          </p:txBody>
        </p:sp>
      </p:grpSp>
      <p:pic>
        <p:nvPicPr>
          <p:cNvPr id="5" name="Google Shape;127;p17" descr="image.png"/>
          <p:cNvPicPr preferRelativeResize="0"/>
          <p:nvPr>
            <p:custDataLst>
              <p:tags r:id="rId1"/>
            </p:custDataLst>
          </p:nvPr>
        </p:nvPicPr>
        <p:blipFill rotWithShape="1">
          <a:blip r:embed="rId15"/>
          <a:srcRect/>
          <a:stretch>
            <a:fillRect/>
          </a:stretch>
        </p:blipFill>
        <p:spPr>
          <a:xfrm>
            <a:off x="6617335" y="4096385"/>
            <a:ext cx="5381625" cy="1189355"/>
          </a:xfrm>
          <a:prstGeom prst="rect">
            <a:avLst/>
          </a:prstGeom>
          <a:noFill/>
          <a:ln>
            <a:noFill/>
          </a:ln>
        </p:spPr>
      </p:pic>
      <p:pic>
        <p:nvPicPr>
          <p:cNvPr id="6" name="Google Shape;128;p17" descr="image.png"/>
          <p:cNvPicPr preferRelativeResize="0"/>
          <p:nvPr>
            <p:custDataLst>
              <p:tags r:id="rId2"/>
            </p:custDataLst>
          </p:nvPr>
        </p:nvPicPr>
        <p:blipFill rotWithShape="1">
          <a:blip r:embed="rId15"/>
          <a:srcRect/>
          <a:stretch>
            <a:fillRect/>
          </a:stretch>
        </p:blipFill>
        <p:spPr>
          <a:xfrm>
            <a:off x="6617335" y="2781300"/>
            <a:ext cx="5381625" cy="1189990"/>
          </a:xfrm>
          <a:prstGeom prst="rect">
            <a:avLst/>
          </a:prstGeom>
          <a:noFill/>
          <a:ln>
            <a:noFill/>
          </a:ln>
        </p:spPr>
      </p:pic>
      <p:pic>
        <p:nvPicPr>
          <p:cNvPr id="8" name="Google Shape;129;p17" descr="image.png"/>
          <p:cNvPicPr preferRelativeResize="0"/>
          <p:nvPr>
            <p:custDataLst>
              <p:tags r:id="rId3"/>
            </p:custDataLst>
          </p:nvPr>
        </p:nvPicPr>
        <p:blipFill rotWithShape="1">
          <a:blip r:embed="rId15"/>
          <a:srcRect/>
          <a:stretch>
            <a:fillRect/>
          </a:stretch>
        </p:blipFill>
        <p:spPr>
          <a:xfrm>
            <a:off x="6617335" y="5480685"/>
            <a:ext cx="5381625" cy="1085850"/>
          </a:xfrm>
          <a:prstGeom prst="rect">
            <a:avLst/>
          </a:prstGeom>
          <a:noFill/>
          <a:ln>
            <a:noFill/>
          </a:ln>
        </p:spPr>
      </p:pic>
      <p:pic>
        <p:nvPicPr>
          <p:cNvPr id="10" name="Google Shape;130;p17" descr="image.png"/>
          <p:cNvPicPr preferRelativeResize="0"/>
          <p:nvPr>
            <p:custDataLst>
              <p:tags r:id="rId4"/>
            </p:custDataLst>
          </p:nvPr>
        </p:nvPicPr>
        <p:blipFill rotWithShape="1">
          <a:blip r:embed="rId15"/>
          <a:srcRect/>
          <a:stretch>
            <a:fillRect/>
          </a:stretch>
        </p:blipFill>
        <p:spPr>
          <a:xfrm>
            <a:off x="6617335" y="1565275"/>
            <a:ext cx="5381625" cy="1142365"/>
          </a:xfrm>
          <a:prstGeom prst="rect">
            <a:avLst/>
          </a:prstGeom>
          <a:noFill/>
          <a:ln>
            <a:noFill/>
          </a:ln>
        </p:spPr>
      </p:pic>
      <p:sp>
        <p:nvSpPr>
          <p:cNvPr id="11" name="Google Shape;133;p17"/>
          <p:cNvSpPr txBox="1"/>
          <p:nvPr>
            <p:custDataLst>
              <p:tags r:id="rId5"/>
            </p:custDataLst>
          </p:nvPr>
        </p:nvSpPr>
        <p:spPr>
          <a:xfrm>
            <a:off x="6960235" y="4197350"/>
            <a:ext cx="4990465" cy="24257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100" b="1" i="0" u="none" strike="noStrike" cap="none">
                <a:solidFill>
                  <a:srgbClr val="003366"/>
                </a:solidFill>
                <a:latin typeface="Poppins" panose="00000500000000000000"/>
                <a:ea typeface="Poppins" panose="00000500000000000000"/>
                <a:cs typeface="Poppins" panose="00000500000000000000"/>
                <a:sym typeface="Poppins" panose="00000500000000000000"/>
              </a:rPr>
              <a:t>非结构化排列</a:t>
            </a:r>
          </a:p>
        </p:txBody>
      </p:sp>
      <p:sp>
        <p:nvSpPr>
          <p:cNvPr id="12" name="Google Shape;134;p17"/>
          <p:cNvSpPr txBox="1"/>
          <p:nvPr>
            <p:custDataLst>
              <p:tags r:id="rId6"/>
            </p:custDataLst>
          </p:nvPr>
        </p:nvSpPr>
        <p:spPr>
          <a:xfrm>
            <a:off x="6960235" y="4439920"/>
            <a:ext cx="4752975" cy="36957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点云是一系列不均匀的采样点，各点之间的相关性极难通过标准卷积核进行特征提取。</a:t>
            </a:r>
          </a:p>
        </p:txBody>
      </p:sp>
      <p:sp>
        <p:nvSpPr>
          <p:cNvPr id="13" name="Google Shape;135;p17"/>
          <p:cNvSpPr txBox="1"/>
          <p:nvPr>
            <p:custDataLst>
              <p:tags r:id="rId7"/>
            </p:custDataLst>
          </p:nvPr>
        </p:nvSpPr>
        <p:spPr>
          <a:xfrm>
            <a:off x="6960235" y="2929890"/>
            <a:ext cx="4990465" cy="1955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100" b="1" i="0" u="none" strike="noStrike" cap="none">
                <a:solidFill>
                  <a:srgbClr val="003366"/>
                </a:solidFill>
                <a:latin typeface="Poppins" panose="00000500000000000000"/>
                <a:ea typeface="Poppins" panose="00000500000000000000"/>
                <a:cs typeface="Poppins" panose="00000500000000000000"/>
                <a:sym typeface="Poppins" panose="00000500000000000000"/>
              </a:rPr>
              <a:t>无序化排列</a:t>
            </a:r>
          </a:p>
        </p:txBody>
      </p:sp>
      <p:sp>
        <p:nvSpPr>
          <p:cNvPr id="14" name="Google Shape;136;p17"/>
          <p:cNvSpPr txBox="1"/>
          <p:nvPr>
            <p:custDataLst>
              <p:tags r:id="rId8"/>
            </p:custDataLst>
          </p:nvPr>
        </p:nvSpPr>
        <p:spPr>
          <a:xfrm>
            <a:off x="6960235" y="3176270"/>
            <a:ext cx="4752975" cy="447675"/>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几何上点的顺序不影响底层矩阵表示，算法必须具备输入排列次序的不变性。</a:t>
            </a:r>
          </a:p>
        </p:txBody>
      </p:sp>
      <p:sp>
        <p:nvSpPr>
          <p:cNvPr id="15" name="Google Shape;137;p17"/>
          <p:cNvSpPr txBox="1"/>
          <p:nvPr>
            <p:custDataLst>
              <p:tags r:id="rId9"/>
            </p:custDataLst>
          </p:nvPr>
        </p:nvSpPr>
        <p:spPr>
          <a:xfrm>
            <a:off x="6960235" y="5530850"/>
            <a:ext cx="4990465" cy="22161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000" b="1" i="0" u="none" strike="noStrike" cap="none">
                <a:solidFill>
                  <a:srgbClr val="003366"/>
                </a:solidFill>
                <a:latin typeface="Poppins" panose="00000500000000000000"/>
                <a:ea typeface="Poppins" panose="00000500000000000000"/>
                <a:cs typeface="Poppins" panose="00000500000000000000"/>
                <a:sym typeface="Poppins" panose="00000500000000000000"/>
              </a:rPr>
              <a:t>数量不确定性</a:t>
            </a:r>
          </a:p>
        </p:txBody>
      </p:sp>
      <p:sp>
        <p:nvSpPr>
          <p:cNvPr id="16" name="Google Shape;138;p17"/>
          <p:cNvSpPr txBox="1"/>
          <p:nvPr>
            <p:custDataLst>
              <p:tags r:id="rId10"/>
            </p:custDataLst>
          </p:nvPr>
        </p:nvSpPr>
        <p:spPr>
          <a:xfrm>
            <a:off x="6960235" y="5752465"/>
            <a:ext cx="4752975" cy="33782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采样点的规模受不同传感器影响巨大，要求模型具备处理变长数据的鲁棒性。</a:t>
            </a:r>
          </a:p>
        </p:txBody>
      </p:sp>
      <p:sp>
        <p:nvSpPr>
          <p:cNvPr id="17" name="Google Shape;139;p17"/>
          <p:cNvSpPr txBox="1"/>
          <p:nvPr>
            <p:custDataLst>
              <p:tags r:id="rId11"/>
            </p:custDataLst>
          </p:nvPr>
        </p:nvSpPr>
        <p:spPr>
          <a:xfrm>
            <a:off x="6960235" y="1643380"/>
            <a:ext cx="4990465" cy="23304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000" b="1" i="0" u="none" strike="noStrike" cap="none">
                <a:solidFill>
                  <a:srgbClr val="003366"/>
                </a:solidFill>
                <a:latin typeface="Poppins" panose="00000500000000000000"/>
                <a:ea typeface="Poppins" panose="00000500000000000000"/>
                <a:cs typeface="Poppins" panose="00000500000000000000"/>
                <a:sym typeface="Poppins" panose="00000500000000000000"/>
              </a:rPr>
              <a:t>原始几何保留</a:t>
            </a:r>
          </a:p>
        </p:txBody>
      </p:sp>
      <p:sp>
        <p:nvSpPr>
          <p:cNvPr id="18" name="Google Shape;140;p17"/>
          <p:cNvSpPr txBox="1"/>
          <p:nvPr>
            <p:custDataLst>
              <p:tags r:id="rId12"/>
            </p:custDataLst>
          </p:nvPr>
        </p:nvSpPr>
        <p:spPr>
          <a:xfrm>
            <a:off x="6960235" y="1876425"/>
            <a:ext cx="4752975" cy="354965"/>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点云在3D空间保留了原始几何信息，无需离散化即可充分挖掘场景深层特征。</a:t>
            </a:r>
          </a:p>
        </p:txBody>
      </p:sp>
      <p:sp>
        <p:nvSpPr>
          <p:cNvPr id="19" name="文本框 18"/>
          <p:cNvSpPr txBox="1"/>
          <p:nvPr/>
        </p:nvSpPr>
        <p:spPr>
          <a:xfrm>
            <a:off x="715645" y="1876425"/>
            <a:ext cx="4582795" cy="460375"/>
          </a:xfrm>
          <a:prstGeom prst="rect">
            <a:avLst/>
          </a:prstGeom>
          <a:noFill/>
        </p:spPr>
        <p:txBody>
          <a:bodyPr wrap="square" rtlCol="0" anchor="t">
            <a:spAutoFit/>
          </a:bodyPr>
          <a:lstStyle/>
          <a:p>
            <a:pPr marL="0" marR="0" lvl="0" indent="0" algn="l" rtl="0">
              <a:spcBef>
                <a:spcPts val="0"/>
              </a:spcBef>
              <a:spcAft>
                <a:spcPts val="0"/>
              </a:spcAft>
              <a:buNone/>
            </a:pPr>
            <a:r>
              <a:rPr lang="en-US" sz="2400" b="1">
                <a:solidFill>
                  <a:srgbClr val="003366"/>
                </a:solidFill>
                <a:latin typeface="黑体" panose="02010609060101010101" charset="-122"/>
                <a:ea typeface="黑体" panose="02010609060101010101" charset="-122"/>
                <a:cs typeface="黑体" panose="02010609060101010101" charset="-122"/>
                <a:sym typeface="Poppins" panose="00000500000000000000"/>
              </a:rPr>
              <a:t>3D 点云表示</a:t>
            </a:r>
            <a:r>
              <a:rPr lang="zh-CN" altLang="en-US" sz="2400" b="1">
                <a:solidFill>
                  <a:srgbClr val="003366"/>
                </a:solidFill>
                <a:latin typeface="黑体" panose="02010609060101010101" charset="-122"/>
                <a:ea typeface="黑体" panose="02010609060101010101" charset="-122"/>
                <a:cs typeface="黑体" panose="02010609060101010101" charset="-122"/>
                <a:sym typeface="Poppins" panose="00000500000000000000"/>
              </a:rPr>
              <a:t>优势</a:t>
            </a:r>
            <a:r>
              <a:rPr lang="en-US" sz="2400" b="1">
                <a:solidFill>
                  <a:srgbClr val="003366"/>
                </a:solidFill>
                <a:latin typeface="黑体" panose="02010609060101010101" charset="-122"/>
                <a:ea typeface="黑体" panose="02010609060101010101" charset="-122"/>
                <a:cs typeface="黑体" panose="02010609060101010101" charset="-122"/>
                <a:sym typeface="Poppins" panose="00000500000000000000"/>
              </a:rPr>
              <a:t>与三大挑战</a:t>
            </a:r>
            <a:endParaRPr lang="en-US" altLang="en-US" sz="2400" b="1">
              <a:solidFill>
                <a:srgbClr val="003366"/>
              </a:solidFill>
              <a:latin typeface="黑体" panose="02010609060101010101" charset="-122"/>
              <a:ea typeface="黑体" panose="02010609060101010101" charset="-122"/>
              <a:cs typeface="黑体" panose="02010609060101010101" charset="-122"/>
              <a:sym typeface="Poppins" panose="00000500000000000000"/>
            </a:endParaRPr>
          </a:p>
        </p:txBody>
      </p:sp>
      <p:pic>
        <p:nvPicPr>
          <p:cNvPr id="26" name="图片 25"/>
          <p:cNvPicPr>
            <a:picLocks noChangeAspect="1"/>
          </p:cNvPicPr>
          <p:nvPr/>
        </p:nvPicPr>
        <p:blipFill>
          <a:blip r:embed="rId16"/>
          <a:stretch>
            <a:fillRect/>
          </a:stretch>
        </p:blipFill>
        <p:spPr>
          <a:xfrm>
            <a:off x="203200" y="2689860"/>
            <a:ext cx="5607685" cy="3061335"/>
          </a:xfrm>
          <a:prstGeom prst="rect">
            <a:avLst/>
          </a:prstGeom>
        </p:spPr>
      </p:pic>
      <p:sp>
        <p:nvSpPr>
          <p:cNvPr id="27" name="左大括号 26"/>
          <p:cNvSpPr/>
          <p:nvPr/>
        </p:nvSpPr>
        <p:spPr>
          <a:xfrm>
            <a:off x="6162675" y="2865120"/>
            <a:ext cx="360045" cy="3632200"/>
          </a:xfrm>
          <a:prstGeom prst="leftBrac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txBody>
          <a:bodyPr rtlCol="0" anchor="ctr"/>
          <a:lstStyle/>
          <a:p>
            <a:pPr algn="ctr"/>
            <a:endParaRPr lang="zh-CN" altLang="en-US"/>
          </a:p>
        </p:txBody>
      </p:sp>
      <p:sp>
        <p:nvSpPr>
          <p:cNvPr id="28" name="左大括号 27"/>
          <p:cNvSpPr/>
          <p:nvPr/>
        </p:nvSpPr>
        <p:spPr>
          <a:xfrm>
            <a:off x="6182360" y="1565275"/>
            <a:ext cx="277495" cy="1111250"/>
          </a:xfrm>
          <a:prstGeom prst="leftBrac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txBody>
          <a:bodyPr rtlCol="0" anchor="ctr"/>
          <a:lstStyle/>
          <a:p>
            <a:pPr algn="ctr"/>
            <a:endParaRPr lang="zh-CN" altLang="en-US"/>
          </a:p>
        </p:txBody>
      </p:sp>
      <p:sp>
        <p:nvSpPr>
          <p:cNvPr id="30" name="文本框 29"/>
          <p:cNvSpPr txBox="1"/>
          <p:nvPr/>
        </p:nvSpPr>
        <p:spPr>
          <a:xfrm>
            <a:off x="5758815" y="1876425"/>
            <a:ext cx="337820" cy="617220"/>
          </a:xfrm>
          <a:prstGeom prst="rect">
            <a:avLst/>
          </a:prstGeom>
          <a:noFill/>
        </p:spPr>
        <p:txBody>
          <a:bodyPr wrap="square" rtlCol="0">
            <a:noAutofit/>
          </a:bodyPr>
          <a:lstStyle/>
          <a:p>
            <a:r>
              <a:rPr lang="zh-CN" altLang="en-US">
                <a:solidFill>
                  <a:schemeClr val="accent1"/>
                </a:solidFill>
              </a:rPr>
              <a:t>优势</a:t>
            </a:r>
          </a:p>
        </p:txBody>
      </p:sp>
      <p:sp>
        <p:nvSpPr>
          <p:cNvPr id="33" name="文本框 32"/>
          <p:cNvSpPr txBox="1"/>
          <p:nvPr/>
        </p:nvSpPr>
        <p:spPr>
          <a:xfrm>
            <a:off x="5730240" y="4372610"/>
            <a:ext cx="337820" cy="617220"/>
          </a:xfrm>
          <a:prstGeom prst="rect">
            <a:avLst/>
          </a:prstGeom>
          <a:noFill/>
        </p:spPr>
        <p:txBody>
          <a:bodyPr wrap="square" rtlCol="0">
            <a:noAutofit/>
          </a:bodyPr>
          <a:lstStyle/>
          <a:p>
            <a:r>
              <a:rPr lang="zh-CN" altLang="en-US">
                <a:solidFill>
                  <a:schemeClr val="accent1"/>
                </a:solidFill>
              </a:rPr>
              <a:t>挑战</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圆角矩形 19"/>
          <p:cNvSpPr/>
          <p:nvPr/>
        </p:nvSpPr>
        <p:spPr>
          <a:xfrm>
            <a:off x="1496060" y="1929130"/>
            <a:ext cx="8447405" cy="69977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0" y="939798"/>
            <a:ext cx="6095365" cy="625474"/>
            <a:chOff x="0" y="1075267"/>
            <a:chExt cx="6095365"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5824220" cy="460375"/>
            </a:xfrm>
            <a:prstGeom prst="rect">
              <a:avLst/>
            </a:prstGeom>
            <a:noFill/>
          </p:spPr>
          <p:txBody>
            <a:bodyPr wrap="square">
              <a:spAutoFit/>
            </a:bodyPr>
            <a:lstStyle/>
            <a:p>
              <a:r>
                <a:rPr lang="en-US" altLang="zh-CN" sz="2400" b="1" dirty="0">
                  <a:solidFill>
                    <a:schemeClr val="accent1"/>
                  </a:solidFill>
                  <a:latin typeface="+mj-lt"/>
                  <a:sym typeface="+mn-ea"/>
                </a:rPr>
                <a:t>5.3.1 </a:t>
              </a:r>
              <a:r>
                <a:rPr lang="zh-CN" altLang="en-US" sz="2400" b="1" dirty="0">
                  <a:solidFill>
                    <a:schemeClr val="accent1"/>
                  </a:solidFill>
                  <a:latin typeface="+mj-lt"/>
                  <a:sym typeface="+mn-ea"/>
                </a:rPr>
                <a:t>基于深度学习的</a:t>
              </a:r>
              <a:r>
                <a:rPr lang="en-US" altLang="zh-CN" sz="2400" b="1" dirty="0">
                  <a:solidFill>
                    <a:schemeClr val="accent1"/>
                  </a:solidFill>
                  <a:latin typeface="+mj-lt"/>
                  <a:sym typeface="+mn-ea"/>
                </a:rPr>
                <a:t>3D</a:t>
              </a:r>
              <a:r>
                <a:rPr lang="zh-CN" altLang="en-US" sz="2400" b="1" dirty="0">
                  <a:solidFill>
                    <a:schemeClr val="accent1"/>
                  </a:solidFill>
                  <a:latin typeface="+mj-lt"/>
                  <a:sym typeface="+mn-ea"/>
                </a:rPr>
                <a:t>点云语义感知</a:t>
              </a:r>
              <a:endParaRPr lang="zh-CN" altLang="en-US" sz="2400" b="1" dirty="0">
                <a:solidFill>
                  <a:schemeClr val="accent1"/>
                </a:solidFill>
                <a:latin typeface="+mj-lt"/>
              </a:endParaRPr>
            </a:p>
          </p:txBody>
        </p:sp>
      </p:grpSp>
      <p:sp>
        <p:nvSpPr>
          <p:cNvPr id="7" name="文本框 6"/>
          <p:cNvSpPr txBox="1"/>
          <p:nvPr/>
        </p:nvSpPr>
        <p:spPr>
          <a:xfrm>
            <a:off x="1748790" y="1929130"/>
            <a:ext cx="7910195" cy="675640"/>
          </a:xfrm>
          <a:prstGeom prst="rect">
            <a:avLst/>
          </a:prstGeom>
          <a:noFill/>
        </p:spPr>
        <p:txBody>
          <a:bodyPr wrap="square" rtlCol="0">
            <a:spAutoFit/>
          </a:bodyPr>
          <a:lstStyle/>
          <a:p>
            <a:r>
              <a:rPr lang="zh-CN" altLang="en-US">
                <a:solidFill>
                  <a:schemeClr val="accent1"/>
                </a:solidFill>
              </a:rPr>
              <a:t>研究者提出了众多方法来应对这些挑战，并且可以根据任务形式大致划分为：</a:t>
            </a:r>
          </a:p>
          <a:p>
            <a:r>
              <a:rPr lang="en-US" altLang="zh-CN" sz="2000" b="1">
                <a:solidFill>
                  <a:schemeClr val="accent1"/>
                </a:solidFill>
              </a:rPr>
              <a:t>3D </a:t>
            </a:r>
            <a:r>
              <a:rPr lang="zh-CN" altLang="en-US" sz="2000" b="1">
                <a:solidFill>
                  <a:schemeClr val="accent1"/>
                </a:solidFill>
              </a:rPr>
              <a:t>点云形状分类、</a:t>
            </a:r>
            <a:r>
              <a:rPr lang="en-US" altLang="zh-CN" sz="2000" b="1">
                <a:solidFill>
                  <a:schemeClr val="accent1"/>
                </a:solidFill>
              </a:rPr>
              <a:t>3D </a:t>
            </a:r>
            <a:r>
              <a:rPr lang="zh-CN" altLang="en-US" sz="2000" b="1">
                <a:solidFill>
                  <a:schemeClr val="accent1"/>
                </a:solidFill>
              </a:rPr>
              <a:t>点云目标检测、</a:t>
            </a:r>
            <a:r>
              <a:rPr lang="en-US" altLang="zh-CN" sz="2000" b="1">
                <a:solidFill>
                  <a:schemeClr val="accent1"/>
                </a:solidFill>
              </a:rPr>
              <a:t>3D </a:t>
            </a:r>
            <a:r>
              <a:rPr lang="zh-CN" altLang="en-US" sz="2000" b="1">
                <a:solidFill>
                  <a:schemeClr val="accent1"/>
                </a:solidFill>
              </a:rPr>
              <a:t>点云分割</a:t>
            </a:r>
          </a:p>
        </p:txBody>
      </p:sp>
      <p:pic>
        <p:nvPicPr>
          <p:cNvPr id="9" name="图片 8"/>
          <p:cNvPicPr>
            <a:picLocks noChangeAspect="1"/>
          </p:cNvPicPr>
          <p:nvPr/>
        </p:nvPicPr>
        <p:blipFill>
          <a:blip r:embed="rId3"/>
          <a:stretch>
            <a:fillRect/>
          </a:stretch>
        </p:blipFill>
        <p:spPr>
          <a:xfrm>
            <a:off x="900430" y="2968625"/>
            <a:ext cx="10055225" cy="2859405"/>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976630" y="1685925"/>
            <a:ext cx="10083165" cy="85407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0" y="939798"/>
            <a:ext cx="6096000" cy="625474"/>
            <a:chOff x="0" y="1075267"/>
            <a:chExt cx="6096000"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5824855" cy="460375"/>
            </a:xfrm>
            <a:prstGeom prst="rect">
              <a:avLst/>
            </a:prstGeom>
            <a:noFill/>
          </p:spPr>
          <p:txBody>
            <a:bodyPr wrap="square">
              <a:spAutoFit/>
            </a:bodyPr>
            <a:lstStyle/>
            <a:p>
              <a:r>
                <a:rPr lang="en-US" altLang="zh-CN" sz="2400" b="1" dirty="0">
                  <a:solidFill>
                    <a:schemeClr val="accent1"/>
                  </a:solidFill>
                  <a:latin typeface="+mj-lt"/>
                  <a:sym typeface="+mn-ea"/>
                </a:rPr>
                <a:t>5.3.1 </a:t>
              </a:r>
              <a:r>
                <a:rPr lang="zh-CN" altLang="en-US" sz="2400" b="1" dirty="0">
                  <a:solidFill>
                    <a:schemeClr val="accent1"/>
                  </a:solidFill>
                  <a:latin typeface="+mj-lt"/>
                  <a:sym typeface="+mn-ea"/>
                </a:rPr>
                <a:t>基于深度学习的</a:t>
              </a:r>
              <a:r>
                <a:rPr lang="en-US" altLang="zh-CN" sz="2400" b="1" dirty="0">
                  <a:solidFill>
                    <a:schemeClr val="accent1"/>
                  </a:solidFill>
                  <a:latin typeface="+mj-lt"/>
                  <a:sym typeface="+mn-ea"/>
                </a:rPr>
                <a:t>3D</a:t>
              </a:r>
              <a:r>
                <a:rPr lang="zh-CN" altLang="en-US" sz="2400" b="1" dirty="0">
                  <a:solidFill>
                    <a:schemeClr val="accent1"/>
                  </a:solidFill>
                  <a:latin typeface="+mj-lt"/>
                  <a:sym typeface="+mn-ea"/>
                </a:rPr>
                <a:t>点云语义感知</a:t>
              </a:r>
              <a:endParaRPr lang="zh-CN" altLang="en-US" sz="2400" b="1" dirty="0">
                <a:solidFill>
                  <a:schemeClr val="accent1"/>
                </a:solidFill>
                <a:latin typeface="+mj-lt"/>
              </a:endParaRPr>
            </a:p>
          </p:txBody>
        </p:sp>
      </p:grpSp>
      <p:sp>
        <p:nvSpPr>
          <p:cNvPr id="7" name="文本框 6"/>
          <p:cNvSpPr txBox="1"/>
          <p:nvPr/>
        </p:nvSpPr>
        <p:spPr>
          <a:xfrm>
            <a:off x="1038225" y="1760855"/>
            <a:ext cx="9936480" cy="706755"/>
          </a:xfrm>
          <a:prstGeom prst="rect">
            <a:avLst/>
          </a:prstGeom>
          <a:noFill/>
        </p:spPr>
        <p:txBody>
          <a:bodyPr wrap="square" rtlCol="0">
            <a:spAutoFit/>
          </a:bodyPr>
          <a:lstStyle/>
          <a:p>
            <a:r>
              <a:rPr lang="zh-CN" altLang="en-US" sz="2000" b="1">
                <a:solidFill>
                  <a:schemeClr val="accent1"/>
                </a:solidFill>
              </a:rPr>
              <a:t>下图是点云分类和分割经典算法</a:t>
            </a:r>
            <a:r>
              <a:rPr lang="en-US" altLang="zh-CN" sz="2000" b="1">
                <a:solidFill>
                  <a:schemeClr val="accent1"/>
                </a:solidFill>
              </a:rPr>
              <a:t>——PointNet</a:t>
            </a:r>
            <a:r>
              <a:rPr lang="zh-CN" altLang="en-US" sz="2000" b="1">
                <a:solidFill>
                  <a:schemeClr val="accent1"/>
                </a:solidFill>
              </a:rPr>
              <a:t>的网络结构图，</a:t>
            </a:r>
            <a:r>
              <a:rPr lang="en-US" altLang="zh-CN" sz="2000" b="1">
                <a:solidFill>
                  <a:schemeClr val="accent1"/>
                </a:solidFill>
              </a:rPr>
              <a:t>PointNet </a:t>
            </a:r>
            <a:r>
              <a:rPr lang="zh-CN" altLang="en-US" sz="2000" b="1">
                <a:solidFill>
                  <a:schemeClr val="accent1"/>
                </a:solidFill>
              </a:rPr>
              <a:t>有效改善了原始点云旋转不变性差的问题，广泛应用于分类、部件分割和语义分割等任务。</a:t>
            </a:r>
          </a:p>
        </p:txBody>
      </p:sp>
      <p:pic>
        <p:nvPicPr>
          <p:cNvPr id="5" name="图片 4"/>
          <p:cNvPicPr>
            <a:picLocks noChangeAspect="1"/>
          </p:cNvPicPr>
          <p:nvPr/>
        </p:nvPicPr>
        <p:blipFill>
          <a:blip r:embed="rId3"/>
          <a:stretch>
            <a:fillRect/>
          </a:stretch>
        </p:blipFill>
        <p:spPr>
          <a:xfrm>
            <a:off x="976630" y="2746375"/>
            <a:ext cx="10196830" cy="3942715"/>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513715" y="5715000"/>
            <a:ext cx="11194415" cy="95694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3" name="组合 102"/>
          <p:cNvGrpSpPr/>
          <p:nvPr/>
        </p:nvGrpSpPr>
        <p:grpSpPr>
          <a:xfrm>
            <a:off x="0" y="939798"/>
            <a:ext cx="6096000" cy="625474"/>
            <a:chOff x="0" y="1075267"/>
            <a:chExt cx="6096000" cy="625474"/>
          </a:xfrm>
        </p:grpSpPr>
        <p:sp>
          <p:nvSpPr>
            <p:cNvPr id="104" name="矩形 103"/>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p:cNvSpPr txBox="1"/>
            <p:nvPr/>
          </p:nvSpPr>
          <p:spPr>
            <a:xfrm>
              <a:off x="271145" y="1157182"/>
              <a:ext cx="5824855" cy="460375"/>
            </a:xfrm>
            <a:prstGeom prst="rect">
              <a:avLst/>
            </a:prstGeom>
            <a:noFill/>
          </p:spPr>
          <p:txBody>
            <a:bodyPr wrap="square">
              <a:spAutoFit/>
            </a:bodyPr>
            <a:lstStyle/>
            <a:p>
              <a:r>
                <a:rPr lang="en-US" altLang="zh-CN" sz="2400" b="1" dirty="0">
                  <a:solidFill>
                    <a:schemeClr val="accent1"/>
                  </a:solidFill>
                  <a:latin typeface="+mj-lt"/>
                  <a:sym typeface="+mn-ea"/>
                </a:rPr>
                <a:t>5.3.1 </a:t>
              </a:r>
              <a:r>
                <a:rPr lang="zh-CN" altLang="en-US" sz="2400" b="1" dirty="0">
                  <a:solidFill>
                    <a:schemeClr val="accent1"/>
                  </a:solidFill>
                  <a:latin typeface="+mj-lt"/>
                  <a:sym typeface="+mn-ea"/>
                </a:rPr>
                <a:t>基于深度学习的</a:t>
              </a:r>
              <a:r>
                <a:rPr lang="en-US" altLang="zh-CN" sz="2400" b="1" dirty="0">
                  <a:solidFill>
                    <a:schemeClr val="accent1"/>
                  </a:solidFill>
                  <a:latin typeface="+mj-lt"/>
                  <a:sym typeface="+mn-ea"/>
                </a:rPr>
                <a:t>3D</a:t>
              </a:r>
              <a:r>
                <a:rPr lang="zh-CN" altLang="en-US" sz="2400" b="1" dirty="0">
                  <a:solidFill>
                    <a:schemeClr val="accent1"/>
                  </a:solidFill>
                  <a:latin typeface="+mj-lt"/>
                  <a:sym typeface="+mn-ea"/>
                </a:rPr>
                <a:t>点云语义感知</a:t>
              </a:r>
              <a:endParaRPr lang="zh-CN" altLang="en-US" sz="2400" b="1" dirty="0">
                <a:solidFill>
                  <a:schemeClr val="accent1"/>
                </a:solidFill>
                <a:latin typeface="+mj-lt"/>
              </a:endParaRPr>
            </a:p>
          </p:txBody>
        </p:sp>
      </p:grpSp>
      <p:pic>
        <p:nvPicPr>
          <p:cNvPr id="7" name="图片 6"/>
          <p:cNvPicPr>
            <a:picLocks noChangeAspect="1"/>
          </p:cNvPicPr>
          <p:nvPr/>
        </p:nvPicPr>
        <p:blipFill>
          <a:blip r:embed="rId3"/>
          <a:stretch>
            <a:fillRect/>
          </a:stretch>
        </p:blipFill>
        <p:spPr>
          <a:xfrm>
            <a:off x="1050925" y="1664970"/>
            <a:ext cx="9936480" cy="3958590"/>
          </a:xfrm>
          <a:prstGeom prst="rect">
            <a:avLst/>
          </a:prstGeom>
        </p:spPr>
      </p:pic>
      <p:sp>
        <p:nvSpPr>
          <p:cNvPr id="8" name="文本框 7"/>
          <p:cNvSpPr txBox="1"/>
          <p:nvPr/>
        </p:nvSpPr>
        <p:spPr>
          <a:xfrm>
            <a:off x="649605" y="5722620"/>
            <a:ext cx="11088370" cy="829945"/>
          </a:xfrm>
          <a:prstGeom prst="rect">
            <a:avLst/>
          </a:prstGeom>
          <a:noFill/>
        </p:spPr>
        <p:txBody>
          <a:bodyPr wrap="square" rtlCol="0">
            <a:spAutoFit/>
          </a:bodyPr>
          <a:lstStyle/>
          <a:p>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但是</a:t>
            </a:r>
            <a:r>
              <a:rPr lang="en-US" altLang="zh-CN"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PointNet</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存在过分关注全局特征而忽略局部特征的问题，没有考虑点与点之间的结构信息，也没有充分考虑到点云密度不均匀所造成的不利影响等问题，难以适应复杂场景。</a:t>
            </a:r>
          </a:p>
          <a:p>
            <a:r>
              <a:rPr lang="en-US" altLang="zh-CN"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PointNet++</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就上述提出了改进，解决了两个问题：如何对点云进行局部划分；如何对点云进行局部特征提取。</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432435" y="2446020"/>
            <a:ext cx="5875655" cy="283908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3" name="组合 102"/>
          <p:cNvGrpSpPr/>
          <p:nvPr/>
        </p:nvGrpSpPr>
        <p:grpSpPr>
          <a:xfrm>
            <a:off x="0" y="939798"/>
            <a:ext cx="6096000" cy="625474"/>
            <a:chOff x="0" y="1075267"/>
            <a:chExt cx="6096000" cy="625474"/>
          </a:xfrm>
        </p:grpSpPr>
        <p:sp>
          <p:nvSpPr>
            <p:cNvPr id="104" name="矩形 103"/>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p:cNvSpPr txBox="1"/>
            <p:nvPr/>
          </p:nvSpPr>
          <p:spPr>
            <a:xfrm>
              <a:off x="271145" y="1157182"/>
              <a:ext cx="5824855" cy="460375"/>
            </a:xfrm>
            <a:prstGeom prst="rect">
              <a:avLst/>
            </a:prstGeom>
            <a:noFill/>
          </p:spPr>
          <p:txBody>
            <a:bodyPr wrap="square">
              <a:spAutoFit/>
            </a:bodyPr>
            <a:lstStyle/>
            <a:p>
              <a:r>
                <a:rPr lang="en-US" altLang="zh-CN" sz="2400" b="1" dirty="0">
                  <a:solidFill>
                    <a:schemeClr val="accent1"/>
                  </a:solidFill>
                  <a:latin typeface="+mj-lt"/>
                  <a:sym typeface="+mn-ea"/>
                </a:rPr>
                <a:t>5.3.1 </a:t>
              </a:r>
              <a:r>
                <a:rPr lang="zh-CN" altLang="en-US" sz="2400" b="1" dirty="0">
                  <a:solidFill>
                    <a:schemeClr val="accent1"/>
                  </a:solidFill>
                  <a:latin typeface="+mj-lt"/>
                  <a:sym typeface="+mn-ea"/>
                </a:rPr>
                <a:t>基于深度学习的视觉语义感知</a:t>
              </a:r>
              <a:endParaRPr lang="zh-CN" altLang="en-US" sz="2400" b="1" dirty="0">
                <a:solidFill>
                  <a:schemeClr val="accent1"/>
                </a:solidFill>
                <a:latin typeface="+mj-lt"/>
              </a:endParaRPr>
            </a:p>
          </p:txBody>
        </p:sp>
      </p:grpSp>
      <p:sp>
        <p:nvSpPr>
          <p:cNvPr id="5" name="文本框 4"/>
          <p:cNvSpPr txBox="1"/>
          <p:nvPr/>
        </p:nvSpPr>
        <p:spPr>
          <a:xfrm>
            <a:off x="685165" y="2830195"/>
            <a:ext cx="5410835" cy="2245360"/>
          </a:xfrm>
          <a:prstGeom prst="rect">
            <a:avLst/>
          </a:prstGeom>
          <a:noFill/>
        </p:spPr>
        <p:txBody>
          <a:bodyPr wrap="square" rtlCol="0">
            <a:spAutoFit/>
          </a:bodyPr>
          <a:lstStyle/>
          <a:p>
            <a:r>
              <a:rPr lang="zh-CN" altLang="en-US" sz="2000" b="1">
                <a:solidFill>
                  <a:schemeClr val="accent1"/>
                </a:solidFill>
                <a:latin typeface="宋体" panose="02010600030101010101" pitchFamily="2" charset="-122"/>
                <a:ea typeface="宋体" panose="02010600030101010101" pitchFamily="2" charset="-122"/>
                <a:sym typeface="+mn-ea"/>
              </a:rPr>
              <a:t>语义分割任务是很多计算机视觉任务的前提与基础，在虚拟现实、无人驾驶等领域具有重要的应用价值。</a:t>
            </a:r>
            <a:endParaRPr lang="zh-CN" altLang="en-US" sz="2000" b="1">
              <a:solidFill>
                <a:schemeClr val="accent1"/>
              </a:solidFill>
              <a:latin typeface="宋体" panose="02010600030101010101" pitchFamily="2" charset="-122"/>
              <a:ea typeface="宋体" panose="02010600030101010101" pitchFamily="2" charset="-122"/>
            </a:endParaRPr>
          </a:p>
          <a:p>
            <a:r>
              <a:rPr lang="zh-CN" altLang="en-US" sz="2000" b="1">
                <a:solidFill>
                  <a:schemeClr val="accent1"/>
                </a:solidFill>
                <a:latin typeface="宋体" panose="02010600030101010101" pitchFamily="2" charset="-122"/>
                <a:ea typeface="宋体" panose="02010600030101010101" pitchFamily="2" charset="-122"/>
                <a:sym typeface="+mn-ea"/>
              </a:rPr>
              <a:t>随着深度学习技术的快速发展，尤其是卷积神经网络（</a:t>
            </a:r>
            <a:r>
              <a:rPr lang="en-US" altLang="zh-CN" sz="2000" b="1">
                <a:solidFill>
                  <a:schemeClr val="accent1"/>
                </a:solidFill>
                <a:latin typeface="Times New Roman" panose="02020603050405020304"/>
                <a:ea typeface="Times New Roman" panose="02020603050405020304"/>
                <a:sym typeface="+mn-ea"/>
              </a:rPr>
              <a:t>convolutional neural network</a:t>
            </a:r>
            <a:r>
              <a:rPr lang="zh-CN" altLang="en-US" sz="2000" b="1">
                <a:solidFill>
                  <a:schemeClr val="accent1"/>
                </a:solidFill>
                <a:latin typeface="宋体" panose="02010600030101010101" pitchFamily="2" charset="-122"/>
                <a:ea typeface="宋体" panose="02010600030101010101" pitchFamily="2" charset="-122"/>
                <a:sym typeface="+mn-ea"/>
              </a:rPr>
              <a:t>，</a:t>
            </a:r>
            <a:r>
              <a:rPr lang="en-US" altLang="zh-CN" sz="2000" b="1">
                <a:solidFill>
                  <a:schemeClr val="accent1"/>
                </a:solidFill>
                <a:latin typeface="Times New Roman" panose="02020603050405020304"/>
                <a:ea typeface="Times New Roman" panose="02020603050405020304"/>
                <a:sym typeface="+mn-ea"/>
              </a:rPr>
              <a:t>CNN</a:t>
            </a:r>
            <a:r>
              <a:rPr lang="zh-CN" altLang="en-US" sz="2000" b="1">
                <a:solidFill>
                  <a:schemeClr val="accent1"/>
                </a:solidFill>
                <a:latin typeface="宋体" panose="02010600030101010101" pitchFamily="2" charset="-122"/>
                <a:ea typeface="宋体" panose="02010600030101010101" pitchFamily="2" charset="-122"/>
                <a:sym typeface="+mn-ea"/>
              </a:rPr>
              <a:t>）的出现，使得图像语义分割取得了长足的进步。</a:t>
            </a:r>
            <a:endParaRPr lang="zh-CN" altLang="en-US" sz="2000" b="1">
              <a:solidFill>
                <a:schemeClr val="accent1"/>
              </a:solidFill>
              <a:latin typeface="宋体" panose="02010600030101010101" pitchFamily="2" charset="-122"/>
              <a:ea typeface="宋体" panose="02010600030101010101" pitchFamily="2" charset="-122"/>
            </a:endParaRPr>
          </a:p>
          <a:p>
            <a:endParaRPr lang="zh-CN" altLang="en-US" sz="2000" b="1">
              <a:solidFill>
                <a:schemeClr val="accent1"/>
              </a:solidFill>
              <a:latin typeface="宋体" panose="02010600030101010101" pitchFamily="2" charset="-122"/>
              <a:ea typeface="宋体" panose="02010600030101010101" pitchFamily="2" charset="-122"/>
            </a:endParaRPr>
          </a:p>
        </p:txBody>
      </p:sp>
      <p:pic>
        <p:nvPicPr>
          <p:cNvPr id="8" name="图片 7" descr="f8b40958b120acd383a3b3a246ae4970"/>
          <p:cNvPicPr>
            <a:picLocks noChangeAspect="1"/>
          </p:cNvPicPr>
          <p:nvPr/>
        </p:nvPicPr>
        <p:blipFill>
          <a:blip r:embed="rId3"/>
          <a:stretch>
            <a:fillRect/>
          </a:stretch>
        </p:blipFill>
        <p:spPr>
          <a:xfrm>
            <a:off x="6812915" y="1437640"/>
            <a:ext cx="4846320" cy="48558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0" y="939798"/>
            <a:ext cx="5885180" cy="625474"/>
            <a:chOff x="0" y="1075267"/>
            <a:chExt cx="5885180" cy="625474"/>
          </a:xfrm>
        </p:grpSpPr>
        <p:sp>
          <p:nvSpPr>
            <p:cNvPr id="9" name="矩形 8"/>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71145" y="1157182"/>
              <a:ext cx="5614035" cy="460375"/>
            </a:xfrm>
            <a:prstGeom prst="rect">
              <a:avLst/>
            </a:prstGeom>
            <a:noFill/>
          </p:spPr>
          <p:txBody>
            <a:bodyPr wrap="square">
              <a:spAutoFit/>
            </a:bodyPr>
            <a:lstStyle/>
            <a:p>
              <a:r>
                <a:rPr lang="en-US" altLang="zh-CN" sz="2400" b="1" dirty="0">
                  <a:solidFill>
                    <a:schemeClr val="accent1"/>
                  </a:solidFill>
                  <a:latin typeface="+mj-lt"/>
                  <a:sym typeface="+mn-ea"/>
                </a:rPr>
                <a:t>5.3.1 </a:t>
              </a:r>
              <a:r>
                <a:rPr lang="zh-CN" altLang="en-US" sz="2400" b="1" dirty="0">
                  <a:solidFill>
                    <a:schemeClr val="accent1"/>
                  </a:solidFill>
                  <a:latin typeface="+mj-lt"/>
                  <a:sym typeface="+mn-ea"/>
                </a:rPr>
                <a:t>基于深度学习的视觉语义感知</a:t>
              </a:r>
              <a:endParaRPr lang="zh-CN" altLang="en-US" sz="2400" b="1" dirty="0">
                <a:solidFill>
                  <a:schemeClr val="accent1"/>
                </a:solidFill>
                <a:latin typeface="+mj-lt"/>
              </a:endParaRPr>
            </a:p>
          </p:txBody>
        </p:sp>
      </p:grpSp>
      <p:graphicFrame>
        <p:nvGraphicFramePr>
          <p:cNvPr id="13" name="对象 12"/>
          <p:cNvGraphicFramePr>
            <a:graphicFrameLocks noChangeAspect="1"/>
          </p:cNvGraphicFramePr>
          <p:nvPr/>
        </p:nvGraphicFramePr>
        <p:xfrm>
          <a:off x="3073400" y="3327400"/>
          <a:ext cx="914400" cy="198438"/>
        </p:xfrm>
        <a:graphic>
          <a:graphicData uri="http://schemas.openxmlformats.org/presentationml/2006/ole">
            <mc:AlternateContent xmlns:mc="http://schemas.openxmlformats.org/markup-compatibility/2006">
              <mc:Choice xmlns:v="urn:schemas-microsoft-com:vml" Requires="v">
                <p:oleObj name="Equation" r:id="rId3" imgW="2743200" imgH="4267200" progId="Equation.DSMT4">
                  <p:embed/>
                </p:oleObj>
              </mc:Choice>
              <mc:Fallback>
                <p:oleObj name="Equation" r:id="rId3" imgW="2743200" imgH="4267200" progId="Equation.DSMT4">
                  <p:embed/>
                  <p:pic>
                    <p:nvPicPr>
                      <p:cNvPr id="13" name="对象 12"/>
                      <p:cNvPicPr/>
                      <p:nvPr/>
                    </p:nvPicPr>
                    <p:blipFill>
                      <a:blip r:embed="rId4"/>
                      <a:stretch>
                        <a:fillRect/>
                      </a:stretch>
                    </p:blipFill>
                    <p:spPr>
                      <a:xfrm>
                        <a:off x="3073400" y="3327400"/>
                        <a:ext cx="914400" cy="198438"/>
                      </a:xfrm>
                      <a:prstGeom prst="rect">
                        <a:avLst/>
                      </a:prstGeom>
                    </p:spPr>
                  </p:pic>
                </p:oleObj>
              </mc:Fallback>
            </mc:AlternateContent>
          </a:graphicData>
        </a:graphic>
      </p:graphicFrame>
      <p:sp>
        <p:nvSpPr>
          <p:cNvPr id="33" name="圆角矩形 32"/>
          <p:cNvSpPr/>
          <p:nvPr/>
        </p:nvSpPr>
        <p:spPr>
          <a:xfrm>
            <a:off x="271145" y="1877695"/>
            <a:ext cx="5330825" cy="354838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480060" y="2375535"/>
            <a:ext cx="4946650" cy="2553335"/>
          </a:xfrm>
          <a:prstGeom prst="rect">
            <a:avLst/>
          </a:prstGeom>
        </p:spPr>
        <p:txBody>
          <a:bodyPr wrap="square">
            <a:spAutoFit/>
          </a:bodyPr>
          <a:lstStyle/>
          <a:p>
            <a:r>
              <a:rPr lang="zh-CN" altLang="en-US" sz="2000" b="1">
                <a:solidFill>
                  <a:schemeClr val="accent1"/>
                </a:solidFill>
                <a:latin typeface="宋体" panose="02010600030101010101" pitchFamily="2" charset="-122"/>
                <a:ea typeface="宋体" panose="02010600030101010101" pitchFamily="2" charset="-122"/>
              </a:rPr>
              <a:t>基于深度学习的语义分割方法大多是全监督学习模型。全监督学习图像语义分割方法即采用人工提前标注过 的像素作为训练样本，语义分割过程为：</a:t>
            </a:r>
          </a:p>
          <a:p>
            <a:r>
              <a:rPr lang="en-US" altLang="zh-CN" sz="2000" b="1">
                <a:solidFill>
                  <a:schemeClr val="accent1"/>
                </a:solidFill>
                <a:latin typeface="Times New Roman" panose="02020603050405020304"/>
                <a:ea typeface="Times New Roman" panose="02020603050405020304"/>
              </a:rPr>
              <a:t>1</a:t>
            </a:r>
            <a:r>
              <a:rPr lang="zh-CN" altLang="en-US" sz="2000" b="1">
                <a:solidFill>
                  <a:schemeClr val="accent1"/>
                </a:solidFill>
                <a:latin typeface="宋体" panose="02010600030101010101" pitchFamily="2" charset="-122"/>
                <a:ea typeface="宋体" panose="02010600030101010101" pitchFamily="2" charset="-122"/>
              </a:rPr>
              <a:t>）人工标注数据，即给图像的每个像素预先设定 一个语义标签；</a:t>
            </a:r>
          </a:p>
          <a:p>
            <a:r>
              <a:rPr lang="en-US" altLang="zh-CN" sz="2000" b="1">
                <a:solidFill>
                  <a:schemeClr val="accent1"/>
                </a:solidFill>
                <a:latin typeface="Times New Roman" panose="02020603050405020304"/>
                <a:ea typeface="Times New Roman" panose="02020603050405020304"/>
              </a:rPr>
              <a:t>2</a:t>
            </a:r>
            <a:r>
              <a:rPr lang="zh-CN" altLang="en-US" sz="2000" b="1">
                <a:solidFill>
                  <a:schemeClr val="accent1"/>
                </a:solidFill>
                <a:latin typeface="宋体" panose="02010600030101010101" pitchFamily="2" charset="-122"/>
                <a:ea typeface="宋体" panose="02010600030101010101" pitchFamily="2" charset="-122"/>
              </a:rPr>
              <a:t>）运用已标注的数据训练神经网络；</a:t>
            </a:r>
          </a:p>
          <a:p>
            <a:r>
              <a:rPr lang="en-US" altLang="zh-CN" sz="2000" b="1">
                <a:solidFill>
                  <a:schemeClr val="accent1"/>
                </a:solidFill>
                <a:latin typeface="Times New Roman" panose="02020603050405020304"/>
                <a:ea typeface="Times New Roman" panose="02020603050405020304"/>
              </a:rPr>
              <a:t>3</a:t>
            </a:r>
            <a:r>
              <a:rPr lang="zh-CN" altLang="en-US" sz="2000" b="1">
                <a:solidFill>
                  <a:schemeClr val="accent1"/>
                </a:solidFill>
                <a:latin typeface="宋体" panose="02010600030101010101" pitchFamily="2" charset="-122"/>
                <a:ea typeface="宋体" panose="02010600030101010101" pitchFamily="2" charset="-122"/>
              </a:rPr>
              <a:t>）语义分割。</a:t>
            </a:r>
          </a:p>
        </p:txBody>
      </p:sp>
      <p:pic>
        <p:nvPicPr>
          <p:cNvPr id="2" name="图片 1" descr="188944da6aade9a238044d7a2f600dff"/>
          <p:cNvPicPr>
            <a:picLocks noChangeAspect="1"/>
          </p:cNvPicPr>
          <p:nvPr/>
        </p:nvPicPr>
        <p:blipFill>
          <a:blip r:embed="rId5"/>
          <a:stretch>
            <a:fillRect/>
          </a:stretch>
        </p:blipFill>
        <p:spPr>
          <a:xfrm>
            <a:off x="5727065" y="2263140"/>
            <a:ext cx="6226810" cy="266573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0" y="939798"/>
            <a:ext cx="5885180" cy="625474"/>
            <a:chOff x="0" y="1075267"/>
            <a:chExt cx="5885180" cy="625474"/>
          </a:xfrm>
        </p:grpSpPr>
        <p:sp>
          <p:nvSpPr>
            <p:cNvPr id="9" name="矩形 8"/>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71145" y="1157182"/>
              <a:ext cx="5614035" cy="460375"/>
            </a:xfrm>
            <a:prstGeom prst="rect">
              <a:avLst/>
            </a:prstGeom>
            <a:noFill/>
          </p:spPr>
          <p:txBody>
            <a:bodyPr wrap="square">
              <a:spAutoFit/>
            </a:bodyPr>
            <a:lstStyle/>
            <a:p>
              <a:r>
                <a:rPr lang="en-US" altLang="zh-CN" sz="2400" b="1" dirty="0">
                  <a:solidFill>
                    <a:schemeClr val="accent1"/>
                  </a:solidFill>
                  <a:latin typeface="+mj-lt"/>
                  <a:sym typeface="+mn-ea"/>
                </a:rPr>
                <a:t>5.3.1 </a:t>
              </a:r>
              <a:r>
                <a:rPr lang="zh-CN" altLang="en-US" sz="2400" b="1" dirty="0">
                  <a:solidFill>
                    <a:schemeClr val="accent1"/>
                  </a:solidFill>
                  <a:latin typeface="+mj-lt"/>
                  <a:sym typeface="+mn-ea"/>
                </a:rPr>
                <a:t>基于深度学习的视觉语义感知</a:t>
              </a:r>
              <a:endParaRPr lang="zh-CN" altLang="en-US" sz="2400" b="1" dirty="0">
                <a:solidFill>
                  <a:schemeClr val="accent1"/>
                </a:solidFill>
                <a:latin typeface="+mj-lt"/>
              </a:endParaRPr>
            </a:p>
          </p:txBody>
        </p:sp>
      </p:grpSp>
      <p:graphicFrame>
        <p:nvGraphicFramePr>
          <p:cNvPr id="13" name="对象 12"/>
          <p:cNvGraphicFramePr>
            <a:graphicFrameLocks noChangeAspect="1"/>
          </p:cNvGraphicFramePr>
          <p:nvPr/>
        </p:nvGraphicFramePr>
        <p:xfrm>
          <a:off x="3073400" y="3327400"/>
          <a:ext cx="914400" cy="198438"/>
        </p:xfrm>
        <a:graphic>
          <a:graphicData uri="http://schemas.openxmlformats.org/presentationml/2006/ole">
            <mc:AlternateContent xmlns:mc="http://schemas.openxmlformats.org/markup-compatibility/2006">
              <mc:Choice xmlns:v="urn:schemas-microsoft-com:vml" Requires="v">
                <p:oleObj name="Equation" r:id="rId3" imgW="2743200" imgH="4267200" progId="Equation.DSMT4">
                  <p:embed/>
                </p:oleObj>
              </mc:Choice>
              <mc:Fallback>
                <p:oleObj name="Equation" r:id="rId3" imgW="2743200" imgH="4267200" progId="Equation.DSMT4">
                  <p:embed/>
                  <p:pic>
                    <p:nvPicPr>
                      <p:cNvPr id="13" name="对象 12"/>
                      <p:cNvPicPr/>
                      <p:nvPr/>
                    </p:nvPicPr>
                    <p:blipFill>
                      <a:blip r:embed="rId4"/>
                      <a:stretch>
                        <a:fillRect/>
                      </a:stretch>
                    </p:blipFill>
                    <p:spPr>
                      <a:xfrm>
                        <a:off x="3073400" y="3327400"/>
                        <a:ext cx="914400" cy="198438"/>
                      </a:xfrm>
                      <a:prstGeom prst="rect">
                        <a:avLst/>
                      </a:prstGeom>
                    </p:spPr>
                  </p:pic>
                </p:oleObj>
              </mc:Fallback>
            </mc:AlternateContent>
          </a:graphicData>
        </a:graphic>
      </p:graphicFrame>
      <p:sp>
        <p:nvSpPr>
          <p:cNvPr id="33" name="圆角矩形 32"/>
          <p:cNvSpPr/>
          <p:nvPr/>
        </p:nvSpPr>
        <p:spPr>
          <a:xfrm>
            <a:off x="412750" y="1675130"/>
            <a:ext cx="10856595" cy="123380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648335" y="1812925"/>
            <a:ext cx="10712450" cy="1014730"/>
          </a:xfrm>
          <a:prstGeom prst="rect">
            <a:avLst/>
          </a:prstGeom>
        </p:spPr>
        <p:txBody>
          <a:bodyPr wrap="square">
            <a:spAutoFit/>
          </a:bodyPr>
          <a:lstStyle/>
          <a:p>
            <a:r>
              <a:rPr lang="en-US" altLang="zh-CN" sz="2000" b="1">
                <a:solidFill>
                  <a:schemeClr val="accent1"/>
                </a:solidFill>
                <a:latin typeface="宋体" panose="02010600030101010101" pitchFamily="2" charset="-122"/>
                <a:ea typeface="宋体" panose="02010600030101010101" pitchFamily="2" charset="-122"/>
              </a:rPr>
              <a:t>FCN </a:t>
            </a:r>
            <a:r>
              <a:rPr lang="zh-CN" altLang="en-US" sz="2000" b="1">
                <a:solidFill>
                  <a:schemeClr val="accent1"/>
                </a:solidFill>
                <a:latin typeface="宋体" panose="02010600030101010101" pitchFamily="2" charset="-122"/>
                <a:ea typeface="宋体" panose="02010600030101010101" pitchFamily="2" charset="-122"/>
              </a:rPr>
              <a:t>算法是最早提出的全卷积网络（</a:t>
            </a:r>
            <a:r>
              <a:rPr lang="en-US" altLang="zh-CN" sz="2000" b="1">
                <a:solidFill>
                  <a:schemeClr val="accent1"/>
                </a:solidFill>
                <a:latin typeface="宋体" panose="02010600030101010101" pitchFamily="2" charset="-122"/>
                <a:ea typeface="宋体" panose="02010600030101010101" pitchFamily="2" charset="-122"/>
              </a:rPr>
              <a:t>fully convolutional network</a:t>
            </a:r>
            <a:r>
              <a:rPr lang="zh-CN" altLang="en-US" sz="2000" b="1">
                <a:solidFill>
                  <a:schemeClr val="accent1"/>
                </a:solidFill>
                <a:latin typeface="宋体" panose="02010600030101010101" pitchFamily="2" charset="-122"/>
                <a:ea typeface="宋体" panose="02010600030101010101" pitchFamily="2" charset="-122"/>
              </a:rPr>
              <a:t>，</a:t>
            </a:r>
            <a:r>
              <a:rPr lang="en-US" altLang="zh-CN" sz="2000" b="1">
                <a:solidFill>
                  <a:schemeClr val="accent1"/>
                </a:solidFill>
                <a:latin typeface="宋体" panose="02010600030101010101" pitchFamily="2" charset="-122"/>
                <a:ea typeface="宋体" panose="02010600030101010101" pitchFamily="2" charset="-122"/>
              </a:rPr>
              <a:t>FCN</a:t>
            </a:r>
            <a:r>
              <a:rPr lang="zh-CN" altLang="en-US" sz="2000" b="1">
                <a:solidFill>
                  <a:schemeClr val="accent1"/>
                </a:solidFill>
                <a:latin typeface="宋体" panose="02010600030101010101" pitchFamily="2" charset="-122"/>
                <a:ea typeface="宋体" panose="02010600030101010101" pitchFamily="2" charset="-122"/>
              </a:rPr>
              <a:t>），它以全监督学习的方式分割图像，输入图像的大小不受限制，能够实现端到端的像素级预测任务，网络结构如下图所示。</a:t>
            </a:r>
          </a:p>
        </p:txBody>
      </p:sp>
      <p:pic>
        <p:nvPicPr>
          <p:cNvPr id="2" name="图片 1"/>
          <p:cNvPicPr>
            <a:picLocks noChangeAspect="1"/>
          </p:cNvPicPr>
          <p:nvPr/>
        </p:nvPicPr>
        <p:blipFill>
          <a:blip r:embed="rId5"/>
          <a:stretch>
            <a:fillRect/>
          </a:stretch>
        </p:blipFill>
        <p:spPr>
          <a:xfrm>
            <a:off x="1955800" y="2908935"/>
            <a:ext cx="7600950" cy="389572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0" y="939798"/>
            <a:ext cx="5885180" cy="625474"/>
            <a:chOff x="0" y="1075267"/>
            <a:chExt cx="5885180" cy="625474"/>
          </a:xfrm>
        </p:grpSpPr>
        <p:sp>
          <p:nvSpPr>
            <p:cNvPr id="9" name="矩形 8"/>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71145" y="1157182"/>
              <a:ext cx="5614035" cy="460375"/>
            </a:xfrm>
            <a:prstGeom prst="rect">
              <a:avLst/>
            </a:prstGeom>
            <a:noFill/>
          </p:spPr>
          <p:txBody>
            <a:bodyPr wrap="square">
              <a:spAutoFit/>
            </a:bodyPr>
            <a:lstStyle/>
            <a:p>
              <a:r>
                <a:rPr lang="en-US" altLang="zh-CN" sz="2400" b="1" dirty="0">
                  <a:solidFill>
                    <a:schemeClr val="accent1"/>
                  </a:solidFill>
                  <a:latin typeface="+mj-lt"/>
                  <a:sym typeface="+mn-ea"/>
                </a:rPr>
                <a:t>5.3.1 </a:t>
              </a:r>
              <a:r>
                <a:rPr lang="zh-CN" altLang="en-US" sz="2400" b="1" dirty="0">
                  <a:solidFill>
                    <a:schemeClr val="accent1"/>
                  </a:solidFill>
                  <a:latin typeface="+mj-lt"/>
                  <a:sym typeface="+mn-ea"/>
                </a:rPr>
                <a:t>基于深度学习的视觉语义感知</a:t>
              </a:r>
              <a:endParaRPr lang="zh-CN" altLang="en-US" sz="2400" b="1" dirty="0">
                <a:solidFill>
                  <a:schemeClr val="accent1"/>
                </a:solidFill>
                <a:latin typeface="+mj-lt"/>
              </a:endParaRPr>
            </a:p>
          </p:txBody>
        </p:sp>
      </p:grpSp>
      <p:graphicFrame>
        <p:nvGraphicFramePr>
          <p:cNvPr id="13" name="对象 12"/>
          <p:cNvGraphicFramePr>
            <a:graphicFrameLocks noChangeAspect="1"/>
          </p:cNvGraphicFramePr>
          <p:nvPr/>
        </p:nvGraphicFramePr>
        <p:xfrm>
          <a:off x="3073400" y="3327400"/>
          <a:ext cx="914400" cy="198438"/>
        </p:xfrm>
        <a:graphic>
          <a:graphicData uri="http://schemas.openxmlformats.org/presentationml/2006/ole">
            <mc:AlternateContent xmlns:mc="http://schemas.openxmlformats.org/markup-compatibility/2006">
              <mc:Choice xmlns:v="urn:schemas-microsoft-com:vml" Requires="v">
                <p:oleObj name="Equation" r:id="rId3" imgW="2743200" imgH="4267200" progId="Equation.DSMT4">
                  <p:embed/>
                </p:oleObj>
              </mc:Choice>
              <mc:Fallback>
                <p:oleObj name="Equation" r:id="rId3" imgW="2743200" imgH="4267200" progId="Equation.DSMT4">
                  <p:embed/>
                  <p:pic>
                    <p:nvPicPr>
                      <p:cNvPr id="13" name="对象 12"/>
                      <p:cNvPicPr/>
                      <p:nvPr/>
                    </p:nvPicPr>
                    <p:blipFill>
                      <a:blip r:embed="rId4"/>
                      <a:stretch>
                        <a:fillRect/>
                      </a:stretch>
                    </p:blipFill>
                    <p:spPr>
                      <a:xfrm>
                        <a:off x="3073400" y="3327400"/>
                        <a:ext cx="914400" cy="198438"/>
                      </a:xfrm>
                      <a:prstGeom prst="rect">
                        <a:avLst/>
                      </a:prstGeom>
                    </p:spPr>
                  </p:pic>
                </p:oleObj>
              </mc:Fallback>
            </mc:AlternateContent>
          </a:graphicData>
        </a:graphic>
      </p:graphicFrame>
      <p:sp>
        <p:nvSpPr>
          <p:cNvPr id="33" name="圆角矩形 32"/>
          <p:cNvSpPr/>
          <p:nvPr/>
        </p:nvSpPr>
        <p:spPr>
          <a:xfrm>
            <a:off x="6455410" y="2279015"/>
            <a:ext cx="5309870" cy="295021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6735445" y="2493010"/>
            <a:ext cx="4946650" cy="2553335"/>
          </a:xfrm>
          <a:prstGeom prst="rect">
            <a:avLst/>
          </a:prstGeom>
        </p:spPr>
        <p:txBody>
          <a:bodyPr wrap="square">
            <a:spAutoFit/>
          </a:bodyPr>
          <a:lstStyle/>
          <a:p>
            <a:pPr indent="0" fontAlgn="auto">
              <a:lnSpc>
                <a:spcPct val="100000"/>
              </a:lnSpc>
            </a:pPr>
            <a:r>
              <a:rPr lang="en-US" altLang="zh-CN" sz="2000" b="1">
                <a:solidFill>
                  <a:schemeClr val="accent1"/>
                </a:solidFill>
                <a:latin typeface="宋体" panose="02010600030101010101" pitchFamily="2" charset="-122"/>
                <a:ea typeface="宋体" panose="02010600030101010101" pitchFamily="2" charset="-122"/>
              </a:rPr>
              <a:t>FCN </a:t>
            </a:r>
            <a:r>
              <a:rPr lang="zh-CN" altLang="en-US" sz="2000" b="1">
                <a:solidFill>
                  <a:schemeClr val="accent1"/>
                </a:solidFill>
                <a:latin typeface="宋体" panose="02010600030101010101" pitchFamily="2" charset="-122"/>
                <a:ea typeface="宋体" panose="02010600030101010101" pitchFamily="2" charset="-122"/>
              </a:rPr>
              <a:t>将</a:t>
            </a:r>
            <a:r>
              <a:rPr lang="en-US" altLang="zh-CN" sz="2000" b="1">
                <a:solidFill>
                  <a:schemeClr val="accent1"/>
                </a:solidFill>
                <a:latin typeface="宋体" panose="02010600030101010101" pitchFamily="2" charset="-122"/>
                <a:ea typeface="宋体" panose="02010600030101010101" pitchFamily="2" charset="-122"/>
              </a:rPr>
              <a:t> VGG-16</a:t>
            </a:r>
            <a:r>
              <a:rPr lang="zh-CN" altLang="en-US" sz="2000" b="1">
                <a:solidFill>
                  <a:schemeClr val="accent1"/>
                </a:solidFill>
                <a:latin typeface="宋体" panose="02010600030101010101" pitchFamily="2" charset="-122"/>
                <a:ea typeface="宋体" panose="02010600030101010101" pitchFamily="2" charset="-122"/>
              </a:rPr>
              <a:t>（</a:t>
            </a:r>
            <a:r>
              <a:rPr lang="en-US" altLang="zh-CN" sz="2000" b="1">
                <a:solidFill>
                  <a:schemeClr val="accent1"/>
                </a:solidFill>
                <a:latin typeface="宋体" panose="02010600030101010101" pitchFamily="2" charset="-122"/>
                <a:ea typeface="宋体" panose="02010600030101010101" pitchFamily="2" charset="-122"/>
              </a:rPr>
              <a:t>Visual Geometry Group 16-layer network</a:t>
            </a:r>
            <a:r>
              <a:rPr lang="zh-CN" altLang="en-US" sz="2000" b="1">
                <a:solidFill>
                  <a:schemeClr val="accent1"/>
                </a:solidFill>
                <a:latin typeface="宋体" panose="02010600030101010101" pitchFamily="2" charset="-122"/>
                <a:ea typeface="宋体" panose="02010600030101010101" pitchFamily="2" charset="-122"/>
              </a:rPr>
              <a:t>）算法的全连接层替换为卷积层。其工作流程为：</a:t>
            </a:r>
          </a:p>
          <a:p>
            <a:pPr indent="0" fontAlgn="auto">
              <a:lnSpc>
                <a:spcPct val="100000"/>
              </a:lnSpc>
            </a:pPr>
            <a:r>
              <a:rPr lang="en-US" altLang="zh-CN" sz="2000" b="1">
                <a:solidFill>
                  <a:schemeClr val="accent1"/>
                </a:solidFill>
                <a:latin typeface="宋体" panose="02010600030101010101" pitchFamily="2" charset="-122"/>
                <a:ea typeface="宋体" panose="02010600030101010101" pitchFamily="2" charset="-122"/>
              </a:rPr>
              <a:t>1) </a:t>
            </a:r>
            <a:r>
              <a:rPr lang="zh-CN" altLang="en-US" sz="2000" b="1">
                <a:solidFill>
                  <a:schemeClr val="accent1"/>
                </a:solidFill>
                <a:latin typeface="宋体" panose="02010600030101010101" pitchFamily="2" charset="-122"/>
                <a:ea typeface="宋体" panose="02010600030101010101" pitchFamily="2" charset="-122"/>
              </a:rPr>
              <a:t>图像输入卷积神经网络之后，进行一系列的卷积和池化操作提取特征图；</a:t>
            </a:r>
          </a:p>
          <a:p>
            <a:pPr indent="0" fontAlgn="auto">
              <a:lnSpc>
                <a:spcPct val="100000"/>
              </a:lnSpc>
            </a:pPr>
            <a:r>
              <a:rPr lang="en-US" altLang="zh-CN" sz="2000" b="1">
                <a:solidFill>
                  <a:schemeClr val="accent1"/>
                </a:solidFill>
                <a:latin typeface="宋体" panose="02010600030101010101" pitchFamily="2" charset="-122"/>
                <a:ea typeface="宋体" panose="02010600030101010101" pitchFamily="2" charset="-122"/>
              </a:rPr>
              <a:t>2) </a:t>
            </a:r>
            <a:r>
              <a:rPr lang="zh-CN" altLang="en-US" sz="2000" b="1">
                <a:solidFill>
                  <a:schemeClr val="accent1"/>
                </a:solidFill>
                <a:latin typeface="宋体" panose="02010600030101010101" pitchFamily="2" charset="-122"/>
                <a:ea typeface="宋体" panose="02010600030101010101" pitchFamily="2" charset="-122"/>
              </a:rPr>
              <a:t>通过反卷积层对特征图进行上采样处理；</a:t>
            </a:r>
          </a:p>
          <a:p>
            <a:pPr indent="0" fontAlgn="auto">
              <a:lnSpc>
                <a:spcPct val="100000"/>
              </a:lnSpc>
            </a:pPr>
            <a:r>
              <a:rPr lang="en-US" altLang="zh-CN" sz="2000" b="1">
                <a:solidFill>
                  <a:schemeClr val="accent1"/>
                </a:solidFill>
                <a:latin typeface="宋体" panose="02010600030101010101" pitchFamily="2" charset="-122"/>
                <a:ea typeface="宋体" panose="02010600030101010101" pitchFamily="2" charset="-122"/>
              </a:rPr>
              <a:t>3) </a:t>
            </a:r>
            <a:r>
              <a:rPr lang="zh-CN" altLang="en-US" sz="2000" b="1">
                <a:solidFill>
                  <a:schemeClr val="accent1"/>
                </a:solidFill>
                <a:latin typeface="宋体" panose="02010600030101010101" pitchFamily="2" charset="-122"/>
                <a:ea typeface="宋体" panose="02010600030101010101" pitchFamily="2" charset="-122"/>
              </a:rPr>
              <a:t>进行像素分类并把粗粒度的分割结果转换成细粒度分割结果。</a:t>
            </a:r>
          </a:p>
        </p:txBody>
      </p:sp>
      <p:pic>
        <p:nvPicPr>
          <p:cNvPr id="2" name="图片 1"/>
          <p:cNvPicPr>
            <a:picLocks noChangeAspect="1"/>
          </p:cNvPicPr>
          <p:nvPr/>
        </p:nvPicPr>
        <p:blipFill>
          <a:blip r:embed="rId5"/>
          <a:stretch>
            <a:fillRect/>
          </a:stretch>
        </p:blipFill>
        <p:spPr>
          <a:xfrm>
            <a:off x="0" y="2279015"/>
            <a:ext cx="6332220" cy="324548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0" y="939798"/>
            <a:ext cx="5885180" cy="625474"/>
            <a:chOff x="0" y="1075267"/>
            <a:chExt cx="5885180" cy="625474"/>
          </a:xfrm>
        </p:grpSpPr>
        <p:sp>
          <p:nvSpPr>
            <p:cNvPr id="9" name="矩形 8"/>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71145" y="1157182"/>
              <a:ext cx="5614035" cy="460375"/>
            </a:xfrm>
            <a:prstGeom prst="rect">
              <a:avLst/>
            </a:prstGeom>
            <a:noFill/>
          </p:spPr>
          <p:txBody>
            <a:bodyPr wrap="square">
              <a:spAutoFit/>
            </a:bodyPr>
            <a:lstStyle/>
            <a:p>
              <a:r>
                <a:rPr lang="en-US" altLang="zh-CN" sz="2400" b="1" dirty="0">
                  <a:solidFill>
                    <a:schemeClr val="accent1"/>
                  </a:solidFill>
                  <a:latin typeface="+mj-lt"/>
                  <a:sym typeface="+mn-ea"/>
                </a:rPr>
                <a:t>5.3.1 </a:t>
              </a:r>
              <a:r>
                <a:rPr lang="zh-CN" altLang="en-US" sz="2400" b="1" dirty="0">
                  <a:solidFill>
                    <a:schemeClr val="accent1"/>
                  </a:solidFill>
                  <a:latin typeface="+mj-lt"/>
                  <a:sym typeface="+mn-ea"/>
                </a:rPr>
                <a:t>基于深度学习的视觉语义感知</a:t>
              </a:r>
              <a:endParaRPr lang="zh-CN" altLang="en-US" sz="2400" b="1" dirty="0">
                <a:solidFill>
                  <a:schemeClr val="accent1"/>
                </a:solidFill>
                <a:latin typeface="+mj-lt"/>
              </a:endParaRPr>
            </a:p>
          </p:txBody>
        </p:sp>
      </p:grpSp>
      <p:graphicFrame>
        <p:nvGraphicFramePr>
          <p:cNvPr id="13" name="对象 12"/>
          <p:cNvGraphicFramePr>
            <a:graphicFrameLocks noChangeAspect="1"/>
          </p:cNvGraphicFramePr>
          <p:nvPr/>
        </p:nvGraphicFramePr>
        <p:xfrm>
          <a:off x="3073400" y="3327400"/>
          <a:ext cx="914400" cy="198438"/>
        </p:xfrm>
        <a:graphic>
          <a:graphicData uri="http://schemas.openxmlformats.org/presentationml/2006/ole">
            <mc:AlternateContent xmlns:mc="http://schemas.openxmlformats.org/markup-compatibility/2006">
              <mc:Choice xmlns:v="urn:schemas-microsoft-com:vml" Requires="v">
                <p:oleObj name="Equation" r:id="rId3" imgW="2743200" imgH="4267200" progId="Equation.DSMT4">
                  <p:embed/>
                </p:oleObj>
              </mc:Choice>
              <mc:Fallback>
                <p:oleObj name="Equation" r:id="rId3" imgW="2743200" imgH="4267200" progId="Equation.DSMT4">
                  <p:embed/>
                  <p:pic>
                    <p:nvPicPr>
                      <p:cNvPr id="13" name="对象 12"/>
                      <p:cNvPicPr/>
                      <p:nvPr/>
                    </p:nvPicPr>
                    <p:blipFill>
                      <a:blip r:embed="rId4"/>
                      <a:stretch>
                        <a:fillRect/>
                      </a:stretch>
                    </p:blipFill>
                    <p:spPr>
                      <a:xfrm>
                        <a:off x="3073400" y="3327400"/>
                        <a:ext cx="914400" cy="198438"/>
                      </a:xfrm>
                      <a:prstGeom prst="rect">
                        <a:avLst/>
                      </a:prstGeom>
                    </p:spPr>
                  </p:pic>
                </p:oleObj>
              </mc:Fallback>
            </mc:AlternateContent>
          </a:graphicData>
        </a:graphic>
      </p:graphicFrame>
      <p:sp>
        <p:nvSpPr>
          <p:cNvPr id="33" name="圆角矩形 32"/>
          <p:cNvSpPr/>
          <p:nvPr/>
        </p:nvSpPr>
        <p:spPr>
          <a:xfrm>
            <a:off x="412750" y="1675130"/>
            <a:ext cx="10763885" cy="96647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648335" y="1812925"/>
            <a:ext cx="10712450" cy="706755"/>
          </a:xfrm>
          <a:prstGeom prst="rect">
            <a:avLst/>
          </a:prstGeom>
        </p:spPr>
        <p:txBody>
          <a:bodyPr wrap="square">
            <a:spAutoFit/>
          </a:bodyPr>
          <a:lstStyle/>
          <a:p>
            <a:r>
              <a:rPr lang="en-US" altLang="zh-CN" sz="2000" b="1">
                <a:solidFill>
                  <a:schemeClr val="accent1"/>
                </a:solidFill>
                <a:latin typeface="宋体" panose="02010600030101010101" pitchFamily="2" charset="-122"/>
                <a:ea typeface="宋体" panose="02010600030101010101" pitchFamily="2" charset="-122"/>
              </a:rPr>
              <a:t>SegNet </a:t>
            </a:r>
            <a:r>
              <a:rPr lang="zh-CN" altLang="en-US" sz="2000" b="1">
                <a:solidFill>
                  <a:schemeClr val="accent1"/>
                </a:solidFill>
                <a:latin typeface="宋体" panose="02010600030101010101" pitchFamily="2" charset="-122"/>
                <a:ea typeface="宋体" panose="02010600030101010101" pitchFamily="2" charset="-122"/>
              </a:rPr>
              <a:t>是基于</a:t>
            </a:r>
            <a:r>
              <a:rPr lang="en-US" altLang="zh-CN" sz="2000" b="1">
                <a:solidFill>
                  <a:schemeClr val="accent1"/>
                </a:solidFill>
                <a:latin typeface="宋体" panose="02010600030101010101" pitchFamily="2" charset="-122"/>
                <a:ea typeface="宋体" panose="02010600030101010101" pitchFamily="2" charset="-122"/>
              </a:rPr>
              <a:t> Encoder-Decoder </a:t>
            </a:r>
            <a:r>
              <a:rPr lang="zh-CN" altLang="en-US" sz="2000" b="1">
                <a:solidFill>
                  <a:schemeClr val="accent1"/>
                </a:solidFill>
                <a:latin typeface="宋体" panose="02010600030101010101" pitchFamily="2" charset="-122"/>
                <a:ea typeface="宋体" panose="02010600030101010101" pitchFamily="2" charset="-122"/>
              </a:rPr>
              <a:t>的网络结构，</a:t>
            </a:r>
            <a:r>
              <a:rPr lang="en-US" altLang="zh-CN" sz="2000" b="1">
                <a:solidFill>
                  <a:schemeClr val="accent1"/>
                </a:solidFill>
                <a:latin typeface="宋体" panose="02010600030101010101" pitchFamily="2" charset="-122"/>
                <a:ea typeface="宋体" panose="02010600030101010101" pitchFamily="2" charset="-122"/>
              </a:rPr>
              <a:t>Encoder </a:t>
            </a:r>
            <a:r>
              <a:rPr lang="zh-CN" altLang="en-US" sz="2000" b="1">
                <a:solidFill>
                  <a:schemeClr val="accent1"/>
                </a:solidFill>
                <a:latin typeface="宋体" panose="02010600030101010101" pitchFamily="2" charset="-122"/>
                <a:ea typeface="宋体" panose="02010600030101010101" pitchFamily="2" charset="-122"/>
              </a:rPr>
              <a:t>的</a:t>
            </a:r>
            <a:r>
              <a:rPr lang="en-US" altLang="zh-CN" sz="2000" b="1">
                <a:solidFill>
                  <a:schemeClr val="accent1"/>
                </a:solidFill>
                <a:latin typeface="宋体" panose="02010600030101010101" pitchFamily="2" charset="-122"/>
                <a:ea typeface="宋体" panose="02010600030101010101" pitchFamily="2" charset="-122"/>
              </a:rPr>
              <a:t> backbone </a:t>
            </a:r>
            <a:r>
              <a:rPr lang="zh-CN" altLang="en-US" sz="2000" b="1">
                <a:solidFill>
                  <a:schemeClr val="accent1"/>
                </a:solidFill>
                <a:latin typeface="宋体" panose="02010600030101010101" pitchFamily="2" charset="-122"/>
                <a:ea typeface="宋体" panose="02010600030101010101" pitchFamily="2" charset="-122"/>
              </a:rPr>
              <a:t>采用</a:t>
            </a:r>
            <a:r>
              <a:rPr lang="en-US" altLang="zh-CN" sz="2000" b="1">
                <a:solidFill>
                  <a:schemeClr val="accent1"/>
                </a:solidFill>
                <a:latin typeface="宋体" panose="02010600030101010101" pitchFamily="2" charset="-122"/>
                <a:ea typeface="宋体" panose="02010600030101010101" pitchFamily="2" charset="-122"/>
              </a:rPr>
              <a:t> VGG-16(</a:t>
            </a:r>
            <a:r>
              <a:rPr lang="zh-CN" altLang="en-US" sz="2000" b="1">
                <a:solidFill>
                  <a:schemeClr val="accent1"/>
                </a:solidFill>
                <a:latin typeface="宋体" panose="02010600030101010101" pitchFamily="2" charset="-122"/>
                <a:ea typeface="宋体" panose="02010600030101010101" pitchFamily="2" charset="-122"/>
              </a:rPr>
              <a:t>去除</a:t>
            </a:r>
          </a:p>
          <a:p>
            <a:r>
              <a:rPr lang="en-US" altLang="zh-CN" sz="2000" b="1">
                <a:solidFill>
                  <a:schemeClr val="accent1"/>
                </a:solidFill>
                <a:latin typeface="宋体" panose="02010600030101010101" pitchFamily="2" charset="-122"/>
                <a:ea typeface="宋体" panose="02010600030101010101" pitchFamily="2" charset="-122"/>
              </a:rPr>
              <a:t>FC </a:t>
            </a:r>
            <a:r>
              <a:rPr lang="zh-CN" altLang="en-US" sz="2000" b="1">
                <a:solidFill>
                  <a:schemeClr val="accent1"/>
                </a:solidFill>
                <a:latin typeface="宋体" panose="02010600030101010101" pitchFamily="2" charset="-122"/>
                <a:ea typeface="宋体" panose="02010600030101010101" pitchFamily="2" charset="-122"/>
              </a:rPr>
              <a:t>层</a:t>
            </a:r>
            <a:r>
              <a:rPr lang="en-US" altLang="zh-CN" sz="2000" b="1">
                <a:solidFill>
                  <a:schemeClr val="accent1"/>
                </a:solidFill>
                <a:latin typeface="宋体" panose="02010600030101010101" pitchFamily="2" charset="-122"/>
                <a:ea typeface="宋体" panose="02010600030101010101" pitchFamily="2" charset="-122"/>
              </a:rPr>
              <a:t>)</a:t>
            </a:r>
            <a:r>
              <a:rPr lang="zh-CN" altLang="en-US" sz="2000" b="1">
                <a:solidFill>
                  <a:schemeClr val="accent1"/>
                </a:solidFill>
                <a:latin typeface="宋体" panose="02010600030101010101" pitchFamily="2" charset="-122"/>
                <a:ea typeface="宋体" panose="02010600030101010101" pitchFamily="2" charset="-122"/>
              </a:rPr>
              <a:t>，网络结构如下图所示。</a:t>
            </a:r>
          </a:p>
        </p:txBody>
      </p:sp>
      <p:pic>
        <p:nvPicPr>
          <p:cNvPr id="3" name="图片 2"/>
          <p:cNvPicPr>
            <a:picLocks noChangeAspect="1"/>
          </p:cNvPicPr>
          <p:nvPr/>
        </p:nvPicPr>
        <p:blipFill>
          <a:blip r:embed="rId5"/>
          <a:stretch>
            <a:fillRect/>
          </a:stretch>
        </p:blipFill>
        <p:spPr>
          <a:xfrm>
            <a:off x="584200" y="2939415"/>
            <a:ext cx="10655935" cy="315150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1491615" y="1488440"/>
            <a:ext cx="8587740" cy="2540000"/>
          </a:xfrm>
          <a:prstGeom prst="rect">
            <a:avLst/>
          </a:prstGeom>
        </p:spPr>
      </p:pic>
      <p:grpSp>
        <p:nvGrpSpPr>
          <p:cNvPr id="8" name="组合 7"/>
          <p:cNvGrpSpPr/>
          <p:nvPr/>
        </p:nvGrpSpPr>
        <p:grpSpPr>
          <a:xfrm>
            <a:off x="0" y="939798"/>
            <a:ext cx="5885180" cy="625474"/>
            <a:chOff x="0" y="1075267"/>
            <a:chExt cx="5885180" cy="625474"/>
          </a:xfrm>
        </p:grpSpPr>
        <p:sp>
          <p:nvSpPr>
            <p:cNvPr id="9" name="矩形 8"/>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71145" y="1157182"/>
              <a:ext cx="5614035" cy="460375"/>
            </a:xfrm>
            <a:prstGeom prst="rect">
              <a:avLst/>
            </a:prstGeom>
            <a:noFill/>
          </p:spPr>
          <p:txBody>
            <a:bodyPr wrap="square">
              <a:spAutoFit/>
            </a:bodyPr>
            <a:lstStyle/>
            <a:p>
              <a:r>
                <a:rPr lang="en-US" altLang="zh-CN" sz="2400" b="1" dirty="0">
                  <a:solidFill>
                    <a:schemeClr val="accent1"/>
                  </a:solidFill>
                  <a:latin typeface="+mj-lt"/>
                  <a:sym typeface="+mn-ea"/>
                </a:rPr>
                <a:t>5.3.1 </a:t>
              </a:r>
              <a:r>
                <a:rPr lang="zh-CN" altLang="en-US" sz="2400" b="1" dirty="0">
                  <a:solidFill>
                    <a:schemeClr val="accent1"/>
                  </a:solidFill>
                  <a:latin typeface="+mj-lt"/>
                  <a:sym typeface="+mn-ea"/>
                </a:rPr>
                <a:t>基于深度学习的视觉语义感知</a:t>
              </a:r>
              <a:endParaRPr lang="zh-CN" altLang="en-US" sz="2400" b="1" dirty="0">
                <a:solidFill>
                  <a:schemeClr val="accent1"/>
                </a:solidFill>
                <a:latin typeface="+mj-lt"/>
              </a:endParaRPr>
            </a:p>
          </p:txBody>
        </p:sp>
      </p:grpSp>
      <p:graphicFrame>
        <p:nvGraphicFramePr>
          <p:cNvPr id="13" name="对象 12"/>
          <p:cNvGraphicFramePr>
            <a:graphicFrameLocks noChangeAspect="1"/>
          </p:cNvGraphicFramePr>
          <p:nvPr/>
        </p:nvGraphicFramePr>
        <p:xfrm>
          <a:off x="3073400" y="3327400"/>
          <a:ext cx="914400" cy="198438"/>
        </p:xfrm>
        <a:graphic>
          <a:graphicData uri="http://schemas.openxmlformats.org/presentationml/2006/ole">
            <mc:AlternateContent xmlns:mc="http://schemas.openxmlformats.org/markup-compatibility/2006">
              <mc:Choice xmlns:v="urn:schemas-microsoft-com:vml" Requires="v">
                <p:oleObj name="Equation" r:id="rId4" imgW="2743200" imgH="4267200" progId="Equation.DSMT4">
                  <p:embed/>
                </p:oleObj>
              </mc:Choice>
              <mc:Fallback>
                <p:oleObj name="Equation" r:id="rId4" imgW="2743200" imgH="4267200" progId="Equation.DSMT4">
                  <p:embed/>
                  <p:pic>
                    <p:nvPicPr>
                      <p:cNvPr id="13" name="对象 12"/>
                      <p:cNvPicPr/>
                      <p:nvPr/>
                    </p:nvPicPr>
                    <p:blipFill>
                      <a:blip r:embed="rId5"/>
                      <a:stretch>
                        <a:fillRect/>
                      </a:stretch>
                    </p:blipFill>
                    <p:spPr>
                      <a:xfrm>
                        <a:off x="3073400" y="3327400"/>
                        <a:ext cx="914400" cy="198438"/>
                      </a:xfrm>
                      <a:prstGeom prst="rect">
                        <a:avLst/>
                      </a:prstGeom>
                    </p:spPr>
                  </p:pic>
                </p:oleObj>
              </mc:Fallback>
            </mc:AlternateContent>
          </a:graphicData>
        </a:graphic>
      </p:graphicFrame>
      <p:sp>
        <p:nvSpPr>
          <p:cNvPr id="33" name="圆角矩形 32"/>
          <p:cNvSpPr/>
          <p:nvPr/>
        </p:nvSpPr>
        <p:spPr>
          <a:xfrm>
            <a:off x="231140" y="4028440"/>
            <a:ext cx="11677015" cy="269049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415290" y="4034790"/>
            <a:ext cx="11493500" cy="2614930"/>
          </a:xfrm>
          <a:prstGeom prst="rect">
            <a:avLst/>
          </a:prstGeom>
        </p:spPr>
        <p:txBody>
          <a:bodyPr wrap="square">
            <a:spAutoFit/>
          </a:bodyPr>
          <a:lstStyle/>
          <a:p>
            <a:pPr indent="0" fontAlgn="auto">
              <a:lnSpc>
                <a:spcPct val="100000"/>
              </a:lnSpc>
              <a:spcBef>
                <a:spcPts val="600"/>
              </a:spcBef>
            </a:pPr>
            <a:r>
              <a:rPr lang="en-US" altLang="zh-CN" b="1">
                <a:solidFill>
                  <a:schemeClr val="accent1"/>
                </a:solidFill>
                <a:latin typeface="宋体" panose="02010600030101010101" pitchFamily="2" charset="-122"/>
                <a:ea typeface="宋体" panose="02010600030101010101" pitchFamily="2" charset="-122"/>
              </a:rPr>
              <a:t>SegNet </a:t>
            </a:r>
            <a:r>
              <a:rPr lang="zh-CN" altLang="en-US" b="1">
                <a:solidFill>
                  <a:schemeClr val="accent1"/>
                </a:solidFill>
                <a:latin typeface="宋体" panose="02010600030101010101" pitchFamily="2" charset="-122"/>
                <a:ea typeface="宋体" panose="02010600030101010101" pitchFamily="2" charset="-122"/>
              </a:rPr>
              <a:t>的工作流程为：</a:t>
            </a:r>
          </a:p>
          <a:p>
            <a:pPr indent="0" fontAlgn="auto">
              <a:lnSpc>
                <a:spcPct val="100000"/>
              </a:lnSpc>
              <a:spcBef>
                <a:spcPts val="600"/>
              </a:spcBef>
            </a:pPr>
            <a:r>
              <a:rPr lang="en-US" altLang="zh-CN" b="1">
                <a:solidFill>
                  <a:schemeClr val="accent1"/>
                </a:solidFill>
                <a:latin typeface="宋体" panose="02010600030101010101" pitchFamily="2" charset="-122"/>
                <a:ea typeface="宋体" panose="02010600030101010101" pitchFamily="2" charset="-122"/>
              </a:rPr>
              <a:t>1) </a:t>
            </a:r>
            <a:r>
              <a:rPr lang="zh-CN" altLang="en-US" b="1">
                <a:solidFill>
                  <a:schemeClr val="accent1"/>
                </a:solidFill>
                <a:latin typeface="宋体" panose="02010600030101010101" pitchFamily="2" charset="-122"/>
                <a:ea typeface="宋体" panose="02010600030101010101" pitchFamily="2" charset="-122"/>
              </a:rPr>
              <a:t>在</a:t>
            </a:r>
            <a:r>
              <a:rPr lang="en-US" altLang="zh-CN" b="1">
                <a:solidFill>
                  <a:schemeClr val="accent1"/>
                </a:solidFill>
                <a:latin typeface="宋体" panose="02010600030101010101" pitchFamily="2" charset="-122"/>
                <a:ea typeface="宋体" panose="02010600030101010101" pitchFamily="2" charset="-122"/>
              </a:rPr>
              <a:t> Encoder </a:t>
            </a:r>
            <a:r>
              <a:rPr lang="zh-CN" altLang="en-US" b="1">
                <a:solidFill>
                  <a:schemeClr val="accent1"/>
                </a:solidFill>
                <a:latin typeface="宋体" panose="02010600030101010101" pitchFamily="2" charset="-122"/>
                <a:ea typeface="宋体" panose="02010600030101010101" pitchFamily="2" charset="-122"/>
              </a:rPr>
              <a:t>过程中，通过卷积提取特征，</a:t>
            </a:r>
            <a:r>
              <a:rPr lang="en-US" altLang="zh-CN" b="1">
                <a:solidFill>
                  <a:schemeClr val="accent1"/>
                </a:solidFill>
                <a:latin typeface="宋体" panose="02010600030101010101" pitchFamily="2" charset="-122"/>
                <a:ea typeface="宋体" panose="02010600030101010101" pitchFamily="2" charset="-122"/>
              </a:rPr>
              <a:t>SegNet </a:t>
            </a:r>
            <a:r>
              <a:rPr lang="zh-CN" altLang="en-US" b="1">
                <a:solidFill>
                  <a:schemeClr val="accent1"/>
                </a:solidFill>
                <a:latin typeface="宋体" panose="02010600030101010101" pitchFamily="2" charset="-122"/>
                <a:ea typeface="宋体" panose="02010600030101010101" pitchFamily="2" charset="-122"/>
              </a:rPr>
              <a:t>使用</a:t>
            </a:r>
            <a:r>
              <a:rPr lang="en-US" altLang="zh-CN" b="1">
                <a:solidFill>
                  <a:schemeClr val="accent1"/>
                </a:solidFill>
                <a:latin typeface="宋体" panose="02010600030101010101" pitchFamily="2" charset="-122"/>
                <a:ea typeface="宋体" panose="02010600030101010101" pitchFamily="2" charset="-122"/>
              </a:rPr>
              <a:t> padding=same </a:t>
            </a:r>
            <a:r>
              <a:rPr lang="zh-CN" altLang="en-US" b="1">
                <a:solidFill>
                  <a:schemeClr val="accent1"/>
                </a:solidFill>
                <a:latin typeface="宋体" panose="02010600030101010101" pitchFamily="2" charset="-122"/>
                <a:ea typeface="宋体" panose="02010600030101010101" pitchFamily="2" charset="-122"/>
              </a:rPr>
              <a:t>的卷积，即执行卷积操作后保持图像原始尺寸；</a:t>
            </a:r>
          </a:p>
          <a:p>
            <a:pPr indent="0" fontAlgn="auto">
              <a:lnSpc>
                <a:spcPct val="100000"/>
              </a:lnSpc>
              <a:spcBef>
                <a:spcPts val="600"/>
              </a:spcBef>
            </a:pPr>
            <a:r>
              <a:rPr lang="en-US" altLang="zh-CN" b="1">
                <a:solidFill>
                  <a:schemeClr val="accent1"/>
                </a:solidFill>
                <a:latin typeface="宋体" panose="02010600030101010101" pitchFamily="2" charset="-122"/>
                <a:ea typeface="宋体" panose="02010600030101010101" pitchFamily="2" charset="-122"/>
              </a:rPr>
              <a:t>2) </a:t>
            </a:r>
            <a:r>
              <a:rPr lang="zh-CN" altLang="en-US" b="1">
                <a:solidFill>
                  <a:schemeClr val="accent1"/>
                </a:solidFill>
                <a:latin typeface="宋体" panose="02010600030101010101" pitchFamily="2" charset="-122"/>
                <a:ea typeface="宋体" panose="02010600030101010101" pitchFamily="2" charset="-122"/>
              </a:rPr>
              <a:t>在</a:t>
            </a:r>
            <a:r>
              <a:rPr lang="en-US" altLang="zh-CN" b="1">
                <a:solidFill>
                  <a:schemeClr val="accent1"/>
                </a:solidFill>
                <a:latin typeface="宋体" panose="02010600030101010101" pitchFamily="2" charset="-122"/>
                <a:ea typeface="宋体" panose="02010600030101010101" pitchFamily="2" charset="-122"/>
              </a:rPr>
              <a:t> Decoder </a:t>
            </a:r>
            <a:r>
              <a:rPr lang="zh-CN" altLang="en-US" b="1">
                <a:solidFill>
                  <a:schemeClr val="accent1"/>
                </a:solidFill>
                <a:latin typeface="宋体" panose="02010600030101010101" pitchFamily="2" charset="-122"/>
                <a:ea typeface="宋体" panose="02010600030101010101" pitchFamily="2" charset="-122"/>
              </a:rPr>
              <a:t>过程中，同样使用使用</a:t>
            </a:r>
            <a:r>
              <a:rPr lang="en-US" altLang="zh-CN" b="1">
                <a:solidFill>
                  <a:schemeClr val="accent1"/>
                </a:solidFill>
                <a:latin typeface="宋体" panose="02010600030101010101" pitchFamily="2" charset="-122"/>
                <a:ea typeface="宋体" panose="02010600030101010101" pitchFamily="2" charset="-122"/>
              </a:rPr>
              <a:t> padding=same </a:t>
            </a:r>
            <a:r>
              <a:rPr lang="zh-CN" altLang="en-US" b="1">
                <a:solidFill>
                  <a:schemeClr val="accent1"/>
                </a:solidFill>
                <a:latin typeface="宋体" panose="02010600030101010101" pitchFamily="2" charset="-122"/>
                <a:ea typeface="宋体" panose="02010600030101010101" pitchFamily="2" charset="-122"/>
              </a:rPr>
              <a:t>的卷积对缩小后的特征图进行上采样，不过卷积的作用是为了丰富上采样的图像信息，使得在</a:t>
            </a:r>
            <a:r>
              <a:rPr lang="en-US" altLang="zh-CN" b="1">
                <a:solidFill>
                  <a:schemeClr val="accent1"/>
                </a:solidFill>
                <a:latin typeface="宋体" panose="02010600030101010101" pitchFamily="2" charset="-122"/>
                <a:ea typeface="宋体" panose="02010600030101010101" pitchFamily="2" charset="-122"/>
              </a:rPr>
              <a:t> Encoder </a:t>
            </a:r>
            <a:r>
              <a:rPr lang="zh-CN" altLang="en-US" b="1">
                <a:solidFill>
                  <a:schemeClr val="accent1"/>
                </a:solidFill>
                <a:latin typeface="宋体" panose="02010600030101010101" pitchFamily="2" charset="-122"/>
                <a:ea typeface="宋体" panose="02010600030101010101" pitchFamily="2" charset="-122"/>
              </a:rPr>
              <a:t>的</a:t>
            </a:r>
            <a:r>
              <a:rPr lang="en-US" altLang="zh-CN" b="1">
                <a:solidFill>
                  <a:schemeClr val="accent1"/>
                </a:solidFill>
                <a:latin typeface="宋体" panose="02010600030101010101" pitchFamily="2" charset="-122"/>
                <a:ea typeface="宋体" panose="02010600030101010101" pitchFamily="2" charset="-122"/>
              </a:rPr>
              <a:t>Pooling </a:t>
            </a:r>
            <a:r>
              <a:rPr lang="zh-CN" altLang="en-US" b="1">
                <a:solidFill>
                  <a:schemeClr val="accent1"/>
                </a:solidFill>
                <a:latin typeface="宋体" panose="02010600030101010101" pitchFamily="2" charset="-122"/>
                <a:ea typeface="宋体" panose="02010600030101010101" pitchFamily="2" charset="-122"/>
              </a:rPr>
              <a:t>过程丢失的信息可以通过学习通过</a:t>
            </a:r>
            <a:r>
              <a:rPr lang="en-US" altLang="zh-CN" b="1">
                <a:solidFill>
                  <a:schemeClr val="accent1"/>
                </a:solidFill>
                <a:latin typeface="宋体" panose="02010600030101010101" pitchFamily="2" charset="-122"/>
                <a:ea typeface="宋体" panose="02010600030101010101" pitchFamily="2" charset="-122"/>
              </a:rPr>
              <a:t> Decoder </a:t>
            </a:r>
            <a:r>
              <a:rPr lang="zh-CN" altLang="en-US" b="1">
                <a:solidFill>
                  <a:schemeClr val="accent1"/>
                </a:solidFill>
                <a:latin typeface="宋体" panose="02010600030101010101" pitchFamily="2" charset="-122"/>
                <a:ea typeface="宋体" panose="02010600030101010101" pitchFamily="2" charset="-122"/>
              </a:rPr>
              <a:t>得到；</a:t>
            </a:r>
          </a:p>
          <a:p>
            <a:pPr indent="0" fontAlgn="auto">
              <a:lnSpc>
                <a:spcPct val="100000"/>
              </a:lnSpc>
              <a:spcBef>
                <a:spcPts val="600"/>
              </a:spcBef>
            </a:pPr>
            <a:r>
              <a:rPr lang="en-US" altLang="zh-CN" b="1">
                <a:solidFill>
                  <a:schemeClr val="accent1"/>
                </a:solidFill>
                <a:latin typeface="宋体" panose="02010600030101010101" pitchFamily="2" charset="-122"/>
                <a:ea typeface="宋体" panose="02010600030101010101" pitchFamily="2" charset="-122"/>
              </a:rPr>
              <a:t>3) </a:t>
            </a:r>
            <a:r>
              <a:rPr lang="zh-CN" altLang="en-US" b="1">
                <a:solidFill>
                  <a:schemeClr val="accent1"/>
                </a:solidFill>
                <a:latin typeface="宋体" panose="02010600030101010101" pitchFamily="2" charset="-122"/>
                <a:ea typeface="宋体" panose="02010600030101010101" pitchFamily="2" charset="-122"/>
              </a:rPr>
              <a:t>对上采样后的图像进行卷积处理，来完善图像中物体的几何形状，将</a:t>
            </a:r>
            <a:r>
              <a:rPr lang="en-US" altLang="zh-CN" b="1">
                <a:solidFill>
                  <a:schemeClr val="accent1"/>
                </a:solidFill>
                <a:latin typeface="宋体" panose="02010600030101010101" pitchFamily="2" charset="-122"/>
                <a:ea typeface="宋体" panose="02010600030101010101" pitchFamily="2" charset="-122"/>
              </a:rPr>
              <a:t> Encoder</a:t>
            </a:r>
            <a:r>
              <a:rPr lang="zh-CN" altLang="en-US" b="1">
                <a:solidFill>
                  <a:schemeClr val="accent1"/>
                </a:solidFill>
                <a:latin typeface="宋体" panose="02010600030101010101" pitchFamily="2" charset="-122"/>
                <a:ea typeface="宋体" panose="02010600030101010101" pitchFamily="2" charset="-122"/>
              </a:rPr>
              <a:t>中获得的特征还原到原来图像的具体的像素点上；</a:t>
            </a:r>
          </a:p>
          <a:p>
            <a:pPr indent="0" fontAlgn="auto">
              <a:lnSpc>
                <a:spcPct val="100000"/>
              </a:lnSpc>
              <a:spcBef>
                <a:spcPts val="600"/>
              </a:spcBef>
            </a:pPr>
            <a:r>
              <a:rPr lang="en-US" altLang="zh-CN" b="1">
                <a:solidFill>
                  <a:schemeClr val="accent1"/>
                </a:solidFill>
                <a:latin typeface="宋体" panose="02010600030101010101" pitchFamily="2" charset="-122"/>
                <a:ea typeface="宋体" panose="02010600030101010101" pitchFamily="2" charset="-122"/>
              </a:rPr>
              <a:t>4) </a:t>
            </a:r>
            <a:r>
              <a:rPr lang="zh-CN" altLang="en-US" b="1">
                <a:solidFill>
                  <a:schemeClr val="accent1"/>
                </a:solidFill>
                <a:latin typeface="宋体" panose="02010600030101010101" pitchFamily="2" charset="-122"/>
                <a:ea typeface="宋体" panose="02010600030101010101" pitchFamily="2" charset="-122"/>
              </a:rPr>
              <a:t>利用</a:t>
            </a:r>
            <a:r>
              <a:rPr lang="en-US" altLang="zh-CN" b="1">
                <a:solidFill>
                  <a:schemeClr val="accent1"/>
                </a:solidFill>
                <a:latin typeface="宋体" panose="02010600030101010101" pitchFamily="2" charset="-122"/>
                <a:ea typeface="宋体" panose="02010600030101010101" pitchFamily="2" charset="-122"/>
              </a:rPr>
              <a:t> Softmax </a:t>
            </a:r>
            <a:r>
              <a:rPr lang="zh-CN" altLang="en-US" b="1">
                <a:solidFill>
                  <a:schemeClr val="accent1"/>
                </a:solidFill>
                <a:latin typeface="宋体" panose="02010600030101010101" pitchFamily="2" charset="-122"/>
                <a:ea typeface="宋体" panose="02010600030101010101" pitchFamily="2" charset="-122"/>
              </a:rPr>
              <a:t>多分类器对</a:t>
            </a:r>
            <a:r>
              <a:rPr lang="en-US" altLang="zh-CN" b="1">
                <a:solidFill>
                  <a:schemeClr val="accent1"/>
                </a:solidFill>
                <a:latin typeface="宋体" panose="02010600030101010101" pitchFamily="2" charset="-122"/>
                <a:ea typeface="宋体" panose="02010600030101010101" pitchFamily="2" charset="-122"/>
              </a:rPr>
              <a:t> Decoder </a:t>
            </a:r>
            <a:r>
              <a:rPr lang="zh-CN" altLang="en-US" b="1">
                <a:solidFill>
                  <a:schemeClr val="accent1"/>
                </a:solidFill>
                <a:latin typeface="宋体" panose="02010600030101010101" pitchFamily="2" charset="-122"/>
                <a:ea typeface="宋体" panose="02010600030101010101" pitchFamily="2" charset="-122"/>
              </a:rPr>
              <a:t>输出的特征图进行逐像素分类。</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0" y="939798"/>
            <a:ext cx="5885180" cy="625474"/>
            <a:chOff x="0" y="1075267"/>
            <a:chExt cx="5885180" cy="625474"/>
          </a:xfrm>
        </p:grpSpPr>
        <p:sp>
          <p:nvSpPr>
            <p:cNvPr id="9" name="矩形 8"/>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71145" y="1157182"/>
              <a:ext cx="5614035" cy="460375"/>
            </a:xfrm>
            <a:prstGeom prst="rect">
              <a:avLst/>
            </a:prstGeom>
            <a:noFill/>
          </p:spPr>
          <p:txBody>
            <a:bodyPr wrap="square">
              <a:spAutoFit/>
            </a:bodyPr>
            <a:lstStyle/>
            <a:p>
              <a:r>
                <a:rPr lang="en-US" altLang="zh-CN" sz="2400" b="1" dirty="0">
                  <a:solidFill>
                    <a:schemeClr val="accent1"/>
                  </a:solidFill>
                  <a:latin typeface="+mj-lt"/>
                  <a:sym typeface="+mn-ea"/>
                </a:rPr>
                <a:t>5.3.1 </a:t>
              </a:r>
              <a:r>
                <a:rPr lang="zh-CN" altLang="en-US" sz="2400" b="1" dirty="0">
                  <a:solidFill>
                    <a:schemeClr val="accent1"/>
                  </a:solidFill>
                  <a:latin typeface="+mj-lt"/>
                  <a:sym typeface="+mn-ea"/>
                </a:rPr>
                <a:t>基于深度学习的视觉语义感知</a:t>
              </a:r>
              <a:endParaRPr lang="zh-CN" altLang="en-US" sz="2400" b="1" dirty="0">
                <a:solidFill>
                  <a:schemeClr val="accent1"/>
                </a:solidFill>
                <a:latin typeface="+mj-lt"/>
              </a:endParaRPr>
            </a:p>
          </p:txBody>
        </p:sp>
      </p:grpSp>
      <p:graphicFrame>
        <p:nvGraphicFramePr>
          <p:cNvPr id="13" name="对象 12"/>
          <p:cNvGraphicFramePr>
            <a:graphicFrameLocks noChangeAspect="1"/>
          </p:cNvGraphicFramePr>
          <p:nvPr/>
        </p:nvGraphicFramePr>
        <p:xfrm>
          <a:off x="3073400" y="3327400"/>
          <a:ext cx="914400" cy="198438"/>
        </p:xfrm>
        <a:graphic>
          <a:graphicData uri="http://schemas.openxmlformats.org/presentationml/2006/ole">
            <mc:AlternateContent xmlns:mc="http://schemas.openxmlformats.org/markup-compatibility/2006">
              <mc:Choice xmlns:v="urn:schemas-microsoft-com:vml" Requires="v">
                <p:oleObj name="Equation" r:id="rId3" imgW="2743200" imgH="4267200" progId="Equation.DSMT4">
                  <p:embed/>
                </p:oleObj>
              </mc:Choice>
              <mc:Fallback>
                <p:oleObj name="Equation" r:id="rId3" imgW="2743200" imgH="4267200" progId="Equation.DSMT4">
                  <p:embed/>
                  <p:pic>
                    <p:nvPicPr>
                      <p:cNvPr id="13" name="对象 12"/>
                      <p:cNvPicPr/>
                      <p:nvPr/>
                    </p:nvPicPr>
                    <p:blipFill>
                      <a:blip r:embed="rId4"/>
                      <a:stretch>
                        <a:fillRect/>
                      </a:stretch>
                    </p:blipFill>
                    <p:spPr>
                      <a:xfrm>
                        <a:off x="3073400" y="3327400"/>
                        <a:ext cx="914400" cy="198438"/>
                      </a:xfrm>
                      <a:prstGeom prst="rect">
                        <a:avLst/>
                      </a:prstGeom>
                    </p:spPr>
                  </p:pic>
                </p:oleObj>
              </mc:Fallback>
            </mc:AlternateContent>
          </a:graphicData>
        </a:graphic>
      </p:graphicFrame>
      <p:sp>
        <p:nvSpPr>
          <p:cNvPr id="34" name="文本框 33"/>
          <p:cNvSpPr txBox="1"/>
          <p:nvPr/>
        </p:nvSpPr>
        <p:spPr>
          <a:xfrm>
            <a:off x="473075" y="1689100"/>
            <a:ext cx="4230370" cy="398780"/>
          </a:xfrm>
          <a:prstGeom prst="rect">
            <a:avLst/>
          </a:prstGeom>
        </p:spPr>
        <p:txBody>
          <a:bodyPr wrap="square">
            <a:spAutoFit/>
          </a:bodyPr>
          <a:lstStyle/>
          <a:p>
            <a:r>
              <a:rPr lang="en-US" altLang="zh-CN" sz="2000" b="1">
                <a:solidFill>
                  <a:schemeClr val="tx1"/>
                </a:solidFill>
                <a:latin typeface="宋体" panose="02010600030101010101" pitchFamily="2" charset="-122"/>
                <a:ea typeface="宋体" panose="02010600030101010101" pitchFamily="2" charset="-122"/>
              </a:rPr>
              <a:t>SegNet</a:t>
            </a:r>
            <a:r>
              <a:rPr lang="zh-CN" altLang="en-US" sz="2000" b="1">
                <a:solidFill>
                  <a:schemeClr val="tx1"/>
                </a:solidFill>
                <a:latin typeface="宋体" panose="02010600030101010101" pitchFamily="2" charset="-122"/>
                <a:ea typeface="宋体" panose="02010600030101010101" pitchFamily="2" charset="-122"/>
              </a:rPr>
              <a:t>和</a:t>
            </a:r>
            <a:r>
              <a:rPr lang="en-US" altLang="zh-CN" sz="2000" b="1">
                <a:solidFill>
                  <a:schemeClr val="tx1"/>
                </a:solidFill>
                <a:latin typeface="宋体" panose="02010600030101010101" pitchFamily="2" charset="-122"/>
                <a:ea typeface="宋体" panose="02010600030101010101" pitchFamily="2" charset="-122"/>
              </a:rPr>
              <a:t>FCN </a:t>
            </a:r>
            <a:r>
              <a:rPr lang="zh-CN" altLang="en-US" sz="2000" b="1">
                <a:solidFill>
                  <a:schemeClr val="tx1"/>
                </a:solidFill>
                <a:latin typeface="宋体" panose="02010600030101010101" pitchFamily="2" charset="-122"/>
                <a:ea typeface="宋体" panose="02010600030101010101" pitchFamily="2" charset="-122"/>
              </a:rPr>
              <a:t>上采用方法对比</a:t>
            </a:r>
          </a:p>
        </p:txBody>
      </p:sp>
      <p:pic>
        <p:nvPicPr>
          <p:cNvPr id="2" name="图片 1"/>
          <p:cNvPicPr>
            <a:picLocks noChangeAspect="1"/>
          </p:cNvPicPr>
          <p:nvPr/>
        </p:nvPicPr>
        <p:blipFill>
          <a:blip r:embed="rId5"/>
          <a:srcRect t="2079" r="-258"/>
          <a:stretch>
            <a:fillRect/>
          </a:stretch>
        </p:blipFill>
        <p:spPr>
          <a:xfrm>
            <a:off x="1748790" y="2211705"/>
            <a:ext cx="8470900" cy="420497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939798"/>
            <a:ext cx="5743575" cy="625474"/>
            <a:chOff x="0" y="1075267"/>
            <a:chExt cx="5743575"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5472430" cy="460375"/>
            </a:xfrm>
            <a:prstGeom prst="rect">
              <a:avLst/>
            </a:prstGeom>
            <a:noFill/>
          </p:spPr>
          <p:txBody>
            <a:bodyPr wrap="square">
              <a:spAutoFit/>
            </a:bodyPr>
            <a:lstStyle/>
            <a:p>
              <a:r>
                <a:rPr lang="en-US" altLang="zh-CN" sz="2400" b="1" dirty="0">
                  <a:solidFill>
                    <a:schemeClr val="accent1"/>
                  </a:solidFill>
                  <a:latin typeface="+mj-lt"/>
                </a:rPr>
                <a:t>5.3.2 </a:t>
              </a:r>
              <a:r>
                <a:rPr lang="zh-CN" altLang="en-US" sz="2400" b="1" dirty="0">
                  <a:solidFill>
                    <a:schemeClr val="accent1"/>
                  </a:solidFill>
                  <a:latin typeface="+mj-lt"/>
                </a:rPr>
                <a:t>基于深度学习的机器人状态估计</a:t>
              </a:r>
            </a:p>
          </p:txBody>
        </p:sp>
      </p:grpSp>
      <p:pic>
        <p:nvPicPr>
          <p:cNvPr id="85" name="Google Shape;85;p13" descr="image.png"/>
          <p:cNvPicPr preferRelativeResize="0"/>
          <p:nvPr/>
        </p:nvPicPr>
        <p:blipFill rotWithShape="1">
          <a:blip r:embed="rId3"/>
          <a:srcRect/>
          <a:stretch>
            <a:fillRect/>
          </a:stretch>
        </p:blipFill>
        <p:spPr>
          <a:xfrm>
            <a:off x="571500" y="1687830"/>
            <a:ext cx="5086985" cy="4976495"/>
          </a:xfrm>
          <a:prstGeom prst="rect">
            <a:avLst/>
          </a:prstGeom>
          <a:noFill/>
          <a:ln>
            <a:noFill/>
          </a:ln>
        </p:spPr>
      </p:pic>
      <p:pic>
        <p:nvPicPr>
          <p:cNvPr id="90" name="Google Shape;90;p13" descr="image.png"/>
          <p:cNvPicPr preferRelativeResize="0"/>
          <p:nvPr/>
        </p:nvPicPr>
        <p:blipFill rotWithShape="1">
          <a:blip r:embed="rId4"/>
          <a:srcRect/>
          <a:stretch>
            <a:fillRect/>
          </a:stretch>
        </p:blipFill>
        <p:spPr>
          <a:xfrm>
            <a:off x="809625" y="1841748"/>
            <a:ext cx="285750" cy="285750"/>
          </a:xfrm>
          <a:prstGeom prst="rect">
            <a:avLst/>
          </a:prstGeom>
          <a:noFill/>
          <a:ln>
            <a:noFill/>
          </a:ln>
        </p:spPr>
      </p:pic>
      <p:sp>
        <p:nvSpPr>
          <p:cNvPr id="91" name="Google Shape;91;p13"/>
          <p:cNvSpPr txBox="1"/>
          <p:nvPr/>
        </p:nvSpPr>
        <p:spPr>
          <a:xfrm>
            <a:off x="1238250" y="1817935"/>
            <a:ext cx="2628922" cy="299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19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纯</a:t>
            </a:r>
            <a:r>
              <a:rPr lang="en-US" sz="19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惯性导航 (AI-IMU)</a:t>
            </a:r>
          </a:p>
        </p:txBody>
      </p:sp>
      <p:sp>
        <p:nvSpPr>
          <p:cNvPr id="93" name="Google Shape;93;p13"/>
          <p:cNvSpPr txBox="1"/>
          <p:nvPr/>
        </p:nvSpPr>
        <p:spPr>
          <a:xfrm>
            <a:off x="1066800" y="4934515"/>
            <a:ext cx="45910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核心突破：</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解决噪声矩阵自适应估计与测量模型构建。</a:t>
            </a:r>
          </a:p>
        </p:txBody>
      </p:sp>
      <p:sp>
        <p:nvSpPr>
          <p:cNvPr id="94" name="Google Shape;94;p13"/>
          <p:cNvSpPr txBox="1"/>
          <p:nvPr/>
        </p:nvSpPr>
        <p:spPr>
          <a:xfrm>
            <a:off x="1066800" y="5304055"/>
            <a:ext cx="45910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非端到端学习：</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使用 </a:t>
            </a: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CNN 估计过程噪声</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，提高鲁棒性。</a:t>
            </a:r>
          </a:p>
        </p:txBody>
      </p:sp>
      <p:sp>
        <p:nvSpPr>
          <p:cNvPr id="95" name="Google Shape;95;p13"/>
          <p:cNvSpPr txBox="1"/>
          <p:nvPr/>
        </p:nvSpPr>
        <p:spPr>
          <a:xfrm>
            <a:off x="1066800" y="5673596"/>
            <a:ext cx="45910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典型代表：</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AI-IMU</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将速度约束引入不变卡尔曼滤波。</a:t>
            </a:r>
          </a:p>
        </p:txBody>
      </p:sp>
      <p:sp>
        <p:nvSpPr>
          <p:cNvPr id="96" name="Google Shape;96;p13"/>
          <p:cNvSpPr txBox="1"/>
          <p:nvPr/>
        </p:nvSpPr>
        <p:spPr>
          <a:xfrm>
            <a:off x="1066800" y="6043136"/>
            <a:ext cx="45910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性能表现：</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显著抑制惯性系统发散，提升定位精度。</a:t>
            </a:r>
          </a:p>
        </p:txBody>
      </p:sp>
      <p:pic>
        <p:nvPicPr>
          <p:cNvPr id="109" name="Google Shape;109;p13" descr="image.png"/>
          <p:cNvPicPr preferRelativeResize="0"/>
          <p:nvPr/>
        </p:nvPicPr>
        <p:blipFill rotWithShape="1">
          <a:blip r:embed="rId5"/>
          <a:srcRect/>
          <a:stretch>
            <a:fillRect/>
          </a:stretch>
        </p:blipFill>
        <p:spPr>
          <a:xfrm>
            <a:off x="809625" y="5056435"/>
            <a:ext cx="152400" cy="152400"/>
          </a:xfrm>
          <a:prstGeom prst="rect">
            <a:avLst/>
          </a:prstGeom>
          <a:noFill/>
          <a:ln>
            <a:noFill/>
          </a:ln>
        </p:spPr>
      </p:pic>
      <p:pic>
        <p:nvPicPr>
          <p:cNvPr id="110" name="Google Shape;110;p13" descr="image.png"/>
          <p:cNvPicPr preferRelativeResize="0"/>
          <p:nvPr/>
        </p:nvPicPr>
        <p:blipFill rotWithShape="1">
          <a:blip r:embed="rId5"/>
          <a:srcRect/>
          <a:stretch>
            <a:fillRect/>
          </a:stretch>
        </p:blipFill>
        <p:spPr>
          <a:xfrm>
            <a:off x="809625" y="5425975"/>
            <a:ext cx="152400" cy="152400"/>
          </a:xfrm>
          <a:prstGeom prst="rect">
            <a:avLst/>
          </a:prstGeom>
          <a:noFill/>
          <a:ln>
            <a:noFill/>
          </a:ln>
        </p:spPr>
      </p:pic>
      <p:pic>
        <p:nvPicPr>
          <p:cNvPr id="111" name="Google Shape;111;p13" descr="image.png"/>
          <p:cNvPicPr preferRelativeResize="0"/>
          <p:nvPr/>
        </p:nvPicPr>
        <p:blipFill rotWithShape="1">
          <a:blip r:embed="rId5"/>
          <a:srcRect/>
          <a:stretch>
            <a:fillRect/>
          </a:stretch>
        </p:blipFill>
        <p:spPr>
          <a:xfrm>
            <a:off x="809625" y="5795516"/>
            <a:ext cx="152400" cy="152400"/>
          </a:xfrm>
          <a:prstGeom prst="rect">
            <a:avLst/>
          </a:prstGeom>
          <a:noFill/>
          <a:ln>
            <a:noFill/>
          </a:ln>
        </p:spPr>
      </p:pic>
      <p:pic>
        <p:nvPicPr>
          <p:cNvPr id="112" name="Google Shape;112;p13" descr="image.png"/>
          <p:cNvPicPr preferRelativeResize="0"/>
          <p:nvPr/>
        </p:nvPicPr>
        <p:blipFill rotWithShape="1">
          <a:blip r:embed="rId5"/>
          <a:srcRect/>
          <a:stretch>
            <a:fillRect/>
          </a:stretch>
        </p:blipFill>
        <p:spPr>
          <a:xfrm>
            <a:off x="809625" y="6165056"/>
            <a:ext cx="152400" cy="152400"/>
          </a:xfrm>
          <a:prstGeom prst="rect">
            <a:avLst/>
          </a:prstGeom>
          <a:noFill/>
          <a:ln>
            <a:noFill/>
          </a:ln>
        </p:spPr>
      </p:pic>
      <p:pic>
        <p:nvPicPr>
          <p:cNvPr id="86" name="Google Shape;86;p13" descr="image.png"/>
          <p:cNvPicPr preferRelativeResize="0"/>
          <p:nvPr/>
        </p:nvPicPr>
        <p:blipFill rotWithShape="1">
          <a:blip r:embed="rId3"/>
          <a:srcRect/>
          <a:stretch>
            <a:fillRect/>
          </a:stretch>
        </p:blipFill>
        <p:spPr>
          <a:xfrm>
            <a:off x="6047740" y="1687830"/>
            <a:ext cx="5184140" cy="4975860"/>
          </a:xfrm>
          <a:prstGeom prst="rect">
            <a:avLst/>
          </a:prstGeom>
          <a:noFill/>
          <a:ln>
            <a:noFill/>
          </a:ln>
        </p:spPr>
      </p:pic>
      <p:pic>
        <p:nvPicPr>
          <p:cNvPr id="99" name="Google Shape;99;p13" descr="image.png"/>
          <p:cNvPicPr preferRelativeResize="0"/>
          <p:nvPr/>
        </p:nvPicPr>
        <p:blipFill rotWithShape="1">
          <a:blip r:embed="rId6"/>
          <a:srcRect/>
          <a:stretch>
            <a:fillRect/>
          </a:stretch>
        </p:blipFill>
        <p:spPr>
          <a:xfrm>
            <a:off x="6295390" y="1926203"/>
            <a:ext cx="285750" cy="285750"/>
          </a:xfrm>
          <a:prstGeom prst="rect">
            <a:avLst/>
          </a:prstGeom>
          <a:noFill/>
          <a:ln>
            <a:noFill/>
          </a:ln>
        </p:spPr>
      </p:pic>
      <p:sp>
        <p:nvSpPr>
          <p:cNvPr id="100" name="Google Shape;100;p13"/>
          <p:cNvSpPr txBox="1"/>
          <p:nvPr/>
        </p:nvSpPr>
        <p:spPr>
          <a:xfrm>
            <a:off x="6714490" y="1925885"/>
            <a:ext cx="260032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视觉里程计与多源融合</a:t>
            </a:r>
          </a:p>
        </p:txBody>
      </p:sp>
      <p:sp>
        <p:nvSpPr>
          <p:cNvPr id="102" name="Google Shape;102;p13"/>
          <p:cNvSpPr txBox="1"/>
          <p:nvPr/>
        </p:nvSpPr>
        <p:spPr>
          <a:xfrm>
            <a:off x="6552565" y="5029765"/>
            <a:ext cx="45910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视觉里程计 (VO)：</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分为有监督学习与无监督学习两类。</a:t>
            </a:r>
          </a:p>
        </p:txBody>
      </p:sp>
      <p:sp>
        <p:nvSpPr>
          <p:cNvPr id="103" name="Google Shape;103;p13"/>
          <p:cNvSpPr txBox="1"/>
          <p:nvPr/>
        </p:nvSpPr>
        <p:spPr>
          <a:xfrm>
            <a:off x="6552565" y="5399305"/>
            <a:ext cx="45910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无监督学习：</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利用 </a:t>
            </a: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几何约束</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自行生成监督信息进行训练。</a:t>
            </a:r>
          </a:p>
        </p:txBody>
      </p:sp>
      <p:sp>
        <p:nvSpPr>
          <p:cNvPr id="104" name="Google Shape;104;p13"/>
          <p:cNvSpPr txBox="1"/>
          <p:nvPr/>
        </p:nvSpPr>
        <p:spPr>
          <a:xfrm>
            <a:off x="6552565" y="5768846"/>
            <a:ext cx="45910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多源深度融合：</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将 </a:t>
            </a: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惯性数据与视觉数据</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结合进行估计。</a:t>
            </a:r>
          </a:p>
        </p:txBody>
      </p:sp>
      <p:sp>
        <p:nvSpPr>
          <p:cNvPr id="105" name="Google Shape;105;p13"/>
          <p:cNvSpPr txBox="1"/>
          <p:nvPr/>
        </p:nvSpPr>
        <p:spPr>
          <a:xfrm>
            <a:off x="6552565" y="6138386"/>
            <a:ext cx="45910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应用价值：</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解决单目尺度不确定性，增强动态环境适应性。</a:t>
            </a:r>
          </a:p>
        </p:txBody>
      </p:sp>
      <p:pic>
        <p:nvPicPr>
          <p:cNvPr id="113" name="Google Shape;113;p13" descr="image.png"/>
          <p:cNvPicPr preferRelativeResize="0"/>
          <p:nvPr/>
        </p:nvPicPr>
        <p:blipFill rotWithShape="1">
          <a:blip r:embed="rId5"/>
          <a:srcRect/>
          <a:stretch>
            <a:fillRect/>
          </a:stretch>
        </p:blipFill>
        <p:spPr>
          <a:xfrm>
            <a:off x="6285865" y="5164385"/>
            <a:ext cx="152400" cy="152400"/>
          </a:xfrm>
          <a:prstGeom prst="rect">
            <a:avLst/>
          </a:prstGeom>
          <a:noFill/>
          <a:ln>
            <a:noFill/>
          </a:ln>
        </p:spPr>
      </p:pic>
      <p:pic>
        <p:nvPicPr>
          <p:cNvPr id="114" name="Google Shape;114;p13" descr="image.png"/>
          <p:cNvPicPr preferRelativeResize="0"/>
          <p:nvPr/>
        </p:nvPicPr>
        <p:blipFill rotWithShape="1">
          <a:blip r:embed="rId5"/>
          <a:srcRect/>
          <a:stretch>
            <a:fillRect/>
          </a:stretch>
        </p:blipFill>
        <p:spPr>
          <a:xfrm>
            <a:off x="6285865" y="5533925"/>
            <a:ext cx="152400" cy="152400"/>
          </a:xfrm>
          <a:prstGeom prst="rect">
            <a:avLst/>
          </a:prstGeom>
          <a:noFill/>
          <a:ln>
            <a:noFill/>
          </a:ln>
        </p:spPr>
      </p:pic>
      <p:pic>
        <p:nvPicPr>
          <p:cNvPr id="115" name="Google Shape;115;p13" descr="image.png"/>
          <p:cNvPicPr preferRelativeResize="0"/>
          <p:nvPr/>
        </p:nvPicPr>
        <p:blipFill rotWithShape="1">
          <a:blip r:embed="rId5"/>
          <a:srcRect/>
          <a:stretch>
            <a:fillRect/>
          </a:stretch>
        </p:blipFill>
        <p:spPr>
          <a:xfrm>
            <a:off x="6285865" y="5903466"/>
            <a:ext cx="152400" cy="152400"/>
          </a:xfrm>
          <a:prstGeom prst="rect">
            <a:avLst/>
          </a:prstGeom>
          <a:noFill/>
          <a:ln>
            <a:noFill/>
          </a:ln>
        </p:spPr>
      </p:pic>
      <p:pic>
        <p:nvPicPr>
          <p:cNvPr id="116" name="Google Shape;116;p13" descr="image.png"/>
          <p:cNvPicPr preferRelativeResize="0"/>
          <p:nvPr/>
        </p:nvPicPr>
        <p:blipFill rotWithShape="1">
          <a:blip r:embed="rId5"/>
          <a:srcRect/>
          <a:stretch>
            <a:fillRect/>
          </a:stretch>
        </p:blipFill>
        <p:spPr>
          <a:xfrm>
            <a:off x="6285865" y="6273006"/>
            <a:ext cx="152400" cy="152400"/>
          </a:xfrm>
          <a:prstGeom prst="rect">
            <a:avLst/>
          </a:prstGeom>
          <a:noFill/>
          <a:ln>
            <a:noFill/>
          </a:ln>
        </p:spPr>
      </p:pic>
      <p:pic>
        <p:nvPicPr>
          <p:cNvPr id="6" name="图片 5"/>
          <p:cNvPicPr/>
          <p:nvPr/>
        </p:nvPicPr>
        <p:blipFill>
          <a:blip r:embed="rId7"/>
          <a:stretch>
            <a:fillRect/>
          </a:stretch>
        </p:blipFill>
        <p:spPr>
          <a:xfrm>
            <a:off x="6285865" y="2360295"/>
            <a:ext cx="4558665" cy="2586990"/>
          </a:xfrm>
          <a:prstGeom prst="rect">
            <a:avLst/>
          </a:prstGeom>
        </p:spPr>
      </p:pic>
      <p:pic>
        <p:nvPicPr>
          <p:cNvPr id="7" name="图片 6"/>
          <p:cNvPicPr/>
          <p:nvPr/>
        </p:nvPicPr>
        <p:blipFill>
          <a:blip r:embed="rId8"/>
          <a:stretch>
            <a:fillRect/>
          </a:stretch>
        </p:blipFill>
        <p:spPr>
          <a:xfrm>
            <a:off x="1095375" y="2256155"/>
            <a:ext cx="3935730" cy="26352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939798"/>
            <a:ext cx="5743575" cy="625474"/>
            <a:chOff x="0" y="1075267"/>
            <a:chExt cx="5743575"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5472430" cy="460375"/>
            </a:xfrm>
            <a:prstGeom prst="rect">
              <a:avLst/>
            </a:prstGeom>
            <a:noFill/>
          </p:spPr>
          <p:txBody>
            <a:bodyPr wrap="square">
              <a:spAutoFit/>
            </a:bodyPr>
            <a:lstStyle/>
            <a:p>
              <a:r>
                <a:rPr lang="en-US" altLang="zh-CN" sz="2400" b="1" dirty="0">
                  <a:solidFill>
                    <a:schemeClr val="accent1"/>
                  </a:solidFill>
                  <a:latin typeface="+mj-lt"/>
                </a:rPr>
                <a:t>5.3.2 </a:t>
              </a:r>
              <a:r>
                <a:rPr lang="zh-CN" altLang="en-US" sz="2400" b="1" dirty="0">
                  <a:solidFill>
                    <a:schemeClr val="accent1"/>
                  </a:solidFill>
                  <a:latin typeface="+mj-lt"/>
                </a:rPr>
                <a:t>基于深度学习的机器人状态估计</a:t>
              </a:r>
            </a:p>
          </p:txBody>
        </p:sp>
      </p:grpSp>
      <p:pic>
        <p:nvPicPr>
          <p:cNvPr id="87" name="Google Shape;87;p13" descr="image.png"/>
          <p:cNvPicPr preferRelativeResize="0"/>
          <p:nvPr/>
        </p:nvPicPr>
        <p:blipFill rotWithShape="1">
          <a:blip r:embed="rId15"/>
          <a:srcRect/>
          <a:stretch>
            <a:fillRect/>
          </a:stretch>
        </p:blipFill>
        <p:spPr>
          <a:xfrm>
            <a:off x="6064250" y="5473065"/>
            <a:ext cx="5191125" cy="1157882"/>
          </a:xfrm>
          <a:prstGeom prst="rect">
            <a:avLst/>
          </a:prstGeom>
          <a:solidFill>
            <a:schemeClr val="bg1">
              <a:lumMod val="95000"/>
            </a:schemeClr>
          </a:solidFill>
          <a:ln>
            <a:noFill/>
          </a:ln>
        </p:spPr>
      </p:pic>
      <p:pic>
        <p:nvPicPr>
          <p:cNvPr id="88" name="Google Shape;88;p13" descr="image.png"/>
          <p:cNvPicPr preferRelativeResize="0"/>
          <p:nvPr>
            <p:custDataLst>
              <p:tags r:id="rId1"/>
            </p:custDataLst>
          </p:nvPr>
        </p:nvPicPr>
        <p:blipFill rotWithShape="1">
          <a:blip r:embed="rId16"/>
          <a:srcRect/>
          <a:stretch>
            <a:fillRect/>
          </a:stretch>
        </p:blipFill>
        <p:spPr>
          <a:xfrm>
            <a:off x="396875" y="2186940"/>
            <a:ext cx="5191125" cy="838200"/>
          </a:xfrm>
          <a:prstGeom prst="rect">
            <a:avLst/>
          </a:prstGeom>
          <a:noFill/>
          <a:ln>
            <a:noFill/>
          </a:ln>
        </p:spPr>
      </p:pic>
      <p:pic>
        <p:nvPicPr>
          <p:cNvPr id="89" name="Google Shape;89;p13" descr="image.png"/>
          <p:cNvPicPr preferRelativeResize="0"/>
          <p:nvPr>
            <p:custDataLst>
              <p:tags r:id="rId2"/>
            </p:custDataLst>
          </p:nvPr>
        </p:nvPicPr>
        <p:blipFill rotWithShape="1">
          <a:blip r:embed="rId17"/>
          <a:srcRect/>
          <a:stretch>
            <a:fillRect/>
          </a:stretch>
        </p:blipFill>
        <p:spPr>
          <a:xfrm>
            <a:off x="396875" y="3168015"/>
            <a:ext cx="5191125" cy="838200"/>
          </a:xfrm>
          <a:prstGeom prst="rect">
            <a:avLst/>
          </a:prstGeom>
          <a:noFill/>
          <a:ln>
            <a:noFill/>
          </a:ln>
        </p:spPr>
      </p:pic>
      <p:pic>
        <p:nvPicPr>
          <p:cNvPr id="7" name="Google Shape;90;p13" descr="image.png"/>
          <p:cNvPicPr preferRelativeResize="0"/>
          <p:nvPr>
            <p:custDataLst>
              <p:tags r:id="rId3"/>
            </p:custDataLst>
          </p:nvPr>
        </p:nvPicPr>
        <p:blipFill rotWithShape="1">
          <a:blip r:embed="rId17"/>
          <a:srcRect/>
          <a:stretch>
            <a:fillRect/>
          </a:stretch>
        </p:blipFill>
        <p:spPr>
          <a:xfrm>
            <a:off x="396875" y="4149090"/>
            <a:ext cx="5191125" cy="838200"/>
          </a:xfrm>
          <a:prstGeom prst="rect">
            <a:avLst/>
          </a:prstGeom>
          <a:noFill/>
          <a:ln>
            <a:noFill/>
          </a:ln>
        </p:spPr>
      </p:pic>
      <p:pic>
        <p:nvPicPr>
          <p:cNvPr id="8" name="Google Shape;91;p13" descr="image.png"/>
          <p:cNvPicPr preferRelativeResize="0"/>
          <p:nvPr>
            <p:custDataLst>
              <p:tags r:id="rId4"/>
            </p:custDataLst>
          </p:nvPr>
        </p:nvPicPr>
        <p:blipFill rotWithShape="1">
          <a:blip r:embed="rId17"/>
          <a:srcRect/>
          <a:stretch>
            <a:fillRect/>
          </a:stretch>
        </p:blipFill>
        <p:spPr>
          <a:xfrm>
            <a:off x="396875" y="5130165"/>
            <a:ext cx="5191125" cy="838200"/>
          </a:xfrm>
          <a:prstGeom prst="rect">
            <a:avLst/>
          </a:prstGeom>
          <a:noFill/>
          <a:ln>
            <a:noFill/>
          </a:ln>
        </p:spPr>
      </p:pic>
      <p:sp>
        <p:nvSpPr>
          <p:cNvPr id="11" name="Google Shape;96;p13"/>
          <p:cNvSpPr txBox="1"/>
          <p:nvPr/>
        </p:nvSpPr>
        <p:spPr>
          <a:xfrm>
            <a:off x="768350" y="1695768"/>
            <a:ext cx="4819650" cy="27686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zh-CN" altLang="en-US" sz="18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惯性基组合导航（</a:t>
            </a:r>
            <a:r>
              <a:rPr lang="en-US" altLang="zh-CN" sz="18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AI-IMU</a:t>
            </a:r>
            <a:r>
              <a:rPr lang="zh-CN" altLang="en-US" sz="18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97" name="Google Shape;97;p13"/>
          <p:cNvSpPr txBox="1"/>
          <p:nvPr/>
        </p:nvSpPr>
        <p:spPr>
          <a:xfrm>
            <a:off x="6407150" y="1227455"/>
            <a:ext cx="4848225" cy="3333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KITTI 数据集性能表现</a:t>
            </a:r>
          </a:p>
        </p:txBody>
      </p:sp>
      <p:pic>
        <p:nvPicPr>
          <p:cNvPr id="98" name="Google Shape;98;p13" descr="image.png"/>
          <p:cNvPicPr preferRelativeResize="0"/>
          <p:nvPr/>
        </p:nvPicPr>
        <p:blipFill rotWithShape="1">
          <a:blip r:embed="rId18"/>
          <a:srcRect/>
          <a:stretch>
            <a:fillRect/>
          </a:stretch>
        </p:blipFill>
        <p:spPr>
          <a:xfrm>
            <a:off x="396875" y="1667827"/>
            <a:ext cx="257175" cy="228600"/>
          </a:xfrm>
          <a:prstGeom prst="rect">
            <a:avLst/>
          </a:prstGeom>
          <a:noFill/>
          <a:ln>
            <a:noFill/>
          </a:ln>
        </p:spPr>
      </p:pic>
      <p:pic>
        <p:nvPicPr>
          <p:cNvPr id="12" name="Google Shape;99;p13" descr="image.png"/>
          <p:cNvPicPr preferRelativeResize="0"/>
          <p:nvPr/>
        </p:nvPicPr>
        <p:blipFill rotWithShape="1">
          <a:blip r:embed="rId19"/>
          <a:srcRect/>
          <a:stretch>
            <a:fillRect/>
          </a:stretch>
        </p:blipFill>
        <p:spPr>
          <a:xfrm>
            <a:off x="6064250" y="1279842"/>
            <a:ext cx="228600" cy="228600"/>
          </a:xfrm>
          <a:prstGeom prst="rect">
            <a:avLst/>
          </a:prstGeom>
          <a:noFill/>
          <a:ln>
            <a:noFill/>
          </a:ln>
        </p:spPr>
      </p:pic>
      <p:sp>
        <p:nvSpPr>
          <p:cNvPr id="14" name="Google Shape;102;p13"/>
          <p:cNvSpPr txBox="1"/>
          <p:nvPr>
            <p:custDataLst>
              <p:tags r:id="rId5"/>
            </p:custDataLst>
          </p:nvPr>
        </p:nvSpPr>
        <p:spPr>
          <a:xfrm>
            <a:off x="625475" y="2358390"/>
            <a:ext cx="3300412"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噪声适配器 (CNN)</a:t>
            </a:r>
          </a:p>
        </p:txBody>
      </p:sp>
      <p:sp>
        <p:nvSpPr>
          <p:cNvPr id="15" name="Google Shape;103;p13"/>
          <p:cNvSpPr txBox="1"/>
          <p:nvPr>
            <p:custDataLst>
              <p:tags r:id="rId6"/>
            </p:custDataLst>
          </p:nvPr>
        </p:nvSpPr>
        <p:spPr>
          <a:xfrm>
            <a:off x="625475" y="2653665"/>
            <a:ext cx="3143250" cy="20002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25" b="0" i="0" u="none" strike="noStrike" cap="non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自适应预测量测噪声矩阵，辅助滤波器抑制发散。</a:t>
            </a:r>
          </a:p>
        </p:txBody>
      </p:sp>
      <p:sp>
        <p:nvSpPr>
          <p:cNvPr id="16" name="Google Shape;104;p13"/>
          <p:cNvSpPr txBox="1"/>
          <p:nvPr>
            <p:custDataLst>
              <p:tags r:id="rId7"/>
            </p:custDataLst>
          </p:nvPr>
        </p:nvSpPr>
        <p:spPr>
          <a:xfrm>
            <a:off x="625475" y="3339465"/>
            <a:ext cx="3250406"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惯导解算</a:t>
            </a:r>
          </a:p>
        </p:txBody>
      </p:sp>
      <p:sp>
        <p:nvSpPr>
          <p:cNvPr id="17" name="Google Shape;105;p13"/>
          <p:cNvSpPr txBox="1"/>
          <p:nvPr>
            <p:custDataLst>
              <p:tags r:id="rId8"/>
            </p:custDataLst>
          </p:nvPr>
        </p:nvSpPr>
        <p:spPr>
          <a:xfrm>
            <a:off x="625475" y="3634740"/>
            <a:ext cx="4024630" cy="2425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25" b="0" i="0" u="none" strike="noStrike" cap="non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a:t>
            </a:r>
            <a:r>
              <a:rPr lang="zh-CN" altLang="en-US" sz="1125" b="0" i="0" u="none" strike="noStrike" cap="non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加速度计、陀螺仪数据</a:t>
            </a:r>
            <a:r>
              <a:rPr lang="en-US" sz="1125" b="0" i="0" u="none" strike="noStrike" cap="non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数据递归更新位置、速度与姿态。</a:t>
            </a:r>
          </a:p>
        </p:txBody>
      </p:sp>
      <p:sp>
        <p:nvSpPr>
          <p:cNvPr id="106" name="Google Shape;106;p13"/>
          <p:cNvSpPr txBox="1"/>
          <p:nvPr>
            <p:custDataLst>
              <p:tags r:id="rId9"/>
            </p:custDataLst>
          </p:nvPr>
        </p:nvSpPr>
        <p:spPr>
          <a:xfrm>
            <a:off x="625475" y="4320540"/>
            <a:ext cx="2910363"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速度约束</a:t>
            </a:r>
          </a:p>
        </p:txBody>
      </p:sp>
      <p:sp>
        <p:nvSpPr>
          <p:cNvPr id="107" name="Google Shape;107;p13"/>
          <p:cNvSpPr txBox="1"/>
          <p:nvPr>
            <p:custDataLst>
              <p:tags r:id="rId10"/>
            </p:custDataLst>
          </p:nvPr>
        </p:nvSpPr>
        <p:spPr>
          <a:xfrm>
            <a:off x="625475" y="4615815"/>
            <a:ext cx="2771775" cy="20002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25" b="0" i="0" u="none" strike="noStrike" cap="non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基于汽车横向/垂直速度为零的运动学假设。</a:t>
            </a:r>
          </a:p>
        </p:txBody>
      </p:sp>
      <p:sp>
        <p:nvSpPr>
          <p:cNvPr id="108" name="Google Shape;108;p13"/>
          <p:cNvSpPr txBox="1"/>
          <p:nvPr>
            <p:custDataLst>
              <p:tags r:id="rId11"/>
            </p:custDataLst>
          </p:nvPr>
        </p:nvSpPr>
        <p:spPr>
          <a:xfrm>
            <a:off x="625475" y="5301615"/>
            <a:ext cx="300037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不变扩展卡尔曼滤波 (IEKF)</a:t>
            </a:r>
          </a:p>
        </p:txBody>
      </p:sp>
      <p:sp>
        <p:nvSpPr>
          <p:cNvPr id="18" name="Google Shape;109;p13"/>
          <p:cNvSpPr txBox="1"/>
          <p:nvPr>
            <p:custDataLst>
              <p:tags r:id="rId12"/>
            </p:custDataLst>
          </p:nvPr>
        </p:nvSpPr>
        <p:spPr>
          <a:xfrm>
            <a:off x="625475" y="5596890"/>
            <a:ext cx="2857500" cy="20002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25" b="0" i="0" u="none" strike="noStrike" cap="non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建立误差状态微分方程，动态修正解算结果。</a:t>
            </a:r>
          </a:p>
        </p:txBody>
      </p:sp>
      <p:pic>
        <p:nvPicPr>
          <p:cNvPr id="19" name="图片 18"/>
          <p:cNvPicPr>
            <a:picLocks noChangeAspect="1"/>
          </p:cNvPicPr>
          <p:nvPr/>
        </p:nvPicPr>
        <p:blipFill>
          <a:blip r:embed="rId20"/>
          <a:stretch>
            <a:fillRect/>
          </a:stretch>
        </p:blipFill>
        <p:spPr>
          <a:xfrm>
            <a:off x="6772275" y="1615440"/>
            <a:ext cx="3663315" cy="36861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圆角矩形 27"/>
          <p:cNvSpPr/>
          <p:nvPr/>
        </p:nvSpPr>
        <p:spPr>
          <a:xfrm>
            <a:off x="181610" y="2543810"/>
            <a:ext cx="3876675" cy="228917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Google Shape;88;p13" descr="image.png"/>
          <p:cNvPicPr preferRelativeResize="0"/>
          <p:nvPr>
            <p:custDataLst>
              <p:tags r:id="rId1"/>
            </p:custDataLst>
          </p:nvPr>
        </p:nvPicPr>
        <p:blipFill rotWithShape="1">
          <a:blip r:embed="rId12"/>
          <a:srcRect/>
          <a:stretch>
            <a:fillRect/>
          </a:stretch>
        </p:blipFill>
        <p:spPr>
          <a:xfrm>
            <a:off x="6319520" y="5733415"/>
            <a:ext cx="5191125" cy="974725"/>
          </a:xfrm>
          <a:prstGeom prst="rect">
            <a:avLst/>
          </a:prstGeom>
          <a:noFill/>
          <a:ln>
            <a:noFill/>
          </a:ln>
        </p:spPr>
      </p:pic>
      <p:pic>
        <p:nvPicPr>
          <p:cNvPr id="10" name="Google Shape;88;p13" descr="image.png"/>
          <p:cNvPicPr preferRelativeResize="0"/>
          <p:nvPr>
            <p:custDataLst>
              <p:tags r:id="rId2"/>
            </p:custDataLst>
          </p:nvPr>
        </p:nvPicPr>
        <p:blipFill rotWithShape="1">
          <a:blip r:embed="rId12"/>
          <a:srcRect/>
          <a:stretch>
            <a:fillRect/>
          </a:stretch>
        </p:blipFill>
        <p:spPr>
          <a:xfrm>
            <a:off x="6277610" y="4598035"/>
            <a:ext cx="5347335" cy="1030605"/>
          </a:xfrm>
          <a:prstGeom prst="rect">
            <a:avLst/>
          </a:prstGeom>
          <a:noFill/>
          <a:ln>
            <a:noFill/>
          </a:ln>
        </p:spPr>
      </p:pic>
      <p:pic>
        <p:nvPicPr>
          <p:cNvPr id="9" name="Google Shape;88;p13" descr="image.png"/>
          <p:cNvPicPr preferRelativeResize="0"/>
          <p:nvPr>
            <p:custDataLst>
              <p:tags r:id="rId3"/>
            </p:custDataLst>
          </p:nvPr>
        </p:nvPicPr>
        <p:blipFill rotWithShape="1">
          <a:blip r:embed="rId12"/>
          <a:srcRect/>
          <a:stretch>
            <a:fillRect/>
          </a:stretch>
        </p:blipFill>
        <p:spPr>
          <a:xfrm>
            <a:off x="180975" y="5480685"/>
            <a:ext cx="5191125" cy="838200"/>
          </a:xfrm>
          <a:prstGeom prst="rect">
            <a:avLst/>
          </a:prstGeom>
          <a:noFill/>
          <a:ln>
            <a:noFill/>
          </a:ln>
        </p:spPr>
      </p:pic>
      <p:grpSp>
        <p:nvGrpSpPr>
          <p:cNvPr id="2" name="组合 1"/>
          <p:cNvGrpSpPr/>
          <p:nvPr/>
        </p:nvGrpSpPr>
        <p:grpSpPr>
          <a:xfrm>
            <a:off x="0" y="939798"/>
            <a:ext cx="5743575" cy="625474"/>
            <a:chOff x="0" y="1075267"/>
            <a:chExt cx="5743575"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5472430" cy="460375"/>
            </a:xfrm>
            <a:prstGeom prst="rect">
              <a:avLst/>
            </a:prstGeom>
            <a:noFill/>
          </p:spPr>
          <p:txBody>
            <a:bodyPr wrap="square">
              <a:spAutoFit/>
            </a:bodyPr>
            <a:lstStyle/>
            <a:p>
              <a:r>
                <a:rPr lang="en-US" altLang="zh-CN" sz="2400" b="1" dirty="0">
                  <a:solidFill>
                    <a:schemeClr val="accent1"/>
                  </a:solidFill>
                  <a:latin typeface="+mj-lt"/>
                </a:rPr>
                <a:t>5.3.2 </a:t>
              </a:r>
              <a:r>
                <a:rPr lang="zh-CN" altLang="en-US" sz="2400" b="1" dirty="0">
                  <a:solidFill>
                    <a:schemeClr val="accent1"/>
                  </a:solidFill>
                  <a:latin typeface="+mj-lt"/>
                </a:rPr>
                <a:t>基于深度学习的机器人状态估计</a:t>
              </a:r>
            </a:p>
          </p:txBody>
        </p:sp>
      </p:grpSp>
      <p:sp>
        <p:nvSpPr>
          <p:cNvPr id="11" name="Google Shape;96;p13"/>
          <p:cNvSpPr txBox="1"/>
          <p:nvPr/>
        </p:nvSpPr>
        <p:spPr>
          <a:xfrm>
            <a:off x="768350" y="1813560"/>
            <a:ext cx="3435985" cy="27686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b="1">
                <a:solidFill>
                  <a:srgbClr val="005088"/>
                </a:solidFill>
                <a:latin typeface="微软雅黑" panose="020B0503020204020204" pitchFamily="34" charset="-122"/>
                <a:ea typeface="微软雅黑" panose="020B0503020204020204" pitchFamily="34" charset="-122"/>
                <a:cs typeface="微软雅黑" panose="020B0503020204020204" pitchFamily="34" charset="-122"/>
                <a:sym typeface="Merriweather"/>
              </a:rPr>
              <a:t>VINet: 端到端视惯融合里程计</a:t>
            </a:r>
            <a:endParaRPr lang="en-US" sz="1800" b="1" i="0" u="none" strike="noStrike" cap="none">
              <a:solidFill>
                <a:srgbClr val="003366"/>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97" name="Google Shape;97;p13"/>
          <p:cNvSpPr txBox="1"/>
          <p:nvPr/>
        </p:nvSpPr>
        <p:spPr>
          <a:xfrm>
            <a:off x="7254875" y="1205230"/>
            <a:ext cx="1588135" cy="27686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altLang="zh-CN" sz="18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VINet </a:t>
            </a:r>
            <a:r>
              <a:rPr lang="zh-CN" altLang="en-US" sz="18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结构图</a:t>
            </a:r>
          </a:p>
        </p:txBody>
      </p:sp>
      <p:pic>
        <p:nvPicPr>
          <p:cNvPr id="98" name="Google Shape;98;p13" descr="image.png"/>
          <p:cNvPicPr preferRelativeResize="0"/>
          <p:nvPr/>
        </p:nvPicPr>
        <p:blipFill rotWithShape="1">
          <a:blip r:embed="rId13"/>
          <a:srcRect/>
          <a:stretch>
            <a:fillRect/>
          </a:stretch>
        </p:blipFill>
        <p:spPr>
          <a:xfrm>
            <a:off x="396875" y="1837055"/>
            <a:ext cx="183515" cy="228600"/>
          </a:xfrm>
          <a:prstGeom prst="rect">
            <a:avLst/>
          </a:prstGeom>
          <a:noFill/>
          <a:ln>
            <a:noFill/>
          </a:ln>
        </p:spPr>
      </p:pic>
      <p:sp>
        <p:nvSpPr>
          <p:cNvPr id="94" name="Google Shape;94;p13"/>
          <p:cNvSpPr txBox="1"/>
          <p:nvPr>
            <p:custDataLst>
              <p:tags r:id="rId4"/>
            </p:custDataLst>
          </p:nvPr>
        </p:nvSpPr>
        <p:spPr>
          <a:xfrm>
            <a:off x="396875" y="5560327"/>
            <a:ext cx="5300662"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5088"/>
                </a:solidFill>
                <a:latin typeface="黑体" panose="02010609060101010101" charset="-122"/>
                <a:ea typeface="黑体" panose="02010609060101010101" charset="-122"/>
                <a:cs typeface="黑体" panose="02010609060101010101" charset="-122"/>
                <a:sym typeface="DM Sans"/>
              </a:rPr>
              <a:t>卷积层 (Vision Encoder)</a:t>
            </a:r>
          </a:p>
        </p:txBody>
      </p:sp>
      <p:sp>
        <p:nvSpPr>
          <p:cNvPr id="95" name="Google Shape;95;p13"/>
          <p:cNvSpPr txBox="1"/>
          <p:nvPr>
            <p:custDataLst>
              <p:tags r:id="rId5"/>
            </p:custDataLst>
          </p:nvPr>
        </p:nvSpPr>
        <p:spPr>
          <a:xfrm>
            <a:off x="438150" y="5872747"/>
            <a:ext cx="504825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475569"/>
                </a:solidFill>
                <a:latin typeface="黑体" panose="02010609060101010101" charset="-122"/>
                <a:ea typeface="黑体" panose="02010609060101010101" charset="-122"/>
                <a:cs typeface="黑体" panose="02010609060101010101" charset="-122"/>
                <a:sym typeface="DM Sans"/>
              </a:rPr>
              <a:t>处理RGB图像序列，预测对应的光流特征，从像素级恢复运动信息。</a:t>
            </a:r>
          </a:p>
        </p:txBody>
      </p:sp>
      <p:sp>
        <p:nvSpPr>
          <p:cNvPr id="5" name="Google Shape;97;p13"/>
          <p:cNvSpPr txBox="1"/>
          <p:nvPr>
            <p:custDataLst>
              <p:tags r:id="rId6"/>
            </p:custDataLst>
          </p:nvPr>
        </p:nvSpPr>
        <p:spPr>
          <a:xfrm>
            <a:off x="6576695" y="4739907"/>
            <a:ext cx="5300662"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5088"/>
                </a:solidFill>
                <a:latin typeface="黑体" panose="02010609060101010101" charset="-122"/>
                <a:ea typeface="黑体" panose="02010609060101010101" charset="-122"/>
                <a:cs typeface="黑体" panose="02010609060101010101" charset="-122"/>
                <a:sym typeface="DM Sans"/>
              </a:rPr>
              <a:t>IMU-LSTM 模块</a:t>
            </a:r>
          </a:p>
        </p:txBody>
      </p:sp>
      <p:sp>
        <p:nvSpPr>
          <p:cNvPr id="6" name="Google Shape;98;p13"/>
          <p:cNvSpPr txBox="1"/>
          <p:nvPr>
            <p:custDataLst>
              <p:tags r:id="rId7"/>
            </p:custDataLst>
          </p:nvPr>
        </p:nvSpPr>
        <p:spPr>
          <a:xfrm>
            <a:off x="6576695" y="4952632"/>
            <a:ext cx="504825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475569"/>
                </a:solidFill>
                <a:latin typeface="黑体" panose="02010609060101010101" charset="-122"/>
                <a:ea typeface="黑体" panose="02010609060101010101" charset="-122"/>
                <a:cs typeface="黑体" panose="02010609060101010101" charset="-122"/>
                <a:sym typeface="DM Sans"/>
              </a:rPr>
              <a:t>挖掘惯性数据序列的时间特征，解决IMU高频采样与视觉低频更新的对齐问题。</a:t>
            </a:r>
          </a:p>
        </p:txBody>
      </p:sp>
      <p:sp>
        <p:nvSpPr>
          <p:cNvPr id="100" name="Google Shape;100;p13"/>
          <p:cNvSpPr txBox="1"/>
          <p:nvPr>
            <p:custDataLst>
              <p:tags r:id="rId8"/>
            </p:custDataLst>
          </p:nvPr>
        </p:nvSpPr>
        <p:spPr>
          <a:xfrm>
            <a:off x="6576695" y="5800357"/>
            <a:ext cx="5300662"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5088"/>
                </a:solidFill>
                <a:latin typeface="黑体" panose="02010609060101010101" charset="-122"/>
                <a:ea typeface="黑体" panose="02010609060101010101" charset="-122"/>
                <a:cs typeface="黑体" panose="02010609060101010101" charset="-122"/>
                <a:sym typeface="DM Sans"/>
              </a:rPr>
              <a:t>core-LSTM 融合层</a:t>
            </a:r>
          </a:p>
        </p:txBody>
      </p:sp>
      <p:sp>
        <p:nvSpPr>
          <p:cNvPr id="101" name="Google Shape;101;p13"/>
          <p:cNvSpPr txBox="1"/>
          <p:nvPr>
            <p:custDataLst>
              <p:tags r:id="rId9"/>
            </p:custDataLst>
          </p:nvPr>
        </p:nvSpPr>
        <p:spPr>
          <a:xfrm>
            <a:off x="6576695" y="6057532"/>
            <a:ext cx="504825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475569"/>
                </a:solidFill>
                <a:latin typeface="黑体" panose="02010609060101010101" charset="-122"/>
                <a:ea typeface="黑体" panose="02010609060101010101" charset="-122"/>
                <a:cs typeface="黑体" panose="02010609060101010101" charset="-122"/>
                <a:sym typeface="DM Sans"/>
              </a:rPr>
              <a:t>将视觉与惯导特征串联，输出7维运动向量（线速度与角速度），直接映射到位姿变化。</a:t>
            </a:r>
          </a:p>
        </p:txBody>
      </p:sp>
      <p:pic>
        <p:nvPicPr>
          <p:cNvPr id="21" name="图片 20"/>
          <p:cNvPicPr>
            <a:picLocks noChangeAspect="1"/>
          </p:cNvPicPr>
          <p:nvPr/>
        </p:nvPicPr>
        <p:blipFill>
          <a:blip r:embed="rId14"/>
          <a:stretch>
            <a:fillRect/>
          </a:stretch>
        </p:blipFill>
        <p:spPr>
          <a:xfrm>
            <a:off x="4204335" y="1490345"/>
            <a:ext cx="7689850" cy="2982595"/>
          </a:xfrm>
          <a:prstGeom prst="rect">
            <a:avLst/>
          </a:prstGeom>
        </p:spPr>
      </p:pic>
      <p:sp>
        <p:nvSpPr>
          <p:cNvPr id="27" name="文本框 26"/>
          <p:cNvSpPr txBox="1"/>
          <p:nvPr/>
        </p:nvSpPr>
        <p:spPr>
          <a:xfrm>
            <a:off x="271780" y="2647950"/>
            <a:ext cx="3564890" cy="1168400"/>
          </a:xfrm>
          <a:prstGeom prst="rect">
            <a:avLst/>
          </a:prstGeom>
          <a:noFill/>
        </p:spPr>
        <p:txBody>
          <a:bodyPr wrap="square" rtlCol="0">
            <a:spAutoFit/>
          </a:bodyPr>
          <a:lstStyle/>
          <a:p>
            <a:r>
              <a:rPr lang="zh-CN" altLang="en-US" sz="1400">
                <a:latin typeface="微软雅黑" panose="020B0503020204020204" pitchFamily="34" charset="-122"/>
                <a:ea typeface="微软雅黑" panose="020B0503020204020204" pitchFamily="34" charset="-122"/>
                <a:cs typeface="微软雅黑" panose="020B0503020204020204" pitchFamily="34" charset="-122"/>
              </a:rPr>
              <a:t>该方法输出一个长为</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7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的向量，该向量为对应的线速度、角速度，之后它与时间、上一时刻的状态一起计算便可以得到对应的位移、姿态四元数（表示机器人从序列开始时姿态的变化），如下式：</a:t>
            </a:r>
          </a:p>
        </p:txBody>
      </p:sp>
      <p:pic>
        <p:nvPicPr>
          <p:cNvPr id="37" name="图片 36"/>
          <p:cNvPicPr>
            <a:picLocks noChangeAspect="1"/>
          </p:cNvPicPr>
          <p:nvPr/>
        </p:nvPicPr>
        <p:blipFill>
          <a:blip r:embed="rId15">
            <a:clrChange>
              <a:clrFrom>
                <a:srgbClr val="FFFFFF">
                  <a:alpha val="100000"/>
                </a:srgbClr>
              </a:clrFrom>
              <a:clrTo>
                <a:srgbClr val="FFFFFF">
                  <a:alpha val="100000"/>
                  <a:alpha val="0"/>
                </a:srgbClr>
              </a:clrTo>
            </a:clrChange>
            <a:duotone>
              <a:prstClr val="black"/>
              <a:schemeClr val="bg1">
                <a:lumMod val="65000"/>
                <a:tint val="45000"/>
                <a:satMod val="400000"/>
              </a:schemeClr>
            </a:duotone>
          </a:blip>
          <a:stretch>
            <a:fillRect/>
          </a:stretch>
        </p:blipFill>
        <p:spPr>
          <a:xfrm>
            <a:off x="398145" y="3816350"/>
            <a:ext cx="3171825" cy="463550"/>
          </a:xfrm>
          <a:prstGeom prst="rect">
            <a:avLst/>
          </a:prstGeom>
        </p:spPr>
      </p:pic>
      <mc:AlternateContent xmlns:mc="http://schemas.openxmlformats.org/markup-compatibility/2006" xmlns:a14="http://schemas.microsoft.com/office/drawing/2010/main">
        <mc:Choice Requires="a14">
          <p:sp>
            <p:nvSpPr>
              <p:cNvPr id="38" name="文本框 37"/>
              <p:cNvSpPr txBox="1"/>
              <p:nvPr/>
            </p:nvSpPr>
            <p:spPr>
              <a:xfrm>
                <a:off x="271780" y="4225925"/>
                <a:ext cx="3787140" cy="521970"/>
              </a:xfrm>
              <a:prstGeom prst="rect">
                <a:avLst/>
              </a:prstGeom>
              <a:noFill/>
            </p:spPr>
            <p:txBody>
              <a:bodyPr wrap="square" rtlCol="0">
                <a:spAutoFit/>
              </a:bodyPr>
              <a:lstStyle/>
              <a:p>
                <a:r>
                  <a:rPr lang="zh-CN" altLang="en-US" sz="1400"/>
                  <a:t>其中，</a:t>
                </a:r>
                <a14:m>
                  <m:oMath xmlns:m="http://schemas.openxmlformats.org/officeDocument/2006/math">
                    <m:r>
                      <a:rPr lang="en-US" altLang="zh-CN" sz="1400" i="1">
                        <a:latin typeface="Cambria Math" panose="02040503050406030204" pitchFamily="18" charset="0"/>
                        <a:cs typeface="Cambria Math" panose="02040503050406030204" pitchFamily="18" charset="0"/>
                      </a:rPr>
                      <m:t>𝑊</m:t>
                    </m:r>
                    <m:r>
                      <a:rPr lang="en-US" altLang="zh-CN" sz="1400" i="1">
                        <a:latin typeface="Cambria Math" panose="02040503050406030204" pitchFamily="18" charset="0"/>
                        <a:ea typeface="MS Mincho" charset="0"/>
                        <a:cs typeface="Cambria Math" panose="02040503050406030204" pitchFamily="18" charset="0"/>
                      </a:rPr>
                      <m:t>、</m:t>
                    </m:r>
                    <m:r>
                      <a:rPr lang="en-US" altLang="zh-CN" sz="1400" i="1">
                        <a:latin typeface="Cambria Math" panose="02040503050406030204" pitchFamily="18" charset="0"/>
                        <a:ea typeface="MS Mincho" charset="0"/>
                        <a:cs typeface="Cambria Math" panose="02040503050406030204" pitchFamily="18" charset="0"/>
                      </a:rPr>
                      <m:t>𝑁</m:t>
                    </m:r>
                  </m:oMath>
                </a14:m>
                <a:r>
                  <a:rPr lang="en-US" altLang="zh-CN" sz="1400"/>
                  <a:t> </a:t>
                </a:r>
                <a:r>
                  <a:rPr lang="zh-CN" altLang="en-US" sz="1400"/>
                  <a:t>分别表示输入图像的宽度、高度；</a:t>
                </a:r>
              </a:p>
              <a:p>
                <a14:m>
                  <m:oMath xmlns:m="http://schemas.openxmlformats.org/officeDocument/2006/math">
                    <m:r>
                      <a:rPr lang="en-US" altLang="zh-CN" sz="1400" i="1">
                        <a:latin typeface="Cambria Math" panose="02040503050406030204" pitchFamily="18" charset="0"/>
                        <a:cs typeface="Cambria Math" panose="02040503050406030204" pitchFamily="18" charset="0"/>
                      </a:rPr>
                      <m:t>1</m:t>
                    </m:r>
                    <m:r>
                      <a:rPr lang="en-US" altLang="zh-CN" sz="1400" i="1">
                        <a:latin typeface="Cambria Math" panose="02040503050406030204" pitchFamily="18" charset="0"/>
                        <a:ea typeface="MS Mincho" charset="0"/>
                        <a:cs typeface="Cambria Math" panose="02040503050406030204" pitchFamily="18" charset="0"/>
                      </a:rPr>
                      <m:t>：</m:t>
                    </m:r>
                    <m:r>
                      <a:rPr lang="en-US" altLang="zh-CN" sz="1400" i="1">
                        <a:latin typeface="Cambria Math" panose="02040503050406030204" pitchFamily="18" charset="0"/>
                        <a:ea typeface="MS Mincho" charset="0"/>
                        <a:cs typeface="Cambria Math" panose="02040503050406030204" pitchFamily="18" charset="0"/>
                      </a:rPr>
                      <m:t>𝑁</m:t>
                    </m:r>
                  </m:oMath>
                </a14:m>
                <a:r>
                  <a:rPr lang="zh-CN" altLang="en-US" sz="1400"/>
                  <a:t>表示</a:t>
                </a:r>
                <a:r>
                  <a:rPr lang="en-US" altLang="zh-CN" sz="1400"/>
                  <a:t> IMU </a:t>
                </a:r>
                <a:r>
                  <a:rPr lang="zh-CN" altLang="en-US" sz="1400"/>
                  <a:t>数据序列的时间戳。</a:t>
                </a:r>
              </a:p>
            </p:txBody>
          </p:sp>
        </mc:Choice>
        <mc:Fallback xmlns="">
          <p:sp>
            <p:nvSpPr>
              <p:cNvPr id="38" name="文本框 37"/>
              <p:cNvSpPr txBox="1">
                <a:spLocks noRot="1" noChangeAspect="1" noMove="1" noResize="1" noEditPoints="1" noAdjustHandles="1" noChangeArrowheads="1" noChangeShapeType="1" noTextEdit="1"/>
              </p:cNvSpPr>
              <p:nvPr/>
            </p:nvSpPr>
            <p:spPr>
              <a:xfrm>
                <a:off x="271780" y="4225925"/>
                <a:ext cx="3787140" cy="521970"/>
              </a:xfrm>
              <a:prstGeom prst="rect">
                <a:avLst/>
              </a:prstGeom>
              <a:blipFill rotWithShape="1">
                <a:blip r:embed="rId16"/>
                <a:stretch>
                  <a:fillRect r="-453"/>
                </a:stretch>
              </a:blipFill>
            </p:spPr>
            <p:txBody>
              <a:bodyPr/>
              <a:lstStyle/>
              <a:p>
                <a:r>
                  <a:rPr lang="zh-CN"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角矩形 15"/>
          <p:cNvSpPr/>
          <p:nvPr/>
        </p:nvSpPr>
        <p:spPr>
          <a:xfrm>
            <a:off x="396875" y="2277745"/>
            <a:ext cx="4637405" cy="321627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p:cNvPicPr>
            <a:picLocks noChangeAspect="1"/>
          </p:cNvPicPr>
          <p:nvPr/>
        </p:nvPicPr>
        <p:blipFill>
          <a:blip r:embed="rId3"/>
          <a:stretch>
            <a:fillRect/>
          </a:stretch>
        </p:blipFill>
        <p:spPr>
          <a:xfrm>
            <a:off x="5549265" y="1644015"/>
            <a:ext cx="6437630" cy="4160520"/>
          </a:xfrm>
          <a:prstGeom prst="rect">
            <a:avLst/>
          </a:prstGeom>
        </p:spPr>
      </p:pic>
      <p:grpSp>
        <p:nvGrpSpPr>
          <p:cNvPr id="2" name="组合 1"/>
          <p:cNvGrpSpPr/>
          <p:nvPr/>
        </p:nvGrpSpPr>
        <p:grpSpPr>
          <a:xfrm>
            <a:off x="0" y="939798"/>
            <a:ext cx="5743575" cy="625474"/>
            <a:chOff x="0" y="1075267"/>
            <a:chExt cx="5743575"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5472430" cy="460375"/>
            </a:xfrm>
            <a:prstGeom prst="rect">
              <a:avLst/>
            </a:prstGeom>
            <a:noFill/>
          </p:spPr>
          <p:txBody>
            <a:bodyPr wrap="square">
              <a:spAutoFit/>
            </a:bodyPr>
            <a:lstStyle/>
            <a:p>
              <a:r>
                <a:rPr lang="en-US" altLang="zh-CN" sz="2400" b="1" dirty="0">
                  <a:solidFill>
                    <a:schemeClr val="accent1"/>
                  </a:solidFill>
                  <a:latin typeface="+mj-lt"/>
                </a:rPr>
                <a:t>5.3.2 </a:t>
              </a:r>
              <a:r>
                <a:rPr lang="zh-CN" altLang="en-US" sz="2400" b="1" dirty="0">
                  <a:solidFill>
                    <a:schemeClr val="accent1"/>
                  </a:solidFill>
                  <a:latin typeface="+mj-lt"/>
                </a:rPr>
                <a:t>基于深度学习的机器人状态估计</a:t>
              </a:r>
            </a:p>
          </p:txBody>
        </p:sp>
      </p:grpSp>
      <p:sp>
        <p:nvSpPr>
          <p:cNvPr id="11" name="Google Shape;96;p13"/>
          <p:cNvSpPr txBox="1"/>
          <p:nvPr/>
        </p:nvSpPr>
        <p:spPr>
          <a:xfrm>
            <a:off x="768350" y="1782763"/>
            <a:ext cx="4819650" cy="27686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b="1">
                <a:solidFill>
                  <a:srgbClr val="005088"/>
                </a:solidFill>
                <a:latin typeface="微软雅黑" panose="020B0503020204020204" pitchFamily="34" charset="-122"/>
                <a:ea typeface="微软雅黑" panose="020B0503020204020204" pitchFamily="34" charset="-122"/>
                <a:cs typeface="微软雅黑" panose="020B0503020204020204" pitchFamily="34" charset="-122"/>
                <a:sym typeface="Merriweather"/>
              </a:rPr>
              <a:t>VINet: 端到端视惯融合里程计</a:t>
            </a:r>
            <a:endParaRPr lang="en-US" sz="1800" b="1" i="0" u="none" strike="noStrike" cap="none">
              <a:solidFill>
                <a:srgbClr val="003366"/>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pic>
        <p:nvPicPr>
          <p:cNvPr id="98" name="Google Shape;98;p13" descr="image.png"/>
          <p:cNvPicPr preferRelativeResize="0"/>
          <p:nvPr/>
        </p:nvPicPr>
        <p:blipFill rotWithShape="1">
          <a:blip r:embed="rId4"/>
          <a:srcRect/>
          <a:stretch>
            <a:fillRect/>
          </a:stretch>
        </p:blipFill>
        <p:spPr>
          <a:xfrm>
            <a:off x="396875" y="1806892"/>
            <a:ext cx="257175" cy="228600"/>
          </a:xfrm>
          <a:prstGeom prst="rect">
            <a:avLst/>
          </a:prstGeom>
          <a:noFill/>
          <a:ln>
            <a:noFill/>
          </a:ln>
        </p:spPr>
      </p:pic>
      <p:sp>
        <p:nvSpPr>
          <p:cNvPr id="24" name="文本框 23"/>
          <p:cNvSpPr txBox="1"/>
          <p:nvPr/>
        </p:nvSpPr>
        <p:spPr>
          <a:xfrm>
            <a:off x="6292850" y="5915660"/>
            <a:ext cx="4801870" cy="438150"/>
          </a:xfrm>
          <a:prstGeom prst="rect">
            <a:avLst/>
          </a:prstGeom>
          <a:noFill/>
        </p:spPr>
        <p:txBody>
          <a:bodyPr wrap="square" rtlCol="0">
            <a:noAutofit/>
          </a:bodyPr>
          <a:lstStyle/>
          <a:p>
            <a:pPr algn="l">
              <a:spcBef>
                <a:spcPts val="0"/>
              </a:spcBef>
              <a:spcAft>
                <a:spcPts val="0"/>
              </a:spcAft>
              <a:buClrTx/>
              <a:buSzTx/>
              <a:buFontTx/>
            </a:pPr>
            <a:r>
              <a:rPr lang="en-US" altLang="zh-CN" sz="1800" b="1">
                <a:solidFill>
                  <a:srgbClr val="003366"/>
                </a:solidFill>
                <a:latin typeface="Noto Sans SC" panose="020B0200000000000000" charset="-122"/>
                <a:ea typeface="Noto Sans SC" panose="020B0200000000000000" charset="-122"/>
                <a:cs typeface="Noto Sans SC" panose="020B0200000000000000" charset="-122"/>
              </a:rPr>
              <a:t>不同校准误差下的 OKVIS、VINet 效果对比</a:t>
            </a:r>
          </a:p>
        </p:txBody>
      </p:sp>
      <p:sp>
        <p:nvSpPr>
          <p:cNvPr id="14" name="文本框 13"/>
          <p:cNvSpPr txBox="1"/>
          <p:nvPr/>
        </p:nvSpPr>
        <p:spPr>
          <a:xfrm>
            <a:off x="567055" y="2521585"/>
            <a:ext cx="4210050" cy="829945"/>
          </a:xfrm>
          <a:prstGeom prst="rect">
            <a:avLst/>
          </a:prstGeom>
        </p:spPr>
        <p:txBody>
          <a:bodyPr wrap="square">
            <a:spAutoFit/>
          </a:bodyPr>
          <a:lstStyle/>
          <a:p>
            <a:r>
              <a:rPr lang="en-US" altLang="zh-CN" sz="1600">
                <a:solidFill>
                  <a:srgbClr val="000000"/>
                </a:solidFill>
                <a:latin typeface="Times New Roman" panose="02020603050405020304"/>
                <a:ea typeface="Times New Roman" panose="02020603050405020304"/>
              </a:rPr>
              <a:t>VINet </a:t>
            </a:r>
            <a:r>
              <a:rPr lang="zh-CN" altLang="en-US" sz="1600">
                <a:solidFill>
                  <a:srgbClr val="000000"/>
                </a:solidFill>
                <a:latin typeface="宋体" panose="02010600030101010101" pitchFamily="2" charset="-122"/>
                <a:ea typeface="宋体" panose="02010600030101010101" pitchFamily="2" charset="-122"/>
              </a:rPr>
              <a:t>的运行流程主要分为视觉数据处理、惯性数据处理、数据融合三个步骤。在训练 </a:t>
            </a:r>
            <a:r>
              <a:rPr lang="en-US" altLang="zh-CN" sz="1600">
                <a:solidFill>
                  <a:srgbClr val="000000"/>
                </a:solidFill>
                <a:latin typeface="Times New Roman" panose="02020603050405020304"/>
                <a:ea typeface="Times New Roman" panose="02020603050405020304"/>
              </a:rPr>
              <a:t>VINet </a:t>
            </a:r>
            <a:r>
              <a:rPr lang="zh-CN" altLang="en-US" sz="1600">
                <a:solidFill>
                  <a:srgbClr val="000000"/>
                </a:solidFill>
                <a:latin typeface="宋体" panose="02010600030101010101" pitchFamily="2" charset="-122"/>
                <a:ea typeface="宋体" panose="02010600030101010101" pitchFamily="2" charset="-122"/>
              </a:rPr>
              <a:t>时，需要构建两个损失函数，如下公式：</a:t>
            </a:r>
          </a:p>
        </p:txBody>
      </p:sp>
      <p:pic>
        <p:nvPicPr>
          <p:cNvPr id="15" name="图片 14"/>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1233170" y="3351530"/>
            <a:ext cx="2955925" cy="1011555"/>
          </a:xfrm>
          <a:prstGeom prst="rect">
            <a:avLst/>
          </a:prstGeom>
        </p:spPr>
      </p:pic>
      <mc:AlternateContent xmlns:mc="http://schemas.openxmlformats.org/markup-compatibility/2006" xmlns:a14="http://schemas.microsoft.com/office/drawing/2010/main">
        <mc:Choice Requires="a14">
          <p:sp>
            <p:nvSpPr>
              <p:cNvPr id="17" name="文本框 16"/>
              <p:cNvSpPr txBox="1"/>
              <p:nvPr/>
            </p:nvSpPr>
            <p:spPr>
              <a:xfrm>
                <a:off x="490855" y="4391660"/>
                <a:ext cx="4403725" cy="939800"/>
              </a:xfrm>
              <a:prstGeom prst="rect">
                <a:avLst/>
              </a:prstGeom>
              <a:noFill/>
            </p:spPr>
            <p:txBody>
              <a:bodyPr wrap="square" rtlCol="0">
                <a:noAutofit/>
              </a:bodyPr>
              <a:lstStyle/>
              <a:p>
                <a:r>
                  <a:rPr lang="zh-CN" altLang="en-US" sz="1600">
                    <a:solidFill>
                      <a:srgbClr val="000000"/>
                    </a:solidFill>
                    <a:latin typeface="宋体" panose="02010600030101010101" pitchFamily="2" charset="-122"/>
                    <a:ea typeface="宋体" panose="02010600030101010101" pitchFamily="2" charset="-122"/>
                  </a:rPr>
                  <a:t>其中，</a:t>
                </a:r>
                <a14:m>
                  <m:oMath xmlns:m="http://schemas.openxmlformats.org/officeDocument/2006/math">
                    <m:r>
                      <a:rPr lang="en-US" altLang="zh-CN" sz="1600" i="1">
                        <a:solidFill>
                          <a:srgbClr val="000000"/>
                        </a:solidFill>
                        <a:latin typeface="Cambria Math" panose="02040503050406030204" pitchFamily="18" charset="0"/>
                        <a:ea typeface="宋体" panose="02010600030101010101" pitchFamily="2" charset="-122"/>
                        <a:cs typeface="Cambria Math" panose="02040503050406030204" pitchFamily="18" charset="0"/>
                      </a:rPr>
                      <m:t>𝛼</m:t>
                    </m:r>
                    <m:r>
                      <a:rPr lang="en-US" altLang="zh-CN" sz="1600" i="1">
                        <a:solidFill>
                          <a:srgbClr val="000000"/>
                        </a:solidFill>
                        <a:latin typeface="Cambria Math" panose="02040503050406030204" pitchFamily="18" charset="0"/>
                        <a:ea typeface="宋体" panose="02010600030101010101" pitchFamily="2" charset="-122"/>
                        <a:cs typeface="Cambria Math" panose="02040503050406030204" pitchFamily="18" charset="0"/>
                      </a:rPr>
                      <m:t>、</m:t>
                    </m:r>
                    <m:r>
                      <a:rPr lang="en-US" altLang="zh-CN" sz="1600" i="1">
                        <a:solidFill>
                          <a:srgbClr val="000000"/>
                        </a:solidFill>
                        <a:latin typeface="Cambria Math" panose="02040503050406030204" pitchFamily="18" charset="0"/>
                        <a:ea typeface="宋体" panose="02010600030101010101" pitchFamily="2" charset="-122"/>
                        <a:cs typeface="Cambria Math" panose="02040503050406030204" pitchFamily="18" charset="0"/>
                      </a:rPr>
                      <m:t>𝛽</m:t>
                    </m:r>
                  </m:oMath>
                </a14:m>
                <a:r>
                  <a:rPr lang="zh-CN" altLang="en-US" sz="1600">
                    <a:solidFill>
                      <a:srgbClr val="000000"/>
                    </a:solidFill>
                    <a:latin typeface="宋体" panose="02010600030101010101" pitchFamily="2" charset="-122"/>
                    <a:ea typeface="宋体" panose="02010600030101010101" pitchFamily="2" charset="-122"/>
                  </a:rPr>
                  <a:t>为权重系数；</a:t>
                </a:r>
                <a14:m>
                  <m:oMath xmlns:m="http://schemas.openxmlformats.org/officeDocument/2006/math">
                    <m:r>
                      <a:rPr lang="en-US" altLang="zh-CN" sz="1600" i="1">
                        <a:solidFill>
                          <a:srgbClr val="000000"/>
                        </a:solidFill>
                        <a:latin typeface="Cambria Math" panose="02040503050406030204" pitchFamily="18" charset="0"/>
                        <a:ea typeface="MS Mincho" charset="0"/>
                        <a:cs typeface="Cambria Math" panose="02040503050406030204" pitchFamily="18" charset="0"/>
                      </a:rPr>
                      <m:t>𝜔</m:t>
                    </m:r>
                    <m:r>
                      <a:rPr lang="en-US" altLang="zh-CN" sz="1600" i="1">
                        <a:solidFill>
                          <a:srgbClr val="000000"/>
                        </a:solidFill>
                        <a:latin typeface="Cambria Math" panose="02040503050406030204" pitchFamily="18" charset="0"/>
                        <a:ea typeface="MS Mincho" charset="0"/>
                        <a:cs typeface="Cambria Math" panose="02040503050406030204" pitchFamily="18" charset="0"/>
                      </a:rPr>
                      <m:t>、</m:t>
                    </m:r>
                    <m:r>
                      <a:rPr lang="en-US" altLang="zh-CN" sz="1600" i="1">
                        <a:solidFill>
                          <a:srgbClr val="000000"/>
                        </a:solidFill>
                        <a:latin typeface="Cambria Math" panose="02040503050406030204" pitchFamily="18" charset="0"/>
                        <a:ea typeface="MS Mincho" charset="0"/>
                        <a:cs typeface="Cambria Math" panose="02040503050406030204" pitchFamily="18" charset="0"/>
                      </a:rPr>
                      <m:t>𝑣</m:t>
                    </m:r>
                  </m:oMath>
                </a14:m>
                <a:r>
                  <a:rPr lang="zh-CN" altLang="en-US" sz="1600">
                    <a:solidFill>
                      <a:srgbClr val="000000"/>
                    </a:solidFill>
                    <a:latin typeface="宋体" panose="02010600030101010101" pitchFamily="2" charset="-122"/>
                    <a:ea typeface="宋体" panose="02010600030101010101" pitchFamily="2" charset="-122"/>
                  </a:rPr>
                  <a:t>为神经网络估计出的角速度、线速度；</a:t>
                </a:r>
                <a:r>
                  <a:rPr lang="en-US" altLang="zh-CN" sz="1600" b="1" i="1">
                    <a:solidFill>
                      <a:srgbClr val="000000"/>
                    </a:solidFill>
                    <a:latin typeface="宋体" panose="02010600030101010101" pitchFamily="2" charset="-122"/>
                    <a:ea typeface="宋体" panose="02010600030101010101" pitchFamily="2" charset="-122"/>
                  </a:rPr>
                  <a:t>q</a:t>
                </a:r>
                <a:r>
                  <a:rPr lang="zh-CN" altLang="en-US" sz="1600" b="1" i="1">
                    <a:solidFill>
                      <a:srgbClr val="000000"/>
                    </a:solidFill>
                    <a:latin typeface="宋体" panose="02010600030101010101" pitchFamily="2" charset="-122"/>
                    <a:ea typeface="宋体" panose="02010600030101010101" pitchFamily="2" charset="-122"/>
                  </a:rPr>
                  <a:t>、</a:t>
                </a:r>
                <a:r>
                  <a:rPr lang="en-US" altLang="zh-CN" sz="1600" b="1" i="1">
                    <a:solidFill>
                      <a:srgbClr val="000000"/>
                    </a:solidFill>
                    <a:latin typeface="宋体" panose="02010600030101010101" pitchFamily="2" charset="-122"/>
                    <a:ea typeface="宋体" panose="02010600030101010101" pitchFamily="2" charset="-122"/>
                  </a:rPr>
                  <a:t>T</a:t>
                </a:r>
                <a:r>
                  <a:rPr lang="zh-CN" altLang="en-US" sz="1600">
                    <a:solidFill>
                      <a:srgbClr val="000000"/>
                    </a:solidFill>
                    <a:latin typeface="宋体" panose="02010600030101010101" pitchFamily="2" charset="-122"/>
                    <a:ea typeface="宋体" panose="02010600030101010101" pitchFamily="2" charset="-122"/>
                  </a:rPr>
                  <a:t>为 VIO 估计出的四元数、位移。</a:t>
                </a:r>
              </a:p>
            </p:txBody>
          </p:sp>
        </mc:Choice>
        <mc:Fallback xmlns="">
          <p:sp>
            <p:nvSpPr>
              <p:cNvPr id="17" name="文本框 16"/>
              <p:cNvSpPr txBox="1">
                <a:spLocks noRot="1" noChangeAspect="1" noMove="1" noResize="1" noEditPoints="1" noAdjustHandles="1" noChangeArrowheads="1" noChangeShapeType="1" noTextEdit="1"/>
              </p:cNvSpPr>
              <p:nvPr/>
            </p:nvSpPr>
            <p:spPr>
              <a:xfrm>
                <a:off x="490855" y="4391660"/>
                <a:ext cx="4403725" cy="939800"/>
              </a:xfrm>
              <a:prstGeom prst="rect">
                <a:avLst/>
              </a:prstGeom>
              <a:blipFill rotWithShape="1">
                <a:blip r:embed="rId6"/>
                <a:stretch>
                  <a:fillRect/>
                </a:stretch>
              </a:blipFill>
            </p:spPr>
            <p:txBody>
              <a:bodyPr/>
              <a:lstStyle/>
              <a:p>
                <a:r>
                  <a:rPr lang="zh-CN"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圆角矩形 67"/>
          <p:cNvSpPr/>
          <p:nvPr/>
        </p:nvSpPr>
        <p:spPr>
          <a:xfrm>
            <a:off x="389255" y="2642870"/>
            <a:ext cx="4928235" cy="25209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0" y="939798"/>
            <a:ext cx="6849745" cy="625474"/>
            <a:chOff x="0" y="1075267"/>
            <a:chExt cx="6849745"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6578600" cy="460375"/>
            </a:xfrm>
            <a:prstGeom prst="rect">
              <a:avLst/>
            </a:prstGeom>
            <a:noFill/>
          </p:spPr>
          <p:txBody>
            <a:bodyPr wrap="square">
              <a:spAutoFit/>
            </a:bodyPr>
            <a:lstStyle/>
            <a:p>
              <a:r>
                <a:rPr lang="en-US" altLang="zh-CN" sz="2400" b="1" dirty="0">
                  <a:solidFill>
                    <a:schemeClr val="accent1"/>
                  </a:solidFill>
                  <a:latin typeface="+mj-lt"/>
                </a:rPr>
                <a:t>5.3.3 </a:t>
              </a:r>
              <a:r>
                <a:rPr lang="zh-CN" altLang="en-US" sz="2400" b="1" dirty="0">
                  <a:solidFill>
                    <a:schemeClr val="accent1"/>
                  </a:solidFill>
                  <a:latin typeface="+mj-lt"/>
                </a:rPr>
                <a:t>基于深度学习的同步定位与建图</a:t>
              </a:r>
              <a:endParaRPr lang="en-US" altLang="en-US" sz="2400" b="1" dirty="0">
                <a:solidFill>
                  <a:srgbClr val="005088"/>
                </a:solidFill>
                <a:latin typeface="微软雅黑" panose="020B0503020204020204" pitchFamily="34" charset="-122"/>
                <a:ea typeface="微软雅黑" panose="020B0503020204020204" pitchFamily="34" charset="-122"/>
                <a:cs typeface="Merriweather"/>
                <a:sym typeface="Merriweather"/>
              </a:endParaRPr>
            </a:p>
          </p:txBody>
        </p:sp>
      </p:grpSp>
      <p:sp>
        <p:nvSpPr>
          <p:cNvPr id="67" name="文本框 66"/>
          <p:cNvSpPr txBox="1"/>
          <p:nvPr/>
        </p:nvSpPr>
        <p:spPr>
          <a:xfrm>
            <a:off x="606425" y="2807335"/>
            <a:ext cx="4711065" cy="2168525"/>
          </a:xfrm>
          <a:prstGeom prst="rect">
            <a:avLst/>
          </a:prstGeom>
          <a:noFill/>
        </p:spPr>
        <p:txBody>
          <a:bodyPr wrap="square" rtlCol="0">
            <a:spAutoFit/>
          </a:bodyPr>
          <a:lstStyle/>
          <a:p>
            <a:pPr indent="0" fontAlgn="auto">
              <a:lnSpc>
                <a:spcPct val="150000"/>
              </a:lnSpc>
            </a:pPr>
            <a:r>
              <a:rPr lang="zh-CN" altLang="en-US">
                <a:solidFill>
                  <a:schemeClr val="bg1"/>
                </a:solidFill>
              </a:rPr>
              <a:t>同步定位与建图（</a:t>
            </a:r>
            <a:r>
              <a:rPr lang="en-US" altLang="zh-CN">
                <a:solidFill>
                  <a:schemeClr val="bg1"/>
                </a:solidFill>
              </a:rPr>
              <a:t>simultaneous localization and mapping</a:t>
            </a:r>
            <a:r>
              <a:rPr lang="zh-CN" altLang="en-US">
                <a:solidFill>
                  <a:schemeClr val="bg1"/>
                </a:solidFill>
              </a:rPr>
              <a:t>，</a:t>
            </a:r>
            <a:r>
              <a:rPr lang="en-US" altLang="zh-CN">
                <a:solidFill>
                  <a:schemeClr val="bg1"/>
                </a:solidFill>
              </a:rPr>
              <a:t>SLAM</a:t>
            </a:r>
            <a:r>
              <a:rPr lang="zh-CN" altLang="en-US">
                <a:solidFill>
                  <a:schemeClr val="bg1"/>
                </a:solidFill>
              </a:rPr>
              <a:t>）技术可以描述为智能</a:t>
            </a:r>
          </a:p>
          <a:p>
            <a:pPr indent="0" fontAlgn="auto">
              <a:lnSpc>
                <a:spcPct val="150000"/>
              </a:lnSpc>
            </a:pPr>
            <a:r>
              <a:rPr lang="zh-CN" altLang="en-US">
                <a:solidFill>
                  <a:schemeClr val="bg1"/>
                </a:solidFill>
              </a:rPr>
              <a:t>机器人在未知环境中，通过本体携带的传感器进行数据采集，进行位姿估计和定位，构建增量式地图，从而实现自主定位和导航。</a:t>
            </a:r>
          </a:p>
        </p:txBody>
      </p:sp>
      <p:pic>
        <p:nvPicPr>
          <p:cNvPr id="69" name="图片 68" descr="a6fe3c5ab949eca700522cff3b1f10b2"/>
          <p:cNvPicPr>
            <a:picLocks noChangeAspect="1"/>
          </p:cNvPicPr>
          <p:nvPr/>
        </p:nvPicPr>
        <p:blipFill>
          <a:blip r:embed="rId3"/>
          <a:stretch>
            <a:fillRect/>
          </a:stretch>
        </p:blipFill>
        <p:spPr>
          <a:xfrm>
            <a:off x="5739130" y="2259330"/>
            <a:ext cx="6059170" cy="307022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5850890" y="5271135"/>
            <a:ext cx="5581015" cy="101981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173990" y="2985135"/>
            <a:ext cx="5261610" cy="267716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nvGrpSpPr>
          <p:cNvPr id="2" name="组合 1"/>
          <p:cNvGrpSpPr/>
          <p:nvPr/>
        </p:nvGrpSpPr>
        <p:grpSpPr>
          <a:xfrm>
            <a:off x="0" y="939798"/>
            <a:ext cx="6849745" cy="625474"/>
            <a:chOff x="0" y="1075267"/>
            <a:chExt cx="6849745"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6578600" cy="460375"/>
            </a:xfrm>
            <a:prstGeom prst="rect">
              <a:avLst/>
            </a:prstGeom>
            <a:noFill/>
          </p:spPr>
          <p:txBody>
            <a:bodyPr wrap="square">
              <a:spAutoFit/>
            </a:bodyPr>
            <a:lstStyle/>
            <a:p>
              <a:r>
                <a:rPr lang="en-US" altLang="zh-CN" sz="2400" b="1" dirty="0">
                  <a:solidFill>
                    <a:schemeClr val="accent1"/>
                  </a:solidFill>
                  <a:latin typeface="+mj-lt"/>
                </a:rPr>
                <a:t>5.3.3 </a:t>
              </a:r>
              <a:r>
                <a:rPr lang="zh-CN" altLang="en-US" sz="2400" b="1" dirty="0">
                  <a:solidFill>
                    <a:schemeClr val="accent1"/>
                  </a:solidFill>
                  <a:latin typeface="+mj-lt"/>
                </a:rPr>
                <a:t>基于深度学习的同步定位与建图</a:t>
              </a:r>
              <a:endParaRPr lang="en-US" altLang="en-US" sz="2400" b="1" dirty="0">
                <a:solidFill>
                  <a:srgbClr val="005088"/>
                </a:solidFill>
                <a:latin typeface="微软雅黑" panose="020B0503020204020204" pitchFamily="34" charset="-122"/>
                <a:ea typeface="微软雅黑" panose="020B0503020204020204" pitchFamily="34" charset="-122"/>
                <a:cs typeface="Merriweather"/>
                <a:sym typeface="Merriweather"/>
              </a:endParaRPr>
            </a:p>
          </p:txBody>
        </p:sp>
      </p:grpSp>
      <p:sp>
        <p:nvSpPr>
          <p:cNvPr id="100" name="Google Shape;100;p15"/>
          <p:cNvSpPr txBox="1"/>
          <p:nvPr>
            <p:custDataLst>
              <p:tags r:id="rId1"/>
            </p:custDataLst>
          </p:nvPr>
        </p:nvSpPr>
        <p:spPr>
          <a:xfrm>
            <a:off x="792480" y="3156585"/>
            <a:ext cx="5701665" cy="2946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传感器数据采集：</a:t>
            </a:r>
            <a:r>
              <a:rPr lang="en-US" sz="12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 通过激光雷达、相机及IMU采集原始环境信息。</a:t>
            </a:r>
          </a:p>
        </p:txBody>
      </p:sp>
      <p:sp>
        <p:nvSpPr>
          <p:cNvPr id="101" name="Google Shape;101;p15"/>
          <p:cNvSpPr txBox="1"/>
          <p:nvPr>
            <p:custDataLst>
              <p:tags r:id="rId2"/>
            </p:custDataLst>
          </p:nvPr>
        </p:nvSpPr>
        <p:spPr>
          <a:xfrm>
            <a:off x="792480" y="3632835"/>
            <a:ext cx="5404485" cy="2946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前端里程计：</a:t>
            </a:r>
            <a:r>
              <a:rPr lang="en-US" sz="12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 快速估算相邻帧间的位姿变换，提供初步定位。</a:t>
            </a:r>
          </a:p>
        </p:txBody>
      </p:sp>
      <p:sp>
        <p:nvSpPr>
          <p:cNvPr id="102" name="Google Shape;102;p15"/>
          <p:cNvSpPr txBox="1"/>
          <p:nvPr>
            <p:custDataLst>
              <p:tags r:id="rId3"/>
            </p:custDataLst>
          </p:nvPr>
        </p:nvSpPr>
        <p:spPr>
          <a:xfrm>
            <a:off x="792480" y="4109085"/>
            <a:ext cx="5908040" cy="2946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后端优化：</a:t>
            </a:r>
            <a:r>
              <a:rPr lang="en-US" sz="12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 负责全局轨迹优化，消除累计误差，确保轨迹一致性。</a:t>
            </a:r>
          </a:p>
        </p:txBody>
      </p:sp>
      <p:sp>
        <p:nvSpPr>
          <p:cNvPr id="103" name="Google Shape;103;p15"/>
          <p:cNvSpPr txBox="1"/>
          <p:nvPr>
            <p:custDataLst>
              <p:tags r:id="rId4"/>
            </p:custDataLst>
          </p:nvPr>
        </p:nvSpPr>
        <p:spPr>
          <a:xfrm>
            <a:off x="792480" y="4585335"/>
            <a:ext cx="5579110" cy="2946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闭环检测：</a:t>
            </a:r>
            <a:r>
              <a:rPr lang="en-US" sz="12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 识别机器人是否经过相同地点，实现轨迹修正。</a:t>
            </a:r>
          </a:p>
        </p:txBody>
      </p:sp>
      <p:sp>
        <p:nvSpPr>
          <p:cNvPr id="104" name="Google Shape;104;p15"/>
          <p:cNvSpPr txBox="1"/>
          <p:nvPr>
            <p:custDataLst>
              <p:tags r:id="rId5"/>
            </p:custDataLst>
          </p:nvPr>
        </p:nvSpPr>
        <p:spPr>
          <a:xfrm>
            <a:off x="792480" y="5061585"/>
            <a:ext cx="6454140" cy="2946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地图构建：</a:t>
            </a:r>
            <a:r>
              <a:rPr lang="en-US" sz="12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 构建栅格地图、点云地图或语义地图以支持导航。</a:t>
            </a:r>
          </a:p>
        </p:txBody>
      </p:sp>
      <p:pic>
        <p:nvPicPr>
          <p:cNvPr id="105" name="Google Shape;105;p15" descr="image.png"/>
          <p:cNvPicPr preferRelativeResize="0"/>
          <p:nvPr>
            <p:custDataLst>
              <p:tags r:id="rId6"/>
            </p:custDataLst>
          </p:nvPr>
        </p:nvPicPr>
        <p:blipFill rotWithShape="1">
          <a:blip r:embed="rId13"/>
          <a:srcRect/>
          <a:stretch>
            <a:fillRect/>
          </a:stretch>
        </p:blipFill>
        <p:spPr>
          <a:xfrm>
            <a:off x="363855" y="3213893"/>
            <a:ext cx="228600" cy="247650"/>
          </a:xfrm>
          <a:prstGeom prst="rect">
            <a:avLst/>
          </a:prstGeom>
          <a:noFill/>
          <a:ln>
            <a:noFill/>
          </a:ln>
        </p:spPr>
      </p:pic>
      <p:pic>
        <p:nvPicPr>
          <p:cNvPr id="106" name="Google Shape;106;p15" descr="image.png"/>
          <p:cNvPicPr preferRelativeResize="0"/>
          <p:nvPr>
            <p:custDataLst>
              <p:tags r:id="rId7"/>
            </p:custDataLst>
          </p:nvPr>
        </p:nvPicPr>
        <p:blipFill rotWithShape="1">
          <a:blip r:embed="rId14"/>
          <a:srcRect/>
          <a:stretch>
            <a:fillRect/>
          </a:stretch>
        </p:blipFill>
        <p:spPr>
          <a:xfrm>
            <a:off x="363855" y="3690143"/>
            <a:ext cx="228600" cy="247650"/>
          </a:xfrm>
          <a:prstGeom prst="rect">
            <a:avLst/>
          </a:prstGeom>
          <a:noFill/>
          <a:ln>
            <a:noFill/>
          </a:ln>
        </p:spPr>
      </p:pic>
      <p:pic>
        <p:nvPicPr>
          <p:cNvPr id="107" name="Google Shape;107;p15" descr="image.png"/>
          <p:cNvPicPr preferRelativeResize="0"/>
          <p:nvPr>
            <p:custDataLst>
              <p:tags r:id="rId8"/>
            </p:custDataLst>
          </p:nvPr>
        </p:nvPicPr>
        <p:blipFill rotWithShape="1">
          <a:blip r:embed="rId15"/>
          <a:srcRect/>
          <a:stretch>
            <a:fillRect/>
          </a:stretch>
        </p:blipFill>
        <p:spPr>
          <a:xfrm>
            <a:off x="363855" y="4166393"/>
            <a:ext cx="257175" cy="247650"/>
          </a:xfrm>
          <a:prstGeom prst="rect">
            <a:avLst/>
          </a:prstGeom>
          <a:noFill/>
          <a:ln>
            <a:noFill/>
          </a:ln>
        </p:spPr>
      </p:pic>
      <p:pic>
        <p:nvPicPr>
          <p:cNvPr id="108" name="Google Shape;108;p15" descr="image.png"/>
          <p:cNvPicPr preferRelativeResize="0"/>
          <p:nvPr>
            <p:custDataLst>
              <p:tags r:id="rId9"/>
            </p:custDataLst>
          </p:nvPr>
        </p:nvPicPr>
        <p:blipFill rotWithShape="1">
          <a:blip r:embed="rId16"/>
          <a:srcRect/>
          <a:stretch>
            <a:fillRect/>
          </a:stretch>
        </p:blipFill>
        <p:spPr>
          <a:xfrm>
            <a:off x="363855" y="4642643"/>
            <a:ext cx="228600" cy="247650"/>
          </a:xfrm>
          <a:prstGeom prst="rect">
            <a:avLst/>
          </a:prstGeom>
          <a:noFill/>
          <a:ln>
            <a:noFill/>
          </a:ln>
        </p:spPr>
      </p:pic>
      <p:pic>
        <p:nvPicPr>
          <p:cNvPr id="109" name="Google Shape;109;p15" descr="image.png"/>
          <p:cNvPicPr preferRelativeResize="0"/>
          <p:nvPr>
            <p:custDataLst>
              <p:tags r:id="rId10"/>
            </p:custDataLst>
          </p:nvPr>
        </p:nvPicPr>
        <p:blipFill rotWithShape="1">
          <a:blip r:embed="rId17"/>
          <a:srcRect/>
          <a:stretch>
            <a:fillRect/>
          </a:stretch>
        </p:blipFill>
        <p:spPr>
          <a:xfrm>
            <a:off x="363855" y="5118893"/>
            <a:ext cx="257175" cy="247650"/>
          </a:xfrm>
          <a:prstGeom prst="rect">
            <a:avLst/>
          </a:prstGeom>
          <a:noFill/>
          <a:ln>
            <a:noFill/>
          </a:ln>
        </p:spPr>
      </p:pic>
      <p:sp>
        <p:nvSpPr>
          <p:cNvPr id="110" name="Google Shape;110;p15"/>
          <p:cNvSpPr txBox="1"/>
          <p:nvPr/>
        </p:nvSpPr>
        <p:spPr>
          <a:xfrm>
            <a:off x="363855" y="2524760"/>
            <a:ext cx="5402580" cy="3073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005088"/>
                </a:solidFill>
                <a:latin typeface="微软雅黑" panose="020B0503020204020204" pitchFamily="34" charset="-122"/>
                <a:ea typeface="微软雅黑" panose="020B0503020204020204" pitchFamily="34" charset="-122"/>
                <a:cs typeface="微软雅黑" panose="020B0503020204020204" pitchFamily="34" charset="-122"/>
                <a:sym typeface="Merriweather"/>
              </a:rPr>
              <a:t>SLAM系统的五个核心模块</a:t>
            </a:r>
          </a:p>
        </p:txBody>
      </p:sp>
      <p:pic>
        <p:nvPicPr>
          <p:cNvPr id="6" name="图片 5"/>
          <p:cNvPicPr>
            <a:picLocks noChangeAspect="1"/>
          </p:cNvPicPr>
          <p:nvPr/>
        </p:nvPicPr>
        <p:blipFill>
          <a:blip r:embed="rId18"/>
          <a:stretch>
            <a:fillRect/>
          </a:stretch>
        </p:blipFill>
        <p:spPr>
          <a:xfrm>
            <a:off x="5592445" y="2150110"/>
            <a:ext cx="6392545" cy="2911475"/>
          </a:xfrm>
          <a:prstGeom prst="rect">
            <a:avLst/>
          </a:prstGeom>
        </p:spPr>
      </p:pic>
      <p:sp>
        <p:nvSpPr>
          <p:cNvPr id="7" name="文本框 6"/>
          <p:cNvSpPr txBox="1"/>
          <p:nvPr/>
        </p:nvSpPr>
        <p:spPr>
          <a:xfrm>
            <a:off x="7814310" y="1635760"/>
            <a:ext cx="2117725" cy="368300"/>
          </a:xfrm>
          <a:prstGeom prst="rect">
            <a:avLst/>
          </a:prstGeom>
          <a:noFill/>
        </p:spPr>
        <p:txBody>
          <a:bodyPr wrap="square" rtlCol="0">
            <a:spAutoFit/>
          </a:bodyPr>
          <a:lstStyle/>
          <a:p>
            <a:r>
              <a:rPr lang="en-US" altLang="zh-CN"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SLAM </a:t>
            </a:r>
            <a:r>
              <a:rPr lang="zh-CN" alt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系统框架</a:t>
            </a:r>
          </a:p>
        </p:txBody>
      </p:sp>
      <p:sp>
        <p:nvSpPr>
          <p:cNvPr id="8" name="文本框 7"/>
          <p:cNvSpPr txBox="1"/>
          <p:nvPr/>
        </p:nvSpPr>
        <p:spPr>
          <a:xfrm>
            <a:off x="5917565" y="5427980"/>
            <a:ext cx="5515610" cy="737235"/>
          </a:xfrm>
          <a:prstGeom prst="rect">
            <a:avLst/>
          </a:prstGeom>
          <a:noFill/>
        </p:spPr>
        <p:txBody>
          <a:bodyPr wrap="square" rtlCol="0">
            <a:spAutoFit/>
          </a:bodyPr>
          <a:lstStyle/>
          <a:p>
            <a:r>
              <a:rPr lang="zh-CN" altLang="en-US" sz="1400"/>
              <a:t>根据使用的传感器类别不同，当前主流的</a:t>
            </a:r>
            <a:r>
              <a:rPr lang="en-US" altLang="zh-CN" sz="1400"/>
              <a:t> SLAM </a:t>
            </a:r>
            <a:r>
              <a:rPr lang="zh-CN" altLang="en-US" sz="1400"/>
              <a:t>系统主要分为</a:t>
            </a:r>
            <a:r>
              <a:rPr lang="zh-CN" altLang="en-US" sz="1400" b="1"/>
              <a:t>激光</a:t>
            </a:r>
            <a:r>
              <a:rPr lang="en-US" altLang="zh-CN" sz="1400" b="1"/>
              <a:t> SLAM</a:t>
            </a:r>
            <a:r>
              <a:rPr lang="zh-CN" altLang="en-US" sz="1400" b="1"/>
              <a:t>、视觉</a:t>
            </a:r>
            <a:r>
              <a:rPr lang="en-US" altLang="zh-CN" sz="1400" b="1"/>
              <a:t>SLAM</a:t>
            </a:r>
            <a:r>
              <a:rPr lang="en-US" altLang="zh-CN" sz="1400"/>
              <a:t> </a:t>
            </a:r>
            <a:r>
              <a:rPr lang="zh-CN" altLang="en-US" sz="1400"/>
              <a:t>以及各类传感器辅助激光</a:t>
            </a:r>
            <a:r>
              <a:rPr lang="en-US" altLang="zh-CN" sz="1400"/>
              <a:t>/</a:t>
            </a:r>
            <a:r>
              <a:rPr lang="zh-CN" altLang="en-US" sz="1400"/>
              <a:t>视觉的</a:t>
            </a:r>
            <a:r>
              <a:rPr lang="zh-CN" altLang="en-US" sz="1400" b="1"/>
              <a:t>多传感器融合</a:t>
            </a:r>
            <a:r>
              <a:rPr lang="en-US" altLang="zh-CN" sz="1400" b="1"/>
              <a:t> SLAM </a:t>
            </a:r>
            <a:r>
              <a:rPr lang="zh-CN" altLang="en-US" sz="1400"/>
              <a:t>技术。</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圆角矩形 27"/>
          <p:cNvSpPr/>
          <p:nvPr/>
        </p:nvSpPr>
        <p:spPr>
          <a:xfrm>
            <a:off x="5022850" y="1609090"/>
            <a:ext cx="6147435" cy="163766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a:blip r:embed="rId6"/>
          <a:stretch>
            <a:fillRect/>
          </a:stretch>
        </p:blipFill>
        <p:spPr>
          <a:xfrm>
            <a:off x="611505" y="3947795"/>
            <a:ext cx="3081020" cy="1196975"/>
          </a:xfrm>
          <a:prstGeom prst="rect">
            <a:avLst/>
          </a:prstGeom>
        </p:spPr>
      </p:pic>
      <p:sp>
        <p:nvSpPr>
          <p:cNvPr id="22" name="圆角矩形 21"/>
          <p:cNvSpPr/>
          <p:nvPr/>
        </p:nvSpPr>
        <p:spPr>
          <a:xfrm>
            <a:off x="271145" y="1697355"/>
            <a:ext cx="4457700" cy="187261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0" y="939798"/>
            <a:ext cx="7333615" cy="625474"/>
            <a:chOff x="0" y="1075267"/>
            <a:chExt cx="7333615"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7062470" cy="460375"/>
            </a:xfrm>
            <a:prstGeom prst="rect">
              <a:avLst/>
            </a:prstGeom>
            <a:noFill/>
          </p:spPr>
          <p:txBody>
            <a:bodyPr wrap="square">
              <a:spAutoFit/>
            </a:bodyPr>
            <a:lstStyle/>
            <a:p>
              <a:r>
                <a:rPr lang="en-US" altLang="zh-CN" sz="2400" b="1" dirty="0">
                  <a:solidFill>
                    <a:schemeClr val="accent1"/>
                  </a:solidFill>
                  <a:latin typeface="+mj-lt"/>
                </a:rPr>
                <a:t>5.3.3 </a:t>
              </a:r>
              <a:r>
                <a:rPr lang="zh-CN" altLang="en-US" sz="2400" b="1" dirty="0">
                  <a:solidFill>
                    <a:schemeClr val="accent1"/>
                  </a:solidFill>
                  <a:latin typeface="+mj-lt"/>
                </a:rPr>
                <a:t>基于深度学习的激光</a:t>
              </a:r>
              <a:r>
                <a:rPr lang="en-US" altLang="zh-CN" sz="2400" b="1" dirty="0">
                  <a:solidFill>
                    <a:schemeClr val="accent1"/>
                  </a:solidFill>
                  <a:latin typeface="+mj-lt"/>
                </a:rPr>
                <a:t>SLAM</a:t>
              </a:r>
            </a:p>
          </p:txBody>
        </p:sp>
      </p:grpSp>
      <p:sp>
        <p:nvSpPr>
          <p:cNvPr id="12" name="Google Shape;106;p14"/>
          <p:cNvSpPr txBox="1"/>
          <p:nvPr/>
        </p:nvSpPr>
        <p:spPr>
          <a:xfrm>
            <a:off x="5201285" y="1697355"/>
            <a:ext cx="5786755" cy="147701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OverlapNet 闭环检测</a:t>
            </a:r>
            <a:r>
              <a:rPr lang="zh-CN" altLang="en-US" sz="16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算法</a:t>
            </a:r>
            <a:r>
              <a:rPr lang="en-US" sz="16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a:t>
            </a:r>
            <a:r>
              <a:rPr lang="en-US" sz="16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 它</a:t>
            </a:r>
            <a:r>
              <a:rPr lang="en-US" sz="1600">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mn-ea"/>
              </a:rPr>
              <a:t>是为激光雷达 SLAM 设计的闭环检测算法，无需两帧点云数据的相对位姿，而是利用图像重叠率的方式来检测闭环。</a:t>
            </a:r>
            <a:r>
              <a:rPr lang="en-US" sz="16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利用球面投影重叠率代替传统的点云距离匹配，有效解决漂移带来的不确定性。</a:t>
            </a:r>
          </a:p>
        </p:txBody>
      </p:sp>
      <p:sp>
        <p:nvSpPr>
          <p:cNvPr id="13" name="Google Shape;107;p14"/>
          <p:cNvSpPr txBox="1"/>
          <p:nvPr/>
        </p:nvSpPr>
        <p:spPr>
          <a:xfrm>
            <a:off x="527050" y="1862455"/>
            <a:ext cx="4025900" cy="32258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深度学习在激光 SLAM 中的</a:t>
            </a:r>
            <a:r>
              <a:rPr lang="zh-CN" altLang="en-US" sz="14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主要</a:t>
            </a:r>
            <a:r>
              <a:rPr lang="en-US" sz="14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应用</a:t>
            </a:r>
            <a:r>
              <a:rPr lang="zh-CN" altLang="en-US" sz="14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模块</a:t>
            </a:r>
            <a:r>
              <a:rPr lang="en-US" sz="14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a:t>
            </a:r>
          </a:p>
        </p:txBody>
      </p:sp>
      <p:sp>
        <p:nvSpPr>
          <p:cNvPr id="14" name="Google Shape;108;p14"/>
          <p:cNvSpPr txBox="1"/>
          <p:nvPr/>
        </p:nvSpPr>
        <p:spPr>
          <a:xfrm>
            <a:off x="611505" y="3702050"/>
            <a:ext cx="2816225"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64748B"/>
                </a:solidFill>
                <a:latin typeface="微软雅黑" panose="020B0503020204020204" pitchFamily="34" charset="-122"/>
                <a:ea typeface="微软雅黑" panose="020B0503020204020204" pitchFamily="34" charset="-122"/>
                <a:cs typeface="微软雅黑" panose="020B0503020204020204" pitchFamily="34" charset="-122"/>
                <a:sym typeface="DM Sans"/>
              </a:rPr>
              <a:t>点云球面投影 </a:t>
            </a:r>
          </a:p>
        </p:txBody>
      </p:sp>
      <p:sp>
        <p:nvSpPr>
          <p:cNvPr id="16" name="Google Shape;110;p14"/>
          <p:cNvSpPr txBox="1"/>
          <p:nvPr/>
        </p:nvSpPr>
        <p:spPr>
          <a:xfrm>
            <a:off x="476250" y="5084445"/>
            <a:ext cx="307975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64748B"/>
                </a:solidFill>
                <a:latin typeface="微软雅黑" panose="020B0503020204020204" pitchFamily="34" charset="-122"/>
                <a:ea typeface="微软雅黑" panose="020B0503020204020204" pitchFamily="34" charset="-122"/>
                <a:cs typeface="微软雅黑" panose="020B0503020204020204" pitchFamily="34" charset="-122"/>
                <a:sym typeface="DM Sans"/>
              </a:rPr>
              <a:t>重叠率计算</a:t>
            </a:r>
            <a:endParaRPr lang="en-US" sz="1600" b="1" i="0" u="none" strike="noStrike" cap="none">
              <a:solidFill>
                <a:srgbClr val="64748B"/>
              </a:solidFill>
              <a:latin typeface="DM Sans"/>
              <a:ea typeface="DM Sans"/>
              <a:cs typeface="DM Sans"/>
              <a:sym typeface="DM Sans"/>
            </a:endParaRPr>
          </a:p>
        </p:txBody>
      </p:sp>
      <p:sp>
        <p:nvSpPr>
          <p:cNvPr id="113" name="Google Shape;113;p14"/>
          <p:cNvSpPr txBox="1"/>
          <p:nvPr>
            <p:custDataLst>
              <p:tags r:id="rId1"/>
            </p:custDataLst>
          </p:nvPr>
        </p:nvSpPr>
        <p:spPr>
          <a:xfrm>
            <a:off x="476250" y="2242820"/>
            <a:ext cx="4251960" cy="322580"/>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4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·特征提取：</a:t>
            </a:r>
            <a:r>
              <a:rPr lang="en-US" sz="14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 如 FCGF、SpinNet 进行高维特征匹配。</a:t>
            </a:r>
          </a:p>
        </p:txBody>
      </p:sp>
      <p:sp>
        <p:nvSpPr>
          <p:cNvPr id="115" name="Google Shape;115;p14"/>
          <p:cNvSpPr txBox="1"/>
          <p:nvPr>
            <p:custDataLst>
              <p:tags r:id="rId2"/>
            </p:custDataLst>
          </p:nvPr>
        </p:nvSpPr>
        <p:spPr>
          <a:xfrm>
            <a:off x="527050" y="2632710"/>
            <a:ext cx="3717925" cy="322580"/>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4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·点云配准：</a:t>
            </a:r>
            <a:r>
              <a:rPr lang="en-US" sz="14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 REGTR 等端到端配准算法。</a:t>
            </a:r>
          </a:p>
        </p:txBody>
      </p:sp>
      <p:sp>
        <p:nvSpPr>
          <p:cNvPr id="117" name="Google Shape;117;p14"/>
          <p:cNvSpPr txBox="1"/>
          <p:nvPr>
            <p:custDataLst>
              <p:tags r:id="rId3"/>
            </p:custDataLst>
          </p:nvPr>
        </p:nvSpPr>
        <p:spPr>
          <a:xfrm>
            <a:off x="527050" y="3022600"/>
            <a:ext cx="3800475" cy="322580"/>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400" b="1"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·语义地图：</a:t>
            </a:r>
            <a:r>
              <a:rPr lang="en-US" sz="14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 为传统 SLAM 增加物体级分类。</a:t>
            </a:r>
          </a:p>
        </p:txBody>
      </p:sp>
      <p:pic>
        <p:nvPicPr>
          <p:cNvPr id="21" name="图片 20"/>
          <p:cNvPicPr>
            <a:picLocks noChangeAspect="1"/>
          </p:cNvPicPr>
          <p:nvPr/>
        </p:nvPicPr>
        <p:blipFill>
          <a:blip r:embed="rId7"/>
          <a:stretch>
            <a:fillRect/>
          </a:stretch>
        </p:blipFill>
        <p:spPr>
          <a:xfrm>
            <a:off x="271145" y="5415280"/>
            <a:ext cx="3974465" cy="866140"/>
          </a:xfrm>
          <a:prstGeom prst="rect">
            <a:avLst/>
          </a:prstGeom>
        </p:spPr>
      </p:pic>
      <p:pic>
        <p:nvPicPr>
          <p:cNvPr id="24" name="图片 23"/>
          <p:cNvPicPr>
            <a:picLocks noChangeAspect="1"/>
          </p:cNvPicPr>
          <p:nvPr/>
        </p:nvPicPr>
        <p:blipFill>
          <a:blip r:embed="rId8"/>
          <a:stretch>
            <a:fillRect/>
          </a:stretch>
        </p:blipFill>
        <p:spPr>
          <a:xfrm>
            <a:off x="4782185" y="3569970"/>
            <a:ext cx="7223760" cy="2609215"/>
          </a:xfrm>
          <a:prstGeom prst="rect">
            <a:avLst/>
          </a:prstGeom>
        </p:spPr>
      </p:pic>
      <p:sp>
        <p:nvSpPr>
          <p:cNvPr id="27" name="文本框 26"/>
          <p:cNvSpPr txBox="1"/>
          <p:nvPr/>
        </p:nvSpPr>
        <p:spPr>
          <a:xfrm>
            <a:off x="6599555" y="6362700"/>
            <a:ext cx="4064000" cy="368300"/>
          </a:xfrm>
          <a:prstGeom prst="rect">
            <a:avLst/>
          </a:prstGeom>
          <a:noFill/>
        </p:spPr>
        <p:txBody>
          <a:bodyPr wrap="square" rtlCol="0">
            <a:spAutoFit/>
          </a:bodyPr>
          <a:lstStyle/>
          <a:p>
            <a:r>
              <a:rPr lang="en-US" b="1">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OverlapNet</a:t>
            </a:r>
            <a:r>
              <a:rPr lang="zh-CN" altLang="en-US" b="1">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网络结构图</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54990" y="5734685"/>
            <a:ext cx="5266055" cy="105029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圆角矩形 28"/>
          <p:cNvSpPr/>
          <p:nvPr/>
        </p:nvSpPr>
        <p:spPr>
          <a:xfrm>
            <a:off x="534670" y="4311650"/>
            <a:ext cx="5282565" cy="133858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圆角矩形 27"/>
          <p:cNvSpPr/>
          <p:nvPr/>
        </p:nvSpPr>
        <p:spPr>
          <a:xfrm>
            <a:off x="571500" y="3000375"/>
            <a:ext cx="5107305" cy="121539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0" y="939798"/>
            <a:ext cx="7333615" cy="625474"/>
            <a:chOff x="0" y="1075267"/>
            <a:chExt cx="7333615"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7062470" cy="460375"/>
            </a:xfrm>
            <a:prstGeom prst="rect">
              <a:avLst/>
            </a:prstGeom>
            <a:noFill/>
          </p:spPr>
          <p:txBody>
            <a:bodyPr wrap="square">
              <a:spAutoFit/>
            </a:bodyPr>
            <a:lstStyle/>
            <a:p>
              <a:r>
                <a:rPr lang="en-US" altLang="zh-CN" sz="2400" b="1" dirty="0">
                  <a:solidFill>
                    <a:schemeClr val="accent1"/>
                  </a:solidFill>
                  <a:latin typeface="+mj-lt"/>
                </a:rPr>
                <a:t>5.3.3 </a:t>
              </a:r>
              <a:r>
                <a:rPr lang="zh-CN" altLang="en-US" sz="2400" b="1" dirty="0">
                  <a:solidFill>
                    <a:schemeClr val="accent1"/>
                  </a:solidFill>
                  <a:latin typeface="+mj-lt"/>
                </a:rPr>
                <a:t>基于深度学习的视觉</a:t>
              </a:r>
              <a:r>
                <a:rPr lang="en-US" altLang="zh-CN" sz="2400" b="1" dirty="0">
                  <a:solidFill>
                    <a:schemeClr val="accent1"/>
                  </a:solidFill>
                  <a:latin typeface="+mj-lt"/>
                </a:rPr>
                <a:t>SLAM</a:t>
              </a:r>
            </a:p>
          </p:txBody>
        </p:sp>
      </p:grpSp>
      <p:sp>
        <p:nvSpPr>
          <p:cNvPr id="86" name="Google Shape;86;p13"/>
          <p:cNvSpPr txBox="1"/>
          <p:nvPr/>
        </p:nvSpPr>
        <p:spPr>
          <a:xfrm>
            <a:off x="534670" y="1722120"/>
            <a:ext cx="5286375" cy="118237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None/>
            </a:pPr>
            <a:r>
              <a:rPr lang="zh-CN" altLang="en-US" sz="16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最近几年，深度学习在计算机视觉领域得到了飞速发展，相比</a:t>
            </a:r>
            <a:r>
              <a:rPr lang="zh-CN" altLang="en-US" sz="1600" b="1" i="0" u="none" strike="noStrike" cap="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DM Sans"/>
              </a:rPr>
              <a:t>传统的视觉</a:t>
            </a:r>
            <a:r>
              <a:rPr lang="en-US" altLang="zh-CN" sz="1600" b="1" i="0" u="none" strike="noStrike" cap="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DM Sans"/>
              </a:rPr>
              <a:t> SLAM</a:t>
            </a:r>
            <a:r>
              <a:rPr lang="zh-CN" altLang="en-US" sz="16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，深度学习的视觉</a:t>
            </a:r>
            <a:r>
              <a:rPr lang="en-US" altLang="zh-CN" sz="16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SLAM</a:t>
            </a:r>
            <a:r>
              <a:rPr lang="zh-CN" altLang="en-US" sz="16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有以下几大优势：</a:t>
            </a:r>
          </a:p>
        </p:txBody>
      </p:sp>
      <p:sp>
        <p:nvSpPr>
          <p:cNvPr id="89" name="Google Shape;89;p13"/>
          <p:cNvSpPr txBox="1"/>
          <p:nvPr>
            <p:custDataLst>
              <p:tags r:id="rId1"/>
            </p:custDataLst>
          </p:nvPr>
        </p:nvSpPr>
        <p:spPr>
          <a:xfrm>
            <a:off x="608330" y="2987248"/>
            <a:ext cx="5095875" cy="1181100"/>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600" b="1" i="0" u="none" strike="noStrike" cap="none">
                <a:solidFill>
                  <a:srgbClr val="005088"/>
                </a:solidFill>
                <a:latin typeface="微软雅黑" panose="020B0503020204020204" pitchFamily="34" charset="-122"/>
                <a:ea typeface="微软雅黑" panose="020B0503020204020204" pitchFamily="34" charset="-122"/>
                <a:cs typeface="微软雅黑" panose="020B0503020204020204" pitchFamily="34" charset="-122"/>
                <a:sym typeface="DM Sans"/>
              </a:rPr>
              <a:t>·</a:t>
            </a:r>
            <a:r>
              <a:rPr lang="zh-CN" altLang="en-US" sz="1600" b="1" i="0" u="none" strike="noStrike" cap="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DM Sans"/>
              </a:rPr>
              <a:t>场景泛化能力强</a:t>
            </a:r>
            <a:r>
              <a:rPr lang="zh-CN" altLang="en-US" sz="16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：适配传统视觉</a:t>
            </a:r>
            <a:r>
              <a:rPr lang="en-US" altLang="zh-CN" sz="16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 SLAM </a:t>
            </a:r>
            <a:r>
              <a:rPr lang="zh-CN" altLang="en-US" sz="16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的难点场景（</a:t>
            </a:r>
            <a:r>
              <a:rPr lang="zh-CN" altLang="en-US" sz="1600" b="1" i="0" u="none" strike="noStrike" cap="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DM Sans"/>
              </a:rPr>
              <a:t>纹理缺失、动态环境、相机高速运动</a:t>
            </a:r>
            <a:r>
              <a:rPr lang="zh-CN" altLang="en-US" sz="16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等），对复杂场景的适应性更优。</a:t>
            </a:r>
          </a:p>
        </p:txBody>
      </p:sp>
      <p:sp>
        <p:nvSpPr>
          <p:cNvPr id="91" name="Google Shape;91;p13"/>
          <p:cNvSpPr txBox="1"/>
          <p:nvPr>
            <p:custDataLst>
              <p:tags r:id="rId2"/>
            </p:custDataLst>
          </p:nvPr>
        </p:nvSpPr>
        <p:spPr>
          <a:xfrm>
            <a:off x="534670" y="4419173"/>
            <a:ext cx="5095875" cy="1181100"/>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600" b="1" i="0" u="none" strike="noStrike" cap="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DM Sans"/>
              </a:rPr>
              <a:t>·</a:t>
            </a:r>
            <a:r>
              <a:rPr lang="zh-CN" altLang="en-US" sz="1600" b="1" i="0" u="none" strike="noStrike" cap="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DM Sans"/>
              </a:rPr>
              <a:t>自监督学习降低成本</a:t>
            </a:r>
            <a:r>
              <a:rPr lang="zh-CN" altLang="en-US" sz="1600" b="0" i="0" u="none" strike="noStrike" cap="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DM Sans"/>
              </a:rPr>
              <a:t>：借助新视图合成等技术实现自监督训练，无需人工标记数据，就能从</a:t>
            </a:r>
            <a:r>
              <a:rPr lang="zh-CN" altLang="en-US" sz="1600" b="1" i="0" u="none" strike="noStrike" cap="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DM Sans"/>
              </a:rPr>
              <a:t>无标签视频</a:t>
            </a:r>
            <a:r>
              <a:rPr lang="zh-CN" altLang="en-US" sz="1600" b="0" i="0" u="none" strike="noStrike" cap="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DM Sans"/>
              </a:rPr>
              <a:t>中恢复运动与深度信息</a:t>
            </a:r>
            <a:r>
              <a:rPr lang="en-US" sz="1600" b="0" i="0" u="none" strike="noStrike" cap="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DM Sans"/>
              </a:rPr>
              <a:t>。</a:t>
            </a:r>
          </a:p>
        </p:txBody>
      </p:sp>
      <p:sp>
        <p:nvSpPr>
          <p:cNvPr id="93" name="Google Shape;93;p13"/>
          <p:cNvSpPr txBox="1"/>
          <p:nvPr>
            <p:custDataLst>
              <p:tags r:id="rId3"/>
            </p:custDataLst>
          </p:nvPr>
        </p:nvSpPr>
        <p:spPr>
          <a:xfrm>
            <a:off x="571500" y="5851098"/>
            <a:ext cx="5095875" cy="787400"/>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600" b="1" i="0" u="none" strike="noStrike" cap="none">
                <a:solidFill>
                  <a:srgbClr val="005088"/>
                </a:solidFill>
                <a:latin typeface="微软雅黑" panose="020B0503020204020204" pitchFamily="34" charset="-122"/>
                <a:ea typeface="微软雅黑" panose="020B0503020204020204" pitchFamily="34" charset="-122"/>
                <a:cs typeface="微软雅黑" panose="020B0503020204020204" pitchFamily="34" charset="-122"/>
                <a:sym typeface="DM Sans"/>
              </a:rPr>
              <a:t>·</a:t>
            </a:r>
            <a:r>
              <a:rPr lang="zh-CN" altLang="en-US" sz="1600" b="1" i="0" u="none" strike="noStrike" cap="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DM Sans"/>
              </a:rPr>
              <a:t>数据算力适配性高</a:t>
            </a:r>
            <a:r>
              <a:rPr lang="zh-CN" altLang="en-US" sz="16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：可利用海量传感器数据与算力升级，通过</a:t>
            </a:r>
            <a:r>
              <a:rPr lang="zh-CN" altLang="en-US" sz="1600" b="1" i="0" u="none" strike="noStrike" cap="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DM Sans"/>
              </a:rPr>
              <a:t>大型数据集</a:t>
            </a:r>
            <a:r>
              <a:rPr lang="zh-CN" altLang="en-US" sz="16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训练持续迭代优化模型性能</a:t>
            </a:r>
            <a:r>
              <a:rPr lang="en-US" sz="1600" b="0" i="0" u="none" strike="noStrike" cap="none">
                <a:solidFill>
                  <a:srgbClr val="334155"/>
                </a:solidFill>
                <a:latin typeface="微软雅黑" panose="020B0503020204020204" pitchFamily="34" charset="-122"/>
                <a:ea typeface="微软雅黑" panose="020B0503020204020204" pitchFamily="34" charset="-122"/>
                <a:cs typeface="微软雅黑" panose="020B0503020204020204" pitchFamily="34" charset="-122"/>
                <a:sym typeface="DM Sans"/>
              </a:rPr>
              <a:t>。</a:t>
            </a:r>
          </a:p>
        </p:txBody>
      </p:sp>
      <p:pic>
        <p:nvPicPr>
          <p:cNvPr id="27" name="图片 26" descr="分析文件写作格式"/>
          <p:cNvPicPr>
            <a:picLocks noChangeAspect="1"/>
          </p:cNvPicPr>
          <p:nvPr/>
        </p:nvPicPr>
        <p:blipFill>
          <a:blip r:embed="rId6"/>
          <a:stretch>
            <a:fillRect/>
          </a:stretch>
        </p:blipFill>
        <p:spPr>
          <a:xfrm>
            <a:off x="6072505" y="939800"/>
            <a:ext cx="5624195" cy="562419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3047365" y="1760220"/>
            <a:ext cx="5097145" cy="6896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Google Shape;88;p13" descr="image.png"/>
          <p:cNvPicPr preferRelativeResize="0"/>
          <p:nvPr>
            <p:custDataLst>
              <p:tags r:id="rId1"/>
            </p:custDataLst>
          </p:nvPr>
        </p:nvPicPr>
        <p:blipFill rotWithShape="1">
          <a:blip r:embed="rId15"/>
          <a:srcRect/>
          <a:stretch>
            <a:fillRect/>
          </a:stretch>
        </p:blipFill>
        <p:spPr>
          <a:xfrm>
            <a:off x="5993130" y="2593340"/>
            <a:ext cx="5205730" cy="1236345"/>
          </a:xfrm>
          <a:prstGeom prst="rect">
            <a:avLst/>
          </a:prstGeom>
          <a:noFill/>
          <a:ln>
            <a:noFill/>
          </a:ln>
        </p:spPr>
      </p:pic>
      <p:pic>
        <p:nvPicPr>
          <p:cNvPr id="12" name="Google Shape;88;p13" descr="image.png"/>
          <p:cNvPicPr preferRelativeResize="0"/>
          <p:nvPr>
            <p:custDataLst>
              <p:tags r:id="rId2"/>
            </p:custDataLst>
          </p:nvPr>
        </p:nvPicPr>
        <p:blipFill rotWithShape="1">
          <a:blip r:embed="rId15"/>
          <a:srcRect/>
          <a:stretch>
            <a:fillRect/>
          </a:stretch>
        </p:blipFill>
        <p:spPr>
          <a:xfrm>
            <a:off x="6017895" y="5610860"/>
            <a:ext cx="5181600" cy="1062355"/>
          </a:xfrm>
          <a:prstGeom prst="rect">
            <a:avLst/>
          </a:prstGeom>
          <a:noFill/>
          <a:ln>
            <a:noFill/>
          </a:ln>
        </p:spPr>
      </p:pic>
      <p:pic>
        <p:nvPicPr>
          <p:cNvPr id="11" name="Google Shape;88;p13" descr="image.png"/>
          <p:cNvPicPr preferRelativeResize="0"/>
          <p:nvPr>
            <p:custDataLst>
              <p:tags r:id="rId3"/>
            </p:custDataLst>
          </p:nvPr>
        </p:nvPicPr>
        <p:blipFill rotWithShape="1">
          <a:blip r:embed="rId15"/>
          <a:srcRect/>
          <a:stretch>
            <a:fillRect/>
          </a:stretch>
        </p:blipFill>
        <p:spPr>
          <a:xfrm>
            <a:off x="271145" y="5461635"/>
            <a:ext cx="5708650" cy="1360170"/>
          </a:xfrm>
          <a:prstGeom prst="rect">
            <a:avLst/>
          </a:prstGeom>
          <a:noFill/>
          <a:ln>
            <a:noFill/>
          </a:ln>
        </p:spPr>
      </p:pic>
      <p:pic>
        <p:nvPicPr>
          <p:cNvPr id="10" name="Google Shape;88;p13" descr="image.png"/>
          <p:cNvPicPr preferRelativeResize="0"/>
          <p:nvPr>
            <p:custDataLst>
              <p:tags r:id="rId4"/>
            </p:custDataLst>
          </p:nvPr>
        </p:nvPicPr>
        <p:blipFill rotWithShape="1">
          <a:blip r:embed="rId15"/>
          <a:srcRect/>
          <a:stretch>
            <a:fillRect/>
          </a:stretch>
        </p:blipFill>
        <p:spPr>
          <a:xfrm>
            <a:off x="197485" y="2613025"/>
            <a:ext cx="5554345" cy="1212215"/>
          </a:xfrm>
          <a:prstGeom prst="rect">
            <a:avLst/>
          </a:prstGeom>
          <a:noFill/>
          <a:ln>
            <a:noFill/>
          </a:ln>
        </p:spPr>
      </p:pic>
      <p:pic>
        <p:nvPicPr>
          <p:cNvPr id="8" name="Google Shape;88;p13" descr="image.png"/>
          <p:cNvPicPr preferRelativeResize="0"/>
          <p:nvPr>
            <p:custDataLst>
              <p:tags r:id="rId5"/>
            </p:custDataLst>
          </p:nvPr>
        </p:nvPicPr>
        <p:blipFill rotWithShape="1">
          <a:blip r:embed="rId15"/>
          <a:srcRect/>
          <a:stretch>
            <a:fillRect/>
          </a:stretch>
        </p:blipFill>
        <p:spPr>
          <a:xfrm>
            <a:off x="271145" y="4130675"/>
            <a:ext cx="5606415" cy="1208405"/>
          </a:xfrm>
          <a:prstGeom prst="rect">
            <a:avLst/>
          </a:prstGeom>
          <a:noFill/>
          <a:ln>
            <a:noFill/>
          </a:ln>
        </p:spPr>
      </p:pic>
      <p:pic>
        <p:nvPicPr>
          <p:cNvPr id="9" name="Google Shape;88;p13" descr="image.png"/>
          <p:cNvPicPr preferRelativeResize="0"/>
          <p:nvPr>
            <p:custDataLst>
              <p:tags r:id="rId6"/>
            </p:custDataLst>
          </p:nvPr>
        </p:nvPicPr>
        <p:blipFill rotWithShape="1">
          <a:blip r:embed="rId15"/>
          <a:srcRect/>
          <a:stretch>
            <a:fillRect/>
          </a:stretch>
        </p:blipFill>
        <p:spPr>
          <a:xfrm>
            <a:off x="5993130" y="4114800"/>
            <a:ext cx="5750560" cy="1230630"/>
          </a:xfrm>
          <a:prstGeom prst="rect">
            <a:avLst/>
          </a:prstGeom>
          <a:noFill/>
          <a:ln>
            <a:noFill/>
          </a:ln>
        </p:spPr>
      </p:pic>
      <p:grpSp>
        <p:nvGrpSpPr>
          <p:cNvPr id="2" name="组合 1"/>
          <p:cNvGrpSpPr/>
          <p:nvPr/>
        </p:nvGrpSpPr>
        <p:grpSpPr>
          <a:xfrm>
            <a:off x="0" y="939798"/>
            <a:ext cx="7333615" cy="625474"/>
            <a:chOff x="0" y="1075267"/>
            <a:chExt cx="7333615" cy="625474"/>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1145" y="1157182"/>
              <a:ext cx="7062470" cy="460375"/>
            </a:xfrm>
            <a:prstGeom prst="rect">
              <a:avLst/>
            </a:prstGeom>
            <a:noFill/>
          </p:spPr>
          <p:txBody>
            <a:bodyPr wrap="square">
              <a:spAutoFit/>
            </a:bodyPr>
            <a:lstStyle/>
            <a:p>
              <a:r>
                <a:rPr lang="en-US" altLang="zh-CN" sz="2400" b="1" dirty="0">
                  <a:solidFill>
                    <a:schemeClr val="accent1"/>
                  </a:solidFill>
                  <a:latin typeface="+mj-lt"/>
                </a:rPr>
                <a:t>5.3.3 </a:t>
              </a:r>
              <a:r>
                <a:rPr lang="zh-CN" altLang="en-US" sz="2400" b="1" dirty="0">
                  <a:solidFill>
                    <a:schemeClr val="accent1"/>
                  </a:solidFill>
                  <a:latin typeface="+mj-lt"/>
                </a:rPr>
                <a:t>基于深度学习的视觉</a:t>
              </a:r>
              <a:r>
                <a:rPr lang="en-US" altLang="zh-CN" sz="2400" b="1" dirty="0">
                  <a:solidFill>
                    <a:schemeClr val="accent1"/>
                  </a:solidFill>
                  <a:latin typeface="+mj-lt"/>
                </a:rPr>
                <a:t>SLAM</a:t>
              </a:r>
            </a:p>
          </p:txBody>
        </p:sp>
      </p:grpSp>
      <p:sp>
        <p:nvSpPr>
          <p:cNvPr id="86" name="Google Shape;86;p13"/>
          <p:cNvSpPr txBox="1"/>
          <p:nvPr/>
        </p:nvSpPr>
        <p:spPr>
          <a:xfrm>
            <a:off x="3425825" y="1796415"/>
            <a:ext cx="4482465" cy="4826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None/>
            </a:pPr>
            <a:r>
              <a:rPr lang="en-US" sz="1600" b="0" i="0" u="none" strike="noStrike" cap="none">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DM Sans"/>
              </a:rPr>
              <a:t> </a:t>
            </a:r>
            <a:r>
              <a:rPr lang="zh-CN" altLang="en-US" sz="2000" b="0" i="0" u="none" strike="noStrike" cap="none">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DM Sans"/>
              </a:rPr>
              <a:t>深度学习和视觉</a:t>
            </a:r>
            <a:r>
              <a:rPr lang="en-US" altLang="zh-CN" sz="2000" b="0" i="0" u="none" strike="noStrike" cap="none">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DM Sans"/>
              </a:rPr>
              <a:t> SLAM </a:t>
            </a:r>
            <a:r>
              <a:rPr lang="zh-CN" altLang="en-US" sz="2000" b="0" i="0" u="none" strike="noStrike" cap="none">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DM Sans"/>
              </a:rPr>
              <a:t>的结合</a:t>
            </a:r>
            <a:r>
              <a:rPr lang="zh-CN" altLang="en-US" sz="2000" b="1" i="0" u="none" strike="noStrike" cap="none">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DM Sans"/>
              </a:rPr>
              <a:t>六大方面</a:t>
            </a:r>
          </a:p>
        </p:txBody>
      </p:sp>
      <p:sp>
        <p:nvSpPr>
          <p:cNvPr id="89" name="Google Shape;89;p13"/>
          <p:cNvSpPr txBox="1"/>
          <p:nvPr>
            <p:custDataLst>
              <p:tags r:id="rId7"/>
            </p:custDataLst>
          </p:nvPr>
        </p:nvSpPr>
        <p:spPr>
          <a:xfrm>
            <a:off x="381635" y="5574665"/>
            <a:ext cx="5271135" cy="1082040"/>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600" b="1" i="0" u="none" strike="noStrike" cap="none">
                <a:solidFill>
                  <a:srgbClr val="005088"/>
                </a:solidFill>
                <a:latin typeface="微软雅黑" panose="020B0503020204020204" pitchFamily="34" charset="-122"/>
                <a:ea typeface="微软雅黑" panose="020B0503020204020204" pitchFamily="34" charset="-122"/>
                <a:cs typeface="微软雅黑" panose="020B0503020204020204" pitchFamily="34" charset="-122"/>
                <a:sym typeface="DM Sans"/>
              </a:rPr>
              <a:t>·</a:t>
            </a:r>
            <a:r>
              <a:rPr lang="zh-CN" altLang="en-US" sz="140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DM Sans"/>
              </a:rPr>
              <a:t>语义信息</a:t>
            </a:r>
            <a:r>
              <a:rPr lang="en-US" altLang="zh-CN" sz="140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DM Sans"/>
              </a:rPr>
              <a:t> + SLAM</a:t>
            </a:r>
            <a:r>
              <a:rPr lang="zh-CN" altLang="en-US" sz="140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DM Sans"/>
              </a:rPr>
              <a:t>：双向互补</a:t>
            </a:r>
            <a:r>
              <a:rPr lang="en-US" altLang="zh-CN" sz="140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DM Sans"/>
              </a:rPr>
              <a:t> ——SLAM </a:t>
            </a:r>
            <a:r>
              <a:rPr lang="zh-CN" altLang="en-US" sz="140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DM Sans"/>
              </a:rPr>
              <a:t>辅助语义任务的数据集构建（降标注成本），语义信息提供物体级</a:t>
            </a:r>
            <a:r>
              <a:rPr lang="zh-CN" altLang="en-US" sz="1400" i="0" u="none" strike="noStrike" cap="none">
                <a:latin typeface="微软雅黑" panose="020B0503020204020204" pitchFamily="34" charset="-122"/>
                <a:ea typeface="微软雅黑" panose="020B0503020204020204" pitchFamily="34" charset="-122"/>
                <a:cs typeface="微软雅黑" panose="020B0503020204020204" pitchFamily="34" charset="-122"/>
                <a:sym typeface="DM Sans"/>
              </a:rPr>
              <a:t>约束</a:t>
            </a:r>
            <a:r>
              <a:rPr lang="zh-CN" altLang="en-US" sz="140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DM Sans"/>
              </a:rPr>
              <a:t>（提升</a:t>
            </a:r>
            <a:r>
              <a:rPr lang="en-US" altLang="zh-CN" sz="140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DM Sans"/>
              </a:rPr>
              <a:t> SLAM </a:t>
            </a:r>
            <a:r>
              <a:rPr lang="zh-CN" altLang="en-US" sz="140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DM Sans"/>
              </a:rPr>
              <a:t>精度</a:t>
            </a:r>
            <a:r>
              <a:rPr lang="en-US" altLang="zh-CN" sz="140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DM Sans"/>
              </a:rPr>
              <a:t> / </a:t>
            </a:r>
            <a:r>
              <a:rPr lang="zh-CN" altLang="en-US" sz="1400" b="0" i="0" u="none" strike="noStrike" cap="non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DM Sans"/>
              </a:rPr>
              <a:t>稳定性）。</a:t>
            </a:r>
          </a:p>
        </p:txBody>
      </p:sp>
      <p:sp>
        <p:nvSpPr>
          <p:cNvPr id="91" name="Google Shape;91;p13"/>
          <p:cNvSpPr txBox="1"/>
          <p:nvPr>
            <p:custDataLst>
              <p:tags r:id="rId8"/>
            </p:custDataLst>
          </p:nvPr>
        </p:nvSpPr>
        <p:spPr>
          <a:xfrm>
            <a:off x="6226175" y="5508625"/>
            <a:ext cx="4972685" cy="1082040"/>
          </a:xfrm>
          <a:prstGeom prst="rect">
            <a:avLst/>
          </a:prstGeom>
          <a:noFill/>
          <a:ln>
            <a:noFill/>
          </a:ln>
        </p:spPr>
        <p:txBody>
          <a:bodyPr spcFirstLastPara="1" wrap="square" lIns="66675" tIns="0" rIns="0" bIns="0" anchor="t" anchorCtr="0">
            <a:spAutoFit/>
          </a:bodyPr>
          <a:lstStyle/>
          <a:p>
            <a:pPr marL="0" marR="0" lvl="0" algn="l" rtl="0">
              <a:lnSpc>
                <a:spcPct val="160000"/>
              </a:lnSpc>
              <a:spcBef>
                <a:spcPts val="0"/>
              </a:spcBef>
              <a:spcAft>
                <a:spcPts val="0"/>
              </a:spcAft>
              <a:buClrTx/>
              <a:buSzTx/>
              <a:buFontTx/>
              <a:buNone/>
            </a:pPr>
            <a:r>
              <a:rPr lang="en-US" sz="1600" b="1" i="0" u="none" strike="noStrike" cap="none">
                <a:solidFill>
                  <a:srgbClr val="005088"/>
                </a:solidFill>
                <a:latin typeface="微软雅黑" panose="020B0503020204020204" pitchFamily="34" charset="-122"/>
                <a:ea typeface="微软雅黑" panose="020B0503020204020204" pitchFamily="34" charset="-122"/>
                <a:cs typeface="微软雅黑" panose="020B0503020204020204" pitchFamily="34" charset="-122"/>
                <a:sym typeface="DM Sans"/>
              </a:rPr>
              <a:t>·</a:t>
            </a:r>
            <a:r>
              <a:rPr lang="en-US" sz="1400" i="0" u="none" strike="noStrike" cap="none">
                <a:latin typeface="微软雅黑" panose="020B0503020204020204" pitchFamily="34" charset="-122"/>
                <a:ea typeface="微软雅黑" panose="020B0503020204020204" pitchFamily="34" charset="-122"/>
                <a:cs typeface="微软雅黑" panose="020B0503020204020204" pitchFamily="34" charset="-122"/>
                <a:sym typeface="DM Sans"/>
              </a:rPr>
              <a:t> 视觉里程计（VO）：分三类实现 —— 有监督 VO（用标注数据学绝对尺度）、无监督 VO（无标注数据但性能稍弱）、混合 VO（结合几何模型，精度超传统方法）。</a:t>
            </a:r>
          </a:p>
        </p:txBody>
      </p:sp>
      <p:sp>
        <p:nvSpPr>
          <p:cNvPr id="93" name="Google Shape;93;p13"/>
          <p:cNvSpPr txBox="1"/>
          <p:nvPr>
            <p:custDataLst>
              <p:tags r:id="rId9"/>
            </p:custDataLst>
          </p:nvPr>
        </p:nvSpPr>
        <p:spPr>
          <a:xfrm>
            <a:off x="408305" y="2678430"/>
            <a:ext cx="4512310" cy="1082040"/>
          </a:xfrm>
          <a:prstGeom prst="rect">
            <a:avLst/>
          </a:prstGeom>
          <a:noFill/>
          <a:ln>
            <a:noFill/>
          </a:ln>
        </p:spPr>
        <p:txBody>
          <a:bodyPr spcFirstLastPara="1" wrap="square" lIns="66675" tIns="0" rIns="0" bIns="0" anchor="t" anchorCtr="0">
            <a:spAutoFit/>
          </a:bodyPr>
          <a:lstStyle/>
          <a:p>
            <a:pPr marL="0" marR="0" lvl="0" algn="l" rtl="0">
              <a:lnSpc>
                <a:spcPct val="160000"/>
              </a:lnSpc>
              <a:spcBef>
                <a:spcPts val="0"/>
              </a:spcBef>
              <a:spcAft>
                <a:spcPts val="0"/>
              </a:spcAft>
              <a:buClrTx/>
              <a:buSzTx/>
              <a:buFontTx/>
              <a:buNone/>
            </a:pPr>
            <a:r>
              <a:rPr lang="en-US" sz="1600" b="1" i="0" u="none" strike="noStrike" cap="none">
                <a:solidFill>
                  <a:srgbClr val="005088"/>
                </a:solidFill>
                <a:latin typeface="微软雅黑" panose="020B0503020204020204" pitchFamily="34" charset="-122"/>
                <a:ea typeface="微软雅黑" panose="020B0503020204020204" pitchFamily="34" charset="-122"/>
                <a:cs typeface="微软雅黑" panose="020B0503020204020204" pitchFamily="34" charset="-122"/>
                <a:sym typeface="DM Sans"/>
              </a:rPr>
              <a:t>·</a:t>
            </a:r>
            <a:r>
              <a:rPr lang="en-US" sz="1400" b="0" i="0" u="none" strike="noStrike" cap="none">
                <a:latin typeface="微软雅黑" panose="020B0503020204020204" pitchFamily="34" charset="-122"/>
                <a:ea typeface="微软雅黑" panose="020B0503020204020204" pitchFamily="34" charset="-122"/>
                <a:cs typeface="微软雅黑" panose="020B0503020204020204" pitchFamily="34" charset="-122"/>
                <a:sym typeface="DM Sans"/>
              </a:rPr>
              <a:t>视觉惯性里程计（VIO）：端到端学习 —— 用 CNN 提视觉特征、LSTM 提 IMU 时序特征，融合后预测位姿，对噪声 / 时间同步误差更鲁棒。</a:t>
            </a:r>
          </a:p>
        </p:txBody>
      </p:sp>
      <p:sp>
        <p:nvSpPr>
          <p:cNvPr id="5" name="Google Shape;93;p13"/>
          <p:cNvSpPr txBox="1"/>
          <p:nvPr>
            <p:custDataLst>
              <p:tags r:id="rId10"/>
            </p:custDataLst>
          </p:nvPr>
        </p:nvSpPr>
        <p:spPr>
          <a:xfrm>
            <a:off x="481965" y="4131310"/>
            <a:ext cx="4614545" cy="1123315"/>
          </a:xfrm>
          <a:prstGeom prst="rect">
            <a:avLst/>
          </a:prstGeom>
          <a:noFill/>
          <a:ln>
            <a:noFill/>
          </a:ln>
        </p:spPr>
        <p:txBody>
          <a:bodyPr spcFirstLastPara="1" wrap="square" lIns="66675" tIns="0" rIns="0" bIns="0" anchor="t" anchorCtr="0">
            <a:noAutofit/>
          </a:bodyPr>
          <a:lstStyle/>
          <a:p>
            <a:pPr marL="0" marR="0" lvl="0" algn="l" rtl="0">
              <a:lnSpc>
                <a:spcPct val="160000"/>
              </a:lnSpc>
              <a:spcBef>
                <a:spcPts val="0"/>
              </a:spcBef>
              <a:spcAft>
                <a:spcPts val="0"/>
              </a:spcAft>
              <a:buClrTx/>
              <a:buSzTx/>
              <a:buFontTx/>
              <a:buNone/>
            </a:pPr>
            <a:r>
              <a:rPr lang="en-US" sz="1600" b="1" i="0" u="none" strike="noStrike" cap="none">
                <a:solidFill>
                  <a:srgbClr val="005088"/>
                </a:solidFill>
                <a:latin typeface="微软雅黑" panose="020B0503020204020204" pitchFamily="34" charset="-122"/>
                <a:ea typeface="微软雅黑" panose="020B0503020204020204" pitchFamily="34" charset="-122"/>
                <a:cs typeface="微软雅黑" panose="020B0503020204020204" pitchFamily="34" charset="-122"/>
                <a:sym typeface="DM Sans"/>
              </a:rPr>
              <a:t>·</a:t>
            </a:r>
            <a:r>
              <a:rPr lang="en-US" sz="1400" b="0" i="0" u="none" strike="noStrike" cap="none">
                <a:latin typeface="微软雅黑" panose="020B0503020204020204" pitchFamily="34" charset="-122"/>
                <a:ea typeface="微软雅黑" panose="020B0503020204020204" pitchFamily="34" charset="-122"/>
                <a:cs typeface="微软雅黑" panose="020B0503020204020204" pitchFamily="34" charset="-122"/>
                <a:sym typeface="DM Sans"/>
              </a:rPr>
              <a:t> 闭环检测：升级特征表达 —— 用深度网络学多层次图像特征，对光照 / 季节变化的鲁棒性更强，部分方法支持无监督训练。</a:t>
            </a:r>
          </a:p>
        </p:txBody>
      </p:sp>
      <p:sp>
        <p:nvSpPr>
          <p:cNvPr id="6" name="Google Shape;93;p13"/>
          <p:cNvSpPr txBox="1"/>
          <p:nvPr>
            <p:custDataLst>
              <p:tags r:id="rId11"/>
            </p:custDataLst>
          </p:nvPr>
        </p:nvSpPr>
        <p:spPr>
          <a:xfrm>
            <a:off x="6151880" y="2593340"/>
            <a:ext cx="4705350" cy="1082040"/>
          </a:xfrm>
          <a:prstGeom prst="rect">
            <a:avLst/>
          </a:prstGeom>
          <a:noFill/>
          <a:ln>
            <a:noFill/>
          </a:ln>
        </p:spPr>
        <p:txBody>
          <a:bodyPr spcFirstLastPara="1" wrap="square" lIns="66675" tIns="0" rIns="0" bIns="0" anchor="t" anchorCtr="0">
            <a:spAutoFit/>
          </a:bodyPr>
          <a:lstStyle/>
          <a:p>
            <a:pPr marL="0" marR="0" lvl="0" algn="l" rtl="0">
              <a:lnSpc>
                <a:spcPct val="160000"/>
              </a:lnSpc>
              <a:spcBef>
                <a:spcPts val="0"/>
              </a:spcBef>
              <a:spcAft>
                <a:spcPts val="0"/>
              </a:spcAft>
              <a:buClrTx/>
              <a:buSzTx/>
              <a:buFontTx/>
              <a:buNone/>
            </a:pPr>
            <a:r>
              <a:rPr lang="en-US" sz="1600" b="1" i="0" u="none" strike="noStrike" cap="none">
                <a:solidFill>
                  <a:srgbClr val="005088"/>
                </a:solidFill>
                <a:latin typeface="微软雅黑" panose="020B0503020204020204" pitchFamily="34" charset="-122"/>
                <a:ea typeface="微软雅黑" panose="020B0503020204020204" pitchFamily="34" charset="-122"/>
                <a:cs typeface="微软雅黑" panose="020B0503020204020204" pitchFamily="34" charset="-122"/>
                <a:sym typeface="DM Sans"/>
              </a:rPr>
              <a:t>·</a:t>
            </a:r>
            <a:r>
              <a:rPr lang="en-US" sz="1400" b="0" i="0" u="none" strike="noStrike" cap="none">
                <a:latin typeface="微软雅黑" panose="020B0503020204020204" pitchFamily="34" charset="-122"/>
                <a:ea typeface="微软雅黑" panose="020B0503020204020204" pitchFamily="34" charset="-122"/>
                <a:cs typeface="微软雅黑" panose="020B0503020204020204" pitchFamily="34" charset="-122"/>
                <a:sym typeface="DM Sans"/>
              </a:rPr>
              <a:t>建图：补全稠密信息 —— 以传统 SLAM 的稀疏结果为输入，用深度估计预测稠密深度图，最终融合成全局一致的稠密三维地图。</a:t>
            </a:r>
          </a:p>
        </p:txBody>
      </p:sp>
      <p:sp>
        <p:nvSpPr>
          <p:cNvPr id="7" name="Google Shape;93;p13"/>
          <p:cNvSpPr txBox="1"/>
          <p:nvPr>
            <p:custDataLst>
              <p:tags r:id="rId12"/>
            </p:custDataLst>
          </p:nvPr>
        </p:nvSpPr>
        <p:spPr>
          <a:xfrm>
            <a:off x="6151880" y="4170045"/>
            <a:ext cx="5047615" cy="1082040"/>
          </a:xfrm>
          <a:prstGeom prst="rect">
            <a:avLst/>
          </a:prstGeom>
          <a:noFill/>
          <a:ln>
            <a:noFill/>
          </a:ln>
        </p:spPr>
        <p:txBody>
          <a:bodyPr spcFirstLastPara="1" wrap="square" lIns="66675" tIns="0" rIns="0" bIns="0" anchor="t" anchorCtr="0">
            <a:spAutoFit/>
          </a:bodyPr>
          <a:lstStyle/>
          <a:p>
            <a:pPr marL="0" marR="0" lvl="0" algn="l" rtl="0">
              <a:lnSpc>
                <a:spcPct val="160000"/>
              </a:lnSpc>
              <a:spcBef>
                <a:spcPts val="0"/>
              </a:spcBef>
              <a:spcAft>
                <a:spcPts val="0"/>
              </a:spcAft>
              <a:buClrTx/>
              <a:buSzTx/>
              <a:buFontTx/>
              <a:buNone/>
            </a:pPr>
            <a:r>
              <a:rPr lang="en-US" sz="1600" b="1" i="0" u="none" strike="noStrike" cap="none">
                <a:solidFill>
                  <a:srgbClr val="005088"/>
                </a:solidFill>
                <a:latin typeface="微软雅黑" panose="020B0503020204020204" pitchFamily="34" charset="-122"/>
                <a:ea typeface="微软雅黑" panose="020B0503020204020204" pitchFamily="34" charset="-122"/>
                <a:cs typeface="微软雅黑" panose="020B0503020204020204" pitchFamily="34" charset="-122"/>
                <a:sym typeface="DM Sans"/>
              </a:rPr>
              <a:t>·</a:t>
            </a:r>
            <a:r>
              <a:rPr lang="en-US" sz="1400" b="0" i="0" u="none" strike="noStrike" cap="none">
                <a:latin typeface="微软雅黑" panose="020B0503020204020204" pitchFamily="34" charset="-122"/>
                <a:ea typeface="微软雅黑" panose="020B0503020204020204" pitchFamily="34" charset="-122"/>
                <a:cs typeface="微软雅黑" panose="020B0503020204020204" pitchFamily="34" charset="-122"/>
                <a:sym typeface="DM Sans"/>
              </a:rPr>
              <a:t>特征提取 / 匹配：替代人工特征 —— 用自监督框架（如 SuperPoint）提更丰富的特征点 / 描述子，泛化性优于传统人工设计特征。</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939798"/>
            <a:ext cx="5581192" cy="912902"/>
            <a:chOff x="0" y="1075267"/>
            <a:chExt cx="5022850" cy="912902"/>
          </a:xfrm>
        </p:grpSpPr>
        <p:sp>
          <p:nvSpPr>
            <p:cNvPr id="3" name="矩形 2"/>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0932" y="1157172"/>
              <a:ext cx="4751917" cy="830997"/>
            </a:xfrm>
            <a:prstGeom prst="rect">
              <a:avLst/>
            </a:prstGeom>
            <a:noFill/>
          </p:spPr>
          <p:txBody>
            <a:bodyPr wrap="square">
              <a:spAutoFit/>
            </a:bodyPr>
            <a:lstStyle/>
            <a:p>
              <a:r>
                <a:rPr lang="en-US" altLang="zh-CN" sz="2400" b="1" dirty="0">
                  <a:solidFill>
                    <a:schemeClr val="accent1"/>
                  </a:solidFill>
                  <a:latin typeface="+mj-lt"/>
                </a:rPr>
                <a:t>5.4.1 </a:t>
              </a:r>
              <a:r>
                <a:rPr lang="zh-CN" altLang="en-US" sz="2400" b="1" dirty="0">
                  <a:solidFill>
                    <a:schemeClr val="accent1"/>
                  </a:solidFill>
                  <a:latin typeface="+mj-lt"/>
                </a:rPr>
                <a:t>基于值函数的强化学习导航</a:t>
              </a:r>
            </a:p>
          </p:txBody>
        </p:sp>
      </p:grpSp>
      <p:pic>
        <p:nvPicPr>
          <p:cNvPr id="22530" name="Picture 2">
            <a:extLst>
              <a:ext uri="{FF2B5EF4-FFF2-40B4-BE49-F238E27FC236}">
                <a16:creationId xmlns:a16="http://schemas.microsoft.com/office/drawing/2014/main" id="{7A3064AB-EF8E-5427-70F4-3D48FCAABF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9776" y="1021703"/>
            <a:ext cx="4964792" cy="2464408"/>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78E7F862-5616-D7F9-DE4B-E0B3C45AB3F7}"/>
              </a:ext>
            </a:extLst>
          </p:cNvPr>
          <p:cNvSpPr txBox="1"/>
          <p:nvPr/>
        </p:nvSpPr>
        <p:spPr>
          <a:xfrm>
            <a:off x="331033" y="1999036"/>
            <a:ext cx="5581192" cy="2800767"/>
          </a:xfrm>
          <a:prstGeom prst="rect">
            <a:avLst/>
          </a:prstGeom>
          <a:noFill/>
        </p:spPr>
        <p:txBody>
          <a:bodyPr wrap="square" rtlCol="0">
            <a:spAutoFit/>
          </a:bodyPr>
          <a:lstStyle/>
          <a:p>
            <a:pPr algn="just"/>
            <a:r>
              <a:rPr lang="zh-CN" altLang="en-US" sz="2400" b="1" spc="300" dirty="0"/>
              <a:t>导航主体</a:t>
            </a:r>
            <a:r>
              <a:rPr lang="en-US" altLang="zh-CN" sz="2400" b="1" spc="300" dirty="0"/>
              <a:t>:</a:t>
            </a:r>
            <a:r>
              <a:rPr lang="zh-CN" altLang="en-US" sz="2000" spc="300" dirty="0"/>
              <a:t>机器人</a:t>
            </a:r>
            <a:r>
              <a:rPr lang="en-US" altLang="zh-CN" sz="2000" spc="300" dirty="0"/>
              <a:t>Agent</a:t>
            </a:r>
          </a:p>
          <a:p>
            <a:pPr algn="just"/>
            <a:r>
              <a:rPr lang="zh-CN" altLang="en-US" sz="2400" b="1" spc="300" dirty="0"/>
              <a:t>交互主体</a:t>
            </a:r>
            <a:r>
              <a:rPr lang="en-US" altLang="zh-CN" sz="2400" b="1" spc="300" dirty="0"/>
              <a:t>:</a:t>
            </a:r>
            <a:r>
              <a:rPr lang="zh-CN" altLang="en-US" sz="2000" spc="300" dirty="0"/>
              <a:t>环境</a:t>
            </a:r>
            <a:r>
              <a:rPr lang="en-US" altLang="zh-CN" sz="2000" spc="300" dirty="0"/>
              <a:t>Environment</a:t>
            </a:r>
          </a:p>
          <a:p>
            <a:pPr algn="just"/>
            <a:endParaRPr lang="en-US" altLang="zh-CN" sz="2400" spc="300" dirty="0"/>
          </a:p>
          <a:p>
            <a:pPr algn="just"/>
            <a:endParaRPr lang="en-US" altLang="zh-CN" sz="2400" spc="300" dirty="0"/>
          </a:p>
          <a:p>
            <a:pPr algn="just"/>
            <a:r>
              <a:rPr lang="en-US" altLang="zh-CN" sz="2000" spc="300" dirty="0"/>
              <a:t>1</a:t>
            </a:r>
            <a:r>
              <a:rPr lang="zh-CN" altLang="en-US" sz="2000" spc="300" dirty="0"/>
              <a:t>）机器人执行动作</a:t>
            </a:r>
            <a:r>
              <a:rPr lang="en-US" altLang="zh-CN" sz="2000" spc="300" dirty="0"/>
              <a:t>Action</a:t>
            </a:r>
          </a:p>
          <a:p>
            <a:pPr algn="just"/>
            <a:r>
              <a:rPr lang="en-US" altLang="zh-CN" sz="2000" spc="300" dirty="0"/>
              <a:t>2</a:t>
            </a:r>
            <a:r>
              <a:rPr lang="zh-CN" altLang="en-US" sz="2000" spc="300" dirty="0"/>
              <a:t>）与环境交互获得奖励</a:t>
            </a:r>
            <a:r>
              <a:rPr lang="en-US" altLang="zh-CN" sz="2000" spc="300" dirty="0"/>
              <a:t>Reward</a:t>
            </a:r>
            <a:r>
              <a:rPr lang="zh-CN" altLang="en-US" sz="2000" spc="300" dirty="0"/>
              <a:t>作为反馈</a:t>
            </a:r>
            <a:endParaRPr lang="en-US" altLang="zh-CN" sz="2000" spc="300" dirty="0"/>
          </a:p>
          <a:p>
            <a:pPr algn="just"/>
            <a:r>
              <a:rPr lang="en-US" altLang="zh-CN" sz="2000" spc="300" dirty="0"/>
              <a:t>3</a:t>
            </a:r>
            <a:r>
              <a:rPr lang="zh-CN" altLang="en-US" sz="2000" spc="300" dirty="0"/>
              <a:t>）得到自身状态和环境状态的转移</a:t>
            </a:r>
            <a:endParaRPr lang="en-US" altLang="zh-CN" sz="2000" spc="300" dirty="0"/>
          </a:p>
          <a:p>
            <a:pPr algn="just"/>
            <a:endParaRPr lang="zh-CN" altLang="en-US" sz="2000" spc="300" dirty="0"/>
          </a:p>
        </p:txBody>
      </p:sp>
      <p:grpSp>
        <p:nvGrpSpPr>
          <p:cNvPr id="22" name="组合 21">
            <a:extLst>
              <a:ext uri="{FF2B5EF4-FFF2-40B4-BE49-F238E27FC236}">
                <a16:creationId xmlns:a16="http://schemas.microsoft.com/office/drawing/2014/main" id="{1B6AE9ED-A88B-2245-BD91-D902CF34E346}"/>
              </a:ext>
            </a:extLst>
          </p:cNvPr>
          <p:cNvGrpSpPr/>
          <p:nvPr/>
        </p:nvGrpSpPr>
        <p:grpSpPr>
          <a:xfrm>
            <a:off x="257703" y="4684706"/>
            <a:ext cx="6667532" cy="926326"/>
            <a:chOff x="257703" y="4684706"/>
            <a:chExt cx="6667532" cy="926326"/>
          </a:xfrm>
        </p:grpSpPr>
        <p:sp>
          <p:nvSpPr>
            <p:cNvPr id="9" name="文本框 8">
              <a:extLst>
                <a:ext uri="{FF2B5EF4-FFF2-40B4-BE49-F238E27FC236}">
                  <a16:creationId xmlns:a16="http://schemas.microsoft.com/office/drawing/2014/main" id="{2BF9E281-CB3C-A8EB-EE4D-CE4A14209ED1}"/>
                </a:ext>
              </a:extLst>
            </p:cNvPr>
            <p:cNvSpPr txBox="1"/>
            <p:nvPr/>
          </p:nvSpPr>
          <p:spPr>
            <a:xfrm>
              <a:off x="257703" y="5014502"/>
              <a:ext cx="2138332" cy="400110"/>
            </a:xfrm>
            <a:prstGeom prst="rect">
              <a:avLst/>
            </a:prstGeom>
            <a:noFill/>
          </p:spPr>
          <p:txBody>
            <a:bodyPr wrap="square" rtlCol="0">
              <a:spAutoFit/>
            </a:bodyPr>
            <a:lstStyle/>
            <a:p>
              <a:pPr algn="just"/>
              <a:r>
                <a:rPr lang="zh-CN" altLang="en-US" sz="2000" b="1" spc="300" dirty="0"/>
                <a:t>复杂导航任务</a:t>
              </a:r>
            </a:p>
          </p:txBody>
        </p:sp>
        <p:sp>
          <p:nvSpPr>
            <p:cNvPr id="17" name="文本框 16">
              <a:extLst>
                <a:ext uri="{FF2B5EF4-FFF2-40B4-BE49-F238E27FC236}">
                  <a16:creationId xmlns:a16="http://schemas.microsoft.com/office/drawing/2014/main" id="{F84FDB30-9663-EF52-ACEB-3C1522520CD4}"/>
                </a:ext>
              </a:extLst>
            </p:cNvPr>
            <p:cNvSpPr txBox="1"/>
            <p:nvPr/>
          </p:nvSpPr>
          <p:spPr>
            <a:xfrm>
              <a:off x="3617009" y="4964701"/>
              <a:ext cx="3308226" cy="646331"/>
            </a:xfrm>
            <a:prstGeom prst="rect">
              <a:avLst/>
            </a:prstGeom>
            <a:noFill/>
          </p:spPr>
          <p:txBody>
            <a:bodyPr wrap="square" rtlCol="0">
              <a:spAutoFit/>
            </a:bodyPr>
            <a:lstStyle/>
            <a:p>
              <a:pPr algn="just"/>
              <a:r>
                <a:rPr lang="zh-CN" altLang="en-US" sz="2000" b="1" spc="300" dirty="0"/>
                <a:t>决策序列问题</a:t>
              </a:r>
              <a:endParaRPr lang="en-US" altLang="zh-CN" sz="2000" b="1" spc="300" dirty="0"/>
            </a:p>
            <a:p>
              <a:pPr algn="just"/>
              <a:r>
                <a:rPr lang="en-US" altLang="zh-CN" sz="1600" b="1" spc="300" dirty="0"/>
                <a:t>(Decision Sequence</a:t>
              </a:r>
              <a:r>
                <a:rPr lang="zh-CN" altLang="en-US" sz="1600" b="1" spc="300" dirty="0"/>
                <a:t>）</a:t>
              </a:r>
            </a:p>
          </p:txBody>
        </p:sp>
        <p:sp>
          <p:nvSpPr>
            <p:cNvPr id="20" name="箭头: 右 19">
              <a:extLst>
                <a:ext uri="{FF2B5EF4-FFF2-40B4-BE49-F238E27FC236}">
                  <a16:creationId xmlns:a16="http://schemas.microsoft.com/office/drawing/2014/main" id="{A96F82E9-6424-64D5-A500-8C7091AB5116}"/>
                </a:ext>
              </a:extLst>
            </p:cNvPr>
            <p:cNvSpPr/>
            <p:nvPr/>
          </p:nvSpPr>
          <p:spPr>
            <a:xfrm>
              <a:off x="2396035" y="5084816"/>
              <a:ext cx="904128" cy="259481"/>
            </a:xfrm>
            <a:prstGeom prst="rightArrow">
              <a:avLst>
                <a:gd name="adj1" fmla="val 33195"/>
                <a:gd name="adj2" fmla="val 76887"/>
              </a:avLst>
            </a:prstGeom>
            <a:solidFill>
              <a:srgbClr val="0D2D7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15C17329-5A59-8D3C-939D-E3AF98833585}"/>
                </a:ext>
              </a:extLst>
            </p:cNvPr>
            <p:cNvSpPr txBox="1"/>
            <p:nvPr/>
          </p:nvSpPr>
          <p:spPr>
            <a:xfrm>
              <a:off x="2396035" y="4684706"/>
              <a:ext cx="775525" cy="369332"/>
            </a:xfrm>
            <a:prstGeom prst="rect">
              <a:avLst/>
            </a:prstGeom>
            <a:noFill/>
          </p:spPr>
          <p:txBody>
            <a:bodyPr wrap="square" rtlCol="0">
              <a:spAutoFit/>
            </a:bodyPr>
            <a:lstStyle/>
            <a:p>
              <a:pPr algn="just"/>
              <a:r>
                <a:rPr lang="zh-CN" altLang="en-US" b="1" spc="300" dirty="0"/>
                <a:t>交互</a:t>
              </a:r>
            </a:p>
          </p:txBody>
        </p:sp>
      </p:grpSp>
      <p:grpSp>
        <p:nvGrpSpPr>
          <p:cNvPr id="27" name="组合 26">
            <a:extLst>
              <a:ext uri="{FF2B5EF4-FFF2-40B4-BE49-F238E27FC236}">
                <a16:creationId xmlns:a16="http://schemas.microsoft.com/office/drawing/2014/main" id="{4A9847CA-49BE-8FD8-E422-7B4A7410E21F}"/>
              </a:ext>
            </a:extLst>
          </p:cNvPr>
          <p:cNvGrpSpPr/>
          <p:nvPr/>
        </p:nvGrpSpPr>
        <p:grpSpPr>
          <a:xfrm>
            <a:off x="6627681" y="3702362"/>
            <a:ext cx="5029200" cy="2508834"/>
            <a:chOff x="6627681" y="3702362"/>
            <a:chExt cx="5029200" cy="2508834"/>
          </a:xfrm>
        </p:grpSpPr>
        <p:sp>
          <p:nvSpPr>
            <p:cNvPr id="23" name="文本框 22">
              <a:extLst>
                <a:ext uri="{FF2B5EF4-FFF2-40B4-BE49-F238E27FC236}">
                  <a16:creationId xmlns:a16="http://schemas.microsoft.com/office/drawing/2014/main" id="{C9C1AFAB-313F-5E5D-DE16-5673618E6E59}"/>
                </a:ext>
              </a:extLst>
            </p:cNvPr>
            <p:cNvSpPr txBox="1"/>
            <p:nvPr/>
          </p:nvSpPr>
          <p:spPr>
            <a:xfrm>
              <a:off x="6734484" y="3702362"/>
              <a:ext cx="3308226" cy="400110"/>
            </a:xfrm>
            <a:prstGeom prst="rect">
              <a:avLst/>
            </a:prstGeom>
            <a:noFill/>
          </p:spPr>
          <p:txBody>
            <a:bodyPr wrap="square" rtlCol="0">
              <a:spAutoFit/>
            </a:bodyPr>
            <a:lstStyle/>
            <a:p>
              <a:pPr algn="just"/>
              <a:r>
                <a:rPr lang="zh-CN" altLang="en-US" sz="2000" b="1" spc="300" dirty="0"/>
                <a:t>基本定义</a:t>
              </a:r>
              <a:r>
                <a:rPr lang="zh-CN" altLang="en-US" sz="1600" b="1" spc="300" dirty="0"/>
                <a:t>：</a:t>
              </a:r>
              <a:endParaRPr lang="en-US" altLang="zh-CN" sz="1600" b="1" spc="300" dirty="0"/>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BC6D5FCD-37F5-E1D6-CDE7-5AA71DB6E7F5}"/>
                    </a:ext>
                  </a:extLst>
                </p:cNvPr>
                <p:cNvSpPr txBox="1"/>
                <p:nvPr/>
              </p:nvSpPr>
              <p:spPr>
                <a:xfrm>
                  <a:off x="6627681" y="4118220"/>
                  <a:ext cx="5029200" cy="1200329"/>
                </a:xfrm>
                <a:prstGeom prst="rect">
                  <a:avLst/>
                </a:prstGeom>
                <a:noFill/>
              </p:spPr>
              <p:txBody>
                <a:bodyPr wrap="square">
                  <a:spAutoFit/>
                </a:bodyPr>
                <a:lstStyle/>
                <a:p>
                  <a:pPr algn="just"/>
                  <a:r>
                    <a:rPr lang="en-US" altLang="zh-CN" sz="1800" b="1" spc="300" dirty="0"/>
                    <a:t>1.</a:t>
                  </a:r>
                  <a:r>
                    <a:rPr lang="zh-CN" altLang="en-US" sz="1800" b="1" spc="300" dirty="0"/>
                    <a:t>状态（</a:t>
                  </a:r>
                  <a:r>
                    <a:rPr lang="en-US" altLang="zh-CN" sz="1800" b="1" spc="300" dirty="0"/>
                    <a:t>State</a:t>
                  </a:r>
                  <a:r>
                    <a:rPr lang="zh-CN" altLang="en-US" sz="1800" b="1" spc="300" dirty="0"/>
                    <a:t>）</a:t>
                  </a:r>
                  <a:endParaRPr lang="en-US" altLang="zh-CN" sz="1800" b="1" spc="300" dirty="0"/>
                </a:p>
                <a:p>
                  <a:pPr algn="just"/>
                  <a:r>
                    <a:rPr lang="zh-CN" altLang="en-US" dirty="0"/>
                    <a:t>机器人在每一个时间步上和环境交互的全部信息</a:t>
                  </a:r>
                  <a:r>
                    <a:rPr lang="en-US" altLang="zh-CN" dirty="0"/>
                    <a:t>(</a:t>
                  </a:r>
                  <a:r>
                    <a:rPr lang="zh-CN" altLang="en-US" dirty="0"/>
                    <a:t>位置、姿态</a:t>
                  </a:r>
                  <a:r>
                    <a:rPr lang="en-US" altLang="zh-CN" dirty="0"/>
                    <a:t>)</a:t>
                  </a:r>
                  <a:r>
                    <a:rPr lang="zh-CN" altLang="en-US" dirty="0"/>
                    <a:t>，时间步</a:t>
                  </a:r>
                  <a14:m>
                    <m:oMath xmlns:m="http://schemas.openxmlformats.org/officeDocument/2006/math">
                      <m:r>
                        <a:rPr lang="en-US" altLang="zh-CN" b="0" i="1" smtClean="0">
                          <a:latin typeface="Cambria Math" panose="02040503050406030204" pitchFamily="18" charset="0"/>
                        </a:rPr>
                        <m:t>𝑡</m:t>
                      </m:r>
                    </m:oMath>
                  </a14:m>
                  <a:r>
                    <a:rPr lang="zh-CN" altLang="en-US" sz="1800" spc="300" dirty="0"/>
                    <a:t>上状态记为</a:t>
                  </a:r>
                  <a14:m>
                    <m:oMath xmlns:m="http://schemas.openxmlformats.org/officeDocument/2006/math">
                      <m:sSub>
                        <m:sSubPr>
                          <m:ctrlPr>
                            <a:rPr lang="en-US" altLang="zh-CN" sz="1800" b="0" i="1" spc="300" smtClean="0">
                              <a:latin typeface="Cambria Math" panose="02040503050406030204" pitchFamily="18" charset="0"/>
                            </a:rPr>
                          </m:ctrlPr>
                        </m:sSubPr>
                        <m:e>
                          <m:r>
                            <a:rPr lang="en-US" altLang="zh-CN" sz="1800" b="0" i="1" spc="300" smtClean="0">
                              <a:latin typeface="Cambria Math" panose="02040503050406030204" pitchFamily="18" charset="0"/>
                            </a:rPr>
                            <m:t>𝑠</m:t>
                          </m:r>
                        </m:e>
                        <m:sub>
                          <m:r>
                            <a:rPr lang="en-US" altLang="zh-CN" b="0" i="1" spc="300">
                              <a:latin typeface="Cambria Math" panose="02040503050406030204" pitchFamily="18" charset="0"/>
                            </a:rPr>
                            <m:t>𝑡</m:t>
                          </m:r>
                        </m:sub>
                      </m:sSub>
                    </m:oMath>
                  </a14:m>
                  <a:r>
                    <a:rPr lang="en-US" altLang="zh-CN" sz="1800" spc="300" dirty="0"/>
                    <a:t>,</a:t>
                  </a:r>
                  <a:r>
                    <a:rPr lang="zh-CN" altLang="en-US" sz="1800" spc="300" dirty="0"/>
                    <a:t>总的状态空间记为</a:t>
                  </a:r>
                  <a14:m>
                    <m:oMath xmlns:m="http://schemas.openxmlformats.org/officeDocument/2006/math">
                      <m:r>
                        <a:rPr lang="en-US" altLang="zh-CN" sz="1800" b="1" i="1" spc="300" smtClean="0">
                          <a:latin typeface="Cambria Math" panose="02040503050406030204" pitchFamily="18" charset="0"/>
                        </a:rPr>
                        <m:t>𝑺</m:t>
                      </m:r>
                    </m:oMath>
                  </a14:m>
                  <a:endParaRPr lang="zh-CN" altLang="en-US" sz="1800" b="1" spc="300" dirty="0"/>
                </a:p>
              </p:txBody>
            </p:sp>
          </mc:Choice>
          <mc:Fallback xmlns="">
            <p:sp>
              <p:nvSpPr>
                <p:cNvPr id="25" name="文本框 24">
                  <a:extLst>
                    <a:ext uri="{FF2B5EF4-FFF2-40B4-BE49-F238E27FC236}">
                      <a16:creationId xmlns:a16="http://schemas.microsoft.com/office/drawing/2014/main" id="{BC6D5FCD-37F5-E1D6-CDE7-5AA71DB6E7F5}"/>
                    </a:ext>
                  </a:extLst>
                </p:cNvPr>
                <p:cNvSpPr txBox="1">
                  <a:spLocks noRot="1" noChangeAspect="1" noMove="1" noResize="1" noEditPoints="1" noAdjustHandles="1" noChangeArrowheads="1" noChangeShapeType="1" noTextEdit="1"/>
                </p:cNvSpPr>
                <p:nvPr/>
              </p:nvSpPr>
              <p:spPr>
                <a:xfrm>
                  <a:off x="6627681" y="4118220"/>
                  <a:ext cx="5029200" cy="1200329"/>
                </a:xfrm>
                <a:prstGeom prst="rect">
                  <a:avLst/>
                </a:prstGeom>
                <a:blipFill>
                  <a:blip r:embed="rId4"/>
                  <a:stretch>
                    <a:fillRect l="-970" t="-3061" r="-1091" b="-76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184F29E4-4B02-1987-4020-37F1BAFE50F8}"/>
                    </a:ext>
                  </a:extLst>
                </p:cNvPr>
                <p:cNvSpPr txBox="1"/>
                <p:nvPr/>
              </p:nvSpPr>
              <p:spPr>
                <a:xfrm>
                  <a:off x="6627681" y="5287866"/>
                  <a:ext cx="5029200" cy="923330"/>
                </a:xfrm>
                <a:prstGeom prst="rect">
                  <a:avLst/>
                </a:prstGeom>
                <a:noFill/>
              </p:spPr>
              <p:txBody>
                <a:bodyPr wrap="square">
                  <a:spAutoFit/>
                </a:bodyPr>
                <a:lstStyle/>
                <a:p>
                  <a:pPr algn="just"/>
                  <a:r>
                    <a:rPr lang="en-US" altLang="zh-CN" b="1" spc="300" dirty="0"/>
                    <a:t>2</a:t>
                  </a:r>
                  <a:r>
                    <a:rPr lang="en-US" altLang="zh-CN" sz="1800" b="1" spc="300" dirty="0"/>
                    <a:t>.</a:t>
                  </a:r>
                  <a:r>
                    <a:rPr lang="zh-CN" altLang="en-US" sz="1800" b="1" spc="300" dirty="0"/>
                    <a:t>动作（</a:t>
                  </a:r>
                  <a:r>
                    <a:rPr lang="en-US" altLang="zh-CN" sz="1800" b="1" spc="300" dirty="0"/>
                    <a:t>Action</a:t>
                  </a:r>
                  <a:r>
                    <a:rPr lang="zh-CN" altLang="en-US" sz="1800" b="1" spc="300" dirty="0"/>
                    <a:t>）</a:t>
                  </a:r>
                  <a:endParaRPr lang="en-US" altLang="zh-CN" sz="1800" b="1" spc="300" dirty="0"/>
                </a:p>
                <a:p>
                  <a:pPr algn="just"/>
                  <a:r>
                    <a:rPr lang="zh-CN" altLang="en-US" dirty="0"/>
                    <a:t>机器人在时间步</a:t>
                  </a:r>
                  <a14:m>
                    <m:oMath xmlns:m="http://schemas.openxmlformats.org/officeDocument/2006/math">
                      <m:r>
                        <a:rPr lang="en-US" altLang="zh-CN" b="0" i="1" smtClean="0">
                          <a:latin typeface="Cambria Math" panose="02040503050406030204" pitchFamily="18" charset="0"/>
                        </a:rPr>
                        <m:t>𝑡</m:t>
                      </m:r>
                    </m:oMath>
                  </a14:m>
                  <a:r>
                    <a:rPr lang="zh-CN" altLang="en-US" sz="1800" spc="300" dirty="0"/>
                    <a:t>上完成的活动记为</a:t>
                  </a:r>
                  <a14:m>
                    <m:oMath xmlns:m="http://schemas.openxmlformats.org/officeDocument/2006/math">
                      <m:sSub>
                        <m:sSubPr>
                          <m:ctrlPr>
                            <a:rPr lang="en-US" altLang="zh-CN" sz="1800" b="0" i="1" spc="300" smtClean="0">
                              <a:latin typeface="Cambria Math" panose="02040503050406030204" pitchFamily="18" charset="0"/>
                            </a:rPr>
                          </m:ctrlPr>
                        </m:sSubPr>
                        <m:e>
                          <m:r>
                            <a:rPr lang="en-US" altLang="zh-CN" sz="1800" b="0" i="1" spc="300" smtClean="0">
                              <a:latin typeface="Cambria Math" panose="02040503050406030204" pitchFamily="18" charset="0"/>
                            </a:rPr>
                            <m:t>𝑎</m:t>
                          </m:r>
                        </m:e>
                        <m:sub>
                          <m:r>
                            <a:rPr lang="en-US" altLang="zh-CN" b="0" i="1" spc="300">
                              <a:latin typeface="Cambria Math" panose="02040503050406030204" pitchFamily="18" charset="0"/>
                            </a:rPr>
                            <m:t>𝑡</m:t>
                          </m:r>
                        </m:sub>
                      </m:sSub>
                    </m:oMath>
                  </a14:m>
                  <a:r>
                    <a:rPr lang="en-US" altLang="zh-CN" sz="1800" spc="300" dirty="0"/>
                    <a:t>,</a:t>
                  </a:r>
                  <a:r>
                    <a:rPr lang="zh-CN" altLang="en-US" spc="300" dirty="0"/>
                    <a:t>决策过程中所有候选动作构成动作空间</a:t>
                  </a:r>
                  <a:r>
                    <a:rPr lang="zh-CN" altLang="en-US" sz="1800" spc="300" dirty="0"/>
                    <a:t>记为</a:t>
                  </a:r>
                  <a14:m>
                    <m:oMath xmlns:m="http://schemas.openxmlformats.org/officeDocument/2006/math">
                      <m:r>
                        <a:rPr lang="en-US" altLang="zh-CN" sz="1800" b="1" i="1" spc="300" smtClean="0">
                          <a:latin typeface="Cambria Math" panose="02040503050406030204" pitchFamily="18" charset="0"/>
                        </a:rPr>
                        <m:t>𝑨</m:t>
                      </m:r>
                    </m:oMath>
                  </a14:m>
                  <a:endParaRPr lang="zh-CN" altLang="en-US" sz="1800" b="1" spc="300" dirty="0"/>
                </a:p>
              </p:txBody>
            </p:sp>
          </mc:Choice>
          <mc:Fallback xmlns="">
            <p:sp>
              <p:nvSpPr>
                <p:cNvPr id="26" name="文本框 25">
                  <a:extLst>
                    <a:ext uri="{FF2B5EF4-FFF2-40B4-BE49-F238E27FC236}">
                      <a16:creationId xmlns:a16="http://schemas.microsoft.com/office/drawing/2014/main" id="{184F29E4-4B02-1987-4020-37F1BAFE50F8}"/>
                    </a:ext>
                  </a:extLst>
                </p:cNvPr>
                <p:cNvSpPr txBox="1">
                  <a:spLocks noRot="1" noChangeAspect="1" noMove="1" noResize="1" noEditPoints="1" noAdjustHandles="1" noChangeArrowheads="1" noChangeShapeType="1" noTextEdit="1"/>
                </p:cNvSpPr>
                <p:nvPr/>
              </p:nvSpPr>
              <p:spPr>
                <a:xfrm>
                  <a:off x="6627681" y="5287866"/>
                  <a:ext cx="5029200" cy="923330"/>
                </a:xfrm>
                <a:prstGeom prst="rect">
                  <a:avLst/>
                </a:prstGeom>
                <a:blipFill>
                  <a:blip r:embed="rId5"/>
                  <a:stretch>
                    <a:fillRect l="-970" t="-3289" r="-1091" b="-9211"/>
                  </a:stretch>
                </a:blipFill>
              </p:spPr>
              <p:txBody>
                <a:bodyPr/>
                <a:lstStyle/>
                <a:p>
                  <a:r>
                    <a:rPr lang="zh-CN" altLang="en-US">
                      <a:noFill/>
                    </a:rPr>
                    <a:t> </a:t>
                  </a:r>
                </a:p>
              </p:txBody>
            </p:sp>
          </mc:Fallback>
        </mc:AlternateContent>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1000"/>
                                        <p:tgtEl>
                                          <p:spTgt spid="22"/>
                                        </p:tgtEl>
                                      </p:cBhvr>
                                    </p:animEffect>
                                    <p:anim calcmode="lin" valueType="num">
                                      <p:cBhvr>
                                        <p:cTn id="15" dur="1000" fill="hold"/>
                                        <p:tgtEl>
                                          <p:spTgt spid="22"/>
                                        </p:tgtEl>
                                        <p:attrNameLst>
                                          <p:attrName>ppt_x</p:attrName>
                                        </p:attrNameLst>
                                      </p:cBhvr>
                                      <p:tavLst>
                                        <p:tav tm="0">
                                          <p:val>
                                            <p:strVal val="#ppt_x"/>
                                          </p:val>
                                        </p:tav>
                                        <p:tav tm="100000">
                                          <p:val>
                                            <p:strVal val="#ppt_x"/>
                                          </p:val>
                                        </p:tav>
                                      </p:tavLst>
                                    </p:anim>
                                    <p:anim calcmode="lin" valueType="num">
                                      <p:cBhvr>
                                        <p:cTn id="1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1000"/>
                                        <p:tgtEl>
                                          <p:spTgt spid="27"/>
                                        </p:tgtEl>
                                      </p:cBhvr>
                                    </p:animEffect>
                                    <p:anim calcmode="lin" valueType="num">
                                      <p:cBhvr>
                                        <p:cTn id="22" dur="1000" fill="hold"/>
                                        <p:tgtEl>
                                          <p:spTgt spid="27"/>
                                        </p:tgtEl>
                                        <p:attrNameLst>
                                          <p:attrName>ppt_x</p:attrName>
                                        </p:attrNameLst>
                                      </p:cBhvr>
                                      <p:tavLst>
                                        <p:tav tm="0">
                                          <p:val>
                                            <p:strVal val="#ppt_x"/>
                                          </p:val>
                                        </p:tav>
                                        <p:tav tm="100000">
                                          <p:val>
                                            <p:strVal val="#ppt_x"/>
                                          </p:val>
                                        </p:tav>
                                      </p:tavLst>
                                    </p:anim>
                                    <p:anim calcmode="lin" valueType="num">
                                      <p:cBhvr>
                                        <p:cTn id="2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8F969-5BEB-20ED-FFA7-22C93171475A}"/>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CDF3F3D-CFC5-6A12-19D4-0927E6C4108B}"/>
              </a:ext>
            </a:extLst>
          </p:cNvPr>
          <p:cNvGrpSpPr/>
          <p:nvPr/>
        </p:nvGrpSpPr>
        <p:grpSpPr>
          <a:xfrm>
            <a:off x="-1" y="939798"/>
            <a:ext cx="5511575" cy="625474"/>
            <a:chOff x="0" y="1075267"/>
            <a:chExt cx="5022850" cy="625474"/>
          </a:xfrm>
        </p:grpSpPr>
        <p:sp>
          <p:nvSpPr>
            <p:cNvPr id="3" name="矩形 2">
              <a:extLst>
                <a:ext uri="{FF2B5EF4-FFF2-40B4-BE49-F238E27FC236}">
                  <a16:creationId xmlns:a16="http://schemas.microsoft.com/office/drawing/2014/main" id="{437DDEFF-9895-4F08-227F-2612C0063475}"/>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F13BD7E4-FD9D-55BC-7F2D-A18E29EA9969}"/>
                </a:ext>
              </a:extLst>
            </p:cNvPr>
            <p:cNvSpPr txBox="1"/>
            <p:nvPr/>
          </p:nvSpPr>
          <p:spPr>
            <a:xfrm>
              <a:off x="270932" y="1157172"/>
              <a:ext cx="4751917" cy="461665"/>
            </a:xfrm>
            <a:prstGeom prst="rect">
              <a:avLst/>
            </a:prstGeom>
            <a:noFill/>
          </p:spPr>
          <p:txBody>
            <a:bodyPr wrap="square">
              <a:spAutoFit/>
            </a:bodyPr>
            <a:lstStyle/>
            <a:p>
              <a:r>
                <a:rPr lang="en-US" altLang="zh-CN" sz="2400" b="1" dirty="0">
                  <a:solidFill>
                    <a:schemeClr val="accent1"/>
                  </a:solidFill>
                  <a:latin typeface="+mj-lt"/>
                </a:rPr>
                <a:t>5.4.1 </a:t>
              </a:r>
              <a:r>
                <a:rPr lang="zh-CN" altLang="en-US" sz="2400" b="1" dirty="0">
                  <a:solidFill>
                    <a:schemeClr val="accent1"/>
                  </a:solidFill>
                  <a:latin typeface="+mj-lt"/>
                </a:rPr>
                <a:t>基于值函数的强化学习导航</a:t>
              </a:r>
            </a:p>
          </p:txBody>
        </p:sp>
      </p:grpSp>
      <p:grpSp>
        <p:nvGrpSpPr>
          <p:cNvPr id="5" name="组合 4">
            <a:extLst>
              <a:ext uri="{FF2B5EF4-FFF2-40B4-BE49-F238E27FC236}">
                <a16:creationId xmlns:a16="http://schemas.microsoft.com/office/drawing/2014/main" id="{8060D8D2-8999-1894-26AE-004B37E6DBC0}"/>
              </a:ext>
            </a:extLst>
          </p:cNvPr>
          <p:cNvGrpSpPr/>
          <p:nvPr/>
        </p:nvGrpSpPr>
        <p:grpSpPr>
          <a:xfrm>
            <a:off x="482375" y="1752538"/>
            <a:ext cx="5029200" cy="2508834"/>
            <a:chOff x="6627681" y="3702362"/>
            <a:chExt cx="5029200" cy="2508834"/>
          </a:xfrm>
        </p:grpSpPr>
        <p:sp>
          <p:nvSpPr>
            <p:cNvPr id="7" name="文本框 6">
              <a:extLst>
                <a:ext uri="{FF2B5EF4-FFF2-40B4-BE49-F238E27FC236}">
                  <a16:creationId xmlns:a16="http://schemas.microsoft.com/office/drawing/2014/main" id="{7A2B8CA8-CF71-7FBA-2FC4-FEAD8B6E2C94}"/>
                </a:ext>
              </a:extLst>
            </p:cNvPr>
            <p:cNvSpPr txBox="1"/>
            <p:nvPr/>
          </p:nvSpPr>
          <p:spPr>
            <a:xfrm>
              <a:off x="6734484" y="3702362"/>
              <a:ext cx="3308226" cy="400110"/>
            </a:xfrm>
            <a:prstGeom prst="rect">
              <a:avLst/>
            </a:prstGeom>
            <a:noFill/>
          </p:spPr>
          <p:txBody>
            <a:bodyPr wrap="square" rtlCol="0">
              <a:spAutoFit/>
            </a:bodyPr>
            <a:lstStyle/>
            <a:p>
              <a:pPr algn="just"/>
              <a:r>
                <a:rPr lang="zh-CN" altLang="en-US" sz="2000" b="1" spc="300" dirty="0"/>
                <a:t>基本定义</a:t>
              </a:r>
              <a:r>
                <a:rPr lang="zh-CN" altLang="en-US" sz="1600" b="1" spc="300" dirty="0"/>
                <a:t>：</a:t>
              </a:r>
              <a:endParaRPr lang="en-US" altLang="zh-CN" sz="1600" b="1" spc="300"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F1B97F7-FCA1-D333-42DE-761664E74571}"/>
                    </a:ext>
                  </a:extLst>
                </p:cNvPr>
                <p:cNvSpPr txBox="1"/>
                <p:nvPr/>
              </p:nvSpPr>
              <p:spPr>
                <a:xfrm>
                  <a:off x="6627681" y="4118220"/>
                  <a:ext cx="5029200" cy="1200329"/>
                </a:xfrm>
                <a:prstGeom prst="rect">
                  <a:avLst/>
                </a:prstGeom>
                <a:noFill/>
              </p:spPr>
              <p:txBody>
                <a:bodyPr wrap="square">
                  <a:spAutoFit/>
                </a:bodyPr>
                <a:lstStyle/>
                <a:p>
                  <a:pPr algn="just"/>
                  <a:r>
                    <a:rPr lang="en-US" altLang="zh-CN" sz="1800" b="1" spc="300" dirty="0"/>
                    <a:t>1.</a:t>
                  </a:r>
                  <a:r>
                    <a:rPr lang="zh-CN" altLang="en-US" sz="1800" b="1" spc="300" dirty="0"/>
                    <a:t>状态（</a:t>
                  </a:r>
                  <a:r>
                    <a:rPr lang="en-US" altLang="zh-CN" sz="1800" b="1" spc="300" dirty="0"/>
                    <a:t>State</a:t>
                  </a:r>
                  <a:r>
                    <a:rPr lang="zh-CN" altLang="en-US" sz="1800" b="1" spc="300" dirty="0"/>
                    <a:t>）</a:t>
                  </a:r>
                  <a:endParaRPr lang="en-US" altLang="zh-CN" sz="1800" b="1" spc="300" dirty="0"/>
                </a:p>
                <a:p>
                  <a:pPr algn="just"/>
                  <a:r>
                    <a:rPr lang="zh-CN" altLang="en-US" dirty="0"/>
                    <a:t>机器人在每一个时间步上和环境交互的全部信息</a:t>
                  </a:r>
                  <a:r>
                    <a:rPr lang="en-US" altLang="zh-CN" dirty="0"/>
                    <a:t>(</a:t>
                  </a:r>
                  <a:r>
                    <a:rPr lang="zh-CN" altLang="en-US" dirty="0"/>
                    <a:t>位置、姿态</a:t>
                  </a:r>
                  <a:r>
                    <a:rPr lang="en-US" altLang="zh-CN" dirty="0"/>
                    <a:t>)</a:t>
                  </a:r>
                  <a:r>
                    <a:rPr lang="zh-CN" altLang="en-US" dirty="0"/>
                    <a:t>，时间步</a:t>
                  </a:r>
                  <a14:m>
                    <m:oMath xmlns:m="http://schemas.openxmlformats.org/officeDocument/2006/math">
                      <m:r>
                        <a:rPr lang="en-US" altLang="zh-CN" b="0" i="1" smtClean="0">
                          <a:latin typeface="Cambria Math" panose="02040503050406030204" pitchFamily="18" charset="0"/>
                        </a:rPr>
                        <m:t>𝑡</m:t>
                      </m:r>
                    </m:oMath>
                  </a14:m>
                  <a:r>
                    <a:rPr lang="zh-CN" altLang="en-US" sz="1800" spc="300" dirty="0"/>
                    <a:t>上状态记为</a:t>
                  </a:r>
                  <a14:m>
                    <m:oMath xmlns:m="http://schemas.openxmlformats.org/officeDocument/2006/math">
                      <m:sSub>
                        <m:sSubPr>
                          <m:ctrlPr>
                            <a:rPr lang="en-US" altLang="zh-CN" sz="1800" b="0" i="1" spc="300" smtClean="0">
                              <a:latin typeface="Cambria Math" panose="02040503050406030204" pitchFamily="18" charset="0"/>
                            </a:rPr>
                          </m:ctrlPr>
                        </m:sSubPr>
                        <m:e>
                          <m:r>
                            <a:rPr lang="en-US" altLang="zh-CN" sz="1800" b="0" i="1" spc="300" smtClean="0">
                              <a:latin typeface="Cambria Math" panose="02040503050406030204" pitchFamily="18" charset="0"/>
                            </a:rPr>
                            <m:t>𝑠</m:t>
                          </m:r>
                        </m:e>
                        <m:sub>
                          <m:r>
                            <a:rPr lang="en-US" altLang="zh-CN" b="0" i="1" spc="300">
                              <a:latin typeface="Cambria Math" panose="02040503050406030204" pitchFamily="18" charset="0"/>
                            </a:rPr>
                            <m:t>𝑡</m:t>
                          </m:r>
                        </m:sub>
                      </m:sSub>
                    </m:oMath>
                  </a14:m>
                  <a:r>
                    <a:rPr lang="en-US" altLang="zh-CN" sz="1800" spc="300" dirty="0"/>
                    <a:t>,</a:t>
                  </a:r>
                  <a:r>
                    <a:rPr lang="zh-CN" altLang="en-US" sz="1800" spc="300" dirty="0"/>
                    <a:t>总的状态空间记为</a:t>
                  </a:r>
                  <a14:m>
                    <m:oMath xmlns:m="http://schemas.openxmlformats.org/officeDocument/2006/math">
                      <m:r>
                        <a:rPr lang="en-US" altLang="zh-CN" sz="1800" b="1" i="1" spc="300" smtClean="0">
                          <a:latin typeface="Cambria Math" panose="02040503050406030204" pitchFamily="18" charset="0"/>
                        </a:rPr>
                        <m:t>𝑺</m:t>
                      </m:r>
                    </m:oMath>
                  </a14:m>
                  <a:endParaRPr lang="zh-CN" altLang="en-US" sz="1800" b="1" spc="300" dirty="0"/>
                </a:p>
              </p:txBody>
            </p:sp>
          </mc:Choice>
          <mc:Fallback xmlns="">
            <p:sp>
              <p:nvSpPr>
                <p:cNvPr id="8" name="文本框 7">
                  <a:extLst>
                    <a:ext uri="{FF2B5EF4-FFF2-40B4-BE49-F238E27FC236}">
                      <a16:creationId xmlns:a16="http://schemas.microsoft.com/office/drawing/2014/main" id="{6F1B97F7-FCA1-D333-42DE-761664E74571}"/>
                    </a:ext>
                  </a:extLst>
                </p:cNvPr>
                <p:cNvSpPr txBox="1">
                  <a:spLocks noRot="1" noChangeAspect="1" noMove="1" noResize="1" noEditPoints="1" noAdjustHandles="1" noChangeArrowheads="1" noChangeShapeType="1" noTextEdit="1"/>
                </p:cNvSpPr>
                <p:nvPr/>
              </p:nvSpPr>
              <p:spPr>
                <a:xfrm>
                  <a:off x="6627681" y="4118220"/>
                  <a:ext cx="5029200" cy="1200329"/>
                </a:xfrm>
                <a:prstGeom prst="rect">
                  <a:avLst/>
                </a:prstGeom>
                <a:blipFill>
                  <a:blip r:embed="rId3"/>
                  <a:stretch>
                    <a:fillRect l="-970" t="-3046" r="-1091" b="-71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2A13CFB-5812-7AA8-A123-84C08621D5CB}"/>
                    </a:ext>
                  </a:extLst>
                </p:cNvPr>
                <p:cNvSpPr txBox="1"/>
                <p:nvPr/>
              </p:nvSpPr>
              <p:spPr>
                <a:xfrm>
                  <a:off x="6627681" y="5287866"/>
                  <a:ext cx="5029200" cy="923330"/>
                </a:xfrm>
                <a:prstGeom prst="rect">
                  <a:avLst/>
                </a:prstGeom>
                <a:noFill/>
              </p:spPr>
              <p:txBody>
                <a:bodyPr wrap="square">
                  <a:spAutoFit/>
                </a:bodyPr>
                <a:lstStyle/>
                <a:p>
                  <a:pPr algn="just"/>
                  <a:r>
                    <a:rPr lang="en-US" altLang="zh-CN" b="1" spc="300" dirty="0"/>
                    <a:t>2</a:t>
                  </a:r>
                  <a:r>
                    <a:rPr lang="en-US" altLang="zh-CN" sz="1800" b="1" spc="300" dirty="0"/>
                    <a:t>.</a:t>
                  </a:r>
                  <a:r>
                    <a:rPr lang="zh-CN" altLang="en-US" sz="1800" b="1" spc="300" dirty="0"/>
                    <a:t>动作（</a:t>
                  </a:r>
                  <a:r>
                    <a:rPr lang="en-US" altLang="zh-CN" sz="1800" b="1" spc="300" dirty="0"/>
                    <a:t>Action</a:t>
                  </a:r>
                  <a:r>
                    <a:rPr lang="zh-CN" altLang="en-US" sz="1800" b="1" spc="300" dirty="0"/>
                    <a:t>）</a:t>
                  </a:r>
                  <a:endParaRPr lang="en-US" altLang="zh-CN" sz="1800" b="1" spc="300" dirty="0"/>
                </a:p>
                <a:p>
                  <a:pPr algn="just"/>
                  <a:r>
                    <a:rPr lang="zh-CN" altLang="en-US" dirty="0"/>
                    <a:t>机器人在时间步</a:t>
                  </a:r>
                  <a14:m>
                    <m:oMath xmlns:m="http://schemas.openxmlformats.org/officeDocument/2006/math">
                      <m:r>
                        <a:rPr lang="en-US" altLang="zh-CN" b="0" i="1" smtClean="0">
                          <a:latin typeface="Cambria Math" panose="02040503050406030204" pitchFamily="18" charset="0"/>
                        </a:rPr>
                        <m:t>𝑡</m:t>
                      </m:r>
                    </m:oMath>
                  </a14:m>
                  <a:r>
                    <a:rPr lang="zh-CN" altLang="en-US" sz="1800" spc="300" dirty="0"/>
                    <a:t>上完成的活动记为</a:t>
                  </a:r>
                  <a14:m>
                    <m:oMath xmlns:m="http://schemas.openxmlformats.org/officeDocument/2006/math">
                      <m:sSub>
                        <m:sSubPr>
                          <m:ctrlPr>
                            <a:rPr lang="en-US" altLang="zh-CN" sz="1800" b="0" i="1" spc="300" smtClean="0">
                              <a:latin typeface="Cambria Math" panose="02040503050406030204" pitchFamily="18" charset="0"/>
                            </a:rPr>
                          </m:ctrlPr>
                        </m:sSubPr>
                        <m:e>
                          <m:r>
                            <a:rPr lang="en-US" altLang="zh-CN" sz="1800" b="0" i="1" spc="300" smtClean="0">
                              <a:latin typeface="Cambria Math" panose="02040503050406030204" pitchFamily="18" charset="0"/>
                            </a:rPr>
                            <m:t>𝑎</m:t>
                          </m:r>
                        </m:e>
                        <m:sub>
                          <m:r>
                            <a:rPr lang="en-US" altLang="zh-CN" b="0" i="1" spc="300">
                              <a:latin typeface="Cambria Math" panose="02040503050406030204" pitchFamily="18" charset="0"/>
                            </a:rPr>
                            <m:t>𝑡</m:t>
                          </m:r>
                        </m:sub>
                      </m:sSub>
                    </m:oMath>
                  </a14:m>
                  <a:r>
                    <a:rPr lang="en-US" altLang="zh-CN" sz="1800" spc="300" dirty="0"/>
                    <a:t>,</a:t>
                  </a:r>
                  <a:r>
                    <a:rPr lang="zh-CN" altLang="en-US" spc="300" dirty="0"/>
                    <a:t>决策过程中所有候选动作构成动作空间</a:t>
                  </a:r>
                  <a:r>
                    <a:rPr lang="zh-CN" altLang="en-US" sz="1800" spc="300" dirty="0"/>
                    <a:t>记为</a:t>
                  </a:r>
                  <a14:m>
                    <m:oMath xmlns:m="http://schemas.openxmlformats.org/officeDocument/2006/math">
                      <m:r>
                        <a:rPr lang="en-US" altLang="zh-CN" sz="1800" b="1" i="1" spc="300" smtClean="0">
                          <a:latin typeface="Cambria Math" panose="02040503050406030204" pitchFamily="18" charset="0"/>
                        </a:rPr>
                        <m:t>𝑨</m:t>
                      </m:r>
                    </m:oMath>
                  </a14:m>
                  <a:endParaRPr lang="zh-CN" altLang="en-US" sz="1800" b="1" spc="300" dirty="0"/>
                </a:p>
              </p:txBody>
            </p:sp>
          </mc:Choice>
          <mc:Fallback xmlns="">
            <p:sp>
              <p:nvSpPr>
                <p:cNvPr id="10" name="文本框 9">
                  <a:extLst>
                    <a:ext uri="{FF2B5EF4-FFF2-40B4-BE49-F238E27FC236}">
                      <a16:creationId xmlns:a16="http://schemas.microsoft.com/office/drawing/2014/main" id="{22A13CFB-5812-7AA8-A123-84C08621D5CB}"/>
                    </a:ext>
                  </a:extLst>
                </p:cNvPr>
                <p:cNvSpPr txBox="1">
                  <a:spLocks noRot="1" noChangeAspect="1" noMove="1" noResize="1" noEditPoints="1" noAdjustHandles="1" noChangeArrowheads="1" noChangeShapeType="1" noTextEdit="1"/>
                </p:cNvSpPr>
                <p:nvPr/>
              </p:nvSpPr>
              <p:spPr>
                <a:xfrm>
                  <a:off x="6627681" y="5287866"/>
                  <a:ext cx="5029200" cy="923330"/>
                </a:xfrm>
                <a:prstGeom prst="rect">
                  <a:avLst/>
                </a:prstGeom>
                <a:blipFill>
                  <a:blip r:embed="rId4"/>
                  <a:stretch>
                    <a:fillRect l="-970" t="-3974" r="-1091" b="-9934"/>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6909EC2C-9949-175D-CE2A-D4F4E3C50E9F}"/>
                  </a:ext>
                </a:extLst>
              </p:cNvPr>
              <p:cNvSpPr txBox="1"/>
              <p:nvPr/>
            </p:nvSpPr>
            <p:spPr>
              <a:xfrm>
                <a:off x="482375" y="4261372"/>
                <a:ext cx="5029200" cy="923330"/>
              </a:xfrm>
              <a:prstGeom prst="rect">
                <a:avLst/>
              </a:prstGeom>
              <a:noFill/>
            </p:spPr>
            <p:txBody>
              <a:bodyPr wrap="square">
                <a:spAutoFit/>
              </a:bodyPr>
              <a:lstStyle/>
              <a:p>
                <a:pPr algn="just"/>
                <a:r>
                  <a:rPr lang="en-US" altLang="zh-CN" sz="1800" b="1" spc="300" dirty="0"/>
                  <a:t>3.</a:t>
                </a:r>
                <a:r>
                  <a:rPr lang="zh-CN" altLang="en-US" b="1" spc="300" dirty="0"/>
                  <a:t>奖励</a:t>
                </a:r>
                <a:r>
                  <a:rPr lang="zh-CN" altLang="en-US" sz="1800" b="1" spc="300" dirty="0"/>
                  <a:t>（</a:t>
                </a:r>
                <a:r>
                  <a:rPr lang="en-US" altLang="zh-CN" b="1" spc="300" dirty="0"/>
                  <a:t>Reward</a:t>
                </a:r>
                <a:r>
                  <a:rPr lang="zh-CN" altLang="en-US" sz="1800" b="1" spc="300" dirty="0"/>
                  <a:t>）</a:t>
                </a:r>
                <a:endParaRPr lang="en-US" altLang="zh-CN" sz="1800" b="1" spc="300" dirty="0"/>
              </a:p>
              <a:p>
                <a:pPr algn="just"/>
                <a:r>
                  <a:rPr lang="zh-CN" altLang="en-US" dirty="0"/>
                  <a:t>机器人在每个时间步上通过执行动作</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𝑡</m:t>
                        </m:r>
                      </m:sub>
                    </m:sSub>
                  </m:oMath>
                </a14:m>
                <a:r>
                  <a:rPr lang="zh-CN" altLang="en-US" dirty="0"/>
                  <a:t>从导航环境获得的反馈，记为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𝑡</m:t>
                        </m:r>
                      </m:sub>
                    </m:sSub>
                  </m:oMath>
                </a14:m>
                <a:endParaRPr lang="zh-CN" altLang="en-US" sz="1800" b="1" spc="300" dirty="0"/>
              </a:p>
            </p:txBody>
          </p:sp>
        </mc:Choice>
        <mc:Fallback xmlns="">
          <p:sp>
            <p:nvSpPr>
              <p:cNvPr id="11" name="文本框 10">
                <a:extLst>
                  <a:ext uri="{FF2B5EF4-FFF2-40B4-BE49-F238E27FC236}">
                    <a16:creationId xmlns:a16="http://schemas.microsoft.com/office/drawing/2014/main" id="{6909EC2C-9949-175D-CE2A-D4F4E3C50E9F}"/>
                  </a:ext>
                </a:extLst>
              </p:cNvPr>
              <p:cNvSpPr txBox="1">
                <a:spLocks noRot="1" noChangeAspect="1" noMove="1" noResize="1" noEditPoints="1" noAdjustHandles="1" noChangeArrowheads="1" noChangeShapeType="1" noTextEdit="1"/>
              </p:cNvSpPr>
              <p:nvPr/>
            </p:nvSpPr>
            <p:spPr>
              <a:xfrm>
                <a:off x="482375" y="4261372"/>
                <a:ext cx="5029200" cy="923330"/>
              </a:xfrm>
              <a:prstGeom prst="rect">
                <a:avLst/>
              </a:prstGeom>
              <a:blipFill>
                <a:blip r:embed="rId5"/>
                <a:stretch>
                  <a:fillRect l="-970" t="-3289" r="-1091" b="-9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CCAA1C6-90FC-5B1D-F69F-01ECA45356D4}"/>
                  </a:ext>
                </a:extLst>
              </p:cNvPr>
              <p:cNvSpPr txBox="1"/>
              <p:nvPr/>
            </p:nvSpPr>
            <p:spPr>
              <a:xfrm>
                <a:off x="5959810" y="2152648"/>
                <a:ext cx="5029200" cy="1200329"/>
              </a:xfrm>
              <a:prstGeom prst="rect">
                <a:avLst/>
              </a:prstGeom>
              <a:noFill/>
            </p:spPr>
            <p:txBody>
              <a:bodyPr wrap="square">
                <a:spAutoFit/>
              </a:bodyPr>
              <a:lstStyle/>
              <a:p>
                <a:pPr algn="just"/>
                <a:r>
                  <a:rPr lang="en-US" altLang="zh-CN" b="1" spc="300" dirty="0"/>
                  <a:t>4</a:t>
                </a:r>
                <a:r>
                  <a:rPr lang="en-US" altLang="zh-CN" sz="1800" b="1" spc="300" dirty="0"/>
                  <a:t>.</a:t>
                </a:r>
                <a:r>
                  <a:rPr lang="zh-CN" altLang="en-US" sz="1800" b="1" spc="300" dirty="0"/>
                  <a:t>策略（</a:t>
                </a:r>
                <a:r>
                  <a:rPr lang="en-US" altLang="zh-CN" b="1" spc="300" dirty="0"/>
                  <a:t>Police</a:t>
                </a:r>
                <a:r>
                  <a:rPr lang="zh-CN" altLang="en-US" sz="1800" b="1" spc="300" dirty="0"/>
                  <a:t>）</a:t>
                </a:r>
                <a:endParaRPr lang="en-US" altLang="zh-CN" sz="1800" b="1" spc="300" dirty="0"/>
              </a:p>
              <a:p>
                <a:r>
                  <a:rPr lang="zh-CN" altLang="en-US" dirty="0"/>
                  <a:t>以时间步</a:t>
                </a:r>
                <a14:m>
                  <m:oMath xmlns:m="http://schemas.openxmlformats.org/officeDocument/2006/math">
                    <m:r>
                      <a:rPr lang="en-US" altLang="zh-CN" i="1">
                        <a:latin typeface="Cambria Math" panose="02040503050406030204" pitchFamily="18" charset="0"/>
                      </a:rPr>
                      <m:t>𝑡</m:t>
                    </m:r>
                  </m:oMath>
                </a14:m>
                <a:r>
                  <a:rPr lang="zh-CN" altLang="en-US" dirty="0"/>
                  <a:t>机器人的状态</a:t>
                </a:r>
                <a14:m>
                  <m:oMath xmlns:m="http://schemas.openxmlformats.org/officeDocument/2006/math">
                    <m:sSub>
                      <m:sSubPr>
                        <m:ctrlPr>
                          <a:rPr lang="en-US" altLang="zh-CN" i="1" spc="300">
                            <a:latin typeface="Cambria Math" panose="02040503050406030204" pitchFamily="18" charset="0"/>
                          </a:rPr>
                        </m:ctrlPr>
                      </m:sSubPr>
                      <m:e>
                        <m:r>
                          <a:rPr lang="en-US" altLang="zh-CN" i="1" spc="300">
                            <a:latin typeface="Cambria Math" panose="02040503050406030204" pitchFamily="18" charset="0"/>
                          </a:rPr>
                          <m:t>𝑠</m:t>
                        </m:r>
                      </m:e>
                      <m:sub>
                        <m:r>
                          <a:rPr lang="en-US" altLang="zh-CN" i="1" spc="300">
                            <a:latin typeface="Cambria Math" panose="02040503050406030204" pitchFamily="18" charset="0"/>
                          </a:rPr>
                          <m:t>𝑡</m:t>
                        </m:r>
                      </m:sub>
                    </m:sSub>
                  </m:oMath>
                </a14:m>
                <a:r>
                  <a:rPr lang="zh-CN" altLang="en-US" dirty="0"/>
                  <a:t>为输入、在动作空间</a:t>
                </a:r>
                <a14:m>
                  <m:oMath xmlns:m="http://schemas.openxmlformats.org/officeDocument/2006/math">
                    <m:r>
                      <a:rPr lang="en-US" altLang="zh-CN" b="1" i="1" spc="300">
                        <a:latin typeface="Cambria Math" panose="02040503050406030204" pitchFamily="18" charset="0"/>
                      </a:rPr>
                      <m:t>𝑨</m:t>
                    </m:r>
                  </m:oMath>
                </a14:m>
                <a:r>
                  <a:rPr lang="zh-CN" altLang="en-US" dirty="0"/>
                  <a:t>上的概率分布</a:t>
                </a:r>
                <a:r>
                  <a:rPr lang="en-US" altLang="zh-CN" dirty="0"/>
                  <a:t>,</a:t>
                </a:r>
                <a:r>
                  <a:rPr lang="zh-CN" altLang="en-US" dirty="0"/>
                  <a:t>实现状态空间</a:t>
                </a:r>
                <a14:m>
                  <m:oMath xmlns:m="http://schemas.openxmlformats.org/officeDocument/2006/math">
                    <m:r>
                      <a:rPr lang="en-US" altLang="zh-CN" b="1" i="1" spc="300">
                        <a:latin typeface="Cambria Math" panose="02040503050406030204" pitchFamily="18" charset="0"/>
                      </a:rPr>
                      <m:t>𝑺</m:t>
                    </m:r>
                  </m:oMath>
                </a14:m>
                <a:r>
                  <a:rPr lang="zh-CN" altLang="en-US" dirty="0"/>
                  <a:t>到动作空间</a:t>
                </a:r>
                <a14:m>
                  <m:oMath xmlns:m="http://schemas.openxmlformats.org/officeDocument/2006/math">
                    <m:r>
                      <a:rPr lang="en-US" altLang="zh-CN" b="1" i="1" spc="300">
                        <a:latin typeface="Cambria Math" panose="02040503050406030204" pitchFamily="18" charset="0"/>
                      </a:rPr>
                      <m:t>𝑨</m:t>
                    </m:r>
                  </m:oMath>
                </a14:m>
                <a:r>
                  <a:rPr lang="zh-CN" altLang="en-US" dirty="0"/>
                  <a:t>的映射，记为</a:t>
                </a:r>
                <a14:m>
                  <m:oMath xmlns:m="http://schemas.openxmlformats.org/officeDocument/2006/math">
                    <m:r>
                      <a:rPr lang="zh-CN" altLang="en-US" i="1" smtClean="0">
                        <a:latin typeface="Cambria Math" panose="02040503050406030204" pitchFamily="18" charset="0"/>
                      </a:rPr>
                      <m:t>𝜋</m:t>
                    </m:r>
                  </m:oMath>
                </a14:m>
                <a:endParaRPr lang="zh-CN" altLang="en-US" sz="1800" b="1" spc="300" dirty="0"/>
              </a:p>
            </p:txBody>
          </p:sp>
        </mc:Choice>
        <mc:Fallback xmlns="">
          <p:sp>
            <p:nvSpPr>
              <p:cNvPr id="12" name="文本框 11">
                <a:extLst>
                  <a:ext uri="{FF2B5EF4-FFF2-40B4-BE49-F238E27FC236}">
                    <a16:creationId xmlns:a16="http://schemas.microsoft.com/office/drawing/2014/main" id="{3CCAA1C6-90FC-5B1D-F69F-01ECA45356D4}"/>
                  </a:ext>
                </a:extLst>
              </p:cNvPr>
              <p:cNvSpPr txBox="1">
                <a:spLocks noRot="1" noChangeAspect="1" noMove="1" noResize="1" noEditPoints="1" noAdjustHandles="1" noChangeArrowheads="1" noChangeShapeType="1" noTextEdit="1"/>
              </p:cNvSpPr>
              <p:nvPr/>
            </p:nvSpPr>
            <p:spPr>
              <a:xfrm>
                <a:off x="5959810" y="2152648"/>
                <a:ext cx="5029200" cy="1200329"/>
              </a:xfrm>
              <a:prstGeom prst="rect">
                <a:avLst/>
              </a:prstGeom>
              <a:blipFill>
                <a:blip r:embed="rId6"/>
                <a:stretch>
                  <a:fillRect l="-1091" t="-2538" b="-71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2A4162E-DB6F-E56D-0808-69D3436090DF}"/>
                  </a:ext>
                </a:extLst>
              </p:cNvPr>
              <p:cNvSpPr txBox="1"/>
              <p:nvPr/>
            </p:nvSpPr>
            <p:spPr>
              <a:xfrm>
                <a:off x="5959810" y="3368725"/>
                <a:ext cx="5029200" cy="1754326"/>
              </a:xfrm>
              <a:prstGeom prst="rect">
                <a:avLst/>
              </a:prstGeom>
              <a:noFill/>
            </p:spPr>
            <p:txBody>
              <a:bodyPr wrap="square">
                <a:spAutoFit/>
              </a:bodyPr>
              <a:lstStyle/>
              <a:p>
                <a:pPr algn="just"/>
                <a:r>
                  <a:rPr lang="en-US" altLang="zh-CN" sz="1800" b="1" spc="300" dirty="0"/>
                  <a:t>5.</a:t>
                </a:r>
                <a:r>
                  <a:rPr lang="zh-CN" altLang="en-US" sz="1800" b="1" spc="300" dirty="0"/>
                  <a:t>回报（</a:t>
                </a:r>
                <a:r>
                  <a:rPr lang="en-US" altLang="zh-CN" sz="1800" b="1" spc="300" dirty="0"/>
                  <a:t>Return</a:t>
                </a:r>
                <a:r>
                  <a:rPr lang="zh-CN" altLang="en-US" sz="1800" b="1" spc="300" dirty="0"/>
                  <a:t>）</a:t>
                </a:r>
                <a:endParaRPr lang="en-US" altLang="zh-CN" sz="1800" b="1" spc="300" dirty="0"/>
              </a:p>
              <a:p>
                <a:r>
                  <a:rPr lang="zh-CN" altLang="en-US" dirty="0"/>
                  <a:t>在时间步</a:t>
                </a:r>
                <a14:m>
                  <m:oMath xmlns:m="http://schemas.openxmlformats.org/officeDocument/2006/math">
                    <m:r>
                      <a:rPr lang="en-US" altLang="zh-CN" i="1">
                        <a:latin typeface="Cambria Math" panose="02040503050406030204" pitchFamily="18" charset="0"/>
                      </a:rPr>
                      <m:t>𝑡</m:t>
                    </m:r>
                  </m:oMath>
                </a14:m>
                <a:r>
                  <a:rPr lang="zh-CN" altLang="en-US" dirty="0"/>
                  <a:t>后得到的所有奖励的累计折扣之和，记为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𝐺</m:t>
                        </m:r>
                      </m:e>
                      <m:sub>
                        <m:r>
                          <m:rPr>
                            <m:sty m:val="p"/>
                          </m:rPr>
                          <a:rPr lang="en-US" altLang="zh-CN" i="1">
                            <a:latin typeface="Cambria Math" panose="02040503050406030204" pitchFamily="18" charset="0"/>
                          </a:rPr>
                          <m:t>t</m:t>
                        </m:r>
                      </m:sub>
                    </m:sSub>
                  </m:oMath>
                </a14:m>
                <a:r>
                  <a:rPr lang="en-US" altLang="zh-CN" dirty="0"/>
                  <a:t>:</a:t>
                </a:r>
              </a:p>
              <a:p>
                <a:pPr/>
                <a14:m>
                  <m:oMathPara xmlns:m="http://schemas.openxmlformats.org/officeDocument/2006/math">
                    <m:oMath>
                      <m:sSub>
                        <m:sSubPr>
                          <m:ctrlPr>
                            <a:rPr lang="en-US" altLang="zh-CN" sz="1800" b="0" i="1" spc="300" smtClean="0">
                              <a:latin typeface="Cambria Math" panose="02040503050406030204" pitchFamily="18" charset="0"/>
                            </a:rPr>
                          </m:ctrlPr>
                        </m:sSubPr>
                        <m:e>
                          <m:r>
                            <a:rPr lang="en-US" altLang="zh-CN" sz="1800" b="0" i="1" spc="300" smtClean="0">
                              <a:latin typeface="Cambria Math" panose="02040503050406030204" pitchFamily="18" charset="0"/>
                            </a:rPr>
                            <m:t>𝐺</m:t>
                          </m:r>
                        </m:e>
                        <m:sub>
                          <m:r>
                            <a:rPr lang="en-US" altLang="zh-CN" sz="1800" b="0" i="1" spc="300" smtClean="0">
                              <a:latin typeface="Cambria Math" panose="02040503050406030204" pitchFamily="18" charset="0"/>
                            </a:rPr>
                            <m:t>𝑡</m:t>
                          </m:r>
                        </m:sub>
                      </m:sSub>
                      <m:r>
                        <a:rPr lang="en-US" altLang="zh-CN" sz="1800" b="0" i="1" spc="300" smtClean="0">
                          <a:latin typeface="Cambria Math" panose="02040503050406030204" pitchFamily="18" charset="0"/>
                        </a:rPr>
                        <m:t>=</m:t>
                      </m:r>
                      <m:r>
                        <a:rPr lang="zh-CN" altLang="en-US" sz="1800" b="0" i="1" spc="300" smtClean="0">
                          <a:latin typeface="Cambria Math" panose="02040503050406030204" pitchFamily="18" charset="0"/>
                        </a:rPr>
                        <m:t>𝛾</m:t>
                      </m:r>
                      <m:sSub>
                        <m:sSubPr>
                          <m:ctrlPr>
                            <a:rPr lang="en-US" altLang="zh-CN" sz="1800" b="0" i="1" spc="300" smtClean="0">
                              <a:latin typeface="Cambria Math" panose="02040503050406030204" pitchFamily="18" charset="0"/>
                            </a:rPr>
                          </m:ctrlPr>
                        </m:sSubPr>
                        <m:e>
                          <m:r>
                            <a:rPr lang="en-US" altLang="zh-CN" sz="1800" b="0" i="1" spc="300" smtClean="0">
                              <a:latin typeface="Cambria Math" panose="02040503050406030204" pitchFamily="18" charset="0"/>
                            </a:rPr>
                            <m:t>𝑟</m:t>
                          </m:r>
                        </m:e>
                        <m:sub>
                          <m:r>
                            <a:rPr lang="en-US" altLang="zh-CN" sz="1800" b="0" i="1" spc="300" smtClean="0">
                              <a:latin typeface="Cambria Math" panose="02040503050406030204" pitchFamily="18" charset="0"/>
                            </a:rPr>
                            <m:t>1</m:t>
                          </m:r>
                        </m:sub>
                      </m:sSub>
                      <m:r>
                        <a:rPr lang="en-US" altLang="zh-CN" sz="1800" b="0" i="1" spc="300" smtClean="0">
                          <a:latin typeface="Cambria Math" panose="02040503050406030204" pitchFamily="18" charset="0"/>
                        </a:rPr>
                        <m:t>+</m:t>
                      </m:r>
                      <m:sSup>
                        <m:sSupPr>
                          <m:ctrlPr>
                            <a:rPr lang="zh-CN" altLang="en-US" b="0" i="1" spc="300">
                              <a:latin typeface="Cambria Math" panose="02040503050406030204" pitchFamily="18" charset="0"/>
                            </a:rPr>
                          </m:ctrlPr>
                        </m:sSupPr>
                        <m:e>
                          <m:r>
                            <a:rPr lang="zh-CN" altLang="en-US" b="0" i="1" spc="300">
                              <a:latin typeface="Cambria Math" panose="02040503050406030204" pitchFamily="18" charset="0"/>
                            </a:rPr>
                            <m:t>𝛾</m:t>
                          </m:r>
                        </m:e>
                        <m:sup>
                          <m:r>
                            <a:rPr lang="en-US" altLang="zh-CN" sz="1800" b="0" i="1" spc="300" smtClean="0">
                              <a:latin typeface="Cambria Math" panose="02040503050406030204" pitchFamily="18" charset="0"/>
                            </a:rPr>
                            <m:t>2</m:t>
                          </m:r>
                        </m:sup>
                      </m:sSup>
                      <m:sSub>
                        <m:sSubPr>
                          <m:ctrlPr>
                            <a:rPr lang="en-US" altLang="zh-CN" b="0" i="1" spc="300">
                              <a:latin typeface="Cambria Math" panose="02040503050406030204" pitchFamily="18" charset="0"/>
                            </a:rPr>
                          </m:ctrlPr>
                        </m:sSubPr>
                        <m:e>
                          <m:r>
                            <a:rPr lang="en-US" altLang="zh-CN" b="0" i="1" spc="300">
                              <a:latin typeface="Cambria Math" panose="02040503050406030204" pitchFamily="18" charset="0"/>
                            </a:rPr>
                            <m:t>𝑟</m:t>
                          </m:r>
                        </m:e>
                        <m:sub>
                          <m:r>
                            <a:rPr lang="en-US" altLang="zh-CN" b="0" i="1" spc="300" smtClean="0">
                              <a:latin typeface="Cambria Math" panose="02040503050406030204" pitchFamily="18" charset="0"/>
                            </a:rPr>
                            <m:t>2</m:t>
                          </m:r>
                        </m:sub>
                      </m:sSub>
                      <m:r>
                        <a:rPr lang="en-US" altLang="zh-CN" b="0" i="0" spc="300" smtClean="0">
                          <a:latin typeface="Cambria Math" panose="02040503050406030204" pitchFamily="18" charset="0"/>
                        </a:rPr>
                        <m:t>+</m:t>
                      </m:r>
                      <m:sSup>
                        <m:sSupPr>
                          <m:ctrlPr>
                            <a:rPr lang="zh-CN" altLang="en-US" b="0" i="1" spc="300">
                              <a:latin typeface="Cambria Math" panose="02040503050406030204" pitchFamily="18" charset="0"/>
                            </a:rPr>
                          </m:ctrlPr>
                        </m:sSupPr>
                        <m:e>
                          <m:r>
                            <a:rPr lang="zh-CN" altLang="en-US" b="0" i="1" spc="300">
                              <a:latin typeface="Cambria Math" panose="02040503050406030204" pitchFamily="18" charset="0"/>
                            </a:rPr>
                            <m:t>𝛾</m:t>
                          </m:r>
                        </m:e>
                        <m:sup>
                          <m:r>
                            <a:rPr lang="en-US" altLang="zh-CN" b="0" i="1" spc="300" smtClean="0">
                              <a:latin typeface="Cambria Math" panose="02040503050406030204" pitchFamily="18" charset="0"/>
                            </a:rPr>
                            <m:t>3</m:t>
                          </m:r>
                        </m:sup>
                      </m:sSup>
                      <m:sSub>
                        <m:sSubPr>
                          <m:ctrlPr>
                            <a:rPr lang="en-US" altLang="zh-CN" b="0" i="1" spc="300">
                              <a:latin typeface="Cambria Math" panose="02040503050406030204" pitchFamily="18" charset="0"/>
                            </a:rPr>
                          </m:ctrlPr>
                        </m:sSubPr>
                        <m:e>
                          <m:r>
                            <a:rPr lang="en-US" altLang="zh-CN" b="0" i="1" spc="300">
                              <a:latin typeface="Cambria Math" panose="02040503050406030204" pitchFamily="18" charset="0"/>
                            </a:rPr>
                            <m:t>𝑟</m:t>
                          </m:r>
                        </m:e>
                        <m:sub>
                          <m:r>
                            <a:rPr lang="en-US" altLang="zh-CN" b="0" i="1" spc="300" smtClean="0">
                              <a:latin typeface="Cambria Math" panose="02040503050406030204" pitchFamily="18" charset="0"/>
                            </a:rPr>
                            <m:t>3</m:t>
                          </m:r>
                        </m:sub>
                      </m:sSub>
                      <m:r>
                        <a:rPr lang="en-US" altLang="zh-CN" b="0" i="1" spc="300" smtClean="0">
                          <a:latin typeface="Cambria Math" panose="02040503050406030204" pitchFamily="18" charset="0"/>
                        </a:rPr>
                        <m:t>+…+</m:t>
                      </m:r>
                      <m:sSup>
                        <m:sSupPr>
                          <m:ctrlPr>
                            <a:rPr lang="zh-CN" altLang="en-US" b="0" i="1" spc="300">
                              <a:latin typeface="Cambria Math" panose="02040503050406030204" pitchFamily="18" charset="0"/>
                            </a:rPr>
                          </m:ctrlPr>
                        </m:sSupPr>
                        <m:e>
                          <m:r>
                            <a:rPr lang="zh-CN" altLang="en-US" b="0" i="1" spc="300">
                              <a:latin typeface="Cambria Math" panose="02040503050406030204" pitchFamily="18" charset="0"/>
                            </a:rPr>
                            <m:t>𝛾</m:t>
                          </m:r>
                        </m:e>
                        <m:sup>
                          <m:r>
                            <a:rPr lang="en-US" altLang="zh-CN" b="0" i="1" spc="300" smtClean="0">
                              <a:latin typeface="Cambria Math" panose="02040503050406030204" pitchFamily="18" charset="0"/>
                            </a:rPr>
                            <m:t>𝑡</m:t>
                          </m:r>
                        </m:sup>
                      </m:sSup>
                      <m:sSub>
                        <m:sSubPr>
                          <m:ctrlPr>
                            <a:rPr lang="en-US" altLang="zh-CN" b="0" i="1" spc="300">
                              <a:latin typeface="Cambria Math" panose="02040503050406030204" pitchFamily="18" charset="0"/>
                            </a:rPr>
                          </m:ctrlPr>
                        </m:sSubPr>
                        <m:e>
                          <m:r>
                            <a:rPr lang="en-US" altLang="zh-CN" b="0" i="1" spc="300">
                              <a:latin typeface="Cambria Math" panose="02040503050406030204" pitchFamily="18" charset="0"/>
                            </a:rPr>
                            <m:t>𝑟</m:t>
                          </m:r>
                        </m:e>
                        <m:sub>
                          <m:r>
                            <a:rPr lang="en-US" altLang="zh-CN" b="0" i="1" spc="300" smtClean="0">
                              <a:latin typeface="Cambria Math" panose="02040503050406030204" pitchFamily="18" charset="0"/>
                            </a:rPr>
                            <m:t>𝑡</m:t>
                          </m:r>
                        </m:sub>
                      </m:sSub>
                    </m:oMath>
                  </m:oMathPara>
                </a14:m>
                <a:endParaRPr lang="en-US" altLang="zh-CN" sz="1800" spc="300" dirty="0"/>
              </a:p>
              <a:p>
                <a:r>
                  <a:rPr lang="zh-CN" altLang="en-US" dirty="0"/>
                  <a:t>式中，</a:t>
                </a:r>
                <a14:m>
                  <m:oMath xmlns:m="http://schemas.openxmlformats.org/officeDocument/2006/math">
                    <m:r>
                      <a:rPr lang="en-US" altLang="zh-CN" b="0" i="1" smtClean="0">
                        <a:latin typeface="Cambria Math" panose="02040503050406030204" pitchFamily="18" charset="0"/>
                      </a:rPr>
                      <m:t>𝑡</m:t>
                    </m:r>
                    <m:r>
                      <a:rPr lang="en-US" altLang="zh-CN" b="0" i="1" smtClean="0">
                        <a:latin typeface="Cambria Math" panose="02040503050406030204" pitchFamily="18" charset="0"/>
                        <a:ea typeface="Cambria Math" panose="02040503050406030204" pitchFamily="18" charset="0"/>
                      </a:rPr>
                      <m:t>≥1;</m:t>
                    </m:r>
                    <m:r>
                      <a:rPr lang="zh-CN" altLang="en-US" b="0" i="1" smtClean="0">
                        <a:latin typeface="Cambria Math" panose="02040503050406030204" pitchFamily="18" charset="0"/>
                        <a:ea typeface="Cambria Math" panose="02040503050406030204" pitchFamily="18" charset="0"/>
                      </a:rPr>
                      <m:t>𝛾</m:t>
                    </m:r>
                  </m:oMath>
                </a14:m>
                <a:r>
                  <a:rPr lang="zh-CN" altLang="en-US" dirty="0"/>
                  <a:t>是折扣率，</a:t>
                </a:r>
                <a14:m>
                  <m:oMath xmlns:m="http://schemas.openxmlformats.org/officeDocument/2006/math">
                    <m:r>
                      <a:rPr lang="en-US" altLang="zh-CN" b="0" i="1" smtClean="0">
                        <a:latin typeface="Cambria Math" panose="02040503050406030204" pitchFamily="18" charset="0"/>
                      </a:rPr>
                      <m:t>0</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𝛾</m:t>
                    </m:r>
                    <m:r>
                      <a:rPr lang="zh-CN" altLang="en-US" b="0" i="1" smtClean="0">
                        <a:latin typeface="Cambria Math" panose="02040503050406030204" pitchFamily="18" charset="0"/>
                        <a:ea typeface="Cambria Math" panose="02040503050406030204" pitchFamily="18" charset="0"/>
                      </a:rPr>
                      <m:t>≤1</m:t>
                    </m:r>
                  </m:oMath>
                </a14:m>
                <a:r>
                  <a:rPr lang="zh-CN" altLang="en-US" dirty="0"/>
                  <a:t>，决定了未来奖励的重要程度</a:t>
                </a:r>
                <a:endParaRPr lang="zh-CN" altLang="en-US" sz="1800" spc="300" dirty="0"/>
              </a:p>
            </p:txBody>
          </p:sp>
        </mc:Choice>
        <mc:Fallback xmlns="">
          <p:sp>
            <p:nvSpPr>
              <p:cNvPr id="13" name="文本框 12">
                <a:extLst>
                  <a:ext uri="{FF2B5EF4-FFF2-40B4-BE49-F238E27FC236}">
                    <a16:creationId xmlns:a16="http://schemas.microsoft.com/office/drawing/2014/main" id="{32A4162E-DB6F-E56D-0808-69D3436090DF}"/>
                  </a:ext>
                </a:extLst>
              </p:cNvPr>
              <p:cNvSpPr txBox="1">
                <a:spLocks noRot="1" noChangeAspect="1" noMove="1" noResize="1" noEditPoints="1" noAdjustHandles="1" noChangeArrowheads="1" noChangeShapeType="1" noTextEdit="1"/>
              </p:cNvSpPr>
              <p:nvPr/>
            </p:nvSpPr>
            <p:spPr>
              <a:xfrm>
                <a:off x="5959810" y="3368725"/>
                <a:ext cx="5029200" cy="1754326"/>
              </a:xfrm>
              <a:prstGeom prst="rect">
                <a:avLst/>
              </a:prstGeom>
              <a:blipFill>
                <a:blip r:embed="rId7"/>
                <a:stretch>
                  <a:fillRect l="-1091" t="-2091" b="-48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072129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anim calcmode="lin" valueType="num">
                                      <p:cBhvr>
                                        <p:cTn id="18" dur="1000" fill="hold"/>
                                        <p:tgtEl>
                                          <p:spTgt spid="13"/>
                                        </p:tgtEl>
                                        <p:attrNameLst>
                                          <p:attrName>ppt_x</p:attrName>
                                        </p:attrNameLst>
                                      </p:cBhvr>
                                      <p:tavLst>
                                        <p:tav tm="0">
                                          <p:val>
                                            <p:strVal val="#ppt_x"/>
                                          </p:val>
                                        </p:tav>
                                        <p:tav tm="100000">
                                          <p:val>
                                            <p:strVal val="#ppt_x"/>
                                          </p:val>
                                        </p:tav>
                                      </p:tavLst>
                                    </p:anim>
                                    <p:anim calcmode="lin" valueType="num">
                                      <p:cBhvr>
                                        <p:cTn id="1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A62F16A-DB70-F6AA-2B6B-26642CF89C1A}"/>
                  </a:ext>
                </a:extLst>
              </p:cNvPr>
              <p:cNvSpPr txBox="1"/>
              <p:nvPr/>
            </p:nvSpPr>
            <p:spPr>
              <a:xfrm>
                <a:off x="455481" y="1852700"/>
                <a:ext cx="5474672" cy="3139321"/>
              </a:xfrm>
              <a:prstGeom prst="rect">
                <a:avLst/>
              </a:prstGeom>
              <a:noFill/>
            </p:spPr>
            <p:txBody>
              <a:bodyPr wrap="square">
                <a:spAutoFit/>
              </a:bodyPr>
              <a:lstStyle/>
              <a:p>
                <a:r>
                  <a:rPr lang="zh-CN" altLang="en-US" dirty="0"/>
                  <a:t>基于以上设定，机器人可以执行一个简单的</a:t>
                </a:r>
                <a:r>
                  <a:rPr lang="zh-CN" altLang="en-US" b="1" dirty="0"/>
                  <a:t>决策序列</a:t>
                </a:r>
                <a:r>
                  <a:rPr lang="zh-CN" altLang="en-US" dirty="0"/>
                  <a:t>：</a:t>
                </a:r>
                <a:endParaRPr lang="en-US" altLang="zh-CN" dirty="0"/>
              </a:p>
              <a:p>
                <a:endParaRPr lang="en-US" altLang="zh-CN" dirty="0"/>
              </a:p>
              <a:p>
                <a:r>
                  <a:rPr lang="en-US" altLang="zh-CN" dirty="0"/>
                  <a:t>1</a:t>
                </a:r>
                <a:r>
                  <a:rPr lang="zh-CN" altLang="en-US" dirty="0"/>
                  <a:t>）机器人初始状态获得</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0</m:t>
                        </m:r>
                      </m:sub>
                    </m:sSub>
                  </m:oMath>
                </a14:m>
                <a:endParaRPr lang="en-US" altLang="zh-CN" dirty="0"/>
              </a:p>
              <a:p>
                <a:endParaRPr lang="en-US" altLang="zh-CN" dirty="0"/>
              </a:p>
              <a:p>
                <a:r>
                  <a:rPr lang="en-US" altLang="zh-CN" dirty="0"/>
                  <a:t>2</a:t>
                </a:r>
                <a:r>
                  <a:rPr lang="zh-CN" altLang="en-US" dirty="0"/>
                  <a:t>）根据</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0</m:t>
                        </m:r>
                      </m:sub>
                    </m:sSub>
                  </m:oMath>
                </a14:m>
                <a:r>
                  <a:rPr lang="zh-CN" altLang="en-US" dirty="0"/>
                  <a:t>和策略</a:t>
                </a:r>
                <a14:m>
                  <m:oMath xmlns:m="http://schemas.openxmlformats.org/officeDocument/2006/math">
                    <m:r>
                      <a:rPr lang="zh-CN" altLang="en-US" i="1" smtClean="0">
                        <a:latin typeface="Cambria Math" panose="02040503050406030204" pitchFamily="18" charset="0"/>
                      </a:rPr>
                      <m:t>𝜋</m:t>
                    </m:r>
                  </m:oMath>
                </a14:m>
                <a:r>
                  <a:rPr lang="zh-CN" altLang="en-US" dirty="0"/>
                  <a:t>选择初始动作</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𝜋</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0</m:t>
                        </m:r>
                      </m:sub>
                    </m:sSub>
                    <m:r>
                      <a:rPr lang="en-US" altLang="zh-CN" b="0" i="1" smtClean="0">
                        <a:latin typeface="Cambria Math" panose="02040503050406030204" pitchFamily="18" charset="0"/>
                      </a:rPr>
                      <m:t>)</m:t>
                    </m:r>
                  </m:oMath>
                </a14:m>
                <a:r>
                  <a:rPr lang="zh-CN" altLang="en-US" dirty="0"/>
                  <a:t>执行，这一步被称为</a:t>
                </a:r>
                <a:r>
                  <a:rPr lang="zh-CN" altLang="en-US" b="1" dirty="0"/>
                  <a:t>动作采样</a:t>
                </a:r>
                <a:r>
                  <a:rPr lang="zh-CN" altLang="en-US" dirty="0"/>
                  <a:t>（</a:t>
                </a:r>
                <a:r>
                  <a:rPr lang="en-US" altLang="zh-CN" dirty="0"/>
                  <a:t>Action Sampling</a:t>
                </a:r>
                <a:r>
                  <a:rPr lang="zh-CN" altLang="en-US" dirty="0"/>
                  <a:t>）</a:t>
                </a:r>
                <a:endParaRPr lang="en-US" altLang="zh-CN" dirty="0"/>
              </a:p>
              <a:p>
                <a:endParaRPr lang="en-US" altLang="zh-CN" dirty="0"/>
              </a:p>
              <a:p>
                <a:r>
                  <a:rPr lang="en-US" altLang="zh-CN" dirty="0"/>
                  <a:t>3</a:t>
                </a:r>
                <a:r>
                  <a:rPr lang="zh-CN" altLang="en-US" dirty="0"/>
                  <a:t>）机器人从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0</m:t>
                        </m:r>
                      </m:sub>
                    </m:sSub>
                  </m:oMath>
                </a14:m>
                <a:r>
                  <a:rPr lang="zh-CN" altLang="en-US" dirty="0"/>
                  <a:t>转移到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1</m:t>
                        </m:r>
                      </m:sub>
                    </m:sSub>
                  </m:oMath>
                </a14:m>
                <a:r>
                  <a:rPr lang="en-US" altLang="zh-CN" dirty="0"/>
                  <a:t>,</a:t>
                </a:r>
                <a:r>
                  <a:rPr lang="zh-CN" altLang="en-US" dirty="0"/>
                  <a:t>并获得执行该动作的奖励</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i="1">
                            <a:latin typeface="Cambria Math" panose="02040503050406030204" pitchFamily="18" charset="0"/>
                          </a:rPr>
                          <m:t>0</m:t>
                        </m:r>
                      </m:sub>
                    </m:sSub>
                    <m:r>
                      <a:rPr lang="en-US" altLang="zh-CN" i="1">
                        <a:latin typeface="Cambria Math" panose="02040503050406030204" pitchFamily="18" charset="0"/>
                      </a:rPr>
                      <m:t> </m:t>
                    </m:r>
                  </m:oMath>
                </a14:m>
                <a:r>
                  <a:rPr lang="zh-CN" altLang="en-US" dirty="0"/>
                  <a:t>，重复以上步骤直到状态转移为终止状态（</a:t>
                </a:r>
                <a:r>
                  <a:rPr lang="en-US" altLang="zh-CN" dirty="0"/>
                  <a:t>Terminal State</a:t>
                </a:r>
                <a:r>
                  <a:rPr lang="zh-CN" altLang="en-US" dirty="0"/>
                  <a:t>）后结束。</a:t>
                </a:r>
                <a:endParaRPr lang="en-US" altLang="zh-CN" dirty="0"/>
              </a:p>
              <a:p>
                <a:endParaRPr lang="en-US" altLang="zh-CN" dirty="0"/>
              </a:p>
            </p:txBody>
          </p:sp>
        </mc:Choice>
        <mc:Fallback xmlns="">
          <p:sp>
            <p:nvSpPr>
              <p:cNvPr id="7" name="文本框 6">
                <a:extLst>
                  <a:ext uri="{FF2B5EF4-FFF2-40B4-BE49-F238E27FC236}">
                    <a16:creationId xmlns:a16="http://schemas.microsoft.com/office/drawing/2014/main" id="{7A62F16A-DB70-F6AA-2B6B-26642CF89C1A}"/>
                  </a:ext>
                </a:extLst>
              </p:cNvPr>
              <p:cNvSpPr txBox="1">
                <a:spLocks noRot="1" noChangeAspect="1" noMove="1" noResize="1" noEditPoints="1" noAdjustHandles="1" noChangeArrowheads="1" noChangeShapeType="1" noTextEdit="1"/>
              </p:cNvSpPr>
              <p:nvPr/>
            </p:nvSpPr>
            <p:spPr>
              <a:xfrm>
                <a:off x="455481" y="1852700"/>
                <a:ext cx="5474672" cy="3139321"/>
              </a:xfrm>
              <a:prstGeom prst="rect">
                <a:avLst/>
              </a:prstGeom>
              <a:blipFill>
                <a:blip r:embed="rId3"/>
                <a:stretch>
                  <a:fillRect l="-1002" t="-1165" r="-50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2EB52BD3-D6A4-00DD-52CB-6C7A15BBBDB5}"/>
                  </a:ext>
                </a:extLst>
              </p:cNvPr>
              <p:cNvSpPr txBox="1"/>
              <p:nvPr/>
            </p:nvSpPr>
            <p:spPr>
              <a:xfrm>
                <a:off x="546288" y="5189966"/>
                <a:ext cx="6094878" cy="923330"/>
              </a:xfrm>
              <a:prstGeom prst="rect">
                <a:avLst/>
              </a:prstGeom>
              <a:noFill/>
            </p:spPr>
            <p:txBody>
              <a:bodyPr wrap="square">
                <a:spAutoFit/>
              </a:bodyPr>
              <a:lstStyle/>
              <a:p>
                <a:r>
                  <a:rPr lang="zh-CN" altLang="en-US" dirty="0"/>
                  <a:t>最终导航的轨迹可以被描述成智能体和环境</a:t>
                </a:r>
              </a:p>
              <a:p>
                <a:r>
                  <a:rPr lang="zh-CN" altLang="en-US" dirty="0"/>
                  <a:t>交互形成的“</a:t>
                </a:r>
                <a:r>
                  <a:rPr lang="zh-CN" altLang="en-US" b="1" dirty="0"/>
                  <a:t>状态</a:t>
                </a:r>
                <a:r>
                  <a:rPr lang="en-US" altLang="zh-CN" b="1" dirty="0"/>
                  <a:t>-</a:t>
                </a:r>
                <a:r>
                  <a:rPr lang="zh-CN" altLang="en-US" b="1" dirty="0"/>
                  <a:t>动作</a:t>
                </a:r>
                <a:r>
                  <a:rPr lang="en-US" altLang="zh-CN" b="1" dirty="0"/>
                  <a:t>-</a:t>
                </a:r>
                <a:r>
                  <a:rPr lang="zh-CN" altLang="en-US" b="1" dirty="0"/>
                  <a:t>奖励</a:t>
                </a:r>
                <a:r>
                  <a:rPr lang="zh-CN" altLang="en-US" dirty="0"/>
                  <a:t>”序列，记为</a:t>
                </a:r>
                <a14:m>
                  <m:oMath xmlns:m="http://schemas.openxmlformats.org/officeDocument/2006/math">
                    <m:r>
                      <a:rPr lang="zh-CN" altLang="en-US" i="1" smtClean="0">
                        <a:latin typeface="Cambria Math" panose="02040503050406030204" pitchFamily="18" charset="0"/>
                      </a:rPr>
                      <m:t>𝜏</m:t>
                    </m:r>
                    <m:r>
                      <a:rPr lang="zh-CN" altLang="en-US" i="1">
                        <a:latin typeface="Cambria Math" panose="02040503050406030204" pitchFamily="18" charset="0"/>
                      </a:rPr>
                      <m:t>：</m:t>
                    </m:r>
                  </m:oMath>
                </a14:m>
                <a:endParaRPr lang="en-US" altLang="zh-CN" sz="1800" b="1" spc="300" dirty="0"/>
              </a:p>
              <a:p>
                <a:pPr/>
                <a14:m>
                  <m:oMathPara xmlns:m="http://schemas.openxmlformats.org/officeDocument/2006/math">
                    <m:oMath>
                      <m:r>
                        <a:rPr lang="zh-CN" altLang="en-US" sz="1800" b="0" i="1" spc="300" smtClean="0">
                          <a:latin typeface="Cambria Math" panose="02040503050406030204" pitchFamily="18" charset="0"/>
                        </a:rPr>
                        <m:t>𝜏</m:t>
                      </m:r>
                      <m:r>
                        <a:rPr lang="en-US" altLang="zh-CN" sz="1800" b="0" i="1" spc="300" smtClean="0">
                          <a:latin typeface="Cambria Math" panose="02040503050406030204" pitchFamily="18" charset="0"/>
                        </a:rPr>
                        <m:t>=</m:t>
                      </m:r>
                      <m:sSub>
                        <m:sSubPr>
                          <m:ctrlPr>
                            <a:rPr lang="en-US" altLang="zh-CN" sz="1800" b="0" i="1" spc="300" smtClean="0">
                              <a:latin typeface="Cambria Math" panose="02040503050406030204" pitchFamily="18" charset="0"/>
                            </a:rPr>
                          </m:ctrlPr>
                        </m:sSubPr>
                        <m:e>
                          <m:r>
                            <a:rPr lang="en-US" altLang="zh-CN" sz="1800" b="0" i="1" spc="300" smtClean="0">
                              <a:latin typeface="Cambria Math" panose="02040503050406030204" pitchFamily="18" charset="0"/>
                            </a:rPr>
                            <m:t>𝑠</m:t>
                          </m:r>
                        </m:e>
                        <m:sub>
                          <m:r>
                            <a:rPr lang="en-US" altLang="zh-CN" sz="1800" b="0" i="1" spc="300" smtClean="0">
                              <a:latin typeface="Cambria Math" panose="02040503050406030204" pitchFamily="18" charset="0"/>
                            </a:rPr>
                            <m:t>0</m:t>
                          </m:r>
                        </m:sub>
                      </m:sSub>
                      <m:r>
                        <a:rPr lang="en-US" altLang="zh-CN" sz="1800" b="0" i="1" spc="300" smtClean="0">
                          <a:latin typeface="Cambria Math" panose="02040503050406030204" pitchFamily="18" charset="0"/>
                        </a:rPr>
                        <m:t>,</m:t>
                      </m:r>
                      <m:sSub>
                        <m:sSubPr>
                          <m:ctrlPr>
                            <a:rPr lang="en-US" altLang="zh-CN" b="0" i="1" spc="300" smtClean="0">
                              <a:latin typeface="Cambria Math" panose="02040503050406030204" pitchFamily="18" charset="0"/>
                            </a:rPr>
                          </m:ctrlPr>
                        </m:sSubPr>
                        <m:e>
                          <m:r>
                            <a:rPr lang="en-US" altLang="zh-CN" b="0" i="1" spc="300" smtClean="0">
                              <a:latin typeface="Cambria Math" panose="02040503050406030204" pitchFamily="18" charset="0"/>
                            </a:rPr>
                            <m:t>𝑎</m:t>
                          </m:r>
                        </m:e>
                        <m:sub>
                          <m:r>
                            <a:rPr lang="en-US" altLang="zh-CN" b="0" i="1" spc="300">
                              <a:latin typeface="Cambria Math" panose="02040503050406030204" pitchFamily="18" charset="0"/>
                            </a:rPr>
                            <m:t>0</m:t>
                          </m:r>
                        </m:sub>
                      </m:sSub>
                      <m:r>
                        <a:rPr lang="en-US" altLang="zh-CN" b="0" i="1" spc="300" smtClean="0">
                          <a:latin typeface="Cambria Math" panose="02040503050406030204" pitchFamily="18" charset="0"/>
                        </a:rPr>
                        <m:t>,</m:t>
                      </m:r>
                      <m:sSub>
                        <m:sSubPr>
                          <m:ctrlPr>
                            <a:rPr lang="en-US" altLang="zh-CN" b="0" i="1" spc="300" smtClean="0">
                              <a:latin typeface="Cambria Math" panose="02040503050406030204" pitchFamily="18" charset="0"/>
                            </a:rPr>
                          </m:ctrlPr>
                        </m:sSubPr>
                        <m:e>
                          <m:r>
                            <a:rPr lang="en-US" altLang="zh-CN" b="0" i="1" spc="300" smtClean="0">
                              <a:latin typeface="Cambria Math" panose="02040503050406030204" pitchFamily="18" charset="0"/>
                            </a:rPr>
                            <m:t>𝑟</m:t>
                          </m:r>
                        </m:e>
                        <m:sub>
                          <m:r>
                            <a:rPr lang="en-US" altLang="zh-CN" b="0" i="1" spc="300" smtClean="0">
                              <a:latin typeface="Cambria Math" panose="02040503050406030204" pitchFamily="18" charset="0"/>
                            </a:rPr>
                            <m:t>1</m:t>
                          </m:r>
                        </m:sub>
                      </m:sSub>
                      <m:r>
                        <a:rPr lang="en-US" altLang="zh-CN" b="0" i="1" spc="300" smtClean="0">
                          <a:latin typeface="Cambria Math" panose="02040503050406030204" pitchFamily="18" charset="0"/>
                        </a:rPr>
                        <m:t>,</m:t>
                      </m:r>
                      <m:sSub>
                        <m:sSubPr>
                          <m:ctrlPr>
                            <a:rPr lang="en-US" altLang="zh-CN" b="0" i="1" spc="300">
                              <a:latin typeface="Cambria Math" panose="02040503050406030204" pitchFamily="18" charset="0"/>
                            </a:rPr>
                          </m:ctrlPr>
                        </m:sSubPr>
                        <m:e>
                          <m:r>
                            <a:rPr lang="en-US" altLang="zh-CN" b="0" i="1" spc="300">
                              <a:latin typeface="Cambria Math" panose="02040503050406030204" pitchFamily="18" charset="0"/>
                            </a:rPr>
                            <m:t>𝑠</m:t>
                          </m:r>
                        </m:e>
                        <m:sub>
                          <m:r>
                            <a:rPr lang="en-US" altLang="zh-CN" b="0" i="1" spc="300" smtClean="0">
                              <a:latin typeface="Cambria Math" panose="02040503050406030204" pitchFamily="18" charset="0"/>
                            </a:rPr>
                            <m:t>1</m:t>
                          </m:r>
                        </m:sub>
                      </m:sSub>
                      <m:r>
                        <a:rPr lang="en-US" altLang="zh-CN" b="0" i="1" spc="300" smtClean="0">
                          <a:latin typeface="Cambria Math" panose="02040503050406030204" pitchFamily="18" charset="0"/>
                        </a:rPr>
                        <m:t>,</m:t>
                      </m:r>
                      <m:sSub>
                        <m:sSubPr>
                          <m:ctrlPr>
                            <a:rPr lang="en-US" altLang="zh-CN" b="0" i="1" spc="300" smtClean="0">
                              <a:latin typeface="Cambria Math" panose="02040503050406030204" pitchFamily="18" charset="0"/>
                            </a:rPr>
                          </m:ctrlPr>
                        </m:sSubPr>
                        <m:e>
                          <m:r>
                            <a:rPr lang="en-US" altLang="zh-CN" b="0" i="1" spc="300" smtClean="0">
                              <a:latin typeface="Cambria Math" panose="02040503050406030204" pitchFamily="18" charset="0"/>
                            </a:rPr>
                            <m:t>𝑎</m:t>
                          </m:r>
                        </m:e>
                        <m:sub>
                          <m:r>
                            <a:rPr lang="en-US" altLang="zh-CN" b="0" i="1" spc="300" smtClean="0">
                              <a:latin typeface="Cambria Math" panose="02040503050406030204" pitchFamily="18" charset="0"/>
                            </a:rPr>
                            <m:t>1</m:t>
                          </m:r>
                        </m:sub>
                      </m:sSub>
                      <m:r>
                        <a:rPr lang="en-US" altLang="zh-CN" b="0" i="1" spc="300" smtClean="0">
                          <a:latin typeface="Cambria Math" panose="02040503050406030204" pitchFamily="18" charset="0"/>
                        </a:rPr>
                        <m:t>,…</m:t>
                      </m:r>
                      <m:sSub>
                        <m:sSubPr>
                          <m:ctrlPr>
                            <a:rPr lang="en-US" altLang="zh-CN" b="0" i="1" spc="300">
                              <a:latin typeface="Cambria Math" panose="02040503050406030204" pitchFamily="18" charset="0"/>
                            </a:rPr>
                          </m:ctrlPr>
                        </m:sSubPr>
                        <m:e>
                          <m:r>
                            <a:rPr lang="en-US" altLang="zh-CN" b="0" i="1" spc="300">
                              <a:latin typeface="Cambria Math" panose="02040503050406030204" pitchFamily="18" charset="0"/>
                            </a:rPr>
                            <m:t>𝑠</m:t>
                          </m:r>
                        </m:e>
                        <m:sub>
                          <m:r>
                            <a:rPr lang="en-US" altLang="zh-CN" b="0" i="1" spc="300" smtClean="0">
                              <a:latin typeface="Cambria Math" panose="02040503050406030204" pitchFamily="18" charset="0"/>
                            </a:rPr>
                            <m:t>𝑇</m:t>
                          </m:r>
                          <m:r>
                            <a:rPr lang="en-US" altLang="zh-CN" b="0" i="1" spc="300" smtClean="0">
                              <a:latin typeface="Cambria Math" panose="02040503050406030204" pitchFamily="18" charset="0"/>
                            </a:rPr>
                            <m:t>−1</m:t>
                          </m:r>
                        </m:sub>
                      </m:sSub>
                      <m:r>
                        <a:rPr lang="en-US" altLang="zh-CN" b="0" i="1" spc="300" smtClean="0">
                          <a:latin typeface="Cambria Math" panose="02040503050406030204" pitchFamily="18" charset="0"/>
                        </a:rPr>
                        <m:t>,</m:t>
                      </m:r>
                      <m:sSub>
                        <m:sSubPr>
                          <m:ctrlPr>
                            <a:rPr lang="en-US" altLang="zh-CN" b="0" i="1" spc="300" smtClean="0">
                              <a:latin typeface="Cambria Math" panose="02040503050406030204" pitchFamily="18" charset="0"/>
                            </a:rPr>
                          </m:ctrlPr>
                        </m:sSubPr>
                        <m:e>
                          <m:r>
                            <a:rPr lang="en-US" altLang="zh-CN" b="0" i="1" spc="300" smtClean="0">
                              <a:latin typeface="Cambria Math" panose="02040503050406030204" pitchFamily="18" charset="0"/>
                            </a:rPr>
                            <m:t>𝑎</m:t>
                          </m:r>
                        </m:e>
                        <m:sub>
                          <m:r>
                            <a:rPr lang="en-US" altLang="zh-CN" b="0" i="1" spc="300" smtClean="0">
                              <a:latin typeface="Cambria Math" panose="02040503050406030204" pitchFamily="18" charset="0"/>
                            </a:rPr>
                            <m:t>𝑇</m:t>
                          </m:r>
                          <m:r>
                            <a:rPr lang="en-US" altLang="zh-CN" b="0" i="1" spc="300" smtClean="0">
                              <a:latin typeface="Cambria Math" panose="02040503050406030204" pitchFamily="18" charset="0"/>
                            </a:rPr>
                            <m:t>−1</m:t>
                          </m:r>
                        </m:sub>
                      </m:sSub>
                      <m:r>
                        <a:rPr lang="en-US" altLang="zh-CN" b="0" i="1" spc="300" smtClean="0">
                          <a:latin typeface="Cambria Math" panose="02040503050406030204" pitchFamily="18" charset="0"/>
                        </a:rPr>
                        <m:t>,</m:t>
                      </m:r>
                      <m:sSub>
                        <m:sSubPr>
                          <m:ctrlPr>
                            <a:rPr lang="en-US" altLang="zh-CN" b="0" i="1" spc="300" smtClean="0">
                              <a:latin typeface="Cambria Math" panose="02040503050406030204" pitchFamily="18" charset="0"/>
                            </a:rPr>
                          </m:ctrlPr>
                        </m:sSubPr>
                        <m:e>
                          <m:r>
                            <a:rPr lang="en-US" altLang="zh-CN" b="0" i="1" spc="300" smtClean="0">
                              <a:latin typeface="Cambria Math" panose="02040503050406030204" pitchFamily="18" charset="0"/>
                            </a:rPr>
                            <m:t>𝑟</m:t>
                          </m:r>
                        </m:e>
                        <m:sub>
                          <m:r>
                            <a:rPr lang="en-US" altLang="zh-CN" b="0" i="1" spc="300" smtClean="0">
                              <a:latin typeface="Cambria Math" panose="02040503050406030204" pitchFamily="18" charset="0"/>
                            </a:rPr>
                            <m:t>𝑇</m:t>
                          </m:r>
                        </m:sub>
                      </m:sSub>
                      <m:r>
                        <a:rPr lang="en-US" altLang="zh-CN" b="0" i="1" spc="300" smtClean="0">
                          <a:latin typeface="Cambria Math" panose="02040503050406030204" pitchFamily="18" charset="0"/>
                        </a:rPr>
                        <m:t>,</m:t>
                      </m:r>
                      <m:sSub>
                        <m:sSubPr>
                          <m:ctrlPr>
                            <a:rPr lang="en-US" altLang="zh-CN" b="0" i="1" spc="300">
                              <a:latin typeface="Cambria Math" panose="02040503050406030204" pitchFamily="18" charset="0"/>
                            </a:rPr>
                          </m:ctrlPr>
                        </m:sSubPr>
                        <m:e>
                          <m:r>
                            <a:rPr lang="en-US" altLang="zh-CN" b="0" i="1" spc="300">
                              <a:latin typeface="Cambria Math" panose="02040503050406030204" pitchFamily="18" charset="0"/>
                            </a:rPr>
                            <m:t>𝑠</m:t>
                          </m:r>
                        </m:e>
                        <m:sub>
                          <m:r>
                            <a:rPr lang="en-US" altLang="zh-CN" b="0" i="1" spc="300" smtClean="0">
                              <a:latin typeface="Cambria Math" panose="02040503050406030204" pitchFamily="18" charset="0"/>
                            </a:rPr>
                            <m:t>𝑇</m:t>
                          </m:r>
                        </m:sub>
                      </m:sSub>
                    </m:oMath>
                  </m:oMathPara>
                </a14:m>
                <a:endParaRPr lang="zh-CN" altLang="en-US" sz="1800" spc="300" dirty="0"/>
              </a:p>
            </p:txBody>
          </p:sp>
        </mc:Choice>
        <mc:Fallback xmlns="">
          <p:sp>
            <p:nvSpPr>
              <p:cNvPr id="9" name="文本框 8">
                <a:extLst>
                  <a:ext uri="{FF2B5EF4-FFF2-40B4-BE49-F238E27FC236}">
                    <a16:creationId xmlns:a16="http://schemas.microsoft.com/office/drawing/2014/main" id="{2EB52BD3-D6A4-00DD-52CB-6C7A15BBBDB5}"/>
                  </a:ext>
                </a:extLst>
              </p:cNvPr>
              <p:cNvSpPr txBox="1">
                <a:spLocks noRot="1" noChangeAspect="1" noMove="1" noResize="1" noEditPoints="1" noAdjustHandles="1" noChangeArrowheads="1" noChangeShapeType="1" noTextEdit="1"/>
              </p:cNvSpPr>
              <p:nvPr/>
            </p:nvSpPr>
            <p:spPr>
              <a:xfrm>
                <a:off x="546288" y="5189966"/>
                <a:ext cx="6094878" cy="923330"/>
              </a:xfrm>
              <a:prstGeom prst="rect">
                <a:avLst/>
              </a:prstGeom>
              <a:blipFill>
                <a:blip r:embed="rId4"/>
                <a:stretch>
                  <a:fillRect l="-901" t="-3289"/>
                </a:stretch>
              </a:blipFill>
            </p:spPr>
            <p:txBody>
              <a:bodyPr/>
              <a:lstStyle/>
              <a:p>
                <a:r>
                  <a:rPr lang="zh-CN" altLang="en-US">
                    <a:noFill/>
                  </a:rPr>
                  <a:t> </a:t>
                </a:r>
              </a:p>
            </p:txBody>
          </p:sp>
        </mc:Fallback>
      </mc:AlternateContent>
      <p:grpSp>
        <p:nvGrpSpPr>
          <p:cNvPr id="21" name="组合 20">
            <a:extLst>
              <a:ext uri="{FF2B5EF4-FFF2-40B4-BE49-F238E27FC236}">
                <a16:creationId xmlns:a16="http://schemas.microsoft.com/office/drawing/2014/main" id="{242D360F-045F-D163-2ECA-25C75B5105A9}"/>
              </a:ext>
            </a:extLst>
          </p:cNvPr>
          <p:cNvGrpSpPr/>
          <p:nvPr/>
        </p:nvGrpSpPr>
        <p:grpSpPr>
          <a:xfrm>
            <a:off x="6535722" y="1771162"/>
            <a:ext cx="6636031" cy="3653910"/>
            <a:chOff x="6535722" y="1771162"/>
            <a:chExt cx="6636031" cy="3653910"/>
          </a:xfrm>
        </p:grpSpPr>
        <p:sp>
          <p:nvSpPr>
            <p:cNvPr id="10" name="文本框 9">
              <a:extLst>
                <a:ext uri="{FF2B5EF4-FFF2-40B4-BE49-F238E27FC236}">
                  <a16:creationId xmlns:a16="http://schemas.microsoft.com/office/drawing/2014/main" id="{CF2BAC31-E657-7947-73AC-01B5AD533231}"/>
                </a:ext>
              </a:extLst>
            </p:cNvPr>
            <p:cNvSpPr txBox="1"/>
            <p:nvPr/>
          </p:nvSpPr>
          <p:spPr>
            <a:xfrm>
              <a:off x="7076875" y="1771162"/>
              <a:ext cx="6094878" cy="400110"/>
            </a:xfrm>
            <a:prstGeom prst="rect">
              <a:avLst/>
            </a:prstGeom>
            <a:noFill/>
          </p:spPr>
          <p:txBody>
            <a:bodyPr wrap="square">
              <a:spAutoFit/>
            </a:bodyPr>
            <a:lstStyle/>
            <a:p>
              <a:r>
                <a:rPr lang="zh-CN" altLang="en-US" sz="2000" b="1" spc="300" dirty="0">
                  <a:solidFill>
                    <a:srgbClr val="0D2D7F"/>
                  </a:solidFill>
                </a:rPr>
                <a:t>马尔可夫决策过程</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9FDB7775-8BF0-CAF8-3411-9E7232524B62}"/>
                    </a:ext>
                  </a:extLst>
                </p:cNvPr>
                <p:cNvSpPr txBox="1"/>
                <p:nvPr/>
              </p:nvSpPr>
              <p:spPr>
                <a:xfrm>
                  <a:off x="6535722" y="2369217"/>
                  <a:ext cx="6094878" cy="369332"/>
                </a:xfrm>
                <a:prstGeom prst="rect">
                  <a:avLst/>
                </a:prstGeom>
                <a:noFill/>
              </p:spPr>
              <p:txBody>
                <a:bodyPr wrap="square">
                  <a:spAutoFit/>
                </a:bodyPr>
                <a:lstStyle/>
                <a:p>
                  <a:r>
                    <a:rPr lang="zh-CN" altLang="en-US" dirty="0"/>
                    <a:t>五元组</a:t>
                  </a:r>
                  <a14:m>
                    <m:oMath xmlns:m="http://schemas.openxmlformats.org/officeDocument/2006/math">
                      <m:r>
                        <a:rPr lang="en-US" altLang="zh-CN" b="0" i="1" smtClean="0">
                          <a:latin typeface="Cambria Math" panose="02040503050406030204" pitchFamily="18" charset="0"/>
                        </a:rPr>
                        <m:t>(</m:t>
                      </m:r>
                      <m:r>
                        <a:rPr lang="en-US" altLang="zh-CN" b="1" i="1" smtClean="0">
                          <a:latin typeface="Cambria Math" panose="02040503050406030204" pitchFamily="18" charset="0"/>
                        </a:rPr>
                        <m:t>𝑺</m:t>
                      </m:r>
                      <m:r>
                        <a:rPr lang="en-US" altLang="zh-CN" b="0" i="1" smtClean="0">
                          <a:latin typeface="Cambria Math" panose="02040503050406030204" pitchFamily="18" charset="0"/>
                        </a:rPr>
                        <m:t>,</m:t>
                      </m:r>
                      <m:r>
                        <a:rPr lang="en-US" altLang="zh-CN" b="1" i="1" smtClean="0">
                          <a:latin typeface="Cambria Math" panose="02040503050406030204" pitchFamily="18" charset="0"/>
                        </a:rPr>
                        <m:t>𝑨</m:t>
                      </m:r>
                      <m:r>
                        <a:rPr lang="en-US" altLang="zh-CN" b="0" i="1" smtClean="0">
                          <a:latin typeface="Cambria Math" panose="02040503050406030204" pitchFamily="18" charset="0"/>
                        </a:rPr>
                        <m:t>,</m:t>
                      </m:r>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zh-CN" altLang="en-US" b="0" i="1" smtClean="0">
                          <a:latin typeface="Cambria Math" panose="02040503050406030204" pitchFamily="18" charset="0"/>
                        </a:rPr>
                        <m:t>𝛾</m:t>
                      </m:r>
                      <m:r>
                        <a:rPr lang="en-US" altLang="zh-CN" b="0" i="1" smtClean="0">
                          <a:latin typeface="Cambria Math" panose="02040503050406030204" pitchFamily="18" charset="0"/>
                        </a:rPr>
                        <m:t>)</m:t>
                      </m:r>
                    </m:oMath>
                  </a14:m>
                  <a:endParaRPr lang="zh-CN" altLang="en-US" sz="1800" spc="300" dirty="0"/>
                </a:p>
              </p:txBody>
            </p:sp>
          </mc:Choice>
          <mc:Fallback xmlns="">
            <p:sp>
              <p:nvSpPr>
                <p:cNvPr id="12" name="文本框 11">
                  <a:extLst>
                    <a:ext uri="{FF2B5EF4-FFF2-40B4-BE49-F238E27FC236}">
                      <a16:creationId xmlns:a16="http://schemas.microsoft.com/office/drawing/2014/main" id="{9FDB7775-8BF0-CAF8-3411-9E7232524B62}"/>
                    </a:ext>
                  </a:extLst>
                </p:cNvPr>
                <p:cNvSpPr txBox="1">
                  <a:spLocks noRot="1" noChangeAspect="1" noMove="1" noResize="1" noEditPoints="1" noAdjustHandles="1" noChangeArrowheads="1" noChangeShapeType="1" noTextEdit="1"/>
                </p:cNvSpPr>
                <p:nvPr/>
              </p:nvSpPr>
              <p:spPr>
                <a:xfrm>
                  <a:off x="6535722" y="2369217"/>
                  <a:ext cx="6094878" cy="369332"/>
                </a:xfrm>
                <a:prstGeom prst="rect">
                  <a:avLst/>
                </a:prstGeom>
                <a:blipFill>
                  <a:blip r:embed="rId5"/>
                  <a:stretch>
                    <a:fillRect l="-800"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AD28CFE2-563B-D41D-CEB9-2E872DE4A0FE}"/>
                    </a:ext>
                  </a:extLst>
                </p:cNvPr>
                <p:cNvSpPr txBox="1"/>
                <p:nvPr/>
              </p:nvSpPr>
              <p:spPr>
                <a:xfrm>
                  <a:off x="6535722" y="2967335"/>
                  <a:ext cx="6094878" cy="369332"/>
                </a:xfrm>
                <a:prstGeom prst="rect">
                  <a:avLst/>
                </a:prstGeom>
                <a:noFill/>
              </p:spPr>
              <p:txBody>
                <a:bodyPr wrap="square">
                  <a:spAutoFit/>
                </a:bodyPr>
                <a:lstStyle/>
                <a:p>
                  <a14:m>
                    <m:oMath xmlns:m="http://schemas.openxmlformats.org/officeDocument/2006/math">
                      <m:r>
                        <a:rPr lang="en-US" altLang="zh-CN" b="0" i="1" smtClean="0">
                          <a:latin typeface="Cambria Math" panose="02040503050406030204" pitchFamily="18" charset="0"/>
                        </a:rPr>
                        <m:t>𝑃</m:t>
                      </m:r>
                    </m:oMath>
                  </a14:m>
                  <a:r>
                    <a:rPr lang="zh-CN" altLang="en-US" dirty="0"/>
                    <a:t>：决策模型的</a:t>
                  </a:r>
                  <a:r>
                    <a:rPr lang="zh-CN" altLang="en-US" b="1" dirty="0"/>
                    <a:t>状态转移函数</a:t>
                  </a:r>
                  <a:endParaRPr lang="zh-CN" altLang="en-US" sz="1800" b="1" spc="300" dirty="0"/>
                </a:p>
              </p:txBody>
            </p:sp>
          </mc:Choice>
          <mc:Fallback xmlns="">
            <p:sp>
              <p:nvSpPr>
                <p:cNvPr id="14" name="文本框 13">
                  <a:extLst>
                    <a:ext uri="{FF2B5EF4-FFF2-40B4-BE49-F238E27FC236}">
                      <a16:creationId xmlns:a16="http://schemas.microsoft.com/office/drawing/2014/main" id="{AD28CFE2-563B-D41D-CEB9-2E872DE4A0FE}"/>
                    </a:ext>
                  </a:extLst>
                </p:cNvPr>
                <p:cNvSpPr txBox="1">
                  <a:spLocks noRot="1" noChangeAspect="1" noMove="1" noResize="1" noEditPoints="1" noAdjustHandles="1" noChangeArrowheads="1" noChangeShapeType="1" noTextEdit="1"/>
                </p:cNvSpPr>
                <p:nvPr/>
              </p:nvSpPr>
              <p:spPr>
                <a:xfrm>
                  <a:off x="6535722" y="2967335"/>
                  <a:ext cx="6094878" cy="369332"/>
                </a:xfrm>
                <a:prstGeom prst="rect">
                  <a:avLst/>
                </a:prstGeom>
                <a:blipFill>
                  <a:blip r:embed="rId6"/>
                  <a:stretch>
                    <a:fillRect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363F5AE-719F-06C9-40A5-CB1F253FC450}"/>
                    </a:ext>
                  </a:extLst>
                </p:cNvPr>
                <p:cNvSpPr txBox="1"/>
                <p:nvPr/>
              </p:nvSpPr>
              <p:spPr>
                <a:xfrm>
                  <a:off x="6535722" y="3934786"/>
                  <a:ext cx="6094878" cy="369332"/>
                </a:xfrm>
                <a:prstGeom prst="rect">
                  <a:avLst/>
                </a:prstGeom>
                <a:noFill/>
              </p:spPr>
              <p:txBody>
                <a:bodyPr wrap="square">
                  <a:spAutoFit/>
                </a:bodyPr>
                <a:lstStyle/>
                <a:p>
                  <a14:m>
                    <m:oMath xmlns:m="http://schemas.openxmlformats.org/officeDocument/2006/math">
                      <m:r>
                        <a:rPr lang="en-US" altLang="zh-CN" b="0" i="1" smtClean="0">
                          <a:latin typeface="Cambria Math" panose="02040503050406030204" pitchFamily="18" charset="0"/>
                        </a:rPr>
                        <m:t>𝑅</m:t>
                      </m:r>
                    </m:oMath>
                  </a14:m>
                  <a:r>
                    <a:rPr lang="zh-CN" altLang="en-US" dirty="0"/>
                    <a:t>：决策模型的</a:t>
                  </a:r>
                  <a:r>
                    <a:rPr lang="zh-CN" altLang="en-US" b="1" dirty="0"/>
                    <a:t>奖励函数</a:t>
                  </a:r>
                  <a:endParaRPr lang="zh-CN" altLang="en-US" sz="1800" b="1" spc="300" dirty="0"/>
                </a:p>
              </p:txBody>
            </p:sp>
          </mc:Choice>
          <mc:Fallback xmlns="">
            <p:sp>
              <p:nvSpPr>
                <p:cNvPr id="15" name="文本框 14">
                  <a:extLst>
                    <a:ext uri="{FF2B5EF4-FFF2-40B4-BE49-F238E27FC236}">
                      <a16:creationId xmlns:a16="http://schemas.microsoft.com/office/drawing/2014/main" id="{2363F5AE-719F-06C9-40A5-CB1F253FC450}"/>
                    </a:ext>
                  </a:extLst>
                </p:cNvPr>
                <p:cNvSpPr txBox="1">
                  <a:spLocks noRot="1" noChangeAspect="1" noMove="1" noResize="1" noEditPoints="1" noAdjustHandles="1" noChangeArrowheads="1" noChangeShapeType="1" noTextEdit="1"/>
                </p:cNvSpPr>
                <p:nvPr/>
              </p:nvSpPr>
              <p:spPr>
                <a:xfrm>
                  <a:off x="6535722" y="3934786"/>
                  <a:ext cx="6094878" cy="369332"/>
                </a:xfrm>
                <a:prstGeom prst="rect">
                  <a:avLst/>
                </a:prstGeom>
                <a:blipFill>
                  <a:blip r:embed="rId7"/>
                  <a:stretch>
                    <a:fillRect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94920E7-A2C6-DA52-C62F-8B054B6E59B0}"/>
                    </a:ext>
                  </a:extLst>
                </p:cNvPr>
                <p:cNvSpPr txBox="1"/>
                <p:nvPr/>
              </p:nvSpPr>
              <p:spPr>
                <a:xfrm>
                  <a:off x="6535722" y="5055740"/>
                  <a:ext cx="6094878" cy="369332"/>
                </a:xfrm>
                <a:prstGeom prst="rect">
                  <a:avLst/>
                </a:prstGeom>
                <a:noFill/>
              </p:spPr>
              <p:txBody>
                <a:bodyPr wrap="square">
                  <a:spAutoFit/>
                </a:bodyPr>
                <a:lstStyle/>
                <a:p>
                  <a14:m>
                    <m:oMath xmlns:m="http://schemas.openxmlformats.org/officeDocument/2006/math">
                      <m:r>
                        <a:rPr lang="zh-CN" altLang="en-US" i="1" smtClean="0">
                          <a:latin typeface="Cambria Math" panose="02040503050406030204" pitchFamily="18" charset="0"/>
                        </a:rPr>
                        <m:t>𝛾</m:t>
                      </m:r>
                    </m:oMath>
                  </a14:m>
                  <a:r>
                    <a:rPr lang="zh-CN" altLang="en-US" dirty="0"/>
                    <a:t>：回报折扣率</a:t>
                  </a:r>
                  <a:endParaRPr lang="zh-CN" altLang="en-US" sz="1800" b="1" spc="300" dirty="0"/>
                </a:p>
              </p:txBody>
            </p:sp>
          </mc:Choice>
          <mc:Fallback xmlns="">
            <p:sp>
              <p:nvSpPr>
                <p:cNvPr id="16" name="文本框 15">
                  <a:extLst>
                    <a:ext uri="{FF2B5EF4-FFF2-40B4-BE49-F238E27FC236}">
                      <a16:creationId xmlns:a16="http://schemas.microsoft.com/office/drawing/2014/main" id="{394920E7-A2C6-DA52-C62F-8B054B6E59B0}"/>
                    </a:ext>
                  </a:extLst>
                </p:cNvPr>
                <p:cNvSpPr txBox="1">
                  <a:spLocks noRot="1" noChangeAspect="1" noMove="1" noResize="1" noEditPoints="1" noAdjustHandles="1" noChangeArrowheads="1" noChangeShapeType="1" noTextEdit="1"/>
                </p:cNvSpPr>
                <p:nvPr/>
              </p:nvSpPr>
              <p:spPr>
                <a:xfrm>
                  <a:off x="6535722" y="5055740"/>
                  <a:ext cx="6094878" cy="369332"/>
                </a:xfrm>
                <a:prstGeom prst="rect">
                  <a:avLst/>
                </a:prstGeom>
                <a:blipFill>
                  <a:blip r:embed="rId8"/>
                  <a:stretch>
                    <a:fillRect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466D167D-3362-B8D9-83EC-764603768FB4}"/>
                    </a:ext>
                  </a:extLst>
                </p:cNvPr>
                <p:cNvSpPr txBox="1"/>
                <p:nvPr/>
              </p:nvSpPr>
              <p:spPr>
                <a:xfrm>
                  <a:off x="6535722" y="3410259"/>
                  <a:ext cx="6094878" cy="369332"/>
                </a:xfrm>
                <a:prstGeom prst="rect">
                  <a:avLst/>
                </a:prstGeom>
                <a:noFill/>
              </p:spPr>
              <p:txBody>
                <a:bodyPr wrap="square">
                  <a:spAutoFit/>
                </a:bodyPr>
                <a:lstStyle/>
                <a:p>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 ：</m:t>
                      </m:r>
                      <m:r>
                        <a:rPr lang="en-US" altLang="zh-CN" b="1" i="1" smtClean="0">
                          <a:latin typeface="Cambria Math" panose="02040503050406030204" pitchFamily="18" charset="0"/>
                        </a:rPr>
                        <m:t>𝑺</m:t>
                      </m:r>
                      <m:r>
                        <a:rPr lang="en-US" altLang="zh-CN" b="1" i="1">
                          <a:latin typeface="Cambria Math" panose="02040503050406030204" pitchFamily="18" charset="0"/>
                        </a:rPr>
                        <m:t>×</m:t>
                      </m:r>
                      <m:r>
                        <a:rPr lang="en-US" altLang="zh-CN" b="1" i="1" smtClean="0">
                          <a:latin typeface="Cambria Math" panose="02040503050406030204" pitchFamily="18" charset="0"/>
                        </a:rPr>
                        <m:t>𝑨</m:t>
                      </m:r>
                      <m:r>
                        <a:rPr lang="en-US" altLang="zh-CN" b="1" i="1" smtClean="0">
                          <a:latin typeface="Cambria Math" panose="02040503050406030204" pitchFamily="18" charset="0"/>
                        </a:rPr>
                        <m:t>→</m:t>
                      </m:r>
                      <m:r>
                        <a:rPr lang="en-US" altLang="zh-CN" b="1" i="1" smtClean="0">
                          <a:latin typeface="Cambria Math" panose="02040503050406030204" pitchFamily="18" charset="0"/>
                        </a:rPr>
                        <m:t>𝑺</m:t>
                      </m:r>
                      <m:r>
                        <a:rPr lang="en-US" altLang="zh-CN" b="1" i="0" smtClean="0">
                          <a:latin typeface="Cambria Math" panose="02040503050406030204" pitchFamily="18" charset="0"/>
                        </a:rPr>
                        <m:t> </m:t>
                      </m:r>
                    </m:oMath>
                  </a14:m>
                  <a:r>
                    <a:rPr lang="zh-CN" altLang="en-US" sz="1800" spc="300" dirty="0"/>
                    <a:t>，记为</a:t>
                  </a:r>
                  <a14:m>
                    <m:oMath xmlns:m="http://schemas.openxmlformats.org/officeDocument/2006/math">
                      <m:sSub>
                        <m:sSubPr>
                          <m:ctrlPr>
                            <a:rPr lang="en-US" altLang="zh-CN" sz="1800" b="0" i="1" spc="300" smtClean="0">
                              <a:latin typeface="Cambria Math" panose="02040503050406030204" pitchFamily="18" charset="0"/>
                            </a:rPr>
                          </m:ctrlPr>
                        </m:sSubPr>
                        <m:e>
                          <m:r>
                            <a:rPr lang="en-US" altLang="zh-CN" sz="1800" b="0" i="1" spc="300" smtClean="0">
                              <a:latin typeface="Cambria Math" panose="02040503050406030204" pitchFamily="18" charset="0"/>
                            </a:rPr>
                            <m:t>𝑠</m:t>
                          </m:r>
                        </m:e>
                        <m:sub>
                          <m:r>
                            <a:rPr lang="en-US" altLang="zh-CN" sz="1800" b="0" i="1" spc="300" smtClean="0">
                              <a:latin typeface="Cambria Math" panose="02040503050406030204" pitchFamily="18" charset="0"/>
                            </a:rPr>
                            <m:t>𝑡</m:t>
                          </m:r>
                          <m:r>
                            <a:rPr lang="en-US" altLang="zh-CN" sz="1800" b="0" i="1" spc="300" smtClean="0">
                              <a:latin typeface="Cambria Math" panose="02040503050406030204" pitchFamily="18" charset="0"/>
                            </a:rPr>
                            <m:t>+1</m:t>
                          </m:r>
                        </m:sub>
                      </m:sSub>
                      <m:r>
                        <a:rPr lang="en-US" altLang="zh-CN" sz="1800" b="0" i="1" spc="300" smtClean="0">
                          <a:latin typeface="Cambria Math" panose="02040503050406030204" pitchFamily="18" charset="0"/>
                        </a:rPr>
                        <m:t>~</m:t>
                      </m:r>
                      <m:r>
                        <a:rPr lang="en-US" altLang="zh-CN" sz="1800" b="0" i="1" spc="300" smtClean="0">
                          <a:latin typeface="Cambria Math" panose="02040503050406030204" pitchFamily="18" charset="0"/>
                        </a:rPr>
                        <m:t>𝑃</m:t>
                      </m:r>
                      <m:r>
                        <a:rPr lang="en-US" altLang="zh-CN" sz="1800" b="0" i="1" spc="300" smtClean="0">
                          <a:latin typeface="Cambria Math" panose="02040503050406030204" pitchFamily="18" charset="0"/>
                        </a:rPr>
                        <m:t>(</m:t>
                      </m:r>
                      <m:r>
                        <a:rPr lang="en-US" altLang="zh-CN" sz="1800" b="0" i="1" spc="300" smtClean="0">
                          <a:latin typeface="Cambria Math" panose="02040503050406030204" pitchFamily="18" charset="0"/>
                        </a:rPr>
                        <m:t>𝑠</m:t>
                      </m:r>
                      <m:r>
                        <a:rPr lang="en-US" altLang="zh-CN" sz="1800" b="0" i="1" spc="300" smtClean="0">
                          <a:latin typeface="Cambria Math" panose="02040503050406030204" pitchFamily="18" charset="0"/>
                        </a:rPr>
                        <m:t>|</m:t>
                      </m:r>
                      <m:sSub>
                        <m:sSubPr>
                          <m:ctrlPr>
                            <a:rPr lang="en-US" altLang="zh-CN" sz="1800" b="0" i="1" spc="300" smtClean="0">
                              <a:latin typeface="Cambria Math" panose="02040503050406030204" pitchFamily="18" charset="0"/>
                            </a:rPr>
                          </m:ctrlPr>
                        </m:sSubPr>
                        <m:e>
                          <m:r>
                            <a:rPr lang="en-US" altLang="zh-CN" sz="1800" b="0" i="1" spc="300" smtClean="0">
                              <a:latin typeface="Cambria Math" panose="02040503050406030204" pitchFamily="18" charset="0"/>
                            </a:rPr>
                            <m:t>𝑠</m:t>
                          </m:r>
                        </m:e>
                        <m:sub>
                          <m:r>
                            <a:rPr lang="en-US" altLang="zh-CN" sz="1800" b="0" i="1" spc="300" smtClean="0">
                              <a:latin typeface="Cambria Math" panose="02040503050406030204" pitchFamily="18" charset="0"/>
                            </a:rPr>
                            <m:t>𝑡</m:t>
                          </m:r>
                        </m:sub>
                      </m:sSub>
                      <m:r>
                        <a:rPr lang="en-US" altLang="zh-CN" sz="1800" b="0" i="1" spc="300" smtClean="0">
                          <a:latin typeface="Cambria Math" panose="02040503050406030204" pitchFamily="18" charset="0"/>
                        </a:rPr>
                        <m:t>,</m:t>
                      </m:r>
                      <m:sSub>
                        <m:sSubPr>
                          <m:ctrlPr>
                            <a:rPr lang="en-US" altLang="zh-CN" sz="1800" b="0" i="1" spc="300" smtClean="0">
                              <a:latin typeface="Cambria Math" panose="02040503050406030204" pitchFamily="18" charset="0"/>
                            </a:rPr>
                          </m:ctrlPr>
                        </m:sSubPr>
                        <m:e>
                          <m:r>
                            <a:rPr lang="en-US" altLang="zh-CN" sz="1800" b="0" i="1" spc="300" smtClean="0">
                              <a:latin typeface="Cambria Math" panose="02040503050406030204" pitchFamily="18" charset="0"/>
                            </a:rPr>
                            <m:t>𝑎</m:t>
                          </m:r>
                        </m:e>
                        <m:sub>
                          <m:r>
                            <a:rPr lang="en-US" altLang="zh-CN" sz="1800" b="0" i="1" spc="300" smtClean="0">
                              <a:latin typeface="Cambria Math" panose="02040503050406030204" pitchFamily="18" charset="0"/>
                            </a:rPr>
                            <m:t>𝑡</m:t>
                          </m:r>
                        </m:sub>
                      </m:sSub>
                      <m:r>
                        <a:rPr lang="en-US" altLang="zh-CN" sz="1800" b="0" i="1" spc="300" smtClean="0">
                          <a:latin typeface="Cambria Math" panose="02040503050406030204" pitchFamily="18" charset="0"/>
                        </a:rPr>
                        <m:t>)</m:t>
                      </m:r>
                    </m:oMath>
                  </a14:m>
                  <a:endParaRPr lang="zh-CN" altLang="en-US" sz="1800" spc="300" dirty="0"/>
                </a:p>
              </p:txBody>
            </p:sp>
          </mc:Choice>
          <mc:Fallback xmlns="">
            <p:sp>
              <p:nvSpPr>
                <p:cNvPr id="18" name="文本框 17">
                  <a:extLst>
                    <a:ext uri="{FF2B5EF4-FFF2-40B4-BE49-F238E27FC236}">
                      <a16:creationId xmlns:a16="http://schemas.microsoft.com/office/drawing/2014/main" id="{466D167D-3362-B8D9-83EC-764603768FB4}"/>
                    </a:ext>
                  </a:extLst>
                </p:cNvPr>
                <p:cNvSpPr txBox="1">
                  <a:spLocks noRot="1" noChangeAspect="1" noMove="1" noResize="1" noEditPoints="1" noAdjustHandles="1" noChangeArrowheads="1" noChangeShapeType="1" noTextEdit="1"/>
                </p:cNvSpPr>
                <p:nvPr/>
              </p:nvSpPr>
              <p:spPr>
                <a:xfrm>
                  <a:off x="6535722" y="3410259"/>
                  <a:ext cx="6094878" cy="369332"/>
                </a:xfrm>
                <a:prstGeom prst="rect">
                  <a:avLst/>
                </a:prstGeom>
                <a:blipFill>
                  <a:blip r:embed="rId9"/>
                  <a:stretch>
                    <a:fillRect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5C965819-3A4F-E41F-70C2-AF2CC63BC121}"/>
                    </a:ext>
                  </a:extLst>
                </p:cNvPr>
                <p:cNvSpPr txBox="1"/>
                <p:nvPr/>
              </p:nvSpPr>
              <p:spPr>
                <a:xfrm>
                  <a:off x="6535722" y="4400542"/>
                  <a:ext cx="6094878" cy="369332"/>
                </a:xfrm>
                <a:prstGeom prst="rect">
                  <a:avLst/>
                </a:prstGeom>
                <a:noFill/>
              </p:spPr>
              <p:txBody>
                <a:bodyPr wrap="square">
                  <a:spAutoFit/>
                </a:bodyPr>
                <a:lstStyle/>
                <a:p>
                  <a14:m>
                    <m:oMath xmlns:m="http://schemas.openxmlformats.org/officeDocument/2006/math">
                      <m:r>
                        <a:rPr lang="en-US" altLang="zh-CN" b="0" i="1" smtClean="0">
                          <a:latin typeface="Cambria Math" panose="02040503050406030204" pitchFamily="18" charset="0"/>
                        </a:rPr>
                        <m:t>𝑅</m:t>
                      </m:r>
                      <m:r>
                        <a:rPr lang="en-US" altLang="zh-CN" b="0" i="1" smtClean="0">
                          <a:latin typeface="Cambria Math" panose="02040503050406030204" pitchFamily="18" charset="0"/>
                        </a:rPr>
                        <m:t> ：</m:t>
                      </m:r>
                      <m:r>
                        <a:rPr lang="en-US" altLang="zh-CN" b="1" i="1" smtClean="0">
                          <a:latin typeface="Cambria Math" panose="02040503050406030204" pitchFamily="18" charset="0"/>
                        </a:rPr>
                        <m:t>𝑺</m:t>
                      </m:r>
                      <m:r>
                        <a:rPr lang="en-US" altLang="zh-CN" b="1" i="1">
                          <a:latin typeface="Cambria Math" panose="02040503050406030204" pitchFamily="18" charset="0"/>
                        </a:rPr>
                        <m:t>×</m:t>
                      </m:r>
                      <m:r>
                        <a:rPr lang="en-US" altLang="zh-CN" b="1" i="1" smtClean="0">
                          <a:latin typeface="Cambria Math" panose="02040503050406030204" pitchFamily="18" charset="0"/>
                        </a:rPr>
                        <m:t>𝑨</m:t>
                      </m:r>
                      <m:r>
                        <a:rPr lang="en-US" altLang="zh-CN" b="1" i="1" smtClean="0">
                          <a:latin typeface="Cambria Math" panose="02040503050406030204" pitchFamily="18" charset="0"/>
                        </a:rPr>
                        <m:t>→</m:t>
                      </m:r>
                      <m:r>
                        <a:rPr lang="en-US" altLang="zh-CN" b="1" i="0" smtClean="0">
                          <a:latin typeface="Cambria Math" panose="02040503050406030204" pitchFamily="18" charset="0"/>
                        </a:rPr>
                        <m:t>𝐑</m:t>
                      </m:r>
                      <m:r>
                        <a:rPr lang="en-US" altLang="zh-CN" b="1" i="0" smtClean="0">
                          <a:latin typeface="Cambria Math" panose="02040503050406030204" pitchFamily="18" charset="0"/>
                        </a:rPr>
                        <m:t> </m:t>
                      </m:r>
                    </m:oMath>
                  </a14:m>
                  <a:r>
                    <a:rPr lang="zh-CN" altLang="en-US" sz="1800" spc="300" dirty="0"/>
                    <a:t>，记为</a:t>
                  </a:r>
                  <a14:m>
                    <m:oMath xmlns:m="http://schemas.openxmlformats.org/officeDocument/2006/math">
                      <m:sSub>
                        <m:sSubPr>
                          <m:ctrlPr>
                            <a:rPr lang="en-US" altLang="zh-CN" sz="1800" b="0" i="1" spc="300" smtClean="0">
                              <a:latin typeface="Cambria Math" panose="02040503050406030204" pitchFamily="18" charset="0"/>
                            </a:rPr>
                          </m:ctrlPr>
                        </m:sSubPr>
                        <m:e>
                          <m:r>
                            <a:rPr lang="en-US" altLang="zh-CN" sz="1800" b="0" i="1" spc="300" smtClean="0">
                              <a:latin typeface="Cambria Math" panose="02040503050406030204" pitchFamily="18" charset="0"/>
                            </a:rPr>
                            <m:t>𝑟</m:t>
                          </m:r>
                        </m:e>
                        <m:sub>
                          <m:r>
                            <a:rPr lang="en-US" altLang="zh-CN" sz="1800" b="0" i="1" spc="300" smtClean="0">
                              <a:latin typeface="Cambria Math" panose="02040503050406030204" pitchFamily="18" charset="0"/>
                            </a:rPr>
                            <m:t>𝑡</m:t>
                          </m:r>
                          <m:r>
                            <a:rPr lang="en-US" altLang="zh-CN" sz="1800" b="0" i="1" spc="300" smtClean="0">
                              <a:latin typeface="Cambria Math" panose="02040503050406030204" pitchFamily="18" charset="0"/>
                            </a:rPr>
                            <m:t>+1</m:t>
                          </m:r>
                        </m:sub>
                      </m:sSub>
                      <m:r>
                        <a:rPr lang="en-US" altLang="zh-CN" sz="1800" b="0" i="1" spc="300" smtClean="0">
                          <a:latin typeface="Cambria Math" panose="02040503050406030204" pitchFamily="18" charset="0"/>
                        </a:rPr>
                        <m:t>~</m:t>
                      </m:r>
                      <m:r>
                        <a:rPr lang="en-US" altLang="zh-CN" sz="1800" b="0" i="1" spc="300" smtClean="0">
                          <a:latin typeface="Cambria Math" panose="02040503050406030204" pitchFamily="18" charset="0"/>
                        </a:rPr>
                        <m:t>𝑅</m:t>
                      </m:r>
                      <m:r>
                        <a:rPr lang="en-US" altLang="zh-CN" sz="1800" b="0" i="1" spc="300" smtClean="0">
                          <a:latin typeface="Cambria Math" panose="02040503050406030204" pitchFamily="18" charset="0"/>
                        </a:rPr>
                        <m:t>(</m:t>
                      </m:r>
                      <m:sSub>
                        <m:sSubPr>
                          <m:ctrlPr>
                            <a:rPr lang="en-US" altLang="zh-CN" b="0" i="1" spc="300" dirty="0" smtClean="0">
                              <a:latin typeface="Cambria Math" panose="02040503050406030204" pitchFamily="18" charset="0"/>
                            </a:rPr>
                          </m:ctrlPr>
                        </m:sSubPr>
                        <m:e>
                          <m:r>
                            <a:rPr lang="en-US" altLang="zh-CN" b="0" i="1" spc="300" dirty="0" smtClean="0">
                              <a:latin typeface="Cambria Math" panose="02040503050406030204" pitchFamily="18" charset="0"/>
                            </a:rPr>
                            <m:t>𝑟</m:t>
                          </m:r>
                        </m:e>
                        <m:sub>
                          <m:r>
                            <a:rPr lang="en-US" altLang="zh-CN" b="0" i="1" spc="300" dirty="0" smtClean="0">
                              <a:latin typeface="Cambria Math" panose="02040503050406030204" pitchFamily="18" charset="0"/>
                            </a:rPr>
                            <m:t>𝑡</m:t>
                          </m:r>
                        </m:sub>
                      </m:sSub>
                      <m:r>
                        <a:rPr lang="en-US" altLang="zh-CN" sz="1800" b="0" i="1" spc="300" smtClean="0">
                          <a:latin typeface="Cambria Math" panose="02040503050406030204" pitchFamily="18" charset="0"/>
                        </a:rPr>
                        <m:t>)</m:t>
                      </m:r>
                    </m:oMath>
                  </a14:m>
                  <a:endParaRPr lang="zh-CN" altLang="en-US" sz="1800" spc="300" dirty="0"/>
                </a:p>
              </p:txBody>
            </p:sp>
          </mc:Choice>
          <mc:Fallback xmlns="">
            <p:sp>
              <p:nvSpPr>
                <p:cNvPr id="20" name="文本框 19">
                  <a:extLst>
                    <a:ext uri="{FF2B5EF4-FFF2-40B4-BE49-F238E27FC236}">
                      <a16:creationId xmlns:a16="http://schemas.microsoft.com/office/drawing/2014/main" id="{5C965819-3A4F-E41F-70C2-AF2CC63BC121}"/>
                    </a:ext>
                  </a:extLst>
                </p:cNvPr>
                <p:cNvSpPr txBox="1">
                  <a:spLocks noRot="1" noChangeAspect="1" noMove="1" noResize="1" noEditPoints="1" noAdjustHandles="1" noChangeArrowheads="1" noChangeShapeType="1" noTextEdit="1"/>
                </p:cNvSpPr>
                <p:nvPr/>
              </p:nvSpPr>
              <p:spPr>
                <a:xfrm>
                  <a:off x="6535722" y="4400542"/>
                  <a:ext cx="6094878" cy="369332"/>
                </a:xfrm>
                <a:prstGeom prst="rect">
                  <a:avLst/>
                </a:prstGeom>
                <a:blipFill>
                  <a:blip r:embed="rId10"/>
                  <a:stretch>
                    <a:fillRect t="-10000" b="-26667"/>
                  </a:stretch>
                </a:blipFill>
              </p:spPr>
              <p:txBody>
                <a:bodyPr/>
                <a:lstStyle/>
                <a:p>
                  <a:r>
                    <a:rPr lang="zh-CN" altLang="en-US">
                      <a:noFill/>
                    </a:rPr>
                    <a:t> </a:t>
                  </a:r>
                </a:p>
              </p:txBody>
            </p:sp>
          </mc:Fallback>
        </mc:AlternateContent>
      </p:grpSp>
      <p:grpSp>
        <p:nvGrpSpPr>
          <p:cNvPr id="2" name="组合 1">
            <a:extLst>
              <a:ext uri="{FF2B5EF4-FFF2-40B4-BE49-F238E27FC236}">
                <a16:creationId xmlns:a16="http://schemas.microsoft.com/office/drawing/2014/main" id="{4A7D6077-A219-2479-9E46-FDB8D2CF95EA}"/>
              </a:ext>
            </a:extLst>
          </p:cNvPr>
          <p:cNvGrpSpPr/>
          <p:nvPr/>
        </p:nvGrpSpPr>
        <p:grpSpPr>
          <a:xfrm>
            <a:off x="-1" y="939798"/>
            <a:ext cx="5511575" cy="625474"/>
            <a:chOff x="0" y="1075267"/>
            <a:chExt cx="5022850" cy="625474"/>
          </a:xfrm>
        </p:grpSpPr>
        <p:sp>
          <p:nvSpPr>
            <p:cNvPr id="3" name="矩形 2">
              <a:extLst>
                <a:ext uri="{FF2B5EF4-FFF2-40B4-BE49-F238E27FC236}">
                  <a16:creationId xmlns:a16="http://schemas.microsoft.com/office/drawing/2014/main" id="{178682A7-C712-D34C-F8C9-61951EAC822F}"/>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F4DB21C0-F4C0-2EFD-8D7E-9E368B157EA8}"/>
                </a:ext>
              </a:extLst>
            </p:cNvPr>
            <p:cNvSpPr txBox="1"/>
            <p:nvPr/>
          </p:nvSpPr>
          <p:spPr>
            <a:xfrm>
              <a:off x="270932" y="1157172"/>
              <a:ext cx="4751917" cy="461665"/>
            </a:xfrm>
            <a:prstGeom prst="rect">
              <a:avLst/>
            </a:prstGeom>
            <a:noFill/>
          </p:spPr>
          <p:txBody>
            <a:bodyPr wrap="square">
              <a:spAutoFit/>
            </a:bodyPr>
            <a:lstStyle/>
            <a:p>
              <a:r>
                <a:rPr lang="en-US" altLang="zh-CN" sz="2400" b="1" dirty="0">
                  <a:solidFill>
                    <a:schemeClr val="accent1"/>
                  </a:solidFill>
                  <a:latin typeface="+mj-lt"/>
                </a:rPr>
                <a:t>5.4.1 </a:t>
              </a:r>
              <a:r>
                <a:rPr lang="zh-CN" altLang="en-US" sz="2400" b="1" dirty="0">
                  <a:solidFill>
                    <a:schemeClr val="accent1"/>
                  </a:solidFill>
                  <a:latin typeface="+mj-lt"/>
                </a:rPr>
                <a:t>基于值函数的强化学习导航</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EB32-D518-1AE7-4222-9009E9B4DD21}"/>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75C7A897-DCDF-CC9F-8AC1-2F7AB9A51942}"/>
              </a:ext>
            </a:extLst>
          </p:cNvPr>
          <p:cNvSpPr txBox="1"/>
          <p:nvPr/>
        </p:nvSpPr>
        <p:spPr>
          <a:xfrm>
            <a:off x="455481" y="1852700"/>
            <a:ext cx="5474672" cy="646331"/>
          </a:xfrm>
          <a:prstGeom prst="rect">
            <a:avLst/>
          </a:prstGeom>
          <a:noFill/>
        </p:spPr>
        <p:txBody>
          <a:bodyPr wrap="square">
            <a:spAutoFit/>
          </a:bodyPr>
          <a:lstStyle/>
          <a:p>
            <a:r>
              <a:rPr lang="zh-CN" altLang="en-US" dirty="0"/>
              <a:t>任务目标：</a:t>
            </a:r>
            <a:r>
              <a:rPr lang="zh-CN" altLang="en-US" b="1" dirty="0"/>
              <a:t>奖励之和期望最大化</a:t>
            </a:r>
            <a:endParaRPr lang="en-US" altLang="zh-CN" b="1" dirty="0"/>
          </a:p>
          <a:p>
            <a:endParaRPr lang="en-US" altLang="zh-CN"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2BDD3DD-1C49-424B-25F9-E72FBF88F8E3}"/>
                  </a:ext>
                </a:extLst>
              </p:cNvPr>
              <p:cNvSpPr txBox="1"/>
              <p:nvPr/>
            </p:nvSpPr>
            <p:spPr>
              <a:xfrm>
                <a:off x="-299360" y="2504462"/>
                <a:ext cx="6094878" cy="900375"/>
              </a:xfrm>
              <a:prstGeom prst="rect">
                <a:avLst/>
              </a:prstGeom>
              <a:noFill/>
            </p:spPr>
            <p:txBody>
              <a:bodyPr wrap="square">
                <a:spAutoFit/>
              </a:bodyPr>
              <a:lstStyle/>
              <a:p>
                <a:pPr/>
                <a14:m>
                  <m:oMathPara xmlns:m="http://schemas.openxmlformats.org/officeDocument/2006/math">
                    <m:oMath>
                      <m:r>
                        <m:rPr>
                          <m:sty m:val="p"/>
                        </m:rPr>
                        <a:rPr lang="en-US" altLang="zh-CN" i="1" spc="300" dirty="0" smtClean="0">
                          <a:latin typeface="Cambria Math" panose="02040503050406030204" pitchFamily="18" charset="0"/>
                        </a:rPr>
                        <m:t>m</m:t>
                      </m:r>
                      <m:r>
                        <a:rPr lang="en-US" altLang="zh-CN" b="0" i="1" spc="300" dirty="0" smtClean="0">
                          <a:latin typeface="Cambria Math" panose="02040503050406030204" pitchFamily="18" charset="0"/>
                        </a:rPr>
                        <m:t>𝑎𝑥</m:t>
                      </m:r>
                      <m:sSub>
                        <m:sSubPr>
                          <m:ctrlPr>
                            <a:rPr lang="en-US" altLang="zh-CN" b="0" i="1" spc="300" dirty="0" smtClean="0">
                              <a:latin typeface="Cambria Math" panose="02040503050406030204" pitchFamily="18" charset="0"/>
                            </a:rPr>
                          </m:ctrlPr>
                        </m:sSubPr>
                        <m:e>
                          <m:r>
                            <a:rPr lang="en-US" altLang="zh-CN" b="0" i="1" spc="300" dirty="0" smtClean="0">
                              <a:latin typeface="Cambria Math" panose="02040503050406030204" pitchFamily="18" charset="0"/>
                            </a:rPr>
                            <m:t>𝐺</m:t>
                          </m:r>
                        </m:e>
                        <m:sub>
                          <m:r>
                            <a:rPr lang="en-US" altLang="zh-CN" b="0" i="1" spc="300" dirty="0" smtClean="0">
                              <a:latin typeface="Cambria Math" panose="02040503050406030204" pitchFamily="18" charset="0"/>
                            </a:rPr>
                            <m:t>𝑇</m:t>
                          </m:r>
                        </m:sub>
                      </m:sSub>
                      <m:r>
                        <a:rPr lang="en-US" altLang="zh-CN" b="0" i="1" spc="300" dirty="0" smtClean="0">
                          <a:latin typeface="Cambria Math" panose="02040503050406030204" pitchFamily="18" charset="0"/>
                        </a:rPr>
                        <m:t>=</m:t>
                      </m:r>
                      <m:r>
                        <a:rPr lang="en-US" altLang="zh-CN" b="0" i="1" spc="300" dirty="0" smtClean="0">
                          <a:latin typeface="Cambria Math" panose="02040503050406030204" pitchFamily="18" charset="0"/>
                        </a:rPr>
                        <m:t>𝑚𝑎𝑥</m:t>
                      </m:r>
                      <m:nary>
                        <m:naryPr>
                          <m:chr m:val="∑"/>
                          <m:ctrlPr>
                            <a:rPr lang="en-US" altLang="zh-CN" b="0" i="1" spc="300" dirty="0" smtClean="0">
                              <a:latin typeface="Cambria Math" panose="02040503050406030204" pitchFamily="18" charset="0"/>
                            </a:rPr>
                          </m:ctrlPr>
                        </m:naryPr>
                        <m:sub>
                          <m:r>
                            <m:rPr>
                              <m:brk m:alnAt="23"/>
                            </m:rPr>
                            <a:rPr lang="en-US" altLang="zh-CN" b="0" i="1" spc="300" dirty="0" smtClean="0">
                              <a:latin typeface="Cambria Math" panose="02040503050406030204" pitchFamily="18" charset="0"/>
                            </a:rPr>
                            <m:t>𝑡</m:t>
                          </m:r>
                          <m:r>
                            <a:rPr lang="en-US" altLang="zh-CN" b="0" i="1" spc="300" dirty="0" smtClean="0">
                              <a:latin typeface="Cambria Math" panose="02040503050406030204" pitchFamily="18" charset="0"/>
                            </a:rPr>
                            <m:t>=1</m:t>
                          </m:r>
                        </m:sub>
                        <m:sup>
                          <m:r>
                            <a:rPr lang="en-US" altLang="zh-CN" b="0" i="1" spc="300" dirty="0" smtClean="0">
                              <a:latin typeface="Cambria Math" panose="02040503050406030204" pitchFamily="18" charset="0"/>
                            </a:rPr>
                            <m:t>𝑇</m:t>
                          </m:r>
                        </m:sup>
                        <m:e>
                          <m:sSup>
                            <m:sSupPr>
                              <m:ctrlPr>
                                <a:rPr lang="zh-CN" altLang="en-US" b="0" i="1" spc="300" dirty="0" smtClean="0">
                                  <a:latin typeface="Cambria Math" panose="02040503050406030204" pitchFamily="18" charset="0"/>
                                </a:rPr>
                              </m:ctrlPr>
                            </m:sSupPr>
                            <m:e>
                              <m:r>
                                <a:rPr lang="zh-CN" altLang="en-US" b="0" i="1" spc="300" dirty="0" smtClean="0">
                                  <a:latin typeface="Cambria Math" panose="02040503050406030204" pitchFamily="18" charset="0"/>
                                </a:rPr>
                                <m:t>𝛾</m:t>
                              </m:r>
                            </m:e>
                            <m:sup>
                              <m:r>
                                <a:rPr lang="en-US" altLang="zh-CN" b="0" i="1" spc="300" dirty="0" smtClean="0">
                                  <a:latin typeface="Cambria Math" panose="02040503050406030204" pitchFamily="18" charset="0"/>
                                </a:rPr>
                                <m:t>𝑡</m:t>
                              </m:r>
                            </m:sup>
                          </m:sSup>
                          <m:sSub>
                            <m:sSubPr>
                              <m:ctrlPr>
                                <a:rPr lang="en-US" altLang="zh-CN" b="0" i="1" spc="300" dirty="0" smtClean="0">
                                  <a:latin typeface="Cambria Math" panose="02040503050406030204" pitchFamily="18" charset="0"/>
                                </a:rPr>
                              </m:ctrlPr>
                            </m:sSubPr>
                            <m:e>
                              <m:r>
                                <a:rPr lang="en-US" altLang="zh-CN" b="0" i="1" spc="300" dirty="0" smtClean="0">
                                  <a:latin typeface="Cambria Math" panose="02040503050406030204" pitchFamily="18" charset="0"/>
                                </a:rPr>
                                <m:t>𝑟</m:t>
                              </m:r>
                            </m:e>
                            <m:sub>
                              <m:r>
                                <a:rPr lang="en-US" altLang="zh-CN" b="0" i="1" spc="300" dirty="0" smtClean="0">
                                  <a:latin typeface="Cambria Math" panose="02040503050406030204" pitchFamily="18" charset="0"/>
                                </a:rPr>
                                <m:t>𝑡</m:t>
                              </m:r>
                            </m:sub>
                          </m:sSub>
                        </m:e>
                      </m:nary>
                    </m:oMath>
                  </m:oMathPara>
                </a14:m>
                <a:endParaRPr/>
              </a:p>
            </p:txBody>
          </p:sp>
        </mc:Choice>
        <mc:Fallback xmlns="">
          <p:sp>
            <p:nvSpPr>
              <p:cNvPr id="9" name="文本框 8">
                <a:extLst>
                  <a:ext uri="{FF2B5EF4-FFF2-40B4-BE49-F238E27FC236}">
                    <a16:creationId xmlns:a16="http://schemas.microsoft.com/office/drawing/2014/main" id="{92BDD3DD-1C49-424B-25F9-E72FBF88F8E3}"/>
                  </a:ext>
                </a:extLst>
              </p:cNvPr>
              <p:cNvSpPr txBox="1">
                <a:spLocks noRot="1" noChangeAspect="1" noMove="1" noResize="1" noEditPoints="1" noAdjustHandles="1" noChangeArrowheads="1" noChangeShapeType="1" noTextEdit="1"/>
              </p:cNvSpPr>
              <p:nvPr/>
            </p:nvSpPr>
            <p:spPr>
              <a:xfrm>
                <a:off x="-299360" y="2504462"/>
                <a:ext cx="6094878" cy="90037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48885A2-2899-A362-0781-4EE2EA17DB3B}"/>
                  </a:ext>
                </a:extLst>
              </p:cNvPr>
              <p:cNvSpPr txBox="1"/>
              <p:nvPr/>
            </p:nvSpPr>
            <p:spPr>
              <a:xfrm>
                <a:off x="455481" y="3687267"/>
                <a:ext cx="5474672" cy="1200329"/>
              </a:xfrm>
              <a:prstGeom prst="rect">
                <a:avLst/>
              </a:prstGeom>
              <a:noFill/>
            </p:spPr>
            <p:txBody>
              <a:bodyPr wrap="square">
                <a:spAutoFit/>
              </a:bodyPr>
              <a:lstStyle/>
              <a:p>
                <a:r>
                  <a:rPr lang="zh-CN" altLang="en-US" dirty="0"/>
                  <a:t>优化对象：</a:t>
                </a:r>
                <a:r>
                  <a:rPr lang="zh-CN" altLang="en-US" b="1" dirty="0"/>
                  <a:t>导航策略 </a:t>
                </a:r>
                <a:r>
                  <a:rPr lang="en-US" altLang="zh-CN" dirty="0"/>
                  <a:t>(</a:t>
                </a:r>
                <a:r>
                  <a:rPr lang="zh-CN" altLang="en-US" dirty="0"/>
                  <a:t>策略提取</a:t>
                </a:r>
                <a:r>
                  <a:rPr lang="en-US" altLang="zh-CN" dirty="0"/>
                  <a:t>Police Extraction)</a:t>
                </a:r>
              </a:p>
              <a:p>
                <a:endParaRPr lang="en-US" altLang="zh-CN" dirty="0"/>
              </a:p>
              <a:p>
                <a:r>
                  <a:rPr lang="zh-CN" altLang="en-US" dirty="0"/>
                  <a:t>即判断对每一个时间步</a:t>
                </a:r>
                <a14:m>
                  <m:oMath xmlns:m="http://schemas.openxmlformats.org/officeDocument/2006/math">
                    <m:r>
                      <a:rPr lang="en-US" altLang="zh-CN" b="0" i="1" smtClean="0">
                        <a:latin typeface="Cambria Math" panose="02040503050406030204" pitchFamily="18" charset="0"/>
                      </a:rPr>
                      <m:t>𝑡</m:t>
                    </m:r>
                  </m:oMath>
                </a14:m>
                <a:r>
                  <a:rPr lang="zh-CN" altLang="en-US" dirty="0"/>
                  <a:t>下的状态</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sub>
                    </m:sSub>
                  </m:oMath>
                </a14:m>
                <a:r>
                  <a:rPr lang="zh-CN" altLang="en-US" dirty="0"/>
                  <a:t>采取何种动作使得累计回报最大</a:t>
                </a:r>
                <a:endParaRPr lang="en-US" altLang="zh-CN" dirty="0"/>
              </a:p>
            </p:txBody>
          </p:sp>
        </mc:Choice>
        <mc:Fallback xmlns="">
          <p:sp>
            <p:nvSpPr>
              <p:cNvPr id="2" name="文本框 1">
                <a:extLst>
                  <a:ext uri="{FF2B5EF4-FFF2-40B4-BE49-F238E27FC236}">
                    <a16:creationId xmlns:a16="http://schemas.microsoft.com/office/drawing/2014/main" id="{648885A2-2899-A362-0781-4EE2EA17DB3B}"/>
                  </a:ext>
                </a:extLst>
              </p:cNvPr>
              <p:cNvSpPr txBox="1">
                <a:spLocks noRot="1" noChangeAspect="1" noMove="1" noResize="1" noEditPoints="1" noAdjustHandles="1" noChangeArrowheads="1" noChangeShapeType="1" noTextEdit="1"/>
              </p:cNvSpPr>
              <p:nvPr/>
            </p:nvSpPr>
            <p:spPr>
              <a:xfrm>
                <a:off x="455481" y="3687267"/>
                <a:ext cx="5474672" cy="1200329"/>
              </a:xfrm>
              <a:prstGeom prst="rect">
                <a:avLst/>
              </a:prstGeom>
              <a:blipFill>
                <a:blip r:embed="rId4"/>
                <a:stretch>
                  <a:fillRect l="-1002" t="-3046" b="-71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69855AB-29A7-9433-332D-5F5054DB8D3C}"/>
                  </a:ext>
                </a:extLst>
              </p:cNvPr>
              <p:cNvSpPr txBox="1"/>
              <p:nvPr/>
            </p:nvSpPr>
            <p:spPr>
              <a:xfrm>
                <a:off x="5930153" y="1767968"/>
                <a:ext cx="5387614" cy="1661032"/>
              </a:xfrm>
              <a:prstGeom prst="rect">
                <a:avLst/>
              </a:prstGeom>
              <a:noFill/>
            </p:spPr>
            <p:txBody>
              <a:bodyPr wrap="square">
                <a:spAutoFit/>
              </a:bodyPr>
              <a:lstStyle/>
              <a:p>
                <a:r>
                  <a:rPr lang="zh-CN" altLang="en-US" dirty="0"/>
                  <a:t>引入</a:t>
                </a:r>
                <a:r>
                  <a:rPr lang="zh-CN" altLang="en-US" b="1" dirty="0"/>
                  <a:t>状态值函数</a:t>
                </a:r>
                <a:r>
                  <a:rPr lang="en-US" altLang="zh-CN" dirty="0"/>
                  <a:t>(State Value Function),</a:t>
                </a:r>
                <a:r>
                  <a:rPr lang="zh-CN" altLang="en-US" dirty="0"/>
                  <a:t>记为</a:t>
                </a:r>
                <a14:m>
                  <m:oMath xmlns:m="http://schemas.openxmlformats.org/officeDocument/2006/math">
                    <m:r>
                      <a:rPr lang="en-US" altLang="zh-CN" b="0" i="1" smtClean="0">
                        <a:latin typeface="Cambria Math" panose="02040503050406030204" pitchFamily="18" charset="0"/>
                      </a:rPr>
                      <m:t>𝑉</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r>
                      <a:rPr lang="en-US" altLang="zh-CN" b="0" i="1" smtClean="0">
                        <a:latin typeface="Cambria Math" panose="02040503050406030204" pitchFamily="18" charset="0"/>
                      </a:rPr>
                      <m:t>:</m:t>
                    </m:r>
                  </m:oMath>
                </a14:m>
                <a:endParaRPr lang="en-US" altLang="zh-CN" b="0" dirty="0"/>
              </a:p>
              <a:p>
                <a:pPr/>
                <a14:m>
                  <m:oMathPara xmlns:m="http://schemas.openxmlformats.org/officeDocument/2006/math">
                    <m:oMath>
                      <m:r>
                        <a:rPr lang="en-US" altLang="zh-CN" b="0" i="1" smtClean="0">
                          <a:latin typeface="Cambria Math" panose="02040503050406030204" pitchFamily="18" charset="0"/>
                        </a:rPr>
                        <m:t>𝑉</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m:t>
                          </m:r>
                        </m:e>
                        <m:sub>
                          <m:r>
                            <a:rPr lang="zh-CN" altLang="en-US" b="0" i="1" smtClean="0">
                              <a:latin typeface="Cambria Math" panose="02040503050406030204" pitchFamily="18" charset="0"/>
                            </a:rPr>
                            <m:t>𝜋</m:t>
                          </m:r>
                        </m:sub>
                      </m:sSub>
                      <m:d>
                        <m:dPr>
                          <m:begChr m:val="["/>
                          <m:endChr m:val="]"/>
                          <m:ctrlPr>
                            <a:rPr lang="en-US" altLang="zh-CN" i="1">
                              <a:latin typeface="Cambria Math" panose="02040503050406030204" pitchFamily="18" charset="0"/>
                            </a:rPr>
                          </m:ctrlPr>
                        </m:dPr>
                        <m:e>
                          <m:nary>
                            <m:naryPr>
                              <m:chr m:val="∑"/>
                              <m:supHide m:val="on"/>
                              <m:ctrlPr>
                                <a:rPr lang="en-US" altLang="zh-CN" i="1">
                                  <a:latin typeface="Cambria Math" panose="02040503050406030204" pitchFamily="18" charset="0"/>
                                </a:rPr>
                              </m:ctrlPr>
                            </m:naryPr>
                            <m:sub>
                              <m:r>
                                <m:rPr>
                                  <m:brk m:alnAt="7"/>
                                </m:rPr>
                                <a:rPr lang="en-US" altLang="zh-CN" i="1">
                                  <a:latin typeface="Cambria Math" panose="02040503050406030204" pitchFamily="18" charset="0"/>
                                </a:rPr>
                                <m:t>𝑡</m:t>
                              </m:r>
                            </m:sub>
                            <m:sup/>
                            <m:e>
                              <m:sSup>
                                <m:sSupPr>
                                  <m:ctrlPr>
                                    <a:rPr lang="zh-CN" altLang="en-US" i="1">
                                      <a:latin typeface="Cambria Math" panose="02040503050406030204" pitchFamily="18" charset="0"/>
                                    </a:rPr>
                                  </m:ctrlPr>
                                </m:sSupPr>
                                <m:e>
                                  <m:r>
                                    <a:rPr lang="zh-CN" altLang="en-US" i="1">
                                      <a:latin typeface="Cambria Math" panose="02040503050406030204" pitchFamily="18" charset="0"/>
                                    </a:rPr>
                                    <m:t>𝛾</m:t>
                                  </m:r>
                                </m:e>
                                <m:sup>
                                  <m:r>
                                    <a:rPr lang="en-US" altLang="zh-CN" i="1">
                                      <a:latin typeface="Cambria Math" panose="02040503050406030204" pitchFamily="18" charset="0"/>
                                    </a:rPr>
                                    <m:t>𝑡</m:t>
                                  </m:r>
                                </m:sup>
                              </m:sSup>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𝑡</m:t>
                                  </m:r>
                                </m:sub>
                              </m:sSub>
                              <m:r>
                                <a:rPr lang="en-US" altLang="zh-CN" i="1">
                                  <a:latin typeface="Cambria Math" panose="02040503050406030204" pitchFamily="18" charset="0"/>
                                </a:rPr>
                                <m:t>|</m:t>
                              </m:r>
                              <m:r>
                                <a:rPr lang="en-US" altLang="zh-CN" i="1">
                                  <a:latin typeface="Cambria Math" panose="02040503050406030204" pitchFamily="18" charset="0"/>
                                </a:rPr>
                                <m:t>𝑠</m:t>
                              </m:r>
                            </m:e>
                          </m:nary>
                        </m:e>
                      </m:d>
                    </m:oMath>
                  </m:oMathPara>
                </a14:m>
                <a:endParaRPr lang="en-US" altLang="zh-CN" dirty="0"/>
              </a:p>
              <a:p>
                <a:r>
                  <a:rPr lang="zh-CN" altLang="en-US" dirty="0"/>
                  <a:t>描述机器人在任一状态下，按照策略</a:t>
                </a:r>
                <a14:m>
                  <m:oMath xmlns:m="http://schemas.openxmlformats.org/officeDocument/2006/math">
                    <m:r>
                      <a:rPr lang="zh-CN" altLang="en-US" i="1" smtClean="0">
                        <a:latin typeface="Cambria Math" panose="02040503050406030204" pitchFamily="18" charset="0"/>
                      </a:rPr>
                      <m:t>𝜋</m:t>
                    </m:r>
                  </m:oMath>
                </a14:m>
                <a:r>
                  <a:rPr lang="zh-CN" altLang="en-US" dirty="0"/>
                  <a:t>选择动作能够获得回报的期望值</a:t>
                </a:r>
                <a:endParaRPr lang="en-US" altLang="zh-CN" dirty="0"/>
              </a:p>
            </p:txBody>
          </p:sp>
        </mc:Choice>
        <mc:Fallback xmlns="">
          <p:sp>
            <p:nvSpPr>
              <p:cNvPr id="3" name="文本框 2">
                <a:extLst>
                  <a:ext uri="{FF2B5EF4-FFF2-40B4-BE49-F238E27FC236}">
                    <a16:creationId xmlns:a16="http://schemas.microsoft.com/office/drawing/2014/main" id="{F69855AB-29A7-9433-332D-5F5054DB8D3C}"/>
                  </a:ext>
                </a:extLst>
              </p:cNvPr>
              <p:cNvSpPr txBox="1">
                <a:spLocks noRot="1" noChangeAspect="1" noMove="1" noResize="1" noEditPoints="1" noAdjustHandles="1" noChangeArrowheads="1" noChangeShapeType="1" noTextEdit="1"/>
              </p:cNvSpPr>
              <p:nvPr/>
            </p:nvSpPr>
            <p:spPr>
              <a:xfrm>
                <a:off x="5930153" y="1767968"/>
                <a:ext cx="5387614" cy="1661032"/>
              </a:xfrm>
              <a:prstGeom prst="rect">
                <a:avLst/>
              </a:prstGeom>
              <a:blipFill>
                <a:blip r:embed="rId5"/>
                <a:stretch>
                  <a:fillRect l="-1018" t="-1832" r="-566" b="-4762"/>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5823CE64-F72F-6670-5377-8452F3F4E23A}"/>
              </a:ext>
            </a:extLst>
          </p:cNvPr>
          <p:cNvSpPr txBox="1"/>
          <p:nvPr/>
        </p:nvSpPr>
        <p:spPr>
          <a:xfrm>
            <a:off x="5930153" y="1211935"/>
            <a:ext cx="6246108" cy="369332"/>
          </a:xfrm>
          <a:prstGeom prst="rect">
            <a:avLst/>
          </a:prstGeom>
          <a:noFill/>
        </p:spPr>
        <p:txBody>
          <a:bodyPr wrap="square">
            <a:spAutoFit/>
          </a:bodyPr>
          <a:lstStyle/>
          <a:p>
            <a:r>
              <a:rPr lang="zh-CN" altLang="en-US" b="1" dirty="0"/>
              <a:t>评估机器人状态好坏</a:t>
            </a:r>
            <a:endParaRPr lang="en-US" altLang="zh-CN" b="1" dirty="0"/>
          </a:p>
        </p:txBody>
      </p:sp>
      <p:grpSp>
        <p:nvGrpSpPr>
          <p:cNvPr id="11" name="组合 10">
            <a:extLst>
              <a:ext uri="{FF2B5EF4-FFF2-40B4-BE49-F238E27FC236}">
                <a16:creationId xmlns:a16="http://schemas.microsoft.com/office/drawing/2014/main" id="{FA24CB54-7241-B7D1-82F6-44A503ED09B4}"/>
              </a:ext>
            </a:extLst>
          </p:cNvPr>
          <p:cNvGrpSpPr/>
          <p:nvPr/>
        </p:nvGrpSpPr>
        <p:grpSpPr>
          <a:xfrm>
            <a:off x="5930153" y="3539619"/>
            <a:ext cx="5387614" cy="2971981"/>
            <a:chOff x="5930153" y="3539619"/>
            <a:chExt cx="5387614" cy="2971981"/>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F27CAB0-F558-4A91-DD55-65318E7D1960}"/>
                    </a:ext>
                  </a:extLst>
                </p:cNvPr>
                <p:cNvSpPr txBox="1"/>
                <p:nvPr/>
              </p:nvSpPr>
              <p:spPr>
                <a:xfrm>
                  <a:off x="5930153" y="3539619"/>
                  <a:ext cx="5387614" cy="1938031"/>
                </a:xfrm>
                <a:prstGeom prst="rect">
                  <a:avLst/>
                </a:prstGeom>
                <a:noFill/>
              </p:spPr>
              <p:txBody>
                <a:bodyPr wrap="square">
                  <a:spAutoFit/>
                </a:bodyPr>
                <a:lstStyle/>
                <a:p>
                  <a:r>
                    <a:rPr lang="zh-CN" altLang="en-US" dirty="0"/>
                    <a:t>机器人当前状态的好坏，还与当前状态下基于策略选择的动作有关，考虑机器人未来状态对当前状态评价的影响， 提出</a:t>
                  </a:r>
                  <a:r>
                    <a:rPr lang="zh-CN" altLang="en-US" b="1" dirty="0"/>
                    <a:t>状态</a:t>
                  </a:r>
                  <a:r>
                    <a:rPr lang="en-US" altLang="zh-CN" b="1" dirty="0"/>
                    <a:t>-</a:t>
                  </a:r>
                  <a:r>
                    <a:rPr lang="zh-CN" altLang="en-US" b="1" dirty="0"/>
                    <a:t>动作价值函数</a:t>
                  </a:r>
                  <a:r>
                    <a:rPr lang="zh-CN" altLang="en-US" dirty="0"/>
                    <a:t>（</a:t>
                  </a:r>
                  <a:r>
                    <a:rPr lang="en-US" altLang="zh-CN" dirty="0"/>
                    <a:t>State-Action Value Function</a:t>
                  </a:r>
                  <a:r>
                    <a:rPr lang="zh-CN" altLang="en-US" dirty="0"/>
                    <a:t>），记为</a:t>
                  </a:r>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oMath>
                  </a14:m>
                  <a:r>
                    <a:rPr lang="zh-CN" altLang="en-US" dirty="0"/>
                    <a:t>：</a:t>
                  </a:r>
                  <a:endParaRPr lang="en-US" altLang="zh-CN" dirty="0"/>
                </a:p>
                <a:p>
                  <a:pPr/>
                  <a14:m>
                    <m:oMathPara xmlns:m="http://schemas.openxmlformats.org/officeDocument/2006/math">
                      <m:oMath>
                        <m:r>
                          <a:rPr lang="en-US" altLang="zh-CN" b="0" i="1" smtClean="0">
                            <a:latin typeface="Cambria Math" panose="02040503050406030204" pitchFamily="18" charset="0"/>
                          </a:rPr>
                          <m:t>𝑄</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m:t>
                            </m:r>
                          </m:e>
                          <m:sub>
                            <m:r>
                              <a:rPr lang="zh-CN" altLang="en-US" b="0" i="1" smtClean="0">
                                <a:latin typeface="Cambria Math" panose="02040503050406030204" pitchFamily="18" charset="0"/>
                              </a:rPr>
                              <m:t>𝜋</m:t>
                            </m:r>
                          </m:sub>
                        </m:sSub>
                        <m:d>
                          <m:dPr>
                            <m:begChr m:val="["/>
                            <m:endChr m:val="]"/>
                            <m:ctrlPr>
                              <a:rPr lang="en-US" altLang="zh-CN" i="1">
                                <a:latin typeface="Cambria Math" panose="02040503050406030204" pitchFamily="18" charset="0"/>
                              </a:rPr>
                            </m:ctrlPr>
                          </m:dPr>
                          <m:e>
                            <m:nary>
                              <m:naryPr>
                                <m:chr m:val="∑"/>
                                <m:supHide m:val="on"/>
                                <m:ctrlPr>
                                  <a:rPr lang="en-US" altLang="zh-CN" i="1">
                                    <a:latin typeface="Cambria Math" panose="02040503050406030204" pitchFamily="18" charset="0"/>
                                  </a:rPr>
                                </m:ctrlPr>
                              </m:naryPr>
                              <m:sub>
                                <m:r>
                                  <m:rPr>
                                    <m:brk m:alnAt="7"/>
                                  </m:rPr>
                                  <a:rPr lang="en-US" altLang="zh-CN" i="1">
                                    <a:latin typeface="Cambria Math" panose="02040503050406030204" pitchFamily="18" charset="0"/>
                                  </a:rPr>
                                  <m:t>𝑡</m:t>
                                </m:r>
                              </m:sub>
                              <m:sup/>
                              <m:e>
                                <m:sSup>
                                  <m:sSupPr>
                                    <m:ctrlPr>
                                      <a:rPr lang="zh-CN" altLang="en-US" i="1">
                                        <a:latin typeface="Cambria Math" panose="02040503050406030204" pitchFamily="18" charset="0"/>
                                      </a:rPr>
                                    </m:ctrlPr>
                                  </m:sSupPr>
                                  <m:e>
                                    <m:r>
                                      <a:rPr lang="zh-CN" altLang="en-US" i="1">
                                        <a:latin typeface="Cambria Math" panose="02040503050406030204" pitchFamily="18" charset="0"/>
                                      </a:rPr>
                                      <m:t>𝛾</m:t>
                                    </m:r>
                                  </m:e>
                                  <m:sup>
                                    <m:r>
                                      <a:rPr lang="en-US" altLang="zh-CN" i="1">
                                        <a:latin typeface="Cambria Math" panose="02040503050406030204" pitchFamily="18" charset="0"/>
                                      </a:rPr>
                                      <m:t>𝑡</m:t>
                                    </m:r>
                                  </m:sup>
                                </m:sSup>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𝑡</m:t>
                                    </m:r>
                                  </m:sub>
                                </m:sSub>
                                <m:r>
                                  <a:rPr lang="en-US" altLang="zh-CN" i="1">
                                    <a:latin typeface="Cambria Math" panose="02040503050406030204" pitchFamily="18" charset="0"/>
                                  </a:rPr>
                                  <m:t>|</m:t>
                                </m:r>
                                <m:r>
                                  <a:rPr lang="en-US" altLang="zh-CN" i="1">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e>
                            </m:nary>
                          </m:e>
                        </m:d>
                      </m:oMath>
                    </m:oMathPara>
                  </a14:m>
                  <a:endParaRPr lang="en-US" altLang="zh-CN" dirty="0"/>
                </a:p>
              </p:txBody>
            </p:sp>
          </mc:Choice>
          <mc:Fallback xmlns="">
            <p:sp>
              <p:nvSpPr>
                <p:cNvPr id="6" name="文本框 5">
                  <a:extLst>
                    <a:ext uri="{FF2B5EF4-FFF2-40B4-BE49-F238E27FC236}">
                      <a16:creationId xmlns:a16="http://schemas.microsoft.com/office/drawing/2014/main" id="{FF27CAB0-F558-4A91-DD55-65318E7D1960}"/>
                    </a:ext>
                  </a:extLst>
                </p:cNvPr>
                <p:cNvSpPr txBox="1">
                  <a:spLocks noRot="1" noChangeAspect="1" noMove="1" noResize="1" noEditPoints="1" noAdjustHandles="1" noChangeArrowheads="1" noChangeShapeType="1" noTextEdit="1"/>
                </p:cNvSpPr>
                <p:nvPr/>
              </p:nvSpPr>
              <p:spPr>
                <a:xfrm>
                  <a:off x="5930153" y="3539619"/>
                  <a:ext cx="5387614" cy="1938031"/>
                </a:xfrm>
                <a:prstGeom prst="rect">
                  <a:avLst/>
                </a:prstGeom>
                <a:blipFill>
                  <a:blip r:embed="rId6"/>
                  <a:stretch>
                    <a:fillRect l="-1018" t="-18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9817F88-0BB8-6C2B-AD03-B24712C89B6C}"/>
                    </a:ext>
                  </a:extLst>
                </p:cNvPr>
                <p:cNvSpPr txBox="1"/>
                <p:nvPr/>
              </p:nvSpPr>
              <p:spPr>
                <a:xfrm>
                  <a:off x="5930153" y="5588270"/>
                  <a:ext cx="5387614" cy="923330"/>
                </a:xfrm>
                <a:prstGeom prst="rect">
                  <a:avLst/>
                </a:prstGeom>
                <a:noFill/>
              </p:spPr>
              <p:txBody>
                <a:bodyPr wrap="square">
                  <a:spAutoFit/>
                </a:bodyPr>
                <a:lstStyle/>
                <a:p>
                  <a:r>
                    <a:rPr lang="zh-CN" altLang="en-US" dirty="0"/>
                    <a:t>描述机器人在任一状态下，开始并已经选择了任意动作</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oMath>
                  </a14:m>
                  <a:r>
                    <a:rPr lang="en-US" altLang="zh-CN" dirty="0"/>
                    <a:t>, </a:t>
                  </a:r>
                  <a:r>
                    <a:rPr lang="zh-CN" altLang="en-US" dirty="0"/>
                    <a:t>在这之后按照策略</a:t>
                  </a:r>
                  <a14:m>
                    <m:oMath xmlns:m="http://schemas.openxmlformats.org/officeDocument/2006/math">
                      <m:r>
                        <a:rPr lang="zh-CN" altLang="en-US" i="1" smtClean="0">
                          <a:latin typeface="Cambria Math" panose="02040503050406030204" pitchFamily="18" charset="0"/>
                        </a:rPr>
                        <m:t>𝜋</m:t>
                      </m:r>
                    </m:oMath>
                  </a14:m>
                  <a:r>
                    <a:rPr lang="zh-CN" altLang="en-US" dirty="0"/>
                    <a:t>选择动作能够获得的回报期望值</a:t>
                  </a:r>
                  <a:endParaRPr lang="en-US" altLang="zh-CN" dirty="0"/>
                </a:p>
              </p:txBody>
            </p:sp>
          </mc:Choice>
          <mc:Fallback xmlns="">
            <p:sp>
              <p:nvSpPr>
                <p:cNvPr id="8" name="文本框 7">
                  <a:extLst>
                    <a:ext uri="{FF2B5EF4-FFF2-40B4-BE49-F238E27FC236}">
                      <a16:creationId xmlns:a16="http://schemas.microsoft.com/office/drawing/2014/main" id="{C9817F88-0BB8-6C2B-AD03-B24712C89B6C}"/>
                    </a:ext>
                  </a:extLst>
                </p:cNvPr>
                <p:cNvSpPr txBox="1">
                  <a:spLocks noRot="1" noChangeAspect="1" noMove="1" noResize="1" noEditPoints="1" noAdjustHandles="1" noChangeArrowheads="1" noChangeShapeType="1" noTextEdit="1"/>
                </p:cNvSpPr>
                <p:nvPr/>
              </p:nvSpPr>
              <p:spPr>
                <a:xfrm>
                  <a:off x="5930153" y="5588270"/>
                  <a:ext cx="5387614" cy="923330"/>
                </a:xfrm>
                <a:prstGeom prst="rect">
                  <a:avLst/>
                </a:prstGeom>
                <a:blipFill>
                  <a:blip r:embed="rId7"/>
                  <a:stretch>
                    <a:fillRect l="-1018" t="-3974" r="-339" b="-9934"/>
                  </a:stretch>
                </a:blipFill>
              </p:spPr>
              <p:txBody>
                <a:bodyPr/>
                <a:lstStyle/>
                <a:p>
                  <a:r>
                    <a:rPr lang="zh-CN" altLang="en-US">
                      <a:noFill/>
                    </a:rPr>
                    <a:t> </a:t>
                  </a:r>
                </a:p>
              </p:txBody>
            </p:sp>
          </mc:Fallback>
        </mc:AlternateContent>
      </p:grpSp>
      <p:grpSp>
        <p:nvGrpSpPr>
          <p:cNvPr id="4" name="组合 3">
            <a:extLst>
              <a:ext uri="{FF2B5EF4-FFF2-40B4-BE49-F238E27FC236}">
                <a16:creationId xmlns:a16="http://schemas.microsoft.com/office/drawing/2014/main" id="{F4BE0D85-BBBC-B626-D852-F0E0D16D012B}"/>
              </a:ext>
            </a:extLst>
          </p:cNvPr>
          <p:cNvGrpSpPr/>
          <p:nvPr/>
        </p:nvGrpSpPr>
        <p:grpSpPr>
          <a:xfrm>
            <a:off x="-1" y="939798"/>
            <a:ext cx="5511575" cy="625474"/>
            <a:chOff x="0" y="1075267"/>
            <a:chExt cx="5022850" cy="625474"/>
          </a:xfrm>
        </p:grpSpPr>
        <p:sp>
          <p:nvSpPr>
            <p:cNvPr id="10" name="矩形 9">
              <a:extLst>
                <a:ext uri="{FF2B5EF4-FFF2-40B4-BE49-F238E27FC236}">
                  <a16:creationId xmlns:a16="http://schemas.microsoft.com/office/drawing/2014/main" id="{94A10EEF-826E-AD9C-AD29-484997E8CC71}"/>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E914092D-1BA3-513A-BFC0-9DA5017D0A0E}"/>
                </a:ext>
              </a:extLst>
            </p:cNvPr>
            <p:cNvSpPr txBox="1"/>
            <p:nvPr/>
          </p:nvSpPr>
          <p:spPr>
            <a:xfrm>
              <a:off x="270932" y="1157172"/>
              <a:ext cx="4751917" cy="461665"/>
            </a:xfrm>
            <a:prstGeom prst="rect">
              <a:avLst/>
            </a:prstGeom>
            <a:noFill/>
          </p:spPr>
          <p:txBody>
            <a:bodyPr wrap="square">
              <a:spAutoFit/>
            </a:bodyPr>
            <a:lstStyle/>
            <a:p>
              <a:r>
                <a:rPr lang="en-US" altLang="zh-CN" sz="2400" b="1" dirty="0">
                  <a:solidFill>
                    <a:schemeClr val="accent1"/>
                  </a:solidFill>
                  <a:latin typeface="+mj-lt"/>
                </a:rPr>
                <a:t>5.4.1 </a:t>
              </a:r>
              <a:r>
                <a:rPr lang="zh-CN" altLang="en-US" sz="2400" b="1" dirty="0">
                  <a:solidFill>
                    <a:schemeClr val="accent1"/>
                  </a:solidFill>
                  <a:latin typeface="+mj-lt"/>
                </a:rPr>
                <a:t>基于值函数的强化学习导航</a:t>
              </a:r>
            </a:p>
          </p:txBody>
        </p:sp>
      </p:grpSp>
    </p:spTree>
    <p:extLst>
      <p:ext uri="{BB962C8B-B14F-4D97-AF65-F5344CB8AC3E}">
        <p14:creationId xmlns:p14="http://schemas.microsoft.com/office/powerpoint/2010/main" val="759618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87249-4180-1F2D-9600-B9CA4CA5D394}"/>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7D99389A-1A57-62B8-5809-0A340792B4B1}"/>
              </a:ext>
            </a:extLst>
          </p:cNvPr>
          <p:cNvSpPr txBox="1"/>
          <p:nvPr/>
        </p:nvSpPr>
        <p:spPr>
          <a:xfrm>
            <a:off x="80215" y="2369236"/>
            <a:ext cx="5474672" cy="646331"/>
          </a:xfrm>
          <a:prstGeom prst="rect">
            <a:avLst/>
          </a:prstGeom>
          <a:noFill/>
        </p:spPr>
        <p:txBody>
          <a:bodyPr wrap="square">
            <a:spAutoFit/>
          </a:bodyPr>
          <a:lstStyle/>
          <a:p>
            <a:r>
              <a:rPr lang="zh-CN" altLang="en-US" dirty="0"/>
              <a:t>状态转移函数和奖励函数</a:t>
            </a:r>
            <a:endParaRPr lang="en-US" altLang="zh-CN" dirty="0"/>
          </a:p>
          <a:p>
            <a:endParaRPr lang="en-US" altLang="zh-CN" dirty="0"/>
          </a:p>
        </p:txBody>
      </p:sp>
      <p:sp>
        <p:nvSpPr>
          <p:cNvPr id="2" name="文本框 1">
            <a:extLst>
              <a:ext uri="{FF2B5EF4-FFF2-40B4-BE49-F238E27FC236}">
                <a16:creationId xmlns:a16="http://schemas.microsoft.com/office/drawing/2014/main" id="{7BB39C3E-B38C-E02E-D6BB-E90979D5940C}"/>
              </a:ext>
            </a:extLst>
          </p:cNvPr>
          <p:cNvSpPr txBox="1"/>
          <p:nvPr/>
        </p:nvSpPr>
        <p:spPr>
          <a:xfrm>
            <a:off x="2952186" y="2124327"/>
            <a:ext cx="5474672" cy="369332"/>
          </a:xfrm>
          <a:prstGeom prst="rect">
            <a:avLst/>
          </a:prstGeom>
          <a:noFill/>
        </p:spPr>
        <p:txBody>
          <a:bodyPr wrap="square">
            <a:spAutoFit/>
          </a:bodyPr>
          <a:lstStyle/>
          <a:p>
            <a:r>
              <a:rPr lang="zh-CN" altLang="en-US" dirty="0"/>
              <a:t>已知：基于模型的强化学习</a:t>
            </a:r>
            <a:endParaRPr lang="en-US" altLang="zh-CN" dirty="0"/>
          </a:p>
        </p:txBody>
      </p:sp>
      <p:sp>
        <p:nvSpPr>
          <p:cNvPr id="4" name="左大括号 3">
            <a:extLst>
              <a:ext uri="{FF2B5EF4-FFF2-40B4-BE49-F238E27FC236}">
                <a16:creationId xmlns:a16="http://schemas.microsoft.com/office/drawing/2014/main" id="{59F4B6A4-67E4-F21C-3F9A-0514A76A4BD1}"/>
              </a:ext>
            </a:extLst>
          </p:cNvPr>
          <p:cNvSpPr/>
          <p:nvPr/>
        </p:nvSpPr>
        <p:spPr>
          <a:xfrm>
            <a:off x="2739055" y="2184659"/>
            <a:ext cx="213131" cy="728770"/>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4E4507BA-AD01-AD68-A681-0CF139A316F4}"/>
              </a:ext>
            </a:extLst>
          </p:cNvPr>
          <p:cNvSpPr txBox="1"/>
          <p:nvPr/>
        </p:nvSpPr>
        <p:spPr>
          <a:xfrm>
            <a:off x="2952186" y="2544097"/>
            <a:ext cx="5474672" cy="369332"/>
          </a:xfrm>
          <a:prstGeom prst="rect">
            <a:avLst/>
          </a:prstGeom>
          <a:noFill/>
        </p:spPr>
        <p:txBody>
          <a:bodyPr wrap="square">
            <a:spAutoFit/>
          </a:bodyPr>
          <a:lstStyle/>
          <a:p>
            <a:r>
              <a:rPr lang="zh-CN" altLang="en-US" dirty="0"/>
              <a:t>未知：无模型的强化学习</a:t>
            </a:r>
            <a:endParaRPr lang="en-US" altLang="zh-CN" dirty="0"/>
          </a:p>
        </p:txBody>
      </p:sp>
      <p:sp>
        <p:nvSpPr>
          <p:cNvPr id="12" name="文本框 11">
            <a:extLst>
              <a:ext uri="{FF2B5EF4-FFF2-40B4-BE49-F238E27FC236}">
                <a16:creationId xmlns:a16="http://schemas.microsoft.com/office/drawing/2014/main" id="{25AE23B3-5AF7-C62B-576E-2A4A8AF0E898}"/>
              </a:ext>
            </a:extLst>
          </p:cNvPr>
          <p:cNvSpPr txBox="1"/>
          <p:nvPr/>
        </p:nvSpPr>
        <p:spPr>
          <a:xfrm>
            <a:off x="595283" y="3066005"/>
            <a:ext cx="5474672" cy="646331"/>
          </a:xfrm>
          <a:prstGeom prst="rect">
            <a:avLst/>
          </a:prstGeom>
          <a:noFill/>
        </p:spPr>
        <p:txBody>
          <a:bodyPr wrap="square">
            <a:spAutoFit/>
          </a:bodyPr>
          <a:lstStyle/>
          <a:p>
            <a:r>
              <a:rPr lang="en-US" altLang="zh-CN" b="1" dirty="0"/>
              <a:t>Model-based:</a:t>
            </a:r>
            <a:r>
              <a:rPr lang="zh-CN" altLang="en-US" dirty="0"/>
              <a:t>动态规划</a:t>
            </a:r>
            <a:endParaRPr lang="en-US" altLang="zh-CN" dirty="0"/>
          </a:p>
          <a:p>
            <a:r>
              <a:rPr lang="en-US" altLang="zh-CN" b="1" dirty="0"/>
              <a:t>Model-free(</a:t>
            </a:r>
            <a:r>
              <a:rPr lang="zh-CN" altLang="en-US" b="1" dirty="0">
                <a:solidFill>
                  <a:srgbClr val="C00000"/>
                </a:solidFill>
              </a:rPr>
              <a:t>常见</a:t>
            </a:r>
            <a:r>
              <a:rPr lang="en-US" altLang="zh-CN" b="1" dirty="0"/>
              <a:t>)</a:t>
            </a:r>
            <a:r>
              <a:rPr lang="zh-CN" altLang="en-US" dirty="0"/>
              <a:t> </a:t>
            </a:r>
            <a:r>
              <a:rPr lang="en-US" altLang="zh-CN" b="1" dirty="0"/>
              <a:t>:</a:t>
            </a:r>
            <a:r>
              <a:rPr lang="zh-CN" altLang="en-US" dirty="0"/>
              <a:t>蒙特卡洛、时序差分算法</a:t>
            </a:r>
            <a:endParaRPr lang="en-US" altLang="zh-CN" dirty="0"/>
          </a:p>
        </p:txBody>
      </p:sp>
      <p:sp>
        <p:nvSpPr>
          <p:cNvPr id="13" name="文本框 12">
            <a:extLst>
              <a:ext uri="{FF2B5EF4-FFF2-40B4-BE49-F238E27FC236}">
                <a16:creationId xmlns:a16="http://schemas.microsoft.com/office/drawing/2014/main" id="{CFE07481-6B0D-16DF-E1BC-C6A0236FE841}"/>
              </a:ext>
            </a:extLst>
          </p:cNvPr>
          <p:cNvSpPr txBox="1"/>
          <p:nvPr/>
        </p:nvSpPr>
        <p:spPr>
          <a:xfrm>
            <a:off x="6579290" y="1347625"/>
            <a:ext cx="5474672" cy="369332"/>
          </a:xfrm>
          <a:prstGeom prst="rect">
            <a:avLst/>
          </a:prstGeom>
          <a:noFill/>
        </p:spPr>
        <p:txBody>
          <a:bodyPr wrap="square">
            <a:spAutoFit/>
          </a:bodyPr>
          <a:lstStyle/>
          <a:p>
            <a:r>
              <a:rPr lang="zh-CN" altLang="en-US" b="1" dirty="0"/>
              <a:t>时序差分算法</a:t>
            </a:r>
            <a:endParaRPr lang="en-US" altLang="zh-CN" b="1" dirty="0"/>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14F854C-A559-32B2-0973-9F3364B1BB53}"/>
                  </a:ext>
                </a:extLst>
              </p:cNvPr>
              <p:cNvSpPr txBox="1"/>
              <p:nvPr/>
            </p:nvSpPr>
            <p:spPr>
              <a:xfrm>
                <a:off x="6157878" y="1893494"/>
                <a:ext cx="5312463" cy="2375137"/>
              </a:xfrm>
              <a:prstGeom prst="rect">
                <a:avLst/>
              </a:prstGeom>
              <a:noFill/>
            </p:spPr>
            <p:txBody>
              <a:bodyPr wrap="square">
                <a:spAutoFit/>
              </a:bodyPr>
              <a:lstStyle/>
              <a:p>
                <a:r>
                  <a:rPr lang="en-US" altLang="zh-CN" dirty="0"/>
                  <a:t>1</a:t>
                </a:r>
                <a:r>
                  <a:rPr lang="zh-CN" altLang="en-US" dirty="0"/>
                  <a:t>）首先根据确定的策略</a:t>
                </a:r>
                <a14:m>
                  <m:oMath xmlns:m="http://schemas.openxmlformats.org/officeDocument/2006/math">
                    <m:r>
                      <a:rPr lang="zh-CN" altLang="en-US" i="1" smtClean="0">
                        <a:latin typeface="Cambria Math" panose="02040503050406030204" pitchFamily="18" charset="0"/>
                      </a:rPr>
                      <m:t>𝜋</m:t>
                    </m:r>
                  </m:oMath>
                </a14:m>
                <a:r>
                  <a:rPr lang="zh-CN" altLang="en-US" dirty="0"/>
                  <a:t>来初始化状态值函数</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zh-CN" altLang="en-US" i="1" smtClean="0">
                            <a:latin typeface="Cambria Math" panose="02040503050406030204" pitchFamily="18" charset="0"/>
                          </a:rPr>
                          <m:t>𝜋</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oMath>
                </a14:m>
                <a:endParaRPr lang="en-US" altLang="zh-CN" b="0" dirty="0"/>
              </a:p>
              <a:p>
                <a:endParaRPr lang="en-US" altLang="zh-CN" b="0" dirty="0"/>
              </a:p>
              <a:p>
                <a:r>
                  <a:rPr lang="en-US" altLang="zh-CN" dirty="0"/>
                  <a:t>2</a:t>
                </a:r>
                <a:r>
                  <a:rPr lang="zh-CN" altLang="en-US" dirty="0"/>
                  <a:t>）根据某一策略选择一个动作</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𝑡</m:t>
                        </m:r>
                      </m:sub>
                    </m:sSub>
                  </m:oMath>
                </a14:m>
                <a:r>
                  <a:rPr lang="zh-CN" altLang="en-US" dirty="0"/>
                  <a:t>，并观察下一时刻状态</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oMath>
                </a14:m>
                <a:endParaRPr lang="en-US" altLang="zh-CN" dirty="0"/>
              </a:p>
              <a:p>
                <a:endParaRPr lang="en-US" altLang="zh-CN" dirty="0"/>
              </a:p>
              <a:p>
                <a:r>
                  <a:rPr lang="en-US" altLang="zh-CN" dirty="0"/>
                  <a:t>3</a:t>
                </a:r>
                <a:r>
                  <a:rPr lang="zh-CN" altLang="en-US" dirty="0"/>
                  <a:t>）利用下一时刻带有折扣的状态值</a:t>
                </a:r>
                <a14:m>
                  <m:oMath xmlns:m="http://schemas.openxmlformats.org/officeDocument/2006/math">
                    <m:r>
                      <a:rPr lang="en-US" altLang="zh-CN" b="0" i="1" smtClean="0">
                        <a:latin typeface="Cambria Math" panose="02040503050406030204" pitchFamily="18" charset="0"/>
                      </a:rPr>
                      <m:t>𝑉</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oMath>
                </a14:m>
                <a:r>
                  <a:rPr lang="zh-CN" altLang="en-US" dirty="0"/>
                  <a:t>和当前状态下获得的收益</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oMath>
                </a14:m>
                <a:r>
                  <a:rPr lang="zh-CN" altLang="en-US" dirty="0"/>
                  <a:t>来估计当前状态下实际的状态值</a:t>
                </a:r>
                <a:r>
                  <a:rPr lang="en-US" altLang="zh-CN" dirty="0"/>
                  <a:t>V(</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sub>
                    </m:sSub>
                  </m:oMath>
                </a14:m>
                <a:r>
                  <a:rPr lang="en-US" altLang="zh-CN" dirty="0"/>
                  <a:t>),</a:t>
                </a:r>
                <a:r>
                  <a:rPr lang="zh-CN" altLang="en-US" dirty="0"/>
                  <a:t>并找到最优估计状态值</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𝑉</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oMath>
                </a14:m>
                <a:endParaRPr lang="en-US" altLang="zh-CN" dirty="0"/>
              </a:p>
            </p:txBody>
          </p:sp>
        </mc:Choice>
        <mc:Fallback xmlns="">
          <p:sp>
            <p:nvSpPr>
              <p:cNvPr id="14" name="文本框 13">
                <a:extLst>
                  <a:ext uri="{FF2B5EF4-FFF2-40B4-BE49-F238E27FC236}">
                    <a16:creationId xmlns:a16="http://schemas.microsoft.com/office/drawing/2014/main" id="{814F854C-A559-32B2-0973-9F3364B1BB53}"/>
                  </a:ext>
                </a:extLst>
              </p:cNvPr>
              <p:cNvSpPr txBox="1">
                <a:spLocks noRot="1" noChangeAspect="1" noMove="1" noResize="1" noEditPoints="1" noAdjustHandles="1" noChangeArrowheads="1" noChangeShapeType="1" noTextEdit="1"/>
              </p:cNvSpPr>
              <p:nvPr/>
            </p:nvSpPr>
            <p:spPr>
              <a:xfrm>
                <a:off x="6157878" y="1893494"/>
                <a:ext cx="5312463" cy="2375137"/>
              </a:xfrm>
              <a:prstGeom prst="rect">
                <a:avLst/>
              </a:prstGeom>
              <a:blipFill>
                <a:blip r:embed="rId3"/>
                <a:stretch>
                  <a:fillRect l="-917" t="-1542" b="-514"/>
                </a:stretch>
              </a:blipFill>
            </p:spPr>
            <p:txBody>
              <a:bodyPr/>
              <a:lstStyle/>
              <a:p>
                <a:r>
                  <a:rPr lang="zh-CN" altLang="en-US">
                    <a:noFill/>
                  </a:rPr>
                  <a:t> </a:t>
                </a:r>
              </a:p>
            </p:txBody>
          </p:sp>
        </mc:Fallback>
      </mc:AlternateContent>
      <p:grpSp>
        <p:nvGrpSpPr>
          <p:cNvPr id="17" name="组合 16">
            <a:extLst>
              <a:ext uri="{FF2B5EF4-FFF2-40B4-BE49-F238E27FC236}">
                <a16:creationId xmlns:a16="http://schemas.microsoft.com/office/drawing/2014/main" id="{E1FC3629-012F-0BBB-A18F-1A32588368E1}"/>
              </a:ext>
            </a:extLst>
          </p:cNvPr>
          <p:cNvGrpSpPr/>
          <p:nvPr/>
        </p:nvGrpSpPr>
        <p:grpSpPr>
          <a:xfrm>
            <a:off x="4406995" y="3864912"/>
            <a:ext cx="1689004" cy="835235"/>
            <a:chOff x="4463386" y="3912342"/>
            <a:chExt cx="1689004" cy="835235"/>
          </a:xfrm>
        </p:grpSpPr>
        <p:sp>
          <p:nvSpPr>
            <p:cNvPr id="18" name="直角三角形 17">
              <a:extLst>
                <a:ext uri="{FF2B5EF4-FFF2-40B4-BE49-F238E27FC236}">
                  <a16:creationId xmlns:a16="http://schemas.microsoft.com/office/drawing/2014/main" id="{C74E9224-A3EF-541E-77C0-4D267A783FA1}"/>
                </a:ext>
              </a:extLst>
            </p:cNvPr>
            <p:cNvSpPr/>
            <p:nvPr/>
          </p:nvSpPr>
          <p:spPr>
            <a:xfrm rot="16200000">
              <a:off x="5430648" y="3559934"/>
              <a:ext cx="369333" cy="1074150"/>
            </a:xfrm>
            <a:custGeom>
              <a:avLst/>
              <a:gdLst>
                <a:gd name="connsiteX0" fmla="*/ 0 w 1604755"/>
                <a:gd name="connsiteY0" fmla="*/ 550392 h 550392"/>
                <a:gd name="connsiteX1" fmla="*/ 0 w 1604755"/>
                <a:gd name="connsiteY1" fmla="*/ 0 h 550392"/>
                <a:gd name="connsiteX2" fmla="*/ 1604755 w 1604755"/>
                <a:gd name="connsiteY2" fmla="*/ 550392 h 550392"/>
                <a:gd name="connsiteX3" fmla="*/ 0 w 1604755"/>
                <a:gd name="connsiteY3" fmla="*/ 550392 h 550392"/>
                <a:gd name="connsiteX0-1" fmla="*/ 0 w 2879835"/>
                <a:gd name="connsiteY0-2" fmla="*/ 550392 h 1525752"/>
                <a:gd name="connsiteX1-3" fmla="*/ 0 w 2879835"/>
                <a:gd name="connsiteY1-4" fmla="*/ 0 h 1525752"/>
                <a:gd name="connsiteX2-5" fmla="*/ 2879835 w 2879835"/>
                <a:gd name="connsiteY2-6" fmla="*/ 1525752 h 1525752"/>
                <a:gd name="connsiteX3-7" fmla="*/ 0 w 2879835"/>
                <a:gd name="connsiteY3-8" fmla="*/ 550392 h 1525752"/>
                <a:gd name="connsiteX0-9" fmla="*/ 0 w 2790935"/>
                <a:gd name="connsiteY0-10" fmla="*/ 550392 h 1532102"/>
                <a:gd name="connsiteX1-11" fmla="*/ 0 w 2790935"/>
                <a:gd name="connsiteY1-12" fmla="*/ 0 h 1532102"/>
                <a:gd name="connsiteX2-13" fmla="*/ 2790935 w 2790935"/>
                <a:gd name="connsiteY2-14" fmla="*/ 1532102 h 1532102"/>
                <a:gd name="connsiteX3-15" fmla="*/ 0 w 2790935"/>
                <a:gd name="connsiteY3-16" fmla="*/ 550392 h 1532102"/>
                <a:gd name="connsiteX0-17" fmla="*/ 0 w 2473220"/>
                <a:gd name="connsiteY0-18" fmla="*/ 550392 h 1516604"/>
                <a:gd name="connsiteX1-19" fmla="*/ 0 w 2473220"/>
                <a:gd name="connsiteY1-20" fmla="*/ 0 h 1516604"/>
                <a:gd name="connsiteX2-21" fmla="*/ 2473220 w 2473220"/>
                <a:gd name="connsiteY2-22" fmla="*/ 1516604 h 1516604"/>
                <a:gd name="connsiteX3-23" fmla="*/ 0 w 2473220"/>
                <a:gd name="connsiteY3-24" fmla="*/ 550392 h 1516604"/>
                <a:gd name="connsiteX0-25" fmla="*/ 0 w 1448753"/>
                <a:gd name="connsiteY0-26" fmla="*/ 550392 h 1533537"/>
                <a:gd name="connsiteX1-27" fmla="*/ 0 w 1448753"/>
                <a:gd name="connsiteY1-28" fmla="*/ 0 h 1533537"/>
                <a:gd name="connsiteX2-29" fmla="*/ 1448753 w 1448753"/>
                <a:gd name="connsiteY2-30" fmla="*/ 1533537 h 1533537"/>
                <a:gd name="connsiteX3-31" fmla="*/ 0 w 1448753"/>
                <a:gd name="connsiteY3-32" fmla="*/ 550392 h 1533537"/>
                <a:gd name="connsiteX0-33" fmla="*/ 0 w 1469919"/>
                <a:gd name="connsiteY0-34" fmla="*/ 550392 h 1575870"/>
                <a:gd name="connsiteX1-35" fmla="*/ 0 w 1469919"/>
                <a:gd name="connsiteY1-36" fmla="*/ 0 h 1575870"/>
                <a:gd name="connsiteX2-37" fmla="*/ 1469919 w 1469919"/>
                <a:gd name="connsiteY2-38" fmla="*/ 1575870 h 1575870"/>
                <a:gd name="connsiteX3-39" fmla="*/ 0 w 1469919"/>
                <a:gd name="connsiteY3-40" fmla="*/ 550392 h 1575870"/>
                <a:gd name="connsiteX0-41" fmla="*/ 0 w 1469919"/>
                <a:gd name="connsiteY0-42" fmla="*/ 1007592 h 1575870"/>
                <a:gd name="connsiteX1-43" fmla="*/ 0 w 1469919"/>
                <a:gd name="connsiteY1-44" fmla="*/ 0 h 1575870"/>
                <a:gd name="connsiteX2-45" fmla="*/ 1469919 w 1469919"/>
                <a:gd name="connsiteY2-46" fmla="*/ 1575870 h 1575870"/>
                <a:gd name="connsiteX3-47" fmla="*/ 0 w 1469919"/>
                <a:gd name="connsiteY3-48" fmla="*/ 1007592 h 1575870"/>
              </a:gdLst>
              <a:ahLst/>
              <a:cxnLst>
                <a:cxn ang="0">
                  <a:pos x="connsiteX0-1" y="connsiteY0-2"/>
                </a:cxn>
                <a:cxn ang="0">
                  <a:pos x="connsiteX1-3" y="connsiteY1-4"/>
                </a:cxn>
                <a:cxn ang="0">
                  <a:pos x="connsiteX2-5" y="connsiteY2-6"/>
                </a:cxn>
                <a:cxn ang="0">
                  <a:pos x="connsiteX3-7" y="connsiteY3-8"/>
                </a:cxn>
              </a:cxnLst>
              <a:rect l="l" t="t" r="r" b="b"/>
              <a:pathLst>
                <a:path w="1469919" h="1575870">
                  <a:moveTo>
                    <a:pt x="0" y="1007592"/>
                  </a:moveTo>
                  <a:lnTo>
                    <a:pt x="0" y="0"/>
                  </a:lnTo>
                  <a:lnTo>
                    <a:pt x="1469919" y="1575870"/>
                  </a:lnTo>
                  <a:lnTo>
                    <a:pt x="0" y="1007592"/>
                  </a:lnTo>
                  <a:close/>
                </a:path>
              </a:pathLst>
            </a:custGeom>
            <a:gradFill>
              <a:gsLst>
                <a:gs pos="3000">
                  <a:schemeClr val="accent1">
                    <a:alpha val="91000"/>
                  </a:schemeClr>
                </a:gs>
                <a:gs pos="93000">
                  <a:schemeClr val="accent1">
                    <a:lumMod val="20000"/>
                    <a:lumOff val="80000"/>
                    <a:alpha val="54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矩形: 圆角 18">
              <a:extLst>
                <a:ext uri="{FF2B5EF4-FFF2-40B4-BE49-F238E27FC236}">
                  <a16:creationId xmlns:a16="http://schemas.microsoft.com/office/drawing/2014/main" id="{D69FEFF5-17FB-F537-5F21-344D4AA2013B}"/>
                </a:ext>
              </a:extLst>
            </p:cNvPr>
            <p:cNvSpPr/>
            <p:nvPr/>
          </p:nvSpPr>
          <p:spPr>
            <a:xfrm>
              <a:off x="4463386" y="4237926"/>
              <a:ext cx="1626126" cy="509651"/>
            </a:xfrm>
            <a:prstGeom prst="roundRect">
              <a:avLst>
                <a:gd name="adj" fmla="val 397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144000" bIns="180000" rtlCol="0" anchor="ctr"/>
            <a:lstStyle/>
            <a:p>
              <a:pPr algn="ctr"/>
              <a:r>
                <a:rPr lang="zh-CN" altLang="en-US" sz="2000" b="1" dirty="0">
                  <a:solidFill>
                    <a:schemeClr val="bg1"/>
                  </a:solidFill>
                </a:rPr>
                <a:t>试错一步</a:t>
              </a:r>
            </a:p>
          </p:txBody>
        </p:sp>
      </p:gr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842B630D-870A-047E-1097-121078CDD27F}"/>
                  </a:ext>
                </a:extLst>
              </p:cNvPr>
              <p:cNvSpPr txBox="1"/>
              <p:nvPr/>
            </p:nvSpPr>
            <p:spPr>
              <a:xfrm>
                <a:off x="6364066" y="4499107"/>
                <a:ext cx="5312463" cy="369332"/>
              </a:xfrm>
              <a:prstGeom prst="rect">
                <a:avLst/>
              </a:prstGeom>
              <a:noFill/>
            </p:spPr>
            <p:txBody>
              <a:bodyPr wrap="square">
                <a:spAutoFit/>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𝛾</m:t>
                    </m:r>
                    <m:r>
                      <a:rPr lang="en-US" altLang="zh-CN" b="0" i="1" smtClean="0">
                        <a:latin typeface="Cambria Math" panose="02040503050406030204" pitchFamily="18" charset="0"/>
                      </a:rPr>
                      <m:t>𝑉</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zh-CN" altLang="en-US" i="1">
                        <a:latin typeface="Cambria Math" panose="02040503050406030204" pitchFamily="18" charset="0"/>
                      </a:rPr>
                      <m:t>：</m:t>
                    </m:r>
                  </m:oMath>
                </a14:m>
                <a:r>
                  <a:rPr lang="zh-CN" altLang="en-US" b="1" dirty="0"/>
                  <a:t>时序差分目标</a:t>
                </a:r>
                <a:r>
                  <a:rPr lang="en-US" altLang="zh-CN" dirty="0"/>
                  <a:t>(TD-Target)</a:t>
                </a:r>
              </a:p>
            </p:txBody>
          </p:sp>
        </mc:Choice>
        <mc:Fallback xmlns="">
          <p:sp>
            <p:nvSpPr>
              <p:cNvPr id="20" name="文本框 19">
                <a:extLst>
                  <a:ext uri="{FF2B5EF4-FFF2-40B4-BE49-F238E27FC236}">
                    <a16:creationId xmlns:a16="http://schemas.microsoft.com/office/drawing/2014/main" id="{842B630D-870A-047E-1097-121078CDD27F}"/>
                  </a:ext>
                </a:extLst>
              </p:cNvPr>
              <p:cNvSpPr txBox="1">
                <a:spLocks noRot="1" noChangeAspect="1" noMove="1" noResize="1" noEditPoints="1" noAdjustHandles="1" noChangeArrowheads="1" noChangeShapeType="1" noTextEdit="1"/>
              </p:cNvSpPr>
              <p:nvPr/>
            </p:nvSpPr>
            <p:spPr>
              <a:xfrm>
                <a:off x="6364066" y="4499107"/>
                <a:ext cx="5312463" cy="369332"/>
              </a:xfrm>
              <a:prstGeom prst="rect">
                <a:avLst/>
              </a:prstGeom>
              <a:blipFill>
                <a:blip r:embed="rId4"/>
                <a:stretch>
                  <a:fillRect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9E6AF31-12B9-1F20-1CAF-D4D0FE00C8FC}"/>
                  </a:ext>
                </a:extLst>
              </p:cNvPr>
              <p:cNvSpPr txBox="1"/>
              <p:nvPr/>
            </p:nvSpPr>
            <p:spPr>
              <a:xfrm>
                <a:off x="6240801" y="5091143"/>
                <a:ext cx="5312463" cy="646331"/>
              </a:xfrm>
              <a:prstGeom prst="rect">
                <a:avLst/>
              </a:prstGeom>
              <a:noFill/>
            </p:spPr>
            <p:txBody>
              <a:bodyPr wrap="square">
                <a:spAutoFit/>
              </a:bodyPr>
              <a:lstStyle/>
              <a:p>
                <a:r>
                  <a:rPr lang="en-US" altLang="zh-CN" dirty="0"/>
                  <a:t>4</a:t>
                </a:r>
                <a:r>
                  <a:rPr lang="zh-CN" altLang="en-US" dirty="0"/>
                  <a:t>）更新策略：</a:t>
                </a:r>
                <a:endParaRPr lang="en-US" altLang="zh-CN" dirty="0"/>
              </a:p>
              <a:p>
                <a:pPr/>
                <a14:m>
                  <m:oMathPara xmlns:m="http://schemas.openxmlformats.org/officeDocument/2006/math">
                    <m:oMath>
                      <m:r>
                        <a:rPr lang="en-US" altLang="zh-CN" b="0" i="1" smtClean="0">
                          <a:latin typeface="Cambria Math" panose="02040503050406030204" pitchFamily="18" charset="0"/>
                        </a:rPr>
                        <m:t>𝑉</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sub>
                          </m:sSub>
                        </m:e>
                      </m:d>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𝑉</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e>
                      </m:d>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𝛼</m:t>
                      </m:r>
                      <m:d>
                        <m:dPr>
                          <m:begChr m:val="["/>
                          <m:endChr m:val="]"/>
                          <m:ctrlPr>
                            <a:rPr lang="en-US" altLang="zh-CN" i="1">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i="1">
                                  <a:latin typeface="Cambria Math" panose="02040503050406030204" pitchFamily="18" charset="0"/>
                                </a:rPr>
                                <m:t>𝑡</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𝛾</m:t>
                          </m:r>
                          <m:r>
                            <a:rPr lang="en-US" altLang="zh-CN" b="0" i="1" smtClean="0">
                              <a:latin typeface="Cambria Math" panose="02040503050406030204" pitchFamily="18" charset="0"/>
                            </a:rPr>
                            <m:t>𝑉</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𝑉</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e>
                      </m:d>
                    </m:oMath>
                  </m:oMathPara>
                </a14:m>
                <a:endParaRPr lang="en-US" altLang="zh-CN" dirty="0"/>
              </a:p>
            </p:txBody>
          </p:sp>
        </mc:Choice>
        <mc:Fallback xmlns="">
          <p:sp>
            <p:nvSpPr>
              <p:cNvPr id="21" name="文本框 20">
                <a:extLst>
                  <a:ext uri="{FF2B5EF4-FFF2-40B4-BE49-F238E27FC236}">
                    <a16:creationId xmlns:a16="http://schemas.microsoft.com/office/drawing/2014/main" id="{59E6AF31-12B9-1F20-1CAF-D4D0FE00C8FC}"/>
                  </a:ext>
                </a:extLst>
              </p:cNvPr>
              <p:cNvSpPr txBox="1">
                <a:spLocks noRot="1" noChangeAspect="1" noMove="1" noResize="1" noEditPoints="1" noAdjustHandles="1" noChangeArrowheads="1" noChangeShapeType="1" noTextEdit="1"/>
              </p:cNvSpPr>
              <p:nvPr/>
            </p:nvSpPr>
            <p:spPr>
              <a:xfrm>
                <a:off x="6240801" y="5091143"/>
                <a:ext cx="5312463" cy="646331"/>
              </a:xfrm>
              <a:prstGeom prst="rect">
                <a:avLst/>
              </a:prstGeom>
              <a:blipFill>
                <a:blip r:embed="rId5"/>
                <a:stretch>
                  <a:fillRect l="-1033" t="-4717" b="-84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126B8A7-4880-5A8B-6688-DEED345A5B67}"/>
                  </a:ext>
                </a:extLst>
              </p:cNvPr>
              <p:cNvSpPr txBox="1"/>
              <p:nvPr/>
            </p:nvSpPr>
            <p:spPr>
              <a:xfrm>
                <a:off x="6240801" y="5828490"/>
                <a:ext cx="5312463" cy="670696"/>
              </a:xfrm>
              <a:prstGeom prst="rect">
                <a:avLst/>
              </a:prstGeom>
              <a:noFill/>
            </p:spPr>
            <p:txBody>
              <a:bodyPr wrap="square">
                <a:spAutoFit/>
              </a:bodyPr>
              <a:lstStyle/>
              <a:p>
                <a:r>
                  <a:rPr lang="zh-CN" altLang="en-US" dirty="0"/>
                  <a:t>其中，</a:t>
                </a:r>
                <a14:m>
                  <m:oMath xmlns:m="http://schemas.openxmlformats.org/officeDocument/2006/math">
                    <m:r>
                      <a:rPr lang="zh-CN" altLang="en-US" i="1" smtClean="0">
                        <a:latin typeface="Cambria Math" panose="02040503050406030204" pitchFamily="18" charset="0"/>
                      </a:rPr>
                      <m:t>𝛼𝜖</m:t>
                    </m:r>
                    <m:r>
                      <a:rPr lang="en-US" altLang="zh-CN" b="0" i="1" smtClean="0">
                        <a:latin typeface="Cambria Math" panose="02040503050406030204" pitchFamily="18" charset="0"/>
                      </a:rPr>
                      <m:t>(0,1)</m:t>
                    </m:r>
                    <m:r>
                      <a:rPr lang="zh-CN" altLang="en-US" i="1">
                        <a:latin typeface="Cambria Math" panose="02040503050406030204" pitchFamily="18" charset="0"/>
                      </a:rPr>
                      <m:t>为</m:t>
                    </m:r>
                  </m:oMath>
                </a14:m>
                <a:r>
                  <a:rPr lang="zh-CN" altLang="en-US" dirty="0"/>
                  <a:t>增量步长</a:t>
                </a:r>
                <a:r>
                  <a:rPr lang="en-US" altLang="zh-CN" dirty="0"/>
                  <a:t>,</a:t>
                </a:r>
                <a:r>
                  <a:rPr lang="zh-CN" altLang="en-US" dirty="0"/>
                  <a:t>机器人与环境交互迭代使</a:t>
                </a:r>
                <a14:m>
                  <m:oMath xmlns:m="http://schemas.openxmlformats.org/officeDocument/2006/math">
                    <m:r>
                      <a:rPr lang="en-US" altLang="zh-CN" i="1">
                        <a:latin typeface="Cambria Math" panose="02040503050406030204" pitchFamily="18" charset="0"/>
                      </a:rPr>
                      <m:t>𝑉</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e>
                    </m:d>
                    <m:r>
                      <a:rPr lang="zh-CN" altLang="en-US" i="1" smtClean="0">
                        <a:latin typeface="Cambria Math" panose="02040503050406030204" pitchFamily="18" charset="0"/>
                      </a:rPr>
                      <m:t>逼近</m:t>
                    </m:r>
                  </m:oMath>
                </a14:m>
                <a:r>
                  <a:rPr lang="zh-CN" altLang="en-US" dirty="0"/>
                  <a:t>最优估计</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𝑉</m:t>
                        </m:r>
                      </m:e>
                      <m:sup>
                        <m:r>
                          <a:rPr lang="en-US" altLang="zh-CN" b="0" i="1" smtClean="0">
                            <a:latin typeface="Cambria Math" panose="02040503050406030204" pitchFamily="18" charset="0"/>
                          </a:rPr>
                          <m:t>∗</m:t>
                        </m:r>
                      </m:sup>
                    </m:s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e>
                    </m:d>
                  </m:oMath>
                </a14:m>
                <a:endParaRPr lang="en-US" altLang="zh-CN" dirty="0"/>
              </a:p>
            </p:txBody>
          </p:sp>
        </mc:Choice>
        <mc:Fallback xmlns="">
          <p:sp>
            <p:nvSpPr>
              <p:cNvPr id="22" name="文本框 21">
                <a:extLst>
                  <a:ext uri="{FF2B5EF4-FFF2-40B4-BE49-F238E27FC236}">
                    <a16:creationId xmlns:a16="http://schemas.microsoft.com/office/drawing/2014/main" id="{4126B8A7-4880-5A8B-6688-DEED345A5B67}"/>
                  </a:ext>
                </a:extLst>
              </p:cNvPr>
              <p:cNvSpPr txBox="1">
                <a:spLocks noRot="1" noChangeAspect="1" noMove="1" noResize="1" noEditPoints="1" noAdjustHandles="1" noChangeArrowheads="1" noChangeShapeType="1" noTextEdit="1"/>
              </p:cNvSpPr>
              <p:nvPr/>
            </p:nvSpPr>
            <p:spPr>
              <a:xfrm>
                <a:off x="6240801" y="5828490"/>
                <a:ext cx="5312463" cy="670696"/>
              </a:xfrm>
              <a:prstGeom prst="rect">
                <a:avLst/>
              </a:prstGeom>
              <a:blipFill>
                <a:blip r:embed="rId6"/>
                <a:stretch>
                  <a:fillRect l="-1033" t="-4545" b="-10000"/>
                </a:stretch>
              </a:blipFill>
            </p:spPr>
            <p:txBody>
              <a:bodyPr/>
              <a:lstStyle/>
              <a:p>
                <a:r>
                  <a:rPr lang="zh-CN" altLang="en-US">
                    <a:noFill/>
                  </a:rPr>
                  <a:t> </a:t>
                </a:r>
              </a:p>
            </p:txBody>
          </p:sp>
        </mc:Fallback>
      </mc:AlternateContent>
      <p:pic>
        <p:nvPicPr>
          <p:cNvPr id="24" name="图片 23" descr="图形用户界面, 文本&#10;&#10;AI 生成的内容可能不正确。">
            <a:extLst>
              <a:ext uri="{FF2B5EF4-FFF2-40B4-BE49-F238E27FC236}">
                <a16:creationId xmlns:a16="http://schemas.microsoft.com/office/drawing/2014/main" id="{A849CFD5-7CEB-0275-1678-47D7E384CAF3}"/>
              </a:ext>
            </a:extLst>
          </p:cNvPr>
          <p:cNvPicPr>
            <a:picLocks noChangeAspect="1"/>
          </p:cNvPicPr>
          <p:nvPr/>
        </p:nvPicPr>
        <p:blipFill>
          <a:blip r:embed="rId7"/>
          <a:srcRect l="-1053" t="-1182" r="42529" b="1182"/>
          <a:stretch>
            <a:fillRect/>
          </a:stretch>
        </p:blipFill>
        <p:spPr>
          <a:xfrm>
            <a:off x="335581" y="3713902"/>
            <a:ext cx="5760417" cy="2754481"/>
          </a:xfrm>
          <a:prstGeom prst="rect">
            <a:avLst/>
          </a:prstGeom>
        </p:spPr>
      </p:pic>
      <p:grpSp>
        <p:nvGrpSpPr>
          <p:cNvPr id="3" name="组合 2">
            <a:extLst>
              <a:ext uri="{FF2B5EF4-FFF2-40B4-BE49-F238E27FC236}">
                <a16:creationId xmlns:a16="http://schemas.microsoft.com/office/drawing/2014/main" id="{6D8FA8DB-EDC0-6C19-8271-F7C78A633250}"/>
              </a:ext>
            </a:extLst>
          </p:cNvPr>
          <p:cNvGrpSpPr/>
          <p:nvPr/>
        </p:nvGrpSpPr>
        <p:grpSpPr>
          <a:xfrm>
            <a:off x="-1" y="939798"/>
            <a:ext cx="5511575" cy="625474"/>
            <a:chOff x="0" y="1075267"/>
            <a:chExt cx="5022850" cy="625474"/>
          </a:xfrm>
        </p:grpSpPr>
        <p:sp>
          <p:nvSpPr>
            <p:cNvPr id="5" name="矩形 4">
              <a:extLst>
                <a:ext uri="{FF2B5EF4-FFF2-40B4-BE49-F238E27FC236}">
                  <a16:creationId xmlns:a16="http://schemas.microsoft.com/office/drawing/2014/main" id="{06A5D13D-CC19-0F7C-BC97-02D66DCB2CFB}"/>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5E147745-368C-9E19-D287-D9502B13F752}"/>
                </a:ext>
              </a:extLst>
            </p:cNvPr>
            <p:cNvSpPr txBox="1"/>
            <p:nvPr/>
          </p:nvSpPr>
          <p:spPr>
            <a:xfrm>
              <a:off x="270932" y="1157172"/>
              <a:ext cx="4751917" cy="461665"/>
            </a:xfrm>
            <a:prstGeom prst="rect">
              <a:avLst/>
            </a:prstGeom>
            <a:noFill/>
          </p:spPr>
          <p:txBody>
            <a:bodyPr wrap="square">
              <a:spAutoFit/>
            </a:bodyPr>
            <a:lstStyle/>
            <a:p>
              <a:r>
                <a:rPr lang="en-US" altLang="zh-CN" sz="2400" b="1" dirty="0">
                  <a:solidFill>
                    <a:schemeClr val="accent1"/>
                  </a:solidFill>
                  <a:latin typeface="+mj-lt"/>
                </a:rPr>
                <a:t>5.4.1 </a:t>
              </a:r>
              <a:r>
                <a:rPr lang="zh-CN" altLang="en-US" sz="2400" b="1" dirty="0">
                  <a:solidFill>
                    <a:schemeClr val="accent1"/>
                  </a:solidFill>
                  <a:latin typeface="+mj-lt"/>
                </a:rPr>
                <a:t>基于值函数的强化学习导航</a:t>
              </a:r>
            </a:p>
          </p:txBody>
        </p:sp>
      </p:grpSp>
    </p:spTree>
    <p:extLst>
      <p:ext uri="{BB962C8B-B14F-4D97-AF65-F5344CB8AC3E}">
        <p14:creationId xmlns:p14="http://schemas.microsoft.com/office/powerpoint/2010/main" val="3387331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1000"/>
                                        <p:tgtEl>
                                          <p:spTgt spid="20"/>
                                        </p:tgtEl>
                                      </p:cBhvr>
                                    </p:animEffect>
                                    <p:anim calcmode="lin" valueType="num">
                                      <p:cBhvr>
                                        <p:cTn id="23" dur="1000" fill="hold"/>
                                        <p:tgtEl>
                                          <p:spTgt spid="20"/>
                                        </p:tgtEl>
                                        <p:attrNameLst>
                                          <p:attrName>ppt_x</p:attrName>
                                        </p:attrNameLst>
                                      </p:cBhvr>
                                      <p:tavLst>
                                        <p:tav tm="0">
                                          <p:val>
                                            <p:strVal val="#ppt_x"/>
                                          </p:val>
                                        </p:tav>
                                        <p:tav tm="100000">
                                          <p:val>
                                            <p:strVal val="#ppt_x"/>
                                          </p:val>
                                        </p:tav>
                                      </p:tavLst>
                                    </p:anim>
                                    <p:anim calcmode="lin" valueType="num">
                                      <p:cBhvr>
                                        <p:cTn id="24" dur="1000" fill="hold"/>
                                        <p:tgtEl>
                                          <p:spTgt spid="2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1000"/>
                                        <p:tgtEl>
                                          <p:spTgt spid="22"/>
                                        </p:tgtEl>
                                      </p:cBhvr>
                                    </p:animEffect>
                                    <p:anim calcmode="lin" valueType="num">
                                      <p:cBhvr>
                                        <p:cTn id="33" dur="1000" fill="hold"/>
                                        <p:tgtEl>
                                          <p:spTgt spid="22"/>
                                        </p:tgtEl>
                                        <p:attrNameLst>
                                          <p:attrName>ppt_x</p:attrName>
                                        </p:attrNameLst>
                                      </p:cBhvr>
                                      <p:tavLst>
                                        <p:tav tm="0">
                                          <p:val>
                                            <p:strVal val="#ppt_x"/>
                                          </p:val>
                                        </p:tav>
                                        <p:tav tm="100000">
                                          <p:val>
                                            <p:strVal val="#ppt_x"/>
                                          </p:val>
                                        </p:tav>
                                      </p:tavLst>
                                    </p:anim>
                                    <p:anim calcmode="lin" valueType="num">
                                      <p:cBhvr>
                                        <p:cTn id="3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1000"/>
                                        <p:tgtEl>
                                          <p:spTgt spid="24"/>
                                        </p:tgtEl>
                                      </p:cBhvr>
                                    </p:animEffect>
                                    <p:anim calcmode="lin" valueType="num">
                                      <p:cBhvr>
                                        <p:cTn id="40" dur="1000" fill="hold"/>
                                        <p:tgtEl>
                                          <p:spTgt spid="24"/>
                                        </p:tgtEl>
                                        <p:attrNameLst>
                                          <p:attrName>ppt_x</p:attrName>
                                        </p:attrNameLst>
                                      </p:cBhvr>
                                      <p:tavLst>
                                        <p:tav tm="0">
                                          <p:val>
                                            <p:strVal val="#ppt_x"/>
                                          </p:val>
                                        </p:tav>
                                        <p:tav tm="100000">
                                          <p:val>
                                            <p:strVal val="#ppt_x"/>
                                          </p:val>
                                        </p:tav>
                                      </p:tavLst>
                                    </p:anim>
                                    <p:anim calcmode="lin" valueType="num">
                                      <p:cBhvr>
                                        <p:cTn id="41"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0" grpId="0"/>
      <p:bldP spid="21" grpId="0"/>
      <p:bldP spid="2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19BDB-43CD-EAC0-3402-41611CE707E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31E1B6CC-7435-F243-EB27-56415135AEB3}"/>
                  </a:ext>
                </a:extLst>
              </p:cNvPr>
              <p:cNvSpPr txBox="1"/>
              <p:nvPr/>
            </p:nvSpPr>
            <p:spPr>
              <a:xfrm>
                <a:off x="378624" y="3078843"/>
                <a:ext cx="4397321" cy="2031325"/>
              </a:xfrm>
              <a:prstGeom prst="rect">
                <a:avLst/>
              </a:prstGeom>
              <a:noFill/>
            </p:spPr>
            <p:txBody>
              <a:bodyPr wrap="square">
                <a:spAutoFit/>
              </a:bodyPr>
              <a:lstStyle/>
              <a:p>
                <a:r>
                  <a:rPr lang="en-US" altLang="zh-CN" dirty="0"/>
                  <a:t>SARSA </a:t>
                </a:r>
                <a:r>
                  <a:rPr lang="zh-CN" altLang="en-US" dirty="0"/>
                  <a:t>算法属于时序差分算法的一种</a:t>
                </a:r>
                <a:endParaRPr lang="en-US" altLang="zh-CN" dirty="0"/>
              </a:p>
              <a:p>
                <a:endParaRPr lang="en-US" altLang="zh-CN" dirty="0"/>
              </a:p>
              <a:p>
                <a:r>
                  <a:rPr lang="zh-CN" altLang="en-US" dirty="0"/>
                  <a:t>它对当前状态的最优状态</a:t>
                </a:r>
                <a:r>
                  <a:rPr lang="en-US" altLang="zh-CN" dirty="0"/>
                  <a:t>-</a:t>
                </a:r>
                <a:r>
                  <a:rPr lang="zh-CN" altLang="en-US" dirty="0"/>
                  <a:t>动作值</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𝑄</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oMath>
                </a14:m>
                <a:r>
                  <a:rPr lang="zh-CN" altLang="en-US" dirty="0"/>
                  <a:t>进行逼近而不是最优状态值</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𝑉</m:t>
                        </m:r>
                      </m:e>
                      <m:sup>
                        <m:r>
                          <a:rPr lang="en-US" altLang="zh-CN" b="0" i="1" smtClean="0">
                            <a:latin typeface="Cambria Math" panose="02040503050406030204" pitchFamily="18" charset="0"/>
                          </a:rPr>
                          <m:t>∗</m:t>
                        </m:r>
                      </m:sup>
                    </m:sSup>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sub>
                        </m:sSub>
                      </m:e>
                    </m:d>
                  </m:oMath>
                </a14:m>
                <a:endParaRPr lang="en-US" altLang="zh-CN" b="0" dirty="0"/>
              </a:p>
              <a:p>
                <a:endParaRPr lang="en-US" altLang="zh-CN" b="0" dirty="0"/>
              </a:p>
              <a:p>
                <a:r>
                  <a:rPr lang="zh-CN" altLang="en-US" dirty="0"/>
                  <a:t>同时序差分算法的更新公式类似，</a:t>
                </a:r>
                <a:r>
                  <a:rPr lang="en-US" altLang="zh-CN" dirty="0"/>
                  <a:t>SARSA </a:t>
                </a:r>
                <a:r>
                  <a:rPr lang="zh-CN" altLang="en-US" dirty="0"/>
                  <a:t>算法中状态</a:t>
                </a:r>
                <a:r>
                  <a:rPr lang="en-US" altLang="zh-CN" dirty="0"/>
                  <a:t>-</a:t>
                </a:r>
                <a:r>
                  <a:rPr lang="zh-CN" altLang="en-US" dirty="0"/>
                  <a:t>动作值按照如下策略更新：</a:t>
                </a:r>
                <a:endParaRPr lang="en-US" altLang="zh-CN" dirty="0"/>
              </a:p>
            </p:txBody>
          </p:sp>
        </mc:Choice>
        <mc:Fallback xmlns="">
          <p:sp>
            <p:nvSpPr>
              <p:cNvPr id="21" name="文本框 20">
                <a:extLst>
                  <a:ext uri="{FF2B5EF4-FFF2-40B4-BE49-F238E27FC236}">
                    <a16:creationId xmlns:a16="http://schemas.microsoft.com/office/drawing/2014/main" id="{31E1B6CC-7435-F243-EB27-56415135AEB3}"/>
                  </a:ext>
                </a:extLst>
              </p:cNvPr>
              <p:cNvSpPr txBox="1">
                <a:spLocks noRot="1" noChangeAspect="1" noMove="1" noResize="1" noEditPoints="1" noAdjustHandles="1" noChangeArrowheads="1" noChangeShapeType="1" noTextEdit="1"/>
              </p:cNvSpPr>
              <p:nvPr/>
            </p:nvSpPr>
            <p:spPr>
              <a:xfrm>
                <a:off x="378624" y="3078843"/>
                <a:ext cx="4397321" cy="2031325"/>
              </a:xfrm>
              <a:prstGeom prst="rect">
                <a:avLst/>
              </a:prstGeom>
              <a:blipFill>
                <a:blip r:embed="rId3"/>
                <a:stretch>
                  <a:fillRect l="-1110" t="-1502" r="-2219" b="-3904"/>
                </a:stretch>
              </a:blipFill>
            </p:spPr>
            <p:txBody>
              <a:bodyPr/>
              <a:lstStyle/>
              <a:p>
                <a:r>
                  <a:rPr lang="zh-CN" altLang="en-US">
                    <a:noFill/>
                  </a:rPr>
                  <a:t> </a:t>
                </a:r>
              </a:p>
            </p:txBody>
          </p:sp>
        </mc:Fallback>
      </mc:AlternateContent>
      <p:sp>
        <p:nvSpPr>
          <p:cNvPr id="22" name="文本框 21">
            <a:extLst>
              <a:ext uri="{FF2B5EF4-FFF2-40B4-BE49-F238E27FC236}">
                <a16:creationId xmlns:a16="http://schemas.microsoft.com/office/drawing/2014/main" id="{DFD818E7-32D6-4D62-5F3A-764584774E12}"/>
              </a:ext>
            </a:extLst>
          </p:cNvPr>
          <p:cNvSpPr txBox="1"/>
          <p:nvPr/>
        </p:nvSpPr>
        <p:spPr>
          <a:xfrm>
            <a:off x="1026341" y="2071696"/>
            <a:ext cx="5312463" cy="461665"/>
          </a:xfrm>
          <a:prstGeom prst="rect">
            <a:avLst/>
          </a:prstGeom>
          <a:noFill/>
        </p:spPr>
        <p:txBody>
          <a:bodyPr wrap="square">
            <a:spAutoFit/>
          </a:bodyPr>
          <a:lstStyle/>
          <a:p>
            <a:r>
              <a:rPr lang="en-US" altLang="zh-CN" sz="2400" b="1" dirty="0"/>
              <a:t>SARSA</a:t>
            </a:r>
            <a:r>
              <a:rPr lang="zh-CN" altLang="en-US" sz="2400" b="1" dirty="0"/>
              <a:t>算法</a:t>
            </a:r>
            <a:endParaRPr lang="en-US" altLang="zh-CN" sz="2400" b="1"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224CE2C-7486-9511-8B4B-6174A1E831F9}"/>
                  </a:ext>
                </a:extLst>
              </p:cNvPr>
              <p:cNvSpPr txBox="1"/>
              <p:nvPr/>
            </p:nvSpPr>
            <p:spPr>
              <a:xfrm>
                <a:off x="0" y="5548870"/>
                <a:ext cx="6094854" cy="369332"/>
              </a:xfrm>
              <a:prstGeom prst="rect">
                <a:avLst/>
              </a:prstGeom>
              <a:noFill/>
            </p:spPr>
            <p:txBody>
              <a:bodyPr wrap="square">
                <a:spAutoFit/>
              </a:bodyPr>
              <a:lstStyle/>
              <a:p>
                <a:pPr/>
                <a14:m>
                  <m:oMathPara xmlns:m="http://schemas.openxmlformats.org/officeDocument/2006/math">
                    <m:oMath>
                      <m:r>
                        <a:rPr lang="en-US" altLang="zh-CN" b="0" i="1" smtClean="0">
                          <a:latin typeface="Cambria Math" panose="02040503050406030204" pitchFamily="18" charset="0"/>
                        </a:rPr>
                        <m:t>𝑄</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𝑡</m:t>
                              </m:r>
                            </m:sub>
                          </m:sSub>
                        </m:e>
                      </m:d>
                      <m:r>
                        <a:rPr lang="en-US" altLang="zh-CN" b="0" i="1" smtClean="0">
                          <a:latin typeface="Cambria Math" panose="02040503050406030204" pitchFamily="18" charset="0"/>
                        </a:rPr>
                        <m:t>=</m:t>
                      </m:r>
                      <m:r>
                        <a:rPr lang="en-US" altLang="zh-CN" i="1">
                          <a:latin typeface="Cambria Math" panose="02040503050406030204" pitchFamily="18" charset="0"/>
                        </a:rPr>
                        <m:t>𝑄</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𝑡</m:t>
                              </m:r>
                            </m:sub>
                          </m:sSub>
                        </m:e>
                      </m:d>
                      <m:r>
                        <a:rPr lang="en-US" altLang="zh-CN" b="0" i="1" smtClean="0">
                          <a:latin typeface="Cambria Math" panose="02040503050406030204" pitchFamily="18" charset="0"/>
                        </a:rPr>
                        <m:t>+</m:t>
                      </m:r>
                      <m:r>
                        <a:rPr lang="zh-CN" altLang="en-US" b="0" i="1" smtClean="0">
                          <a:latin typeface="Cambria Math" panose="02040503050406030204" pitchFamily="18" charset="0"/>
                        </a:rPr>
                        <m:t>𝛼</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𝛾</m:t>
                          </m:r>
                          <m:r>
                            <a:rPr lang="en-US" altLang="zh-CN" i="1">
                              <a:latin typeface="Cambria Math" panose="02040503050406030204" pitchFamily="18" charset="0"/>
                            </a:rPr>
                            <m:t>𝑄</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𝑡</m:t>
                                  </m:r>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en-US" altLang="zh-CN" i="1">
                              <a:latin typeface="Cambria Math" panose="02040503050406030204" pitchFamily="18" charset="0"/>
                            </a:rPr>
                            <m:t>𝑄</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𝑡</m:t>
                                  </m:r>
                                </m:sub>
                              </m:sSub>
                            </m:e>
                          </m:d>
                        </m:e>
                      </m:d>
                    </m:oMath>
                  </m:oMathPara>
                </a14:m>
                <a:endParaRPr lang="en-US" altLang="zh-CN" dirty="0"/>
              </a:p>
            </p:txBody>
          </p:sp>
        </mc:Choice>
        <mc:Fallback xmlns="">
          <p:sp>
            <p:nvSpPr>
              <p:cNvPr id="5" name="文本框 4">
                <a:extLst>
                  <a:ext uri="{FF2B5EF4-FFF2-40B4-BE49-F238E27FC236}">
                    <a16:creationId xmlns:a16="http://schemas.microsoft.com/office/drawing/2014/main" id="{E224CE2C-7486-9511-8B4B-6174A1E831F9}"/>
                  </a:ext>
                </a:extLst>
              </p:cNvPr>
              <p:cNvSpPr txBox="1">
                <a:spLocks noRot="1" noChangeAspect="1" noMove="1" noResize="1" noEditPoints="1" noAdjustHandles="1" noChangeArrowheads="1" noChangeShapeType="1" noTextEdit="1"/>
              </p:cNvSpPr>
              <p:nvPr/>
            </p:nvSpPr>
            <p:spPr>
              <a:xfrm>
                <a:off x="0" y="5548870"/>
                <a:ext cx="6094854" cy="369332"/>
              </a:xfrm>
              <a:prstGeom prst="rect">
                <a:avLst/>
              </a:prstGeom>
              <a:blipFill>
                <a:blip r:embed="rId4"/>
                <a:stretch>
                  <a:fillRect b="-11475"/>
                </a:stretch>
              </a:blipFill>
            </p:spPr>
            <p:txBody>
              <a:bodyPr/>
              <a:lstStyle/>
              <a:p>
                <a:r>
                  <a:rPr lang="zh-CN" altLang="en-US">
                    <a:noFill/>
                  </a:rPr>
                  <a:t> </a:t>
                </a:r>
              </a:p>
            </p:txBody>
          </p:sp>
        </mc:Fallback>
      </mc:AlternateContent>
      <p:grpSp>
        <p:nvGrpSpPr>
          <p:cNvPr id="15" name="组合 14">
            <a:extLst>
              <a:ext uri="{FF2B5EF4-FFF2-40B4-BE49-F238E27FC236}">
                <a16:creationId xmlns:a16="http://schemas.microsoft.com/office/drawing/2014/main" id="{F082AD8C-DA9C-6770-D72B-6D10524988C2}"/>
              </a:ext>
            </a:extLst>
          </p:cNvPr>
          <p:cNvGrpSpPr/>
          <p:nvPr/>
        </p:nvGrpSpPr>
        <p:grpSpPr>
          <a:xfrm>
            <a:off x="5076305" y="1021703"/>
            <a:ext cx="6737071" cy="4995240"/>
            <a:chOff x="5076305" y="1021703"/>
            <a:chExt cx="6737071" cy="4995240"/>
          </a:xfrm>
        </p:grpSpPr>
        <p:pic>
          <p:nvPicPr>
            <p:cNvPr id="8" name="图片 7">
              <a:extLst>
                <a:ext uri="{FF2B5EF4-FFF2-40B4-BE49-F238E27FC236}">
                  <a16:creationId xmlns:a16="http://schemas.microsoft.com/office/drawing/2014/main" id="{5BC7397B-23D5-8E03-8080-43B302993E62}"/>
                </a:ext>
              </a:extLst>
            </p:cNvPr>
            <p:cNvPicPr>
              <a:picLocks noChangeAspect="1"/>
            </p:cNvPicPr>
            <p:nvPr/>
          </p:nvPicPr>
          <p:blipFill>
            <a:blip r:embed="rId5"/>
            <a:srcRect r="24410"/>
            <a:stretch>
              <a:fillRect/>
            </a:stretch>
          </p:blipFill>
          <p:spPr>
            <a:xfrm>
              <a:off x="5076305" y="1021703"/>
              <a:ext cx="6737071" cy="2744919"/>
            </a:xfrm>
            <a:prstGeom prst="rect">
              <a:avLst/>
            </a:prstGeom>
          </p:spPr>
        </p:pic>
        <p:sp>
          <p:nvSpPr>
            <p:cNvPr id="11" name="文本框 10">
              <a:extLst>
                <a:ext uri="{FF2B5EF4-FFF2-40B4-BE49-F238E27FC236}">
                  <a16:creationId xmlns:a16="http://schemas.microsoft.com/office/drawing/2014/main" id="{9F2209AD-4B55-C0C4-6F94-5CBE9B623F30}"/>
                </a:ext>
              </a:extLst>
            </p:cNvPr>
            <p:cNvSpPr txBox="1"/>
            <p:nvPr/>
          </p:nvSpPr>
          <p:spPr>
            <a:xfrm>
              <a:off x="6338804" y="3985618"/>
              <a:ext cx="4955291" cy="2031325"/>
            </a:xfrm>
            <a:prstGeom prst="rect">
              <a:avLst/>
            </a:prstGeom>
            <a:noFill/>
          </p:spPr>
          <p:txBody>
            <a:bodyPr wrap="square">
              <a:spAutoFit/>
            </a:bodyPr>
            <a:lstStyle/>
            <a:p>
              <a:pPr algn="l"/>
              <a:r>
                <a:rPr lang="en-US" altLang="zh-CN" sz="1800" b="0" i="0" u="none" strike="noStrike" baseline="0" dirty="0"/>
                <a:t>SARSA</a:t>
              </a:r>
              <a:r>
                <a:rPr lang="en-US" altLang="zh-CN" sz="1800" b="0" i="0" u="none" strike="noStrike" baseline="0" dirty="0">
                  <a:latin typeface="TimesNewRomanPSMT"/>
                </a:rPr>
                <a:t> </a:t>
              </a:r>
              <a:r>
                <a:rPr lang="zh-CN" altLang="en-US" sz="1800" b="0" i="0" u="none" strike="noStrike" baseline="0" dirty="0">
                  <a:latin typeface="TimesNewRomanPSMT"/>
                </a:rPr>
                <a:t>需要一个状态</a:t>
              </a:r>
              <a:r>
                <a:rPr lang="en-US" altLang="zh-CN" sz="1800" b="0" i="0" u="none" strike="noStrike" baseline="0" dirty="0">
                  <a:latin typeface="TimesNewRomanPSMT"/>
                </a:rPr>
                <a:t>-</a:t>
              </a:r>
              <a:r>
                <a:rPr lang="zh-CN" altLang="en-US" sz="1800" b="0" i="0" u="none" strike="noStrike" baseline="0" dirty="0">
                  <a:latin typeface="TimesNewRomanPSMT"/>
                </a:rPr>
                <a:t>动作值表</a:t>
              </a:r>
              <a:r>
                <a:rPr lang="zh-CN" altLang="en-US" dirty="0">
                  <a:latin typeface="TimesNewRomanPSMT"/>
                </a:rPr>
                <a:t>（</a:t>
              </a:r>
              <a:r>
                <a:rPr lang="en-US" altLang="zh-CN" dirty="0"/>
                <a:t>Q Table</a:t>
              </a:r>
              <a:r>
                <a:rPr lang="zh-CN" altLang="en-US" sz="1800" b="0" i="0" u="none" strike="noStrike" baseline="0" dirty="0">
                  <a:latin typeface="TimesNewRomanPSMT"/>
                </a:rPr>
                <a:t>）来存储每一状态下的最优估计状态</a:t>
              </a:r>
              <a:r>
                <a:rPr lang="en-US" altLang="zh-CN" sz="1800" b="0" i="0" u="none" strike="noStrike" baseline="0" dirty="0">
                  <a:latin typeface="TimesNewRomanPSMT"/>
                </a:rPr>
                <a:t>-</a:t>
              </a:r>
              <a:r>
                <a:rPr lang="zh-CN" altLang="en-US" sz="1800" b="0" i="0" u="none" strike="noStrike" baseline="0" dirty="0">
                  <a:latin typeface="TimesNewRomanPSMT"/>
                </a:rPr>
                <a:t>动作值。</a:t>
              </a:r>
              <a:endParaRPr lang="en-US" altLang="zh-CN" sz="1800" b="0" i="0" u="none" strike="noStrike" baseline="0" dirty="0">
                <a:latin typeface="TimesNewRomanPSMT"/>
              </a:endParaRPr>
            </a:p>
            <a:p>
              <a:pPr algn="l"/>
              <a:endParaRPr lang="en-US" altLang="zh-CN" sz="1800" b="0" i="0" u="none" strike="noStrike" baseline="0" dirty="0">
                <a:latin typeface="TimesNewRomanPSMT"/>
              </a:endParaRPr>
            </a:p>
            <a:p>
              <a:pPr algn="l"/>
              <a:r>
                <a:rPr lang="zh-CN" altLang="en-US" sz="1800" b="0" i="0" u="none" strike="noStrike" baseline="0" dirty="0">
                  <a:latin typeface="TimesNewRomanPSMT"/>
                </a:rPr>
                <a:t>在更新状态</a:t>
              </a:r>
              <a:r>
                <a:rPr lang="en-US" altLang="zh-CN" sz="1800" b="0" i="0" u="none" strike="noStrike" baseline="0" dirty="0">
                  <a:latin typeface="TimesNewRomanPSMT"/>
                </a:rPr>
                <a:t>-</a:t>
              </a:r>
              <a:r>
                <a:rPr lang="zh-CN" altLang="en-US" sz="1800" b="0" i="0" u="none" strike="noStrike" baseline="0" dirty="0">
                  <a:latin typeface="TimesNewRomanPSMT"/>
                </a:rPr>
                <a:t>动作值表和最优轨迹生成的时候，由于</a:t>
              </a:r>
              <a:r>
                <a:rPr lang="en-US" altLang="zh-CN" sz="1800" b="0" i="0" u="none" strike="noStrike" baseline="0" dirty="0"/>
                <a:t>SARSA</a:t>
              </a:r>
              <a:r>
                <a:rPr lang="en-US" altLang="zh-CN" sz="1800" b="0" i="0" u="none" strike="noStrike" baseline="0" dirty="0">
                  <a:latin typeface="TimesNewRomanPSMT"/>
                </a:rPr>
                <a:t> </a:t>
              </a:r>
              <a:r>
                <a:rPr lang="zh-CN" altLang="en-US" sz="1800" b="0" i="0" u="none" strike="noStrike" baseline="0" dirty="0">
                  <a:latin typeface="TimesNewRomanPSMT"/>
                </a:rPr>
                <a:t>采用的行为策略和目标策略都是</a:t>
              </a:r>
              <a:r>
                <a:rPr lang="en-US" altLang="zh-CN" sz="1800" b="0" i="0" u="none" strike="noStrike" baseline="0" dirty="0">
                  <a:latin typeface="TimesNewRomanPSMT"/>
                </a:rPr>
                <a:t>ò -</a:t>
              </a:r>
              <a:r>
                <a:rPr lang="zh-CN" altLang="en-US" sz="1800" b="1" i="0" u="none" strike="noStrike" baseline="0" dirty="0">
                  <a:latin typeface="TimesNewRomanPSMT"/>
                </a:rPr>
                <a:t>贪婪策略</a:t>
              </a:r>
              <a:r>
                <a:rPr lang="zh-CN" altLang="en-US" sz="1800" b="0" i="0" u="none" strike="noStrike" baseline="0" dirty="0">
                  <a:latin typeface="TimesNewRomanPSMT"/>
                </a:rPr>
                <a:t>（</a:t>
              </a:r>
              <a:r>
                <a:rPr lang="en-US" altLang="zh-CN" sz="1800" b="0" i="0" u="none" strike="noStrike" baseline="0" dirty="0"/>
                <a:t>ò -greed Police</a:t>
              </a:r>
              <a:r>
                <a:rPr lang="zh-CN" altLang="en-US" sz="1800" b="0" i="0" u="none" strike="noStrike" baseline="0" dirty="0">
                  <a:latin typeface="TimesNewRomanPSMT"/>
                </a:rPr>
                <a:t>），所以</a:t>
              </a:r>
              <a:r>
                <a:rPr lang="en-US" altLang="zh-CN" sz="1800" b="0" i="0" u="none" strike="noStrike" baseline="0" dirty="0">
                  <a:latin typeface="TimesNewRomanPSMT"/>
                </a:rPr>
                <a:t>SARSA </a:t>
              </a:r>
              <a:r>
                <a:rPr lang="zh-CN" altLang="en-US" sz="1800" b="0" i="0" u="none" strike="noStrike" baseline="0" dirty="0">
                  <a:latin typeface="TimesNewRomanPSMT"/>
                </a:rPr>
                <a:t>算法也被称为一种</a:t>
              </a:r>
              <a:r>
                <a:rPr lang="zh-CN" altLang="en-US" sz="1800" b="1" i="0" u="none" strike="noStrike" baseline="0" dirty="0">
                  <a:latin typeface="TimesNewRomanPSMT"/>
                </a:rPr>
                <a:t>在线策略</a:t>
              </a:r>
              <a:r>
                <a:rPr lang="zh-CN" altLang="en-US" sz="1800" b="0" i="0" u="none" strike="noStrike" baseline="0" dirty="0">
                  <a:latin typeface="TimesNewRomanPSMT"/>
                </a:rPr>
                <a:t>（</a:t>
              </a:r>
              <a:r>
                <a:rPr lang="en-US" altLang="zh-CN" sz="1800" b="0" i="0" u="none" strike="noStrike" baseline="0" dirty="0" err="1"/>
                <a:t>Onpolice</a:t>
              </a:r>
              <a:r>
                <a:rPr lang="zh-CN" altLang="en-US" sz="1800" b="0" i="0" u="none" strike="noStrike" baseline="0" dirty="0">
                  <a:latin typeface="TimesNewRomanPSMT"/>
                </a:rPr>
                <a:t>）算法。</a:t>
              </a:r>
              <a:endParaRPr lang="zh-CN" altLang="en-US" dirty="0"/>
            </a:p>
          </p:txBody>
        </p:sp>
      </p:grpSp>
      <p:grpSp>
        <p:nvGrpSpPr>
          <p:cNvPr id="2" name="组合 1">
            <a:extLst>
              <a:ext uri="{FF2B5EF4-FFF2-40B4-BE49-F238E27FC236}">
                <a16:creationId xmlns:a16="http://schemas.microsoft.com/office/drawing/2014/main" id="{E4A7561C-5F8E-5C12-4830-3756B4E0E49F}"/>
              </a:ext>
            </a:extLst>
          </p:cNvPr>
          <p:cNvGrpSpPr/>
          <p:nvPr/>
        </p:nvGrpSpPr>
        <p:grpSpPr>
          <a:xfrm>
            <a:off x="-1" y="939798"/>
            <a:ext cx="5511575" cy="625474"/>
            <a:chOff x="0" y="1075267"/>
            <a:chExt cx="5022850" cy="625474"/>
          </a:xfrm>
        </p:grpSpPr>
        <p:sp>
          <p:nvSpPr>
            <p:cNvPr id="3" name="矩形 2">
              <a:extLst>
                <a:ext uri="{FF2B5EF4-FFF2-40B4-BE49-F238E27FC236}">
                  <a16:creationId xmlns:a16="http://schemas.microsoft.com/office/drawing/2014/main" id="{2321F8A5-3AEA-928A-51FC-7616CB167FFE}"/>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11C97729-A7A2-8AFA-E5DA-80CB22B0D4C3}"/>
                </a:ext>
              </a:extLst>
            </p:cNvPr>
            <p:cNvSpPr txBox="1"/>
            <p:nvPr/>
          </p:nvSpPr>
          <p:spPr>
            <a:xfrm>
              <a:off x="270932" y="1157172"/>
              <a:ext cx="4751917" cy="461665"/>
            </a:xfrm>
            <a:prstGeom prst="rect">
              <a:avLst/>
            </a:prstGeom>
            <a:noFill/>
          </p:spPr>
          <p:txBody>
            <a:bodyPr wrap="square">
              <a:spAutoFit/>
            </a:bodyPr>
            <a:lstStyle/>
            <a:p>
              <a:r>
                <a:rPr lang="en-US" altLang="zh-CN" sz="2400" b="1" dirty="0">
                  <a:solidFill>
                    <a:schemeClr val="accent1"/>
                  </a:solidFill>
                  <a:latin typeface="+mj-lt"/>
                </a:rPr>
                <a:t>5.4.1 </a:t>
              </a:r>
              <a:r>
                <a:rPr lang="zh-CN" altLang="en-US" sz="2400" b="1" dirty="0">
                  <a:solidFill>
                    <a:schemeClr val="accent1"/>
                  </a:solidFill>
                  <a:latin typeface="+mj-lt"/>
                </a:rPr>
                <a:t>基于值函数的强化学习导航</a:t>
              </a:r>
            </a:p>
          </p:txBody>
        </p:sp>
      </p:grpSp>
    </p:spTree>
    <p:extLst>
      <p:ext uri="{BB962C8B-B14F-4D97-AF65-F5344CB8AC3E}">
        <p14:creationId xmlns:p14="http://schemas.microsoft.com/office/powerpoint/2010/main" val="4104844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4A3E7-79A4-3AB1-A44D-291D2998F35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76666C57-D80A-2A5E-9701-4FE0E92388B3}"/>
                  </a:ext>
                </a:extLst>
              </p:cNvPr>
              <p:cNvSpPr txBox="1"/>
              <p:nvPr/>
            </p:nvSpPr>
            <p:spPr>
              <a:xfrm>
                <a:off x="378624" y="2752357"/>
                <a:ext cx="4865729" cy="3416320"/>
              </a:xfrm>
              <a:prstGeom prst="rect">
                <a:avLst/>
              </a:prstGeom>
              <a:noFill/>
            </p:spPr>
            <p:txBody>
              <a:bodyPr wrap="square">
                <a:spAutoFit/>
              </a:bodyPr>
              <a:lstStyle/>
              <a:p>
                <a:pPr marL="285750" indent="-285750">
                  <a:buFont typeface="Arial" panose="020B0604020202020204" pitchFamily="34" charset="0"/>
                  <a:buChar char="•"/>
                </a:pPr>
                <a:r>
                  <a:rPr lang="en-US" altLang="zh-CN" b="1" dirty="0"/>
                  <a:t>Q-learning</a:t>
                </a:r>
                <a:r>
                  <a:rPr lang="zh-CN" altLang="en-US" dirty="0"/>
                  <a:t>属于时序差分算法的代表</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与</a:t>
                </a:r>
                <a:r>
                  <a:rPr lang="en-US" altLang="zh-CN" dirty="0"/>
                  <a:t>SARSA</a:t>
                </a:r>
                <a:r>
                  <a:rPr lang="zh-CN" altLang="en-US" dirty="0"/>
                  <a:t>相比两者使用状态</a:t>
                </a:r>
                <a:r>
                  <a:rPr lang="en-US" altLang="zh-CN" dirty="0"/>
                  <a:t>-</a:t>
                </a:r>
                <a:r>
                  <a:rPr lang="zh-CN" altLang="en-US" dirty="0"/>
                  <a:t>动作函数来进行时序差分误差估计的方式不同</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并且</a:t>
                </a:r>
                <a:r>
                  <a:rPr lang="en-US" altLang="zh-CN" dirty="0"/>
                  <a:t>Q-learning </a:t>
                </a:r>
                <a:r>
                  <a:rPr lang="zh-CN" altLang="en-US" dirty="0"/>
                  <a:t>算法在行为策略上采取</a:t>
                </a:r>
                <a:r>
                  <a:rPr lang="en-US" altLang="zh-CN" i="1" dirty="0"/>
                  <a:t>ò </a:t>
                </a:r>
                <a:r>
                  <a:rPr lang="en-US" altLang="zh-CN" dirty="0"/>
                  <a:t>-</a:t>
                </a:r>
                <a:r>
                  <a:rPr lang="zh-CN" altLang="en-US" dirty="0"/>
                  <a:t>贪婪策略，而在目标策略上采取贪心选择即</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𝑎𝑟𝑔𝑚𝑎𝑥𝑄</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oMath>
                </a14:m>
                <a:r>
                  <a:rPr lang="zh-CN" altLang="en-US" dirty="0"/>
                  <a:t>所以</a:t>
                </a:r>
                <a:r>
                  <a:rPr lang="en-US" altLang="zh-CN" dirty="0"/>
                  <a:t>Q-learning</a:t>
                </a:r>
                <a:r>
                  <a:rPr lang="zh-CN" altLang="en-US" dirty="0"/>
                  <a:t>是一种离线策略（</a:t>
                </a:r>
                <a:r>
                  <a:rPr lang="en-US" altLang="zh-CN" dirty="0"/>
                  <a:t>Off-police</a:t>
                </a:r>
                <a:r>
                  <a:rPr lang="zh-CN" altLang="en-US" dirty="0"/>
                  <a:t>）算法</a:t>
                </a:r>
                <a:endParaRPr lang="en-US" altLang="zh-CN" dirty="0"/>
              </a:p>
              <a:p>
                <a:pPr marL="285750" indent="-285750">
                  <a:buFont typeface="Arial" panose="020B0604020202020204" pitchFamily="34" charset="0"/>
                  <a:buChar char="•"/>
                </a:pPr>
                <a:r>
                  <a:rPr lang="zh-CN" altLang="en-US" dirty="0"/>
                  <a:t>其状态</a:t>
                </a:r>
                <a:r>
                  <a:rPr lang="en-US" altLang="zh-CN" dirty="0"/>
                  <a:t>-</a:t>
                </a:r>
                <a:r>
                  <a:rPr lang="zh-CN" altLang="en-US" dirty="0"/>
                  <a:t>动作对值以如下策略更新：</a:t>
                </a:r>
                <a:endParaRPr lang="en-US" altLang="zh-CN" dirty="0"/>
              </a:p>
              <a:p>
                <a:endParaRPr lang="en-US" altLang="zh-CN" dirty="0"/>
              </a:p>
              <a:p>
                <a:endParaRPr lang="en-US" altLang="zh-CN" dirty="0"/>
              </a:p>
            </p:txBody>
          </p:sp>
        </mc:Choice>
        <mc:Fallback xmlns="">
          <p:sp>
            <p:nvSpPr>
              <p:cNvPr id="21" name="文本框 20">
                <a:extLst>
                  <a:ext uri="{FF2B5EF4-FFF2-40B4-BE49-F238E27FC236}">
                    <a16:creationId xmlns:a16="http://schemas.microsoft.com/office/drawing/2014/main" id="{76666C57-D80A-2A5E-9701-4FE0E92388B3}"/>
                  </a:ext>
                </a:extLst>
              </p:cNvPr>
              <p:cNvSpPr txBox="1">
                <a:spLocks noRot="1" noChangeAspect="1" noMove="1" noResize="1" noEditPoints="1" noAdjustHandles="1" noChangeArrowheads="1" noChangeShapeType="1" noTextEdit="1"/>
              </p:cNvSpPr>
              <p:nvPr/>
            </p:nvSpPr>
            <p:spPr>
              <a:xfrm>
                <a:off x="378624" y="2752357"/>
                <a:ext cx="4865729" cy="3416320"/>
              </a:xfrm>
              <a:prstGeom prst="rect">
                <a:avLst/>
              </a:prstGeom>
              <a:blipFill>
                <a:blip r:embed="rId3"/>
                <a:stretch>
                  <a:fillRect l="-752" t="-1071" r="-752"/>
                </a:stretch>
              </a:blipFill>
            </p:spPr>
            <p:txBody>
              <a:bodyPr/>
              <a:lstStyle/>
              <a:p>
                <a:r>
                  <a:rPr lang="zh-CN" altLang="en-US">
                    <a:noFill/>
                  </a:rPr>
                  <a:t> </a:t>
                </a:r>
              </a:p>
            </p:txBody>
          </p:sp>
        </mc:Fallback>
      </mc:AlternateContent>
      <p:sp>
        <p:nvSpPr>
          <p:cNvPr id="22" name="文本框 21">
            <a:extLst>
              <a:ext uri="{FF2B5EF4-FFF2-40B4-BE49-F238E27FC236}">
                <a16:creationId xmlns:a16="http://schemas.microsoft.com/office/drawing/2014/main" id="{CC25990E-46AA-DDA3-4D88-6A9E5357F7E9}"/>
              </a:ext>
            </a:extLst>
          </p:cNvPr>
          <p:cNvSpPr txBox="1"/>
          <p:nvPr/>
        </p:nvSpPr>
        <p:spPr>
          <a:xfrm>
            <a:off x="1026341" y="2071696"/>
            <a:ext cx="5312463" cy="461665"/>
          </a:xfrm>
          <a:prstGeom prst="rect">
            <a:avLst/>
          </a:prstGeom>
          <a:noFill/>
        </p:spPr>
        <p:txBody>
          <a:bodyPr wrap="square">
            <a:spAutoFit/>
          </a:bodyPr>
          <a:lstStyle/>
          <a:p>
            <a:r>
              <a:rPr lang="en-US" altLang="zh-CN" sz="2400" b="1" dirty="0"/>
              <a:t>Q-learning</a:t>
            </a:r>
            <a:r>
              <a:rPr lang="zh-CN" altLang="en-US" sz="2400" b="1" dirty="0"/>
              <a:t>算法</a:t>
            </a:r>
            <a:endParaRPr lang="en-US" altLang="zh-CN" sz="2400" b="1"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3958928-40EE-CAC1-2153-8B627D47386B}"/>
                  </a:ext>
                </a:extLst>
              </p:cNvPr>
              <p:cNvSpPr txBox="1"/>
              <p:nvPr/>
            </p:nvSpPr>
            <p:spPr>
              <a:xfrm>
                <a:off x="378624" y="5799345"/>
                <a:ext cx="6094854" cy="369332"/>
              </a:xfrm>
              <a:prstGeom prst="rect">
                <a:avLst/>
              </a:prstGeom>
              <a:noFill/>
            </p:spPr>
            <p:txBody>
              <a:bodyPr wrap="square">
                <a:spAutoFit/>
              </a:bodyPr>
              <a:lstStyle/>
              <a:p>
                <a:pPr/>
                <a14:m>
                  <m:oMathPara xmlns:m="http://schemas.openxmlformats.org/officeDocument/2006/math">
                    <m:oMath>
                      <m:r>
                        <a:rPr lang="en-US" altLang="zh-CN" b="0" i="1" smtClean="0">
                          <a:latin typeface="Cambria Math" panose="02040503050406030204" pitchFamily="18" charset="0"/>
                        </a:rPr>
                        <m:t>𝑄</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𝑡</m:t>
                              </m:r>
                            </m:sub>
                          </m:sSub>
                        </m:e>
                      </m:d>
                      <m:r>
                        <a:rPr lang="en-US" altLang="zh-CN" b="0" i="1" smtClean="0">
                          <a:latin typeface="Cambria Math" panose="02040503050406030204" pitchFamily="18" charset="0"/>
                        </a:rPr>
                        <m:t>=</m:t>
                      </m:r>
                      <m:r>
                        <a:rPr lang="en-US" altLang="zh-CN" i="1">
                          <a:latin typeface="Cambria Math" panose="02040503050406030204" pitchFamily="18" charset="0"/>
                        </a:rPr>
                        <m:t>𝑄</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𝑡</m:t>
                              </m:r>
                            </m:sub>
                          </m:sSub>
                        </m:e>
                      </m:d>
                      <m:r>
                        <a:rPr lang="en-US" altLang="zh-CN" b="0" i="1" smtClean="0">
                          <a:latin typeface="Cambria Math" panose="02040503050406030204" pitchFamily="18" charset="0"/>
                        </a:rPr>
                        <m:t>+</m:t>
                      </m:r>
                      <m:r>
                        <a:rPr lang="zh-CN" altLang="en-US" b="0" i="1" smtClean="0">
                          <a:latin typeface="Cambria Math" panose="02040503050406030204" pitchFamily="18" charset="0"/>
                        </a:rPr>
                        <m:t>𝛼</m:t>
                      </m:r>
                      <m:d>
                        <m:dPr>
                          <m:begChr m:val="["/>
                          <m:endChr m:val="]"/>
                          <m:ctrlPr>
                            <a:rPr lang="en-US" altLang="zh-CN" b="0" i="1" smtClean="0">
                              <a:solidFill>
                                <a:schemeClr val="tx1"/>
                              </a:solidFill>
                              <a:latin typeface="Cambria Math" panose="02040503050406030204" pitchFamily="18" charset="0"/>
                            </a:rPr>
                          </m:ctrlPr>
                        </m:dPr>
                        <m:e>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𝑟</m:t>
                              </m:r>
                            </m:e>
                            <m:sub>
                              <m:r>
                                <a:rPr lang="en-US" altLang="zh-CN" b="0" i="1" smtClean="0">
                                  <a:solidFill>
                                    <a:schemeClr val="tx1"/>
                                  </a:solidFill>
                                  <a:latin typeface="Cambria Math" panose="02040503050406030204" pitchFamily="18" charset="0"/>
                                </a:rPr>
                                <m:t>𝑡</m:t>
                              </m:r>
                              <m:r>
                                <a:rPr lang="en-US" altLang="zh-CN" b="0" i="1" smtClean="0">
                                  <a:solidFill>
                                    <a:schemeClr val="tx1"/>
                                  </a:solidFill>
                                  <a:latin typeface="Cambria Math" panose="02040503050406030204" pitchFamily="18" charset="0"/>
                                </a:rPr>
                                <m:t>+1</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𝛾</m:t>
                          </m:r>
                          <m:r>
                            <a:rPr lang="en-US" altLang="zh-CN" i="1">
                              <a:latin typeface="Cambria Math" panose="02040503050406030204" pitchFamily="18" charset="0"/>
                            </a:rPr>
                            <m:t>𝑄</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𝑎</m:t>
                                  </m:r>
                                </m:e>
                                <m:sub>
                                  <m:r>
                                    <a:rPr lang="en-US" altLang="zh-CN" i="1">
                                      <a:solidFill>
                                        <a:srgbClr val="C00000"/>
                                      </a:solidFill>
                                      <a:latin typeface="Cambria Math" panose="02040503050406030204" pitchFamily="18" charset="0"/>
                                    </a:rPr>
                                    <m:t>𝑡</m:t>
                                  </m:r>
                                </m:sub>
                              </m:sSub>
                            </m:e>
                          </m:d>
                          <m:r>
                            <a:rPr lang="en-US" altLang="zh-CN" b="0" i="1" smtClean="0">
                              <a:latin typeface="Cambria Math" panose="02040503050406030204" pitchFamily="18" charset="0"/>
                            </a:rPr>
                            <m:t>−</m:t>
                          </m:r>
                          <m:r>
                            <a:rPr lang="en-US" altLang="zh-CN" i="1">
                              <a:latin typeface="Cambria Math" panose="02040503050406030204" pitchFamily="18" charset="0"/>
                            </a:rPr>
                            <m:t>𝑄</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𝑡</m:t>
                                  </m:r>
                                </m:sub>
                              </m:sSub>
                            </m:e>
                          </m:d>
                        </m:e>
                      </m:d>
                    </m:oMath>
                  </m:oMathPara>
                </a14:m>
                <a:endParaRPr lang="en-US" altLang="zh-CN" dirty="0"/>
              </a:p>
            </p:txBody>
          </p:sp>
        </mc:Choice>
        <mc:Fallback xmlns="">
          <p:sp>
            <p:nvSpPr>
              <p:cNvPr id="5" name="文本框 4">
                <a:extLst>
                  <a:ext uri="{FF2B5EF4-FFF2-40B4-BE49-F238E27FC236}">
                    <a16:creationId xmlns:a16="http://schemas.microsoft.com/office/drawing/2014/main" id="{A3958928-40EE-CAC1-2153-8B627D47386B}"/>
                  </a:ext>
                </a:extLst>
              </p:cNvPr>
              <p:cNvSpPr txBox="1">
                <a:spLocks noRot="1" noChangeAspect="1" noMove="1" noResize="1" noEditPoints="1" noAdjustHandles="1" noChangeArrowheads="1" noChangeShapeType="1" noTextEdit="1"/>
              </p:cNvSpPr>
              <p:nvPr/>
            </p:nvSpPr>
            <p:spPr>
              <a:xfrm>
                <a:off x="378624" y="5799345"/>
                <a:ext cx="6094854" cy="369332"/>
              </a:xfrm>
              <a:prstGeom prst="rect">
                <a:avLst/>
              </a:prstGeom>
              <a:blipFill>
                <a:blip r:embed="rId4"/>
                <a:stretch>
                  <a:fillRect b="-11475"/>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AD92B24A-D657-2448-B707-9D4D19735399}"/>
              </a:ext>
            </a:extLst>
          </p:cNvPr>
          <p:cNvGrpSpPr/>
          <p:nvPr/>
        </p:nvGrpSpPr>
        <p:grpSpPr>
          <a:xfrm>
            <a:off x="5293782" y="1023247"/>
            <a:ext cx="6362146" cy="3885701"/>
            <a:chOff x="5293782" y="1023247"/>
            <a:chExt cx="6362146" cy="3885701"/>
          </a:xfrm>
        </p:grpSpPr>
        <p:pic>
          <p:nvPicPr>
            <p:cNvPr id="3" name="图片 2">
              <a:extLst>
                <a:ext uri="{FF2B5EF4-FFF2-40B4-BE49-F238E27FC236}">
                  <a16:creationId xmlns:a16="http://schemas.microsoft.com/office/drawing/2014/main" id="{6B751E03-0801-B413-0B7B-C03CEBC38705}"/>
                </a:ext>
              </a:extLst>
            </p:cNvPr>
            <p:cNvPicPr>
              <a:picLocks noChangeAspect="1"/>
            </p:cNvPicPr>
            <p:nvPr/>
          </p:nvPicPr>
          <p:blipFill>
            <a:blip r:embed="rId5"/>
            <a:srcRect r="24760"/>
            <a:stretch>
              <a:fillRect/>
            </a:stretch>
          </p:blipFill>
          <p:spPr>
            <a:xfrm>
              <a:off x="5293782" y="1023247"/>
              <a:ext cx="6362146" cy="2558561"/>
            </a:xfrm>
            <a:prstGeom prst="rect">
              <a:avLst/>
            </a:prstGeom>
          </p:spPr>
        </p:pic>
        <p:sp>
          <p:nvSpPr>
            <p:cNvPr id="4" name="文本框 3">
              <a:extLst>
                <a:ext uri="{FF2B5EF4-FFF2-40B4-BE49-F238E27FC236}">
                  <a16:creationId xmlns:a16="http://schemas.microsoft.com/office/drawing/2014/main" id="{AE929A46-71FF-FC02-47FF-A2EBB680BD89}"/>
                </a:ext>
              </a:extLst>
            </p:cNvPr>
            <p:cNvSpPr txBox="1"/>
            <p:nvPr/>
          </p:nvSpPr>
          <p:spPr>
            <a:xfrm>
              <a:off x="6338804" y="3985618"/>
              <a:ext cx="4955291" cy="923330"/>
            </a:xfrm>
            <a:prstGeom prst="rect">
              <a:avLst/>
            </a:prstGeom>
            <a:noFill/>
          </p:spPr>
          <p:txBody>
            <a:bodyPr wrap="square">
              <a:spAutoFit/>
            </a:bodyPr>
            <a:lstStyle/>
            <a:p>
              <a:r>
                <a:rPr lang="zh-CN" altLang="en-US" dirty="0"/>
                <a:t>同样需维护 </a:t>
              </a:r>
              <a:r>
                <a:rPr lang="en-US" altLang="zh-CN" dirty="0"/>
                <a:t>Q Table</a:t>
              </a:r>
              <a:r>
                <a:rPr lang="zh-CN" altLang="en-US" dirty="0">
                  <a:latin typeface="TimesNewRomanPSMT"/>
                </a:rPr>
                <a:t>，由于在搜寻最优轨迹时使用的是贪心选择，这也使得</a:t>
              </a:r>
              <a:r>
                <a:rPr lang="en-US" altLang="zh-CN" dirty="0"/>
                <a:t>Q-learning</a:t>
              </a:r>
              <a:r>
                <a:rPr lang="en-US" altLang="zh-CN" dirty="0">
                  <a:latin typeface="TimesNewRomanPSMT"/>
                </a:rPr>
                <a:t> </a:t>
              </a:r>
              <a:r>
                <a:rPr lang="zh-CN" altLang="en-US" dirty="0">
                  <a:latin typeface="TimesNewRomanPSMT"/>
                </a:rPr>
                <a:t>算法会比</a:t>
              </a:r>
              <a:r>
                <a:rPr lang="en-US" altLang="zh-CN" dirty="0"/>
                <a:t>SARSA</a:t>
              </a:r>
              <a:r>
                <a:rPr lang="zh-CN" altLang="en-US" dirty="0">
                  <a:latin typeface="TimesNewRomanPSMT"/>
                </a:rPr>
                <a:t>算法在轨迹搜寻上更加大胆</a:t>
              </a:r>
              <a:endParaRPr lang="zh-CN" altLang="en-US" b="1" dirty="0"/>
            </a:p>
          </p:txBody>
        </p:sp>
      </p:grpSp>
      <p:sp>
        <p:nvSpPr>
          <p:cNvPr id="6" name="矩形 5">
            <a:extLst>
              <a:ext uri="{FF2B5EF4-FFF2-40B4-BE49-F238E27FC236}">
                <a16:creationId xmlns:a16="http://schemas.microsoft.com/office/drawing/2014/main" id="{F05E5F7B-641F-BEBF-E54D-790F77D3E028}"/>
              </a:ext>
            </a:extLst>
          </p:cNvPr>
          <p:cNvSpPr/>
          <p:nvPr/>
        </p:nvSpPr>
        <p:spPr>
          <a:xfrm>
            <a:off x="6386105" y="4991511"/>
            <a:ext cx="4593418" cy="484542"/>
          </a:xfrm>
          <a:prstGeom prst="rect">
            <a:avLst/>
          </a:prstGeom>
          <a:gradFill flip="none" rotWithShape="1">
            <a:gsLst>
              <a:gs pos="88000">
                <a:srgbClr val="C00000"/>
              </a:gs>
              <a:gs pos="0">
                <a:srgbClr val="C00000"/>
              </a:gs>
              <a:gs pos="100000">
                <a:srgbClr val="C00000">
                  <a:alpha val="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t>基于值函数的强化学习方法局限</a:t>
            </a:r>
          </a:p>
        </p:txBody>
      </p:sp>
      <p:sp>
        <p:nvSpPr>
          <p:cNvPr id="7" name="文本框 6">
            <a:extLst>
              <a:ext uri="{FF2B5EF4-FFF2-40B4-BE49-F238E27FC236}">
                <a16:creationId xmlns:a16="http://schemas.microsoft.com/office/drawing/2014/main" id="{C6486023-EDB4-9EEA-7B17-83C3C3DC5DEE}"/>
              </a:ext>
            </a:extLst>
          </p:cNvPr>
          <p:cNvSpPr txBox="1"/>
          <p:nvPr/>
        </p:nvSpPr>
        <p:spPr>
          <a:xfrm>
            <a:off x="7089599" y="5522346"/>
            <a:ext cx="4955291" cy="646331"/>
          </a:xfrm>
          <a:prstGeom prst="rect">
            <a:avLst/>
          </a:prstGeom>
          <a:noFill/>
        </p:spPr>
        <p:txBody>
          <a:bodyPr wrap="square">
            <a:spAutoFit/>
          </a:bodyPr>
          <a:lstStyle/>
          <a:p>
            <a:r>
              <a:rPr lang="en-US" altLang="zh-CN" b="1" dirty="0"/>
              <a:t>1.</a:t>
            </a:r>
            <a:r>
              <a:rPr lang="zh-CN" altLang="en-US" b="1" dirty="0"/>
              <a:t>仅对离散场景使用</a:t>
            </a:r>
            <a:endParaRPr lang="en-US" altLang="zh-CN" b="1" dirty="0"/>
          </a:p>
          <a:p>
            <a:r>
              <a:rPr lang="en-US" altLang="zh-CN" b="1" dirty="0"/>
              <a:t>2.</a:t>
            </a:r>
            <a:r>
              <a:rPr lang="zh-CN" altLang="en-US" b="1" dirty="0"/>
              <a:t>对随即策略的学习比较困难</a:t>
            </a:r>
          </a:p>
        </p:txBody>
      </p:sp>
      <p:grpSp>
        <p:nvGrpSpPr>
          <p:cNvPr id="2" name="组合 1">
            <a:extLst>
              <a:ext uri="{FF2B5EF4-FFF2-40B4-BE49-F238E27FC236}">
                <a16:creationId xmlns:a16="http://schemas.microsoft.com/office/drawing/2014/main" id="{DFB80CDB-B44F-506F-8F77-4BE0D256516D}"/>
              </a:ext>
            </a:extLst>
          </p:cNvPr>
          <p:cNvGrpSpPr/>
          <p:nvPr/>
        </p:nvGrpSpPr>
        <p:grpSpPr>
          <a:xfrm>
            <a:off x="-1" y="939798"/>
            <a:ext cx="5511575" cy="625474"/>
            <a:chOff x="0" y="1075267"/>
            <a:chExt cx="5022850" cy="625474"/>
          </a:xfrm>
        </p:grpSpPr>
        <p:sp>
          <p:nvSpPr>
            <p:cNvPr id="8" name="矩形 7">
              <a:extLst>
                <a:ext uri="{FF2B5EF4-FFF2-40B4-BE49-F238E27FC236}">
                  <a16:creationId xmlns:a16="http://schemas.microsoft.com/office/drawing/2014/main" id="{6D96C309-B033-010A-3C82-509FBF02347D}"/>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A98C00C9-7292-D40A-8500-E35E799C0992}"/>
                </a:ext>
              </a:extLst>
            </p:cNvPr>
            <p:cNvSpPr txBox="1"/>
            <p:nvPr/>
          </p:nvSpPr>
          <p:spPr>
            <a:xfrm>
              <a:off x="270932" y="1157172"/>
              <a:ext cx="4751917" cy="461665"/>
            </a:xfrm>
            <a:prstGeom prst="rect">
              <a:avLst/>
            </a:prstGeom>
            <a:noFill/>
          </p:spPr>
          <p:txBody>
            <a:bodyPr wrap="square">
              <a:spAutoFit/>
            </a:bodyPr>
            <a:lstStyle/>
            <a:p>
              <a:r>
                <a:rPr lang="en-US" altLang="zh-CN" sz="2400" b="1" dirty="0">
                  <a:solidFill>
                    <a:schemeClr val="accent1"/>
                  </a:solidFill>
                  <a:latin typeface="+mj-lt"/>
                </a:rPr>
                <a:t>5.4.1 </a:t>
              </a:r>
              <a:r>
                <a:rPr lang="zh-CN" altLang="en-US" sz="2400" b="1" dirty="0">
                  <a:solidFill>
                    <a:schemeClr val="accent1"/>
                  </a:solidFill>
                  <a:latin typeface="+mj-lt"/>
                </a:rPr>
                <a:t>基于值函数的强化学习导航</a:t>
              </a:r>
            </a:p>
          </p:txBody>
        </p:sp>
      </p:grpSp>
    </p:spTree>
    <p:extLst>
      <p:ext uri="{BB962C8B-B14F-4D97-AF65-F5344CB8AC3E}">
        <p14:creationId xmlns:p14="http://schemas.microsoft.com/office/powerpoint/2010/main" val="2890149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anim calcmode="lin" valueType="num">
                                      <p:cBhvr>
                                        <p:cTn id="15" dur="500" fill="hold"/>
                                        <p:tgtEl>
                                          <p:spTgt spid="6"/>
                                        </p:tgtEl>
                                        <p:attrNameLst>
                                          <p:attrName>ppt_x</p:attrName>
                                        </p:attrNameLst>
                                      </p:cBhvr>
                                      <p:tavLst>
                                        <p:tav tm="0">
                                          <p:val>
                                            <p:strVal val="#ppt_x"/>
                                          </p:val>
                                        </p:tav>
                                        <p:tav tm="100000">
                                          <p:val>
                                            <p:strVal val="#ppt_x"/>
                                          </p:val>
                                        </p:tav>
                                      </p:tavLst>
                                    </p:anim>
                                    <p:anim calcmode="lin" valueType="num">
                                      <p:cBhvr>
                                        <p:cTn id="16" dur="500" fill="hold"/>
                                        <p:tgtEl>
                                          <p:spTgt spid="6"/>
                                        </p:tgtEl>
                                        <p:attrNameLst>
                                          <p:attrName>ppt_y</p:attrName>
                                        </p:attrNameLst>
                                      </p:cBhvr>
                                      <p:tavLst>
                                        <p:tav tm="0">
                                          <p:val>
                                            <p:strVal val="#ppt_y+.1"/>
                                          </p:val>
                                        </p:tav>
                                        <p:tav tm="100000">
                                          <p:val>
                                            <p:strVal val="#ppt_y"/>
                                          </p:val>
                                        </p:tav>
                                      </p:tavLst>
                                    </p:anim>
                                  </p:childTnLst>
                                </p:cTn>
                              </p:par>
                            </p:childTnLst>
                          </p:cTn>
                        </p:par>
                        <p:par>
                          <p:cTn id="17" fill="hold">
                            <p:stCondLst>
                              <p:cond delay="500"/>
                            </p:stCondLst>
                            <p:childTnLst>
                              <p:par>
                                <p:cTn id="18" presetID="42"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p:cTn id="21" dur="500" fill="hold"/>
                                        <p:tgtEl>
                                          <p:spTgt spid="7"/>
                                        </p:tgtEl>
                                        <p:attrNameLst>
                                          <p:attrName>ppt_x</p:attrName>
                                        </p:attrNameLst>
                                      </p:cBhvr>
                                      <p:tavLst>
                                        <p:tav tm="0">
                                          <p:val>
                                            <p:strVal val="#ppt_x"/>
                                          </p:val>
                                        </p:tav>
                                        <p:tav tm="100000">
                                          <p:val>
                                            <p:strVal val="#ppt_x"/>
                                          </p:val>
                                        </p:tav>
                                      </p:tavLst>
                                    </p:anim>
                                    <p:anim calcmode="lin" valueType="num">
                                      <p:cBhvr>
                                        <p:cTn id="22"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3BE68-580A-27D3-7F9C-009C52692617}"/>
            </a:ext>
          </a:extLst>
        </p:cNvPr>
        <p:cNvGrpSpPr/>
        <p:nvPr/>
      </p:nvGrpSpPr>
      <p:grpSpPr>
        <a:xfrm>
          <a:off x="0" y="0"/>
          <a:ext cx="0" cy="0"/>
          <a:chOff x="0" y="0"/>
          <a:chExt cx="0" cy="0"/>
        </a:xfrm>
      </p:grpSpPr>
      <p:grpSp>
        <p:nvGrpSpPr>
          <p:cNvPr id="103" name="组合 102">
            <a:extLst>
              <a:ext uri="{FF2B5EF4-FFF2-40B4-BE49-F238E27FC236}">
                <a16:creationId xmlns:a16="http://schemas.microsoft.com/office/drawing/2014/main" id="{D0AE6E48-0ECD-6BBB-6077-93B329B50792}"/>
              </a:ext>
            </a:extLst>
          </p:cNvPr>
          <p:cNvGrpSpPr/>
          <p:nvPr/>
        </p:nvGrpSpPr>
        <p:grpSpPr>
          <a:xfrm>
            <a:off x="0" y="939798"/>
            <a:ext cx="6095999" cy="912902"/>
            <a:chOff x="0" y="1075267"/>
            <a:chExt cx="6095999" cy="912902"/>
          </a:xfrm>
        </p:grpSpPr>
        <p:sp>
          <p:nvSpPr>
            <p:cNvPr id="104" name="矩形 103">
              <a:extLst>
                <a:ext uri="{FF2B5EF4-FFF2-40B4-BE49-F238E27FC236}">
                  <a16:creationId xmlns:a16="http://schemas.microsoft.com/office/drawing/2014/main" id="{0322CCB6-DA22-8EEC-862F-8C8EA4686264}"/>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a:extLst>
                <a:ext uri="{FF2B5EF4-FFF2-40B4-BE49-F238E27FC236}">
                  <a16:creationId xmlns:a16="http://schemas.microsoft.com/office/drawing/2014/main" id="{BF52736E-FC99-10BE-6DB8-4FEB6C600AFA}"/>
                </a:ext>
              </a:extLst>
            </p:cNvPr>
            <p:cNvSpPr txBox="1"/>
            <p:nvPr/>
          </p:nvSpPr>
          <p:spPr>
            <a:xfrm>
              <a:off x="270932" y="1157172"/>
              <a:ext cx="5825067" cy="830997"/>
            </a:xfrm>
            <a:prstGeom prst="rect">
              <a:avLst/>
            </a:prstGeom>
            <a:noFill/>
          </p:spPr>
          <p:txBody>
            <a:bodyPr wrap="square">
              <a:spAutoFit/>
            </a:bodyPr>
            <a:lstStyle/>
            <a:p>
              <a:r>
                <a:rPr lang="en-US" altLang="zh-CN" sz="2400" b="1" dirty="0">
                  <a:solidFill>
                    <a:schemeClr val="accent1"/>
                  </a:solidFill>
                </a:rPr>
                <a:t>5.4.2 </a:t>
              </a:r>
              <a:r>
                <a:rPr lang="zh-CN" altLang="en-US" sz="2400" b="1" dirty="0">
                  <a:solidFill>
                    <a:schemeClr val="accent1"/>
                  </a:solidFill>
                </a:rPr>
                <a:t>基于策略梯度的强化学习导航</a:t>
              </a:r>
            </a:p>
            <a:p>
              <a:endParaRPr lang="zh-CN" altLang="en-US" sz="2400" b="1" dirty="0">
                <a:solidFill>
                  <a:schemeClr val="accent1"/>
                </a:solidFill>
                <a:latin typeface="+mj-lt"/>
              </a:endParaRPr>
            </a:p>
          </p:txBody>
        </p:sp>
      </p:grpSp>
      <p:sp>
        <p:nvSpPr>
          <p:cNvPr id="21" name="文本框 20">
            <a:extLst>
              <a:ext uri="{FF2B5EF4-FFF2-40B4-BE49-F238E27FC236}">
                <a16:creationId xmlns:a16="http://schemas.microsoft.com/office/drawing/2014/main" id="{1FCDC1AD-6F9E-2ED7-2475-D51F7A850B77}"/>
              </a:ext>
            </a:extLst>
          </p:cNvPr>
          <p:cNvSpPr txBox="1"/>
          <p:nvPr/>
        </p:nvSpPr>
        <p:spPr>
          <a:xfrm>
            <a:off x="446129" y="3002801"/>
            <a:ext cx="5361474" cy="1477328"/>
          </a:xfrm>
          <a:prstGeom prst="rect">
            <a:avLst/>
          </a:prstGeom>
          <a:noFill/>
        </p:spPr>
        <p:txBody>
          <a:bodyPr wrap="square">
            <a:spAutoFit/>
          </a:bodyPr>
          <a:lstStyle/>
          <a:p>
            <a:r>
              <a:rPr lang="zh-CN" altLang="en-US" b="1" dirty="0"/>
              <a:t>区别</a:t>
            </a:r>
            <a:r>
              <a:rPr lang="zh-CN" altLang="en-US" dirty="0"/>
              <a:t>：</a:t>
            </a:r>
            <a:endParaRPr lang="en-US" altLang="zh-CN" dirty="0"/>
          </a:p>
          <a:p>
            <a:r>
              <a:rPr lang="zh-CN" altLang="en-US" dirty="0"/>
              <a:t>前者输出动作概率，通过采样选择动作；</a:t>
            </a:r>
            <a:endParaRPr lang="en-US" altLang="zh-CN" dirty="0"/>
          </a:p>
          <a:p>
            <a:r>
              <a:rPr lang="zh-CN" altLang="en-US" dirty="0"/>
              <a:t>后者直接输出确定动作</a:t>
            </a:r>
            <a:endParaRPr lang="en-US" altLang="zh-CN" dirty="0"/>
          </a:p>
          <a:p>
            <a:endParaRPr lang="en-US" altLang="zh-CN" dirty="0"/>
          </a:p>
          <a:p>
            <a:endParaRPr lang="en-US" altLang="zh-CN" dirty="0"/>
          </a:p>
        </p:txBody>
      </p:sp>
      <p:sp>
        <p:nvSpPr>
          <p:cNvPr id="2" name="文本框 1">
            <a:extLst>
              <a:ext uri="{FF2B5EF4-FFF2-40B4-BE49-F238E27FC236}">
                <a16:creationId xmlns:a16="http://schemas.microsoft.com/office/drawing/2014/main" id="{F7DC2D91-0516-56E1-905B-5F2AD7A5A027}"/>
              </a:ext>
            </a:extLst>
          </p:cNvPr>
          <p:cNvSpPr txBox="1"/>
          <p:nvPr/>
        </p:nvSpPr>
        <p:spPr>
          <a:xfrm>
            <a:off x="446129" y="1951221"/>
            <a:ext cx="5474672" cy="369332"/>
          </a:xfrm>
          <a:prstGeom prst="rect">
            <a:avLst/>
          </a:prstGeom>
          <a:noFill/>
        </p:spPr>
        <p:txBody>
          <a:bodyPr wrap="square">
            <a:spAutoFit/>
          </a:bodyPr>
          <a:lstStyle/>
          <a:p>
            <a:r>
              <a:rPr lang="zh-CN" altLang="en-US" dirty="0"/>
              <a:t>基于策略梯度的强化学习</a:t>
            </a:r>
            <a:endParaRPr lang="en-US" altLang="zh-CN" dirty="0"/>
          </a:p>
        </p:txBody>
      </p:sp>
      <p:sp>
        <p:nvSpPr>
          <p:cNvPr id="8" name="文本框 7">
            <a:extLst>
              <a:ext uri="{FF2B5EF4-FFF2-40B4-BE49-F238E27FC236}">
                <a16:creationId xmlns:a16="http://schemas.microsoft.com/office/drawing/2014/main" id="{0A8ACACF-F8A6-D1B1-69C8-3BC55AB38239}"/>
              </a:ext>
            </a:extLst>
          </p:cNvPr>
          <p:cNvSpPr txBox="1"/>
          <p:nvPr/>
        </p:nvSpPr>
        <p:spPr>
          <a:xfrm>
            <a:off x="3576040" y="1668034"/>
            <a:ext cx="5474672" cy="369332"/>
          </a:xfrm>
          <a:prstGeom prst="rect">
            <a:avLst/>
          </a:prstGeom>
          <a:noFill/>
        </p:spPr>
        <p:txBody>
          <a:bodyPr wrap="square">
            <a:spAutoFit/>
          </a:bodyPr>
          <a:lstStyle/>
          <a:p>
            <a:r>
              <a:rPr lang="zh-CN" altLang="en-US" dirty="0"/>
              <a:t>随机性策略梯度</a:t>
            </a:r>
            <a:endParaRPr lang="en-US" altLang="zh-CN" dirty="0"/>
          </a:p>
        </p:txBody>
      </p:sp>
      <p:sp>
        <p:nvSpPr>
          <p:cNvPr id="10" name="左大括号 9">
            <a:extLst>
              <a:ext uri="{FF2B5EF4-FFF2-40B4-BE49-F238E27FC236}">
                <a16:creationId xmlns:a16="http://schemas.microsoft.com/office/drawing/2014/main" id="{22C63B78-3E16-9278-9F22-3990CE8E3291}"/>
              </a:ext>
            </a:extLst>
          </p:cNvPr>
          <p:cNvSpPr/>
          <p:nvPr/>
        </p:nvSpPr>
        <p:spPr>
          <a:xfrm>
            <a:off x="3362909" y="1795480"/>
            <a:ext cx="213131" cy="728770"/>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BB39EFF6-DD2C-F893-4C32-09E387732A1C}"/>
              </a:ext>
            </a:extLst>
          </p:cNvPr>
          <p:cNvSpPr txBox="1"/>
          <p:nvPr/>
        </p:nvSpPr>
        <p:spPr>
          <a:xfrm>
            <a:off x="3576040" y="2127804"/>
            <a:ext cx="5474672" cy="369332"/>
          </a:xfrm>
          <a:prstGeom prst="rect">
            <a:avLst/>
          </a:prstGeom>
          <a:noFill/>
        </p:spPr>
        <p:txBody>
          <a:bodyPr wrap="square">
            <a:spAutoFit/>
          </a:bodyPr>
          <a:lstStyle/>
          <a:p>
            <a:r>
              <a:rPr lang="zh-CN" altLang="en-US" dirty="0"/>
              <a:t>确定性策略梯度</a:t>
            </a:r>
            <a:endParaRPr lang="en-US" altLang="zh-CN" dirty="0"/>
          </a:p>
        </p:txBody>
      </p:sp>
      <p:sp>
        <p:nvSpPr>
          <p:cNvPr id="13" name="文本框 12">
            <a:extLst>
              <a:ext uri="{FF2B5EF4-FFF2-40B4-BE49-F238E27FC236}">
                <a16:creationId xmlns:a16="http://schemas.microsoft.com/office/drawing/2014/main" id="{0F2F584B-C0F0-D0BA-0C99-581D88B3BA6B}"/>
              </a:ext>
            </a:extLst>
          </p:cNvPr>
          <p:cNvSpPr txBox="1"/>
          <p:nvPr/>
        </p:nvSpPr>
        <p:spPr>
          <a:xfrm>
            <a:off x="422035" y="4480129"/>
            <a:ext cx="4291159" cy="923330"/>
          </a:xfrm>
          <a:prstGeom prst="rect">
            <a:avLst/>
          </a:prstGeom>
          <a:noFill/>
        </p:spPr>
        <p:txBody>
          <a:bodyPr wrap="square">
            <a:spAutoFit/>
          </a:bodyPr>
          <a:lstStyle/>
          <a:p>
            <a:pPr algn="l"/>
            <a:r>
              <a:rPr lang="zh-CN" altLang="en-US" sz="1800" b="0" i="0" u="none" strike="noStrike" baseline="0" dirty="0">
                <a:latin typeface="+mn-ea"/>
              </a:rPr>
              <a:t>单纯地使用策略网络来拟合最优策略</a:t>
            </a:r>
            <a:r>
              <a:rPr lang="zh-CN" altLang="en-US" dirty="0">
                <a:latin typeface="+mn-ea"/>
              </a:rPr>
              <a:t>，</a:t>
            </a:r>
            <a:r>
              <a:rPr lang="zh-CN" altLang="en-US" sz="1800" b="0" i="0" u="none" strike="noStrike" baseline="0" dirty="0">
                <a:latin typeface="+mn-ea"/>
              </a:rPr>
              <a:t>难以平衡在计算策略梯度存在的</a:t>
            </a:r>
            <a:r>
              <a:rPr lang="zh-CN" altLang="en-US" sz="1800" b="1" i="0" u="none" strike="noStrike" baseline="0" dirty="0">
                <a:latin typeface="+mn-ea"/>
              </a:rPr>
              <a:t>高方差</a:t>
            </a:r>
            <a:r>
              <a:rPr lang="zh-CN" altLang="en-US" sz="1800" b="0" i="0" u="none" strike="noStrike" baseline="0" dirty="0">
                <a:latin typeface="+mn-ea"/>
              </a:rPr>
              <a:t>和</a:t>
            </a:r>
            <a:r>
              <a:rPr lang="zh-CN" altLang="en-US" sz="1800" b="1" i="0" u="none" strike="noStrike" baseline="0" dirty="0">
                <a:latin typeface="+mn-ea"/>
              </a:rPr>
              <a:t>高估计偏差</a:t>
            </a:r>
            <a:r>
              <a:rPr lang="zh-CN" altLang="en-US" sz="1800" b="0" i="0" u="none" strike="noStrike" baseline="0" dirty="0">
                <a:latin typeface="+mn-ea"/>
              </a:rPr>
              <a:t>的矛盾</a:t>
            </a:r>
            <a:endParaRPr lang="zh-CN" altLang="en-US" dirty="0">
              <a:latin typeface="+mn-ea"/>
            </a:endParaRPr>
          </a:p>
        </p:txBody>
      </p:sp>
      <p:grpSp>
        <p:nvGrpSpPr>
          <p:cNvPr id="24" name="组合 23">
            <a:extLst>
              <a:ext uri="{FF2B5EF4-FFF2-40B4-BE49-F238E27FC236}">
                <a16:creationId xmlns:a16="http://schemas.microsoft.com/office/drawing/2014/main" id="{7D632613-0BB2-DDBC-534F-A979B66F92E2}"/>
              </a:ext>
            </a:extLst>
          </p:cNvPr>
          <p:cNvGrpSpPr/>
          <p:nvPr/>
        </p:nvGrpSpPr>
        <p:grpSpPr>
          <a:xfrm>
            <a:off x="6309130" y="1252807"/>
            <a:ext cx="6611457" cy="4894197"/>
            <a:chOff x="6309130" y="1252807"/>
            <a:chExt cx="6611457" cy="4894197"/>
          </a:xfrm>
        </p:grpSpPr>
        <p:pic>
          <p:nvPicPr>
            <p:cNvPr id="24578" name="Picture 2">
              <a:extLst>
                <a:ext uri="{FF2B5EF4-FFF2-40B4-BE49-F238E27FC236}">
                  <a16:creationId xmlns:a16="http://schemas.microsoft.com/office/drawing/2014/main" id="{BE69C0A6-D968-D7AF-6E38-F8DBE9690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9130" y="2813254"/>
              <a:ext cx="3362325" cy="3333750"/>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8A6898E1-BB30-8B8E-7D78-054E2F9086C6}"/>
                </a:ext>
              </a:extLst>
            </p:cNvPr>
            <p:cNvSpPr txBox="1"/>
            <p:nvPr/>
          </p:nvSpPr>
          <p:spPr>
            <a:xfrm>
              <a:off x="6825709" y="1252807"/>
              <a:ext cx="6094878" cy="369332"/>
            </a:xfrm>
            <a:prstGeom prst="rect">
              <a:avLst/>
            </a:prstGeom>
            <a:noFill/>
          </p:spPr>
          <p:txBody>
            <a:bodyPr wrap="square">
              <a:spAutoFit/>
            </a:bodyPr>
            <a:lstStyle/>
            <a:p>
              <a:r>
                <a:rPr lang="en-US" altLang="zh-CN" sz="1800" b="1" i="0" u="none" strike="noStrike" baseline="0" dirty="0"/>
                <a:t>Actor-Critic</a:t>
              </a:r>
              <a:r>
                <a:rPr lang="zh-CN" altLang="en-US" sz="1800" b="1" i="0" u="none" strike="noStrike" baseline="0" dirty="0"/>
                <a:t>架构</a:t>
              </a:r>
              <a:endParaRPr lang="zh-CN" altLang="en-US" b="1" dirty="0"/>
            </a:p>
          </p:txBody>
        </p:sp>
        <p:sp>
          <p:nvSpPr>
            <p:cNvPr id="23" name="文本框 22">
              <a:extLst>
                <a:ext uri="{FF2B5EF4-FFF2-40B4-BE49-F238E27FC236}">
                  <a16:creationId xmlns:a16="http://schemas.microsoft.com/office/drawing/2014/main" id="{1462C53D-CF23-009F-4114-27BBBA0D8072}"/>
                </a:ext>
              </a:extLst>
            </p:cNvPr>
            <p:cNvSpPr txBox="1"/>
            <p:nvPr/>
          </p:nvSpPr>
          <p:spPr>
            <a:xfrm>
              <a:off x="6309130" y="1826255"/>
              <a:ext cx="4423038" cy="646331"/>
            </a:xfrm>
            <a:prstGeom prst="rect">
              <a:avLst/>
            </a:prstGeom>
            <a:noFill/>
          </p:spPr>
          <p:txBody>
            <a:bodyPr wrap="square">
              <a:spAutoFit/>
            </a:bodyPr>
            <a:lstStyle/>
            <a:p>
              <a:r>
                <a:rPr lang="zh-CN" altLang="en-US" sz="1800" b="0" i="0" u="none" strike="noStrike" baseline="0" dirty="0">
                  <a:latin typeface="+mn-ea"/>
                </a:rPr>
                <a:t>策略网络用于生成策略</a:t>
              </a:r>
              <a:endParaRPr lang="en-US" altLang="zh-CN" sz="1800" b="0" i="0" u="none" strike="noStrike" baseline="0" dirty="0">
                <a:latin typeface="+mn-ea"/>
              </a:endParaRPr>
            </a:p>
            <a:p>
              <a:r>
                <a:rPr lang="zh-CN" altLang="en-US" sz="1800" b="0" i="0" u="none" strike="noStrike" baseline="0" dirty="0">
                  <a:latin typeface="+mn-ea"/>
                </a:rPr>
                <a:t>评论网络则负责实时评价当前策略的好坏</a:t>
              </a:r>
              <a:endParaRPr lang="zh-CN" altLang="en-US" dirty="0">
                <a:latin typeface="+mn-ea"/>
              </a:endParaRPr>
            </a:p>
          </p:txBody>
        </p:sp>
      </p:grpSp>
    </p:spTree>
    <p:extLst>
      <p:ext uri="{BB962C8B-B14F-4D97-AF65-F5344CB8AC3E}">
        <p14:creationId xmlns:p14="http://schemas.microsoft.com/office/powerpoint/2010/main" val="2593814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54C21-EF4E-32F5-9836-8B7E781D1D76}"/>
            </a:ext>
          </a:extLst>
        </p:cNvPr>
        <p:cNvGrpSpPr/>
        <p:nvPr/>
      </p:nvGrpSpPr>
      <p:grpSpPr>
        <a:xfrm>
          <a:off x="0" y="0"/>
          <a:ext cx="0" cy="0"/>
          <a:chOff x="0" y="0"/>
          <a:chExt cx="0" cy="0"/>
        </a:xfrm>
      </p:grpSpPr>
      <p:grpSp>
        <p:nvGrpSpPr>
          <p:cNvPr id="103" name="组合 102">
            <a:extLst>
              <a:ext uri="{FF2B5EF4-FFF2-40B4-BE49-F238E27FC236}">
                <a16:creationId xmlns:a16="http://schemas.microsoft.com/office/drawing/2014/main" id="{66E8A501-C31F-D1DB-97A3-69E50A611ED7}"/>
              </a:ext>
            </a:extLst>
          </p:cNvPr>
          <p:cNvGrpSpPr/>
          <p:nvPr/>
        </p:nvGrpSpPr>
        <p:grpSpPr>
          <a:xfrm>
            <a:off x="0" y="939798"/>
            <a:ext cx="6095999" cy="912902"/>
            <a:chOff x="0" y="1075267"/>
            <a:chExt cx="6095999" cy="912902"/>
          </a:xfrm>
        </p:grpSpPr>
        <p:sp>
          <p:nvSpPr>
            <p:cNvPr id="104" name="矩形 103">
              <a:extLst>
                <a:ext uri="{FF2B5EF4-FFF2-40B4-BE49-F238E27FC236}">
                  <a16:creationId xmlns:a16="http://schemas.microsoft.com/office/drawing/2014/main" id="{8A0CB2D2-B73E-E291-7AEE-F4330655853E}"/>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a:extLst>
                <a:ext uri="{FF2B5EF4-FFF2-40B4-BE49-F238E27FC236}">
                  <a16:creationId xmlns:a16="http://schemas.microsoft.com/office/drawing/2014/main" id="{D5715A3A-5434-8D58-6DFB-C702DFF886B7}"/>
                </a:ext>
              </a:extLst>
            </p:cNvPr>
            <p:cNvSpPr txBox="1"/>
            <p:nvPr/>
          </p:nvSpPr>
          <p:spPr>
            <a:xfrm>
              <a:off x="270932" y="1157172"/>
              <a:ext cx="5825067" cy="830997"/>
            </a:xfrm>
            <a:prstGeom prst="rect">
              <a:avLst/>
            </a:prstGeom>
            <a:noFill/>
          </p:spPr>
          <p:txBody>
            <a:bodyPr wrap="square">
              <a:spAutoFit/>
            </a:bodyPr>
            <a:lstStyle/>
            <a:p>
              <a:r>
                <a:rPr lang="en-US" altLang="zh-CN" sz="2400" b="1" dirty="0">
                  <a:solidFill>
                    <a:schemeClr val="accent1"/>
                  </a:solidFill>
                </a:rPr>
                <a:t>5.4.2 </a:t>
              </a:r>
              <a:r>
                <a:rPr lang="zh-CN" altLang="en-US" sz="2400" b="1" dirty="0">
                  <a:solidFill>
                    <a:schemeClr val="accent1"/>
                  </a:solidFill>
                </a:rPr>
                <a:t>基于策略梯度的强化学习导航</a:t>
              </a:r>
            </a:p>
            <a:p>
              <a:endParaRPr lang="zh-CN" altLang="en-US" sz="2400" b="1" dirty="0">
                <a:solidFill>
                  <a:schemeClr val="accent1"/>
                </a:solidFill>
                <a:latin typeface="+mj-lt"/>
              </a:endParaRPr>
            </a:p>
          </p:txBody>
        </p:sp>
      </p:gr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7C2FEF0F-33F7-7789-76AE-1A22EF9B20FF}"/>
                  </a:ext>
                </a:extLst>
              </p:cNvPr>
              <p:cNvSpPr txBox="1"/>
              <p:nvPr/>
            </p:nvSpPr>
            <p:spPr>
              <a:xfrm>
                <a:off x="426248" y="1889924"/>
                <a:ext cx="5403784" cy="1200329"/>
              </a:xfrm>
              <a:prstGeom prst="rect">
                <a:avLst/>
              </a:prstGeom>
              <a:noFill/>
            </p:spPr>
            <p:txBody>
              <a:bodyPr wrap="square">
                <a:spAutoFit/>
              </a:bodyPr>
              <a:lstStyle/>
              <a:p>
                <a:r>
                  <a:rPr lang="zh-CN" altLang="en-US" dirty="0">
                    <a:latin typeface="+mn-ea"/>
                  </a:rPr>
                  <a:t>策略网络通过神经网络来拟合策略，记为</a:t>
                </a:r>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𝜋</m:t>
                        </m:r>
                      </m:e>
                      <m:sub>
                        <m:r>
                          <a:rPr lang="zh-CN" altLang="en-US" i="1" smtClean="0">
                            <a:latin typeface="Cambria Math" panose="02040503050406030204" pitchFamily="18" charset="0"/>
                          </a:rPr>
                          <m:t>𝜃</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oMath>
                </a14:m>
                <a:r>
                  <a:rPr lang="en-US" altLang="zh-CN" dirty="0">
                    <a:latin typeface="+mn-ea"/>
                  </a:rPr>
                  <a:t>,</a:t>
                </a:r>
                <a:r>
                  <a:rPr lang="zh-CN" altLang="en-US" dirty="0">
                    <a:latin typeface="+mn-ea"/>
                  </a:rPr>
                  <a:t>在训练过程中，将策略的平均回报作为优化目标，平均回报为</a:t>
                </a:r>
                <a14:m>
                  <m:oMath xmlns:m="http://schemas.openxmlformats.org/officeDocument/2006/math">
                    <m:r>
                      <a:rPr lang="zh-CN" altLang="en-US" i="1" smtClean="0">
                        <a:latin typeface="Cambria Math" panose="02040503050406030204" pitchFamily="18" charset="0"/>
                      </a:rPr>
                      <m:t>𝜌</m:t>
                    </m:r>
                    <m:r>
                      <a:rPr lang="en-US" altLang="zh-CN" b="0" i="1" smtClean="0">
                        <a:latin typeface="Cambria Math" panose="02040503050406030204" pitchFamily="18" charset="0"/>
                      </a:rPr>
                      <m:t>(</m:t>
                    </m:r>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𝜋</m:t>
                        </m:r>
                      </m:e>
                      <m:sub>
                        <m:r>
                          <a:rPr lang="zh-CN" altLang="en-US" b="0" i="1" smtClean="0">
                            <a:latin typeface="Cambria Math" panose="02040503050406030204" pitchFamily="18" charset="0"/>
                          </a:rPr>
                          <m:t>𝜃</m:t>
                        </m:r>
                      </m:sub>
                    </m:sSub>
                    <m:r>
                      <a:rPr lang="en-US" altLang="zh-CN" b="0" i="1" smtClean="0">
                        <a:latin typeface="Cambria Math" panose="02040503050406030204" pitchFamily="18" charset="0"/>
                      </a:rPr>
                      <m:t>)</m:t>
                    </m:r>
                  </m:oMath>
                </a14:m>
                <a:r>
                  <a:rPr lang="zh-CN" altLang="en-US" dirty="0">
                    <a:latin typeface="+mn-ea"/>
                  </a:rPr>
                  <a:t>，定义如下：</a:t>
                </a:r>
                <a:endParaRPr lang="en-US" altLang="zh-CN" dirty="0">
                  <a:latin typeface="+mn-ea"/>
                </a:endParaRPr>
              </a:p>
              <a:p>
                <a:endParaRPr lang="zh-CN" altLang="en-US" dirty="0">
                  <a:latin typeface="+mn-ea"/>
                </a:endParaRPr>
              </a:p>
            </p:txBody>
          </p:sp>
        </mc:Choice>
        <mc:Fallback xmlns="">
          <p:sp>
            <p:nvSpPr>
              <p:cNvPr id="13" name="文本框 12">
                <a:extLst>
                  <a:ext uri="{FF2B5EF4-FFF2-40B4-BE49-F238E27FC236}">
                    <a16:creationId xmlns:a16="http://schemas.microsoft.com/office/drawing/2014/main" id="{7C2FEF0F-33F7-7789-76AE-1A22EF9B20FF}"/>
                  </a:ext>
                </a:extLst>
              </p:cNvPr>
              <p:cNvSpPr txBox="1">
                <a:spLocks noRot="1" noChangeAspect="1" noMove="1" noResize="1" noEditPoints="1" noAdjustHandles="1" noChangeArrowheads="1" noChangeShapeType="1" noTextEdit="1"/>
              </p:cNvSpPr>
              <p:nvPr/>
            </p:nvSpPr>
            <p:spPr>
              <a:xfrm>
                <a:off x="426248" y="1889924"/>
                <a:ext cx="5403784" cy="1200329"/>
              </a:xfrm>
              <a:prstGeom prst="rect">
                <a:avLst/>
              </a:prstGeom>
              <a:blipFill>
                <a:blip r:embed="rId3"/>
                <a:stretch>
                  <a:fillRect l="-1016" t="-2538" r="-2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2956CC4-6604-C365-09A5-6889EB16D56F}"/>
                  </a:ext>
                </a:extLst>
              </p:cNvPr>
              <p:cNvSpPr txBox="1"/>
              <p:nvPr/>
            </p:nvSpPr>
            <p:spPr>
              <a:xfrm>
                <a:off x="-125145" y="2688490"/>
                <a:ext cx="6755466" cy="764505"/>
              </a:xfrm>
              <a:prstGeom prst="rect">
                <a:avLst/>
              </a:prstGeom>
              <a:noFill/>
            </p:spPr>
            <p:txBody>
              <a:bodyPr wrap="square">
                <a:spAutoFit/>
              </a:bodyPr>
              <a:lstStyle/>
              <a:p>
                <a:pPr/>
                <a14:m>
                  <m:oMathPara xmlns:m="http://schemas.openxmlformats.org/officeDocument/2006/math">
                    <m:oMath>
                      <m:r>
                        <a:rPr lang="zh-CN" altLang="en-US" i="1" smtClean="0">
                          <a:latin typeface="Cambria Math" panose="02040503050406030204" pitchFamily="18" charset="0"/>
                        </a:rPr>
                        <m:t>𝜌</m:t>
                      </m:r>
                      <m:sSub>
                        <m:sSubPr>
                          <m:ctrlPr>
                            <a:rPr lang="zh-CN" altLang="en-US" i="1">
                              <a:latin typeface="Cambria Math" panose="02040503050406030204" pitchFamily="18" charset="0"/>
                            </a:rPr>
                          </m:ctrlPr>
                        </m:sSubPr>
                        <m:e>
                          <m:r>
                            <a:rPr lang="zh-CN" altLang="en-US" i="1">
                              <a:latin typeface="Cambria Math" panose="02040503050406030204" pitchFamily="18" charset="0"/>
                            </a:rPr>
                            <m:t>𝜋</m:t>
                          </m:r>
                        </m:e>
                        <m:sub>
                          <m:r>
                            <a:rPr lang="zh-CN" altLang="en-US" i="1">
                              <a:latin typeface="Cambria Math" panose="02040503050406030204" pitchFamily="18" charset="0"/>
                            </a:rPr>
                            <m:t>𝜃</m:t>
                          </m:r>
                        </m:sub>
                      </m:sSub>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limLow>
                            <m:limLowPr>
                              <m:ctrlPr>
                                <a:rPr lang="en-US" altLang="zh-CN" b="0" i="0" smtClean="0">
                                  <a:latin typeface="Cambria Math" panose="02040503050406030204" pitchFamily="18" charset="0"/>
                                </a:rPr>
                              </m:ctrlPr>
                            </m:limLowPr>
                            <m:e>
                              <m:r>
                                <m:rPr>
                                  <m:sty m:val="p"/>
                                </m:rPr>
                                <a:rPr lang="en-US" altLang="zh-CN" b="0" i="0" smtClean="0">
                                  <a:latin typeface="Cambria Math" panose="02040503050406030204" pitchFamily="18" charset="0"/>
                                </a:rPr>
                                <m:t>lim</m:t>
                              </m:r>
                            </m:e>
                            <m:lim>
                              <m:r>
                                <a:rPr lang="en-US" altLang="zh-CN" b="0" i="1" smtClean="0">
                                  <a:latin typeface="Cambria Math" panose="02040503050406030204" pitchFamily="18" charset="0"/>
                                </a:rPr>
                                <m:t>𝑇</m:t>
                              </m:r>
                              <m:r>
                                <a:rPr lang="en-US" altLang="zh-CN" b="0" i="1" smtClean="0">
                                  <a:latin typeface="Cambria Math" panose="02040503050406030204" pitchFamily="18" charset="0"/>
                                  <a:ea typeface="Cambria Math" panose="02040503050406030204" pitchFamily="18" charset="0"/>
                                </a:rPr>
                                <m:t>→∞</m:t>
                              </m:r>
                            </m:lim>
                          </m:limLow>
                        </m:fName>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𝑇</m:t>
                              </m:r>
                            </m:den>
                          </m:f>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b="0" i="1" smtClean="0">
                                      <a:latin typeface="Cambria Math" panose="02040503050406030204" pitchFamily="18" charset="0"/>
                                    </a:rPr>
                                    <m:t>𝑇</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𝜋</m:t>
                              </m:r>
                            </m:e>
                          </m:d>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𝑠</m:t>
                              </m:r>
                            </m:sub>
                            <m:sup/>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𝑑</m:t>
                                  </m:r>
                                </m:e>
                                <m:sup>
                                  <m:r>
                                    <a:rPr lang="zh-CN" altLang="en-US" b="0" i="1" smtClean="0">
                                      <a:latin typeface="Cambria Math" panose="02040503050406030204" pitchFamily="18" charset="0"/>
                                    </a:rPr>
                                    <m:t>𝜋</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𝑎</m:t>
                                  </m:r>
                                </m:sub>
                                <m:sup/>
                                <m:e>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𝜋</m:t>
                                      </m:r>
                                    </m:e>
                                    <m:sub>
                                      <m:r>
                                        <a:rPr lang="zh-CN" altLang="en-US" b="0" i="1" smtClean="0">
                                          <a:latin typeface="Cambria Math" panose="02040503050406030204" pitchFamily="18" charset="0"/>
                                        </a:rPr>
                                        <m:t>𝜃</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𝑠</m:t>
                                      </m:r>
                                    </m:sub>
                                    <m:sup>
                                      <m:r>
                                        <a:rPr lang="en-US" altLang="zh-CN" b="0" i="1" smtClean="0">
                                          <a:latin typeface="Cambria Math" panose="02040503050406030204" pitchFamily="18" charset="0"/>
                                        </a:rPr>
                                        <m:t>𝑎</m:t>
                                      </m:r>
                                    </m:sup>
                                  </m:sSubSup>
                                </m:e>
                              </m:nary>
                            </m:e>
                          </m:nary>
                        </m:e>
                      </m:func>
                    </m:oMath>
                  </m:oMathPara>
                </a14:m>
                <a:endParaRPr lang="zh-CN" altLang="en-US" dirty="0"/>
              </a:p>
            </p:txBody>
          </p:sp>
        </mc:Choice>
        <mc:Fallback xmlns="">
          <p:sp>
            <p:nvSpPr>
              <p:cNvPr id="4" name="文本框 3">
                <a:extLst>
                  <a:ext uri="{FF2B5EF4-FFF2-40B4-BE49-F238E27FC236}">
                    <a16:creationId xmlns:a16="http://schemas.microsoft.com/office/drawing/2014/main" id="{D2956CC4-6604-C365-09A5-6889EB16D56F}"/>
                  </a:ext>
                </a:extLst>
              </p:cNvPr>
              <p:cNvSpPr txBox="1">
                <a:spLocks noRot="1" noChangeAspect="1" noMove="1" noResize="1" noEditPoints="1" noAdjustHandles="1" noChangeArrowheads="1" noChangeShapeType="1" noTextEdit="1"/>
              </p:cNvSpPr>
              <p:nvPr/>
            </p:nvSpPr>
            <p:spPr>
              <a:xfrm>
                <a:off x="-125145" y="2688490"/>
                <a:ext cx="6755466" cy="76450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31996C9-241E-824B-14C5-77F7498C4909}"/>
                  </a:ext>
                </a:extLst>
              </p:cNvPr>
              <p:cNvSpPr txBox="1"/>
              <p:nvPr/>
            </p:nvSpPr>
            <p:spPr>
              <a:xfrm>
                <a:off x="323514" y="3374061"/>
                <a:ext cx="5403592" cy="2585323"/>
              </a:xfrm>
              <a:prstGeom prst="rect">
                <a:avLst/>
              </a:prstGeom>
              <a:noFill/>
            </p:spPr>
            <p:txBody>
              <a:bodyPr wrap="square">
                <a:spAutoFit/>
              </a:bodyPr>
              <a:lstStyle/>
              <a:p>
                <a:r>
                  <a:rPr lang="zh-CN" altLang="en-US" sz="1800" b="0" i="0" u="none" strike="noStrike" baseline="0" dirty="0">
                    <a:latin typeface="+mn-ea"/>
                  </a:rPr>
                  <a:t>其中</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𝑑</m:t>
                        </m:r>
                      </m:e>
                      <m:sup>
                        <m:r>
                          <a:rPr lang="zh-CN" altLang="en-US" i="1">
                            <a:latin typeface="Cambria Math" panose="02040503050406030204" pitchFamily="18" charset="0"/>
                          </a:rPr>
                          <m:t>𝜋</m:t>
                        </m:r>
                      </m:sup>
                    </m:sSup>
                    <m:r>
                      <a:rPr lang="en-US" altLang="zh-CN" i="1">
                        <a:latin typeface="Cambria Math" panose="02040503050406030204" pitchFamily="18" charset="0"/>
                      </a:rPr>
                      <m:t>(</m:t>
                    </m:r>
                    <m:r>
                      <a:rPr lang="en-US" altLang="zh-CN" i="1">
                        <a:latin typeface="Cambria Math" panose="02040503050406030204" pitchFamily="18" charset="0"/>
                      </a:rPr>
                      <m:t>𝑠</m:t>
                    </m:r>
                    <m:r>
                      <a:rPr lang="en-US" altLang="zh-CN" i="1">
                        <a:latin typeface="Cambria Math" panose="02040503050406030204" pitchFamily="18" charset="0"/>
                      </a:rPr>
                      <m:t>)</m:t>
                    </m:r>
                  </m:oMath>
                </a14:m>
                <a:r>
                  <a:rPr lang="zh-CN" altLang="en-US" sz="1800" b="0" i="0" u="none" strike="noStrike" baseline="0" dirty="0">
                    <a:latin typeface="+mn-ea"/>
                  </a:rPr>
                  <a:t>是在策略</a:t>
                </a:r>
                <a14:m>
                  <m:oMath xmlns:m="http://schemas.openxmlformats.org/officeDocument/2006/math">
                    <m:r>
                      <a:rPr lang="zh-CN" altLang="en-US" sz="1800" b="0" i="1" u="none" strike="noStrike" baseline="0" smtClean="0">
                        <a:latin typeface="Cambria Math" panose="02040503050406030204" pitchFamily="18" charset="0"/>
                      </a:rPr>
                      <m:t>𝜋</m:t>
                    </m:r>
                  </m:oMath>
                </a14:m>
                <a:r>
                  <a:rPr lang="zh-CN" altLang="en-US" sz="1800" b="0" i="0" u="none" strike="noStrike" baseline="0" dirty="0">
                    <a:latin typeface="+mn-ea"/>
                  </a:rPr>
                  <a:t>下的平稳状态分布</a:t>
                </a:r>
                <a:endParaRPr lang="en-US" altLang="zh-CN" dirty="0">
                  <a:latin typeface="+mn-ea"/>
                </a:endParaRPr>
              </a:p>
              <a:p>
                <a:r>
                  <a:rPr lang="zh-CN" altLang="en-US" sz="1800" b="0" i="0" u="none" strike="noStrike" baseline="0" dirty="0">
                    <a:latin typeface="+mn-ea"/>
                  </a:rPr>
                  <a:t>采取策略</a:t>
                </a:r>
                <a14:m>
                  <m:oMath xmlns:m="http://schemas.openxmlformats.org/officeDocument/2006/math">
                    <m:r>
                      <a:rPr lang="zh-CN" altLang="en-US" i="1">
                        <a:latin typeface="Cambria Math" panose="02040503050406030204" pitchFamily="18" charset="0"/>
                      </a:rPr>
                      <m:t>𝜋</m:t>
                    </m:r>
                  </m:oMath>
                </a14:m>
                <a:r>
                  <a:rPr lang="zh-CN" altLang="en-US" sz="1800" b="0" i="0" u="none" strike="noStrike" baseline="0" dirty="0">
                    <a:latin typeface="+mn-ea"/>
                  </a:rPr>
                  <a:t>取得的平均回报可以看作考虑所有可能机器人的状态，获得转移到任一状态</a:t>
                </a:r>
                <a14:m>
                  <m:oMath xmlns:m="http://schemas.openxmlformats.org/officeDocument/2006/math">
                    <m:r>
                      <a:rPr lang="en-US" altLang="zh-CN" sz="1800" b="0" i="1" u="none" strike="noStrike" baseline="0" smtClean="0">
                        <a:latin typeface="Cambria Math" panose="02040503050406030204" pitchFamily="18" charset="0"/>
                      </a:rPr>
                      <m:t>𝑠</m:t>
                    </m:r>
                  </m:oMath>
                </a14:m>
                <a:r>
                  <a:rPr lang="zh-CN" altLang="en-US" sz="1800" b="0" i="0" u="none" strike="noStrike" baseline="0" dirty="0">
                    <a:latin typeface="+mn-ea"/>
                  </a:rPr>
                  <a:t>的概率，在此概率下通过策略概率分布生成动作，最后获得期望回</a:t>
                </a:r>
                <a:r>
                  <a:rPr lang="zh-CN" altLang="en-US" dirty="0">
                    <a:latin typeface="+mn-ea"/>
                  </a:rPr>
                  <a:t>报</a:t>
                </a: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𝑠</m:t>
                        </m:r>
                      </m:sub>
                      <m:sup>
                        <m:r>
                          <a:rPr lang="en-US" altLang="zh-CN" b="0" i="1" smtClean="0">
                            <a:latin typeface="Cambria Math" panose="02040503050406030204" pitchFamily="18" charset="0"/>
                          </a:rPr>
                          <m:t>𝑎</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zh-CN" altLang="en-US" b="0" i="1" smtClean="0">
                            <a:latin typeface="Cambria Math" panose="02040503050406030204" pitchFamily="18" charset="0"/>
                          </a:rPr>
                          <m:t>𝜋</m:t>
                        </m:r>
                      </m:e>
                    </m:d>
                  </m:oMath>
                </a14:m>
                <a:r>
                  <a:rPr lang="zh-CN" altLang="en-US" dirty="0"/>
                  <a:t>，对所有期望回报加权求和即可得到平均回报</a:t>
                </a:r>
                <a14:m>
                  <m:oMath xmlns:m="http://schemas.openxmlformats.org/officeDocument/2006/math">
                    <m:r>
                      <a:rPr lang="zh-CN" altLang="en-US" i="1" smtClean="0">
                        <a:latin typeface="Cambria Math" panose="02040503050406030204" pitchFamily="18" charset="0"/>
                      </a:rPr>
                      <m:t>𝜌</m:t>
                    </m:r>
                    <m:d>
                      <m:dPr>
                        <m:ctrlPr>
                          <a:rPr lang="zh-CN" altLang="en-US" b="0" i="1" smtClean="0">
                            <a:latin typeface="Cambria Math" panose="02040503050406030204" pitchFamily="18" charset="0"/>
                          </a:rPr>
                        </m:ctrlPr>
                      </m:dPr>
                      <m:e>
                        <m:r>
                          <a:rPr lang="zh-CN" altLang="en-US" b="0" i="1" smtClean="0">
                            <a:latin typeface="Cambria Math" panose="02040503050406030204" pitchFamily="18" charset="0"/>
                          </a:rPr>
                          <m:t>𝜋</m:t>
                        </m:r>
                      </m:e>
                    </m:d>
                    <m:r>
                      <a:rPr lang="zh-CN" altLang="en-US" i="1">
                        <a:latin typeface="Cambria Math" panose="02040503050406030204" pitchFamily="18" charset="0"/>
                      </a:rPr>
                      <m:t>。</m:t>
                    </m:r>
                  </m:oMath>
                </a14:m>
                <a:endParaRPr lang="en-US" altLang="zh-CN" dirty="0"/>
              </a:p>
              <a:p>
                <a:endParaRPr lang="en-US" altLang="zh-CN" dirty="0"/>
              </a:p>
              <a:p>
                <a:r>
                  <a:rPr lang="zh-CN" altLang="en-US" dirty="0"/>
                  <a:t>优化目标为最大化平均回报，对平均回报计算梯度：</a:t>
                </a:r>
                <a:endParaRPr lang="en-US" altLang="zh-CN" dirty="0"/>
              </a:p>
              <a:p>
                <a:endParaRPr lang="zh-CN" altLang="en-US" dirty="0">
                  <a:latin typeface="+mn-ea"/>
                </a:endParaRPr>
              </a:p>
            </p:txBody>
          </p:sp>
        </mc:Choice>
        <mc:Fallback xmlns="">
          <p:sp>
            <p:nvSpPr>
              <p:cNvPr id="6" name="文本框 5">
                <a:extLst>
                  <a:ext uri="{FF2B5EF4-FFF2-40B4-BE49-F238E27FC236}">
                    <a16:creationId xmlns:a16="http://schemas.microsoft.com/office/drawing/2014/main" id="{131996C9-241E-824B-14C5-77F7498C4909}"/>
                  </a:ext>
                </a:extLst>
              </p:cNvPr>
              <p:cNvSpPr txBox="1">
                <a:spLocks noRot="1" noChangeAspect="1" noMove="1" noResize="1" noEditPoints="1" noAdjustHandles="1" noChangeArrowheads="1" noChangeShapeType="1" noTextEdit="1"/>
              </p:cNvSpPr>
              <p:nvPr/>
            </p:nvSpPr>
            <p:spPr>
              <a:xfrm>
                <a:off x="323514" y="3374061"/>
                <a:ext cx="5403592" cy="2585323"/>
              </a:xfrm>
              <a:prstGeom prst="rect">
                <a:avLst/>
              </a:prstGeom>
              <a:blipFill>
                <a:blip r:embed="rId5"/>
                <a:stretch>
                  <a:fillRect l="-903" t="-1176" r="-1693"/>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1BEB6A7E-32B1-BDB0-B92E-A9AC0BD5DC4A}"/>
              </a:ext>
            </a:extLst>
          </p:cNvPr>
          <p:cNvSpPr txBox="1"/>
          <p:nvPr/>
        </p:nvSpPr>
        <p:spPr>
          <a:xfrm>
            <a:off x="851170" y="1563354"/>
            <a:ext cx="6094878" cy="369332"/>
          </a:xfrm>
          <a:prstGeom prst="rect">
            <a:avLst/>
          </a:prstGeom>
          <a:noFill/>
        </p:spPr>
        <p:txBody>
          <a:bodyPr wrap="square">
            <a:spAutoFit/>
          </a:bodyPr>
          <a:lstStyle/>
          <a:p>
            <a:r>
              <a:rPr lang="en-US" altLang="zh-CN" sz="1800" b="1" i="0" u="none" strike="noStrike" baseline="0" dirty="0"/>
              <a:t>Actor-Critic</a:t>
            </a:r>
            <a:r>
              <a:rPr lang="zh-CN" altLang="en-US" sz="1800" b="1" i="0" u="none" strike="noStrike" baseline="0" dirty="0"/>
              <a:t>架构</a:t>
            </a:r>
            <a:endParaRPr lang="zh-CN" altLang="en-US" b="1" dirty="0"/>
          </a:p>
        </p:txBody>
      </p:sp>
      <p:sp>
        <p:nvSpPr>
          <p:cNvPr id="9" name="文本框 8">
            <a:extLst>
              <a:ext uri="{FF2B5EF4-FFF2-40B4-BE49-F238E27FC236}">
                <a16:creationId xmlns:a16="http://schemas.microsoft.com/office/drawing/2014/main" id="{E2F4A195-777F-F2B1-47B7-77B779DC4095}"/>
              </a:ext>
            </a:extLst>
          </p:cNvPr>
          <p:cNvSpPr txBox="1"/>
          <p:nvPr/>
        </p:nvSpPr>
        <p:spPr>
          <a:xfrm>
            <a:off x="5637679" y="2924735"/>
            <a:ext cx="65" cy="276999"/>
          </a:xfrm>
          <a:prstGeom prst="rect">
            <a:avLst/>
          </a:prstGeom>
          <a:noFill/>
        </p:spPr>
        <p:txBody>
          <a:bodyPr wrap="none" lIns="0" tIns="0" rIns="0" bIns="0" rtlCol="0">
            <a:spAutoFit/>
          </a:bodyPr>
          <a:lstStyle/>
          <a:p>
            <a:endParaRPr lang="zh-CN" altLang="en-US" dirty="0"/>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5CE8E45-3E5B-37E2-4A5D-17AA34AA8747}"/>
                  </a:ext>
                </a:extLst>
              </p:cNvPr>
              <p:cNvSpPr txBox="1"/>
              <p:nvPr/>
            </p:nvSpPr>
            <p:spPr>
              <a:xfrm>
                <a:off x="-579701" y="5749458"/>
                <a:ext cx="6094878" cy="764505"/>
              </a:xfrm>
              <a:prstGeom prst="rect">
                <a:avLst/>
              </a:prstGeom>
              <a:noFill/>
            </p:spPr>
            <p:txBody>
              <a:bodyPr wrap="square">
                <a:spAutoFit/>
              </a:bodyPr>
              <a:lstStyle/>
              <a:p>
                <a:pPr/>
                <a14:m>
                  <m:oMathPara xmlns:m="http://schemas.openxmlformats.org/officeDocument/2006/math">
                    <m:oMath>
                      <m:sSub>
                        <m:sSubPr>
                          <m:ctrlPr>
                            <a:rPr lang="en-US" altLang="zh-CN" i="1" smtClean="0">
                              <a:latin typeface="Cambria Math" panose="02040503050406030204" pitchFamily="18" charset="0"/>
                              <a:ea typeface="Cambria Math" panose="02040503050406030204" pitchFamily="18" charset="0"/>
                            </a:rPr>
                          </m:ctrlPr>
                        </m:sSubPr>
                        <m:e>
                          <m:r>
                            <m:rPr>
                              <m:sty m:val="p"/>
                            </m:rPr>
                            <a:rPr lang="en-US" altLang="zh-CN" i="1" smtClean="0">
                              <a:latin typeface="Cambria Math" panose="02040503050406030204" pitchFamily="18" charset="0"/>
                              <a:ea typeface="Cambria Math" panose="02040503050406030204" pitchFamily="18" charset="0"/>
                            </a:rPr>
                            <m:t>∇</m:t>
                          </m:r>
                        </m:e>
                        <m:sub>
                          <m:r>
                            <a:rPr lang="zh-CN" altLang="en-US" i="1" smtClean="0">
                              <a:latin typeface="Cambria Math" panose="02040503050406030204" pitchFamily="18" charset="0"/>
                            </a:rPr>
                            <m:t>𝜃</m:t>
                          </m:r>
                        </m:sub>
                      </m:sSub>
                      <m:r>
                        <a:rPr lang="zh-CN" altLang="en-US" i="1" smtClean="0">
                          <a:latin typeface="Cambria Math" panose="02040503050406030204" pitchFamily="18" charset="0"/>
                        </a:rPr>
                        <m:t>𝜌</m:t>
                      </m:r>
                      <m:d>
                        <m:dPr>
                          <m:ctrlPr>
                            <a:rPr lang="zh-CN" altLang="en-US" b="0" i="1" smtClean="0">
                              <a:latin typeface="Cambria Math" panose="02040503050406030204" pitchFamily="18" charset="0"/>
                            </a:rPr>
                          </m:ctrlPr>
                        </m:dPr>
                        <m:e>
                          <m:r>
                            <a:rPr lang="zh-CN" altLang="en-US" b="0" i="1" smtClean="0">
                              <a:latin typeface="Cambria Math" panose="02040503050406030204" pitchFamily="18" charset="0"/>
                            </a:rPr>
                            <m:t>𝜋</m:t>
                          </m:r>
                        </m:e>
                      </m:d>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𝑠</m:t>
                          </m:r>
                        </m:sub>
                        <m:sup/>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𝑑</m:t>
                              </m:r>
                            </m:e>
                            <m:sup>
                              <m:r>
                                <a:rPr lang="zh-CN" altLang="en-US" b="0" i="1" smtClean="0">
                                  <a:latin typeface="Cambria Math" panose="02040503050406030204" pitchFamily="18" charset="0"/>
                                </a:rPr>
                                <m:t>𝜋</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𝑎</m:t>
                              </m:r>
                            </m:sub>
                            <m:sup/>
                            <m:e>
                              <m:sSub>
                                <m:sSubPr>
                                  <m:ctrlPr>
                                    <a:rPr lang="en-US" altLang="zh-CN" b="0" i="1" smtClean="0">
                                      <a:latin typeface="Cambria Math" panose="02040503050406030204" pitchFamily="18" charset="0"/>
                                      <a:ea typeface="Cambria Math" panose="02040503050406030204" pitchFamily="18" charset="0"/>
                                    </a:rPr>
                                  </m:ctrlPr>
                                </m:sSubPr>
                                <m:e>
                                  <m:r>
                                    <m:rPr>
                                      <m:sty m:val="p"/>
                                    </m:rPr>
                                    <a:rPr lang="en-US" altLang="zh-CN" b="0" i="1" smtClean="0">
                                      <a:latin typeface="Cambria Math" panose="02040503050406030204" pitchFamily="18" charset="0"/>
                                      <a:ea typeface="Cambria Math" panose="02040503050406030204" pitchFamily="18" charset="0"/>
                                    </a:rPr>
                                    <m:t>∇</m:t>
                                  </m:r>
                                </m:e>
                                <m:sub>
                                  <m:r>
                                    <a:rPr lang="zh-CN" altLang="en-US" b="0" i="1" smtClean="0">
                                      <a:latin typeface="Cambria Math" panose="02040503050406030204" pitchFamily="18" charset="0"/>
                                    </a:rPr>
                                    <m:t>𝜃</m:t>
                                  </m:r>
                                </m:sub>
                              </m:sSub>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𝜋</m:t>
                                  </m:r>
                                </m:e>
                                <m:sub>
                                  <m:r>
                                    <a:rPr lang="zh-CN" altLang="en-US" b="0" i="1" smtClean="0">
                                      <a:latin typeface="Cambria Math" panose="02040503050406030204" pitchFamily="18" charset="0"/>
                                    </a:rPr>
                                    <m:t>𝜃</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𝑠</m:t>
                                  </m:r>
                                </m:sub>
                                <m:sup>
                                  <m:r>
                                    <a:rPr lang="en-US" altLang="zh-CN" b="0" i="1" smtClean="0">
                                      <a:latin typeface="Cambria Math" panose="02040503050406030204" pitchFamily="18" charset="0"/>
                                    </a:rPr>
                                    <m:t>𝑎</m:t>
                                  </m:r>
                                </m:sup>
                              </m:sSubSup>
                            </m:e>
                          </m:nary>
                        </m:e>
                      </m:nary>
                    </m:oMath>
                  </m:oMathPara>
                </a14:m>
                <a:endParaRPr lang="zh-CN" altLang="en-US" dirty="0"/>
              </a:p>
            </p:txBody>
          </p:sp>
        </mc:Choice>
        <mc:Fallback xmlns="">
          <p:sp>
            <p:nvSpPr>
              <p:cNvPr id="14" name="文本框 13">
                <a:extLst>
                  <a:ext uri="{FF2B5EF4-FFF2-40B4-BE49-F238E27FC236}">
                    <a16:creationId xmlns:a16="http://schemas.microsoft.com/office/drawing/2014/main" id="{C5CE8E45-3E5B-37E2-4A5D-17AA34AA8747}"/>
                  </a:ext>
                </a:extLst>
              </p:cNvPr>
              <p:cNvSpPr txBox="1">
                <a:spLocks noRot="1" noChangeAspect="1" noMove="1" noResize="1" noEditPoints="1" noAdjustHandles="1" noChangeArrowheads="1" noChangeShapeType="1" noTextEdit="1"/>
              </p:cNvSpPr>
              <p:nvPr/>
            </p:nvSpPr>
            <p:spPr>
              <a:xfrm>
                <a:off x="-579701" y="5749458"/>
                <a:ext cx="6094878" cy="76450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F4F13A9-BE49-1B9F-D4E3-0E5C84424B25}"/>
                  </a:ext>
                </a:extLst>
              </p:cNvPr>
              <p:cNvSpPr txBox="1"/>
              <p:nvPr/>
            </p:nvSpPr>
            <p:spPr>
              <a:xfrm>
                <a:off x="6520921" y="1301099"/>
                <a:ext cx="5079070" cy="1406219"/>
              </a:xfrm>
              <a:prstGeom prst="rect">
                <a:avLst/>
              </a:prstGeom>
              <a:noFill/>
            </p:spPr>
            <p:txBody>
              <a:bodyPr wrap="square">
                <a:spAutoFit/>
              </a:bodyPr>
              <a:lstStyle/>
              <a:p>
                <a:r>
                  <a:rPr lang="zh-CN" altLang="en-US" dirty="0"/>
                  <a:t>为简化梯度计算，对梯度公式进行采样估</a:t>
                </a:r>
              </a:p>
              <a:p>
                <a:r>
                  <a:rPr lang="zh-CN" altLang="en-US" dirty="0"/>
                  <a:t>计：</a:t>
                </a:r>
                <a:endParaRPr lang="en-US" altLang="zh-CN" dirty="0"/>
              </a:p>
              <a:p>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m:rPr>
                            <m:sty m:val="p"/>
                          </m:rPr>
                          <a:rPr lang="en-US" altLang="zh-CN" i="1">
                            <a:latin typeface="Cambria Math" panose="02040503050406030204" pitchFamily="18" charset="0"/>
                            <a:ea typeface="Cambria Math" panose="02040503050406030204" pitchFamily="18" charset="0"/>
                          </a:rPr>
                          <m:t>∇</m:t>
                        </m:r>
                      </m:e>
                      <m:sub>
                        <m:r>
                          <a:rPr lang="zh-CN" altLang="en-US" i="1">
                            <a:latin typeface="Cambria Math" panose="02040503050406030204" pitchFamily="18" charset="0"/>
                          </a:rPr>
                          <m:t>𝜃</m:t>
                        </m:r>
                      </m:sub>
                    </m:sSub>
                    <m:r>
                      <a:rPr lang="zh-CN" altLang="en-US" i="1">
                        <a:latin typeface="Cambria Math" panose="02040503050406030204" pitchFamily="18" charset="0"/>
                      </a:rPr>
                      <m:t>𝜌</m:t>
                    </m:r>
                    <m:d>
                      <m:dPr>
                        <m:ctrlPr>
                          <a:rPr lang="zh-CN" altLang="en-US" i="1">
                            <a:latin typeface="Cambria Math" panose="02040503050406030204" pitchFamily="18" charset="0"/>
                          </a:rPr>
                        </m:ctrlPr>
                      </m:dPr>
                      <m:e>
                        <m:r>
                          <a:rPr lang="zh-CN" altLang="en-US" i="1">
                            <a:latin typeface="Cambria Math" panose="02040503050406030204" pitchFamily="18" charset="0"/>
                          </a:rPr>
                          <m:t>𝜋</m:t>
                        </m:r>
                      </m:e>
                    </m:d>
                    <m:r>
                      <a:rPr lang="en-US" altLang="zh-CN" b="0" i="1" smtClean="0">
                        <a:latin typeface="Cambria Math" panose="02040503050406030204" pitchFamily="18" charset="0"/>
                      </a:rPr>
                      <m:t>=</m:t>
                    </m:r>
                  </m:oMath>
                </a14:m>
                <a:r>
                  <a:rPr lang="en-US" altLang="zh-CN" dirty="0"/>
                  <a:t> </a:t>
                </a:r>
                <a14:m>
                  <m:oMath xmlns:m="http://schemas.openxmlformats.org/officeDocument/2006/math">
                    <m:nary>
                      <m:naryPr>
                        <m:chr m:val="∑"/>
                        <m:supHide m:val="on"/>
                        <m:ctrlPr>
                          <a:rPr lang="en-US" altLang="zh-CN" i="1">
                            <a:latin typeface="Cambria Math" panose="02040503050406030204" pitchFamily="18" charset="0"/>
                          </a:rPr>
                        </m:ctrlPr>
                      </m:naryPr>
                      <m:sub>
                        <m:r>
                          <m:rPr>
                            <m:brk m:alnAt="7"/>
                          </m:rPr>
                          <a:rPr lang="en-US" altLang="zh-CN" i="1">
                            <a:latin typeface="Cambria Math" panose="02040503050406030204" pitchFamily="18" charset="0"/>
                          </a:rPr>
                          <m:t>𝑠</m:t>
                        </m:r>
                      </m:sub>
                      <m:sup/>
                      <m:e>
                        <m:sSup>
                          <m:sSupPr>
                            <m:ctrlPr>
                              <a:rPr lang="en-US" altLang="zh-CN" i="1">
                                <a:latin typeface="Cambria Math" panose="02040503050406030204" pitchFamily="18" charset="0"/>
                              </a:rPr>
                            </m:ctrlPr>
                          </m:sSupPr>
                          <m:e>
                            <m:r>
                              <a:rPr lang="en-US" altLang="zh-CN" i="1">
                                <a:latin typeface="Cambria Math" panose="02040503050406030204" pitchFamily="18" charset="0"/>
                              </a:rPr>
                              <m:t>𝑑</m:t>
                            </m:r>
                          </m:e>
                          <m:sup>
                            <m:r>
                              <a:rPr lang="zh-CN" altLang="en-US" i="1">
                                <a:latin typeface="Cambria Math" panose="02040503050406030204" pitchFamily="18" charset="0"/>
                              </a:rPr>
                              <m:t>𝜋</m:t>
                            </m:r>
                          </m:sup>
                        </m:sSup>
                        <m:r>
                          <a:rPr lang="en-US" altLang="zh-CN" i="1">
                            <a:latin typeface="Cambria Math" panose="02040503050406030204" pitchFamily="18" charset="0"/>
                          </a:rPr>
                          <m:t>(</m:t>
                        </m:r>
                        <m:r>
                          <a:rPr lang="en-US" altLang="zh-CN" i="1">
                            <a:latin typeface="Cambria Math" panose="02040503050406030204" pitchFamily="18" charset="0"/>
                          </a:rPr>
                          <m:t>𝑠</m:t>
                        </m:r>
                        <m:r>
                          <a:rPr lang="en-US" altLang="zh-CN" i="1">
                            <a:latin typeface="Cambria Math" panose="02040503050406030204" pitchFamily="18" charset="0"/>
                          </a:rPr>
                          <m:t>)</m:t>
                        </m:r>
                        <m:nary>
                          <m:naryPr>
                            <m:chr m:val="∑"/>
                            <m:supHide m:val="on"/>
                            <m:ctrlPr>
                              <a:rPr lang="en-US" altLang="zh-CN" i="1">
                                <a:latin typeface="Cambria Math" panose="02040503050406030204" pitchFamily="18" charset="0"/>
                              </a:rPr>
                            </m:ctrlPr>
                          </m:naryPr>
                          <m:sub>
                            <m:r>
                              <m:rPr>
                                <m:brk m:alnAt="7"/>
                              </m:rPr>
                              <a:rPr lang="en-US" altLang="zh-CN" i="1">
                                <a:latin typeface="Cambria Math" panose="02040503050406030204" pitchFamily="18" charset="0"/>
                              </a:rPr>
                              <m:t>𝑎</m:t>
                            </m:r>
                          </m:sub>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𝜋</m:t>
                                </m:r>
                              </m:e>
                              <m:sub>
                                <m:r>
                                  <a:rPr lang="zh-CN" altLang="en-US" i="1">
                                    <a:latin typeface="Cambria Math" panose="02040503050406030204" pitchFamily="18" charset="0"/>
                                  </a:rPr>
                                  <m:t>𝜃</m:t>
                                </m:r>
                              </m:sub>
                            </m:sSub>
                            <m:r>
                              <a:rPr lang="en-US" altLang="zh-CN" i="1">
                                <a:latin typeface="Cambria Math" panose="02040503050406030204" pitchFamily="18" charset="0"/>
                              </a:rPr>
                              <m:t>(</m:t>
                            </m:r>
                            <m:r>
                              <a:rPr lang="en-US" altLang="zh-CN" i="1">
                                <a:latin typeface="Cambria Math" panose="02040503050406030204" pitchFamily="18" charset="0"/>
                              </a:rPr>
                              <m:t>𝑠</m:t>
                            </m:r>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f>
                                  <m:fPr>
                                    <m:ctrlPr>
                                      <a:rPr lang="zh-CN" altLang="en-US" i="1">
                                        <a:latin typeface="Cambria Math" panose="02040503050406030204" pitchFamily="18" charset="0"/>
                                      </a:rPr>
                                    </m:ctrlPr>
                                  </m:fPr>
                                  <m:num>
                                    <m:r>
                                      <a:rPr lang="zh-CN" altLang="en-US" i="1">
                                        <a:latin typeface="Cambria Math" panose="02040503050406030204" pitchFamily="18" charset="0"/>
                                      </a:rPr>
                                      <m:t>𝜕</m:t>
                                    </m:r>
                                    <m:r>
                                      <m:rPr>
                                        <m:sty m:val="p"/>
                                      </m:rPr>
                                      <a:rPr lang="en-US" altLang="zh-CN" i="1">
                                        <a:latin typeface="Cambria Math" panose="02040503050406030204" pitchFamily="18" charset="0"/>
                                      </a:rPr>
                                      <m:t>ln</m:t>
                                    </m:r>
                                    <m:sSub>
                                      <m:sSubPr>
                                        <m:ctrlPr>
                                          <a:rPr lang="zh-CN" altLang="en-US" i="1">
                                            <a:latin typeface="Cambria Math" panose="02040503050406030204" pitchFamily="18" charset="0"/>
                                          </a:rPr>
                                        </m:ctrlPr>
                                      </m:sSubPr>
                                      <m:e>
                                        <m:r>
                                          <a:rPr lang="zh-CN" altLang="en-US" i="1">
                                            <a:latin typeface="Cambria Math" panose="02040503050406030204" pitchFamily="18" charset="0"/>
                                          </a:rPr>
                                          <m:t>𝜋</m:t>
                                        </m:r>
                                      </m:e>
                                      <m:sub>
                                        <m:r>
                                          <a:rPr lang="zh-CN" altLang="en-US" i="1">
                                            <a:latin typeface="Cambria Math" panose="02040503050406030204" pitchFamily="18" charset="0"/>
                                          </a:rPr>
                                          <m:t>𝜃</m:t>
                                        </m:r>
                                      </m:sub>
                                    </m:sSub>
                                    <m:r>
                                      <a:rPr lang="en-US" altLang="zh-CN" i="1">
                                        <a:latin typeface="Cambria Math" panose="02040503050406030204" pitchFamily="18" charset="0"/>
                                      </a:rPr>
                                      <m:t>(</m:t>
                                    </m:r>
                                    <m:r>
                                      <a:rPr lang="en-US" altLang="zh-CN" i="1">
                                        <a:latin typeface="Cambria Math" panose="02040503050406030204" pitchFamily="18" charset="0"/>
                                      </a:rPr>
                                      <m:t>𝑠</m:t>
                                    </m:r>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num>
                                  <m:den>
                                    <m:r>
                                      <a:rPr lang="zh-CN" altLang="en-US" i="1">
                                        <a:latin typeface="Cambria Math" panose="02040503050406030204" pitchFamily="18" charset="0"/>
                                      </a:rPr>
                                      <m:t>𝜕𝜃</m:t>
                                    </m:r>
                                  </m:den>
                                </m:f>
                                <m:r>
                                  <a:rPr lang="en-US" altLang="zh-CN" i="1">
                                    <a:latin typeface="Cambria Math" panose="02040503050406030204" pitchFamily="18" charset="0"/>
                                  </a:rPr>
                                  <m:t>𝑅</m:t>
                                </m:r>
                              </m:e>
                              <m:sub>
                                <m:r>
                                  <a:rPr lang="en-US" altLang="zh-CN" i="1">
                                    <a:latin typeface="Cambria Math" panose="02040503050406030204" pitchFamily="18" charset="0"/>
                                  </a:rPr>
                                  <m:t>𝑠</m:t>
                                </m:r>
                              </m:sub>
                              <m:sup>
                                <m:r>
                                  <a:rPr lang="en-US" altLang="zh-CN" i="1">
                                    <a:latin typeface="Cambria Math" panose="02040503050406030204" pitchFamily="18" charset="0"/>
                                  </a:rPr>
                                  <m:t>𝑎</m:t>
                                </m:r>
                              </m:sup>
                            </m:sSubSup>
                          </m:e>
                        </m:nary>
                      </m:e>
                    </m:nary>
                  </m:oMath>
                </a14:m>
                <a:endParaRPr lang="en-US" altLang="zh-CN" b="0" i="1" dirty="0">
                  <a:latin typeface="Cambria Math" panose="02040503050406030204" pitchFamily="18" charset="0"/>
                </a:endParaRPr>
              </a:p>
              <a:p>
                <a:pPr/>
                <a14:m>
                  <m:oMathPara xmlns:m="http://schemas.openxmlformats.org/officeDocument/2006/math">
                    <m:oMath>
                      <m:r>
                        <a:rPr lang="en-US" altLang="zh-CN"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m:t>
                          </m:r>
                        </m:e>
                        <m: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𝜋</m:t>
                              </m:r>
                            </m:e>
                            <m:sub>
                              <m:r>
                                <a:rPr lang="zh-CN" altLang="en-US" i="1" smtClean="0">
                                  <a:latin typeface="Cambria Math" panose="02040503050406030204" pitchFamily="18" charset="0"/>
                                </a:rPr>
                                <m:t>𝜃</m:t>
                              </m:r>
                            </m:sub>
                          </m:sSub>
                        </m:sub>
                      </m:sSub>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ea typeface="Cambria Math" panose="02040503050406030204" pitchFamily="18" charset="0"/>
                                </a:rPr>
                              </m:ctrlPr>
                            </m:sSubPr>
                            <m:e>
                              <m:r>
                                <m:rPr>
                                  <m:sty m:val="p"/>
                                </m:rPr>
                                <a:rPr lang="en-US" altLang="zh-CN" i="1" smtClean="0">
                                  <a:latin typeface="Cambria Math" panose="02040503050406030204" pitchFamily="18" charset="0"/>
                                  <a:ea typeface="Cambria Math" panose="02040503050406030204" pitchFamily="18" charset="0"/>
                                </a:rPr>
                                <m:t>∇</m:t>
                              </m:r>
                            </m:e>
                            <m:sub>
                              <m:r>
                                <a:rPr lang="zh-CN" altLang="en-US" i="1" smtClean="0">
                                  <a:latin typeface="Cambria Math" panose="02040503050406030204" pitchFamily="18" charset="0"/>
                                </a:rPr>
                                <m:t>𝜃</m:t>
                              </m:r>
                            </m:sub>
                          </m:sSub>
                          <m:r>
                            <a:rPr lang="en-US" altLang="zh-CN" b="0" i="1" smtClean="0">
                              <a:latin typeface="Cambria Math" panose="02040503050406030204" pitchFamily="18" charset="0"/>
                            </a:rPr>
                            <m:t>𝑙𝑛</m:t>
                          </m:r>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𝜋</m:t>
                              </m:r>
                            </m:e>
                            <m:sub>
                              <m:r>
                                <a:rPr lang="zh-CN" altLang="en-US" b="0" i="1" smtClean="0">
                                  <a:latin typeface="Cambria Math" panose="02040503050406030204" pitchFamily="18" charset="0"/>
                                </a:rPr>
                                <m:t>𝜃</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𝑠</m:t>
                              </m:r>
                            </m:sub>
                            <m:sup>
                              <m:r>
                                <a:rPr lang="en-US" altLang="zh-CN" b="0" i="1" smtClean="0">
                                  <a:latin typeface="Cambria Math" panose="02040503050406030204" pitchFamily="18" charset="0"/>
                                </a:rPr>
                                <m:t>𝑎</m:t>
                              </m:r>
                            </m:sup>
                          </m:sSubSup>
                        </m:e>
                      </m:d>
                    </m:oMath>
                  </m:oMathPara>
                </a14:m>
                <a:endParaRPr lang="zh-CN" altLang="en-US" dirty="0">
                  <a:latin typeface="+mn-ea"/>
                </a:endParaRPr>
              </a:p>
            </p:txBody>
          </p:sp>
        </mc:Choice>
        <mc:Fallback xmlns="">
          <p:sp>
            <p:nvSpPr>
              <p:cNvPr id="15" name="文本框 14">
                <a:extLst>
                  <a:ext uri="{FF2B5EF4-FFF2-40B4-BE49-F238E27FC236}">
                    <a16:creationId xmlns:a16="http://schemas.microsoft.com/office/drawing/2014/main" id="{EF4F13A9-BE49-1B9F-D4E3-0E5C84424B25}"/>
                  </a:ext>
                </a:extLst>
              </p:cNvPr>
              <p:cNvSpPr txBox="1">
                <a:spLocks noRot="1" noChangeAspect="1" noMove="1" noResize="1" noEditPoints="1" noAdjustHandles="1" noChangeArrowheads="1" noChangeShapeType="1" noTextEdit="1"/>
              </p:cNvSpPr>
              <p:nvPr/>
            </p:nvSpPr>
            <p:spPr>
              <a:xfrm>
                <a:off x="6520921" y="1301099"/>
                <a:ext cx="5079070" cy="1406219"/>
              </a:xfrm>
              <a:prstGeom prst="rect">
                <a:avLst/>
              </a:prstGeom>
              <a:blipFill>
                <a:blip r:embed="rId7"/>
                <a:stretch>
                  <a:fillRect l="-1080" t="-2165" b="-190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04092BD4-909C-5B9B-17E3-F80CA32A0BF9}"/>
                  </a:ext>
                </a:extLst>
              </p:cNvPr>
              <p:cNvSpPr txBox="1"/>
              <p:nvPr/>
            </p:nvSpPr>
            <p:spPr>
              <a:xfrm>
                <a:off x="6278499" y="2671158"/>
                <a:ext cx="5403592" cy="923330"/>
              </a:xfrm>
              <a:prstGeom prst="rect">
                <a:avLst/>
              </a:prstGeom>
              <a:noFill/>
            </p:spPr>
            <p:txBody>
              <a:bodyPr wrap="square">
                <a:spAutoFit/>
              </a:bodyPr>
              <a:lstStyle/>
              <a:p>
                <a:r>
                  <a:rPr lang="zh-CN" altLang="en-US" sz="1800" b="0" i="0" u="none" strike="noStrike" baseline="0" dirty="0">
                    <a:latin typeface="+mn-ea"/>
                  </a:rPr>
                  <a:t>在上述公式中，需要对期望回报的梯度无偏估计的同时减少它的方差，于是可以在</a:t>
                </a:r>
                <a:r>
                  <a:rPr lang="zh-CN" altLang="en-US" dirty="0">
                    <a:latin typeface="+mn-ea"/>
                  </a:rPr>
                  <a:t>返回值中减去一个基线，记为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r>
                      <a:rPr lang="zh-CN" altLang="en-US" i="1">
                        <a:latin typeface="Cambria Math" panose="02040503050406030204" pitchFamily="18" charset="0"/>
                      </a:rPr>
                      <m:t>，</m:t>
                    </m:r>
                  </m:oMath>
                </a14:m>
                <a:r>
                  <a:rPr lang="zh-CN" altLang="en-US" sz="1800" b="0" i="0" u="none" strike="noStrike" baseline="0" dirty="0">
                    <a:latin typeface="+mn-ea"/>
                  </a:rPr>
                  <a:t>公式如下：</a:t>
                </a:r>
              </a:p>
            </p:txBody>
          </p:sp>
        </mc:Choice>
        <mc:Fallback xmlns="">
          <p:sp>
            <p:nvSpPr>
              <p:cNvPr id="17" name="文本框 16">
                <a:extLst>
                  <a:ext uri="{FF2B5EF4-FFF2-40B4-BE49-F238E27FC236}">
                    <a16:creationId xmlns:a16="http://schemas.microsoft.com/office/drawing/2014/main" id="{04092BD4-909C-5B9B-17E3-F80CA32A0BF9}"/>
                  </a:ext>
                </a:extLst>
              </p:cNvPr>
              <p:cNvSpPr txBox="1">
                <a:spLocks noRot="1" noChangeAspect="1" noMove="1" noResize="1" noEditPoints="1" noAdjustHandles="1" noChangeArrowheads="1" noChangeShapeType="1" noTextEdit="1"/>
              </p:cNvSpPr>
              <p:nvPr/>
            </p:nvSpPr>
            <p:spPr>
              <a:xfrm>
                <a:off x="6278499" y="2671158"/>
                <a:ext cx="5403592" cy="923330"/>
              </a:xfrm>
              <a:prstGeom prst="rect">
                <a:avLst/>
              </a:prstGeom>
              <a:blipFill>
                <a:blip r:embed="rId8"/>
                <a:stretch>
                  <a:fillRect l="-1016" t="-3289" b="-9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72346CC6-F701-D288-FF5C-33EA8286C91E}"/>
                  </a:ext>
                </a:extLst>
              </p:cNvPr>
              <p:cNvSpPr txBox="1"/>
              <p:nvPr/>
            </p:nvSpPr>
            <p:spPr>
              <a:xfrm>
                <a:off x="5422232" y="3594488"/>
                <a:ext cx="6383612" cy="398314"/>
              </a:xfrm>
              <a:prstGeom prst="rect">
                <a:avLst/>
              </a:prstGeom>
              <a:noFill/>
            </p:spPr>
            <p:txBody>
              <a:bodyPr wrap="square">
                <a:spAutoFit/>
              </a:bodyPr>
              <a:lstStyle/>
              <a:p>
                <a:pPr/>
                <a14:m>
                  <m:oMathPara xmlns:m="http://schemas.openxmlformats.org/officeDocument/2006/math">
                    <m:oMath>
                      <m:sSub>
                        <m:sSubPr>
                          <m:ctrlPr>
                            <a:rPr lang="en-US" altLang="zh-CN" i="1">
                              <a:latin typeface="Cambria Math" panose="02040503050406030204" pitchFamily="18" charset="0"/>
                              <a:ea typeface="Cambria Math" panose="02040503050406030204" pitchFamily="18" charset="0"/>
                            </a:rPr>
                          </m:ctrlPr>
                        </m:sSubPr>
                        <m:e>
                          <m:r>
                            <m:rPr>
                              <m:sty m:val="p"/>
                            </m:rPr>
                            <a:rPr lang="en-US" altLang="zh-CN" i="1">
                              <a:latin typeface="Cambria Math" panose="02040503050406030204" pitchFamily="18" charset="0"/>
                              <a:ea typeface="Cambria Math" panose="02040503050406030204" pitchFamily="18" charset="0"/>
                            </a:rPr>
                            <m:t>∇</m:t>
                          </m:r>
                        </m:e>
                        <m:sub>
                          <m:r>
                            <a:rPr lang="zh-CN" altLang="en-US" i="1">
                              <a:latin typeface="Cambria Math" panose="02040503050406030204" pitchFamily="18" charset="0"/>
                            </a:rPr>
                            <m:t>𝜃</m:t>
                          </m:r>
                        </m:sub>
                      </m:sSub>
                      <m:r>
                        <a:rPr lang="zh-CN" altLang="en-US" i="1">
                          <a:latin typeface="Cambria Math" panose="02040503050406030204" pitchFamily="18" charset="0"/>
                        </a:rPr>
                        <m:t>𝜌</m:t>
                      </m:r>
                      <m:d>
                        <m:dPr>
                          <m:ctrlPr>
                            <a:rPr lang="zh-CN" altLang="en-US" i="1">
                              <a:latin typeface="Cambria Math" panose="02040503050406030204" pitchFamily="18" charset="0"/>
                            </a:rPr>
                          </m:ctrlPr>
                        </m:dPr>
                        <m:e>
                          <m:r>
                            <a:rPr lang="zh-CN" altLang="en-US" i="1">
                              <a:latin typeface="Cambria Math" panose="02040503050406030204" pitchFamily="18" charset="0"/>
                            </a:rPr>
                            <m:t>𝜋</m:t>
                          </m:r>
                        </m:e>
                      </m:d>
                      <m:r>
                        <a:rPr lang="en-US" altLang="zh-CN"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m:t>
                          </m:r>
                        </m:e>
                        <m: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𝜋</m:t>
                              </m:r>
                            </m:e>
                            <m:sub>
                              <m:r>
                                <a:rPr lang="zh-CN" altLang="en-US" i="1" smtClean="0">
                                  <a:latin typeface="Cambria Math" panose="02040503050406030204" pitchFamily="18" charset="0"/>
                                </a:rPr>
                                <m:t>𝜃</m:t>
                              </m:r>
                            </m:sub>
                          </m:sSub>
                        </m:sub>
                      </m:sSub>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ea typeface="Cambria Math" panose="02040503050406030204" pitchFamily="18" charset="0"/>
                                </a:rPr>
                              </m:ctrlPr>
                            </m:sSubPr>
                            <m:e>
                              <m:r>
                                <m:rPr>
                                  <m:sty m:val="p"/>
                                </m:rPr>
                                <a:rPr lang="en-US" altLang="zh-CN" i="1" smtClean="0">
                                  <a:latin typeface="Cambria Math" panose="02040503050406030204" pitchFamily="18" charset="0"/>
                                  <a:ea typeface="Cambria Math" panose="02040503050406030204" pitchFamily="18" charset="0"/>
                                </a:rPr>
                                <m:t>∇</m:t>
                              </m:r>
                            </m:e>
                            <m:sub>
                              <m:r>
                                <a:rPr lang="zh-CN" altLang="en-US" i="1" smtClean="0">
                                  <a:latin typeface="Cambria Math" panose="02040503050406030204" pitchFamily="18" charset="0"/>
                                </a:rPr>
                                <m:t>𝜃</m:t>
                              </m:r>
                            </m:sub>
                          </m:sSub>
                          <m:r>
                            <a:rPr lang="en-US" altLang="zh-CN" b="0" i="1" smtClean="0">
                              <a:latin typeface="Cambria Math" panose="02040503050406030204" pitchFamily="18" charset="0"/>
                            </a:rPr>
                            <m:t>𝑙𝑛</m:t>
                          </m:r>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𝜋</m:t>
                              </m:r>
                            </m:e>
                            <m:sub>
                              <m:r>
                                <a:rPr lang="zh-CN" altLang="en-US" b="0" i="1" smtClean="0">
                                  <a:latin typeface="Cambria Math" panose="02040503050406030204" pitchFamily="18" charset="0"/>
                                </a:rPr>
                                <m:t>𝜃</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e>
                          </m:d>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m:t>
                              </m:r>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𝑠</m:t>
                              </m:r>
                            </m:sub>
                            <m:sup>
                              <m:r>
                                <a:rPr lang="en-US" altLang="zh-CN" b="0" i="1" smtClean="0">
                                  <a:latin typeface="Cambria Math" panose="02040503050406030204" pitchFamily="18" charset="0"/>
                                </a:rPr>
                                <m:t>𝑎</m:t>
                              </m:r>
                            </m:sup>
                          </m:sSubSup>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𝑡</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i="1">
                              <a:latin typeface="Cambria Math" panose="02040503050406030204" pitchFamily="18" charset="0"/>
                            </a:rPr>
                            <m:t>)</m:t>
                          </m:r>
                          <m:r>
                            <a:rPr lang="en-US" altLang="zh-CN" b="0" i="1" smtClean="0">
                              <a:latin typeface="Cambria Math" panose="02040503050406030204" pitchFamily="18" charset="0"/>
                            </a:rPr>
                            <m:t>)</m:t>
                          </m:r>
                        </m:e>
                      </m:d>
                    </m:oMath>
                  </m:oMathPara>
                </a14:m>
                <a:endParaRPr lang="zh-CN" altLang="en-US" dirty="0">
                  <a:latin typeface="+mn-ea"/>
                </a:endParaRPr>
              </a:p>
            </p:txBody>
          </p:sp>
        </mc:Choice>
        <mc:Fallback xmlns="">
          <p:sp>
            <p:nvSpPr>
              <p:cNvPr id="20" name="文本框 19">
                <a:extLst>
                  <a:ext uri="{FF2B5EF4-FFF2-40B4-BE49-F238E27FC236}">
                    <a16:creationId xmlns:a16="http://schemas.microsoft.com/office/drawing/2014/main" id="{72346CC6-F701-D288-FF5C-33EA8286C91E}"/>
                  </a:ext>
                </a:extLst>
              </p:cNvPr>
              <p:cNvSpPr txBox="1">
                <a:spLocks noRot="1" noChangeAspect="1" noMove="1" noResize="1" noEditPoints="1" noAdjustHandles="1" noChangeArrowheads="1" noChangeShapeType="1" noTextEdit="1"/>
              </p:cNvSpPr>
              <p:nvPr/>
            </p:nvSpPr>
            <p:spPr>
              <a:xfrm>
                <a:off x="5422232" y="3594488"/>
                <a:ext cx="6383612" cy="398314"/>
              </a:xfrm>
              <a:prstGeom prst="rect">
                <a:avLst/>
              </a:prstGeom>
              <a:blipFill>
                <a:blip r:embed="rId9"/>
                <a:stretch>
                  <a:fillRect b="-61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91DCE869-2617-1FE0-9D79-F92DCB9CB198}"/>
                  </a:ext>
                </a:extLst>
              </p:cNvPr>
              <p:cNvSpPr txBox="1"/>
              <p:nvPr/>
            </p:nvSpPr>
            <p:spPr>
              <a:xfrm>
                <a:off x="6240995" y="4069544"/>
                <a:ext cx="5286397" cy="2031390"/>
              </a:xfrm>
              <a:prstGeom prst="rect">
                <a:avLst/>
              </a:prstGeom>
              <a:noFill/>
            </p:spPr>
            <p:txBody>
              <a:bodyPr wrap="square">
                <a:spAutoFit/>
              </a:bodyPr>
              <a:lstStyle/>
              <a:p>
                <a:r>
                  <a:rPr lang="zh-CN" altLang="en-US" sz="1800" b="0" i="0" u="none" strike="noStrike" baseline="0" dirty="0">
                    <a:latin typeface="+mn-ea"/>
                  </a:rPr>
                  <a:t>在训练过程中，评价网络会根据上述的梯度估计对策略网络输出的动作进行评价，式中，</a:t>
                </a:r>
                <a:r>
                  <a:rPr lang="zh-CN" altLang="en-US" dirty="0">
                    <a:latin typeface="+mn-ea"/>
                  </a:rPr>
                  <a:t>基线</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𝑡</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i="1">
                        <a:latin typeface="Cambria Math" panose="02040503050406030204" pitchFamily="18" charset="0"/>
                      </a:rPr>
                      <m:t>)</m:t>
                    </m:r>
                  </m:oMath>
                </a14:m>
                <a:r>
                  <a:rPr lang="zh-CN" altLang="en-US" dirty="0">
                    <a:latin typeface="+mn-ea"/>
                  </a:rPr>
                  <a:t>可被估计为当前策略下的状态值记为</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𝑉</m:t>
                        </m:r>
                      </m:e>
                      <m:sup>
                        <m:r>
                          <a:rPr lang="zh-CN" altLang="en-US" i="1" smtClean="0">
                            <a:latin typeface="Cambria Math" panose="02040503050406030204" pitchFamily="18" charset="0"/>
                          </a:rPr>
                          <m:t>𝜋</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oMath>
                </a14:m>
                <a:r>
                  <a:rPr lang="zh-CN" altLang="en-US" dirty="0">
                    <a:latin typeface="+mn-ea"/>
                  </a:rPr>
                  <a:t>同时</a:t>
                </a:r>
                <a14:m>
                  <m:oMath xmlns:m="http://schemas.openxmlformats.org/officeDocument/2006/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𝑅</m:t>
                        </m:r>
                      </m:e>
                      <m:sub>
                        <m:r>
                          <a:rPr lang="en-US" altLang="zh-CN" b="0" i="1" dirty="0" smtClean="0">
                            <a:latin typeface="Cambria Math" panose="02040503050406030204" pitchFamily="18" charset="0"/>
                          </a:rPr>
                          <m:t>𝑠</m:t>
                        </m:r>
                      </m:sub>
                      <m:sup>
                        <m:r>
                          <a:rPr lang="en-US" altLang="zh-CN" b="0" i="1" dirty="0" smtClean="0">
                            <a:latin typeface="Cambria Math" panose="02040503050406030204" pitchFamily="18" charset="0"/>
                          </a:rPr>
                          <m:t>𝑎</m:t>
                        </m:r>
                      </m:sup>
                    </m:sSubSup>
                    <m:r>
                      <a:rPr lang="en-US" altLang="zh-CN" b="0" i="1" dirty="0"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𝑡</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i="1">
                        <a:latin typeface="Cambria Math" panose="02040503050406030204" pitchFamily="18" charset="0"/>
                      </a:rPr>
                      <m:t>)</m:t>
                    </m:r>
                    <m:r>
                      <a:rPr lang="zh-CN" altLang="en-US" i="1">
                        <a:latin typeface="Cambria Math" panose="02040503050406030204" pitchFamily="18" charset="0"/>
                      </a:rPr>
                      <m:t>可以看作是</m:t>
                    </m:r>
                  </m:oMath>
                </a14:m>
                <a:r>
                  <a:rPr lang="zh-CN" altLang="en-US" dirty="0">
                    <a:latin typeface="+mn-ea"/>
                  </a:rPr>
                  <a:t>状态</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zh-CN" altLang="en-US" i="1">
                        <a:latin typeface="Cambria Math" panose="02040503050406030204" pitchFamily="18" charset="0"/>
                      </a:rPr>
                      <m:t>下</m:t>
                    </m:r>
                  </m:oMath>
                </a14:m>
                <a:r>
                  <a:rPr lang="zh-CN" altLang="en-US" dirty="0">
                    <a:latin typeface="+mn-ea"/>
                  </a:rPr>
                  <a:t>动作为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𝑡</m:t>
                        </m:r>
                      </m:sub>
                    </m:sSub>
                    <m:r>
                      <a:rPr lang="zh-CN" altLang="en-US" i="1">
                        <a:latin typeface="Cambria Math" panose="02040503050406030204" pitchFamily="18" charset="0"/>
                      </a:rPr>
                      <m:t>的</m:t>
                    </m:r>
                  </m:oMath>
                </a14:m>
                <a:r>
                  <a:rPr lang="zh-CN" altLang="en-US" dirty="0">
                    <a:latin typeface="+mn-ea"/>
                  </a:rPr>
                  <a:t>优势估计，由于</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𝑄</m:t>
                        </m:r>
                      </m:e>
                      <m:sup>
                        <m:r>
                          <a:rPr lang="zh-CN" altLang="en-US" i="1" smtClean="0">
                            <a:latin typeface="Cambria Math" panose="02040503050406030204" pitchFamily="18" charset="0"/>
                          </a:rPr>
                          <m:t>𝜋</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)数值</m:t>
                    </m:r>
                  </m:oMath>
                </a14:m>
                <a:r>
                  <a:rPr lang="zh-CN" altLang="en-US" dirty="0">
                    <a:latin typeface="+mn-ea"/>
                  </a:rPr>
                  <a:t>上等于</a:t>
                </a:r>
                <a14:m>
                  <m:oMath xmlns:m="http://schemas.openxmlformats.org/officeDocument/2006/math">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𝑅</m:t>
                        </m:r>
                      </m:e>
                      <m:sub>
                        <m:r>
                          <a:rPr lang="en-US" altLang="zh-CN" i="1" dirty="0">
                            <a:latin typeface="Cambria Math" panose="02040503050406030204" pitchFamily="18" charset="0"/>
                          </a:rPr>
                          <m:t>𝑠</m:t>
                        </m:r>
                      </m:sub>
                      <m:sup>
                        <m:r>
                          <a:rPr lang="en-US" altLang="zh-CN" i="1" dirty="0">
                            <a:latin typeface="Cambria Math" panose="02040503050406030204" pitchFamily="18" charset="0"/>
                          </a:rPr>
                          <m:t>𝑎</m:t>
                        </m:r>
                      </m:sup>
                    </m:sSubSup>
                    <m:r>
                      <a:rPr lang="zh-CN" altLang="en-US" i="1" dirty="0" smtClean="0">
                        <a:latin typeface="Cambria Math" panose="02040503050406030204" pitchFamily="18" charset="0"/>
                      </a:rPr>
                      <m:t>，</m:t>
                    </m:r>
                  </m:oMath>
                </a14:m>
                <a:r>
                  <a:rPr lang="zh-CN" altLang="en-US" dirty="0">
                    <a:latin typeface="+mn-ea"/>
                  </a:rPr>
                  <a:t>因此定义优势函数</a:t>
                </a:r>
                <a14:m>
                  <m:oMath xmlns:m="http://schemas.openxmlformats.org/officeDocument/2006/math">
                    <m:r>
                      <a:rPr lang="en-US" altLang="zh-CN" b="0" i="1" smtClean="0">
                        <a:latin typeface="Cambria Math" panose="02040503050406030204" pitchFamily="18" charset="0"/>
                      </a:rPr>
                      <m:t>𝐴</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𝑡</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𝑄</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𝑡</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𝑉</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e>
                    </m:d>
                    <m:r>
                      <a:rPr lang="zh-CN" altLang="en-US" i="1">
                        <a:latin typeface="Cambria Math" panose="02040503050406030204" pitchFamily="18" charset="0"/>
                      </a:rPr>
                      <m:t>，</m:t>
                    </m:r>
                  </m:oMath>
                </a14:m>
                <a:r>
                  <a:rPr lang="zh-CN" altLang="en-US" dirty="0">
                    <a:latin typeface="+mn-ea"/>
                  </a:rPr>
                  <a:t>则梯度估计改写成：</a:t>
                </a:r>
                <a:endParaRPr lang="en-US" altLang="zh-CN" dirty="0">
                  <a:latin typeface="+mn-ea"/>
                </a:endParaRPr>
              </a:p>
              <a:p>
                <a:endParaRPr lang="en-US" altLang="zh-CN" dirty="0">
                  <a:latin typeface="+mn-ea"/>
                </a:endParaRPr>
              </a:p>
            </p:txBody>
          </p:sp>
        </mc:Choice>
        <mc:Fallback xmlns="">
          <p:sp>
            <p:nvSpPr>
              <p:cNvPr id="25" name="文本框 24">
                <a:extLst>
                  <a:ext uri="{FF2B5EF4-FFF2-40B4-BE49-F238E27FC236}">
                    <a16:creationId xmlns:a16="http://schemas.microsoft.com/office/drawing/2014/main" id="{91DCE869-2617-1FE0-9D79-F92DCB9CB198}"/>
                  </a:ext>
                </a:extLst>
              </p:cNvPr>
              <p:cNvSpPr txBox="1">
                <a:spLocks noRot="1" noChangeAspect="1" noMove="1" noResize="1" noEditPoints="1" noAdjustHandles="1" noChangeArrowheads="1" noChangeShapeType="1" noTextEdit="1"/>
              </p:cNvSpPr>
              <p:nvPr/>
            </p:nvSpPr>
            <p:spPr>
              <a:xfrm>
                <a:off x="6240995" y="4069544"/>
                <a:ext cx="5286397" cy="2031390"/>
              </a:xfrm>
              <a:prstGeom prst="rect">
                <a:avLst/>
              </a:prstGeom>
              <a:blipFill>
                <a:blip r:embed="rId10"/>
                <a:stretch>
                  <a:fillRect l="-1038" t="-1802" r="-51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9B07F244-3A3C-35BC-477B-918A9549E58F}"/>
                  </a:ext>
                </a:extLst>
              </p:cNvPr>
              <p:cNvSpPr txBox="1"/>
              <p:nvPr/>
            </p:nvSpPr>
            <p:spPr>
              <a:xfrm>
                <a:off x="5484874" y="5890951"/>
                <a:ext cx="6383612" cy="398314"/>
              </a:xfrm>
              <a:prstGeom prst="rect">
                <a:avLst/>
              </a:prstGeom>
              <a:noFill/>
            </p:spPr>
            <p:txBody>
              <a:bodyPr wrap="square">
                <a:spAutoFit/>
              </a:bodyPr>
              <a:lstStyle/>
              <a:p>
                <a:pPr/>
                <a14:m>
                  <m:oMathPara xmlns:m="http://schemas.openxmlformats.org/officeDocument/2006/math">
                    <m:oMath>
                      <m:sSub>
                        <m:sSubPr>
                          <m:ctrlPr>
                            <a:rPr lang="en-US" altLang="zh-CN" i="1">
                              <a:latin typeface="Cambria Math" panose="02040503050406030204" pitchFamily="18" charset="0"/>
                              <a:ea typeface="Cambria Math" panose="02040503050406030204" pitchFamily="18" charset="0"/>
                            </a:rPr>
                          </m:ctrlPr>
                        </m:sSubPr>
                        <m:e>
                          <m:r>
                            <m:rPr>
                              <m:sty m:val="p"/>
                            </m:rPr>
                            <a:rPr lang="en-US" altLang="zh-CN" i="1">
                              <a:latin typeface="Cambria Math" panose="02040503050406030204" pitchFamily="18" charset="0"/>
                              <a:ea typeface="Cambria Math" panose="02040503050406030204" pitchFamily="18" charset="0"/>
                            </a:rPr>
                            <m:t>∇</m:t>
                          </m:r>
                        </m:e>
                        <m:sub>
                          <m:r>
                            <a:rPr lang="zh-CN" altLang="en-US" i="1">
                              <a:latin typeface="Cambria Math" panose="02040503050406030204" pitchFamily="18" charset="0"/>
                            </a:rPr>
                            <m:t>𝜃</m:t>
                          </m:r>
                        </m:sub>
                      </m:sSub>
                      <m:r>
                        <a:rPr lang="zh-CN" altLang="en-US" i="1">
                          <a:latin typeface="Cambria Math" panose="02040503050406030204" pitchFamily="18" charset="0"/>
                        </a:rPr>
                        <m:t>𝜌</m:t>
                      </m:r>
                      <m:d>
                        <m:dPr>
                          <m:ctrlPr>
                            <a:rPr lang="zh-CN" altLang="en-US" i="1">
                              <a:latin typeface="Cambria Math" panose="02040503050406030204" pitchFamily="18" charset="0"/>
                            </a:rPr>
                          </m:ctrlPr>
                        </m:dPr>
                        <m:e>
                          <m:r>
                            <a:rPr lang="zh-CN" altLang="en-US" i="1">
                              <a:latin typeface="Cambria Math" panose="02040503050406030204" pitchFamily="18" charset="0"/>
                            </a:rPr>
                            <m:t>𝜋</m:t>
                          </m:r>
                        </m:e>
                      </m:d>
                      <m:r>
                        <a:rPr lang="en-US" altLang="zh-CN"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m:t>
                          </m:r>
                        </m:e>
                        <m: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𝜋</m:t>
                              </m:r>
                            </m:e>
                            <m:sub>
                              <m:r>
                                <a:rPr lang="zh-CN" altLang="en-US" i="1" smtClean="0">
                                  <a:latin typeface="Cambria Math" panose="02040503050406030204" pitchFamily="18" charset="0"/>
                                </a:rPr>
                                <m:t>𝜃</m:t>
                              </m:r>
                            </m:sub>
                          </m:sSub>
                        </m:sub>
                      </m:sSub>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ea typeface="Cambria Math" panose="02040503050406030204" pitchFamily="18" charset="0"/>
                                </a:rPr>
                              </m:ctrlPr>
                            </m:sSubPr>
                            <m:e>
                              <m:r>
                                <m:rPr>
                                  <m:sty m:val="p"/>
                                </m:rPr>
                                <a:rPr lang="en-US" altLang="zh-CN" i="1" smtClean="0">
                                  <a:latin typeface="Cambria Math" panose="02040503050406030204" pitchFamily="18" charset="0"/>
                                  <a:ea typeface="Cambria Math" panose="02040503050406030204" pitchFamily="18" charset="0"/>
                                </a:rPr>
                                <m:t>∇</m:t>
                              </m:r>
                            </m:e>
                            <m:sub>
                              <m:r>
                                <a:rPr lang="zh-CN" altLang="en-US" i="1" smtClean="0">
                                  <a:latin typeface="Cambria Math" panose="02040503050406030204" pitchFamily="18" charset="0"/>
                                </a:rPr>
                                <m:t>𝜃</m:t>
                              </m:r>
                            </m:sub>
                          </m:sSub>
                          <m:r>
                            <a:rPr lang="en-US" altLang="zh-CN" b="0" i="1" smtClean="0">
                              <a:latin typeface="Cambria Math" panose="02040503050406030204" pitchFamily="18" charset="0"/>
                            </a:rPr>
                            <m:t>𝑙𝑛</m:t>
                          </m:r>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𝜋</m:t>
                              </m:r>
                            </m:e>
                            <m:sub>
                              <m:r>
                                <a:rPr lang="zh-CN" altLang="en-US" b="0" i="1" smtClean="0">
                                  <a:latin typeface="Cambria Math" panose="02040503050406030204" pitchFamily="18" charset="0"/>
                                </a:rPr>
                                <m:t>𝜃</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e>
                          </m:d>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𝑄</m:t>
                              </m:r>
                            </m:e>
                            <m:sup>
                              <m:r>
                                <a:rPr lang="zh-CN" altLang="en-US" i="1">
                                  <a:latin typeface="Cambria Math" panose="02040503050406030204" pitchFamily="18" charset="0"/>
                                </a:rPr>
                                <m:t>𝜋</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𝑠</m:t>
                              </m:r>
                              <m:r>
                                <a:rPr lang="en-US" altLang="zh-CN" i="1">
                                  <a:latin typeface="Cambria Math" panose="02040503050406030204" pitchFamily="18" charset="0"/>
                                </a:rPr>
                                <m:t>,</m:t>
                              </m:r>
                              <m:r>
                                <a:rPr lang="en-US" altLang="zh-CN" i="1">
                                  <a:latin typeface="Cambria Math" panose="02040503050406030204" pitchFamily="18" charset="0"/>
                                </a:rPr>
                                <m:t>𝑎</m:t>
                              </m:r>
                            </m:e>
                          </m:d>
                          <m:r>
                            <a:rPr lang="en-US" altLang="zh-CN" b="0" i="1" smtClean="0">
                              <a:latin typeface="Cambria Math" panose="02040503050406030204" pitchFamily="18" charset="0"/>
                            </a:rPr>
                            <m:t>−</m:t>
                          </m:r>
                          <m:r>
                            <a:rPr lang="en-US" altLang="zh-CN" i="1">
                              <a:latin typeface="Cambria Math" panose="02040503050406030204" pitchFamily="18" charset="0"/>
                            </a:rPr>
                            <m:t>𝑉</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e>
                          </m:d>
                          <m:r>
                            <a:rPr lang="en-US" altLang="zh-CN" b="0" i="1" smtClean="0">
                              <a:latin typeface="Cambria Math" panose="02040503050406030204" pitchFamily="18" charset="0"/>
                            </a:rPr>
                            <m:t>)</m:t>
                          </m:r>
                        </m:e>
                      </m:d>
                    </m:oMath>
                  </m:oMathPara>
                </a14:m>
                <a:endParaRPr lang="zh-CN" altLang="en-US" dirty="0">
                  <a:latin typeface="+mn-ea"/>
                </a:endParaRPr>
              </a:p>
            </p:txBody>
          </p:sp>
        </mc:Choice>
        <mc:Fallback xmlns="">
          <p:sp>
            <p:nvSpPr>
              <p:cNvPr id="27" name="文本框 26">
                <a:extLst>
                  <a:ext uri="{FF2B5EF4-FFF2-40B4-BE49-F238E27FC236}">
                    <a16:creationId xmlns:a16="http://schemas.microsoft.com/office/drawing/2014/main" id="{9B07F244-3A3C-35BC-477B-918A9549E58F}"/>
                  </a:ext>
                </a:extLst>
              </p:cNvPr>
              <p:cNvSpPr txBox="1">
                <a:spLocks noRot="1" noChangeAspect="1" noMove="1" noResize="1" noEditPoints="1" noAdjustHandles="1" noChangeArrowheads="1" noChangeShapeType="1" noTextEdit="1"/>
              </p:cNvSpPr>
              <p:nvPr/>
            </p:nvSpPr>
            <p:spPr>
              <a:xfrm>
                <a:off x="5484874" y="5890951"/>
                <a:ext cx="6383612" cy="398314"/>
              </a:xfrm>
              <a:prstGeom prst="rect">
                <a:avLst/>
              </a:prstGeom>
              <a:blipFill>
                <a:blip r:embed="rId11"/>
                <a:stretch>
                  <a:fillRect b="-60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327621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6CBDC-FA4C-36BC-6D91-E711C3669B50}"/>
            </a:ext>
          </a:extLst>
        </p:cNvPr>
        <p:cNvGrpSpPr/>
        <p:nvPr/>
      </p:nvGrpSpPr>
      <p:grpSpPr>
        <a:xfrm>
          <a:off x="0" y="0"/>
          <a:ext cx="0" cy="0"/>
          <a:chOff x="0" y="0"/>
          <a:chExt cx="0" cy="0"/>
        </a:xfrm>
      </p:grpSpPr>
      <p:grpSp>
        <p:nvGrpSpPr>
          <p:cNvPr id="103" name="组合 102">
            <a:extLst>
              <a:ext uri="{FF2B5EF4-FFF2-40B4-BE49-F238E27FC236}">
                <a16:creationId xmlns:a16="http://schemas.microsoft.com/office/drawing/2014/main" id="{F7EBF974-80BB-8E72-E98A-EFFF6CCC6522}"/>
              </a:ext>
            </a:extLst>
          </p:cNvPr>
          <p:cNvGrpSpPr/>
          <p:nvPr/>
        </p:nvGrpSpPr>
        <p:grpSpPr>
          <a:xfrm>
            <a:off x="0" y="939798"/>
            <a:ext cx="6095999" cy="912902"/>
            <a:chOff x="0" y="1075267"/>
            <a:chExt cx="6095999" cy="912902"/>
          </a:xfrm>
        </p:grpSpPr>
        <p:sp>
          <p:nvSpPr>
            <p:cNvPr id="104" name="矩形 103">
              <a:extLst>
                <a:ext uri="{FF2B5EF4-FFF2-40B4-BE49-F238E27FC236}">
                  <a16:creationId xmlns:a16="http://schemas.microsoft.com/office/drawing/2014/main" id="{D7169EBB-C87C-7BA9-4FFE-A1A80DF98794}"/>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a:extLst>
                <a:ext uri="{FF2B5EF4-FFF2-40B4-BE49-F238E27FC236}">
                  <a16:creationId xmlns:a16="http://schemas.microsoft.com/office/drawing/2014/main" id="{0B40CE19-C027-69C2-A8F5-BD7D16A735A3}"/>
                </a:ext>
              </a:extLst>
            </p:cNvPr>
            <p:cNvSpPr txBox="1"/>
            <p:nvPr/>
          </p:nvSpPr>
          <p:spPr>
            <a:xfrm>
              <a:off x="270932" y="1157172"/>
              <a:ext cx="5825067" cy="830997"/>
            </a:xfrm>
            <a:prstGeom prst="rect">
              <a:avLst/>
            </a:prstGeom>
            <a:noFill/>
          </p:spPr>
          <p:txBody>
            <a:bodyPr wrap="square">
              <a:spAutoFit/>
            </a:bodyPr>
            <a:lstStyle/>
            <a:p>
              <a:r>
                <a:rPr lang="en-US" altLang="zh-CN" sz="2400" b="1" dirty="0">
                  <a:solidFill>
                    <a:schemeClr val="accent1"/>
                  </a:solidFill>
                </a:rPr>
                <a:t>5.4.2 </a:t>
              </a:r>
              <a:r>
                <a:rPr lang="zh-CN" altLang="en-US" sz="2400" b="1" dirty="0">
                  <a:solidFill>
                    <a:schemeClr val="accent1"/>
                  </a:solidFill>
                </a:rPr>
                <a:t>基于策略梯度的强化学习导航</a:t>
              </a:r>
            </a:p>
            <a:p>
              <a:endParaRPr lang="zh-CN" altLang="en-US" sz="2400" b="1" dirty="0">
                <a:solidFill>
                  <a:schemeClr val="accent1"/>
                </a:solidFill>
                <a:latin typeface="+mj-lt"/>
              </a:endParaRPr>
            </a:p>
          </p:txBody>
        </p:sp>
      </p:gr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E13FC058-2172-2772-9558-F9A6C355890F}"/>
                  </a:ext>
                </a:extLst>
              </p:cNvPr>
              <p:cNvSpPr txBox="1"/>
              <p:nvPr/>
            </p:nvSpPr>
            <p:spPr>
              <a:xfrm>
                <a:off x="6095999" y="1351379"/>
                <a:ext cx="5361474" cy="1754583"/>
              </a:xfrm>
              <a:prstGeom prst="rect">
                <a:avLst/>
              </a:prstGeom>
              <a:noFill/>
            </p:spPr>
            <p:txBody>
              <a:bodyPr wrap="square">
                <a:spAutoFit/>
              </a:bodyPr>
              <a:lstStyle/>
              <a:p>
                <a:r>
                  <a:rPr lang="zh-CN" altLang="en-US" dirty="0"/>
                  <a:t>每次迭代中，演员网络会记录一个经验：</a:t>
                </a:r>
                <a:endParaRPr lang="en-US" altLang="zh-CN" dirty="0"/>
              </a:p>
              <a:p>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𝑉</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𝑙𝑜𝑔𝑃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r>
                      <a:rPr lang="zh-CN" altLang="en-US" i="1">
                        <a:latin typeface="Cambria Math" panose="02040503050406030204" pitchFamily="18" charset="0"/>
                      </a:rPr>
                      <m:t>在</m:t>
                    </m:r>
                  </m:oMath>
                </a14:m>
                <a:r>
                  <a:rPr lang="zh-CN" altLang="en-US" dirty="0"/>
                  <a:t>经验池中，同时计算优势值</a:t>
                </a:r>
                <a14:m>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r>
                      <a:rPr lang="zh-CN" altLang="en-US" i="1">
                        <a:latin typeface="Cambria Math" panose="02040503050406030204" pitchFamily="18" charset="0"/>
                      </a:rPr>
                      <m:t>，</m:t>
                    </m:r>
                  </m:oMath>
                </a14:m>
                <a:r>
                  <a:rPr lang="zh-CN" altLang="en-US" dirty="0"/>
                  <a:t>并一同放入经验池。经验池的设计方便计算任一轨迹上状态的累计折扣回报和优势函数。</a:t>
                </a:r>
                <a:endParaRPr lang="en-US" altLang="zh-CN" dirty="0"/>
              </a:p>
              <a:p>
                <a:endParaRPr lang="en-US" altLang="zh-CN" dirty="0"/>
              </a:p>
            </p:txBody>
          </p:sp>
        </mc:Choice>
        <mc:Fallback xmlns="">
          <p:sp>
            <p:nvSpPr>
              <p:cNvPr id="21" name="文本框 20">
                <a:extLst>
                  <a:ext uri="{FF2B5EF4-FFF2-40B4-BE49-F238E27FC236}">
                    <a16:creationId xmlns:a16="http://schemas.microsoft.com/office/drawing/2014/main" id="{E13FC058-2172-2772-9558-F9A6C355890F}"/>
                  </a:ext>
                </a:extLst>
              </p:cNvPr>
              <p:cNvSpPr txBox="1">
                <a:spLocks noRot="1" noChangeAspect="1" noMove="1" noResize="1" noEditPoints="1" noAdjustHandles="1" noChangeArrowheads="1" noChangeShapeType="1" noTextEdit="1"/>
              </p:cNvSpPr>
              <p:nvPr/>
            </p:nvSpPr>
            <p:spPr>
              <a:xfrm>
                <a:off x="6095999" y="1351379"/>
                <a:ext cx="5361474" cy="1754583"/>
              </a:xfrm>
              <a:prstGeom prst="rect">
                <a:avLst/>
              </a:prstGeom>
              <a:blipFill>
                <a:blip r:embed="rId3"/>
                <a:stretch>
                  <a:fillRect l="-909" t="-2083" r="-7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0805B01-248B-3CB3-5A06-C01FB36422AF}"/>
                  </a:ext>
                </a:extLst>
              </p:cNvPr>
              <p:cNvSpPr txBox="1"/>
              <p:nvPr/>
            </p:nvSpPr>
            <p:spPr>
              <a:xfrm>
                <a:off x="489147" y="4170325"/>
                <a:ext cx="4291159" cy="1200329"/>
              </a:xfrm>
              <a:prstGeom prst="rect">
                <a:avLst/>
              </a:prstGeom>
              <a:noFill/>
            </p:spPr>
            <p:txBody>
              <a:bodyPr wrap="square">
                <a:spAutoFit/>
              </a:bodyPr>
              <a:lstStyle/>
              <a:p>
                <a:r>
                  <a:rPr lang="en-US" altLang="zh-CN" dirty="0">
                    <a:latin typeface="+mn-ea"/>
                  </a:rPr>
                  <a:t>Actor</a:t>
                </a:r>
                <a:r>
                  <a:rPr lang="zh-CN" altLang="en-US" sz="1800" b="0" i="0" u="none" strike="noStrike" baseline="0" dirty="0">
                    <a:latin typeface="+mn-ea"/>
                  </a:rPr>
                  <a:t>网络以机器人的状态作为输入，输出为执行某一动作的概率分布参数记</a:t>
                </a:r>
                <a:r>
                  <a:rPr lang="zh-CN" altLang="en-US" dirty="0">
                    <a:latin typeface="+mn-ea"/>
                  </a:rPr>
                  <a:t>为</a:t>
                </a:r>
                <a14:m>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𝑎</m:t>
                        </m:r>
                      </m:e>
                      <m:e>
                        <m:r>
                          <a:rPr lang="en-US" altLang="zh-CN" b="0" i="1" smtClean="0">
                            <a:latin typeface="Cambria Math" panose="02040503050406030204" pitchFamily="18" charset="0"/>
                          </a:rPr>
                          <m:t>𝑠</m:t>
                        </m:r>
                      </m:e>
                    </m:d>
                  </m:oMath>
                </a14:m>
                <a:r>
                  <a:rPr lang="en-US" altLang="zh-CN" dirty="0">
                    <a:latin typeface="+mn-ea"/>
                  </a:rPr>
                  <a:t>;Critic</a:t>
                </a:r>
                <a:r>
                  <a:rPr lang="zh-CN" altLang="en-US" dirty="0">
                    <a:latin typeface="+mn-ea"/>
                  </a:rPr>
                  <a:t>网络以机器人的状态作为输入，输出当前状态的状态值</a:t>
                </a:r>
                <a14:m>
                  <m:oMath xmlns:m="http://schemas.openxmlformats.org/officeDocument/2006/math">
                    <m:r>
                      <a:rPr lang="en-US" altLang="zh-CN" b="0" i="1" smtClean="0">
                        <a:latin typeface="Cambria Math" panose="02040503050406030204" pitchFamily="18" charset="0"/>
                      </a:rPr>
                      <m:t>𝑉</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oMath>
                </a14:m>
                <a:endParaRPr lang="zh-CN" altLang="en-US" dirty="0">
                  <a:latin typeface="+mn-ea"/>
                </a:endParaRPr>
              </a:p>
            </p:txBody>
          </p:sp>
        </mc:Choice>
        <mc:Fallback xmlns="">
          <p:sp>
            <p:nvSpPr>
              <p:cNvPr id="13" name="文本框 12">
                <a:extLst>
                  <a:ext uri="{FF2B5EF4-FFF2-40B4-BE49-F238E27FC236}">
                    <a16:creationId xmlns:a16="http://schemas.microsoft.com/office/drawing/2014/main" id="{00805B01-248B-3CB3-5A06-C01FB36422AF}"/>
                  </a:ext>
                </a:extLst>
              </p:cNvPr>
              <p:cNvSpPr txBox="1">
                <a:spLocks noRot="1" noChangeAspect="1" noMove="1" noResize="1" noEditPoints="1" noAdjustHandles="1" noChangeArrowheads="1" noChangeShapeType="1" noTextEdit="1"/>
              </p:cNvSpPr>
              <p:nvPr/>
            </p:nvSpPr>
            <p:spPr>
              <a:xfrm>
                <a:off x="489147" y="4170325"/>
                <a:ext cx="4291159" cy="1200329"/>
              </a:xfrm>
              <a:prstGeom prst="rect">
                <a:avLst/>
              </a:prstGeom>
              <a:blipFill>
                <a:blip r:embed="rId4"/>
                <a:stretch>
                  <a:fillRect l="-1136" t="-2538" b="-7107"/>
                </a:stretch>
              </a:blipFill>
            </p:spPr>
            <p:txBody>
              <a:bodyPr/>
              <a:lstStyle/>
              <a:p>
                <a:r>
                  <a:rPr lang="zh-CN" altLang="en-US">
                    <a:noFill/>
                  </a:rPr>
                  <a:t> </a:t>
                </a:r>
              </a:p>
            </p:txBody>
          </p:sp>
        </mc:Fallback>
      </mc:AlternateContent>
      <p:grpSp>
        <p:nvGrpSpPr>
          <p:cNvPr id="24" name="组合 23">
            <a:extLst>
              <a:ext uri="{FF2B5EF4-FFF2-40B4-BE49-F238E27FC236}">
                <a16:creationId xmlns:a16="http://schemas.microsoft.com/office/drawing/2014/main" id="{1273CC78-2224-B29B-6CCD-716EE0956B77}"/>
              </a:ext>
            </a:extLst>
          </p:cNvPr>
          <p:cNvGrpSpPr/>
          <p:nvPr/>
        </p:nvGrpSpPr>
        <p:grpSpPr>
          <a:xfrm>
            <a:off x="489147" y="1813044"/>
            <a:ext cx="6748961" cy="1861018"/>
            <a:chOff x="6226628" y="1373648"/>
            <a:chExt cx="6748961" cy="1861018"/>
          </a:xfrm>
        </p:grpSpPr>
        <p:sp>
          <p:nvSpPr>
            <p:cNvPr id="19" name="文本框 18">
              <a:extLst>
                <a:ext uri="{FF2B5EF4-FFF2-40B4-BE49-F238E27FC236}">
                  <a16:creationId xmlns:a16="http://schemas.microsoft.com/office/drawing/2014/main" id="{FB1E13B5-7D57-2A28-C8E9-0CA8AE66FD01}"/>
                </a:ext>
              </a:extLst>
            </p:cNvPr>
            <p:cNvSpPr txBox="1"/>
            <p:nvPr/>
          </p:nvSpPr>
          <p:spPr>
            <a:xfrm>
              <a:off x="6880711" y="1373648"/>
              <a:ext cx="6094878" cy="369332"/>
            </a:xfrm>
            <a:prstGeom prst="rect">
              <a:avLst/>
            </a:prstGeom>
            <a:noFill/>
          </p:spPr>
          <p:txBody>
            <a:bodyPr wrap="square">
              <a:spAutoFit/>
            </a:bodyPr>
            <a:lstStyle/>
            <a:p>
              <a:r>
                <a:rPr lang="en-US" altLang="zh-CN" sz="1800" b="1" i="0" u="none" strike="noStrike" baseline="0" dirty="0"/>
                <a:t>PPO</a:t>
              </a:r>
              <a:r>
                <a:rPr lang="zh-CN" altLang="en-US" sz="1800" b="1" i="0" u="none" strike="noStrike" baseline="0" dirty="0"/>
                <a:t>算法</a:t>
              </a:r>
              <a:endParaRPr lang="zh-CN" altLang="en-US" b="1" dirty="0"/>
            </a:p>
          </p:txBody>
        </p:sp>
        <p:sp>
          <p:nvSpPr>
            <p:cNvPr id="23" name="文本框 22">
              <a:extLst>
                <a:ext uri="{FF2B5EF4-FFF2-40B4-BE49-F238E27FC236}">
                  <a16:creationId xmlns:a16="http://schemas.microsoft.com/office/drawing/2014/main" id="{7343B9DD-D3B9-6C1B-8822-585D11A10343}"/>
                </a:ext>
              </a:extLst>
            </p:cNvPr>
            <p:cNvSpPr txBox="1"/>
            <p:nvPr/>
          </p:nvSpPr>
          <p:spPr>
            <a:xfrm>
              <a:off x="6226628" y="2034337"/>
              <a:ext cx="5155383" cy="1200329"/>
            </a:xfrm>
            <a:prstGeom prst="rect">
              <a:avLst/>
            </a:prstGeom>
            <a:noFill/>
          </p:spPr>
          <p:txBody>
            <a:bodyPr wrap="square">
              <a:spAutoFit/>
            </a:bodyPr>
            <a:lstStyle/>
            <a:p>
              <a:r>
                <a:rPr lang="en-US" altLang="zh-CN" sz="1800" b="0" i="0" u="none" strike="noStrike" baseline="0" dirty="0">
                  <a:latin typeface="+mn-ea"/>
                </a:rPr>
                <a:t>PPO</a:t>
              </a:r>
              <a:r>
                <a:rPr lang="zh-CN" altLang="en-US" sz="1800" b="0" i="0" u="none" strike="noStrike" baseline="0" dirty="0">
                  <a:latin typeface="+mn-ea"/>
                </a:rPr>
                <a:t>（</a:t>
              </a:r>
              <a:r>
                <a:rPr lang="en-US" altLang="zh-CN" sz="1800" b="0" i="0" u="none" strike="noStrike" baseline="0" dirty="0">
                  <a:latin typeface="+mn-ea"/>
                </a:rPr>
                <a:t>Proximal Police Optimization</a:t>
              </a:r>
              <a:r>
                <a:rPr lang="zh-CN" altLang="en-US" sz="1800" b="0" i="0" u="none" strike="noStrike" baseline="0" dirty="0">
                  <a:latin typeface="+mn-ea"/>
                </a:rPr>
                <a:t>）算法是一种基于</a:t>
              </a:r>
              <a:r>
                <a:rPr lang="en-US" altLang="zh-CN" b="1" dirty="0"/>
                <a:t>Actor-Critic</a:t>
              </a:r>
              <a:r>
                <a:rPr lang="zh-CN" altLang="en-US" sz="1800" b="0" i="0" u="none" strike="noStrike" baseline="0" dirty="0">
                  <a:latin typeface="+mn-ea"/>
                </a:rPr>
                <a:t>结构的随机性策略梯度方法，是置信域策略优化算法</a:t>
              </a:r>
              <a:r>
                <a:rPr lang="en-US" altLang="zh-CN" sz="1800" b="0" i="0" u="none" strike="noStrike" baseline="0" dirty="0">
                  <a:latin typeface="+mn-ea"/>
                </a:rPr>
                <a:t>TRPO</a:t>
              </a:r>
              <a:r>
                <a:rPr lang="zh-CN" altLang="en-US" sz="1800" b="0" i="0" u="none" strike="noStrike" baseline="0" dirty="0">
                  <a:latin typeface="+mn-ea"/>
                </a:rPr>
                <a:t>的优化算法，其</a:t>
              </a:r>
            </a:p>
            <a:p>
              <a:r>
                <a:rPr lang="zh-CN" altLang="en-US" sz="1800" b="0" i="0" u="none" strike="noStrike" baseline="0" dirty="0">
                  <a:latin typeface="+mn-ea"/>
                </a:rPr>
                <a:t>训练稳定，有更好的样本复杂性。</a:t>
              </a:r>
              <a:endParaRPr lang="zh-CN" altLang="en-US" dirty="0">
                <a:latin typeface="+mn-ea"/>
              </a:endParaRPr>
            </a:p>
          </p:txBody>
        </p:sp>
      </p:gr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205F883D-71D0-4606-6E0C-D5AC62FA997C}"/>
                  </a:ext>
                </a:extLst>
              </p:cNvPr>
              <p:cNvSpPr txBox="1"/>
              <p:nvPr/>
            </p:nvSpPr>
            <p:spPr>
              <a:xfrm>
                <a:off x="6053015" y="2834030"/>
                <a:ext cx="5447442" cy="2672591"/>
              </a:xfrm>
              <a:prstGeom prst="rect">
                <a:avLst/>
              </a:prstGeom>
              <a:noFill/>
            </p:spPr>
            <p:txBody>
              <a:bodyPr wrap="square">
                <a:spAutoFit/>
              </a:bodyPr>
              <a:lstStyle/>
              <a:p>
                <a:r>
                  <a:rPr lang="zh-CN" altLang="en-US" sz="1800" b="0" i="0" u="none" strike="noStrike" baseline="0" dirty="0">
                    <a:latin typeface="+mn-ea"/>
                  </a:rPr>
                  <a:t>在 </a:t>
                </a:r>
                <a:r>
                  <a:rPr lang="en-US" altLang="zh-CN" sz="1800" b="0" i="0" u="none" strike="noStrike" baseline="0" dirty="0">
                    <a:latin typeface="+mn-ea"/>
                  </a:rPr>
                  <a:t>TRPO </a:t>
                </a:r>
                <a:r>
                  <a:rPr lang="zh-CN" altLang="en-US" sz="1800" b="0" i="0" u="none" strike="noStrike" baseline="0" dirty="0">
                    <a:latin typeface="+mn-ea"/>
                  </a:rPr>
                  <a:t>算法中，目标优化函数为：</a:t>
                </a:r>
                <a:endParaRPr lang="en-US" altLang="zh-CN" sz="1800" b="0" i="0" u="none" strike="noStrike" baseline="0" dirty="0">
                  <a:latin typeface="+mn-ea"/>
                </a:endParaRPr>
              </a:p>
              <a:p>
                <a:pPr/>
                <a14:m>
                  <m:oMathPara xmlns:m="http://schemas.openxmlformats.org/officeDocument/2006/math">
                    <m:oMath>
                      <m:r>
                        <a:rPr lang="en-US" altLang="zh-CN" b="0" i="1" smtClean="0">
                          <a:latin typeface="Cambria Math" panose="02040503050406030204" pitchFamily="18" charset="0"/>
                        </a:rPr>
                        <m:t>𝐽</m:t>
                      </m:r>
                      <m:d>
                        <m:dPr>
                          <m:ctrlPr>
                            <a:rPr lang="zh-CN" altLang="en-US" b="0" i="1" smtClean="0">
                              <a:latin typeface="Cambria Math" panose="02040503050406030204" pitchFamily="18" charset="0"/>
                            </a:rPr>
                          </m:ctrlPr>
                        </m:dPr>
                        <m:e>
                          <m:r>
                            <a:rPr lang="zh-CN" altLang="en-US" b="0" i="1" smtClean="0">
                              <a:latin typeface="Cambria Math" panose="02040503050406030204" pitchFamily="18" charset="0"/>
                            </a:rPr>
                            <m:t>𝜃</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𝐽</m:t>
                          </m:r>
                        </m:e>
                        <m:sup>
                          <m:sSup>
                            <m:sSupPr>
                              <m:ctrlPr>
                                <a:rPr lang="zh-CN" altLang="en-US" b="0" i="1" smtClean="0">
                                  <a:latin typeface="Cambria Math" panose="02040503050406030204" pitchFamily="18" charset="0"/>
                                </a:rPr>
                              </m:ctrlPr>
                            </m:sSupPr>
                            <m:e>
                              <m:r>
                                <a:rPr lang="zh-CN" altLang="en-US" b="0" i="1" smtClean="0">
                                  <a:latin typeface="Cambria Math" panose="02040503050406030204" pitchFamily="18" charset="0"/>
                                </a:rPr>
                                <m:t>𝜃</m:t>
                              </m:r>
                            </m:e>
                            <m:sup>
                              <m:r>
                                <a:rPr lang="en-US" altLang="zh-CN" b="0" i="1" smtClean="0">
                                  <a:latin typeface="Cambria Math" panose="02040503050406030204" pitchFamily="18" charset="0"/>
                                </a:rPr>
                                <m:t>𝑘</m:t>
                              </m:r>
                            </m:sup>
                          </m:sSup>
                        </m:sup>
                      </m:sSup>
                      <m:d>
                        <m:dPr>
                          <m:ctrlPr>
                            <a:rPr lang="zh-CN" altLang="en-US" b="0" i="1" smtClean="0">
                              <a:latin typeface="Cambria Math" panose="02040503050406030204" pitchFamily="18" charset="0"/>
                            </a:rPr>
                          </m:ctrlPr>
                        </m:dPr>
                        <m:e>
                          <m:r>
                            <a:rPr lang="zh-CN" altLang="en-US" b="0" i="1" smtClean="0">
                              <a:latin typeface="Cambria Math" panose="02040503050406030204" pitchFamily="18" charset="0"/>
                            </a:rPr>
                            <m:t>𝜃</m:t>
                          </m:r>
                        </m:e>
                      </m:d>
                      <m:r>
                        <a:rPr lang="en-US" altLang="zh-CN" b="0" i="1" smtClean="0">
                          <a:latin typeface="Cambria Math" panose="02040503050406030204" pitchFamily="18" charset="0"/>
                        </a:rPr>
                        <m:t>−</m:t>
                      </m:r>
                      <m:r>
                        <a:rPr lang="zh-CN" altLang="en-US" b="0" i="1" smtClean="0">
                          <a:latin typeface="Cambria Math" panose="02040503050406030204" pitchFamily="18" charset="0"/>
                        </a:rPr>
                        <m:t>𝛽</m:t>
                      </m:r>
                      <m:r>
                        <a:rPr lang="en-US" altLang="zh-CN" b="0" i="1" smtClean="0">
                          <a:latin typeface="Cambria Math" panose="02040503050406030204" pitchFamily="18" charset="0"/>
                        </a:rPr>
                        <m:t>𝐾𝐿</m:t>
                      </m:r>
                      <m:r>
                        <a:rPr lang="en-US" altLang="zh-CN" b="0" i="1" smtClean="0">
                          <a:latin typeface="Cambria Math" panose="02040503050406030204" pitchFamily="18" charset="0"/>
                        </a:rPr>
                        <m:t>(</m:t>
                      </m:r>
                      <m:r>
                        <a:rPr lang="zh-CN" altLang="en-US" b="0" i="1" smtClean="0">
                          <a:latin typeface="Cambria Math" panose="02040503050406030204" pitchFamily="18" charset="0"/>
                        </a:rPr>
                        <m:t>𝜃</m:t>
                      </m:r>
                      <m:r>
                        <a:rPr lang="en-US" altLang="zh-CN" b="0" i="1" smtClean="0">
                          <a:latin typeface="Cambria Math" panose="02040503050406030204" pitchFamily="18" charset="0"/>
                        </a:rPr>
                        <m:t>,</m:t>
                      </m:r>
                      <m:sSup>
                        <m:sSupPr>
                          <m:ctrlPr>
                            <a:rPr lang="zh-CN" altLang="en-US" b="0" i="1" smtClean="0">
                              <a:latin typeface="Cambria Math" panose="02040503050406030204" pitchFamily="18" charset="0"/>
                            </a:rPr>
                          </m:ctrlPr>
                        </m:sSupPr>
                        <m:e>
                          <m:r>
                            <a:rPr lang="zh-CN" altLang="en-US" b="0" i="1" smtClean="0">
                              <a:latin typeface="Cambria Math" panose="02040503050406030204" pitchFamily="18" charset="0"/>
                            </a:rPr>
                            <m:t>𝜃</m:t>
                          </m:r>
                        </m:e>
                        <m:sup>
                          <m:r>
                            <a:rPr lang="en-US" altLang="zh-CN" b="0" i="1" smtClean="0">
                              <a:latin typeface="Cambria Math" panose="02040503050406030204" pitchFamily="18" charset="0"/>
                            </a:rPr>
                            <m:t>𝑘</m:t>
                          </m:r>
                        </m:sup>
                      </m:sSup>
                      <m:r>
                        <a:rPr lang="en-US" altLang="zh-CN" b="0" i="1" smtClean="0">
                          <a:latin typeface="Cambria Math" panose="02040503050406030204" pitchFamily="18" charset="0"/>
                        </a:rPr>
                        <m:t>)</m:t>
                      </m:r>
                    </m:oMath>
                  </m:oMathPara>
                </a14:m>
                <a:endParaRPr lang="en-US" altLang="zh-CN" dirty="0">
                  <a:latin typeface="+mn-ea"/>
                </a:endParaRPr>
              </a:p>
              <a:p>
                <a:r>
                  <a:rPr lang="zh-CN" altLang="en-US" dirty="0">
                    <a:latin typeface="+mn-ea"/>
                  </a:rPr>
                  <a:t>其中，</a:t>
                </a:r>
                <a14:m>
                  <m:oMath xmlns:m="http://schemas.openxmlformats.org/officeDocument/2006/math">
                    <m:r>
                      <a:rPr lang="en-US" altLang="zh-CN" i="1">
                        <a:latin typeface="Cambria Math" panose="02040503050406030204" pitchFamily="18" charset="0"/>
                      </a:rPr>
                      <m:t>𝐾𝐿</m:t>
                    </m:r>
                    <m:d>
                      <m:dPr>
                        <m:ctrlPr>
                          <a:rPr lang="zh-CN" altLang="en-US" i="1">
                            <a:latin typeface="Cambria Math" panose="02040503050406030204" pitchFamily="18" charset="0"/>
                          </a:rPr>
                        </m:ctrlPr>
                      </m:dPr>
                      <m:e>
                        <m:r>
                          <a:rPr lang="zh-CN" altLang="en-US" i="1">
                            <a:latin typeface="Cambria Math" panose="02040503050406030204" pitchFamily="18" charset="0"/>
                          </a:rPr>
                          <m:t>𝜃</m:t>
                        </m:r>
                        <m:r>
                          <a:rPr lang="en-US" altLang="zh-CN" i="1">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𝜃</m:t>
                            </m:r>
                          </m:e>
                          <m:sup>
                            <m:r>
                              <a:rPr lang="en-US" altLang="zh-CN" i="1">
                                <a:latin typeface="Cambria Math" panose="02040503050406030204" pitchFamily="18" charset="0"/>
                              </a:rPr>
                              <m:t>𝑘</m:t>
                            </m:r>
                          </m:sup>
                        </m:sSup>
                      </m:e>
                    </m:d>
                    <m:r>
                      <a:rPr lang="zh-CN" altLang="en-US" i="1" smtClean="0">
                        <a:latin typeface="Cambria Math" panose="02040503050406030204" pitchFamily="18" charset="0"/>
                      </a:rPr>
                      <m:t>为</m:t>
                    </m:r>
                  </m:oMath>
                </a14:m>
                <a:r>
                  <a:rPr lang="zh-CN" altLang="en-US" dirty="0">
                    <a:latin typeface="+mn-ea"/>
                  </a:rPr>
                  <a:t>适应</a:t>
                </a:r>
                <a:r>
                  <a:rPr lang="en-US" altLang="zh-CN" dirty="0">
                    <a:latin typeface="+mn-ea"/>
                  </a:rPr>
                  <a:t>KL</a:t>
                </a:r>
                <a:r>
                  <a:rPr lang="zh-CN" altLang="en-US" dirty="0">
                    <a:latin typeface="+mn-ea"/>
                  </a:rPr>
                  <a:t>惩罚，这一项约束需要人为确定置信区间的超参数</a:t>
                </a:r>
                <a14:m>
                  <m:oMath xmlns:m="http://schemas.openxmlformats.org/officeDocument/2006/math">
                    <m:r>
                      <a:rPr lang="zh-CN" altLang="en-US" i="1" smtClean="0">
                        <a:latin typeface="Cambria Math" panose="02040503050406030204" pitchFamily="18" charset="0"/>
                      </a:rPr>
                      <m:t>𝛿</m:t>
                    </m:r>
                  </m:oMath>
                </a14:m>
                <a:r>
                  <a:rPr lang="zh-CN" altLang="en-US" dirty="0">
                    <a:latin typeface="+mn-ea"/>
                  </a:rPr>
                  <a:t>，而</a:t>
                </a:r>
                <a14:m>
                  <m:oMath xmlns:m="http://schemas.openxmlformats.org/officeDocument/2006/math">
                    <m:r>
                      <a:rPr lang="zh-CN" altLang="en-US" i="1" smtClean="0">
                        <a:latin typeface="Cambria Math" panose="02040503050406030204" pitchFamily="18" charset="0"/>
                      </a:rPr>
                      <m:t>𝛿</m:t>
                    </m:r>
                  </m:oMath>
                </a14:m>
                <a:r>
                  <a:rPr lang="zh-CN" altLang="en-US" dirty="0">
                    <a:latin typeface="+mn-ea"/>
                  </a:rPr>
                  <a:t>难以确定，通常通过计算二阶梯度来获得其近似值，当目标函数自变量维度较高时，较大的计算量影响网络的训练。为了简化</a:t>
                </a:r>
                <a:r>
                  <a:rPr lang="en-US" altLang="zh-CN" dirty="0">
                    <a:latin typeface="+mn-ea"/>
                  </a:rPr>
                  <a:t>TRPO </a:t>
                </a:r>
                <a:r>
                  <a:rPr lang="zh-CN" altLang="en-US" dirty="0">
                    <a:latin typeface="+mn-ea"/>
                  </a:rPr>
                  <a:t>的计算量，</a:t>
                </a:r>
                <a:r>
                  <a:rPr lang="en-US" altLang="zh-CN" dirty="0">
                    <a:latin typeface="+mn-ea"/>
                  </a:rPr>
                  <a:t>PPO </a:t>
                </a:r>
                <a:r>
                  <a:rPr lang="zh-CN" altLang="en-US" dirty="0">
                    <a:latin typeface="+mn-ea"/>
                  </a:rPr>
                  <a:t>算法将</a:t>
                </a:r>
                <a:r>
                  <a:rPr lang="en-US" altLang="zh-CN" dirty="0">
                    <a:latin typeface="+mn-ea"/>
                  </a:rPr>
                  <a:t>TRPO </a:t>
                </a:r>
                <a:r>
                  <a:rPr lang="zh-CN" altLang="en-US" dirty="0">
                    <a:latin typeface="+mn-ea"/>
                  </a:rPr>
                  <a:t>算法中的</a:t>
                </a:r>
                <a:r>
                  <a:rPr lang="en-US" altLang="zh-CN" dirty="0">
                    <a:latin typeface="+mn-ea"/>
                  </a:rPr>
                  <a:t>KL </a:t>
                </a:r>
                <a:r>
                  <a:rPr lang="zh-CN" altLang="en-US" dirty="0">
                    <a:latin typeface="+mn-ea"/>
                  </a:rPr>
                  <a:t>约束替换成截断目标函数：</a:t>
                </a:r>
                <a:endParaRPr lang="en-US" altLang="zh-CN" dirty="0">
                  <a:latin typeface="+mn-ea"/>
                </a:endParaRPr>
              </a:p>
              <a:p>
                <a:endParaRPr lang="zh-CN" altLang="en-US" dirty="0">
                  <a:latin typeface="+mn-ea"/>
                </a:endParaRPr>
              </a:p>
            </p:txBody>
          </p:sp>
        </mc:Choice>
        <mc:Fallback xmlns="">
          <p:sp>
            <p:nvSpPr>
              <p:cNvPr id="4" name="文本框 3">
                <a:extLst>
                  <a:ext uri="{FF2B5EF4-FFF2-40B4-BE49-F238E27FC236}">
                    <a16:creationId xmlns:a16="http://schemas.microsoft.com/office/drawing/2014/main" id="{205F883D-71D0-4606-6E0C-D5AC62FA997C}"/>
                  </a:ext>
                </a:extLst>
              </p:cNvPr>
              <p:cNvSpPr txBox="1">
                <a:spLocks noRot="1" noChangeAspect="1" noMove="1" noResize="1" noEditPoints="1" noAdjustHandles="1" noChangeArrowheads="1" noChangeShapeType="1" noTextEdit="1"/>
              </p:cNvSpPr>
              <p:nvPr/>
            </p:nvSpPr>
            <p:spPr>
              <a:xfrm>
                <a:off x="6053015" y="2834030"/>
                <a:ext cx="5447442" cy="2672591"/>
              </a:xfrm>
              <a:prstGeom prst="rect">
                <a:avLst/>
              </a:prstGeom>
              <a:blipFill>
                <a:blip r:embed="rId5"/>
                <a:stretch>
                  <a:fillRect l="-1007" t="-1370" r="-8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9265BB5-6B6B-9F39-1A71-843552AFF0DA}"/>
                  </a:ext>
                </a:extLst>
              </p:cNvPr>
              <p:cNvSpPr txBox="1"/>
              <p:nvPr/>
            </p:nvSpPr>
            <p:spPr>
              <a:xfrm>
                <a:off x="5729309" y="5225470"/>
                <a:ext cx="6094854" cy="404983"/>
              </a:xfrm>
              <a:prstGeom prst="rect">
                <a:avLst/>
              </a:prstGeom>
              <a:noFill/>
            </p:spPr>
            <p:txBody>
              <a:bodyPr wrap="square">
                <a:spAutoFit/>
              </a:bodyPr>
              <a:lstStyle/>
              <a:p>
                <a:pPr/>
                <a14:m>
                  <m:oMathPara xmlns:m="http://schemas.openxmlformats.org/officeDocument/2006/math">
                    <m:o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𝐽</m:t>
                          </m:r>
                        </m:e>
                        <m:sup>
                          <m:r>
                            <a:rPr lang="en-US" altLang="zh-CN" b="0" i="1" smtClean="0">
                              <a:latin typeface="Cambria Math" panose="02040503050406030204" pitchFamily="18" charset="0"/>
                            </a:rPr>
                            <m:t>𝐶𝐿𝐼𝑃</m:t>
                          </m:r>
                        </m:sup>
                      </m:sSup>
                      <m:d>
                        <m:dPr>
                          <m:ctrlPr>
                            <a:rPr lang="zh-CN" altLang="en-US" b="0" i="1" smtClean="0">
                              <a:latin typeface="Cambria Math" panose="02040503050406030204" pitchFamily="18" charset="0"/>
                            </a:rPr>
                          </m:ctrlPr>
                        </m:dPr>
                        <m:e>
                          <m:r>
                            <a:rPr lang="zh-CN" altLang="en-US" b="0" i="1" smtClean="0">
                              <a:latin typeface="Cambria Math" panose="02040503050406030204" pitchFamily="18" charset="0"/>
                            </a:rPr>
                            <m:t>𝜃</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𝑡</m:t>
                          </m:r>
                        </m:sub>
                      </m:sSub>
                      <m:d>
                        <m:dPr>
                          <m:begChr m:val="["/>
                          <m:endChr m:val="]"/>
                          <m:ctrlPr>
                            <a:rPr lang="en-US" altLang="zh-CN" b="0" i="0" smtClean="0">
                              <a:latin typeface="Cambria Math" panose="02040503050406030204" pitchFamily="18" charset="0"/>
                            </a:rPr>
                          </m:ctrlPr>
                        </m:dPr>
                        <m:e>
                          <m:r>
                            <m:rPr>
                              <m:sty m:val="p"/>
                            </m:rPr>
                            <a:rPr lang="en-US" altLang="zh-CN" b="0" i="0" smtClean="0">
                              <a:latin typeface="Cambria Math" panose="02040503050406030204" pitchFamily="18" charset="0"/>
                            </a:rPr>
                            <m:t>min</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𝑡</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𝜃</m:t>
                              </m:r>
                            </m:e>
                          </m:d>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𝑐𝑙𝑖𝑝</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𝑡</m:t>
                              </m:r>
                            </m:sub>
                          </m:sSub>
                          <m:d>
                            <m:dPr>
                              <m:ctrlPr>
                                <a:rPr lang="zh-CN" altLang="en-US" b="0" i="1" smtClean="0">
                                  <a:latin typeface="Cambria Math" panose="02040503050406030204" pitchFamily="18" charset="0"/>
                                </a:rPr>
                              </m:ctrlPr>
                            </m:dPr>
                            <m:e>
                              <m:r>
                                <a:rPr lang="zh-CN" altLang="en-US" b="0" i="1" smtClean="0">
                                  <a:latin typeface="Cambria Math" panose="02040503050406030204" pitchFamily="18" charset="0"/>
                                </a:rPr>
                                <m:t>𝜃</m:t>
                              </m:r>
                            </m:e>
                          </m:d>
                          <m:r>
                            <a:rPr lang="en-US" altLang="zh-CN" b="0" i="1" smtClean="0">
                              <a:latin typeface="Cambria Math" panose="02040503050406030204" pitchFamily="18" charset="0"/>
                            </a:rPr>
                            <m:t>,1−</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𝑜</m:t>
                              </m:r>
                            </m:e>
                          </m:acc>
                          <m:r>
                            <a:rPr lang="en-US" altLang="zh-CN" b="0" i="1" smtClean="0">
                              <a:latin typeface="Cambria Math" panose="02040503050406030204" pitchFamily="18" charset="0"/>
                            </a:rPr>
                            <m:t>,1+</m:t>
                          </m:r>
                          <m:r>
                            <a:rPr lang="zh-CN" altLang="en-US" b="0" i="1" smtClean="0">
                              <a:latin typeface="Cambria Math" panose="02040503050406030204" pitchFamily="18" charset="0"/>
                            </a:rPr>
                            <m:t>𝜀</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e>
                      </m:d>
                    </m:oMath>
                  </m:oMathPara>
                </a14:m>
                <a:endParaRPr lang="zh-CN" altLang="en-US" dirty="0"/>
              </a:p>
            </p:txBody>
          </p:sp>
        </mc:Choice>
        <mc:Fallback xmlns="">
          <p:sp>
            <p:nvSpPr>
              <p:cNvPr id="6" name="文本框 5">
                <a:extLst>
                  <a:ext uri="{FF2B5EF4-FFF2-40B4-BE49-F238E27FC236}">
                    <a16:creationId xmlns:a16="http://schemas.microsoft.com/office/drawing/2014/main" id="{F9265BB5-6B6B-9F39-1A71-843552AFF0DA}"/>
                  </a:ext>
                </a:extLst>
              </p:cNvPr>
              <p:cNvSpPr txBox="1">
                <a:spLocks noRot="1" noChangeAspect="1" noMove="1" noResize="1" noEditPoints="1" noAdjustHandles="1" noChangeArrowheads="1" noChangeShapeType="1" noTextEdit="1"/>
              </p:cNvSpPr>
              <p:nvPr/>
            </p:nvSpPr>
            <p:spPr>
              <a:xfrm>
                <a:off x="5729309" y="5225470"/>
                <a:ext cx="6094854" cy="404983"/>
              </a:xfrm>
              <a:prstGeom prst="rect">
                <a:avLst/>
              </a:prstGeom>
              <a:blipFill>
                <a:blip r:embed="rId6"/>
                <a:stretch>
                  <a:fillRect t="-4478" b="-89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58B7C5F-EB5F-5232-E566-F40300E65C12}"/>
                  </a:ext>
                </a:extLst>
              </p:cNvPr>
              <p:cNvSpPr txBox="1"/>
              <p:nvPr/>
            </p:nvSpPr>
            <p:spPr>
              <a:xfrm>
                <a:off x="5952767" y="5712596"/>
                <a:ext cx="5361474" cy="1114601"/>
              </a:xfrm>
              <a:prstGeom prst="rect">
                <a:avLst/>
              </a:prstGeom>
              <a:noFill/>
            </p:spPr>
            <p:txBody>
              <a:bodyPr wrap="square">
                <a:spAutoFit/>
              </a:bodyPr>
              <a:lstStyle/>
              <a:p>
                <a:r>
                  <a:rPr lang="zh-CN" altLang="en-US" dirty="0"/>
                  <a:t>其中</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𝑡</m:t>
                        </m:r>
                      </m:sub>
                    </m:sSub>
                    <m:d>
                      <m:dPr>
                        <m:ctrlPr>
                          <a:rPr lang="zh-CN" altLang="en-US" b="0" i="1" smtClean="0">
                            <a:latin typeface="Cambria Math" panose="02040503050406030204" pitchFamily="18" charset="0"/>
                          </a:rPr>
                        </m:ctrlPr>
                      </m:dPr>
                      <m:e>
                        <m:r>
                          <a:rPr lang="zh-CN" altLang="en-US" b="0" i="1" smtClean="0">
                            <a:latin typeface="Cambria Math" panose="02040503050406030204" pitchFamily="18" charset="0"/>
                          </a:rPr>
                          <m:t>𝜃</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zh-CN" altLang="en-US" b="0" i="1" smtClean="0">
                                <a:latin typeface="Cambria Math" panose="02040503050406030204" pitchFamily="18" charset="0"/>
                              </a:rPr>
                              <m:t>𝜃</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sSup>
                              <m:sSupPr>
                                <m:ctrlPr>
                                  <a:rPr lang="zh-CN" altLang="en-US" b="0" i="1" smtClean="0">
                                    <a:latin typeface="Cambria Math" panose="02040503050406030204" pitchFamily="18" charset="0"/>
                                  </a:rPr>
                                </m:ctrlPr>
                              </m:sSupPr>
                              <m:e>
                                <m:r>
                                  <a:rPr lang="zh-CN" altLang="en-US" b="0" i="1" smtClean="0">
                                    <a:latin typeface="Cambria Math" panose="02040503050406030204" pitchFamily="18" charset="0"/>
                                  </a:rPr>
                                  <m:t>𝜃</m:t>
                                </m:r>
                              </m:e>
                              <m:sup>
                                <m:r>
                                  <a:rPr lang="en-US" altLang="zh-CN" b="0" i="1" smtClean="0">
                                    <a:latin typeface="Cambria Math" panose="02040503050406030204" pitchFamily="18" charset="0"/>
                                  </a:rPr>
                                  <m:t>′</m:t>
                                </m:r>
                              </m:sup>
                            </m:sSup>
                          </m:sub>
                        </m:sSub>
                        <m:r>
                          <a:rPr lang="en-US" altLang="zh-CN" i="1" smtClean="0">
                            <a:latin typeface="Cambria Math" panose="02040503050406030204" pitchFamily="18" charset="0"/>
                          </a:rPr>
                          <m:t> </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𝑡</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i="1">
                            <a:latin typeface="Cambria Math" panose="02040503050406030204" pitchFamily="18" charset="0"/>
                          </a:rPr>
                          <m:t>)</m:t>
                        </m:r>
                      </m:den>
                    </m:f>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𝑃</m:t>
                        </m:r>
                      </m:e>
                      <m:sub>
                        <m:sSup>
                          <m:sSupPr>
                            <m:ctrlPr>
                              <a:rPr lang="zh-CN" altLang="en-US" i="1">
                                <a:latin typeface="Cambria Math" panose="02040503050406030204" pitchFamily="18" charset="0"/>
                              </a:rPr>
                            </m:ctrlPr>
                          </m:sSupPr>
                          <m:e>
                            <m:r>
                              <a:rPr lang="zh-CN" altLang="en-US" i="1">
                                <a:latin typeface="Cambria Math" panose="02040503050406030204" pitchFamily="18" charset="0"/>
                              </a:rPr>
                              <m:t>𝜃</m:t>
                            </m:r>
                          </m:e>
                          <m:sup>
                            <m:r>
                              <a:rPr lang="en-US" altLang="zh-CN" i="1">
                                <a:latin typeface="Cambria Math" panose="02040503050406030204" pitchFamily="18" charset="0"/>
                              </a:rPr>
                              <m:t>′</m:t>
                            </m:r>
                          </m:sup>
                        </m:sSup>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𝑡</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i="1">
                        <a:latin typeface="Cambria Math" panose="02040503050406030204" pitchFamily="18" charset="0"/>
                      </a:rPr>
                      <m:t>)</m:t>
                    </m:r>
                  </m:oMath>
                </a14:m>
                <a:r>
                  <a:rPr lang="zh-CN" altLang="en-US" dirty="0"/>
                  <a:t>为前一次迭代的动作概率分布参数</a:t>
                </a:r>
                <a:r>
                  <a:rPr lang="en-US" altLang="zh-CN" dirty="0"/>
                  <a:t>, </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𝑜</m:t>
                        </m:r>
                      </m:e>
                    </m:acc>
                  </m:oMath>
                </a14:m>
                <a:r>
                  <a:rPr lang="zh-CN" altLang="en-US" dirty="0"/>
                  <a:t>为超参数</a:t>
                </a:r>
                <a:endParaRPr lang="en-US" altLang="zh-CN" dirty="0"/>
              </a:p>
              <a:p>
                <a:endParaRPr lang="en-US" altLang="zh-CN" dirty="0"/>
              </a:p>
            </p:txBody>
          </p:sp>
        </mc:Choice>
        <mc:Fallback xmlns="">
          <p:sp>
            <p:nvSpPr>
              <p:cNvPr id="7" name="文本框 6">
                <a:extLst>
                  <a:ext uri="{FF2B5EF4-FFF2-40B4-BE49-F238E27FC236}">
                    <a16:creationId xmlns:a16="http://schemas.microsoft.com/office/drawing/2014/main" id="{358B7C5F-EB5F-5232-E566-F40300E65C12}"/>
                  </a:ext>
                </a:extLst>
              </p:cNvPr>
              <p:cNvSpPr txBox="1">
                <a:spLocks noRot="1" noChangeAspect="1" noMove="1" noResize="1" noEditPoints="1" noAdjustHandles="1" noChangeArrowheads="1" noChangeShapeType="1" noTextEdit="1"/>
              </p:cNvSpPr>
              <p:nvPr/>
            </p:nvSpPr>
            <p:spPr>
              <a:xfrm>
                <a:off x="5952767" y="5712596"/>
                <a:ext cx="5361474" cy="1114601"/>
              </a:xfrm>
              <a:prstGeom prst="rect">
                <a:avLst/>
              </a:prstGeom>
              <a:blipFill>
                <a:blip r:embed="rId7"/>
                <a:stretch>
                  <a:fillRect l="-10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71192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A5B95-A207-B0F6-E799-F89C91A525D6}"/>
            </a:ext>
          </a:extLst>
        </p:cNvPr>
        <p:cNvGrpSpPr/>
        <p:nvPr/>
      </p:nvGrpSpPr>
      <p:grpSpPr>
        <a:xfrm>
          <a:off x="0" y="0"/>
          <a:ext cx="0" cy="0"/>
          <a:chOff x="0" y="0"/>
          <a:chExt cx="0" cy="0"/>
        </a:xfrm>
      </p:grpSpPr>
      <p:grpSp>
        <p:nvGrpSpPr>
          <p:cNvPr id="103" name="组合 102">
            <a:extLst>
              <a:ext uri="{FF2B5EF4-FFF2-40B4-BE49-F238E27FC236}">
                <a16:creationId xmlns:a16="http://schemas.microsoft.com/office/drawing/2014/main" id="{08DD76AF-4C94-78AE-C6E6-3E7CFAB9EF7D}"/>
              </a:ext>
            </a:extLst>
          </p:cNvPr>
          <p:cNvGrpSpPr/>
          <p:nvPr/>
        </p:nvGrpSpPr>
        <p:grpSpPr>
          <a:xfrm>
            <a:off x="0" y="939798"/>
            <a:ext cx="6095999" cy="912902"/>
            <a:chOff x="0" y="1075267"/>
            <a:chExt cx="6095999" cy="912902"/>
          </a:xfrm>
        </p:grpSpPr>
        <p:sp>
          <p:nvSpPr>
            <p:cNvPr id="104" name="矩形 103">
              <a:extLst>
                <a:ext uri="{FF2B5EF4-FFF2-40B4-BE49-F238E27FC236}">
                  <a16:creationId xmlns:a16="http://schemas.microsoft.com/office/drawing/2014/main" id="{3AB2B9DE-1A1E-7E7C-DB13-F2943FB9852A}"/>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a:extLst>
                <a:ext uri="{FF2B5EF4-FFF2-40B4-BE49-F238E27FC236}">
                  <a16:creationId xmlns:a16="http://schemas.microsoft.com/office/drawing/2014/main" id="{A5F03F2A-EDE0-28ED-B4E3-D87E286F5CAD}"/>
                </a:ext>
              </a:extLst>
            </p:cNvPr>
            <p:cNvSpPr txBox="1"/>
            <p:nvPr/>
          </p:nvSpPr>
          <p:spPr>
            <a:xfrm>
              <a:off x="270932" y="1157172"/>
              <a:ext cx="5825067" cy="830997"/>
            </a:xfrm>
            <a:prstGeom prst="rect">
              <a:avLst/>
            </a:prstGeom>
            <a:noFill/>
          </p:spPr>
          <p:txBody>
            <a:bodyPr wrap="square">
              <a:spAutoFit/>
            </a:bodyPr>
            <a:lstStyle/>
            <a:p>
              <a:r>
                <a:rPr lang="en-US" altLang="zh-CN" sz="2400" b="1" dirty="0">
                  <a:solidFill>
                    <a:schemeClr val="accent1"/>
                  </a:solidFill>
                </a:rPr>
                <a:t>5.4.2 </a:t>
              </a:r>
              <a:r>
                <a:rPr lang="zh-CN" altLang="en-US" sz="2400" b="1" dirty="0">
                  <a:solidFill>
                    <a:schemeClr val="accent1"/>
                  </a:solidFill>
                </a:rPr>
                <a:t>基于策略梯度的强化学习导航</a:t>
              </a:r>
            </a:p>
            <a:p>
              <a:endParaRPr lang="zh-CN" altLang="en-US" sz="2400" b="1" dirty="0">
                <a:solidFill>
                  <a:schemeClr val="accent1"/>
                </a:solidFill>
                <a:latin typeface="+mj-lt"/>
              </a:endParaRPr>
            </a:p>
          </p:txBody>
        </p:sp>
      </p:grpSp>
      <p:grpSp>
        <p:nvGrpSpPr>
          <p:cNvPr id="24" name="组合 23">
            <a:extLst>
              <a:ext uri="{FF2B5EF4-FFF2-40B4-BE49-F238E27FC236}">
                <a16:creationId xmlns:a16="http://schemas.microsoft.com/office/drawing/2014/main" id="{8BE94817-0EAC-CB78-ED4B-8419F152C63E}"/>
              </a:ext>
            </a:extLst>
          </p:cNvPr>
          <p:cNvGrpSpPr/>
          <p:nvPr/>
        </p:nvGrpSpPr>
        <p:grpSpPr>
          <a:xfrm>
            <a:off x="489147" y="1813044"/>
            <a:ext cx="6748961" cy="1584019"/>
            <a:chOff x="6226628" y="1373648"/>
            <a:chExt cx="6748961" cy="1584019"/>
          </a:xfrm>
        </p:grpSpPr>
        <p:sp>
          <p:nvSpPr>
            <p:cNvPr id="19" name="文本框 18">
              <a:extLst>
                <a:ext uri="{FF2B5EF4-FFF2-40B4-BE49-F238E27FC236}">
                  <a16:creationId xmlns:a16="http://schemas.microsoft.com/office/drawing/2014/main" id="{F2CF1D53-0CE5-D7C4-A205-4BCFCD6CFE71}"/>
                </a:ext>
              </a:extLst>
            </p:cNvPr>
            <p:cNvSpPr txBox="1"/>
            <p:nvPr/>
          </p:nvSpPr>
          <p:spPr>
            <a:xfrm>
              <a:off x="6880711" y="1373648"/>
              <a:ext cx="6094878" cy="369332"/>
            </a:xfrm>
            <a:prstGeom prst="rect">
              <a:avLst/>
            </a:prstGeom>
            <a:noFill/>
          </p:spPr>
          <p:txBody>
            <a:bodyPr wrap="square">
              <a:spAutoFit/>
            </a:bodyPr>
            <a:lstStyle/>
            <a:p>
              <a:r>
                <a:rPr lang="en-US" altLang="zh-CN" b="1" dirty="0"/>
                <a:t>DPG</a:t>
              </a:r>
              <a:r>
                <a:rPr lang="zh-CN" altLang="en-US" sz="1800" b="1" i="0" u="none" strike="noStrike" baseline="0" dirty="0"/>
                <a:t>算法</a:t>
              </a:r>
              <a:endParaRPr lang="zh-CN" altLang="en-US" b="1" dirty="0"/>
            </a:p>
          </p:txBody>
        </p:sp>
        <p:sp>
          <p:nvSpPr>
            <p:cNvPr id="23" name="文本框 22">
              <a:extLst>
                <a:ext uri="{FF2B5EF4-FFF2-40B4-BE49-F238E27FC236}">
                  <a16:creationId xmlns:a16="http://schemas.microsoft.com/office/drawing/2014/main" id="{A1E2C50A-5279-5F66-D7B0-0F8DB6ECE59A}"/>
                </a:ext>
              </a:extLst>
            </p:cNvPr>
            <p:cNvSpPr txBox="1"/>
            <p:nvPr/>
          </p:nvSpPr>
          <p:spPr>
            <a:xfrm>
              <a:off x="6226628" y="2034337"/>
              <a:ext cx="5155383" cy="923330"/>
            </a:xfrm>
            <a:prstGeom prst="rect">
              <a:avLst/>
            </a:prstGeom>
            <a:noFill/>
          </p:spPr>
          <p:txBody>
            <a:bodyPr wrap="square">
              <a:spAutoFit/>
            </a:bodyPr>
            <a:lstStyle/>
            <a:p>
              <a:r>
                <a:rPr lang="en-US" altLang="zh-CN" dirty="0"/>
                <a:t>DPG</a:t>
              </a:r>
              <a:r>
                <a:rPr lang="zh-CN" altLang="en-US" sz="1800" b="0" i="0" u="none" strike="noStrike" baseline="0" dirty="0">
                  <a:latin typeface="+mn-ea"/>
                </a:rPr>
                <a:t>（</a:t>
              </a:r>
              <a:r>
                <a:rPr lang="en-US" altLang="zh-CN" sz="1800" b="0" i="0" u="none" strike="noStrike" baseline="0" dirty="0">
                  <a:latin typeface="+mn-ea"/>
                </a:rPr>
                <a:t>Deterministic Police Gradient</a:t>
              </a:r>
              <a:r>
                <a:rPr lang="zh-CN" altLang="en-US" sz="1800" b="0" i="0" u="none" strike="noStrike" baseline="0" dirty="0">
                  <a:latin typeface="+mn-ea"/>
                </a:rPr>
                <a:t>）是同样基于</a:t>
              </a:r>
              <a:r>
                <a:rPr lang="en-US" altLang="zh-CN" b="1" dirty="0"/>
                <a:t>Actor-Critic</a:t>
              </a:r>
              <a:r>
                <a:rPr lang="zh-CN" altLang="en-US" sz="1800" b="0" i="0" u="none" strike="noStrike" baseline="0" dirty="0">
                  <a:latin typeface="+mn-ea"/>
                </a:rPr>
                <a:t>结构的确定性策略梯度方法，其策略网络只输出一个确定动作</a:t>
              </a:r>
              <a:endParaRPr lang="en-US" altLang="zh-CN" sz="1800" b="0" i="0" u="none" strike="noStrike" baseline="0" dirty="0">
                <a:latin typeface="+mn-ea"/>
              </a:endParaRPr>
            </a:p>
          </p:txBody>
        </p:sp>
      </p:gr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0377575-BE18-AE55-3E63-9CD7EDC43E1F}"/>
                  </a:ext>
                </a:extLst>
              </p:cNvPr>
              <p:cNvSpPr txBox="1"/>
              <p:nvPr/>
            </p:nvSpPr>
            <p:spPr>
              <a:xfrm>
                <a:off x="489146" y="3911793"/>
                <a:ext cx="5155383" cy="646331"/>
              </a:xfrm>
              <a:prstGeom prst="rect">
                <a:avLst/>
              </a:prstGeom>
              <a:noFill/>
            </p:spPr>
            <p:txBody>
              <a:bodyPr wrap="square">
                <a:spAutoFit/>
              </a:bodyPr>
              <a:lstStyle/>
              <a:p>
                <a:r>
                  <a:rPr lang="zh-CN" altLang="en-US" dirty="0"/>
                  <a:t>，随机性策略可以建模为</a:t>
                </a:r>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𝜋</m:t>
                        </m:r>
                      </m:e>
                      <m:sub>
                        <m:r>
                          <a:rPr lang="zh-CN" altLang="en-US" i="1" smtClean="0">
                            <a:latin typeface="Cambria Math" panose="02040503050406030204" pitchFamily="18" charset="0"/>
                          </a:rPr>
                          <m:t>𝜃</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𝑎</m:t>
                        </m:r>
                      </m:e>
                      <m:e>
                        <m:r>
                          <a:rPr lang="en-US" altLang="zh-CN" b="0" i="1" smtClean="0">
                            <a:latin typeface="Cambria Math" panose="02040503050406030204" pitchFamily="18" charset="0"/>
                          </a:rPr>
                          <m:t>𝑠</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zh-CN" altLang="en-US" b="0" i="1" smtClean="0">
                        <a:latin typeface="Cambria Math" panose="02040503050406030204" pitchFamily="18" charset="0"/>
                      </a:rPr>
                      <m:t>𝜃</m:t>
                    </m:r>
                    <m:r>
                      <a:rPr lang="en-US" altLang="zh-CN" b="0" i="1" smtClean="0">
                        <a:latin typeface="Cambria Math" panose="02040503050406030204" pitchFamily="18" charset="0"/>
                      </a:rPr>
                      <m:t>)</m:t>
                    </m:r>
                    <m:r>
                      <a:rPr lang="zh-CN" altLang="en-US" i="1">
                        <a:latin typeface="Cambria Math" panose="02040503050406030204" pitchFamily="18" charset="0"/>
                      </a:rPr>
                      <m:t>，</m:t>
                    </m:r>
                  </m:oMath>
                </a14:m>
                <a:r>
                  <a:rPr lang="zh-CN" altLang="en-US" dirty="0">
                    <a:latin typeface="+mn-ea"/>
                  </a:rPr>
                  <a:t>而确定性策略建模为</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m:t>
                    </m:r>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𝜇</m:t>
                        </m:r>
                      </m:e>
                      <m:sub>
                        <m:r>
                          <a:rPr lang="zh-CN" altLang="en-US" b="0" i="1" smtClean="0">
                            <a:latin typeface="Cambria Math" panose="02040503050406030204" pitchFamily="18" charset="0"/>
                          </a:rPr>
                          <m:t>𝜃</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oMath>
                </a14:m>
                <a:endParaRPr lang="en-US" altLang="zh-CN" sz="1800" b="0" i="0" u="none" strike="noStrike" baseline="0" dirty="0">
                  <a:latin typeface="+mn-ea"/>
                </a:endParaRPr>
              </a:p>
            </p:txBody>
          </p:sp>
        </mc:Choice>
        <mc:Fallback xmlns="">
          <p:sp>
            <p:nvSpPr>
              <p:cNvPr id="5" name="文本框 4">
                <a:extLst>
                  <a:ext uri="{FF2B5EF4-FFF2-40B4-BE49-F238E27FC236}">
                    <a16:creationId xmlns:a16="http://schemas.microsoft.com/office/drawing/2014/main" id="{D0377575-BE18-AE55-3E63-9CD7EDC43E1F}"/>
                  </a:ext>
                </a:extLst>
              </p:cNvPr>
              <p:cNvSpPr txBox="1">
                <a:spLocks noRot="1" noChangeAspect="1" noMove="1" noResize="1" noEditPoints="1" noAdjustHandles="1" noChangeArrowheads="1" noChangeShapeType="1" noTextEdit="1"/>
              </p:cNvSpPr>
              <p:nvPr/>
            </p:nvSpPr>
            <p:spPr>
              <a:xfrm>
                <a:off x="489146" y="3911793"/>
                <a:ext cx="5155383" cy="646331"/>
              </a:xfrm>
              <a:prstGeom prst="rect">
                <a:avLst/>
              </a:prstGeom>
              <a:blipFill>
                <a:blip r:embed="rId3"/>
                <a:stretch>
                  <a:fillRect l="-946" t="-5660" r="-118" b="-14151"/>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E20DD2F1-3DB2-28DA-5D9A-909711146B7B}"/>
              </a:ext>
            </a:extLst>
          </p:cNvPr>
          <p:cNvSpPr txBox="1"/>
          <p:nvPr/>
        </p:nvSpPr>
        <p:spPr>
          <a:xfrm>
            <a:off x="5900630" y="2182376"/>
            <a:ext cx="6094854" cy="3139321"/>
          </a:xfrm>
          <a:prstGeom prst="rect">
            <a:avLst/>
          </a:prstGeom>
          <a:noFill/>
        </p:spPr>
        <p:txBody>
          <a:bodyPr wrap="square">
            <a:spAutoFit/>
          </a:bodyPr>
          <a:lstStyle/>
          <a:p>
            <a:pPr marL="285750" indent="-285750" algn="l">
              <a:buFont typeface="Arial" panose="020B0604020202020204" pitchFamily="34" charset="0"/>
              <a:buChar char="•"/>
            </a:pPr>
            <a:r>
              <a:rPr lang="zh-CN" altLang="en-US" sz="1800" b="0" i="0" u="none" strike="noStrike" baseline="0" dirty="0">
                <a:latin typeface="+mn-ea"/>
              </a:rPr>
              <a:t>在实际机器人导航应用中，基于随机性策略的强化学习方法，需要</a:t>
            </a:r>
            <a:r>
              <a:rPr lang="zh-CN" altLang="en-US" sz="1800" b="1" i="0" u="none" strike="noStrike" baseline="0" dirty="0">
                <a:latin typeface="+mn-ea"/>
              </a:rPr>
              <a:t>策略梯度同时对状态和动作积分</a:t>
            </a:r>
            <a:r>
              <a:rPr lang="zh-CN" altLang="en-US" dirty="0">
                <a:latin typeface="+mn-ea"/>
              </a:rPr>
              <a:t>；</a:t>
            </a:r>
            <a:endParaRPr lang="en-US" altLang="zh-CN" dirty="0">
              <a:latin typeface="+mn-ea"/>
            </a:endParaRPr>
          </a:p>
          <a:p>
            <a:pPr marL="285750" indent="-285750" algn="l">
              <a:buFont typeface="Arial" panose="020B0604020202020204" pitchFamily="34" charset="0"/>
              <a:buChar char="•"/>
            </a:pPr>
            <a:r>
              <a:rPr lang="zh-CN" altLang="en-US" sz="1800" b="0" i="0" u="none" strike="noStrike" baseline="0" dirty="0">
                <a:latin typeface="+mn-ea"/>
              </a:rPr>
              <a:t>而基于确定性策略的强化学习方法往往只需要</a:t>
            </a:r>
            <a:r>
              <a:rPr lang="zh-CN" altLang="en-US" sz="1800" b="1" i="0" u="none" strike="noStrike" baseline="0" dirty="0">
                <a:latin typeface="+mn-ea"/>
              </a:rPr>
              <a:t>对状态积分</a:t>
            </a:r>
            <a:r>
              <a:rPr lang="zh-CN" altLang="en-US" sz="1800" b="0" i="0" u="none" strike="noStrike" baseline="0" dirty="0">
                <a:latin typeface="+mn-ea"/>
              </a:rPr>
              <a:t>，在面对高维动作空间的时候，基于确定性策略的学习方法更加容易训练。</a:t>
            </a:r>
            <a:endParaRPr lang="en-US" altLang="zh-CN" sz="1800" b="0" i="0" u="none" strike="noStrike" baseline="0" dirty="0">
              <a:latin typeface="+mn-ea"/>
            </a:endParaRPr>
          </a:p>
          <a:p>
            <a:pPr marL="285750" indent="-285750" algn="l">
              <a:buFont typeface="Arial" panose="020B0604020202020204" pitchFamily="34" charset="0"/>
              <a:buChar char="•"/>
            </a:pPr>
            <a:r>
              <a:rPr lang="zh-CN" altLang="en-US" sz="1800" b="0" i="0" u="none" strike="noStrike" baseline="0" dirty="0">
                <a:latin typeface="+mn-ea"/>
              </a:rPr>
              <a:t>但是由于确定性策略的特点，动作选择会只对应到一个状态，导致机器人在导航环境里探索力度不足。所以</a:t>
            </a:r>
            <a:r>
              <a:rPr lang="en-US" altLang="zh-CN" sz="1800" b="0" i="0" u="none" strike="noStrike" baseline="0" dirty="0">
                <a:latin typeface="+mn-ea"/>
              </a:rPr>
              <a:t>DPG </a:t>
            </a:r>
            <a:r>
              <a:rPr lang="zh-CN" altLang="en-US" sz="1800" b="0" i="0" u="none" strike="noStrike" baseline="0" dirty="0">
                <a:latin typeface="+mn-ea"/>
              </a:rPr>
              <a:t>算法在此基础上进行了</a:t>
            </a:r>
            <a:r>
              <a:rPr lang="en-US" altLang="zh-CN" sz="1800" b="0" i="0" u="none" strike="noStrike" baseline="0" dirty="0">
                <a:latin typeface="+mn-ea"/>
              </a:rPr>
              <a:t>off-police </a:t>
            </a:r>
            <a:r>
              <a:rPr lang="zh-CN" altLang="en-US" sz="1800" b="0" i="0" u="none" strike="noStrike" baseline="0" dirty="0">
                <a:latin typeface="+mn-ea"/>
              </a:rPr>
              <a:t>的改进，使用随机性行为策略（</a:t>
            </a:r>
            <a:r>
              <a:rPr lang="en-US" altLang="zh-CN" sz="1800" b="0" i="0" u="none" strike="noStrike" baseline="0" dirty="0">
                <a:latin typeface="+mn-ea"/>
              </a:rPr>
              <a:t>Stochastic </a:t>
            </a:r>
            <a:r>
              <a:rPr lang="en-US" altLang="zh-CN" sz="1800" b="0" i="0" u="none" strike="noStrike" baseline="0" dirty="0" err="1">
                <a:latin typeface="+mn-ea"/>
              </a:rPr>
              <a:t>Behaviour</a:t>
            </a:r>
            <a:r>
              <a:rPr lang="en-US" altLang="zh-CN" sz="1800" b="0" i="0" u="none" strike="noStrike" baseline="0" dirty="0">
                <a:latin typeface="+mn-ea"/>
              </a:rPr>
              <a:t> Police</a:t>
            </a:r>
            <a:r>
              <a:rPr lang="zh-CN" altLang="en-US" sz="1800" b="0" i="0" u="none" strike="noStrike" baseline="0" dirty="0">
                <a:latin typeface="+mn-ea"/>
              </a:rPr>
              <a:t>）负责探索，确定性目标策略负责学习（</a:t>
            </a:r>
            <a:r>
              <a:rPr lang="en-US" altLang="zh-CN" sz="1800" b="0" i="0" u="none" strike="noStrike" baseline="0" dirty="0">
                <a:latin typeface="+mn-ea"/>
              </a:rPr>
              <a:t>Deterministic Target Police</a:t>
            </a:r>
            <a:r>
              <a:rPr lang="zh-CN" altLang="en-US" sz="1800" b="0" i="0" u="none" strike="noStrike" baseline="0" dirty="0">
                <a:latin typeface="+mn-ea"/>
              </a:rPr>
              <a:t>）</a:t>
            </a:r>
            <a:endParaRPr lang="zh-CN" altLang="en-US" dirty="0">
              <a:latin typeface="+mn-ea"/>
            </a:endParaRPr>
          </a:p>
        </p:txBody>
      </p:sp>
    </p:spTree>
    <p:extLst>
      <p:ext uri="{BB962C8B-B14F-4D97-AF65-F5344CB8AC3E}">
        <p14:creationId xmlns:p14="http://schemas.microsoft.com/office/powerpoint/2010/main" val="3516595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071BE-3DBD-8DF3-A69C-FE277633BAF4}"/>
            </a:ext>
          </a:extLst>
        </p:cNvPr>
        <p:cNvGrpSpPr/>
        <p:nvPr/>
      </p:nvGrpSpPr>
      <p:grpSpPr>
        <a:xfrm>
          <a:off x="0" y="0"/>
          <a:ext cx="0" cy="0"/>
          <a:chOff x="0" y="0"/>
          <a:chExt cx="0" cy="0"/>
        </a:xfrm>
      </p:grpSpPr>
      <p:grpSp>
        <p:nvGrpSpPr>
          <p:cNvPr id="103" name="组合 102">
            <a:extLst>
              <a:ext uri="{FF2B5EF4-FFF2-40B4-BE49-F238E27FC236}">
                <a16:creationId xmlns:a16="http://schemas.microsoft.com/office/drawing/2014/main" id="{2F0B71D3-0B0D-35AB-D636-4E5D918F1131}"/>
              </a:ext>
            </a:extLst>
          </p:cNvPr>
          <p:cNvGrpSpPr/>
          <p:nvPr/>
        </p:nvGrpSpPr>
        <p:grpSpPr>
          <a:xfrm>
            <a:off x="0" y="939798"/>
            <a:ext cx="6095999" cy="912902"/>
            <a:chOff x="0" y="1075267"/>
            <a:chExt cx="6095999" cy="912902"/>
          </a:xfrm>
        </p:grpSpPr>
        <p:sp>
          <p:nvSpPr>
            <p:cNvPr id="104" name="矩形 103">
              <a:extLst>
                <a:ext uri="{FF2B5EF4-FFF2-40B4-BE49-F238E27FC236}">
                  <a16:creationId xmlns:a16="http://schemas.microsoft.com/office/drawing/2014/main" id="{F3DDD019-2742-D38E-40A4-DEDA80915C49}"/>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a:extLst>
                <a:ext uri="{FF2B5EF4-FFF2-40B4-BE49-F238E27FC236}">
                  <a16:creationId xmlns:a16="http://schemas.microsoft.com/office/drawing/2014/main" id="{3F0774BE-6BFC-7104-9D1A-3195231A8B18}"/>
                </a:ext>
              </a:extLst>
            </p:cNvPr>
            <p:cNvSpPr txBox="1"/>
            <p:nvPr/>
          </p:nvSpPr>
          <p:spPr>
            <a:xfrm>
              <a:off x="270932" y="1157172"/>
              <a:ext cx="5825067" cy="830997"/>
            </a:xfrm>
            <a:prstGeom prst="rect">
              <a:avLst/>
            </a:prstGeom>
            <a:noFill/>
          </p:spPr>
          <p:txBody>
            <a:bodyPr wrap="square">
              <a:spAutoFit/>
            </a:bodyPr>
            <a:lstStyle/>
            <a:p>
              <a:r>
                <a:rPr lang="en-US" altLang="zh-CN" sz="2400" b="1" dirty="0">
                  <a:solidFill>
                    <a:schemeClr val="accent1"/>
                  </a:solidFill>
                </a:rPr>
                <a:t>5.4.3 </a:t>
              </a:r>
              <a:r>
                <a:rPr lang="zh-CN" altLang="en-US" sz="2400" b="1" dirty="0">
                  <a:solidFill>
                    <a:schemeClr val="accent1"/>
                  </a:solidFill>
                </a:rPr>
                <a:t>基于深度强化学习方法的导航</a:t>
              </a:r>
            </a:p>
            <a:p>
              <a:endParaRPr lang="zh-CN" altLang="en-US" sz="2400" b="1" dirty="0">
                <a:solidFill>
                  <a:schemeClr val="accent1"/>
                </a:solidFill>
                <a:latin typeface="+mj-lt"/>
              </a:endParaRPr>
            </a:p>
          </p:txBody>
        </p:sp>
      </p:grpSp>
      <p:grpSp>
        <p:nvGrpSpPr>
          <p:cNvPr id="24" name="组合 23">
            <a:extLst>
              <a:ext uri="{FF2B5EF4-FFF2-40B4-BE49-F238E27FC236}">
                <a16:creationId xmlns:a16="http://schemas.microsoft.com/office/drawing/2014/main" id="{50BD673D-DBC4-37D7-66FB-43F5C95B499B}"/>
              </a:ext>
            </a:extLst>
          </p:cNvPr>
          <p:cNvGrpSpPr/>
          <p:nvPr/>
        </p:nvGrpSpPr>
        <p:grpSpPr>
          <a:xfrm>
            <a:off x="489148" y="1813044"/>
            <a:ext cx="6748960" cy="1584019"/>
            <a:chOff x="6226629" y="1373648"/>
            <a:chExt cx="6748960" cy="1584019"/>
          </a:xfrm>
        </p:grpSpPr>
        <p:sp>
          <p:nvSpPr>
            <p:cNvPr id="19" name="文本框 18">
              <a:extLst>
                <a:ext uri="{FF2B5EF4-FFF2-40B4-BE49-F238E27FC236}">
                  <a16:creationId xmlns:a16="http://schemas.microsoft.com/office/drawing/2014/main" id="{7C732990-D82C-46A8-4C9D-E439C12B76C7}"/>
                </a:ext>
              </a:extLst>
            </p:cNvPr>
            <p:cNvSpPr txBox="1"/>
            <p:nvPr/>
          </p:nvSpPr>
          <p:spPr>
            <a:xfrm>
              <a:off x="6880711" y="1373648"/>
              <a:ext cx="6094878" cy="369332"/>
            </a:xfrm>
            <a:prstGeom prst="rect">
              <a:avLst/>
            </a:prstGeom>
            <a:noFill/>
          </p:spPr>
          <p:txBody>
            <a:bodyPr wrap="square">
              <a:spAutoFit/>
            </a:bodyPr>
            <a:lstStyle/>
            <a:p>
              <a:r>
                <a:rPr lang="en-US" altLang="zh-CN" b="1" dirty="0"/>
                <a:t>DQN</a:t>
              </a:r>
              <a:r>
                <a:rPr lang="zh-CN" altLang="en-US" sz="1800" b="1" i="0" u="none" strike="noStrike" baseline="0" dirty="0"/>
                <a:t>算法</a:t>
              </a:r>
              <a:endParaRPr lang="zh-CN" altLang="en-US" b="1" dirty="0"/>
            </a:p>
          </p:txBody>
        </p:sp>
        <p:sp>
          <p:nvSpPr>
            <p:cNvPr id="23" name="文本框 22">
              <a:extLst>
                <a:ext uri="{FF2B5EF4-FFF2-40B4-BE49-F238E27FC236}">
                  <a16:creationId xmlns:a16="http://schemas.microsoft.com/office/drawing/2014/main" id="{924A62C6-9677-0290-23E4-27772706A7C6}"/>
                </a:ext>
              </a:extLst>
            </p:cNvPr>
            <p:cNvSpPr txBox="1"/>
            <p:nvPr/>
          </p:nvSpPr>
          <p:spPr>
            <a:xfrm>
              <a:off x="6226629" y="2034337"/>
              <a:ext cx="5212406" cy="923330"/>
            </a:xfrm>
            <a:prstGeom prst="rect">
              <a:avLst/>
            </a:prstGeom>
            <a:noFill/>
          </p:spPr>
          <p:txBody>
            <a:bodyPr wrap="square">
              <a:spAutoFit/>
            </a:bodyPr>
            <a:lstStyle/>
            <a:p>
              <a:r>
                <a:rPr lang="zh-CN" altLang="en-US" dirty="0"/>
                <a:t>随着深度神经网络的发展，</a:t>
              </a:r>
              <a:r>
                <a:rPr lang="en-US" altLang="zh-CN" dirty="0" err="1"/>
                <a:t>Mnih</a:t>
              </a:r>
              <a:r>
                <a:rPr lang="en-US" altLang="zh-CN" dirty="0"/>
                <a:t> </a:t>
              </a:r>
              <a:r>
                <a:rPr lang="zh-CN" altLang="en-US" dirty="0"/>
                <a:t>等人率先提出了将深度卷积神经网络与</a:t>
              </a:r>
              <a:r>
                <a:rPr lang="en-US" altLang="zh-CN" dirty="0"/>
                <a:t>Q-learning </a:t>
              </a:r>
              <a:r>
                <a:rPr lang="zh-CN" altLang="en-US" dirty="0"/>
                <a:t>算法结合的</a:t>
              </a:r>
              <a:r>
                <a:rPr lang="en-US" altLang="zh-CN" b="1" dirty="0"/>
                <a:t>DQN</a:t>
              </a:r>
              <a:r>
                <a:rPr lang="zh-CN" altLang="en-US" dirty="0"/>
                <a:t>（</a:t>
              </a:r>
              <a:r>
                <a:rPr lang="en-US" altLang="zh-CN" dirty="0"/>
                <a:t>Deep Q-learning Network</a:t>
              </a:r>
              <a:r>
                <a:rPr lang="zh-CN" altLang="en-US" dirty="0"/>
                <a:t>）算法</a:t>
              </a:r>
              <a:endParaRPr lang="en-US" altLang="zh-CN" sz="1800" b="0" i="0" u="none" strike="noStrike" baseline="0" dirty="0">
                <a:latin typeface="+mn-ea"/>
              </a:endParaRPr>
            </a:p>
          </p:txBody>
        </p:sp>
      </p:grpSp>
      <p:sp>
        <p:nvSpPr>
          <p:cNvPr id="5" name="文本框 4">
            <a:extLst>
              <a:ext uri="{FF2B5EF4-FFF2-40B4-BE49-F238E27FC236}">
                <a16:creationId xmlns:a16="http://schemas.microsoft.com/office/drawing/2014/main" id="{D989E932-3271-FE83-6703-227141B964B0}"/>
              </a:ext>
            </a:extLst>
          </p:cNvPr>
          <p:cNvSpPr txBox="1"/>
          <p:nvPr/>
        </p:nvSpPr>
        <p:spPr>
          <a:xfrm>
            <a:off x="489146" y="3911793"/>
            <a:ext cx="5155383" cy="1200329"/>
          </a:xfrm>
          <a:prstGeom prst="rect">
            <a:avLst/>
          </a:prstGeom>
          <a:noFill/>
        </p:spPr>
        <p:txBody>
          <a:bodyPr wrap="square">
            <a:spAutoFit/>
          </a:bodyPr>
          <a:lstStyle/>
          <a:p>
            <a:r>
              <a:rPr lang="zh-CN" altLang="en-US" dirty="0"/>
              <a:t>其核心思想就是使用深度卷积神经网络来拟合传统</a:t>
            </a:r>
            <a:r>
              <a:rPr lang="en-US" altLang="zh-CN" dirty="0"/>
              <a:t>Q-learning </a:t>
            </a:r>
            <a:r>
              <a:rPr lang="zh-CN" altLang="en-US" dirty="0"/>
              <a:t>算法中的状态</a:t>
            </a:r>
            <a:r>
              <a:rPr lang="en-US" altLang="zh-CN" dirty="0"/>
              <a:t>-</a:t>
            </a:r>
            <a:r>
              <a:rPr lang="zh-CN" altLang="en-US" dirty="0"/>
              <a:t>动作值表（</a:t>
            </a:r>
            <a:r>
              <a:rPr lang="en-US" altLang="zh-CN" dirty="0"/>
              <a:t>Q Table</a:t>
            </a:r>
            <a:r>
              <a:rPr lang="zh-CN" altLang="en-US" dirty="0"/>
              <a:t>），解决了</a:t>
            </a:r>
            <a:r>
              <a:rPr lang="en-US" altLang="zh-CN" dirty="0"/>
              <a:t>Q-learning </a:t>
            </a:r>
            <a:r>
              <a:rPr lang="zh-CN" altLang="en-US" dirty="0"/>
              <a:t>算法在应对需求较大动作空间场景时，</a:t>
            </a:r>
            <a:r>
              <a:rPr lang="en-US" altLang="zh-CN" dirty="0"/>
              <a:t>Q </a:t>
            </a:r>
            <a:r>
              <a:rPr lang="zh-CN" altLang="en-US" dirty="0"/>
              <a:t>表维度过大难以维护的问题。</a:t>
            </a:r>
            <a:endParaRPr lang="en-US" altLang="zh-CN" sz="1800" b="0" i="0" u="none" strike="noStrike" baseline="0" dirty="0">
              <a:latin typeface="+mn-ea"/>
            </a:endParaRPr>
          </a:p>
        </p:txBody>
      </p:sp>
      <p:grpSp>
        <p:nvGrpSpPr>
          <p:cNvPr id="10" name="组合 9">
            <a:extLst>
              <a:ext uri="{FF2B5EF4-FFF2-40B4-BE49-F238E27FC236}">
                <a16:creationId xmlns:a16="http://schemas.microsoft.com/office/drawing/2014/main" id="{1C0CE793-7369-3D63-5DE2-F1B3B657FFE5}"/>
              </a:ext>
            </a:extLst>
          </p:cNvPr>
          <p:cNvGrpSpPr/>
          <p:nvPr/>
        </p:nvGrpSpPr>
        <p:grpSpPr>
          <a:xfrm>
            <a:off x="5774952" y="1437201"/>
            <a:ext cx="5749177" cy="5006850"/>
            <a:chOff x="5774952" y="1437201"/>
            <a:chExt cx="5749177" cy="5006850"/>
          </a:xfrm>
        </p:grpSpPr>
        <p:pic>
          <p:nvPicPr>
            <p:cNvPr id="3" name="图片 2" descr="墙上的钟表&#10;&#10;AI 生成的内容可能不正确。">
              <a:extLst>
                <a:ext uri="{FF2B5EF4-FFF2-40B4-BE49-F238E27FC236}">
                  <a16:creationId xmlns:a16="http://schemas.microsoft.com/office/drawing/2014/main" id="{BE45C07B-7E7D-88AC-6EF9-4EAA2F1BB2DC}"/>
                </a:ext>
              </a:extLst>
            </p:cNvPr>
            <p:cNvPicPr>
              <a:picLocks noChangeAspect="1"/>
            </p:cNvPicPr>
            <p:nvPr/>
          </p:nvPicPr>
          <p:blipFill>
            <a:blip r:embed="rId3"/>
            <a:stretch>
              <a:fillRect/>
            </a:stretch>
          </p:blipFill>
          <p:spPr>
            <a:xfrm>
              <a:off x="5804397" y="1437201"/>
              <a:ext cx="5391902" cy="1638529"/>
            </a:xfrm>
            <a:prstGeom prst="rect">
              <a:avLst/>
            </a:prstGeom>
          </p:spPr>
        </p:pic>
        <p:sp>
          <p:nvSpPr>
            <p:cNvPr id="6" name="文本框 5">
              <a:extLst>
                <a:ext uri="{FF2B5EF4-FFF2-40B4-BE49-F238E27FC236}">
                  <a16:creationId xmlns:a16="http://schemas.microsoft.com/office/drawing/2014/main" id="{E3569015-7B98-18FD-EA73-245A452753D8}"/>
                </a:ext>
              </a:extLst>
            </p:cNvPr>
            <p:cNvSpPr txBox="1"/>
            <p:nvPr/>
          </p:nvSpPr>
          <p:spPr>
            <a:xfrm>
              <a:off x="6753912" y="3212397"/>
              <a:ext cx="1354665" cy="369332"/>
            </a:xfrm>
            <a:prstGeom prst="rect">
              <a:avLst/>
            </a:prstGeom>
            <a:noFill/>
          </p:spPr>
          <p:txBody>
            <a:bodyPr wrap="square">
              <a:spAutoFit/>
            </a:bodyPr>
            <a:lstStyle/>
            <a:p>
              <a:r>
                <a:rPr lang="zh-CN" altLang="en-US" sz="1800" b="0" i="0" u="none" strike="noStrike" baseline="0" dirty="0">
                  <a:latin typeface="+mn-ea"/>
                </a:rPr>
                <a:t>三个卷积层</a:t>
              </a:r>
              <a:endParaRPr lang="zh-CN" altLang="en-US" dirty="0">
                <a:latin typeface="+mn-ea"/>
              </a:endParaRPr>
            </a:p>
          </p:txBody>
        </p:sp>
        <p:sp>
          <p:nvSpPr>
            <p:cNvPr id="7" name="文本框 6">
              <a:extLst>
                <a:ext uri="{FF2B5EF4-FFF2-40B4-BE49-F238E27FC236}">
                  <a16:creationId xmlns:a16="http://schemas.microsoft.com/office/drawing/2014/main" id="{82B67379-82C5-EFF5-F6E2-EB012FA2E8A3}"/>
                </a:ext>
              </a:extLst>
            </p:cNvPr>
            <p:cNvSpPr txBox="1"/>
            <p:nvPr/>
          </p:nvSpPr>
          <p:spPr>
            <a:xfrm>
              <a:off x="8835965" y="3212397"/>
              <a:ext cx="1874617" cy="369332"/>
            </a:xfrm>
            <a:prstGeom prst="rect">
              <a:avLst/>
            </a:prstGeom>
            <a:noFill/>
          </p:spPr>
          <p:txBody>
            <a:bodyPr wrap="square">
              <a:spAutoFit/>
            </a:bodyPr>
            <a:lstStyle/>
            <a:p>
              <a:r>
                <a:rPr lang="zh-CN" altLang="en-US" dirty="0">
                  <a:latin typeface="+mn-ea"/>
                </a:rPr>
                <a:t>两</a:t>
              </a:r>
              <a:r>
                <a:rPr lang="zh-CN" altLang="en-US" sz="1800" b="0" i="0" u="none" strike="noStrike" baseline="0" dirty="0">
                  <a:latin typeface="+mn-ea"/>
                </a:rPr>
                <a:t>个全连接层</a:t>
              </a:r>
              <a:endParaRPr lang="zh-CN" altLang="en-US" dirty="0">
                <a:latin typeface="+mn-ea"/>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2DBB4FFD-BCA5-5195-8C69-14438F901D08}"/>
                    </a:ext>
                  </a:extLst>
                </p:cNvPr>
                <p:cNvSpPr txBox="1"/>
                <p:nvPr/>
              </p:nvSpPr>
              <p:spPr>
                <a:xfrm>
                  <a:off x="5774952" y="3581729"/>
                  <a:ext cx="5749177" cy="2862322"/>
                </a:xfrm>
                <a:prstGeom prst="rect">
                  <a:avLst/>
                </a:prstGeom>
                <a:noFill/>
              </p:spPr>
              <p:txBody>
                <a:bodyPr wrap="square">
                  <a:spAutoFit/>
                </a:bodyPr>
                <a:lstStyle/>
                <a:p>
                  <a:pPr marL="285750" indent="-285750">
                    <a:buFont typeface="Arial" panose="020B0604020202020204" pitchFamily="34" charset="0"/>
                    <a:buChar char="•"/>
                  </a:pPr>
                  <a:r>
                    <a:rPr lang="zh-CN" altLang="en-US" dirty="0"/>
                    <a:t>将原本更新状态</a:t>
                  </a:r>
                  <a:r>
                    <a:rPr lang="en-US" altLang="zh-CN" dirty="0"/>
                    <a:t>-</a:t>
                  </a:r>
                  <a:r>
                    <a:rPr lang="zh-CN" altLang="en-US" dirty="0"/>
                    <a:t>动作值</a:t>
                  </a:r>
                  <a14:m>
                    <m:oMath xmlns:m="http://schemas.openxmlformats.org/officeDocument/2006/math">
                      <m:r>
                        <a:rPr lang="en-US" altLang="zh-CN" b="0" i="1" dirty="0" smtClean="0">
                          <a:latin typeface="Cambria Math" panose="02040503050406030204" pitchFamily="18" charset="0"/>
                        </a:rPr>
                        <m:t>𝑄</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𝑠</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𝑎</m:t>
                      </m:r>
                      <m:r>
                        <a:rPr lang="en-US" altLang="zh-CN" b="0" i="1" dirty="0" smtClean="0">
                          <a:latin typeface="Cambria Math" panose="02040503050406030204" pitchFamily="18" charset="0"/>
                        </a:rPr>
                        <m:t>)</m:t>
                      </m:r>
                    </m:oMath>
                  </a14:m>
                  <a:r>
                    <a:rPr lang="zh-CN" altLang="en-US" dirty="0"/>
                    <a:t>的方法用更新网络参数</a:t>
                  </a:r>
                  <a14:m>
                    <m:oMath xmlns:m="http://schemas.openxmlformats.org/officeDocument/2006/math">
                      <m:r>
                        <a:rPr lang="zh-CN" altLang="en-US" i="1" smtClean="0">
                          <a:latin typeface="Cambria Math" panose="02040503050406030204" pitchFamily="18" charset="0"/>
                        </a:rPr>
                        <m:t>𝜃</m:t>
                      </m:r>
                    </m:oMath>
                  </a14:m>
                  <a:r>
                    <a:rPr lang="zh-CN" altLang="en-US" dirty="0"/>
                    <a:t>的方法替换，本质上还是在估计最优状态</a:t>
                  </a:r>
                  <a:r>
                    <a:rPr lang="en-US" altLang="zh-CN" dirty="0"/>
                    <a:t>-</a:t>
                  </a:r>
                  <a:r>
                    <a:rPr lang="zh-CN" altLang="en-US" dirty="0"/>
                    <a:t>动作值。</a:t>
                  </a:r>
                  <a:endParaRPr lang="en-US" altLang="zh-CN" dirty="0"/>
                </a:p>
                <a:p>
                  <a:pPr marL="285750" indent="-285750">
                    <a:buFont typeface="Arial" panose="020B0604020202020204" pitchFamily="34" charset="0"/>
                    <a:buChar char="•"/>
                  </a:pPr>
                  <a:r>
                    <a:rPr lang="en-US" altLang="zh-CN" dirty="0"/>
                    <a:t>DQN </a:t>
                  </a:r>
                  <a:r>
                    <a:rPr lang="zh-CN" altLang="en-US" dirty="0"/>
                    <a:t>方法在训练过程中加入了经验回放的设计，有助于神经网络训练收敛性和稳定性。</a:t>
                  </a:r>
                  <a:endParaRPr lang="en-US" altLang="zh-CN" dirty="0"/>
                </a:p>
                <a:p>
                  <a:pPr marL="285750" indent="-285750">
                    <a:buFont typeface="Arial" panose="020B0604020202020204" pitchFamily="34" charset="0"/>
                    <a:buChar char="•"/>
                  </a:pPr>
                  <a:r>
                    <a:rPr lang="zh-CN" altLang="en-US" dirty="0"/>
                    <a:t>具体来说，当导航机器人与导航环境交互，在每一个时间步上获得的交互数据记为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i="1">
                              <a:latin typeface="Cambria Math" panose="02040503050406030204" pitchFamily="18" charset="0"/>
                            </a:rPr>
                            <m:t>𝑡</m:t>
                          </m:r>
                          <m:r>
                            <a:rPr lang="en-US" altLang="zh-CN" i="1" smtClean="0">
                              <a:latin typeface="Cambria Math" panose="02040503050406030204" pitchFamily="18" charset="0"/>
                            </a:rPr>
                            <m:t> </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i="1">
                              <a:latin typeface="Cambria Math" panose="02040503050406030204" pitchFamily="18" charset="0"/>
                            </a:rPr>
                            <m:t>𝑡</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oMath>
                  </a14:m>
                  <a:r>
                    <a:rPr lang="zh-CN" altLang="en-US" dirty="0"/>
                    <a:t>，同时将其放至经验池中</a:t>
                  </a:r>
                  <a:endParaRPr lang="en-US" altLang="zh-CN" dirty="0"/>
                </a:p>
                <a:p>
                  <a:pPr marL="285750" indent="-285750">
                    <a:buFont typeface="Arial" panose="020B0604020202020204" pitchFamily="34" charset="0"/>
                    <a:buChar char="•"/>
                  </a:pPr>
                  <a:r>
                    <a:rPr lang="zh-CN" altLang="en-US" dirty="0"/>
                    <a:t>在训练过程中，导航机器人会利用经验回放机制，对经验池内的交互数据进行随机采样获得训练数据，并通过梯度反向传播更新网络参数</a:t>
                  </a:r>
                  <a14:m>
                    <m:oMath xmlns:m="http://schemas.openxmlformats.org/officeDocument/2006/math">
                      <m:r>
                        <a:rPr lang="zh-CN" altLang="en-US" i="1" smtClean="0">
                          <a:latin typeface="Cambria Math" panose="02040503050406030204" pitchFamily="18" charset="0"/>
                        </a:rPr>
                        <m:t>𝜃</m:t>
                      </m:r>
                    </m:oMath>
                  </a14:m>
                  <a:endParaRPr lang="en-US" altLang="zh-CN" sz="1800" b="0" i="0" u="none" strike="noStrike" baseline="0" dirty="0">
                    <a:latin typeface="+mn-ea"/>
                  </a:endParaRPr>
                </a:p>
              </p:txBody>
            </p:sp>
          </mc:Choice>
          <mc:Fallback xmlns="">
            <p:sp>
              <p:nvSpPr>
                <p:cNvPr id="8" name="文本框 7">
                  <a:extLst>
                    <a:ext uri="{FF2B5EF4-FFF2-40B4-BE49-F238E27FC236}">
                      <a16:creationId xmlns:a16="http://schemas.microsoft.com/office/drawing/2014/main" id="{2DBB4FFD-BCA5-5195-8C69-14438F901D08}"/>
                    </a:ext>
                  </a:extLst>
                </p:cNvPr>
                <p:cNvSpPr txBox="1">
                  <a:spLocks noRot="1" noChangeAspect="1" noMove="1" noResize="1" noEditPoints="1" noAdjustHandles="1" noChangeArrowheads="1" noChangeShapeType="1" noTextEdit="1"/>
                </p:cNvSpPr>
                <p:nvPr/>
              </p:nvSpPr>
              <p:spPr>
                <a:xfrm>
                  <a:off x="5774952" y="3581729"/>
                  <a:ext cx="5749177" cy="2862322"/>
                </a:xfrm>
                <a:prstGeom prst="rect">
                  <a:avLst/>
                </a:prstGeom>
                <a:blipFill>
                  <a:blip r:embed="rId4"/>
                  <a:stretch>
                    <a:fillRect l="-636" t="-1279" r="-4878" b="-2559"/>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30965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5A5CF-AB6F-6FF5-7362-6FA342ED9C7A}"/>
            </a:ext>
          </a:extLst>
        </p:cNvPr>
        <p:cNvGrpSpPr/>
        <p:nvPr/>
      </p:nvGrpSpPr>
      <p:grpSpPr>
        <a:xfrm>
          <a:off x="0" y="0"/>
          <a:ext cx="0" cy="0"/>
          <a:chOff x="0" y="0"/>
          <a:chExt cx="0" cy="0"/>
        </a:xfrm>
      </p:grpSpPr>
      <p:grpSp>
        <p:nvGrpSpPr>
          <p:cNvPr id="103" name="组合 102">
            <a:extLst>
              <a:ext uri="{FF2B5EF4-FFF2-40B4-BE49-F238E27FC236}">
                <a16:creationId xmlns:a16="http://schemas.microsoft.com/office/drawing/2014/main" id="{D991F0A0-D30C-CB89-7AEB-8B936EB5B074}"/>
              </a:ext>
            </a:extLst>
          </p:cNvPr>
          <p:cNvGrpSpPr/>
          <p:nvPr/>
        </p:nvGrpSpPr>
        <p:grpSpPr>
          <a:xfrm>
            <a:off x="0" y="939798"/>
            <a:ext cx="6095999" cy="912902"/>
            <a:chOff x="0" y="1075267"/>
            <a:chExt cx="6095999" cy="912902"/>
          </a:xfrm>
        </p:grpSpPr>
        <p:sp>
          <p:nvSpPr>
            <p:cNvPr id="104" name="矩形 103">
              <a:extLst>
                <a:ext uri="{FF2B5EF4-FFF2-40B4-BE49-F238E27FC236}">
                  <a16:creationId xmlns:a16="http://schemas.microsoft.com/office/drawing/2014/main" id="{BD350D20-A8F0-DF0A-8CB8-39D6400BCAA7}"/>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a:extLst>
                <a:ext uri="{FF2B5EF4-FFF2-40B4-BE49-F238E27FC236}">
                  <a16:creationId xmlns:a16="http://schemas.microsoft.com/office/drawing/2014/main" id="{1E46A1A0-940B-7EDB-7589-176DC522FF61}"/>
                </a:ext>
              </a:extLst>
            </p:cNvPr>
            <p:cNvSpPr txBox="1"/>
            <p:nvPr/>
          </p:nvSpPr>
          <p:spPr>
            <a:xfrm>
              <a:off x="270932" y="1157172"/>
              <a:ext cx="5825067" cy="830997"/>
            </a:xfrm>
            <a:prstGeom prst="rect">
              <a:avLst/>
            </a:prstGeom>
            <a:noFill/>
          </p:spPr>
          <p:txBody>
            <a:bodyPr wrap="square">
              <a:spAutoFit/>
            </a:bodyPr>
            <a:lstStyle/>
            <a:p>
              <a:r>
                <a:rPr lang="en-US" altLang="zh-CN" sz="2400" b="1" dirty="0">
                  <a:solidFill>
                    <a:schemeClr val="accent1"/>
                  </a:solidFill>
                </a:rPr>
                <a:t>5.4.3 </a:t>
              </a:r>
              <a:r>
                <a:rPr lang="zh-CN" altLang="en-US" sz="2400" b="1" dirty="0">
                  <a:solidFill>
                    <a:schemeClr val="accent1"/>
                  </a:solidFill>
                </a:rPr>
                <a:t>基于深度强化学习方法的导航</a:t>
              </a:r>
            </a:p>
            <a:p>
              <a:endParaRPr lang="zh-CN" altLang="en-US" sz="2400" b="1" dirty="0">
                <a:solidFill>
                  <a:schemeClr val="accent1"/>
                </a:solidFill>
                <a:latin typeface="+mj-lt"/>
              </a:endParaRPr>
            </a:p>
          </p:txBody>
        </p:sp>
      </p:grpSp>
      <p:grpSp>
        <p:nvGrpSpPr>
          <p:cNvPr id="24" name="组合 23">
            <a:extLst>
              <a:ext uri="{FF2B5EF4-FFF2-40B4-BE49-F238E27FC236}">
                <a16:creationId xmlns:a16="http://schemas.microsoft.com/office/drawing/2014/main" id="{55D0399B-E474-9A60-03C5-AE3BAA5D9939}"/>
              </a:ext>
            </a:extLst>
          </p:cNvPr>
          <p:cNvGrpSpPr/>
          <p:nvPr/>
        </p:nvGrpSpPr>
        <p:grpSpPr>
          <a:xfrm>
            <a:off x="431462" y="1647177"/>
            <a:ext cx="6659117" cy="2677656"/>
            <a:chOff x="6316472" y="1373648"/>
            <a:chExt cx="6659117" cy="2677656"/>
          </a:xfrm>
        </p:grpSpPr>
        <p:sp>
          <p:nvSpPr>
            <p:cNvPr id="19" name="文本框 18">
              <a:extLst>
                <a:ext uri="{FF2B5EF4-FFF2-40B4-BE49-F238E27FC236}">
                  <a16:creationId xmlns:a16="http://schemas.microsoft.com/office/drawing/2014/main" id="{6688E1B2-B4D8-EAFF-F60F-39DF3CB60934}"/>
                </a:ext>
              </a:extLst>
            </p:cNvPr>
            <p:cNvSpPr txBox="1"/>
            <p:nvPr/>
          </p:nvSpPr>
          <p:spPr>
            <a:xfrm>
              <a:off x="6880711" y="1373648"/>
              <a:ext cx="6094878" cy="369332"/>
            </a:xfrm>
            <a:prstGeom prst="rect">
              <a:avLst/>
            </a:prstGeom>
            <a:noFill/>
          </p:spPr>
          <p:txBody>
            <a:bodyPr wrap="square">
              <a:spAutoFit/>
            </a:bodyPr>
            <a:lstStyle/>
            <a:p>
              <a:r>
                <a:rPr lang="en-US" altLang="zh-CN" b="1" dirty="0"/>
                <a:t>DDPG</a:t>
              </a:r>
              <a:r>
                <a:rPr lang="zh-CN" altLang="en-US" sz="1800" b="1" i="0" u="none" strike="noStrike" baseline="0" dirty="0"/>
                <a:t>算法</a:t>
              </a:r>
              <a:endParaRPr lang="zh-CN" altLang="en-US" b="1" dirty="0"/>
            </a:p>
          </p:txBody>
        </p:sp>
        <p:sp>
          <p:nvSpPr>
            <p:cNvPr id="23" name="文本框 22">
              <a:extLst>
                <a:ext uri="{FF2B5EF4-FFF2-40B4-BE49-F238E27FC236}">
                  <a16:creationId xmlns:a16="http://schemas.microsoft.com/office/drawing/2014/main" id="{05081091-44B4-1157-D3C1-1FF5F01993B4}"/>
                </a:ext>
              </a:extLst>
            </p:cNvPr>
            <p:cNvSpPr txBox="1"/>
            <p:nvPr/>
          </p:nvSpPr>
          <p:spPr>
            <a:xfrm>
              <a:off x="6316472" y="1742980"/>
              <a:ext cx="5212406" cy="2308324"/>
            </a:xfrm>
            <a:prstGeom prst="rect">
              <a:avLst/>
            </a:prstGeom>
            <a:noFill/>
          </p:spPr>
          <p:txBody>
            <a:bodyPr wrap="square">
              <a:spAutoFit/>
            </a:bodyPr>
            <a:lstStyle/>
            <a:p>
              <a:pPr marL="285750" indent="-285750">
                <a:buFont typeface="Arial" panose="020B0604020202020204" pitchFamily="34" charset="0"/>
                <a:buChar char="•"/>
              </a:pPr>
              <a:r>
                <a:rPr lang="zh-CN" altLang="en-US" dirty="0"/>
                <a:t>深度确定性策略梯度（</a:t>
              </a:r>
              <a:r>
                <a:rPr lang="en-US" altLang="zh-CN" dirty="0"/>
                <a:t>Deep Deterministic Police Gradient</a:t>
              </a:r>
              <a:r>
                <a:rPr lang="zh-CN" altLang="en-US" dirty="0"/>
                <a:t>）算法是基于确定性策略梯度算法结合深度神经网络改进的算法。</a:t>
              </a:r>
              <a:endParaRPr lang="en-US" altLang="zh-CN" dirty="0"/>
            </a:p>
            <a:p>
              <a:pPr marL="285750" indent="-285750">
                <a:buFont typeface="Arial" panose="020B0604020202020204" pitchFamily="34" charset="0"/>
                <a:buChar char="•"/>
              </a:pPr>
              <a:r>
                <a:rPr lang="en-US" altLang="zh-CN" dirty="0"/>
                <a:t>DQN </a:t>
              </a:r>
              <a:r>
                <a:rPr lang="zh-CN" altLang="en-US" dirty="0"/>
                <a:t>仍然只适用于</a:t>
              </a:r>
              <a:r>
                <a:rPr lang="zh-CN" altLang="en-US" b="1" dirty="0"/>
                <a:t>离散动作空间</a:t>
              </a:r>
              <a:r>
                <a:rPr lang="zh-CN" altLang="en-US" dirty="0"/>
                <a:t>，而</a:t>
              </a:r>
              <a:r>
                <a:rPr lang="en-US" altLang="zh-CN" dirty="0"/>
                <a:t>DDPG </a:t>
              </a:r>
              <a:r>
                <a:rPr lang="zh-CN" altLang="en-US" dirty="0"/>
                <a:t>算法可应用于</a:t>
              </a:r>
              <a:r>
                <a:rPr lang="zh-CN" altLang="en-US" b="1" dirty="0"/>
                <a:t>连续动作</a:t>
              </a:r>
              <a:r>
                <a:rPr lang="zh-CN" altLang="en-US" dirty="0"/>
                <a:t>的任务学习。</a:t>
              </a:r>
              <a:endParaRPr lang="en-US" altLang="zh-CN" dirty="0"/>
            </a:p>
            <a:p>
              <a:pPr marL="285750" indent="-285750">
                <a:buFont typeface="Arial" panose="020B0604020202020204" pitchFamily="34" charset="0"/>
                <a:buChar char="•"/>
              </a:pPr>
              <a:r>
                <a:rPr lang="en-US" altLang="zh-CN" dirty="0"/>
                <a:t>DDPG </a:t>
              </a:r>
              <a:r>
                <a:rPr lang="zh-CN" altLang="en-US" dirty="0"/>
                <a:t>采用</a:t>
              </a:r>
              <a:r>
                <a:rPr lang="en-US" altLang="zh-CN" dirty="0"/>
                <a:t>Actor</a:t>
              </a:r>
              <a:r>
                <a:rPr lang="zh-CN" altLang="en-US" dirty="0"/>
                <a:t>网络来拟合策略函数并直接输出动作，同时采用</a:t>
              </a:r>
              <a:r>
                <a:rPr lang="en-US" altLang="zh-CN" dirty="0"/>
                <a:t>Critic</a:t>
              </a:r>
              <a:r>
                <a:rPr lang="zh-CN" altLang="en-US" dirty="0"/>
                <a:t>网络拟合值函数来估计策略优势。</a:t>
              </a:r>
              <a:endParaRPr lang="en-US" altLang="zh-CN" sz="1800" b="0" i="0" u="none" strike="noStrike" baseline="0" dirty="0">
                <a:latin typeface="+mn-ea"/>
              </a:endParaRPr>
            </a:p>
          </p:txBody>
        </p:sp>
      </p:gr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AFC2801-9173-8EF2-F6DE-3AC79848743D}"/>
                  </a:ext>
                </a:extLst>
              </p:cNvPr>
              <p:cNvSpPr txBox="1"/>
              <p:nvPr/>
            </p:nvSpPr>
            <p:spPr>
              <a:xfrm>
                <a:off x="392284" y="4414683"/>
                <a:ext cx="5290762" cy="2031325"/>
              </a:xfrm>
              <a:prstGeom prst="rect">
                <a:avLst/>
              </a:prstGeom>
              <a:noFill/>
            </p:spPr>
            <p:txBody>
              <a:bodyPr wrap="square">
                <a:spAutoFit/>
              </a:bodyPr>
              <a:lstStyle/>
              <a:p>
                <a:r>
                  <a:rPr lang="en-US" altLang="zh-CN" dirty="0"/>
                  <a:t>DDPG </a:t>
                </a:r>
                <a:r>
                  <a:rPr lang="zh-CN" altLang="en-US" dirty="0"/>
                  <a:t>算法中，</a:t>
                </a:r>
                <a:r>
                  <a:rPr lang="en-US" altLang="zh-CN" dirty="0"/>
                  <a:t>Critic </a:t>
                </a:r>
                <a:r>
                  <a:rPr lang="zh-CN" altLang="en-US" dirty="0"/>
                  <a:t>网络接受状态</a:t>
                </a:r>
                <a14:m>
                  <m:oMath xmlns:m="http://schemas.openxmlformats.org/officeDocument/2006/math">
                    <m:r>
                      <a:rPr lang="en-US" altLang="zh-CN" b="0" i="1" smtClean="0">
                        <a:latin typeface="Cambria Math" panose="02040503050406030204" pitchFamily="18" charset="0"/>
                      </a:rPr>
                      <m:t>𝑠</m:t>
                    </m:r>
                  </m:oMath>
                </a14:m>
                <a:r>
                  <a:rPr lang="zh-CN" altLang="en-US" dirty="0"/>
                  <a:t>和动作</a:t>
                </a:r>
                <a14:m>
                  <m:oMath xmlns:m="http://schemas.openxmlformats.org/officeDocument/2006/math">
                    <m:r>
                      <a:rPr lang="en-US" altLang="zh-CN" b="0" i="1" smtClean="0">
                        <a:latin typeface="Cambria Math" panose="02040503050406030204" pitchFamily="18" charset="0"/>
                      </a:rPr>
                      <m:t>𝑎</m:t>
                    </m:r>
                  </m:oMath>
                </a14:m>
                <a:r>
                  <a:rPr lang="zh-CN" altLang="en-US" dirty="0"/>
                  <a:t>两个输入，输出估计的状态</a:t>
                </a:r>
                <a:r>
                  <a:rPr lang="en-US" altLang="zh-CN" dirty="0"/>
                  <a:t>-</a:t>
                </a:r>
                <a:r>
                  <a:rPr lang="zh-CN" altLang="en-US" dirty="0"/>
                  <a:t>动作值</a:t>
                </a:r>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oMath>
                </a14:m>
                <a:r>
                  <a:rPr lang="zh-CN" altLang="en-US" dirty="0"/>
                  <a:t>；</a:t>
                </a:r>
                <a:r>
                  <a:rPr lang="en-US" altLang="zh-CN" dirty="0"/>
                  <a:t>Actor </a:t>
                </a:r>
                <a:r>
                  <a:rPr lang="zh-CN" altLang="en-US" dirty="0"/>
                  <a:t>网络接受状态</a:t>
                </a:r>
                <a14:m>
                  <m:oMath xmlns:m="http://schemas.openxmlformats.org/officeDocument/2006/math">
                    <m:r>
                      <a:rPr lang="en-US" altLang="zh-CN" i="1">
                        <a:latin typeface="Cambria Math" panose="02040503050406030204" pitchFamily="18" charset="0"/>
                      </a:rPr>
                      <m:t>𝑠</m:t>
                    </m:r>
                  </m:oMath>
                </a14:m>
                <a:r>
                  <a:rPr lang="zh-CN" altLang="en-US" dirty="0"/>
                  <a:t>输入，输出移动动作</a:t>
                </a:r>
                <a14:m>
                  <m:oMath xmlns:m="http://schemas.openxmlformats.org/officeDocument/2006/math">
                    <m:r>
                      <a:rPr lang="en-US" altLang="zh-CN" i="1">
                        <a:latin typeface="Cambria Math" panose="02040503050406030204" pitchFamily="18" charset="0"/>
                      </a:rPr>
                      <m:t>𝑎</m:t>
                    </m:r>
                    <m:r>
                      <a:rPr lang="en-US" altLang="zh-CN" i="1">
                        <a:latin typeface="Cambria Math" panose="02040503050406030204" pitchFamily="18" charset="0"/>
                      </a:rPr>
                      <m:t> </m:t>
                    </m:r>
                  </m:oMath>
                </a14:m>
                <a:r>
                  <a:rPr lang="zh-CN" altLang="en-US" dirty="0"/>
                  <a:t>；</a:t>
                </a:r>
                <a:endParaRPr lang="en-US" altLang="zh-CN" dirty="0"/>
              </a:p>
              <a:p>
                <a:r>
                  <a:rPr lang="zh-CN" altLang="en-US" dirty="0"/>
                  <a:t>网络更新时如果更新目标目标不断变动，则会造成更新困难，</a:t>
                </a:r>
                <a:r>
                  <a:rPr lang="en-US" altLang="zh-CN" dirty="0"/>
                  <a:t>DDPG </a:t>
                </a:r>
                <a:r>
                  <a:rPr lang="zh-CN" altLang="en-US" dirty="0"/>
                  <a:t>算法和</a:t>
                </a:r>
                <a:r>
                  <a:rPr lang="en-US" altLang="zh-CN" dirty="0"/>
                  <a:t>DQN </a:t>
                </a:r>
                <a:r>
                  <a:rPr lang="zh-CN" altLang="en-US" dirty="0"/>
                  <a:t>算法采用了相同的固定网络技术，冻结当前网络参数用于求解目标网络，更新之后，再把参数赋值到目标网络之上。</a:t>
                </a:r>
                <a:endParaRPr lang="en-US" altLang="zh-CN" sz="1800" b="0" i="0" u="none" strike="noStrike" baseline="0" dirty="0">
                  <a:latin typeface="+mn-ea"/>
                </a:endParaRPr>
              </a:p>
            </p:txBody>
          </p:sp>
        </mc:Choice>
        <mc:Fallback xmlns="">
          <p:sp>
            <p:nvSpPr>
              <p:cNvPr id="5" name="文本框 4">
                <a:extLst>
                  <a:ext uri="{FF2B5EF4-FFF2-40B4-BE49-F238E27FC236}">
                    <a16:creationId xmlns:a16="http://schemas.microsoft.com/office/drawing/2014/main" id="{AAFC2801-9173-8EF2-F6DE-3AC79848743D}"/>
                  </a:ext>
                </a:extLst>
              </p:cNvPr>
              <p:cNvSpPr txBox="1">
                <a:spLocks noRot="1" noChangeAspect="1" noMove="1" noResize="1" noEditPoints="1" noAdjustHandles="1" noChangeArrowheads="1" noChangeShapeType="1" noTextEdit="1"/>
              </p:cNvSpPr>
              <p:nvPr/>
            </p:nvSpPr>
            <p:spPr>
              <a:xfrm>
                <a:off x="392284" y="4414683"/>
                <a:ext cx="5290762" cy="2031325"/>
              </a:xfrm>
              <a:prstGeom prst="rect">
                <a:avLst/>
              </a:prstGeom>
              <a:blipFill>
                <a:blip r:embed="rId3"/>
                <a:stretch>
                  <a:fillRect l="-922" t="-1502" b="-3904"/>
                </a:stretch>
              </a:blipFill>
            </p:spPr>
            <p:txBody>
              <a:bodyPr/>
              <a:lstStyle/>
              <a:p>
                <a:r>
                  <a:rPr lang="zh-CN" altLang="en-US">
                    <a:noFill/>
                  </a:rPr>
                  <a:t> </a:t>
                </a:r>
              </a:p>
            </p:txBody>
          </p:sp>
        </mc:Fallback>
      </mc:AlternateContent>
      <p:pic>
        <p:nvPicPr>
          <p:cNvPr id="4" name="图片 3" descr="图示&#10;&#10;AI 生成的内容可能不正确。">
            <a:extLst>
              <a:ext uri="{FF2B5EF4-FFF2-40B4-BE49-F238E27FC236}">
                <a16:creationId xmlns:a16="http://schemas.microsoft.com/office/drawing/2014/main" id="{E9582BE5-0E8F-5C92-2336-EF5241E7F10C}"/>
              </a:ext>
            </a:extLst>
          </p:cNvPr>
          <p:cNvPicPr>
            <a:picLocks noChangeAspect="1"/>
          </p:cNvPicPr>
          <p:nvPr/>
        </p:nvPicPr>
        <p:blipFill>
          <a:blip r:embed="rId4"/>
          <a:srcRect t="1086"/>
          <a:stretch>
            <a:fillRect/>
          </a:stretch>
        </p:blipFill>
        <p:spPr>
          <a:xfrm>
            <a:off x="6459444" y="866415"/>
            <a:ext cx="4587315" cy="2238610"/>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C68CC529-7512-2902-D3A9-2CE2DF2EF9D0}"/>
                  </a:ext>
                </a:extLst>
              </p:cNvPr>
              <p:cNvSpPr txBox="1"/>
              <p:nvPr/>
            </p:nvSpPr>
            <p:spPr>
              <a:xfrm>
                <a:off x="5886451" y="3249644"/>
                <a:ext cx="6094878" cy="1263936"/>
              </a:xfrm>
              <a:prstGeom prst="rect">
                <a:avLst/>
              </a:prstGeom>
              <a:noFill/>
            </p:spPr>
            <p:txBody>
              <a:bodyPr wrap="square">
                <a:spAutoFit/>
              </a:bodyPr>
              <a:lstStyle/>
              <a:p>
                <a:r>
                  <a:rPr lang="zh-CN" altLang="en-US" sz="1800" b="0" i="0" u="none" strike="noStrike" baseline="0" dirty="0">
                    <a:latin typeface="+mn-ea"/>
                  </a:rPr>
                  <a:t>在训练决策模型时，只训练</a:t>
                </a:r>
                <a:r>
                  <a:rPr lang="en-US" altLang="zh-CN" sz="1800" b="0" i="0" u="none" strike="noStrike" baseline="0" dirty="0">
                    <a:latin typeface="+mn-ea"/>
                  </a:rPr>
                  <a:t>Actor</a:t>
                </a:r>
                <a:r>
                  <a:rPr lang="zh-CN" altLang="en-US" sz="1800" b="0" i="0" u="none" strike="noStrike" baseline="0" dirty="0">
                    <a:latin typeface="+mn-ea"/>
                  </a:rPr>
                  <a:t>网络参数</a:t>
                </a:r>
                <a14:m>
                  <m:oMath xmlns:m="http://schemas.openxmlformats.org/officeDocument/2006/math">
                    <m:sSup>
                      <m:sSupPr>
                        <m:ctrlPr>
                          <a:rPr lang="zh-CN" altLang="en-US" sz="1800" b="0" i="1" u="none" strike="noStrike" baseline="0" smtClean="0">
                            <a:latin typeface="Cambria Math" panose="02040503050406030204" pitchFamily="18" charset="0"/>
                          </a:rPr>
                        </m:ctrlPr>
                      </m:sSupPr>
                      <m:e>
                        <m:r>
                          <a:rPr lang="zh-CN" altLang="en-US" sz="1800" b="0" i="1" u="none" strike="noStrike" baseline="0" smtClean="0">
                            <a:latin typeface="Cambria Math" panose="02040503050406030204" pitchFamily="18" charset="0"/>
                          </a:rPr>
                          <m:t>𝜃</m:t>
                        </m:r>
                      </m:e>
                      <m:sup>
                        <m:r>
                          <a:rPr lang="zh-CN" altLang="en-US" sz="1800" b="0" i="1" u="none" strike="noStrike" baseline="0" smtClean="0">
                            <a:latin typeface="Cambria Math" panose="02040503050406030204" pitchFamily="18" charset="0"/>
                          </a:rPr>
                          <m:t>𝜋</m:t>
                        </m:r>
                      </m:sup>
                    </m:sSup>
                  </m:oMath>
                </a14:m>
                <a:r>
                  <a:rPr lang="zh-CN" altLang="en-US" sz="1800" b="0" i="0" u="none" strike="noStrike" baseline="0" dirty="0">
                    <a:latin typeface="+mn-ea"/>
                  </a:rPr>
                  <a:t>和</a:t>
                </a:r>
                <a:r>
                  <a:rPr lang="en-US" altLang="zh-CN" sz="1800" b="0" i="0" u="none" strike="noStrike" baseline="0" dirty="0">
                    <a:latin typeface="+mn-ea"/>
                  </a:rPr>
                  <a:t>Critic </a:t>
                </a:r>
                <a:r>
                  <a:rPr lang="zh-CN" altLang="en-US" sz="1800" b="0" i="0" u="none" strike="noStrike" baseline="0" dirty="0">
                    <a:latin typeface="+mn-ea"/>
                  </a:rPr>
                  <a:t>网络参数</a:t>
                </a:r>
                <a14:m>
                  <m:oMath xmlns:m="http://schemas.openxmlformats.org/officeDocument/2006/math">
                    <m:sSup>
                      <m:sSupPr>
                        <m:ctrlPr>
                          <a:rPr lang="zh-CN" altLang="en-US" sz="1800" b="0" i="1" u="none" strike="noStrike" baseline="0" smtClean="0">
                            <a:latin typeface="Cambria Math" panose="02040503050406030204" pitchFamily="18" charset="0"/>
                          </a:rPr>
                        </m:ctrlPr>
                      </m:sSupPr>
                      <m:e>
                        <m:r>
                          <a:rPr lang="zh-CN" altLang="en-US" sz="1800" b="0" i="1" u="none" strike="noStrike" baseline="0" smtClean="0">
                            <a:latin typeface="Cambria Math" panose="02040503050406030204" pitchFamily="18" charset="0"/>
                          </a:rPr>
                          <m:t>𝜃</m:t>
                        </m:r>
                      </m:e>
                      <m:sup>
                        <m:r>
                          <a:rPr lang="en-US" altLang="zh-CN" sz="1800" b="0" i="1" u="none" strike="noStrike" baseline="0" smtClean="0">
                            <a:latin typeface="Cambria Math" panose="02040503050406030204" pitchFamily="18" charset="0"/>
                          </a:rPr>
                          <m:t>𝑄</m:t>
                        </m:r>
                      </m:sup>
                    </m:sSup>
                  </m:oMath>
                </a14:m>
                <a:r>
                  <a:rPr lang="zh-CN" altLang="en-US" sz="1800" b="0" i="0" u="none" strike="noStrike" baseline="0" dirty="0">
                    <a:latin typeface="+mn-ea"/>
                  </a:rPr>
                  <a:t>，每经过特定时间步长，就将</a:t>
                </a:r>
                <a:r>
                  <a:rPr lang="en-US" altLang="zh-CN" sz="1800" b="0" i="0" u="none" strike="noStrike" baseline="0" dirty="0">
                    <a:latin typeface="+mn-ea"/>
                  </a:rPr>
                  <a:t>Actor</a:t>
                </a:r>
                <a:r>
                  <a:rPr lang="zh-CN" altLang="en-US" sz="1800" b="0" i="0" u="none" strike="noStrike" baseline="0" dirty="0">
                    <a:latin typeface="+mn-ea"/>
                  </a:rPr>
                  <a:t>网络和 </a:t>
                </a:r>
                <a:r>
                  <a:rPr lang="en-US" altLang="zh-CN" sz="1800" b="0" i="0" u="none" strike="noStrike" baseline="0" dirty="0">
                    <a:latin typeface="+mn-ea"/>
                  </a:rPr>
                  <a:t>Critic </a:t>
                </a:r>
                <a:r>
                  <a:rPr lang="zh-CN" altLang="en-US" sz="1800" b="0" i="0" u="none" strike="noStrike" baseline="0" dirty="0">
                    <a:latin typeface="+mn-ea"/>
                  </a:rPr>
                  <a:t>网络的网络参数</a:t>
                </a:r>
                <a14:m>
                  <m:oMath xmlns:m="http://schemas.openxmlformats.org/officeDocument/2006/math">
                    <m:r>
                      <a:rPr lang="en-US" altLang="zh-CN" sz="1800" b="0" i="1" u="none" strike="noStrike" baseline="0" smtClean="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𝜃</m:t>
                        </m:r>
                      </m:e>
                      <m:sup>
                        <m:r>
                          <a:rPr lang="zh-CN" altLang="en-US" i="1" smtClean="0">
                            <a:latin typeface="Cambria Math" panose="02040503050406030204" pitchFamily="18" charset="0"/>
                          </a:rPr>
                          <m:t>𝜋</m:t>
                        </m:r>
                      </m:sup>
                    </m:sSup>
                    <m:r>
                      <a:rPr lang="en-US" altLang="zh-CN" b="0" i="1" smtClean="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𝜃</m:t>
                        </m:r>
                      </m:e>
                      <m:sup>
                        <m:r>
                          <a:rPr lang="en-US" altLang="zh-CN" b="0" i="1" smtClean="0">
                            <a:latin typeface="Cambria Math" panose="02040503050406030204" pitchFamily="18" charset="0"/>
                          </a:rPr>
                          <m:t>𝑄</m:t>
                        </m:r>
                      </m:sup>
                    </m:sSup>
                    <m:r>
                      <a:rPr lang="en-US" altLang="zh-CN" sz="1800" b="0" i="1" u="none" strike="noStrike" baseline="0" smtClean="0">
                        <a:latin typeface="Cambria Math" panose="02040503050406030204" pitchFamily="18" charset="0"/>
                      </a:rPr>
                      <m:t>)</m:t>
                    </m:r>
                  </m:oMath>
                </a14:m>
                <a:r>
                  <a:rPr lang="zh-CN" altLang="en-US" sz="1800" b="0" i="0" u="none" strike="noStrike" baseline="0" dirty="0">
                    <a:latin typeface="+mn-ea"/>
                  </a:rPr>
                  <a:t>更新给 </a:t>
                </a:r>
                <a:r>
                  <a:rPr lang="en-US" altLang="zh-CN" sz="1800" b="0" i="0" u="none" strike="noStrike" baseline="0" dirty="0">
                    <a:latin typeface="+mn-ea"/>
                  </a:rPr>
                  <a:t>Actor </a:t>
                </a:r>
                <a:r>
                  <a:rPr lang="zh-CN" altLang="en-US" sz="1800" b="0" i="0" u="none" strike="noStrike" baseline="0" dirty="0">
                    <a:latin typeface="+mn-ea"/>
                  </a:rPr>
                  <a:t>目标网络和</a:t>
                </a:r>
                <a:r>
                  <a:rPr lang="en-US" altLang="zh-CN" sz="1800" b="0" i="0" u="none" strike="noStrike" baseline="0" dirty="0">
                    <a:latin typeface="+mn-ea"/>
                  </a:rPr>
                  <a:t>Critic</a:t>
                </a:r>
                <a:r>
                  <a:rPr lang="zh-CN" altLang="en-US" sz="1800" b="0" i="0" u="none" strike="noStrike" baseline="0" dirty="0">
                    <a:latin typeface="+mn-ea"/>
                  </a:rPr>
                  <a:t>目标网络</a:t>
                </a:r>
                <a14:m>
                  <m:oMath xmlns:m="http://schemas.openxmlformats.org/officeDocument/2006/math">
                    <m:r>
                      <a:rPr lang="en-US" altLang="zh-CN" i="1">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𝜃</m:t>
                        </m:r>
                      </m:e>
                      <m:sup>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𝜋</m:t>
                            </m:r>
                          </m:e>
                          <m:sup>
                            <m:r>
                              <a:rPr lang="en-US" altLang="zh-CN" b="0" i="1" smtClean="0">
                                <a:latin typeface="Cambria Math" panose="02040503050406030204" pitchFamily="18" charset="0"/>
                              </a:rPr>
                              <m:t>′</m:t>
                            </m:r>
                          </m:sup>
                        </m:sSup>
                      </m:sup>
                    </m:sSup>
                    <m:r>
                      <a:rPr lang="en-US" altLang="zh-CN" i="1">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𝜃</m:t>
                        </m:r>
                      </m:e>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𝑄</m:t>
                            </m:r>
                          </m:e>
                          <m:sup>
                            <m:r>
                              <a:rPr lang="en-US" altLang="zh-CN" b="0" i="1" smtClean="0">
                                <a:latin typeface="Cambria Math" panose="02040503050406030204" pitchFamily="18" charset="0"/>
                              </a:rPr>
                              <m:t>′</m:t>
                            </m:r>
                          </m:sup>
                        </m:sSup>
                      </m:sup>
                    </m:sSup>
                    <m:r>
                      <a:rPr lang="en-US" altLang="zh-CN" i="1">
                        <a:latin typeface="Cambria Math" panose="02040503050406030204" pitchFamily="18" charset="0"/>
                      </a:rPr>
                      <m:t>)</m:t>
                    </m:r>
                  </m:oMath>
                </a14:m>
                <a:endParaRPr lang="zh-CN" altLang="en-US" dirty="0">
                  <a:latin typeface="+mn-ea"/>
                </a:endParaRPr>
              </a:p>
            </p:txBody>
          </p:sp>
        </mc:Choice>
        <mc:Fallback xmlns="">
          <p:sp>
            <p:nvSpPr>
              <p:cNvPr id="11" name="文本框 10">
                <a:extLst>
                  <a:ext uri="{FF2B5EF4-FFF2-40B4-BE49-F238E27FC236}">
                    <a16:creationId xmlns:a16="http://schemas.microsoft.com/office/drawing/2014/main" id="{C68CC529-7512-2902-D3A9-2CE2DF2EF9D0}"/>
                  </a:ext>
                </a:extLst>
              </p:cNvPr>
              <p:cNvSpPr txBox="1">
                <a:spLocks noRot="1" noChangeAspect="1" noMove="1" noResize="1" noEditPoints="1" noAdjustHandles="1" noChangeArrowheads="1" noChangeShapeType="1" noTextEdit="1"/>
              </p:cNvSpPr>
              <p:nvPr/>
            </p:nvSpPr>
            <p:spPr>
              <a:xfrm>
                <a:off x="5886451" y="3249644"/>
                <a:ext cx="6094878" cy="1263936"/>
              </a:xfrm>
              <a:prstGeom prst="rect">
                <a:avLst/>
              </a:prstGeom>
              <a:blipFill>
                <a:blip r:embed="rId5"/>
                <a:stretch>
                  <a:fillRect l="-901" t="-2415" r="-701" b="-53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7F3A491A-E848-FD07-C1D1-A8CB626D5591}"/>
                  </a:ext>
                </a:extLst>
              </p:cNvPr>
              <p:cNvSpPr txBox="1"/>
              <p:nvPr/>
            </p:nvSpPr>
            <p:spPr>
              <a:xfrm>
                <a:off x="5886450" y="4513580"/>
                <a:ext cx="6305549" cy="1691360"/>
              </a:xfrm>
              <a:prstGeom prst="rect">
                <a:avLst/>
              </a:prstGeom>
              <a:noFill/>
            </p:spPr>
            <p:txBody>
              <a:bodyPr wrap="square">
                <a:spAutoFit/>
              </a:bodyPr>
              <a:lstStyle/>
              <a:p>
                <a:r>
                  <a:rPr lang="en-US" altLang="zh-CN" sz="1800" b="0" i="0" u="none" strike="noStrike" baseline="0" dirty="0">
                    <a:latin typeface="+mn-ea"/>
                  </a:rPr>
                  <a:t>Critic </a:t>
                </a:r>
                <a:r>
                  <a:rPr lang="zh-CN" altLang="en-US" sz="1800" b="0" i="0" u="none" strike="noStrike" baseline="0" dirty="0">
                    <a:latin typeface="+mn-ea"/>
                  </a:rPr>
                  <a:t>网络采用最小化损失函数来更新参数</a:t>
                </a:r>
                <a:r>
                  <a:rPr lang="en-US" altLang="zh-CN" sz="1800" b="0" i="0" u="none" strike="noStrike" baseline="0" dirty="0">
                    <a:latin typeface="+mn-ea"/>
                  </a:rPr>
                  <a:t>:</a:t>
                </a:r>
              </a:p>
              <a:p>
                <a:pPr/>
                <a14:m>
                  <m:oMathPara xmlns:m="http://schemas.openxmlformats.org/officeDocument/2006/math">
                    <m:oMath>
                      <m:r>
                        <a:rPr lang="en-US" altLang="zh-CN" sz="1800" b="0" i="1" u="none" strike="noStrike" baseline="0" smtClean="0">
                          <a:latin typeface="Cambria Math" panose="02040503050406030204" pitchFamily="18" charset="0"/>
                        </a:rPr>
                        <m:t>𝐿</m:t>
                      </m:r>
                      <m:d>
                        <m:dPr>
                          <m:ctrlPr>
                            <a:rPr lang="en-US" altLang="zh-CN" i="1">
                              <a:latin typeface="Cambria Math" panose="02040503050406030204" pitchFamily="18" charset="0"/>
                            </a:rPr>
                          </m:ctrlPr>
                        </m:dPr>
                        <m:e>
                          <m:sSup>
                            <m:sSupPr>
                              <m:ctrlPr>
                                <a:rPr lang="zh-CN" altLang="en-US" i="1">
                                  <a:latin typeface="Cambria Math" panose="02040503050406030204" pitchFamily="18" charset="0"/>
                                </a:rPr>
                              </m:ctrlPr>
                            </m:sSupPr>
                            <m:e>
                              <m:r>
                                <a:rPr lang="zh-CN" altLang="en-US" i="1">
                                  <a:latin typeface="Cambria Math" panose="02040503050406030204" pitchFamily="18" charset="0"/>
                                </a:rPr>
                                <m:t>𝜃</m:t>
                              </m:r>
                            </m:e>
                            <m:sup>
                              <m:r>
                                <a:rPr lang="en-US" altLang="zh-CN" i="1">
                                  <a:latin typeface="Cambria Math" panose="02040503050406030204" pitchFamily="18" charset="0"/>
                                </a:rPr>
                                <m:t>𝑄</m:t>
                              </m:r>
                            </m:sup>
                          </m:sSup>
                        </m:e>
                      </m:d>
                      <m:r>
                        <a:rPr lang="en-US" altLang="zh-CN" sz="1800" b="0" i="1" u="none" strike="noStrike" baseline="0" smtClean="0">
                          <a:latin typeface="Cambria Math" panose="02040503050406030204" pitchFamily="18" charset="0"/>
                        </a:rPr>
                        <m:t>=</m:t>
                      </m:r>
                      <m:sSub>
                        <m:sSubPr>
                          <m:ctrlPr>
                            <a:rPr lang="en-US" altLang="zh-CN" sz="1800" b="0" i="1" u="none" strike="noStrike" baseline="0" smtClean="0">
                              <a:latin typeface="Cambria Math" panose="02040503050406030204" pitchFamily="18" charset="0"/>
                            </a:rPr>
                          </m:ctrlPr>
                        </m:sSubPr>
                        <m:e>
                          <m:r>
                            <a:rPr lang="en-US" altLang="zh-CN" sz="1800" b="0" i="1" u="none" strike="noStrike" baseline="0" smtClean="0">
                              <a:latin typeface="Cambria Math" panose="02040503050406030204" pitchFamily="18" charset="0"/>
                            </a:rPr>
                            <m:t>𝐸</m:t>
                          </m:r>
                        </m:e>
                        <m:sub>
                          <m:sSup>
                            <m:sSupPr>
                              <m:ctrlPr>
                                <a:rPr lang="zh-CN" altLang="en-US" sz="1800" b="0" i="1" u="none" strike="noStrike" baseline="0" smtClean="0">
                                  <a:latin typeface="Cambria Math" panose="02040503050406030204" pitchFamily="18" charset="0"/>
                                </a:rPr>
                              </m:ctrlPr>
                            </m:sSupPr>
                            <m:e>
                              <m:r>
                                <a:rPr lang="zh-CN" altLang="en-US" sz="1800" b="0" i="1" u="none" strike="noStrike" baseline="0" smtClean="0">
                                  <a:latin typeface="Cambria Math" panose="02040503050406030204" pitchFamily="18" charset="0"/>
                                </a:rPr>
                                <m:t>𝜇</m:t>
                              </m:r>
                            </m:e>
                            <m:sup>
                              <m:r>
                                <a:rPr lang="en-US" altLang="zh-CN" sz="1800" b="0" i="1" u="none" strike="noStrike" baseline="0" smtClean="0">
                                  <a:latin typeface="Cambria Math" panose="02040503050406030204" pitchFamily="18" charset="0"/>
                                </a:rPr>
                                <m:t>′</m:t>
                              </m:r>
                            </m:sup>
                          </m:sSup>
                        </m:sub>
                      </m:sSub>
                      <m:d>
                        <m:dPr>
                          <m:begChr m:val="["/>
                          <m:endChr m:val="]"/>
                          <m:ctrlPr>
                            <a:rPr lang="en-US" altLang="zh-CN" sz="1800" b="0" i="1" u="none" strike="noStrike" baseline="0" smtClean="0">
                              <a:latin typeface="Cambria Math" panose="02040503050406030204" pitchFamily="18" charset="0"/>
                            </a:rPr>
                          </m:ctrlPr>
                        </m:dPr>
                        <m:e>
                          <m:d>
                            <m:dPr>
                              <m:ctrlPr>
                                <a:rPr lang="en-US" altLang="zh-CN" sz="1800" b="0" i="1" u="none" strike="noStrike" baseline="0" smtClean="0">
                                  <a:latin typeface="Cambria Math" panose="02040503050406030204" pitchFamily="18" charset="0"/>
                                </a:rPr>
                              </m:ctrlPr>
                            </m:dPr>
                            <m:e>
                              <m:r>
                                <a:rPr lang="en-US" altLang="zh-CN" sz="1800" b="0" i="1" u="none" strike="noStrike" baseline="0" smtClean="0">
                                  <a:latin typeface="Cambria Math" panose="02040503050406030204" pitchFamily="18" charset="0"/>
                                </a:rPr>
                                <m:t>𝑟</m:t>
                              </m:r>
                              <m:d>
                                <m:dPr>
                                  <m:ctrlPr>
                                    <a:rPr lang="en-US" altLang="zh-CN" sz="1800" b="0" i="1" u="none" strike="noStrike" baseline="0" smtClean="0">
                                      <a:latin typeface="Cambria Math" panose="02040503050406030204" pitchFamily="18" charset="0"/>
                                    </a:rPr>
                                  </m:ctrlPr>
                                </m:dPr>
                                <m:e>
                                  <m:sSub>
                                    <m:sSubPr>
                                      <m:ctrlPr>
                                        <a:rPr lang="en-US" altLang="zh-CN" sz="1800" b="0" i="1" u="none" strike="noStrike" baseline="0" smtClean="0">
                                          <a:latin typeface="Cambria Math" panose="02040503050406030204" pitchFamily="18" charset="0"/>
                                        </a:rPr>
                                      </m:ctrlPr>
                                    </m:sSubPr>
                                    <m:e>
                                      <m:r>
                                        <a:rPr lang="en-US" altLang="zh-CN" sz="1800" b="0" i="1" u="none" strike="noStrike" baseline="0" smtClean="0">
                                          <a:latin typeface="Cambria Math" panose="02040503050406030204" pitchFamily="18" charset="0"/>
                                        </a:rPr>
                                        <m:t>𝑠</m:t>
                                      </m:r>
                                    </m:e>
                                    <m:sub>
                                      <m:r>
                                        <a:rPr lang="en-US" altLang="zh-CN" sz="1800" b="0" i="1" u="none" strike="noStrike" baseline="0" smtClean="0">
                                          <a:latin typeface="Cambria Math" panose="02040503050406030204" pitchFamily="18" charset="0"/>
                                        </a:rPr>
                                        <m:t>𝑡</m:t>
                                      </m:r>
                                    </m:sub>
                                  </m:sSub>
                                  <m:r>
                                    <a:rPr lang="en-US" altLang="zh-CN" sz="1800" b="0" i="1" u="none" strike="noStrike" baseline="0" smtClean="0">
                                      <a:latin typeface="Cambria Math" panose="02040503050406030204" pitchFamily="18" charset="0"/>
                                    </a:rPr>
                                    <m:t>,</m:t>
                                  </m:r>
                                  <m:sSub>
                                    <m:sSubPr>
                                      <m:ctrlPr>
                                        <a:rPr lang="en-US" altLang="zh-CN" sz="1800" b="0" i="1" u="none" strike="noStrike" baseline="0" smtClean="0">
                                          <a:latin typeface="Cambria Math" panose="02040503050406030204" pitchFamily="18" charset="0"/>
                                        </a:rPr>
                                      </m:ctrlPr>
                                    </m:sSubPr>
                                    <m:e>
                                      <m:r>
                                        <a:rPr lang="en-US" altLang="zh-CN" sz="1800" b="0" i="1" u="none" strike="noStrike" baseline="0" smtClean="0">
                                          <a:latin typeface="Cambria Math" panose="02040503050406030204" pitchFamily="18" charset="0"/>
                                        </a:rPr>
                                        <m:t>𝑎</m:t>
                                      </m:r>
                                    </m:e>
                                    <m:sub>
                                      <m:r>
                                        <a:rPr lang="en-US" altLang="zh-CN" sz="1800" b="0" i="1" u="none" strike="noStrike" baseline="0" smtClean="0">
                                          <a:latin typeface="Cambria Math" panose="02040503050406030204" pitchFamily="18" charset="0"/>
                                        </a:rPr>
                                        <m:t>𝑡</m:t>
                                      </m:r>
                                    </m:sub>
                                  </m:sSub>
                                </m:e>
                              </m:d>
                              <m:r>
                                <a:rPr lang="en-US" altLang="zh-CN" sz="1800" b="0" i="1" u="none" strike="noStrike" baseline="0" smtClean="0">
                                  <a:latin typeface="Cambria Math" panose="02040503050406030204" pitchFamily="18" charset="0"/>
                                </a:rPr>
                                <m:t>+</m:t>
                              </m:r>
                              <m:r>
                                <a:rPr lang="zh-CN" altLang="en-US" sz="1800" b="0" i="1" u="none" strike="noStrike" baseline="0" smtClean="0">
                                  <a:latin typeface="Cambria Math" panose="02040503050406030204" pitchFamily="18" charset="0"/>
                                </a:rPr>
                                <m:t>𝛾</m:t>
                              </m:r>
                              <m:sSup>
                                <m:sSupPr>
                                  <m:ctrlPr>
                                    <a:rPr lang="en-US" altLang="zh-CN" sz="1800" b="0" i="1" u="none" strike="noStrike" baseline="0" smtClean="0">
                                      <a:latin typeface="Cambria Math" panose="02040503050406030204" pitchFamily="18" charset="0"/>
                                    </a:rPr>
                                  </m:ctrlPr>
                                </m:sSupPr>
                                <m:e>
                                  <m:r>
                                    <a:rPr lang="en-US" altLang="zh-CN" sz="1800" b="0" i="1" u="none" strike="noStrike" baseline="0" smtClean="0">
                                      <a:latin typeface="Cambria Math" panose="02040503050406030204" pitchFamily="18" charset="0"/>
                                    </a:rPr>
                                    <m:t>𝑄</m:t>
                                  </m:r>
                                </m:e>
                                <m:sup>
                                  <m:r>
                                    <a:rPr lang="en-US" altLang="zh-CN" sz="1800" b="0" i="1" u="none" strike="noStrike" baseline="0" smtClean="0">
                                      <a:latin typeface="Cambria Math" panose="02040503050406030204" pitchFamily="18" charset="0"/>
                                    </a:rPr>
                                    <m:t>′</m:t>
                                  </m:r>
                                </m:sup>
                              </m:s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r>
                                        <a:rPr lang="en-US" altLang="zh-CN" b="0" i="1" smtClean="0">
                                          <a:latin typeface="Cambria Math" panose="02040503050406030204" pitchFamily="18" charset="0"/>
                                        </a:rPr>
                                        <m:t>+1</m:t>
                                      </m:r>
                                    </m:sub>
                                  </m:sSub>
                                </m:e>
                                <m:e>
                                  <m:sSup>
                                    <m:sSupPr>
                                      <m:ctrlPr>
                                        <a:rPr lang="zh-CN" altLang="en-US" i="1">
                                          <a:latin typeface="Cambria Math" panose="02040503050406030204" pitchFamily="18" charset="0"/>
                                        </a:rPr>
                                      </m:ctrlPr>
                                    </m:sSupPr>
                                    <m:e>
                                      <m:r>
                                        <a:rPr lang="zh-CN" altLang="en-US" i="1">
                                          <a:latin typeface="Cambria Math" panose="02040503050406030204" pitchFamily="18" charset="0"/>
                                        </a:rPr>
                                        <m:t>𝜃</m:t>
                                      </m:r>
                                    </m:e>
                                    <m:sup>
                                      <m:sSup>
                                        <m:sSupPr>
                                          <m:ctrlPr>
                                            <a:rPr lang="zh-CN" altLang="en-US" i="1">
                                              <a:latin typeface="Cambria Math" panose="02040503050406030204" pitchFamily="18" charset="0"/>
                                            </a:rPr>
                                          </m:ctrlPr>
                                        </m:sSupPr>
                                        <m:e>
                                          <m:r>
                                            <a:rPr lang="zh-CN" altLang="en-US" i="1">
                                              <a:latin typeface="Cambria Math" panose="02040503050406030204" pitchFamily="18" charset="0"/>
                                            </a:rPr>
                                            <m:t>𝜋</m:t>
                                          </m:r>
                                        </m:e>
                                        <m:sup>
                                          <m:r>
                                            <a:rPr lang="en-US" altLang="zh-CN" i="1">
                                              <a:latin typeface="Cambria Math" panose="02040503050406030204" pitchFamily="18" charset="0"/>
                                            </a:rPr>
                                            <m:t>′</m:t>
                                          </m:r>
                                        </m:sup>
                                      </m:sSup>
                                    </m:sup>
                                  </m:sSup>
                                </m:e>
                              </m:d>
                            </m:e>
                            <m:e>
                              <m:sSup>
                                <m:sSupPr>
                                  <m:ctrlPr>
                                    <a:rPr lang="zh-CN" altLang="en-US" i="1">
                                      <a:latin typeface="Cambria Math" panose="02040503050406030204" pitchFamily="18" charset="0"/>
                                    </a:rPr>
                                  </m:ctrlPr>
                                </m:sSupPr>
                                <m:e>
                                  <m:r>
                                    <a:rPr lang="zh-CN" altLang="en-US" i="1">
                                      <a:latin typeface="Cambria Math" panose="02040503050406030204" pitchFamily="18" charset="0"/>
                                    </a:rPr>
                                    <m:t>𝜃</m:t>
                                  </m:r>
                                </m:e>
                                <m:sup>
                                  <m:sSup>
                                    <m:sSupPr>
                                      <m:ctrlPr>
                                        <a:rPr lang="en-US" altLang="zh-CN" i="1">
                                          <a:latin typeface="Cambria Math" panose="02040503050406030204" pitchFamily="18" charset="0"/>
                                        </a:rPr>
                                      </m:ctrlPr>
                                    </m:sSupPr>
                                    <m:e>
                                      <m:r>
                                        <a:rPr lang="en-US" altLang="zh-CN" i="1">
                                          <a:latin typeface="Cambria Math" panose="02040503050406030204" pitchFamily="18" charset="0"/>
                                        </a:rPr>
                                        <m:t>𝑄</m:t>
                                      </m:r>
                                    </m:e>
                                    <m:sup>
                                      <m:r>
                                        <a:rPr lang="en-US" altLang="zh-CN" i="1">
                                          <a:latin typeface="Cambria Math" panose="02040503050406030204" pitchFamily="18" charset="0"/>
                                        </a:rPr>
                                        <m:t>′</m:t>
                                      </m:r>
                                    </m:sup>
                                  </m:sSup>
                                </m:sup>
                              </m:sSup>
                            </m:e>
                          </m:d>
                          <m:r>
                            <a:rPr lang="en-US" altLang="zh-CN" sz="1800" b="0" i="1" u="none" strike="noStrike" baseline="0"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𝑄</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𝑡</m:t>
                                  </m:r>
                                </m:sub>
                              </m:sSub>
                              <m:r>
                                <a:rPr lang="en-US" altLang="zh-CN" i="1">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𝜃</m:t>
                                  </m:r>
                                </m:e>
                                <m:sup>
                                  <m:r>
                                    <a:rPr lang="en-US" altLang="zh-CN" i="1">
                                      <a:latin typeface="Cambria Math" panose="02040503050406030204" pitchFamily="18" charset="0"/>
                                    </a:rPr>
                                    <m:t>𝑄</m:t>
                                  </m:r>
                                </m:sup>
                              </m:sSup>
                              <m:r>
                                <a:rPr lang="en-US" altLang="zh-CN" b="0" i="1" smtClean="0">
                                  <a:latin typeface="Cambria Math" panose="02040503050406030204" pitchFamily="18" charset="0"/>
                                </a:rPr>
                                <m:t>)</m:t>
                              </m:r>
                            </m:e>
                            <m:sup>
                              <m:r>
                                <a:rPr lang="en-US" altLang="zh-CN" sz="1800" b="0" i="1" u="none" strike="noStrike" baseline="0" smtClean="0">
                                  <a:latin typeface="Cambria Math" panose="02040503050406030204" pitchFamily="18" charset="0"/>
                                </a:rPr>
                                <m:t>2</m:t>
                              </m:r>
                            </m:sup>
                          </m:sSup>
                        </m:e>
                      </m:d>
                    </m:oMath>
                  </m:oMathPara>
                </a14:m>
                <a:endParaRPr lang="en-US" altLang="zh-CN" sz="1800" b="0" i="0" u="none" strike="noStrike" baseline="0" dirty="0">
                  <a:latin typeface="+mn-ea"/>
                </a:endParaRPr>
              </a:p>
              <a:p>
                <a:r>
                  <a:rPr lang="en-US" altLang="zh-CN" sz="1800" b="0" i="0" u="none" strike="noStrike" baseline="0" dirty="0">
                    <a:latin typeface="+mn-ea"/>
                  </a:rPr>
                  <a:t>Actor </a:t>
                </a:r>
                <a:r>
                  <a:rPr lang="zh-CN" altLang="en-US" sz="1800" b="0" i="0" u="none" strike="noStrike" baseline="0" dirty="0">
                    <a:latin typeface="+mn-ea"/>
                  </a:rPr>
                  <a:t>网络采用梯度函数来更新参数：</a:t>
                </a:r>
                <a:endParaRPr lang="en-US" altLang="zh-CN" dirty="0">
                  <a:latin typeface="+mn-ea"/>
                </a:endParaRPr>
              </a:p>
              <a:p>
                <a:pPr/>
                <a14:m>
                  <m:oMathPara xmlns:m="http://schemas.openxmlformats.org/officeDocument/2006/math">
                    <m:oMath>
                      <m:sSub>
                        <m:sSubPr>
                          <m:ctrlPr>
                            <a:rPr lang="en-US" altLang="zh-CN" sz="1800" b="0" i="1" u="none" strike="noStrike" baseline="0" smtClean="0">
                              <a:latin typeface="Cambria Math" panose="02040503050406030204" pitchFamily="18" charset="0"/>
                              <a:ea typeface="Cambria Math" panose="02040503050406030204" pitchFamily="18" charset="0"/>
                            </a:rPr>
                          </m:ctrlPr>
                        </m:sSubPr>
                        <m:e>
                          <m:r>
                            <m:rPr>
                              <m:sty m:val="p"/>
                            </m:rPr>
                            <a:rPr lang="en-US" altLang="zh-CN" sz="1800" b="0" i="1" u="none" strike="noStrike" baseline="0" smtClean="0">
                              <a:latin typeface="Cambria Math" panose="02040503050406030204" pitchFamily="18" charset="0"/>
                              <a:ea typeface="Cambria Math" panose="02040503050406030204" pitchFamily="18" charset="0"/>
                            </a:rPr>
                            <m:t>∇</m:t>
                          </m:r>
                        </m:e>
                        <m:sub>
                          <m:sSup>
                            <m:sSupPr>
                              <m:ctrlPr>
                                <a:rPr lang="zh-CN" altLang="en-US" sz="1800" b="0" i="1" u="none" strike="noStrike" baseline="0" smtClean="0">
                                  <a:latin typeface="Cambria Math" panose="02040503050406030204" pitchFamily="18" charset="0"/>
                                  <a:ea typeface="Cambria Math" panose="02040503050406030204" pitchFamily="18" charset="0"/>
                                </a:rPr>
                              </m:ctrlPr>
                            </m:sSupPr>
                            <m:e>
                              <m:r>
                                <a:rPr lang="zh-CN" altLang="en-US" sz="1800" b="0" i="1" u="none" strike="noStrike" baseline="0" smtClean="0">
                                  <a:latin typeface="Cambria Math" panose="02040503050406030204" pitchFamily="18" charset="0"/>
                                  <a:ea typeface="Cambria Math" panose="02040503050406030204" pitchFamily="18" charset="0"/>
                                </a:rPr>
                                <m:t>𝜃</m:t>
                              </m:r>
                            </m:e>
                            <m:sup>
                              <m:sSup>
                                <m:sSupPr>
                                  <m:ctrlPr>
                                    <a:rPr lang="zh-CN" altLang="en-US" sz="1800" b="0" i="1" u="none" strike="noStrike" baseline="0" smtClean="0">
                                      <a:latin typeface="Cambria Math" panose="02040503050406030204" pitchFamily="18" charset="0"/>
                                      <a:ea typeface="Cambria Math" panose="02040503050406030204" pitchFamily="18" charset="0"/>
                                    </a:rPr>
                                  </m:ctrlPr>
                                </m:sSupPr>
                                <m:e>
                                  <m:r>
                                    <a:rPr lang="zh-CN" altLang="en-US" sz="1800" b="0" i="1" u="none" strike="noStrike" baseline="0" smtClean="0">
                                      <a:latin typeface="Cambria Math" panose="02040503050406030204" pitchFamily="18" charset="0"/>
                                      <a:ea typeface="Cambria Math" panose="02040503050406030204" pitchFamily="18" charset="0"/>
                                    </a:rPr>
                                    <m:t>𝜋</m:t>
                                  </m:r>
                                </m:e>
                                <m:sup>
                                  <m:r>
                                    <a:rPr lang="en-US" altLang="zh-CN" sz="1800" b="0" i="1" u="none" strike="noStrike" baseline="0" smtClean="0">
                                      <a:latin typeface="Cambria Math" panose="02040503050406030204" pitchFamily="18" charset="0"/>
                                      <a:ea typeface="Cambria Math" panose="02040503050406030204" pitchFamily="18" charset="0"/>
                                    </a:rPr>
                                    <m:t>′</m:t>
                                  </m:r>
                                </m:sup>
                              </m:sSup>
                            </m:sup>
                          </m:sSup>
                        </m:sub>
                      </m:sSub>
                      <m:r>
                        <a:rPr lang="zh-CN" altLang="en-US" sz="1800" b="0" i="1" u="none" strike="noStrike" baseline="0" smtClean="0">
                          <a:latin typeface="Cambria Math" panose="02040503050406030204" pitchFamily="18" charset="0"/>
                          <a:ea typeface="Cambria Math" panose="02040503050406030204" pitchFamily="18" charset="0"/>
                        </a:rPr>
                        <m:t>𝜇</m:t>
                      </m:r>
                      <m:r>
                        <a:rPr lang="zh-CN" altLang="en-US" sz="1800" b="0" i="1" u="none" strike="noStrike" baseline="0" smtClean="0">
                          <a:latin typeface="Cambria Math" panose="02040503050406030204" pitchFamily="18" charset="0"/>
                          <a:ea typeface="Cambria Math" panose="02040503050406030204" pitchFamily="18" charset="0"/>
                        </a:rPr>
                        <m:t>≈</m:t>
                      </m:r>
                      <m:sSub>
                        <m:sSubPr>
                          <m:ctrlPr>
                            <a:rPr lang="en-US" altLang="zh-CN" sz="1800" b="0" i="1" u="none" strike="noStrike" baseline="0" smtClean="0">
                              <a:latin typeface="Cambria Math" panose="02040503050406030204" pitchFamily="18" charset="0"/>
                              <a:ea typeface="Cambria Math" panose="02040503050406030204" pitchFamily="18" charset="0"/>
                            </a:rPr>
                          </m:ctrlPr>
                        </m:sSubPr>
                        <m:e>
                          <m:r>
                            <a:rPr lang="en-US" altLang="zh-CN" sz="1800" b="0" i="1" u="none" strike="noStrike" baseline="0" smtClean="0">
                              <a:latin typeface="Cambria Math" panose="02040503050406030204" pitchFamily="18" charset="0"/>
                              <a:ea typeface="Cambria Math" panose="02040503050406030204" pitchFamily="18" charset="0"/>
                            </a:rPr>
                            <m:t>𝐸</m:t>
                          </m:r>
                        </m:e>
                        <m:sub>
                          <m:sSup>
                            <m:sSupPr>
                              <m:ctrlPr>
                                <a:rPr lang="zh-CN" altLang="en-US" sz="1800" b="0" i="1" u="none" strike="noStrike" baseline="0" smtClean="0">
                                  <a:latin typeface="Cambria Math" panose="02040503050406030204" pitchFamily="18" charset="0"/>
                                  <a:ea typeface="Cambria Math" panose="02040503050406030204" pitchFamily="18" charset="0"/>
                                </a:rPr>
                              </m:ctrlPr>
                            </m:sSupPr>
                            <m:e>
                              <m:r>
                                <a:rPr lang="zh-CN" altLang="en-US" sz="1800" b="0" i="1" u="none" strike="noStrike" baseline="0" smtClean="0">
                                  <a:latin typeface="Cambria Math" panose="02040503050406030204" pitchFamily="18" charset="0"/>
                                  <a:ea typeface="Cambria Math" panose="02040503050406030204" pitchFamily="18" charset="0"/>
                                </a:rPr>
                                <m:t>𝜇</m:t>
                              </m:r>
                            </m:e>
                            <m:sup>
                              <m:r>
                                <a:rPr lang="en-US" altLang="zh-CN" sz="1800" b="0" i="1" u="none" strike="noStrike" baseline="0" smtClean="0">
                                  <a:latin typeface="Cambria Math" panose="02040503050406030204" pitchFamily="18" charset="0"/>
                                  <a:ea typeface="Cambria Math" panose="02040503050406030204" pitchFamily="18" charset="0"/>
                                </a:rPr>
                                <m:t>′</m:t>
                              </m:r>
                            </m:sup>
                          </m:sSup>
                        </m:sub>
                      </m:sSub>
                      <m:d>
                        <m:dPr>
                          <m:begChr m:val="["/>
                          <m:endChr m:val="]"/>
                          <m:ctrlPr>
                            <a:rPr lang="en-US" altLang="zh-CN" sz="1800" b="0" i="1" u="none" strike="noStrike" baseline="0" smtClean="0">
                              <a:latin typeface="Cambria Math" panose="02040503050406030204" pitchFamily="18" charset="0"/>
                              <a:ea typeface="Cambria Math" panose="02040503050406030204" pitchFamily="18" charset="0"/>
                            </a:rPr>
                          </m:ctrlPr>
                        </m:dPr>
                        <m:e>
                          <m:sSub>
                            <m:sSubPr>
                              <m:ctrlPr>
                                <a:rPr lang="en-US" altLang="zh-CN" sz="1800" b="0" i="1" u="none" strike="noStrike" baseline="0" smtClean="0">
                                  <a:latin typeface="Cambria Math" panose="02040503050406030204" pitchFamily="18" charset="0"/>
                                  <a:ea typeface="Cambria Math" panose="02040503050406030204" pitchFamily="18" charset="0"/>
                                </a:rPr>
                              </m:ctrlPr>
                            </m:sSubPr>
                            <m:e>
                              <m:r>
                                <m:rPr>
                                  <m:sty m:val="p"/>
                                </m:rPr>
                                <a:rPr lang="en-US" altLang="zh-CN" sz="1800" b="0" i="1" u="none" strike="noStrike" baseline="0" smtClean="0">
                                  <a:latin typeface="Cambria Math" panose="02040503050406030204" pitchFamily="18" charset="0"/>
                                  <a:ea typeface="Cambria Math" panose="02040503050406030204" pitchFamily="18" charset="0"/>
                                </a:rPr>
                                <m:t>∇</m:t>
                              </m:r>
                            </m:e>
                            <m:sub>
                              <m:r>
                                <a:rPr lang="en-US" altLang="zh-CN" sz="1800" b="0" i="1" u="none" strike="noStrike" baseline="0" smtClean="0">
                                  <a:latin typeface="Cambria Math" panose="02040503050406030204" pitchFamily="18" charset="0"/>
                                  <a:ea typeface="Cambria Math" panose="02040503050406030204" pitchFamily="18" charset="0"/>
                                </a:rPr>
                                <m:t>𝑎</m:t>
                              </m:r>
                            </m:sub>
                          </m:sSub>
                          <m:r>
                            <a:rPr lang="en-US" altLang="zh-CN" i="1">
                              <a:latin typeface="Cambria Math" panose="02040503050406030204" pitchFamily="18" charset="0"/>
                            </a:rPr>
                            <m:t>𝑄</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𝑡</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𝑡</m:t>
                                  </m:r>
                                </m:sub>
                              </m:sSub>
                            </m:e>
                            <m:e>
                              <m:sSup>
                                <m:sSupPr>
                                  <m:ctrlPr>
                                    <a:rPr lang="zh-CN" altLang="en-US" i="1">
                                      <a:latin typeface="Cambria Math" panose="02040503050406030204" pitchFamily="18" charset="0"/>
                                    </a:rPr>
                                  </m:ctrlPr>
                                </m:sSupPr>
                                <m:e>
                                  <m:r>
                                    <a:rPr lang="zh-CN" altLang="en-US" i="1">
                                      <a:latin typeface="Cambria Math" panose="02040503050406030204" pitchFamily="18" charset="0"/>
                                    </a:rPr>
                                    <m:t>𝜃</m:t>
                                  </m:r>
                                </m:e>
                                <m:sup>
                                  <m:r>
                                    <a:rPr lang="en-US" altLang="zh-CN" i="1">
                                      <a:latin typeface="Cambria Math" panose="02040503050406030204" pitchFamily="18" charset="0"/>
                                    </a:rPr>
                                    <m:t>𝑄</m:t>
                                  </m:r>
                                </m:sup>
                              </m:sSup>
                            </m:e>
                          </m:d>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m:t>
                              </m:r>
                            </m:e>
                            <m:sub>
                              <m:r>
                                <a:rPr lang="en-US" altLang="zh-CN" b="0" i="1" smtClean="0">
                                  <a:latin typeface="Cambria Math" panose="02040503050406030204" pitchFamily="18" charset="0"/>
                                </a:rPr>
                                <m:t>𝑠</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zh-CN" altLang="en-US" b="0" i="1" smtClean="0">
                                  <a:latin typeface="Cambria Math" panose="02040503050406030204" pitchFamily="18" charset="0"/>
                                </a:rPr>
                                <m:t>𝜇</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sub>
                                  </m:sSub>
                                </m:e>
                              </m:d>
                            </m:sub>
                          </m:sSub>
                          <m:sSub>
                            <m:sSubPr>
                              <m:ctrlPr>
                                <a:rPr lang="en-US" altLang="zh-CN" b="0" i="1" smtClean="0">
                                  <a:latin typeface="Cambria Math" panose="02040503050406030204" pitchFamily="18" charset="0"/>
                                  <a:ea typeface="Cambria Math" panose="02040503050406030204" pitchFamily="18" charset="0"/>
                                </a:rPr>
                              </m:ctrlPr>
                            </m:sSubPr>
                            <m:e>
                              <m:r>
                                <m:rPr>
                                  <m:sty m:val="p"/>
                                </m:rPr>
                                <a:rPr lang="en-US" altLang="zh-CN" b="0" i="1" smtClean="0">
                                  <a:latin typeface="Cambria Math" panose="02040503050406030204" pitchFamily="18" charset="0"/>
                                  <a:ea typeface="Cambria Math" panose="02040503050406030204" pitchFamily="18" charset="0"/>
                                </a:rPr>
                                <m:t>∇</m:t>
                              </m:r>
                            </m:e>
                            <m:sub>
                              <m:sSup>
                                <m:sSupPr>
                                  <m:ctrlPr>
                                    <a:rPr lang="zh-CN" altLang="en-US" b="0" i="1" smtClean="0">
                                      <a:latin typeface="Cambria Math" panose="02040503050406030204" pitchFamily="18" charset="0"/>
                                    </a:rPr>
                                  </m:ctrlPr>
                                </m:sSupPr>
                                <m:e>
                                  <m:r>
                                    <a:rPr lang="zh-CN" altLang="en-US" b="0" i="1" smtClean="0">
                                      <a:latin typeface="Cambria Math" panose="02040503050406030204" pitchFamily="18" charset="0"/>
                                    </a:rPr>
                                    <m:t>𝜃</m:t>
                                  </m:r>
                                </m:e>
                                <m:sup>
                                  <m:sSup>
                                    <m:sSupPr>
                                      <m:ctrlPr>
                                        <a:rPr lang="zh-CN" altLang="en-US" b="0" i="1" smtClean="0">
                                          <a:latin typeface="Cambria Math" panose="02040503050406030204" pitchFamily="18" charset="0"/>
                                        </a:rPr>
                                      </m:ctrlPr>
                                    </m:sSupPr>
                                    <m:e>
                                      <m:r>
                                        <a:rPr lang="zh-CN" altLang="en-US" b="0" i="1" smtClean="0">
                                          <a:latin typeface="Cambria Math" panose="02040503050406030204" pitchFamily="18" charset="0"/>
                                        </a:rPr>
                                        <m:t>𝜋</m:t>
                                      </m:r>
                                    </m:e>
                                    <m:sup>
                                      <m:r>
                                        <a:rPr lang="en-US" altLang="zh-CN" b="0" i="1" smtClean="0">
                                          <a:latin typeface="Cambria Math" panose="02040503050406030204" pitchFamily="18" charset="0"/>
                                        </a:rPr>
                                        <m:t>′</m:t>
                                      </m:r>
                                    </m:sup>
                                  </m:sSup>
                                </m:sup>
                              </m:sSup>
                            </m:sub>
                          </m:sSub>
                          <m:r>
                            <a:rPr lang="zh-CN" altLang="en-US" b="0" i="1" smtClean="0">
                              <a:latin typeface="Cambria Math" panose="02040503050406030204" pitchFamily="18" charset="0"/>
                            </a:rPr>
                            <m:t>𝜇</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e>
                              <m:sSup>
                                <m:sSupPr>
                                  <m:ctrlPr>
                                    <a:rPr lang="zh-CN" altLang="en-US" b="0" i="1" smtClean="0">
                                      <a:latin typeface="Cambria Math" panose="02040503050406030204" pitchFamily="18" charset="0"/>
                                    </a:rPr>
                                  </m:ctrlPr>
                                </m:sSupPr>
                                <m:e>
                                  <m:r>
                                    <a:rPr lang="zh-CN" altLang="en-US" b="0" i="1" smtClean="0">
                                      <a:latin typeface="Cambria Math" panose="02040503050406030204" pitchFamily="18" charset="0"/>
                                    </a:rPr>
                                    <m:t>𝜃</m:t>
                                  </m:r>
                                </m:e>
                                <m:sup>
                                  <m:sSup>
                                    <m:sSupPr>
                                      <m:ctrlPr>
                                        <a:rPr lang="zh-CN" altLang="en-US" b="0" i="1" smtClean="0">
                                          <a:latin typeface="Cambria Math" panose="02040503050406030204" pitchFamily="18" charset="0"/>
                                        </a:rPr>
                                      </m:ctrlPr>
                                    </m:sSupPr>
                                    <m:e>
                                      <m:r>
                                        <a:rPr lang="zh-CN" altLang="en-US" b="0" i="1" smtClean="0">
                                          <a:latin typeface="Cambria Math" panose="02040503050406030204" pitchFamily="18" charset="0"/>
                                        </a:rPr>
                                        <m:t>𝜋</m:t>
                                      </m:r>
                                    </m:e>
                                    <m:sup>
                                      <m:r>
                                        <a:rPr lang="en-US" altLang="zh-CN" b="0" i="1" smtClean="0">
                                          <a:latin typeface="Cambria Math" panose="02040503050406030204" pitchFamily="18" charset="0"/>
                                        </a:rPr>
                                        <m:t>′</m:t>
                                      </m:r>
                                    </m:sup>
                                  </m:sSup>
                                </m:sup>
                              </m:sSup>
                            </m:e>
                          </m:d>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m:t>
                              </m:r>
                            </m:e>
                            <m:sub>
                              <m:r>
                                <a:rPr lang="en-US" altLang="zh-CN" b="0" i="1" smtClean="0">
                                  <a:latin typeface="Cambria Math" panose="02040503050406030204" pitchFamily="18" charset="0"/>
                                </a:rPr>
                                <m:t>𝑠</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sub>
                              </m:sSub>
                            </m:sub>
                          </m:sSub>
                        </m:e>
                      </m:d>
                    </m:oMath>
                  </m:oMathPara>
                </a14:m>
                <a:endParaRPr lang="en-US" altLang="zh-CN" sz="1800" b="0" i="0" u="none" strike="noStrike" baseline="0" dirty="0">
                  <a:latin typeface="+mn-ea"/>
                </a:endParaRPr>
              </a:p>
              <a:p>
                <a:endParaRPr lang="zh-CN" altLang="en-US" dirty="0">
                  <a:latin typeface="+mn-ea"/>
                </a:endParaRPr>
              </a:p>
            </p:txBody>
          </p:sp>
        </mc:Choice>
        <mc:Fallback xmlns="">
          <p:sp>
            <p:nvSpPr>
              <p:cNvPr id="13" name="文本框 12">
                <a:extLst>
                  <a:ext uri="{FF2B5EF4-FFF2-40B4-BE49-F238E27FC236}">
                    <a16:creationId xmlns:a16="http://schemas.microsoft.com/office/drawing/2014/main" id="{7F3A491A-E848-FD07-C1D1-A8CB626D5591}"/>
                  </a:ext>
                </a:extLst>
              </p:cNvPr>
              <p:cNvSpPr txBox="1">
                <a:spLocks noRot="1" noChangeAspect="1" noMove="1" noResize="1" noEditPoints="1" noAdjustHandles="1" noChangeArrowheads="1" noChangeShapeType="1" noTextEdit="1"/>
              </p:cNvSpPr>
              <p:nvPr/>
            </p:nvSpPr>
            <p:spPr>
              <a:xfrm>
                <a:off x="5886450" y="4513580"/>
                <a:ext cx="6305549" cy="1691360"/>
              </a:xfrm>
              <a:prstGeom prst="rect">
                <a:avLst/>
              </a:prstGeom>
              <a:blipFill>
                <a:blip r:embed="rId6"/>
                <a:stretch>
                  <a:fillRect l="-870" t="-179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06896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B420C-B92F-BB57-05C5-A8ED0FE7D29D}"/>
            </a:ext>
          </a:extLst>
        </p:cNvPr>
        <p:cNvGrpSpPr/>
        <p:nvPr/>
      </p:nvGrpSpPr>
      <p:grpSpPr>
        <a:xfrm>
          <a:off x="0" y="0"/>
          <a:ext cx="0" cy="0"/>
          <a:chOff x="0" y="0"/>
          <a:chExt cx="0" cy="0"/>
        </a:xfrm>
      </p:grpSpPr>
      <p:grpSp>
        <p:nvGrpSpPr>
          <p:cNvPr id="103" name="组合 102">
            <a:extLst>
              <a:ext uri="{FF2B5EF4-FFF2-40B4-BE49-F238E27FC236}">
                <a16:creationId xmlns:a16="http://schemas.microsoft.com/office/drawing/2014/main" id="{99C01EEA-9ECC-AFC0-B117-13428E86398D}"/>
              </a:ext>
            </a:extLst>
          </p:cNvPr>
          <p:cNvGrpSpPr/>
          <p:nvPr/>
        </p:nvGrpSpPr>
        <p:grpSpPr>
          <a:xfrm>
            <a:off x="0" y="939798"/>
            <a:ext cx="6095999" cy="912902"/>
            <a:chOff x="0" y="1075267"/>
            <a:chExt cx="6095999" cy="912902"/>
          </a:xfrm>
        </p:grpSpPr>
        <p:sp>
          <p:nvSpPr>
            <p:cNvPr id="104" name="矩形 103">
              <a:extLst>
                <a:ext uri="{FF2B5EF4-FFF2-40B4-BE49-F238E27FC236}">
                  <a16:creationId xmlns:a16="http://schemas.microsoft.com/office/drawing/2014/main" id="{71F3AA5C-9A55-8904-0700-4F7D3D51DD18}"/>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a:extLst>
                <a:ext uri="{FF2B5EF4-FFF2-40B4-BE49-F238E27FC236}">
                  <a16:creationId xmlns:a16="http://schemas.microsoft.com/office/drawing/2014/main" id="{CA8F8771-B189-801A-90D6-8F06C659FF39}"/>
                </a:ext>
              </a:extLst>
            </p:cNvPr>
            <p:cNvSpPr txBox="1"/>
            <p:nvPr/>
          </p:nvSpPr>
          <p:spPr>
            <a:xfrm>
              <a:off x="270932" y="1157172"/>
              <a:ext cx="5825067" cy="830997"/>
            </a:xfrm>
            <a:prstGeom prst="rect">
              <a:avLst/>
            </a:prstGeom>
            <a:noFill/>
          </p:spPr>
          <p:txBody>
            <a:bodyPr wrap="square">
              <a:spAutoFit/>
            </a:bodyPr>
            <a:lstStyle/>
            <a:p>
              <a:r>
                <a:rPr lang="en-US" altLang="zh-CN" sz="2400" b="1" dirty="0">
                  <a:solidFill>
                    <a:schemeClr val="accent1"/>
                  </a:solidFill>
                </a:rPr>
                <a:t>5.4.3 </a:t>
              </a:r>
              <a:r>
                <a:rPr lang="zh-CN" altLang="en-US" sz="2400" b="1" dirty="0">
                  <a:solidFill>
                    <a:schemeClr val="accent1"/>
                  </a:solidFill>
                </a:rPr>
                <a:t>基于深度强化学习方法的导航</a:t>
              </a:r>
            </a:p>
            <a:p>
              <a:endParaRPr lang="zh-CN" altLang="en-US" sz="2400" b="1" dirty="0">
                <a:solidFill>
                  <a:schemeClr val="accent1"/>
                </a:solidFill>
                <a:latin typeface="+mj-lt"/>
              </a:endParaRPr>
            </a:p>
          </p:txBody>
        </p:sp>
      </p:grpSp>
      <p:sp>
        <p:nvSpPr>
          <p:cNvPr id="19" name="文本框 18">
            <a:extLst>
              <a:ext uri="{FF2B5EF4-FFF2-40B4-BE49-F238E27FC236}">
                <a16:creationId xmlns:a16="http://schemas.microsoft.com/office/drawing/2014/main" id="{0763DC27-50B7-8EFC-BAF3-1DAEE38A0FE7}"/>
              </a:ext>
            </a:extLst>
          </p:cNvPr>
          <p:cNvSpPr txBox="1"/>
          <p:nvPr/>
        </p:nvSpPr>
        <p:spPr>
          <a:xfrm>
            <a:off x="995701" y="1647177"/>
            <a:ext cx="6094878" cy="369332"/>
          </a:xfrm>
          <a:prstGeom prst="rect">
            <a:avLst/>
          </a:prstGeom>
          <a:noFill/>
        </p:spPr>
        <p:txBody>
          <a:bodyPr wrap="square">
            <a:spAutoFit/>
          </a:bodyPr>
          <a:lstStyle/>
          <a:p>
            <a:r>
              <a:rPr lang="zh-CN" altLang="en-US" b="1" dirty="0"/>
              <a:t>分层深度强化学习</a:t>
            </a:r>
          </a:p>
        </p:txBody>
      </p:sp>
      <p:sp>
        <p:nvSpPr>
          <p:cNvPr id="5" name="文本框 4">
            <a:extLst>
              <a:ext uri="{FF2B5EF4-FFF2-40B4-BE49-F238E27FC236}">
                <a16:creationId xmlns:a16="http://schemas.microsoft.com/office/drawing/2014/main" id="{B9805BB6-6191-502F-B5D7-11DD3C088289}"/>
              </a:ext>
            </a:extLst>
          </p:cNvPr>
          <p:cNvSpPr txBox="1"/>
          <p:nvPr/>
        </p:nvSpPr>
        <p:spPr>
          <a:xfrm>
            <a:off x="270931" y="2098414"/>
            <a:ext cx="5578539" cy="3416320"/>
          </a:xfrm>
          <a:prstGeom prst="rect">
            <a:avLst/>
          </a:prstGeom>
          <a:noFill/>
        </p:spPr>
        <p:txBody>
          <a:bodyPr wrap="square">
            <a:spAutoFit/>
          </a:bodyPr>
          <a:lstStyle/>
          <a:p>
            <a:pPr marL="285750" indent="-285750">
              <a:buFont typeface="Arial" panose="020B0604020202020204" pitchFamily="34" charset="0"/>
              <a:buChar char="•"/>
            </a:pPr>
            <a:r>
              <a:rPr lang="zh-CN" altLang="en-US" dirty="0"/>
              <a:t>在面对</a:t>
            </a:r>
            <a:r>
              <a:rPr lang="zh-CN" altLang="en-US" b="1" dirty="0"/>
              <a:t>高维度</a:t>
            </a:r>
            <a:r>
              <a:rPr lang="zh-CN" altLang="en-US" dirty="0"/>
              <a:t>状态空间，基于深度强化学习</a:t>
            </a:r>
            <a:r>
              <a:rPr lang="en-US" altLang="zh-CN" dirty="0"/>
              <a:t>(DRL) </a:t>
            </a:r>
            <a:r>
              <a:rPr lang="zh-CN" altLang="en-US" dirty="0"/>
              <a:t>的方法依然存在无法解决的维数灾难，导致无法执行有效导航，同时面对一些</a:t>
            </a:r>
            <a:r>
              <a:rPr lang="zh-CN" altLang="en-US" b="1" dirty="0"/>
              <a:t>特殊地形</a:t>
            </a:r>
            <a:r>
              <a:rPr lang="zh-CN" altLang="en-US" dirty="0"/>
              <a:t>（如长廊、死角处）策略网络容易出现</a:t>
            </a:r>
            <a:r>
              <a:rPr lang="zh-CN" altLang="en-US" b="1" dirty="0"/>
              <a:t>局部最优化</a:t>
            </a:r>
            <a:r>
              <a:rPr lang="zh-CN" altLang="en-US" dirty="0"/>
              <a:t>等问题</a:t>
            </a:r>
            <a:endParaRPr lang="en-US" altLang="zh-CN" dirty="0"/>
          </a:p>
          <a:p>
            <a:pPr marL="285750" indent="-285750">
              <a:buFont typeface="Arial" panose="020B0604020202020204" pitchFamily="34" charset="0"/>
              <a:buChar char="•"/>
            </a:pPr>
            <a:r>
              <a:rPr lang="zh-CN" altLang="en-US" dirty="0"/>
              <a:t>基于对以上挑战的研究，研究人员提出了基于</a:t>
            </a:r>
            <a:r>
              <a:rPr lang="zh-CN" altLang="en-US" b="1" dirty="0"/>
              <a:t>分层深度强化学习</a:t>
            </a:r>
            <a:r>
              <a:rPr lang="zh-CN" altLang="en-US" dirty="0"/>
              <a:t>（</a:t>
            </a:r>
            <a:r>
              <a:rPr lang="en-US" altLang="zh-CN" dirty="0"/>
              <a:t>Hierarchical Deep Reinforcement Learning</a:t>
            </a:r>
            <a:r>
              <a:rPr lang="zh-CN" altLang="en-US" dirty="0"/>
              <a:t>，</a:t>
            </a:r>
            <a:r>
              <a:rPr lang="en-US" altLang="zh-CN" dirty="0"/>
              <a:t>HDRL</a:t>
            </a:r>
            <a:r>
              <a:rPr lang="zh-CN" altLang="en-US" dirty="0"/>
              <a:t>的机器人导航方法，将复杂导航问题分解成相对简单的子问题，通过解决每个子问题获得全局导航策略</a:t>
            </a:r>
            <a:endParaRPr lang="en-US" altLang="zh-CN" dirty="0"/>
          </a:p>
          <a:p>
            <a:pPr marL="285750" indent="-285750">
              <a:buFont typeface="Arial" panose="020B0604020202020204" pitchFamily="34" charset="0"/>
              <a:buChar char="•"/>
            </a:pPr>
            <a:r>
              <a:rPr lang="zh-CN" altLang="en-US" dirty="0"/>
              <a:t>基于分层深度强化学习的导航方法可以分为两类：基于</a:t>
            </a:r>
            <a:r>
              <a:rPr lang="zh-CN" altLang="en-US" b="1" dirty="0"/>
              <a:t>子任务</a:t>
            </a:r>
            <a:r>
              <a:rPr lang="zh-CN" altLang="en-US" dirty="0"/>
              <a:t>的分层深度强化学习方法和基于</a:t>
            </a:r>
            <a:r>
              <a:rPr lang="zh-CN" altLang="en-US" b="1" dirty="0"/>
              <a:t>选项</a:t>
            </a:r>
            <a:r>
              <a:rPr lang="zh-CN" altLang="en-US" dirty="0"/>
              <a:t>的分层深度强化学习方法</a:t>
            </a:r>
            <a:endParaRPr lang="en-US" altLang="zh-CN" sz="1800" b="0" i="0" u="none" strike="noStrike" baseline="0" dirty="0">
              <a:latin typeface="+mn-ea"/>
            </a:endParaRPr>
          </a:p>
        </p:txBody>
      </p:sp>
      <p:pic>
        <p:nvPicPr>
          <p:cNvPr id="3" name="图片 2" descr="图示&#10;&#10;AI 生成的内容可能不正确。">
            <a:extLst>
              <a:ext uri="{FF2B5EF4-FFF2-40B4-BE49-F238E27FC236}">
                <a16:creationId xmlns:a16="http://schemas.microsoft.com/office/drawing/2014/main" id="{9CF11AD2-26DE-FAAF-7535-5DD5B2654E9B}"/>
              </a:ext>
            </a:extLst>
          </p:cNvPr>
          <p:cNvPicPr>
            <a:picLocks noChangeAspect="1"/>
          </p:cNvPicPr>
          <p:nvPr/>
        </p:nvPicPr>
        <p:blipFill>
          <a:blip r:embed="rId3"/>
          <a:stretch>
            <a:fillRect/>
          </a:stretch>
        </p:blipFill>
        <p:spPr>
          <a:xfrm>
            <a:off x="5933347" y="1021703"/>
            <a:ext cx="5834452" cy="1892956"/>
          </a:xfrm>
          <a:prstGeom prst="rect">
            <a:avLst/>
          </a:prstGeom>
        </p:spPr>
      </p:pic>
      <p:sp>
        <p:nvSpPr>
          <p:cNvPr id="7" name="文本框 6">
            <a:extLst>
              <a:ext uri="{FF2B5EF4-FFF2-40B4-BE49-F238E27FC236}">
                <a16:creationId xmlns:a16="http://schemas.microsoft.com/office/drawing/2014/main" id="{BC6A0E6A-5751-45D6-71C1-AA7886532CFE}"/>
              </a:ext>
            </a:extLst>
          </p:cNvPr>
          <p:cNvSpPr txBox="1"/>
          <p:nvPr/>
        </p:nvSpPr>
        <p:spPr>
          <a:xfrm>
            <a:off x="5933347" y="3288315"/>
            <a:ext cx="6094878" cy="2308324"/>
          </a:xfrm>
          <a:prstGeom prst="rect">
            <a:avLst/>
          </a:prstGeom>
          <a:noFill/>
        </p:spPr>
        <p:txBody>
          <a:bodyPr wrap="square">
            <a:spAutoFit/>
          </a:bodyPr>
          <a:lstStyle/>
          <a:p>
            <a:pPr algn="l"/>
            <a:r>
              <a:rPr lang="zh-CN" altLang="en-US" sz="1800" b="0" i="0" u="none" strike="noStrike" baseline="0" dirty="0">
                <a:latin typeface="+mn-ea"/>
              </a:rPr>
              <a:t>在基于</a:t>
            </a:r>
            <a:r>
              <a:rPr lang="zh-CN" altLang="en-US" sz="1800" b="1" i="0" u="none" strike="noStrike" baseline="0" dirty="0">
                <a:latin typeface="+mn-ea"/>
              </a:rPr>
              <a:t>子任务</a:t>
            </a:r>
            <a:r>
              <a:rPr lang="zh-CN" altLang="en-US" sz="1800" b="0" i="0" u="none" strike="noStrike" baseline="0" dirty="0">
                <a:latin typeface="+mn-ea"/>
              </a:rPr>
              <a:t>的分层深度强化学习方法中，高层策略负责负责生成子目标，再由低层策略输出控制动作进行实现，但是其先验知识的设计不具有泛化性，表现性能依赖于具有任务特异性的子目标空间；</a:t>
            </a:r>
            <a:endParaRPr lang="en-US" altLang="zh-CN" sz="1800" b="0" i="0" u="none" strike="noStrike" baseline="0" dirty="0">
              <a:latin typeface="+mn-ea"/>
            </a:endParaRPr>
          </a:p>
          <a:p>
            <a:pPr algn="l"/>
            <a:endParaRPr lang="en-US" altLang="zh-CN" sz="1800" b="0" i="0" u="none" strike="noStrike" baseline="0" dirty="0">
              <a:latin typeface="+mn-ea"/>
            </a:endParaRPr>
          </a:p>
          <a:p>
            <a:pPr algn="l"/>
            <a:r>
              <a:rPr lang="zh-CN" altLang="en-US" sz="1800" b="0" i="0" u="none" strike="noStrike" baseline="0" dirty="0">
                <a:latin typeface="+mn-ea"/>
              </a:rPr>
              <a:t>基于</a:t>
            </a:r>
            <a:r>
              <a:rPr lang="zh-CN" altLang="en-US" sz="1800" b="1" i="0" u="none" strike="noStrike" baseline="0" dirty="0">
                <a:latin typeface="+mn-ea"/>
              </a:rPr>
              <a:t>选项</a:t>
            </a:r>
            <a:r>
              <a:rPr lang="zh-CN" altLang="en-US" sz="1800" b="0" i="0" u="none" strike="noStrike" baseline="0" dirty="0">
                <a:latin typeface="+mn-ea"/>
              </a:rPr>
              <a:t>的分层深度强化学习方法则使用高层策略在多个低层策略中进行选择，再由被选低层策略进行控制动作的输出</a:t>
            </a:r>
            <a:endParaRPr lang="zh-CN" altLang="en-US" dirty="0">
              <a:latin typeface="+mn-ea"/>
            </a:endParaRPr>
          </a:p>
        </p:txBody>
      </p:sp>
    </p:spTree>
    <p:extLst>
      <p:ext uri="{BB962C8B-B14F-4D97-AF65-F5344CB8AC3E}">
        <p14:creationId xmlns:p14="http://schemas.microsoft.com/office/powerpoint/2010/main" val="1862747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9F50B-84CA-7B91-2311-425A898E9A79}"/>
            </a:ext>
          </a:extLst>
        </p:cNvPr>
        <p:cNvGrpSpPr/>
        <p:nvPr/>
      </p:nvGrpSpPr>
      <p:grpSpPr>
        <a:xfrm>
          <a:off x="0" y="0"/>
          <a:ext cx="0" cy="0"/>
          <a:chOff x="0" y="0"/>
          <a:chExt cx="0" cy="0"/>
        </a:xfrm>
      </p:grpSpPr>
      <p:grpSp>
        <p:nvGrpSpPr>
          <p:cNvPr id="103" name="组合 102">
            <a:extLst>
              <a:ext uri="{FF2B5EF4-FFF2-40B4-BE49-F238E27FC236}">
                <a16:creationId xmlns:a16="http://schemas.microsoft.com/office/drawing/2014/main" id="{D3639BFF-2694-0F98-6C93-F4C8E9FF67F1}"/>
              </a:ext>
            </a:extLst>
          </p:cNvPr>
          <p:cNvGrpSpPr/>
          <p:nvPr/>
        </p:nvGrpSpPr>
        <p:grpSpPr>
          <a:xfrm>
            <a:off x="0" y="939798"/>
            <a:ext cx="6095999" cy="912902"/>
            <a:chOff x="0" y="1075267"/>
            <a:chExt cx="6095999" cy="912902"/>
          </a:xfrm>
        </p:grpSpPr>
        <p:sp>
          <p:nvSpPr>
            <p:cNvPr id="104" name="矩形 103">
              <a:extLst>
                <a:ext uri="{FF2B5EF4-FFF2-40B4-BE49-F238E27FC236}">
                  <a16:creationId xmlns:a16="http://schemas.microsoft.com/office/drawing/2014/main" id="{3F209471-F9FB-3AA5-02D3-9F45F4BD7E53}"/>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a:extLst>
                <a:ext uri="{FF2B5EF4-FFF2-40B4-BE49-F238E27FC236}">
                  <a16:creationId xmlns:a16="http://schemas.microsoft.com/office/drawing/2014/main" id="{F8867C1E-DF8D-5E0D-EDA9-8BC820F54605}"/>
                </a:ext>
              </a:extLst>
            </p:cNvPr>
            <p:cNvSpPr txBox="1"/>
            <p:nvPr/>
          </p:nvSpPr>
          <p:spPr>
            <a:xfrm>
              <a:off x="270932" y="1157172"/>
              <a:ext cx="5825067" cy="830997"/>
            </a:xfrm>
            <a:prstGeom prst="rect">
              <a:avLst/>
            </a:prstGeom>
            <a:noFill/>
          </p:spPr>
          <p:txBody>
            <a:bodyPr wrap="square">
              <a:spAutoFit/>
            </a:bodyPr>
            <a:lstStyle/>
            <a:p>
              <a:r>
                <a:rPr lang="en-US" altLang="zh-CN" sz="2400" b="1" dirty="0">
                  <a:solidFill>
                    <a:schemeClr val="accent1"/>
                  </a:solidFill>
                </a:rPr>
                <a:t>5.4.3 </a:t>
              </a:r>
              <a:r>
                <a:rPr lang="zh-CN" altLang="en-US" sz="2400" b="1" dirty="0">
                  <a:solidFill>
                    <a:schemeClr val="accent1"/>
                  </a:solidFill>
                </a:rPr>
                <a:t>基于深度强化学习方法的导航</a:t>
              </a:r>
            </a:p>
            <a:p>
              <a:endParaRPr lang="zh-CN" altLang="en-US" sz="2400" b="1" dirty="0">
                <a:solidFill>
                  <a:schemeClr val="accent1"/>
                </a:solidFill>
                <a:latin typeface="+mj-lt"/>
              </a:endParaRPr>
            </a:p>
          </p:txBody>
        </p:sp>
      </p:grpSp>
      <p:sp>
        <p:nvSpPr>
          <p:cNvPr id="19" name="文本框 18">
            <a:extLst>
              <a:ext uri="{FF2B5EF4-FFF2-40B4-BE49-F238E27FC236}">
                <a16:creationId xmlns:a16="http://schemas.microsoft.com/office/drawing/2014/main" id="{491ED6E0-3CBE-FF51-7EAA-656F03D1AB58}"/>
              </a:ext>
            </a:extLst>
          </p:cNvPr>
          <p:cNvSpPr txBox="1"/>
          <p:nvPr/>
        </p:nvSpPr>
        <p:spPr>
          <a:xfrm>
            <a:off x="1002576" y="1565273"/>
            <a:ext cx="6094878" cy="369332"/>
          </a:xfrm>
          <a:prstGeom prst="rect">
            <a:avLst/>
          </a:prstGeom>
          <a:noFill/>
        </p:spPr>
        <p:txBody>
          <a:bodyPr wrap="square">
            <a:spAutoFit/>
          </a:bodyPr>
          <a:lstStyle/>
          <a:p>
            <a:r>
              <a:rPr lang="zh-CN" altLang="en-US" b="1" dirty="0"/>
              <a:t>分层深度强化学习</a:t>
            </a:r>
          </a:p>
        </p:txBody>
      </p:sp>
      <p:pic>
        <p:nvPicPr>
          <p:cNvPr id="3" name="图片 2" descr="图示&#10;&#10;AI 生成的内容可能不正确。">
            <a:extLst>
              <a:ext uri="{FF2B5EF4-FFF2-40B4-BE49-F238E27FC236}">
                <a16:creationId xmlns:a16="http://schemas.microsoft.com/office/drawing/2014/main" id="{E38ADD4C-BABE-EFC8-4C1B-78EA024BF1C2}"/>
              </a:ext>
            </a:extLst>
          </p:cNvPr>
          <p:cNvPicPr>
            <a:picLocks noChangeAspect="1"/>
          </p:cNvPicPr>
          <p:nvPr/>
        </p:nvPicPr>
        <p:blipFill>
          <a:blip r:embed="rId3"/>
          <a:stretch>
            <a:fillRect/>
          </a:stretch>
        </p:blipFill>
        <p:spPr>
          <a:xfrm>
            <a:off x="6221522" y="1107888"/>
            <a:ext cx="5834452" cy="1892956"/>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95881BD-B82F-F8C5-DC53-5B2FBBFE70EC}"/>
                  </a:ext>
                </a:extLst>
              </p:cNvPr>
              <p:cNvSpPr txBox="1"/>
              <p:nvPr/>
            </p:nvSpPr>
            <p:spPr>
              <a:xfrm>
                <a:off x="124257" y="1852700"/>
                <a:ext cx="6085496" cy="5139869"/>
              </a:xfrm>
              <a:prstGeom prst="rect">
                <a:avLst/>
              </a:prstGeom>
              <a:noFill/>
            </p:spPr>
            <p:txBody>
              <a:bodyPr wrap="square">
                <a:spAutoFit/>
              </a:bodyPr>
              <a:lstStyle/>
              <a:p>
                <a:pPr algn="l"/>
                <a:r>
                  <a:rPr lang="zh-CN" altLang="en-US" sz="1800" b="0" i="0" u="none" strike="noStrike" baseline="0" dirty="0">
                    <a:latin typeface="+mn-ea"/>
                  </a:rPr>
                  <a:t>在机器人导航中，最常见的解耦方式就是将导航任务拆解成</a:t>
                </a:r>
                <a:r>
                  <a:rPr lang="zh-CN" altLang="en-US" sz="1800" b="1" i="0" u="none" strike="noStrike" baseline="0" dirty="0">
                    <a:latin typeface="+mn-ea"/>
                  </a:rPr>
                  <a:t>避障</a:t>
                </a:r>
                <a:r>
                  <a:rPr lang="zh-CN" altLang="en-US" sz="1800" b="0" i="0" u="none" strike="noStrike" baseline="0" dirty="0">
                    <a:latin typeface="+mn-ea"/>
                  </a:rPr>
                  <a:t>和</a:t>
                </a:r>
                <a:r>
                  <a:rPr lang="zh-CN" altLang="en-US" sz="1800" b="1" i="0" u="none" strike="noStrike" baseline="0" dirty="0">
                    <a:latin typeface="+mn-ea"/>
                  </a:rPr>
                  <a:t>目标接近</a:t>
                </a:r>
                <a:r>
                  <a:rPr lang="zh-CN" altLang="en-US" sz="1800" b="0" i="0" u="none" strike="noStrike" baseline="0" dirty="0">
                    <a:latin typeface="+mn-ea"/>
                  </a:rPr>
                  <a:t>两个子任务。</a:t>
                </a:r>
                <a:endParaRPr lang="en-US" altLang="zh-CN" sz="1800" b="0" i="0" u="none" strike="noStrike" baseline="0" dirty="0">
                  <a:latin typeface="+mn-ea"/>
                </a:endParaRPr>
              </a:p>
              <a:p>
                <a:pPr algn="l"/>
                <a:endParaRPr lang="en-US" altLang="zh-CN" sz="1800" b="0" i="0" u="none" strike="noStrike" baseline="0" dirty="0">
                  <a:latin typeface="+mn-ea"/>
                </a:endParaRPr>
              </a:p>
              <a:p>
                <a:pPr algn="l"/>
                <a:r>
                  <a:rPr lang="zh-CN" altLang="en-US" sz="1800" b="0" i="0" u="none" strike="noStrike" baseline="0" dirty="0">
                    <a:latin typeface="+mn-ea"/>
                  </a:rPr>
                  <a:t>在基于分层深度强化学习的导航方法框架中，高层的行为选择模型采用全连接神经网络对低层策略进行选择，低层控制模型分为两个部分：一是采用</a:t>
                </a:r>
                <a:r>
                  <a:rPr lang="zh-CN" altLang="en-US" sz="1800" b="1" i="0" u="none" strike="noStrike" baseline="0" dirty="0">
                    <a:latin typeface="+mn-ea"/>
                  </a:rPr>
                  <a:t>全连接神经网络的避障控制模型</a:t>
                </a:r>
                <a:r>
                  <a:rPr lang="zh-CN" altLang="en-US" sz="1800" b="0" i="0" u="none" strike="noStrike" baseline="0" dirty="0">
                    <a:latin typeface="+mn-ea"/>
                  </a:rPr>
                  <a:t>，负责</a:t>
                </a:r>
                <a:r>
                  <a:rPr lang="zh-CN" altLang="en-US" sz="1800" b="1" i="0" u="none" strike="noStrike" baseline="0" dirty="0">
                    <a:latin typeface="+mn-ea"/>
                  </a:rPr>
                  <a:t>学习避障策略</a:t>
                </a:r>
                <a:r>
                  <a:rPr lang="zh-CN" altLang="en-US" sz="1800" b="0" i="0" u="none" strike="noStrike" baseline="0" dirty="0">
                    <a:latin typeface="+mn-ea"/>
                  </a:rPr>
                  <a:t>；一个是采用</a:t>
                </a:r>
                <a:r>
                  <a:rPr lang="zh-CN" altLang="en-US" sz="1800" b="1" i="0" u="none" strike="noStrike" baseline="0" dirty="0">
                    <a:latin typeface="+mn-ea"/>
                  </a:rPr>
                  <a:t>基于规则的控制器负责实现目标接近策略</a:t>
                </a:r>
                <a:r>
                  <a:rPr lang="zh-CN" altLang="en-US" sz="1800" b="0" i="0" u="none" strike="noStrike" baseline="0" dirty="0">
                    <a:latin typeface="+mn-ea"/>
                  </a:rPr>
                  <a:t>。</a:t>
                </a:r>
              </a:p>
              <a:p>
                <a:pPr algn="l"/>
                <a:r>
                  <a:rPr lang="zh-CN" altLang="en-US" sz="1800" b="0" i="0" u="none" strike="noStrike" baseline="0" dirty="0">
                    <a:latin typeface="+mn-ea"/>
                  </a:rPr>
                  <a:t>模型通过两个部分学习到最优导航策略，具体步骤如下：</a:t>
                </a:r>
                <a:endParaRPr lang="en-US" altLang="zh-CN" sz="1800" b="0" i="0" u="none" strike="noStrike" baseline="0" dirty="0">
                  <a:latin typeface="+mn-ea"/>
                </a:endParaRPr>
              </a:p>
              <a:p>
                <a:pPr algn="l"/>
                <a:endParaRPr lang="en-US" altLang="zh-CN" sz="1800" b="0" i="0" u="none" strike="noStrike" baseline="0" dirty="0">
                  <a:latin typeface="+mn-ea"/>
                </a:endParaRPr>
              </a:p>
              <a:p>
                <a:pPr algn="l"/>
                <a:r>
                  <a:rPr lang="zh-CN" altLang="en-US" b="1" dirty="0">
                    <a:latin typeface="+mn-ea"/>
                  </a:rPr>
                  <a:t>环境交互</a:t>
                </a:r>
                <a:r>
                  <a:rPr lang="zh-CN" altLang="en-US" dirty="0">
                    <a:latin typeface="+mn-ea"/>
                  </a:rPr>
                  <a:t>：</a:t>
                </a:r>
              </a:p>
              <a:p>
                <a:pPr algn="l"/>
                <a:r>
                  <a:rPr lang="en-US" altLang="zh-CN" sz="1600" dirty="0">
                    <a:latin typeface="+mn-ea"/>
                  </a:rPr>
                  <a:t>1) </a:t>
                </a:r>
                <a:r>
                  <a:rPr lang="zh-CN" altLang="en-US" sz="1600" dirty="0">
                    <a:latin typeface="+mn-ea"/>
                  </a:rPr>
                  <a:t>输入激光雷达扫描帧、机器人的角速度、线速度和目标点坐标，由行为选择模型输出被选行为；</a:t>
                </a:r>
              </a:p>
              <a:p>
                <a:pPr algn="l"/>
                <a:r>
                  <a:rPr lang="en-US" altLang="zh-CN" sz="1600" dirty="0">
                    <a:latin typeface="+mn-ea"/>
                  </a:rPr>
                  <a:t>2) </a:t>
                </a:r>
                <a:r>
                  <a:rPr lang="zh-CN" altLang="en-US" sz="1600" dirty="0">
                    <a:latin typeface="+mn-ea"/>
                  </a:rPr>
                  <a:t>如果选择目标接近行为，则根据目标驱动控制模型的输出执行</a:t>
                </a:r>
                <a:r>
                  <a:rPr lang="en-US" altLang="zh-CN" sz="1600" dirty="0">
                    <a:latin typeface="+mn-ea"/>
                  </a:rPr>
                  <a:t>1 </a:t>
                </a:r>
                <a:r>
                  <a:rPr lang="zh-CN" altLang="en-US" sz="1600" dirty="0">
                    <a:latin typeface="+mn-ea"/>
                  </a:rPr>
                  <a:t>次动作，产生的经验数据存入</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𝐸</m:t>
                        </m:r>
                      </m:e>
                      <m:sub>
                        <m:r>
                          <a:rPr lang="en-US" altLang="zh-CN" sz="1600" b="0" i="1" smtClean="0">
                            <a:latin typeface="Cambria Math" panose="02040503050406030204" pitchFamily="18" charset="0"/>
                          </a:rPr>
                          <m:t>1</m:t>
                        </m:r>
                      </m:sub>
                    </m:sSub>
                  </m:oMath>
                </a14:m>
                <a:r>
                  <a:rPr lang="zh-CN" altLang="en-US" sz="1600" dirty="0">
                    <a:latin typeface="+mn-ea"/>
                  </a:rPr>
                  <a:t>；如果选择执行避障行为，则根据避障控制模型的输出执行</a:t>
                </a:r>
                <a:r>
                  <a:rPr lang="en-US" altLang="zh-CN" sz="1600" dirty="0">
                    <a:latin typeface="+mn-ea"/>
                  </a:rPr>
                  <a:t>n </a:t>
                </a:r>
                <a:r>
                  <a:rPr lang="zh-CN" altLang="en-US" sz="1600" dirty="0">
                    <a:latin typeface="+mn-ea"/>
                  </a:rPr>
                  <a:t>次动作，产生的避障经验存入</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𝐸</m:t>
                        </m:r>
                      </m:e>
                      <m:sub>
                        <m:r>
                          <a:rPr lang="en-US" altLang="zh-CN" sz="1600" b="0" i="1" smtClean="0">
                            <a:latin typeface="Cambria Math" panose="02040503050406030204" pitchFamily="18" charset="0"/>
                          </a:rPr>
                          <m:t>1</m:t>
                        </m:r>
                      </m:sub>
                    </m:sSub>
                  </m:oMath>
                </a14:m>
                <a:r>
                  <a:rPr lang="zh-CN" altLang="en-US" sz="1600" dirty="0">
                    <a:latin typeface="+mn-ea"/>
                  </a:rPr>
                  <a:t>；</a:t>
                </a:r>
              </a:p>
              <a:p>
                <a:pPr algn="l"/>
                <a:r>
                  <a:rPr lang="en-US" altLang="zh-CN" sz="1600" dirty="0">
                    <a:latin typeface="+mn-ea"/>
                  </a:rPr>
                  <a:t>3) </a:t>
                </a:r>
                <a:r>
                  <a:rPr lang="zh-CN" altLang="en-US" sz="1600" dirty="0">
                    <a:latin typeface="+mn-ea"/>
                  </a:rPr>
                  <a:t>产生的行为选择经验数据存入</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𝐸</m:t>
                        </m:r>
                      </m:e>
                      <m:sub>
                        <m:r>
                          <a:rPr lang="en-US" altLang="zh-CN" sz="1600" b="0" i="1" smtClean="0">
                            <a:latin typeface="Cambria Math" panose="02040503050406030204" pitchFamily="18" charset="0"/>
                          </a:rPr>
                          <m:t>2</m:t>
                        </m:r>
                      </m:sub>
                    </m:sSub>
                  </m:oMath>
                </a14:m>
                <a:r>
                  <a:rPr lang="zh-CN" altLang="en-US" sz="1600" dirty="0">
                    <a:latin typeface="+mn-ea"/>
                  </a:rPr>
                  <a:t>；</a:t>
                </a:r>
                <a:endParaRPr lang="en-US" altLang="zh-CN" sz="1600" dirty="0">
                  <a:latin typeface="+mn-ea"/>
                </a:endParaRPr>
              </a:p>
              <a:p>
                <a:r>
                  <a:rPr lang="en-US" altLang="zh-CN" sz="1600" dirty="0">
                    <a:latin typeface="+mn-ea"/>
                  </a:rPr>
                  <a:t>4) </a:t>
                </a:r>
                <a:r>
                  <a:rPr lang="zh-CN" altLang="en-US" sz="1600" dirty="0">
                    <a:latin typeface="+mn-ea"/>
                  </a:rPr>
                  <a:t>迭代第一步至第三步，直到训练回合终止；</a:t>
                </a:r>
              </a:p>
              <a:p>
                <a:pPr algn="l"/>
                <a:endParaRPr lang="zh-CN" altLang="en-US" sz="1600" dirty="0">
                  <a:latin typeface="+mn-ea"/>
                </a:endParaRPr>
              </a:p>
            </p:txBody>
          </p:sp>
        </mc:Choice>
        <mc:Fallback xmlns="">
          <p:sp>
            <p:nvSpPr>
              <p:cNvPr id="7" name="文本框 6">
                <a:extLst>
                  <a:ext uri="{FF2B5EF4-FFF2-40B4-BE49-F238E27FC236}">
                    <a16:creationId xmlns:a16="http://schemas.microsoft.com/office/drawing/2014/main" id="{B95881BD-B82F-F8C5-DC53-5B2FBBFE70EC}"/>
                  </a:ext>
                </a:extLst>
              </p:cNvPr>
              <p:cNvSpPr txBox="1">
                <a:spLocks noRot="1" noChangeAspect="1" noMove="1" noResize="1" noEditPoints="1" noAdjustHandles="1" noChangeArrowheads="1" noChangeShapeType="1" noTextEdit="1"/>
              </p:cNvSpPr>
              <p:nvPr/>
            </p:nvSpPr>
            <p:spPr>
              <a:xfrm>
                <a:off x="124257" y="1852700"/>
                <a:ext cx="6085496" cy="5139869"/>
              </a:xfrm>
              <a:prstGeom prst="rect">
                <a:avLst/>
              </a:prstGeom>
              <a:blipFill>
                <a:blip r:embed="rId4"/>
                <a:stretch>
                  <a:fillRect l="-801" t="-712" r="-11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FD05466-533F-D0CE-441D-0E1E1B4E4E89}"/>
                  </a:ext>
                </a:extLst>
              </p:cNvPr>
              <p:cNvSpPr txBox="1"/>
              <p:nvPr/>
            </p:nvSpPr>
            <p:spPr>
              <a:xfrm>
                <a:off x="6377309" y="3272589"/>
                <a:ext cx="5331136" cy="2739211"/>
              </a:xfrm>
              <a:prstGeom prst="rect">
                <a:avLst/>
              </a:prstGeom>
              <a:noFill/>
            </p:spPr>
            <p:txBody>
              <a:bodyPr wrap="square">
                <a:spAutoFit/>
              </a:bodyPr>
              <a:lstStyle/>
              <a:p>
                <a:pPr algn="l"/>
                <a:r>
                  <a:rPr lang="zh-CN" altLang="en-US" b="1" dirty="0">
                    <a:latin typeface="+mn-ea"/>
                  </a:rPr>
                  <a:t>参数更新</a:t>
                </a:r>
                <a:r>
                  <a:rPr lang="zh-CN" altLang="en-US" dirty="0">
                    <a:latin typeface="+mn-ea"/>
                  </a:rPr>
                  <a:t>：</a:t>
                </a:r>
              </a:p>
              <a:p>
                <a:pPr algn="l"/>
                <a:r>
                  <a:rPr lang="en-US" altLang="zh-CN" sz="1600" dirty="0">
                    <a:latin typeface="+mn-ea"/>
                  </a:rPr>
                  <a:t>1) </a:t>
                </a:r>
                <a:r>
                  <a:rPr lang="zh-CN" altLang="en-US" sz="1600" dirty="0">
                    <a:latin typeface="+mn-ea"/>
                  </a:rPr>
                  <a:t>机器人按照环境交互算法执行</a:t>
                </a:r>
                <a:r>
                  <a:rPr lang="en-US" altLang="zh-CN" sz="1600" dirty="0">
                    <a:latin typeface="+mn-ea"/>
                  </a:rPr>
                  <a:t>1 </a:t>
                </a:r>
                <a:r>
                  <a:rPr lang="zh-CN" altLang="en-US" sz="1600" dirty="0">
                    <a:latin typeface="+mn-ea"/>
                  </a:rPr>
                  <a:t>次动作；</a:t>
                </a:r>
              </a:p>
              <a:p>
                <a:pPr algn="l"/>
                <a:r>
                  <a:rPr lang="en-US" altLang="zh-CN" sz="1600" dirty="0">
                    <a:latin typeface="+mn-ea"/>
                  </a:rPr>
                  <a:t>2) </a:t>
                </a:r>
                <a:r>
                  <a:rPr lang="zh-CN" altLang="en-US" sz="1600" dirty="0">
                    <a:latin typeface="+mn-ea"/>
                  </a:rPr>
                  <a:t>利用</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𝐸</m:t>
                        </m:r>
                      </m:e>
                      <m:sub>
                        <m:r>
                          <a:rPr lang="en-US" altLang="zh-CN" sz="1600" b="0" i="1" smtClean="0">
                            <a:latin typeface="Cambria Math" panose="02040503050406030204" pitchFamily="18" charset="0"/>
                          </a:rPr>
                          <m:t>1</m:t>
                        </m:r>
                      </m:sub>
                    </m:sSub>
                  </m:oMath>
                </a14:m>
                <a:r>
                  <a:rPr lang="zh-CN" altLang="en-US" sz="1600" dirty="0">
                    <a:latin typeface="+mn-ea"/>
                  </a:rPr>
                  <a:t>中的经验数据，更新避障控制模型，利用</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𝐸</m:t>
                        </m:r>
                      </m:e>
                      <m:sub>
                        <m:r>
                          <a:rPr lang="en-US" altLang="zh-CN" sz="1600" b="0" i="1" smtClean="0">
                            <a:latin typeface="Cambria Math" panose="02040503050406030204" pitchFamily="18" charset="0"/>
                          </a:rPr>
                          <m:t>2</m:t>
                        </m:r>
                      </m:sub>
                    </m:sSub>
                  </m:oMath>
                </a14:m>
                <a:r>
                  <a:rPr lang="zh-CN" altLang="en-US" sz="1600" dirty="0">
                    <a:latin typeface="+mn-ea"/>
                  </a:rPr>
                  <a:t>中的经验数据，更新行为选择模型；</a:t>
                </a:r>
              </a:p>
              <a:p>
                <a:pPr algn="l"/>
                <a:r>
                  <a:rPr lang="en-US" altLang="zh-CN" sz="1600" dirty="0">
                    <a:latin typeface="+mn-ea"/>
                  </a:rPr>
                  <a:t>3) </a:t>
                </a:r>
                <a:r>
                  <a:rPr lang="zh-CN" altLang="en-US" sz="1600" dirty="0">
                    <a:latin typeface="+mn-ea"/>
                  </a:rPr>
                  <a:t>迭代第一步至第三步，直到训练回合终止。</a:t>
                </a:r>
                <a:endParaRPr lang="en-US" altLang="zh-CN" sz="1600" dirty="0">
                  <a:latin typeface="+mn-ea"/>
                </a:endParaRPr>
              </a:p>
              <a:p>
                <a:pPr algn="l"/>
                <a:endParaRPr lang="zh-CN" altLang="en-US" dirty="0">
                  <a:latin typeface="+mn-ea"/>
                </a:endParaRPr>
              </a:p>
              <a:p>
                <a:pPr algn="l"/>
                <a:r>
                  <a:rPr lang="zh-CN" altLang="en-US" dirty="0">
                    <a:latin typeface="+mn-ea"/>
                  </a:rPr>
                  <a:t>由于在分层深度强化学习中，对导航任务进行了抽象分解，最低层级的控制模型可以从导航任务中学习到基本的动作技能，这些基本的动作技能往往是非任务特异的，可以帮助算法迁移到不同的环境中。</a:t>
                </a:r>
              </a:p>
            </p:txBody>
          </p:sp>
        </mc:Choice>
        <mc:Fallback xmlns="">
          <p:sp>
            <p:nvSpPr>
              <p:cNvPr id="4" name="文本框 3">
                <a:extLst>
                  <a:ext uri="{FF2B5EF4-FFF2-40B4-BE49-F238E27FC236}">
                    <a16:creationId xmlns:a16="http://schemas.microsoft.com/office/drawing/2014/main" id="{7FD05466-533F-D0CE-441D-0E1E1B4E4E89}"/>
                  </a:ext>
                </a:extLst>
              </p:cNvPr>
              <p:cNvSpPr txBox="1">
                <a:spLocks noRot="1" noChangeAspect="1" noMove="1" noResize="1" noEditPoints="1" noAdjustHandles="1" noChangeArrowheads="1" noChangeShapeType="1" noTextEdit="1"/>
              </p:cNvSpPr>
              <p:nvPr/>
            </p:nvSpPr>
            <p:spPr>
              <a:xfrm>
                <a:off x="6377309" y="3272589"/>
                <a:ext cx="5331136" cy="2739211"/>
              </a:xfrm>
              <a:prstGeom prst="rect">
                <a:avLst/>
              </a:prstGeom>
              <a:blipFill>
                <a:blip r:embed="rId5"/>
                <a:stretch>
                  <a:fillRect l="-914" t="-1336" r="-2971" b="-26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316565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89E2E6E-D096-6FC2-C5F2-F1FE8775C5D0}"/>
              </a:ext>
            </a:extLst>
          </p:cNvPr>
          <p:cNvGrpSpPr/>
          <p:nvPr/>
        </p:nvGrpSpPr>
        <p:grpSpPr>
          <a:xfrm>
            <a:off x="934508" y="1305313"/>
            <a:ext cx="10322982" cy="4103565"/>
            <a:chOff x="333375" y="2083594"/>
            <a:chExt cx="7747460" cy="3079750"/>
          </a:xfrm>
        </p:grpSpPr>
        <p:sp>
          <p:nvSpPr>
            <p:cNvPr id="3" name="Shape 6">
              <a:extLst>
                <a:ext uri="{FF2B5EF4-FFF2-40B4-BE49-F238E27FC236}">
                  <a16:creationId xmlns:a16="http://schemas.microsoft.com/office/drawing/2014/main" id="{BDF7B479-8E7C-7E7E-2E41-0F32E6708097}"/>
                </a:ext>
              </a:extLst>
            </p:cNvPr>
            <p:cNvSpPr/>
            <p:nvPr/>
          </p:nvSpPr>
          <p:spPr>
            <a:xfrm>
              <a:off x="333375" y="2083594"/>
              <a:ext cx="3223683" cy="1460500"/>
            </a:xfrm>
            <a:custGeom>
              <a:avLst/>
              <a:gdLst/>
              <a:ahLst/>
              <a:cxnLst/>
              <a:rect l="l" t="t" r="r" b="b"/>
              <a:pathLst>
                <a:path w="5683250" h="1460500">
                  <a:moveTo>
                    <a:pt x="31750" y="0"/>
                  </a:moveTo>
                  <a:lnTo>
                    <a:pt x="5619747" y="0"/>
                  </a:lnTo>
                  <a:cubicBezTo>
                    <a:pt x="5654819" y="0"/>
                    <a:pt x="5683250" y="28431"/>
                    <a:pt x="5683250" y="63503"/>
                  </a:cubicBezTo>
                  <a:lnTo>
                    <a:pt x="5683250" y="1396997"/>
                  </a:lnTo>
                  <a:cubicBezTo>
                    <a:pt x="5683250" y="1432069"/>
                    <a:pt x="5654819" y="1460500"/>
                    <a:pt x="5619747" y="1460500"/>
                  </a:cubicBezTo>
                  <a:lnTo>
                    <a:pt x="31750" y="1460500"/>
                  </a:lnTo>
                  <a:cubicBezTo>
                    <a:pt x="14227" y="1460500"/>
                    <a:pt x="0" y="1446273"/>
                    <a:pt x="0" y="1428750"/>
                  </a:cubicBezTo>
                  <a:lnTo>
                    <a:pt x="0" y="31750"/>
                  </a:lnTo>
                  <a:cubicBezTo>
                    <a:pt x="0" y="14227"/>
                    <a:pt x="14227" y="0"/>
                    <a:pt x="31750" y="0"/>
                  </a:cubicBezTo>
                  <a:close/>
                </a:path>
              </a:pathLst>
            </a:custGeom>
            <a:gradFill flip="none" rotWithShape="1">
              <a:gsLst>
                <a:gs pos="0">
                  <a:srgbClr val="3D8B8B">
                    <a:alpha val="15000"/>
                  </a:srgbClr>
                </a:gs>
                <a:gs pos="100000">
                  <a:srgbClr val="000000">
                    <a:alpha val="0"/>
                  </a:srgbClr>
                </a:gs>
              </a:gsLst>
              <a:lin ang="2700000" scaled="1"/>
            </a:gradFill>
          </p:spPr>
        </p:sp>
        <p:sp>
          <p:nvSpPr>
            <p:cNvPr id="4" name="Shape 7">
              <a:extLst>
                <a:ext uri="{FF2B5EF4-FFF2-40B4-BE49-F238E27FC236}">
                  <a16:creationId xmlns:a16="http://schemas.microsoft.com/office/drawing/2014/main" id="{C6652CA8-B4CA-558F-F4DC-752DCDB4DBCF}"/>
                </a:ext>
              </a:extLst>
            </p:cNvPr>
            <p:cNvSpPr/>
            <p:nvPr/>
          </p:nvSpPr>
          <p:spPr>
            <a:xfrm>
              <a:off x="333375" y="2083594"/>
              <a:ext cx="31750" cy="1460500"/>
            </a:xfrm>
            <a:custGeom>
              <a:avLst/>
              <a:gdLst/>
              <a:ahLst/>
              <a:cxnLst/>
              <a:rect l="l" t="t" r="r" b="b"/>
              <a:pathLst>
                <a:path w="31750" h="1460500">
                  <a:moveTo>
                    <a:pt x="31750" y="0"/>
                  </a:moveTo>
                  <a:lnTo>
                    <a:pt x="31750" y="0"/>
                  </a:lnTo>
                  <a:lnTo>
                    <a:pt x="31750" y="1460500"/>
                  </a:lnTo>
                  <a:lnTo>
                    <a:pt x="31750" y="1460500"/>
                  </a:lnTo>
                  <a:cubicBezTo>
                    <a:pt x="14227" y="1460500"/>
                    <a:pt x="0" y="1446273"/>
                    <a:pt x="0" y="1428750"/>
                  </a:cubicBezTo>
                  <a:lnTo>
                    <a:pt x="0" y="31750"/>
                  </a:lnTo>
                  <a:cubicBezTo>
                    <a:pt x="0" y="14227"/>
                    <a:pt x="14227" y="0"/>
                    <a:pt x="31750" y="0"/>
                  </a:cubicBezTo>
                  <a:close/>
                </a:path>
              </a:pathLst>
            </a:custGeom>
            <a:solidFill>
              <a:srgbClr val="3D8B8B"/>
            </a:solidFill>
          </p:spPr>
        </p:sp>
        <p:sp>
          <p:nvSpPr>
            <p:cNvPr id="5" name="Shape 8">
              <a:extLst>
                <a:ext uri="{FF2B5EF4-FFF2-40B4-BE49-F238E27FC236}">
                  <a16:creationId xmlns:a16="http://schemas.microsoft.com/office/drawing/2014/main" id="{95607A9D-D441-959E-2689-3D4D0E39CFAB}"/>
                </a:ext>
              </a:extLst>
            </p:cNvPr>
            <p:cNvSpPr/>
            <p:nvPr/>
          </p:nvSpPr>
          <p:spPr>
            <a:xfrm>
              <a:off x="563563" y="2305844"/>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14114" y="120960"/>
                  </a:moveTo>
                  <a:lnTo>
                    <a:pt x="60424" y="141610"/>
                  </a:lnTo>
                  <a:cubicBezTo>
                    <a:pt x="53206" y="144400"/>
                    <a:pt x="46100" y="137294"/>
                    <a:pt x="48890" y="130076"/>
                  </a:cubicBezTo>
                  <a:lnTo>
                    <a:pt x="69540" y="76386"/>
                  </a:lnTo>
                  <a:cubicBezTo>
                    <a:pt x="70768" y="73223"/>
                    <a:pt x="73223" y="70768"/>
                    <a:pt x="76386" y="69540"/>
                  </a:cubicBezTo>
                  <a:lnTo>
                    <a:pt x="130076" y="48890"/>
                  </a:lnTo>
                  <a:cubicBezTo>
                    <a:pt x="137294" y="46100"/>
                    <a:pt x="144400" y="53206"/>
                    <a:pt x="141610" y="60424"/>
                  </a:cubicBezTo>
                  <a:lnTo>
                    <a:pt x="120960" y="114114"/>
                  </a:lnTo>
                  <a:cubicBezTo>
                    <a:pt x="119769" y="117277"/>
                    <a:pt x="117277" y="119732"/>
                    <a:pt x="114114" y="120960"/>
                  </a:cubicBezTo>
                  <a:close/>
                  <a:moveTo>
                    <a:pt x="107156" y="95250"/>
                  </a:moveTo>
                  <a:cubicBezTo>
                    <a:pt x="107156" y="88679"/>
                    <a:pt x="101821" y="83344"/>
                    <a:pt x="95250" y="83344"/>
                  </a:cubicBezTo>
                  <a:cubicBezTo>
                    <a:pt x="88679" y="83344"/>
                    <a:pt x="83344" y="88679"/>
                    <a:pt x="83344" y="95250"/>
                  </a:cubicBezTo>
                  <a:cubicBezTo>
                    <a:pt x="83344" y="101821"/>
                    <a:pt x="88679" y="107156"/>
                    <a:pt x="95250" y="107156"/>
                  </a:cubicBezTo>
                  <a:cubicBezTo>
                    <a:pt x="101821" y="107156"/>
                    <a:pt x="107156" y="101821"/>
                    <a:pt x="107156" y="95250"/>
                  </a:cubicBezTo>
                  <a:close/>
                </a:path>
              </a:pathLst>
            </a:custGeom>
            <a:solidFill>
              <a:srgbClr val="C5A069"/>
            </a:solidFill>
          </p:spPr>
        </p:sp>
        <p:sp>
          <p:nvSpPr>
            <p:cNvPr id="6" name="Text 9">
              <a:extLst>
                <a:ext uri="{FF2B5EF4-FFF2-40B4-BE49-F238E27FC236}">
                  <a16:creationId xmlns:a16="http://schemas.microsoft.com/office/drawing/2014/main" id="{66954CA0-FD80-15ED-47AD-0635C6E72052}"/>
                </a:ext>
              </a:extLst>
            </p:cNvPr>
            <p:cNvSpPr/>
            <p:nvPr/>
          </p:nvSpPr>
          <p:spPr>
            <a:xfrm>
              <a:off x="777875" y="2274094"/>
              <a:ext cx="2752725" cy="254000"/>
            </a:xfrm>
            <a:prstGeom prst="rect">
              <a:avLst/>
            </a:prstGeom>
            <a:noFill/>
          </p:spPr>
          <p:txBody>
            <a:bodyPr wrap="square" lIns="0" tIns="0" rIns="0" bIns="0" rtlCol="0" anchor="ctr"/>
            <a:lstStyle/>
            <a:p>
              <a:pPr>
                <a:lnSpc>
                  <a:spcPct val="110000"/>
                </a:lnSpc>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基于学习的智能导航基础</a:t>
              </a:r>
              <a:endParaRPr lang="en-US" dirty="0"/>
            </a:p>
          </p:txBody>
        </p:sp>
        <p:sp>
          <p:nvSpPr>
            <p:cNvPr id="7" name="Shape 10">
              <a:extLst>
                <a:ext uri="{FF2B5EF4-FFF2-40B4-BE49-F238E27FC236}">
                  <a16:creationId xmlns:a16="http://schemas.microsoft.com/office/drawing/2014/main" id="{E961F01F-C2C3-4E12-AAEB-E52DFCE88337}"/>
                </a:ext>
              </a:extLst>
            </p:cNvPr>
            <p:cNvSpPr/>
            <p:nvPr/>
          </p:nvSpPr>
          <p:spPr>
            <a:xfrm>
              <a:off x="555625" y="2686844"/>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a:srgbClr val="3D8B8B"/>
            </a:solidFill>
          </p:spPr>
        </p:sp>
        <p:sp>
          <p:nvSpPr>
            <p:cNvPr id="8" name="Text 11">
              <a:extLst>
                <a:ext uri="{FF2B5EF4-FFF2-40B4-BE49-F238E27FC236}">
                  <a16:creationId xmlns:a16="http://schemas.microsoft.com/office/drawing/2014/main" id="{B2841293-F4DB-8875-6D32-BE3D98F160CA}"/>
                </a:ext>
              </a:extLst>
            </p:cNvPr>
            <p:cNvSpPr/>
            <p:nvPr/>
          </p:nvSpPr>
          <p:spPr>
            <a:xfrm>
              <a:off x="742156" y="2655094"/>
              <a:ext cx="1545162" cy="190500"/>
            </a:xfrm>
            <a:prstGeom prst="rect">
              <a:avLst/>
            </a:prstGeom>
            <a:noFill/>
          </p:spPr>
          <p:txBody>
            <a:bodyPr wrap="square" lIns="0" tIns="0" rIns="0" bIns="0" rtlCol="0" anchor="ctr"/>
            <a:lstStyle/>
            <a:p>
              <a:pPr>
                <a:lnSpc>
                  <a:spcPct val="130000"/>
                </a:lnSpc>
              </a:pPr>
              <a:r>
                <a:rPr lang="zh-CN" altLang="en-US" dirty="0"/>
                <a:t>学习算法发展</a:t>
              </a:r>
              <a:endParaRPr lang="en-US" dirty="0"/>
            </a:p>
          </p:txBody>
        </p:sp>
        <p:sp>
          <p:nvSpPr>
            <p:cNvPr id="9" name="Shape 12">
              <a:extLst>
                <a:ext uri="{FF2B5EF4-FFF2-40B4-BE49-F238E27FC236}">
                  <a16:creationId xmlns:a16="http://schemas.microsoft.com/office/drawing/2014/main" id="{0EC91C0D-5A69-C630-2BA0-F882030638F6}"/>
                </a:ext>
              </a:extLst>
            </p:cNvPr>
            <p:cNvSpPr/>
            <p:nvPr/>
          </p:nvSpPr>
          <p:spPr>
            <a:xfrm>
              <a:off x="555625" y="2940844"/>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a:srgbClr val="3D8B8B"/>
            </a:solidFill>
          </p:spPr>
        </p:sp>
        <p:sp>
          <p:nvSpPr>
            <p:cNvPr id="10" name="Text 13">
              <a:extLst>
                <a:ext uri="{FF2B5EF4-FFF2-40B4-BE49-F238E27FC236}">
                  <a16:creationId xmlns:a16="http://schemas.microsoft.com/office/drawing/2014/main" id="{7C9E4D03-511F-509E-5ED6-1E9275111F79}"/>
                </a:ext>
              </a:extLst>
            </p:cNvPr>
            <p:cNvSpPr/>
            <p:nvPr/>
          </p:nvSpPr>
          <p:spPr>
            <a:xfrm>
              <a:off x="742155" y="2909094"/>
              <a:ext cx="2321973" cy="190500"/>
            </a:xfrm>
            <a:prstGeom prst="rect">
              <a:avLst/>
            </a:prstGeom>
            <a:noFill/>
          </p:spPr>
          <p:txBody>
            <a:bodyPr wrap="square" lIns="0" tIns="0" rIns="0" bIns="0" rtlCol="0" anchor="ctr"/>
            <a:lstStyle/>
            <a:p>
              <a:pPr>
                <a:lnSpc>
                  <a:spcPct val="130000"/>
                </a:lnSpc>
              </a:pPr>
              <a:r>
                <a:rPr lang="zh-CN" altLang="en-US" dirty="0"/>
                <a:t>导航原理概述</a:t>
              </a:r>
              <a:endParaRPr lang="en-US" dirty="0"/>
            </a:p>
          </p:txBody>
        </p:sp>
        <p:sp>
          <p:nvSpPr>
            <p:cNvPr id="11" name="Shape 14">
              <a:extLst>
                <a:ext uri="{FF2B5EF4-FFF2-40B4-BE49-F238E27FC236}">
                  <a16:creationId xmlns:a16="http://schemas.microsoft.com/office/drawing/2014/main" id="{CF6A7C84-B713-12A9-F4AF-E6BD5913EB9A}"/>
                </a:ext>
              </a:extLst>
            </p:cNvPr>
            <p:cNvSpPr/>
            <p:nvPr/>
          </p:nvSpPr>
          <p:spPr>
            <a:xfrm>
              <a:off x="555625" y="3194844"/>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a:srgbClr val="3D8B8B"/>
            </a:solidFill>
          </p:spPr>
        </p:sp>
        <p:sp>
          <p:nvSpPr>
            <p:cNvPr id="12" name="Text 15">
              <a:extLst>
                <a:ext uri="{FF2B5EF4-FFF2-40B4-BE49-F238E27FC236}">
                  <a16:creationId xmlns:a16="http://schemas.microsoft.com/office/drawing/2014/main" id="{BE8551AF-0560-1450-0ED1-F305D928B192}"/>
                </a:ext>
              </a:extLst>
            </p:cNvPr>
            <p:cNvSpPr/>
            <p:nvPr/>
          </p:nvSpPr>
          <p:spPr>
            <a:xfrm>
              <a:off x="742156" y="3163094"/>
              <a:ext cx="2321972" cy="190500"/>
            </a:xfrm>
            <a:prstGeom prst="rect">
              <a:avLst/>
            </a:prstGeom>
            <a:noFill/>
          </p:spPr>
          <p:txBody>
            <a:bodyPr wrap="square" lIns="0" tIns="0" rIns="0" bIns="0" rtlCol="0" anchor="ctr"/>
            <a:lstStyle/>
            <a:p>
              <a:pPr>
                <a:lnSpc>
                  <a:spcPct val="130000"/>
                </a:lnSpc>
              </a:pPr>
              <a:r>
                <a:rPr lang="zh-CN" altLang="en-US" dirty="0"/>
                <a:t>导航问题与挑战</a:t>
              </a:r>
            </a:p>
          </p:txBody>
        </p:sp>
        <p:sp>
          <p:nvSpPr>
            <p:cNvPr id="13" name="Shape 16">
              <a:extLst>
                <a:ext uri="{FF2B5EF4-FFF2-40B4-BE49-F238E27FC236}">
                  <a16:creationId xmlns:a16="http://schemas.microsoft.com/office/drawing/2014/main" id="{7ED3493D-EA42-C05B-5026-2578DB1AF35D}"/>
                </a:ext>
              </a:extLst>
            </p:cNvPr>
            <p:cNvSpPr/>
            <p:nvPr/>
          </p:nvSpPr>
          <p:spPr>
            <a:xfrm>
              <a:off x="4565650" y="2083594"/>
              <a:ext cx="3223683" cy="1460500"/>
            </a:xfrm>
            <a:custGeom>
              <a:avLst/>
              <a:gdLst/>
              <a:ahLst/>
              <a:cxnLst/>
              <a:rect l="l" t="t" r="r" b="b"/>
              <a:pathLst>
                <a:path w="5683250" h="1460500">
                  <a:moveTo>
                    <a:pt x="31750" y="0"/>
                  </a:moveTo>
                  <a:lnTo>
                    <a:pt x="5619747" y="0"/>
                  </a:lnTo>
                  <a:cubicBezTo>
                    <a:pt x="5654819" y="0"/>
                    <a:pt x="5683250" y="28431"/>
                    <a:pt x="5683250" y="63503"/>
                  </a:cubicBezTo>
                  <a:lnTo>
                    <a:pt x="5683250" y="1396997"/>
                  </a:lnTo>
                  <a:cubicBezTo>
                    <a:pt x="5683250" y="1432069"/>
                    <a:pt x="5654819" y="1460500"/>
                    <a:pt x="5619747" y="1460500"/>
                  </a:cubicBezTo>
                  <a:lnTo>
                    <a:pt x="31750" y="1460500"/>
                  </a:lnTo>
                  <a:cubicBezTo>
                    <a:pt x="14227" y="1460500"/>
                    <a:pt x="0" y="1446273"/>
                    <a:pt x="0" y="1428750"/>
                  </a:cubicBezTo>
                  <a:lnTo>
                    <a:pt x="0" y="31750"/>
                  </a:lnTo>
                  <a:cubicBezTo>
                    <a:pt x="0" y="14227"/>
                    <a:pt x="14227" y="0"/>
                    <a:pt x="31750" y="0"/>
                  </a:cubicBezTo>
                  <a:close/>
                </a:path>
              </a:pathLst>
            </a:custGeom>
            <a:gradFill flip="none" rotWithShape="1">
              <a:gsLst>
                <a:gs pos="0">
                  <a:srgbClr val="C5A069">
                    <a:alpha val="15000"/>
                  </a:srgbClr>
                </a:gs>
                <a:gs pos="100000">
                  <a:srgbClr val="000000">
                    <a:alpha val="0"/>
                  </a:srgbClr>
                </a:gs>
              </a:gsLst>
              <a:lin ang="2700000" scaled="1"/>
            </a:gradFill>
          </p:spPr>
        </p:sp>
        <p:sp>
          <p:nvSpPr>
            <p:cNvPr id="14" name="Shape 17">
              <a:extLst>
                <a:ext uri="{FF2B5EF4-FFF2-40B4-BE49-F238E27FC236}">
                  <a16:creationId xmlns:a16="http://schemas.microsoft.com/office/drawing/2014/main" id="{A008FA57-C486-40C4-7E88-C69EDAD8AB19}"/>
                </a:ext>
              </a:extLst>
            </p:cNvPr>
            <p:cNvSpPr/>
            <p:nvPr/>
          </p:nvSpPr>
          <p:spPr>
            <a:xfrm>
              <a:off x="4565650" y="2083594"/>
              <a:ext cx="31750" cy="1460500"/>
            </a:xfrm>
            <a:custGeom>
              <a:avLst/>
              <a:gdLst/>
              <a:ahLst/>
              <a:cxnLst/>
              <a:rect l="l" t="t" r="r" b="b"/>
              <a:pathLst>
                <a:path w="31750" h="1460500">
                  <a:moveTo>
                    <a:pt x="31750" y="0"/>
                  </a:moveTo>
                  <a:lnTo>
                    <a:pt x="31750" y="0"/>
                  </a:lnTo>
                  <a:lnTo>
                    <a:pt x="31750" y="1460500"/>
                  </a:lnTo>
                  <a:lnTo>
                    <a:pt x="31750" y="1460500"/>
                  </a:lnTo>
                  <a:cubicBezTo>
                    <a:pt x="14227" y="1460500"/>
                    <a:pt x="0" y="1446273"/>
                    <a:pt x="0" y="1428750"/>
                  </a:cubicBezTo>
                  <a:lnTo>
                    <a:pt x="0" y="31750"/>
                  </a:lnTo>
                  <a:cubicBezTo>
                    <a:pt x="0" y="14227"/>
                    <a:pt x="14227" y="0"/>
                    <a:pt x="31750" y="0"/>
                  </a:cubicBezTo>
                  <a:close/>
                </a:path>
              </a:pathLst>
            </a:custGeom>
            <a:solidFill>
              <a:srgbClr val="C5A069"/>
            </a:solidFill>
          </p:spPr>
        </p:sp>
        <p:sp>
          <p:nvSpPr>
            <p:cNvPr id="15" name="Shape 18">
              <a:extLst>
                <a:ext uri="{FF2B5EF4-FFF2-40B4-BE49-F238E27FC236}">
                  <a16:creationId xmlns:a16="http://schemas.microsoft.com/office/drawing/2014/main" id="{D2870A56-D75B-4746-D075-F90117DD4A48}"/>
                </a:ext>
              </a:extLst>
            </p:cNvPr>
            <p:cNvSpPr/>
            <p:nvPr/>
          </p:nvSpPr>
          <p:spPr>
            <a:xfrm>
              <a:off x="4783931" y="2305844"/>
              <a:ext cx="214313" cy="190500"/>
            </a:xfrm>
            <a:custGeom>
              <a:avLst/>
              <a:gdLst/>
              <a:ahLst/>
              <a:cxnLst/>
              <a:rect l="l" t="t" r="r" b="b"/>
              <a:pathLst>
                <a:path w="214313" h="190500">
                  <a:moveTo>
                    <a:pt x="107156" y="11906"/>
                  </a:moveTo>
                  <a:cubicBezTo>
                    <a:pt x="77093" y="11906"/>
                    <a:pt x="53020" y="25598"/>
                    <a:pt x="35496" y="41895"/>
                  </a:cubicBezTo>
                  <a:cubicBezTo>
                    <a:pt x="18083" y="58080"/>
                    <a:pt x="6437" y="77391"/>
                    <a:pt x="893" y="90674"/>
                  </a:cubicBezTo>
                  <a:cubicBezTo>
                    <a:pt x="-335" y="93613"/>
                    <a:pt x="-335" y="96887"/>
                    <a:pt x="893" y="99826"/>
                  </a:cubicBezTo>
                  <a:cubicBezTo>
                    <a:pt x="6437" y="113109"/>
                    <a:pt x="18083" y="132457"/>
                    <a:pt x="35496" y="148605"/>
                  </a:cubicBezTo>
                  <a:cubicBezTo>
                    <a:pt x="53020" y="164864"/>
                    <a:pt x="77093" y="178594"/>
                    <a:pt x="107156" y="178594"/>
                  </a:cubicBezTo>
                  <a:cubicBezTo>
                    <a:pt x="137220" y="178594"/>
                    <a:pt x="161292" y="164902"/>
                    <a:pt x="178817" y="148605"/>
                  </a:cubicBezTo>
                  <a:cubicBezTo>
                    <a:pt x="196230" y="132420"/>
                    <a:pt x="207876" y="113109"/>
                    <a:pt x="213420" y="99826"/>
                  </a:cubicBezTo>
                  <a:cubicBezTo>
                    <a:pt x="214647" y="96887"/>
                    <a:pt x="214647" y="93613"/>
                    <a:pt x="213420" y="90674"/>
                  </a:cubicBezTo>
                  <a:cubicBezTo>
                    <a:pt x="207876" y="77391"/>
                    <a:pt x="196230" y="58043"/>
                    <a:pt x="178817" y="41895"/>
                  </a:cubicBezTo>
                  <a:cubicBezTo>
                    <a:pt x="161292" y="25636"/>
                    <a:pt x="137220" y="11906"/>
                    <a:pt x="107156" y="11906"/>
                  </a:cubicBezTo>
                  <a:close/>
                  <a:moveTo>
                    <a:pt x="53578" y="95250"/>
                  </a:moveTo>
                  <a:cubicBezTo>
                    <a:pt x="53578" y="65679"/>
                    <a:pt x="77586" y="41672"/>
                    <a:pt x="107156" y="41672"/>
                  </a:cubicBezTo>
                  <a:cubicBezTo>
                    <a:pt x="136727" y="41672"/>
                    <a:pt x="160734" y="65679"/>
                    <a:pt x="160734" y="95250"/>
                  </a:cubicBezTo>
                  <a:cubicBezTo>
                    <a:pt x="160734" y="124821"/>
                    <a:pt x="136727" y="148828"/>
                    <a:pt x="107156" y="148828"/>
                  </a:cubicBezTo>
                  <a:cubicBezTo>
                    <a:pt x="77586" y="148828"/>
                    <a:pt x="53578" y="124821"/>
                    <a:pt x="53578" y="95250"/>
                  </a:cubicBezTo>
                  <a:close/>
                  <a:moveTo>
                    <a:pt x="107156" y="71438"/>
                  </a:moveTo>
                  <a:cubicBezTo>
                    <a:pt x="107156" y="84572"/>
                    <a:pt x="96478" y="95250"/>
                    <a:pt x="83344" y="95250"/>
                  </a:cubicBezTo>
                  <a:cubicBezTo>
                    <a:pt x="79065" y="95250"/>
                    <a:pt x="75047" y="94134"/>
                    <a:pt x="71549" y="92125"/>
                  </a:cubicBezTo>
                  <a:cubicBezTo>
                    <a:pt x="71177" y="96180"/>
                    <a:pt x="71512" y="100347"/>
                    <a:pt x="72628" y="104477"/>
                  </a:cubicBezTo>
                  <a:cubicBezTo>
                    <a:pt x="77725" y="123527"/>
                    <a:pt x="97334" y="134838"/>
                    <a:pt x="116384" y="129741"/>
                  </a:cubicBezTo>
                  <a:cubicBezTo>
                    <a:pt x="135434" y="124644"/>
                    <a:pt x="146745" y="105035"/>
                    <a:pt x="141647" y="85985"/>
                  </a:cubicBezTo>
                  <a:cubicBezTo>
                    <a:pt x="137108" y="68982"/>
                    <a:pt x="120997" y="58155"/>
                    <a:pt x="104031" y="59643"/>
                  </a:cubicBezTo>
                  <a:cubicBezTo>
                    <a:pt x="106003" y="63103"/>
                    <a:pt x="107156" y="67121"/>
                    <a:pt x="107156" y="71438"/>
                  </a:cubicBezTo>
                  <a:close/>
                </a:path>
              </a:pathLst>
            </a:custGeom>
            <a:solidFill>
              <a:srgbClr val="C5A069"/>
            </a:solidFill>
          </p:spPr>
        </p:sp>
        <p:sp>
          <p:nvSpPr>
            <p:cNvPr id="16" name="Text 19">
              <a:extLst>
                <a:ext uri="{FF2B5EF4-FFF2-40B4-BE49-F238E27FC236}">
                  <a16:creationId xmlns:a16="http://schemas.microsoft.com/office/drawing/2014/main" id="{54BD65FF-3611-6C51-4A18-C987D665B0F2}"/>
                </a:ext>
              </a:extLst>
            </p:cNvPr>
            <p:cNvSpPr/>
            <p:nvPr/>
          </p:nvSpPr>
          <p:spPr>
            <a:xfrm>
              <a:off x="5010150" y="2274094"/>
              <a:ext cx="2779183" cy="254000"/>
            </a:xfrm>
            <a:prstGeom prst="rect">
              <a:avLst/>
            </a:prstGeom>
            <a:noFill/>
          </p:spPr>
          <p:txBody>
            <a:bodyPr wrap="square" lIns="0" tIns="0" rIns="0" bIns="0" rtlCol="0" anchor="ctr"/>
            <a:lstStyle/>
            <a:p>
              <a:pPr>
                <a:lnSpc>
                  <a:spcPct val="110000"/>
                </a:lnSpc>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基于传统机器学习的导航方法</a:t>
              </a:r>
              <a:endParaRPr lang="en-US" dirty="0"/>
            </a:p>
          </p:txBody>
        </p:sp>
        <p:sp>
          <p:nvSpPr>
            <p:cNvPr id="17" name="Shape 20">
              <a:extLst>
                <a:ext uri="{FF2B5EF4-FFF2-40B4-BE49-F238E27FC236}">
                  <a16:creationId xmlns:a16="http://schemas.microsoft.com/office/drawing/2014/main" id="{592B0C52-011C-A5F7-CE2A-7DB343459CDA}"/>
                </a:ext>
              </a:extLst>
            </p:cNvPr>
            <p:cNvSpPr/>
            <p:nvPr/>
          </p:nvSpPr>
          <p:spPr>
            <a:xfrm>
              <a:off x="4787900" y="2686844"/>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a:srgbClr val="C5A069"/>
            </a:solidFill>
          </p:spPr>
        </p:sp>
        <p:sp>
          <p:nvSpPr>
            <p:cNvPr id="18" name="Text 21">
              <a:extLst>
                <a:ext uri="{FF2B5EF4-FFF2-40B4-BE49-F238E27FC236}">
                  <a16:creationId xmlns:a16="http://schemas.microsoft.com/office/drawing/2014/main" id="{085F759A-F26C-CD13-478F-6F302BCB7EA8}"/>
                </a:ext>
              </a:extLst>
            </p:cNvPr>
            <p:cNvSpPr/>
            <p:nvPr/>
          </p:nvSpPr>
          <p:spPr>
            <a:xfrm>
              <a:off x="4974430" y="2655094"/>
              <a:ext cx="1742617" cy="190500"/>
            </a:xfrm>
            <a:prstGeom prst="rect">
              <a:avLst/>
            </a:prstGeom>
            <a:noFill/>
          </p:spPr>
          <p:txBody>
            <a:bodyPr wrap="square" lIns="0" tIns="0" rIns="0" bIns="0" rtlCol="0" anchor="ctr"/>
            <a:lstStyle/>
            <a:p>
              <a:pPr>
                <a:lnSpc>
                  <a:spcPct val="130000"/>
                </a:lnSpc>
              </a:pPr>
              <a:r>
                <a:rPr lang="zh-CN" altLang="en-US" dirty="0"/>
                <a:t>决策树导航策略</a:t>
              </a:r>
              <a:endParaRPr lang="en-US" dirty="0"/>
            </a:p>
          </p:txBody>
        </p:sp>
        <p:sp>
          <p:nvSpPr>
            <p:cNvPr id="19" name="Shape 22">
              <a:extLst>
                <a:ext uri="{FF2B5EF4-FFF2-40B4-BE49-F238E27FC236}">
                  <a16:creationId xmlns:a16="http://schemas.microsoft.com/office/drawing/2014/main" id="{B748B47D-32FA-EFB0-7068-E842CCC593C0}"/>
                </a:ext>
              </a:extLst>
            </p:cNvPr>
            <p:cNvSpPr/>
            <p:nvPr/>
          </p:nvSpPr>
          <p:spPr>
            <a:xfrm>
              <a:off x="4787900" y="2940844"/>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a:srgbClr val="C5A069"/>
            </a:solidFill>
          </p:spPr>
        </p:sp>
        <p:sp>
          <p:nvSpPr>
            <p:cNvPr id="20" name="Text 23">
              <a:extLst>
                <a:ext uri="{FF2B5EF4-FFF2-40B4-BE49-F238E27FC236}">
                  <a16:creationId xmlns:a16="http://schemas.microsoft.com/office/drawing/2014/main" id="{9D104722-2F3D-3503-CCF5-059471BCDD60}"/>
                </a:ext>
              </a:extLst>
            </p:cNvPr>
            <p:cNvSpPr/>
            <p:nvPr/>
          </p:nvSpPr>
          <p:spPr>
            <a:xfrm>
              <a:off x="4974430" y="2909094"/>
              <a:ext cx="1704491" cy="190500"/>
            </a:xfrm>
            <a:prstGeom prst="rect">
              <a:avLst/>
            </a:prstGeom>
            <a:noFill/>
          </p:spPr>
          <p:txBody>
            <a:bodyPr wrap="square" lIns="0" tIns="0" rIns="0" bIns="0" rtlCol="0" anchor="ctr"/>
            <a:lstStyle/>
            <a:p>
              <a:pPr>
                <a:lnSpc>
                  <a:spcPct val="130000"/>
                </a:lnSpc>
              </a:pPr>
              <a:r>
                <a:rPr lang="zh-CN" altLang="en-US" dirty="0"/>
                <a:t>随机森林路径规划</a:t>
              </a:r>
              <a:endParaRPr lang="en-US" dirty="0"/>
            </a:p>
          </p:txBody>
        </p:sp>
        <p:sp>
          <p:nvSpPr>
            <p:cNvPr id="21" name="Shape 24">
              <a:extLst>
                <a:ext uri="{FF2B5EF4-FFF2-40B4-BE49-F238E27FC236}">
                  <a16:creationId xmlns:a16="http://schemas.microsoft.com/office/drawing/2014/main" id="{0D1586BA-F0E5-DCB4-75AB-2939F3C9B586}"/>
                </a:ext>
              </a:extLst>
            </p:cNvPr>
            <p:cNvSpPr/>
            <p:nvPr/>
          </p:nvSpPr>
          <p:spPr>
            <a:xfrm>
              <a:off x="4787900" y="3194844"/>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a:srgbClr val="C5A069"/>
            </a:solidFill>
          </p:spPr>
        </p:sp>
        <p:sp>
          <p:nvSpPr>
            <p:cNvPr id="22" name="Text 25">
              <a:extLst>
                <a:ext uri="{FF2B5EF4-FFF2-40B4-BE49-F238E27FC236}">
                  <a16:creationId xmlns:a16="http://schemas.microsoft.com/office/drawing/2014/main" id="{03FEA669-76EA-7C2A-69E4-3E74087C393C}"/>
                </a:ext>
              </a:extLst>
            </p:cNvPr>
            <p:cNvSpPr/>
            <p:nvPr/>
          </p:nvSpPr>
          <p:spPr>
            <a:xfrm>
              <a:off x="4974430" y="3163094"/>
              <a:ext cx="2564861" cy="190500"/>
            </a:xfrm>
            <a:prstGeom prst="rect">
              <a:avLst/>
            </a:prstGeom>
            <a:noFill/>
          </p:spPr>
          <p:txBody>
            <a:bodyPr wrap="square" lIns="0" tIns="0" rIns="0" bIns="0" rtlCol="0" anchor="ctr"/>
            <a:lstStyle/>
            <a:p>
              <a:pPr>
                <a:lnSpc>
                  <a:spcPct val="130000"/>
                </a:lnSpc>
              </a:pPr>
              <a:r>
                <a:rPr lang="zh-CN" altLang="en-US" dirty="0"/>
                <a:t>支持向量机避障</a:t>
              </a:r>
              <a:endParaRPr lang="en-US" dirty="0"/>
            </a:p>
          </p:txBody>
        </p:sp>
        <p:sp>
          <p:nvSpPr>
            <p:cNvPr id="23" name="Shape 26">
              <a:extLst>
                <a:ext uri="{FF2B5EF4-FFF2-40B4-BE49-F238E27FC236}">
                  <a16:creationId xmlns:a16="http://schemas.microsoft.com/office/drawing/2014/main" id="{744DAB05-03E7-022F-6690-B71915D517E0}"/>
                </a:ext>
              </a:extLst>
            </p:cNvPr>
            <p:cNvSpPr/>
            <p:nvPr/>
          </p:nvSpPr>
          <p:spPr>
            <a:xfrm>
              <a:off x="333375" y="3702844"/>
              <a:ext cx="3223683" cy="1460500"/>
            </a:xfrm>
            <a:custGeom>
              <a:avLst/>
              <a:gdLst/>
              <a:ahLst/>
              <a:cxnLst/>
              <a:rect l="l" t="t" r="r" b="b"/>
              <a:pathLst>
                <a:path w="5683250" h="1460500">
                  <a:moveTo>
                    <a:pt x="31750" y="0"/>
                  </a:moveTo>
                  <a:lnTo>
                    <a:pt x="5619747" y="0"/>
                  </a:lnTo>
                  <a:cubicBezTo>
                    <a:pt x="5654819" y="0"/>
                    <a:pt x="5683250" y="28431"/>
                    <a:pt x="5683250" y="63503"/>
                  </a:cubicBezTo>
                  <a:lnTo>
                    <a:pt x="5683250" y="1396997"/>
                  </a:lnTo>
                  <a:cubicBezTo>
                    <a:pt x="5683250" y="1432069"/>
                    <a:pt x="5654819" y="1460500"/>
                    <a:pt x="5619747" y="1460500"/>
                  </a:cubicBezTo>
                  <a:lnTo>
                    <a:pt x="31750" y="1460500"/>
                  </a:lnTo>
                  <a:cubicBezTo>
                    <a:pt x="14227" y="1460500"/>
                    <a:pt x="0" y="1446273"/>
                    <a:pt x="0" y="1428750"/>
                  </a:cubicBezTo>
                  <a:lnTo>
                    <a:pt x="0" y="31750"/>
                  </a:lnTo>
                  <a:cubicBezTo>
                    <a:pt x="0" y="14227"/>
                    <a:pt x="14227" y="0"/>
                    <a:pt x="31750" y="0"/>
                  </a:cubicBezTo>
                  <a:close/>
                </a:path>
              </a:pathLst>
            </a:custGeom>
            <a:gradFill flip="none" rotWithShape="1">
              <a:gsLst>
                <a:gs pos="0">
                  <a:srgbClr val="3D8B8B">
                    <a:alpha val="15000"/>
                  </a:srgbClr>
                </a:gs>
                <a:gs pos="100000">
                  <a:srgbClr val="000000">
                    <a:alpha val="0"/>
                  </a:srgbClr>
                </a:gs>
              </a:gsLst>
              <a:lin ang="2700000" scaled="1"/>
            </a:gradFill>
          </p:spPr>
        </p:sp>
        <p:sp>
          <p:nvSpPr>
            <p:cNvPr id="24" name="Shape 27">
              <a:extLst>
                <a:ext uri="{FF2B5EF4-FFF2-40B4-BE49-F238E27FC236}">
                  <a16:creationId xmlns:a16="http://schemas.microsoft.com/office/drawing/2014/main" id="{BBF0C4C1-C21D-7F55-140D-1802907642BF}"/>
                </a:ext>
              </a:extLst>
            </p:cNvPr>
            <p:cNvSpPr/>
            <p:nvPr/>
          </p:nvSpPr>
          <p:spPr>
            <a:xfrm>
              <a:off x="333375" y="3702844"/>
              <a:ext cx="31750" cy="1460500"/>
            </a:xfrm>
            <a:custGeom>
              <a:avLst/>
              <a:gdLst/>
              <a:ahLst/>
              <a:cxnLst/>
              <a:rect l="l" t="t" r="r" b="b"/>
              <a:pathLst>
                <a:path w="31750" h="1460500">
                  <a:moveTo>
                    <a:pt x="31750" y="0"/>
                  </a:moveTo>
                  <a:lnTo>
                    <a:pt x="31750" y="0"/>
                  </a:lnTo>
                  <a:lnTo>
                    <a:pt x="31750" y="1460500"/>
                  </a:lnTo>
                  <a:lnTo>
                    <a:pt x="31750" y="1460500"/>
                  </a:lnTo>
                  <a:cubicBezTo>
                    <a:pt x="14227" y="1460500"/>
                    <a:pt x="0" y="1446273"/>
                    <a:pt x="0" y="1428750"/>
                  </a:cubicBezTo>
                  <a:lnTo>
                    <a:pt x="0" y="31750"/>
                  </a:lnTo>
                  <a:cubicBezTo>
                    <a:pt x="0" y="14227"/>
                    <a:pt x="14227" y="0"/>
                    <a:pt x="31750" y="0"/>
                  </a:cubicBezTo>
                  <a:close/>
                </a:path>
              </a:pathLst>
            </a:custGeom>
            <a:solidFill>
              <a:srgbClr val="3D8B8B"/>
            </a:solidFill>
          </p:spPr>
        </p:sp>
        <p:sp>
          <p:nvSpPr>
            <p:cNvPr id="25" name="Shape 28">
              <a:extLst>
                <a:ext uri="{FF2B5EF4-FFF2-40B4-BE49-F238E27FC236}">
                  <a16:creationId xmlns:a16="http://schemas.microsoft.com/office/drawing/2014/main" id="{DFD67904-6684-7BBD-ACF7-43301363D998}"/>
                </a:ext>
              </a:extLst>
            </p:cNvPr>
            <p:cNvSpPr/>
            <p:nvPr/>
          </p:nvSpPr>
          <p:spPr>
            <a:xfrm>
              <a:off x="563563" y="3925094"/>
              <a:ext cx="190500" cy="190500"/>
            </a:xfrm>
            <a:custGeom>
              <a:avLst/>
              <a:gdLst/>
              <a:ahLst/>
              <a:cxnLst/>
              <a:rect l="l" t="t" r="r" b="b"/>
              <a:pathLst>
                <a:path w="190500" h="190500">
                  <a:moveTo>
                    <a:pt x="24519" y="85018"/>
                  </a:moveTo>
                  <a:cubicBezTo>
                    <a:pt x="29468" y="50416"/>
                    <a:pt x="59271" y="23812"/>
                    <a:pt x="95250" y="23812"/>
                  </a:cubicBezTo>
                  <a:cubicBezTo>
                    <a:pt x="114970" y="23812"/>
                    <a:pt x="132829" y="31812"/>
                    <a:pt x="145777" y="44723"/>
                  </a:cubicBezTo>
                  <a:cubicBezTo>
                    <a:pt x="145852" y="44797"/>
                    <a:pt x="145926" y="44872"/>
                    <a:pt x="146000" y="44946"/>
                  </a:cubicBezTo>
                  <a:lnTo>
                    <a:pt x="148828" y="47625"/>
                  </a:lnTo>
                  <a:lnTo>
                    <a:pt x="131006" y="47625"/>
                  </a:lnTo>
                  <a:cubicBezTo>
                    <a:pt x="124420" y="47625"/>
                    <a:pt x="119100" y="52946"/>
                    <a:pt x="119100" y="59531"/>
                  </a:cubicBezTo>
                  <a:cubicBezTo>
                    <a:pt x="119100" y="66117"/>
                    <a:pt x="124420" y="71438"/>
                    <a:pt x="131006" y="71438"/>
                  </a:cubicBezTo>
                  <a:lnTo>
                    <a:pt x="178631" y="71438"/>
                  </a:lnTo>
                  <a:cubicBezTo>
                    <a:pt x="185217" y="71438"/>
                    <a:pt x="190537" y="66117"/>
                    <a:pt x="190537" y="59531"/>
                  </a:cubicBezTo>
                  <a:lnTo>
                    <a:pt x="190537" y="11906"/>
                  </a:lnTo>
                  <a:cubicBezTo>
                    <a:pt x="190537" y="5321"/>
                    <a:pt x="185217" y="0"/>
                    <a:pt x="178631" y="0"/>
                  </a:cubicBezTo>
                  <a:cubicBezTo>
                    <a:pt x="172045" y="0"/>
                    <a:pt x="166725" y="5321"/>
                    <a:pt x="166725" y="11906"/>
                  </a:cubicBezTo>
                  <a:lnTo>
                    <a:pt x="166725" y="31775"/>
                  </a:lnTo>
                  <a:lnTo>
                    <a:pt x="162520" y="27794"/>
                  </a:lnTo>
                  <a:cubicBezTo>
                    <a:pt x="145293" y="10641"/>
                    <a:pt x="121481" y="0"/>
                    <a:pt x="95250" y="0"/>
                  </a:cubicBezTo>
                  <a:cubicBezTo>
                    <a:pt x="47253" y="0"/>
                    <a:pt x="7553" y="35496"/>
                    <a:pt x="967" y="81669"/>
                  </a:cubicBezTo>
                  <a:cubicBezTo>
                    <a:pt x="37" y="88181"/>
                    <a:pt x="4539" y="94208"/>
                    <a:pt x="11050" y="95138"/>
                  </a:cubicBezTo>
                  <a:cubicBezTo>
                    <a:pt x="17562" y="96069"/>
                    <a:pt x="23589" y="91529"/>
                    <a:pt x="24519" y="85055"/>
                  </a:cubicBezTo>
                  <a:close/>
                  <a:moveTo>
                    <a:pt x="189533" y="108831"/>
                  </a:moveTo>
                  <a:cubicBezTo>
                    <a:pt x="190463" y="102319"/>
                    <a:pt x="185924" y="96292"/>
                    <a:pt x="179450" y="95362"/>
                  </a:cubicBezTo>
                  <a:cubicBezTo>
                    <a:pt x="172975" y="94431"/>
                    <a:pt x="166911" y="98971"/>
                    <a:pt x="165981" y="105445"/>
                  </a:cubicBezTo>
                  <a:cubicBezTo>
                    <a:pt x="161032" y="140047"/>
                    <a:pt x="131229" y="166650"/>
                    <a:pt x="95250" y="166650"/>
                  </a:cubicBezTo>
                  <a:cubicBezTo>
                    <a:pt x="75530" y="166650"/>
                    <a:pt x="57671" y="158651"/>
                    <a:pt x="44723" y="145740"/>
                  </a:cubicBezTo>
                  <a:cubicBezTo>
                    <a:pt x="44648" y="145666"/>
                    <a:pt x="44574" y="145591"/>
                    <a:pt x="44500" y="145517"/>
                  </a:cubicBezTo>
                  <a:lnTo>
                    <a:pt x="41672" y="142838"/>
                  </a:lnTo>
                  <a:lnTo>
                    <a:pt x="59494" y="142838"/>
                  </a:lnTo>
                  <a:cubicBezTo>
                    <a:pt x="66080" y="142838"/>
                    <a:pt x="71400" y="137517"/>
                    <a:pt x="71400" y="130932"/>
                  </a:cubicBezTo>
                  <a:cubicBezTo>
                    <a:pt x="71400" y="124346"/>
                    <a:pt x="66080" y="119025"/>
                    <a:pt x="59494" y="119025"/>
                  </a:cubicBezTo>
                  <a:lnTo>
                    <a:pt x="11906" y="119063"/>
                  </a:lnTo>
                  <a:cubicBezTo>
                    <a:pt x="8744" y="119063"/>
                    <a:pt x="5693" y="120328"/>
                    <a:pt x="3460" y="122597"/>
                  </a:cubicBezTo>
                  <a:cubicBezTo>
                    <a:pt x="1228" y="124867"/>
                    <a:pt x="-37" y="127881"/>
                    <a:pt x="0" y="131080"/>
                  </a:cubicBezTo>
                  <a:lnTo>
                    <a:pt x="372" y="178333"/>
                  </a:lnTo>
                  <a:cubicBezTo>
                    <a:pt x="409" y="184919"/>
                    <a:pt x="5804" y="190202"/>
                    <a:pt x="12390" y="190128"/>
                  </a:cubicBezTo>
                  <a:cubicBezTo>
                    <a:pt x="18976" y="190054"/>
                    <a:pt x="24259" y="184696"/>
                    <a:pt x="24185" y="178110"/>
                  </a:cubicBezTo>
                  <a:lnTo>
                    <a:pt x="24036" y="158948"/>
                  </a:lnTo>
                  <a:lnTo>
                    <a:pt x="28017" y="162706"/>
                  </a:lnTo>
                  <a:cubicBezTo>
                    <a:pt x="45244" y="179859"/>
                    <a:pt x="69019" y="190500"/>
                    <a:pt x="95250" y="190500"/>
                  </a:cubicBezTo>
                  <a:cubicBezTo>
                    <a:pt x="143247" y="190500"/>
                    <a:pt x="182947" y="155004"/>
                    <a:pt x="189533" y="108831"/>
                  </a:cubicBezTo>
                  <a:close/>
                </a:path>
              </a:pathLst>
            </a:custGeom>
            <a:solidFill>
              <a:srgbClr val="C5A069"/>
            </a:solidFill>
          </p:spPr>
        </p:sp>
        <p:sp>
          <p:nvSpPr>
            <p:cNvPr id="26" name="Text 29">
              <a:extLst>
                <a:ext uri="{FF2B5EF4-FFF2-40B4-BE49-F238E27FC236}">
                  <a16:creationId xmlns:a16="http://schemas.microsoft.com/office/drawing/2014/main" id="{56D10D44-446C-88D8-753C-C7A7BE547423}"/>
                </a:ext>
              </a:extLst>
            </p:cNvPr>
            <p:cNvSpPr/>
            <p:nvPr/>
          </p:nvSpPr>
          <p:spPr>
            <a:xfrm>
              <a:off x="777875" y="3893344"/>
              <a:ext cx="2752725" cy="254000"/>
            </a:xfrm>
            <a:prstGeom prst="rect">
              <a:avLst/>
            </a:prstGeom>
            <a:noFill/>
          </p:spPr>
          <p:txBody>
            <a:bodyPr wrap="square" lIns="0" tIns="0" rIns="0" bIns="0" rtlCol="0" anchor="ctr"/>
            <a:lstStyle/>
            <a:p>
              <a:pPr>
                <a:lnSpc>
                  <a:spcPct val="110000"/>
                </a:lnSpc>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基于深度学习的智能导航方法</a:t>
              </a:r>
              <a:endParaRPr lang="en-US" dirty="0"/>
            </a:p>
          </p:txBody>
        </p:sp>
        <p:sp>
          <p:nvSpPr>
            <p:cNvPr id="27" name="Shape 30">
              <a:extLst>
                <a:ext uri="{FF2B5EF4-FFF2-40B4-BE49-F238E27FC236}">
                  <a16:creationId xmlns:a16="http://schemas.microsoft.com/office/drawing/2014/main" id="{71721995-22F0-C342-955C-34B8815E3FD3}"/>
                </a:ext>
              </a:extLst>
            </p:cNvPr>
            <p:cNvSpPr/>
            <p:nvPr/>
          </p:nvSpPr>
          <p:spPr>
            <a:xfrm>
              <a:off x="555625" y="4306094"/>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a:srgbClr val="3D8B8B"/>
            </a:solidFill>
          </p:spPr>
        </p:sp>
        <p:sp>
          <p:nvSpPr>
            <p:cNvPr id="28" name="Text 31">
              <a:extLst>
                <a:ext uri="{FF2B5EF4-FFF2-40B4-BE49-F238E27FC236}">
                  <a16:creationId xmlns:a16="http://schemas.microsoft.com/office/drawing/2014/main" id="{DF8733E1-CE27-A733-EA4F-DF0B5EE21830}"/>
                </a:ext>
              </a:extLst>
            </p:cNvPr>
            <p:cNvSpPr/>
            <p:nvPr/>
          </p:nvSpPr>
          <p:spPr>
            <a:xfrm>
              <a:off x="742156" y="4274344"/>
              <a:ext cx="1738173" cy="190500"/>
            </a:xfrm>
            <a:prstGeom prst="rect">
              <a:avLst/>
            </a:prstGeom>
            <a:noFill/>
          </p:spPr>
          <p:txBody>
            <a:bodyPr wrap="square" lIns="0" tIns="0" rIns="0" bIns="0" rtlCol="0" anchor="ctr"/>
            <a:lstStyle/>
            <a:p>
              <a:pPr>
                <a:lnSpc>
                  <a:spcPct val="130000"/>
                </a:lnSpc>
              </a:pPr>
              <a:r>
                <a:rPr lang="zh-CN" altLang="en-US" dirty="0"/>
                <a:t>环境语义感知</a:t>
              </a:r>
              <a:endParaRPr lang="en-US" dirty="0"/>
            </a:p>
          </p:txBody>
        </p:sp>
        <p:sp>
          <p:nvSpPr>
            <p:cNvPr id="29" name="Shape 32">
              <a:extLst>
                <a:ext uri="{FF2B5EF4-FFF2-40B4-BE49-F238E27FC236}">
                  <a16:creationId xmlns:a16="http://schemas.microsoft.com/office/drawing/2014/main" id="{82FA9D62-D1E5-8760-9D82-DE75AD7CF8C2}"/>
                </a:ext>
              </a:extLst>
            </p:cNvPr>
            <p:cNvSpPr/>
            <p:nvPr/>
          </p:nvSpPr>
          <p:spPr>
            <a:xfrm>
              <a:off x="555625" y="4560094"/>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a:srgbClr val="3D8B8B"/>
            </a:solidFill>
          </p:spPr>
        </p:sp>
        <p:sp>
          <p:nvSpPr>
            <p:cNvPr id="30" name="Text 33">
              <a:extLst>
                <a:ext uri="{FF2B5EF4-FFF2-40B4-BE49-F238E27FC236}">
                  <a16:creationId xmlns:a16="http://schemas.microsoft.com/office/drawing/2014/main" id="{5AA5A059-E3FA-8EF2-CDC4-1FE273AA9FAC}"/>
                </a:ext>
              </a:extLst>
            </p:cNvPr>
            <p:cNvSpPr/>
            <p:nvPr/>
          </p:nvSpPr>
          <p:spPr>
            <a:xfrm>
              <a:off x="742155" y="4528344"/>
              <a:ext cx="1826339" cy="190500"/>
            </a:xfrm>
            <a:prstGeom prst="rect">
              <a:avLst/>
            </a:prstGeom>
            <a:noFill/>
          </p:spPr>
          <p:txBody>
            <a:bodyPr wrap="square" lIns="0" tIns="0" rIns="0" bIns="0" rtlCol="0" anchor="ctr"/>
            <a:lstStyle/>
            <a:p>
              <a:pPr>
                <a:lnSpc>
                  <a:spcPct val="130000"/>
                </a:lnSpc>
              </a:pPr>
              <a:r>
                <a:rPr lang="zh-CN" altLang="en-US" dirty="0"/>
                <a:t>状态估计</a:t>
              </a:r>
              <a:endParaRPr lang="en-US" dirty="0"/>
            </a:p>
          </p:txBody>
        </p:sp>
        <p:sp>
          <p:nvSpPr>
            <p:cNvPr id="31" name="Shape 34">
              <a:extLst>
                <a:ext uri="{FF2B5EF4-FFF2-40B4-BE49-F238E27FC236}">
                  <a16:creationId xmlns:a16="http://schemas.microsoft.com/office/drawing/2014/main" id="{D4C0C299-AEEF-0A9B-118D-E320734AEBFB}"/>
                </a:ext>
              </a:extLst>
            </p:cNvPr>
            <p:cNvSpPr/>
            <p:nvPr/>
          </p:nvSpPr>
          <p:spPr>
            <a:xfrm>
              <a:off x="555625" y="4814094"/>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a:srgbClr val="3D8B8B"/>
            </a:solidFill>
          </p:spPr>
        </p:sp>
        <p:sp>
          <p:nvSpPr>
            <p:cNvPr id="32" name="Text 35">
              <a:extLst>
                <a:ext uri="{FF2B5EF4-FFF2-40B4-BE49-F238E27FC236}">
                  <a16:creationId xmlns:a16="http://schemas.microsoft.com/office/drawing/2014/main" id="{F18A44A2-FD14-F407-AF70-2BCF50BD601F}"/>
                </a:ext>
              </a:extLst>
            </p:cNvPr>
            <p:cNvSpPr/>
            <p:nvPr/>
          </p:nvSpPr>
          <p:spPr>
            <a:xfrm>
              <a:off x="742156" y="4782344"/>
              <a:ext cx="1826338" cy="190500"/>
            </a:xfrm>
            <a:prstGeom prst="rect">
              <a:avLst/>
            </a:prstGeom>
            <a:noFill/>
          </p:spPr>
          <p:txBody>
            <a:bodyPr wrap="square" lIns="0" tIns="0" rIns="0" bIns="0" rtlCol="0" anchor="ctr"/>
            <a:lstStyle/>
            <a:p>
              <a:pPr>
                <a:lnSpc>
                  <a:spcPct val="130000"/>
                </a:lnSpc>
              </a:pPr>
              <a:r>
                <a:rPr lang="zh-CN" altLang="en-US" dirty="0"/>
                <a:t>同步定位与建图</a:t>
              </a:r>
              <a:endParaRPr lang="en-US" dirty="0"/>
            </a:p>
          </p:txBody>
        </p:sp>
        <p:sp>
          <p:nvSpPr>
            <p:cNvPr id="33" name="Shape 36">
              <a:extLst>
                <a:ext uri="{FF2B5EF4-FFF2-40B4-BE49-F238E27FC236}">
                  <a16:creationId xmlns:a16="http://schemas.microsoft.com/office/drawing/2014/main" id="{7E0AAE96-35BA-069D-FFA3-5AFD2D54B6AF}"/>
                </a:ext>
              </a:extLst>
            </p:cNvPr>
            <p:cNvSpPr/>
            <p:nvPr/>
          </p:nvSpPr>
          <p:spPr>
            <a:xfrm>
              <a:off x="4565650" y="3702844"/>
              <a:ext cx="3223683" cy="1460500"/>
            </a:xfrm>
            <a:custGeom>
              <a:avLst/>
              <a:gdLst/>
              <a:ahLst/>
              <a:cxnLst/>
              <a:rect l="l" t="t" r="r" b="b"/>
              <a:pathLst>
                <a:path w="5683250" h="1460500">
                  <a:moveTo>
                    <a:pt x="31750" y="0"/>
                  </a:moveTo>
                  <a:lnTo>
                    <a:pt x="5619747" y="0"/>
                  </a:lnTo>
                  <a:cubicBezTo>
                    <a:pt x="5654819" y="0"/>
                    <a:pt x="5683250" y="28431"/>
                    <a:pt x="5683250" y="63503"/>
                  </a:cubicBezTo>
                  <a:lnTo>
                    <a:pt x="5683250" y="1396997"/>
                  </a:lnTo>
                  <a:cubicBezTo>
                    <a:pt x="5683250" y="1432069"/>
                    <a:pt x="5654819" y="1460500"/>
                    <a:pt x="5619747" y="1460500"/>
                  </a:cubicBezTo>
                  <a:lnTo>
                    <a:pt x="31750" y="1460500"/>
                  </a:lnTo>
                  <a:cubicBezTo>
                    <a:pt x="14227" y="1460500"/>
                    <a:pt x="0" y="1446273"/>
                    <a:pt x="0" y="1428750"/>
                  </a:cubicBezTo>
                  <a:lnTo>
                    <a:pt x="0" y="31750"/>
                  </a:lnTo>
                  <a:cubicBezTo>
                    <a:pt x="0" y="14227"/>
                    <a:pt x="14227" y="0"/>
                    <a:pt x="31750" y="0"/>
                  </a:cubicBezTo>
                  <a:close/>
                </a:path>
              </a:pathLst>
            </a:custGeom>
            <a:gradFill flip="none" rotWithShape="1">
              <a:gsLst>
                <a:gs pos="0">
                  <a:srgbClr val="C5A069">
                    <a:alpha val="15000"/>
                  </a:srgbClr>
                </a:gs>
                <a:gs pos="100000">
                  <a:srgbClr val="000000">
                    <a:alpha val="0"/>
                  </a:srgbClr>
                </a:gs>
              </a:gsLst>
              <a:lin ang="2700000" scaled="1"/>
            </a:gradFill>
          </p:spPr>
        </p:sp>
        <p:sp>
          <p:nvSpPr>
            <p:cNvPr id="34" name="Shape 37">
              <a:extLst>
                <a:ext uri="{FF2B5EF4-FFF2-40B4-BE49-F238E27FC236}">
                  <a16:creationId xmlns:a16="http://schemas.microsoft.com/office/drawing/2014/main" id="{4BFF205B-0EB0-5A2E-339C-B1337E3434E2}"/>
                </a:ext>
              </a:extLst>
            </p:cNvPr>
            <p:cNvSpPr/>
            <p:nvPr/>
          </p:nvSpPr>
          <p:spPr>
            <a:xfrm>
              <a:off x="4565650" y="3702844"/>
              <a:ext cx="31750" cy="1460500"/>
            </a:xfrm>
            <a:custGeom>
              <a:avLst/>
              <a:gdLst/>
              <a:ahLst/>
              <a:cxnLst/>
              <a:rect l="l" t="t" r="r" b="b"/>
              <a:pathLst>
                <a:path w="31750" h="1460500">
                  <a:moveTo>
                    <a:pt x="31750" y="0"/>
                  </a:moveTo>
                  <a:lnTo>
                    <a:pt x="31750" y="0"/>
                  </a:lnTo>
                  <a:lnTo>
                    <a:pt x="31750" y="1460500"/>
                  </a:lnTo>
                  <a:lnTo>
                    <a:pt x="31750" y="1460500"/>
                  </a:lnTo>
                  <a:cubicBezTo>
                    <a:pt x="14227" y="1460500"/>
                    <a:pt x="0" y="1446273"/>
                    <a:pt x="0" y="1428750"/>
                  </a:cubicBezTo>
                  <a:lnTo>
                    <a:pt x="0" y="31750"/>
                  </a:lnTo>
                  <a:cubicBezTo>
                    <a:pt x="0" y="14227"/>
                    <a:pt x="14227" y="0"/>
                    <a:pt x="31750" y="0"/>
                  </a:cubicBezTo>
                  <a:close/>
                </a:path>
              </a:pathLst>
            </a:custGeom>
            <a:solidFill>
              <a:srgbClr val="C5A069"/>
            </a:solidFill>
          </p:spPr>
        </p:sp>
        <p:sp>
          <p:nvSpPr>
            <p:cNvPr id="35" name="Shape 38">
              <a:extLst>
                <a:ext uri="{FF2B5EF4-FFF2-40B4-BE49-F238E27FC236}">
                  <a16:creationId xmlns:a16="http://schemas.microsoft.com/office/drawing/2014/main" id="{DFA6D75B-37DB-04F8-F967-064F37A6986C}"/>
                </a:ext>
              </a:extLst>
            </p:cNvPr>
            <p:cNvSpPr/>
            <p:nvPr/>
          </p:nvSpPr>
          <p:spPr>
            <a:xfrm>
              <a:off x="4783931" y="3925094"/>
              <a:ext cx="214313" cy="190500"/>
            </a:xfrm>
            <a:custGeom>
              <a:avLst/>
              <a:gdLst/>
              <a:ahLst/>
              <a:cxnLst/>
              <a:rect l="l" t="t" r="r" b="b"/>
              <a:pathLst>
                <a:path w="214313" h="190500">
                  <a:moveTo>
                    <a:pt x="92273" y="32742"/>
                  </a:moveTo>
                  <a:lnTo>
                    <a:pt x="122039" y="32742"/>
                  </a:lnTo>
                  <a:lnTo>
                    <a:pt x="122039" y="50602"/>
                  </a:lnTo>
                  <a:lnTo>
                    <a:pt x="92273" y="50602"/>
                  </a:lnTo>
                  <a:lnTo>
                    <a:pt x="92273" y="32742"/>
                  </a:lnTo>
                  <a:close/>
                  <a:moveTo>
                    <a:pt x="89297" y="11906"/>
                  </a:moveTo>
                  <a:cubicBezTo>
                    <a:pt x="79437" y="11906"/>
                    <a:pt x="71438" y="19906"/>
                    <a:pt x="71438" y="29766"/>
                  </a:cubicBezTo>
                  <a:lnTo>
                    <a:pt x="71438" y="53578"/>
                  </a:lnTo>
                  <a:cubicBezTo>
                    <a:pt x="71438" y="63438"/>
                    <a:pt x="79437" y="71438"/>
                    <a:pt x="89297" y="71438"/>
                  </a:cubicBezTo>
                  <a:lnTo>
                    <a:pt x="95250" y="71438"/>
                  </a:lnTo>
                  <a:lnTo>
                    <a:pt x="95250" y="83344"/>
                  </a:lnTo>
                  <a:lnTo>
                    <a:pt x="11906" y="83344"/>
                  </a:lnTo>
                  <a:cubicBezTo>
                    <a:pt x="5321" y="83344"/>
                    <a:pt x="0" y="88664"/>
                    <a:pt x="0" y="95250"/>
                  </a:cubicBezTo>
                  <a:cubicBezTo>
                    <a:pt x="0" y="101836"/>
                    <a:pt x="5321" y="107156"/>
                    <a:pt x="11906" y="107156"/>
                  </a:cubicBezTo>
                  <a:lnTo>
                    <a:pt x="47625" y="107156"/>
                  </a:lnTo>
                  <a:lnTo>
                    <a:pt x="47625" y="119063"/>
                  </a:lnTo>
                  <a:lnTo>
                    <a:pt x="41672" y="119063"/>
                  </a:lnTo>
                  <a:cubicBezTo>
                    <a:pt x="31812" y="119063"/>
                    <a:pt x="23812" y="127062"/>
                    <a:pt x="23812" y="136922"/>
                  </a:cubicBezTo>
                  <a:lnTo>
                    <a:pt x="23812" y="160734"/>
                  </a:lnTo>
                  <a:cubicBezTo>
                    <a:pt x="23812" y="170594"/>
                    <a:pt x="31812" y="178594"/>
                    <a:pt x="41672" y="178594"/>
                  </a:cubicBezTo>
                  <a:lnTo>
                    <a:pt x="77391" y="178594"/>
                  </a:lnTo>
                  <a:cubicBezTo>
                    <a:pt x="87250" y="178594"/>
                    <a:pt x="95250" y="170594"/>
                    <a:pt x="95250" y="160734"/>
                  </a:cubicBezTo>
                  <a:lnTo>
                    <a:pt x="95250" y="136922"/>
                  </a:lnTo>
                  <a:cubicBezTo>
                    <a:pt x="95250" y="127062"/>
                    <a:pt x="87250" y="119063"/>
                    <a:pt x="77391" y="119063"/>
                  </a:cubicBezTo>
                  <a:lnTo>
                    <a:pt x="71438" y="119063"/>
                  </a:lnTo>
                  <a:lnTo>
                    <a:pt x="71438" y="107156"/>
                  </a:lnTo>
                  <a:lnTo>
                    <a:pt x="142875" y="107156"/>
                  </a:lnTo>
                  <a:lnTo>
                    <a:pt x="142875" y="119063"/>
                  </a:lnTo>
                  <a:lnTo>
                    <a:pt x="136922" y="119063"/>
                  </a:lnTo>
                  <a:cubicBezTo>
                    <a:pt x="127062" y="119063"/>
                    <a:pt x="119063" y="127062"/>
                    <a:pt x="119063" y="136922"/>
                  </a:cubicBezTo>
                  <a:lnTo>
                    <a:pt x="119063" y="160734"/>
                  </a:lnTo>
                  <a:cubicBezTo>
                    <a:pt x="119063" y="170594"/>
                    <a:pt x="127062" y="178594"/>
                    <a:pt x="136922" y="178594"/>
                  </a:cubicBezTo>
                  <a:lnTo>
                    <a:pt x="172641" y="178594"/>
                  </a:lnTo>
                  <a:cubicBezTo>
                    <a:pt x="182500" y="178594"/>
                    <a:pt x="190500" y="170594"/>
                    <a:pt x="190500" y="160734"/>
                  </a:cubicBezTo>
                  <a:lnTo>
                    <a:pt x="190500" y="136922"/>
                  </a:lnTo>
                  <a:cubicBezTo>
                    <a:pt x="190500" y="127062"/>
                    <a:pt x="182500" y="119063"/>
                    <a:pt x="172641" y="119063"/>
                  </a:cubicBezTo>
                  <a:lnTo>
                    <a:pt x="166688" y="119063"/>
                  </a:lnTo>
                  <a:lnTo>
                    <a:pt x="166688" y="107156"/>
                  </a:lnTo>
                  <a:lnTo>
                    <a:pt x="202406" y="107156"/>
                  </a:lnTo>
                  <a:cubicBezTo>
                    <a:pt x="208992" y="107156"/>
                    <a:pt x="214313" y="101836"/>
                    <a:pt x="214313" y="95250"/>
                  </a:cubicBezTo>
                  <a:cubicBezTo>
                    <a:pt x="214313" y="88664"/>
                    <a:pt x="208992" y="83344"/>
                    <a:pt x="202406" y="83344"/>
                  </a:cubicBezTo>
                  <a:lnTo>
                    <a:pt x="119063" y="83344"/>
                  </a:lnTo>
                  <a:lnTo>
                    <a:pt x="119063" y="71438"/>
                  </a:lnTo>
                  <a:lnTo>
                    <a:pt x="125016" y="71438"/>
                  </a:lnTo>
                  <a:cubicBezTo>
                    <a:pt x="134875" y="71438"/>
                    <a:pt x="142875" y="63438"/>
                    <a:pt x="142875" y="53578"/>
                  </a:cubicBezTo>
                  <a:lnTo>
                    <a:pt x="142875" y="29766"/>
                  </a:lnTo>
                  <a:cubicBezTo>
                    <a:pt x="142875" y="19906"/>
                    <a:pt x="134875" y="11906"/>
                    <a:pt x="125016" y="11906"/>
                  </a:cubicBezTo>
                  <a:lnTo>
                    <a:pt x="89297" y="11906"/>
                  </a:lnTo>
                  <a:close/>
                  <a:moveTo>
                    <a:pt x="166688" y="139898"/>
                  </a:moveTo>
                  <a:lnTo>
                    <a:pt x="169664" y="139898"/>
                  </a:lnTo>
                  <a:lnTo>
                    <a:pt x="169664" y="157758"/>
                  </a:lnTo>
                  <a:lnTo>
                    <a:pt x="139898" y="157758"/>
                  </a:lnTo>
                  <a:lnTo>
                    <a:pt x="139898" y="139898"/>
                  </a:lnTo>
                  <a:lnTo>
                    <a:pt x="166688" y="139898"/>
                  </a:lnTo>
                  <a:close/>
                  <a:moveTo>
                    <a:pt x="71438" y="139898"/>
                  </a:moveTo>
                  <a:lnTo>
                    <a:pt x="74414" y="139898"/>
                  </a:lnTo>
                  <a:lnTo>
                    <a:pt x="74414" y="157758"/>
                  </a:lnTo>
                  <a:lnTo>
                    <a:pt x="44648" y="157758"/>
                  </a:lnTo>
                  <a:lnTo>
                    <a:pt x="44648" y="139898"/>
                  </a:lnTo>
                  <a:lnTo>
                    <a:pt x="71438" y="139898"/>
                  </a:lnTo>
                  <a:close/>
                </a:path>
              </a:pathLst>
            </a:custGeom>
            <a:solidFill>
              <a:srgbClr val="C5A069"/>
            </a:solidFill>
          </p:spPr>
        </p:sp>
        <p:sp>
          <p:nvSpPr>
            <p:cNvPr id="36" name="Text 39">
              <a:extLst>
                <a:ext uri="{FF2B5EF4-FFF2-40B4-BE49-F238E27FC236}">
                  <a16:creationId xmlns:a16="http://schemas.microsoft.com/office/drawing/2014/main" id="{147DD63A-36A1-D7F4-16A8-07F5E9F81951}"/>
                </a:ext>
              </a:extLst>
            </p:cNvPr>
            <p:cNvSpPr/>
            <p:nvPr/>
          </p:nvSpPr>
          <p:spPr>
            <a:xfrm>
              <a:off x="5010150" y="3893344"/>
              <a:ext cx="2779183" cy="254000"/>
            </a:xfrm>
            <a:prstGeom prst="rect">
              <a:avLst/>
            </a:prstGeom>
            <a:noFill/>
          </p:spPr>
          <p:txBody>
            <a:bodyPr wrap="square" lIns="0" tIns="0" rIns="0" bIns="0" rtlCol="0" anchor="ctr"/>
            <a:lstStyle/>
            <a:p>
              <a:pPr>
                <a:lnSpc>
                  <a:spcPct val="110000"/>
                </a:lnSpc>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基于强化学习的导航方法</a:t>
              </a:r>
              <a:endParaRPr lang="en-US" dirty="0"/>
            </a:p>
          </p:txBody>
        </p:sp>
        <p:sp>
          <p:nvSpPr>
            <p:cNvPr id="37" name="Shape 40">
              <a:extLst>
                <a:ext uri="{FF2B5EF4-FFF2-40B4-BE49-F238E27FC236}">
                  <a16:creationId xmlns:a16="http://schemas.microsoft.com/office/drawing/2014/main" id="{1998258E-66A1-50E6-7D53-9A1FA0C0E00D}"/>
                </a:ext>
              </a:extLst>
            </p:cNvPr>
            <p:cNvSpPr/>
            <p:nvPr/>
          </p:nvSpPr>
          <p:spPr>
            <a:xfrm>
              <a:off x="4787900" y="4306094"/>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a:srgbClr val="C5A069"/>
            </a:solidFill>
          </p:spPr>
        </p:sp>
        <p:sp>
          <p:nvSpPr>
            <p:cNvPr id="38" name="Text 41">
              <a:extLst>
                <a:ext uri="{FF2B5EF4-FFF2-40B4-BE49-F238E27FC236}">
                  <a16:creationId xmlns:a16="http://schemas.microsoft.com/office/drawing/2014/main" id="{08690C5A-94A4-BF90-73DF-40D2E42FAAB9}"/>
                </a:ext>
              </a:extLst>
            </p:cNvPr>
            <p:cNvSpPr/>
            <p:nvPr/>
          </p:nvSpPr>
          <p:spPr>
            <a:xfrm>
              <a:off x="4974430" y="4274345"/>
              <a:ext cx="2070486" cy="142875"/>
            </a:xfrm>
            <a:prstGeom prst="rect">
              <a:avLst/>
            </a:prstGeom>
            <a:noFill/>
          </p:spPr>
          <p:txBody>
            <a:bodyPr wrap="square" lIns="0" tIns="0" rIns="0" bIns="0" rtlCol="0" anchor="ctr"/>
            <a:lstStyle/>
            <a:p>
              <a:pPr algn="ctr"/>
              <a:r>
                <a:rPr lang="zh-CN" altLang="en-US" dirty="0"/>
                <a:t>基于值函数的强化学习导航</a:t>
              </a:r>
            </a:p>
          </p:txBody>
        </p:sp>
        <p:sp>
          <p:nvSpPr>
            <p:cNvPr id="39" name="Shape 42">
              <a:extLst>
                <a:ext uri="{FF2B5EF4-FFF2-40B4-BE49-F238E27FC236}">
                  <a16:creationId xmlns:a16="http://schemas.microsoft.com/office/drawing/2014/main" id="{3568D49F-EA5B-04CD-5169-C6DA36B37F87}"/>
                </a:ext>
              </a:extLst>
            </p:cNvPr>
            <p:cNvSpPr/>
            <p:nvPr/>
          </p:nvSpPr>
          <p:spPr>
            <a:xfrm>
              <a:off x="4787900" y="4560094"/>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a:srgbClr val="C5A069"/>
            </a:solidFill>
          </p:spPr>
        </p:sp>
        <p:sp>
          <p:nvSpPr>
            <p:cNvPr id="40" name="Text 43">
              <a:extLst>
                <a:ext uri="{FF2B5EF4-FFF2-40B4-BE49-F238E27FC236}">
                  <a16:creationId xmlns:a16="http://schemas.microsoft.com/office/drawing/2014/main" id="{4FF4D19A-EA96-7249-6F49-8B297ABDDBE9}"/>
                </a:ext>
              </a:extLst>
            </p:cNvPr>
            <p:cNvSpPr/>
            <p:nvPr/>
          </p:nvSpPr>
          <p:spPr>
            <a:xfrm>
              <a:off x="4974430" y="4528344"/>
              <a:ext cx="3106405" cy="190500"/>
            </a:xfrm>
            <a:prstGeom prst="rect">
              <a:avLst/>
            </a:prstGeom>
            <a:noFill/>
          </p:spPr>
          <p:txBody>
            <a:bodyPr wrap="square" lIns="0" tIns="0" rIns="0" bIns="0" rtlCol="0" anchor="ctr"/>
            <a:lstStyle/>
            <a:p>
              <a:pPr lvl="0">
                <a:defRPr/>
              </a:pPr>
              <a:r>
                <a:rPr lang="zh-CN" altLang="en-US" dirty="0"/>
                <a:t>基于策略梯度函数的强化学习导航</a:t>
              </a:r>
            </a:p>
          </p:txBody>
        </p:sp>
        <p:sp>
          <p:nvSpPr>
            <p:cNvPr id="41" name="Shape 44">
              <a:extLst>
                <a:ext uri="{FF2B5EF4-FFF2-40B4-BE49-F238E27FC236}">
                  <a16:creationId xmlns:a16="http://schemas.microsoft.com/office/drawing/2014/main" id="{E031DE9C-48B8-0C8F-FD64-986E5D0ABADE}"/>
                </a:ext>
              </a:extLst>
            </p:cNvPr>
            <p:cNvSpPr/>
            <p:nvPr/>
          </p:nvSpPr>
          <p:spPr>
            <a:xfrm>
              <a:off x="4787900" y="4814094"/>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a:srgbClr val="C5A069"/>
            </a:solidFill>
          </p:spPr>
        </p:sp>
        <p:sp>
          <p:nvSpPr>
            <p:cNvPr id="42" name="Text 45">
              <a:extLst>
                <a:ext uri="{FF2B5EF4-FFF2-40B4-BE49-F238E27FC236}">
                  <a16:creationId xmlns:a16="http://schemas.microsoft.com/office/drawing/2014/main" id="{3DC27BFD-C1E6-0095-D0E8-C7A74D9DE233}"/>
                </a:ext>
              </a:extLst>
            </p:cNvPr>
            <p:cNvSpPr/>
            <p:nvPr/>
          </p:nvSpPr>
          <p:spPr>
            <a:xfrm>
              <a:off x="4974430" y="4695033"/>
              <a:ext cx="2564860" cy="349249"/>
            </a:xfrm>
            <a:prstGeom prst="rect">
              <a:avLst/>
            </a:prstGeom>
            <a:noFill/>
          </p:spPr>
          <p:txBody>
            <a:bodyPr wrap="square" lIns="0" tIns="0" rIns="0" bIns="0" rtlCol="0" anchor="ctr"/>
            <a:lstStyle/>
            <a:p>
              <a:pPr>
                <a:lnSpc>
                  <a:spcPct val="130000"/>
                </a:lnSpc>
              </a:pPr>
              <a:r>
                <a:rPr lang="zh-CN" altLang="en-US" dirty="0"/>
                <a:t>基于深度强化学习方法的导航</a:t>
              </a:r>
              <a:endParaRPr lang="en-US" dirty="0"/>
            </a:p>
          </p:txBody>
        </p:sp>
      </p:grpSp>
    </p:spTree>
    <p:extLst>
      <p:ext uri="{BB962C8B-B14F-4D97-AF65-F5344CB8AC3E}">
        <p14:creationId xmlns:p14="http://schemas.microsoft.com/office/powerpoint/2010/main" val="13086304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2" descr="Artificial Intelligence 101 - digitalplaybook.org">
            <a:extLst>
              <a:ext uri="{FF2B5EF4-FFF2-40B4-BE49-F238E27FC236}">
                <a16:creationId xmlns:a16="http://schemas.microsoft.com/office/drawing/2014/main" id="{34ECBFAF-F2B5-1272-31CF-A9C0C182CD8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 name="组合 1">
            <a:extLst>
              <a:ext uri="{FF2B5EF4-FFF2-40B4-BE49-F238E27FC236}">
                <a16:creationId xmlns:a16="http://schemas.microsoft.com/office/drawing/2014/main" id="{FBA8B8A9-071C-2965-4FDB-51235FE5EEC8}"/>
              </a:ext>
            </a:extLst>
          </p:cNvPr>
          <p:cNvGrpSpPr/>
          <p:nvPr/>
        </p:nvGrpSpPr>
        <p:grpSpPr>
          <a:xfrm>
            <a:off x="1086936" y="1526390"/>
            <a:ext cx="9294067" cy="4110019"/>
            <a:chOff x="542925" y="2623237"/>
            <a:chExt cx="5792811" cy="2533650"/>
          </a:xfrm>
        </p:grpSpPr>
        <p:sp>
          <p:nvSpPr>
            <p:cNvPr id="3" name="Shape 7">
              <a:extLst>
                <a:ext uri="{FF2B5EF4-FFF2-40B4-BE49-F238E27FC236}">
                  <a16:creationId xmlns:a16="http://schemas.microsoft.com/office/drawing/2014/main" id="{8C821C02-B027-59B7-5899-53F8429F1C90}"/>
                </a:ext>
              </a:extLst>
            </p:cNvPr>
            <p:cNvSpPr/>
            <p:nvPr/>
          </p:nvSpPr>
          <p:spPr>
            <a:xfrm>
              <a:off x="542925" y="2623237"/>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3D8B8B"/>
            </a:solidFill>
          </p:spPr>
        </p:sp>
        <p:sp>
          <p:nvSpPr>
            <p:cNvPr id="4" name="Text 8">
              <a:extLst>
                <a:ext uri="{FF2B5EF4-FFF2-40B4-BE49-F238E27FC236}">
                  <a16:creationId xmlns:a16="http://schemas.microsoft.com/office/drawing/2014/main" id="{2653E634-2F09-5BFE-28EE-4C441B1D155D}"/>
                </a:ext>
              </a:extLst>
            </p:cNvPr>
            <p:cNvSpPr/>
            <p:nvPr/>
          </p:nvSpPr>
          <p:spPr>
            <a:xfrm>
              <a:off x="668982" y="2680387"/>
              <a:ext cx="123825" cy="190500"/>
            </a:xfrm>
            <a:prstGeom prst="rect">
              <a:avLst/>
            </a:prstGeom>
            <a:noFill/>
          </p:spPr>
          <p:txBody>
            <a:bodyPr wrap="square" lIns="0" tIns="0" rIns="0" bIns="0" rtlCol="0" anchor="ctr"/>
            <a:lstStyle/>
            <a:p>
              <a:pPr algn="just">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1</a:t>
              </a:r>
              <a:endParaRPr lang="en-US" dirty="0"/>
            </a:p>
          </p:txBody>
        </p:sp>
        <p:sp>
          <p:nvSpPr>
            <p:cNvPr id="5" name="Text 9">
              <a:extLst>
                <a:ext uri="{FF2B5EF4-FFF2-40B4-BE49-F238E27FC236}">
                  <a16:creationId xmlns:a16="http://schemas.microsoft.com/office/drawing/2014/main" id="{5AD1F1F0-2CF3-86CF-6837-62E32C1C0CE8}"/>
                </a:ext>
              </a:extLst>
            </p:cNvPr>
            <p:cNvSpPr/>
            <p:nvPr/>
          </p:nvSpPr>
          <p:spPr>
            <a:xfrm>
              <a:off x="962025" y="2623237"/>
              <a:ext cx="5373711" cy="247650"/>
            </a:xfrm>
            <a:prstGeom prst="rect">
              <a:avLst/>
            </a:prstGeom>
            <a:noFill/>
          </p:spPr>
          <p:txBody>
            <a:bodyPr wrap="square" lIns="0" tIns="0" rIns="0" bIns="0" rtlCol="0" anchor="ctr"/>
            <a:lstStyle/>
            <a:p>
              <a:pPr algn="just">
                <a:lnSpc>
                  <a:spcPct val="14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基于传统机器学习、深度学习和强化学习的智能导航方法各有什么优缺点，它们分别适用于什么场景？</a:t>
              </a:r>
              <a:endParaRPr lang="en-US" dirty="0"/>
            </a:p>
          </p:txBody>
        </p:sp>
        <p:sp>
          <p:nvSpPr>
            <p:cNvPr id="6" name="Shape 15">
              <a:extLst>
                <a:ext uri="{FF2B5EF4-FFF2-40B4-BE49-F238E27FC236}">
                  <a16:creationId xmlns:a16="http://schemas.microsoft.com/office/drawing/2014/main" id="{DF4044FA-2B6F-00E4-B7F3-818B74FABC29}"/>
                </a:ext>
              </a:extLst>
            </p:cNvPr>
            <p:cNvSpPr/>
            <p:nvPr/>
          </p:nvSpPr>
          <p:spPr>
            <a:xfrm>
              <a:off x="542925" y="3366187"/>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3D8B8B"/>
            </a:solidFill>
          </p:spPr>
        </p:sp>
        <p:sp>
          <p:nvSpPr>
            <p:cNvPr id="7" name="Text 16">
              <a:extLst>
                <a:ext uri="{FF2B5EF4-FFF2-40B4-BE49-F238E27FC236}">
                  <a16:creationId xmlns:a16="http://schemas.microsoft.com/office/drawing/2014/main" id="{E9E6FBD9-14A8-1C5B-9210-06414BA434FE}"/>
                </a:ext>
              </a:extLst>
            </p:cNvPr>
            <p:cNvSpPr/>
            <p:nvPr/>
          </p:nvSpPr>
          <p:spPr>
            <a:xfrm>
              <a:off x="656034" y="3423337"/>
              <a:ext cx="142875" cy="190500"/>
            </a:xfrm>
            <a:prstGeom prst="rect">
              <a:avLst/>
            </a:prstGeom>
            <a:noFill/>
          </p:spPr>
          <p:txBody>
            <a:bodyPr wrap="square" lIns="0" tIns="0" rIns="0" bIns="0" rtlCol="0" anchor="ctr"/>
            <a:lstStyle/>
            <a:p>
              <a:pPr algn="just">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2</a:t>
              </a:r>
              <a:endParaRPr lang="en-US" dirty="0"/>
            </a:p>
          </p:txBody>
        </p:sp>
        <p:sp>
          <p:nvSpPr>
            <p:cNvPr id="8" name="Text 17">
              <a:extLst>
                <a:ext uri="{FF2B5EF4-FFF2-40B4-BE49-F238E27FC236}">
                  <a16:creationId xmlns:a16="http://schemas.microsoft.com/office/drawing/2014/main" id="{F9429953-D783-287B-073C-A2638EBCF3ED}"/>
                </a:ext>
              </a:extLst>
            </p:cNvPr>
            <p:cNvSpPr/>
            <p:nvPr/>
          </p:nvSpPr>
          <p:spPr>
            <a:xfrm>
              <a:off x="962025" y="3366187"/>
              <a:ext cx="5373711" cy="247650"/>
            </a:xfrm>
            <a:prstGeom prst="rect">
              <a:avLst/>
            </a:prstGeom>
            <a:noFill/>
          </p:spPr>
          <p:txBody>
            <a:bodyPr wrap="square" lIns="0" tIns="0" rIns="0" bIns="0" rtlCol="0" anchor="ctr"/>
            <a:lstStyle/>
            <a:p>
              <a:pPr algn="just">
                <a:lnSpc>
                  <a:spcPct val="140000"/>
                </a:lnSpc>
              </a:pPr>
              <a:r>
                <a:rPr lang="zh-CN" altLang="zh-CN" dirty="0"/>
                <a:t>分析结合多种传感器数据（如视觉、激光雷达、毫米波雷达等）对提高机器人导航准确性和鲁棒性的重要性，并讨论如何融合这些数据</a:t>
              </a:r>
              <a:r>
                <a:rPr lang="zh-CN" altLang="en-US" dirty="0"/>
                <a:t>。</a:t>
              </a:r>
              <a:endParaRPr lang="en-US" dirty="0"/>
            </a:p>
          </p:txBody>
        </p:sp>
        <p:sp>
          <p:nvSpPr>
            <p:cNvPr id="9" name="Shape 23">
              <a:extLst>
                <a:ext uri="{FF2B5EF4-FFF2-40B4-BE49-F238E27FC236}">
                  <a16:creationId xmlns:a16="http://schemas.microsoft.com/office/drawing/2014/main" id="{367B5F12-0C32-64F4-2815-0191D512D4D1}"/>
                </a:ext>
              </a:extLst>
            </p:cNvPr>
            <p:cNvSpPr/>
            <p:nvPr/>
          </p:nvSpPr>
          <p:spPr>
            <a:xfrm>
              <a:off x="542925" y="4109137"/>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3D8B8B"/>
            </a:solidFill>
          </p:spPr>
        </p:sp>
        <p:sp>
          <p:nvSpPr>
            <p:cNvPr id="10" name="Text 24">
              <a:extLst>
                <a:ext uri="{FF2B5EF4-FFF2-40B4-BE49-F238E27FC236}">
                  <a16:creationId xmlns:a16="http://schemas.microsoft.com/office/drawing/2014/main" id="{71D23B95-8A21-2909-9C15-ED8146871FA2}"/>
                </a:ext>
              </a:extLst>
            </p:cNvPr>
            <p:cNvSpPr/>
            <p:nvPr/>
          </p:nvSpPr>
          <p:spPr>
            <a:xfrm>
              <a:off x="655439" y="4166287"/>
              <a:ext cx="142875" cy="190500"/>
            </a:xfrm>
            <a:prstGeom prst="rect">
              <a:avLst/>
            </a:prstGeom>
            <a:noFill/>
          </p:spPr>
          <p:txBody>
            <a:bodyPr wrap="square" lIns="0" tIns="0" rIns="0" bIns="0" rtlCol="0" anchor="ctr"/>
            <a:lstStyle/>
            <a:p>
              <a:pPr algn="just">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3</a:t>
              </a:r>
              <a:endParaRPr lang="en-US" dirty="0"/>
            </a:p>
          </p:txBody>
        </p:sp>
        <p:sp>
          <p:nvSpPr>
            <p:cNvPr id="11" name="Text 25">
              <a:extLst>
                <a:ext uri="{FF2B5EF4-FFF2-40B4-BE49-F238E27FC236}">
                  <a16:creationId xmlns:a16="http://schemas.microsoft.com/office/drawing/2014/main" id="{65706400-B9AB-860A-41D8-415B2FDCC8D2}"/>
                </a:ext>
              </a:extLst>
            </p:cNvPr>
            <p:cNvSpPr/>
            <p:nvPr/>
          </p:nvSpPr>
          <p:spPr>
            <a:xfrm>
              <a:off x="962025" y="4109137"/>
              <a:ext cx="5373711" cy="247650"/>
            </a:xfrm>
            <a:prstGeom prst="rect">
              <a:avLst/>
            </a:prstGeom>
            <a:noFill/>
          </p:spPr>
          <p:txBody>
            <a:bodyPr wrap="square" lIns="0" tIns="0" rIns="0" bIns="0" rtlCol="0" anchor="ctr"/>
            <a:lstStyle/>
            <a:p>
              <a:pPr algn="just">
                <a:lnSpc>
                  <a:spcPct val="140000"/>
                </a:lnSpc>
              </a:pPr>
              <a:r>
                <a:rPr lang="zh-CN" altLang="zh-CN" dirty="0"/>
                <a:t>分析深度学习技术如何改进传统的</a:t>
              </a:r>
              <a:r>
                <a:rPr lang="en-US" altLang="zh-CN" dirty="0"/>
                <a:t>SLAM</a:t>
              </a:r>
              <a:r>
                <a:rPr lang="zh-CN" altLang="zh-CN" dirty="0"/>
                <a:t>方法，并讨论深度学习在特征提取、匹配和闭环检测中的应用。</a:t>
              </a:r>
              <a:endParaRPr lang="en-US" dirty="0"/>
            </a:p>
          </p:txBody>
        </p:sp>
        <p:sp>
          <p:nvSpPr>
            <p:cNvPr id="16" name="Shape 31">
              <a:extLst>
                <a:ext uri="{FF2B5EF4-FFF2-40B4-BE49-F238E27FC236}">
                  <a16:creationId xmlns:a16="http://schemas.microsoft.com/office/drawing/2014/main" id="{ABF43544-A17B-82EC-CD3A-062363F7055F}"/>
                </a:ext>
              </a:extLst>
            </p:cNvPr>
            <p:cNvSpPr/>
            <p:nvPr/>
          </p:nvSpPr>
          <p:spPr>
            <a:xfrm>
              <a:off x="542925" y="4852087"/>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3D8B8B"/>
            </a:solidFill>
          </p:spPr>
        </p:sp>
        <p:sp>
          <p:nvSpPr>
            <p:cNvPr id="18" name="Text 32">
              <a:extLst>
                <a:ext uri="{FF2B5EF4-FFF2-40B4-BE49-F238E27FC236}">
                  <a16:creationId xmlns:a16="http://schemas.microsoft.com/office/drawing/2014/main" id="{DB0701C7-F5A8-3B32-6B59-F146534BC71C}"/>
                </a:ext>
              </a:extLst>
            </p:cNvPr>
            <p:cNvSpPr/>
            <p:nvPr/>
          </p:nvSpPr>
          <p:spPr>
            <a:xfrm>
              <a:off x="660648" y="4909237"/>
              <a:ext cx="133350" cy="190500"/>
            </a:xfrm>
            <a:prstGeom prst="rect">
              <a:avLst/>
            </a:prstGeom>
            <a:noFill/>
          </p:spPr>
          <p:txBody>
            <a:bodyPr wrap="square" lIns="0" tIns="0" rIns="0" bIns="0" rtlCol="0" anchor="ctr"/>
            <a:lstStyle/>
            <a:p>
              <a:pPr algn="just">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4</a:t>
              </a:r>
              <a:endParaRPr lang="en-US" dirty="0"/>
            </a:p>
          </p:txBody>
        </p:sp>
        <p:sp>
          <p:nvSpPr>
            <p:cNvPr id="19" name="Text 33">
              <a:extLst>
                <a:ext uri="{FF2B5EF4-FFF2-40B4-BE49-F238E27FC236}">
                  <a16:creationId xmlns:a16="http://schemas.microsoft.com/office/drawing/2014/main" id="{B9596783-2F72-43B6-B612-1096DE263939}"/>
                </a:ext>
              </a:extLst>
            </p:cNvPr>
            <p:cNvSpPr/>
            <p:nvPr/>
          </p:nvSpPr>
          <p:spPr>
            <a:xfrm>
              <a:off x="962025" y="4852087"/>
              <a:ext cx="5373711" cy="247650"/>
            </a:xfrm>
            <a:prstGeom prst="rect">
              <a:avLst/>
            </a:prstGeom>
            <a:noFill/>
          </p:spPr>
          <p:txBody>
            <a:bodyPr wrap="square" lIns="0" tIns="0" rIns="0" bIns="0" rtlCol="0" anchor="ctr"/>
            <a:lstStyle/>
            <a:p>
              <a:pPr algn="just">
                <a:lnSpc>
                  <a:spcPct val="140000"/>
                </a:lnSpc>
              </a:pPr>
              <a:r>
                <a:rPr lang="zh-CN" altLang="zh-CN" dirty="0"/>
                <a:t>讨论在强化学习中如何平衡探索未知环境和利用已知信息之间的关系，并讨论不同的探索策略对学习效率和效果的影响。</a:t>
              </a:r>
              <a:endParaRPr lang="en-US" dirty="0"/>
            </a:p>
          </p:txBody>
        </p:sp>
      </p:grpSp>
    </p:spTree>
    <p:extLst>
      <p:ext uri="{BB962C8B-B14F-4D97-AF65-F5344CB8AC3E}">
        <p14:creationId xmlns:p14="http://schemas.microsoft.com/office/powerpoint/2010/main" val="355196431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E1114-F373-8C7A-373A-66D86FBC8E9E}"/>
            </a:ext>
          </a:extLst>
        </p:cNvPr>
        <p:cNvGrpSpPr/>
        <p:nvPr/>
      </p:nvGrpSpPr>
      <p:grpSpPr>
        <a:xfrm>
          <a:off x="0" y="0"/>
          <a:ext cx="0" cy="0"/>
          <a:chOff x="0" y="0"/>
          <a:chExt cx="0" cy="0"/>
        </a:xfrm>
      </p:grpSpPr>
      <p:grpSp>
        <p:nvGrpSpPr>
          <p:cNvPr id="15" name="组合 14">
            <a:extLst>
              <a:ext uri="{FF2B5EF4-FFF2-40B4-BE49-F238E27FC236}">
                <a16:creationId xmlns:a16="http://schemas.microsoft.com/office/drawing/2014/main" id="{36E54F7F-2796-3D61-EF4C-36FB24987358}"/>
              </a:ext>
            </a:extLst>
          </p:cNvPr>
          <p:cNvGrpSpPr/>
          <p:nvPr/>
        </p:nvGrpSpPr>
        <p:grpSpPr>
          <a:xfrm>
            <a:off x="977900" y="1150536"/>
            <a:ext cx="10236201" cy="3309551"/>
            <a:chOff x="977900" y="1150536"/>
            <a:chExt cx="10236201" cy="3309551"/>
          </a:xfrm>
        </p:grpSpPr>
        <p:grpSp>
          <p:nvGrpSpPr>
            <p:cNvPr id="7" name="组合 6">
              <a:extLst>
                <a:ext uri="{FF2B5EF4-FFF2-40B4-BE49-F238E27FC236}">
                  <a16:creationId xmlns:a16="http://schemas.microsoft.com/office/drawing/2014/main" id="{BAE8714E-157E-F213-9054-7B90D10BFE93}"/>
                </a:ext>
              </a:extLst>
            </p:cNvPr>
            <p:cNvGrpSpPr/>
            <p:nvPr/>
          </p:nvGrpSpPr>
          <p:grpSpPr>
            <a:xfrm>
              <a:off x="2817813" y="1150536"/>
              <a:ext cx="6554788" cy="686393"/>
              <a:chOff x="2817813" y="5796957"/>
              <a:chExt cx="6554788" cy="686393"/>
            </a:xfrm>
          </p:grpSpPr>
          <p:pic>
            <p:nvPicPr>
              <p:cNvPr id="1028" name="Picture 4" descr="查看图片">
                <a:extLst>
                  <a:ext uri="{FF2B5EF4-FFF2-40B4-BE49-F238E27FC236}">
                    <a16:creationId xmlns:a16="http://schemas.microsoft.com/office/drawing/2014/main" id="{578BDE56-B816-0957-AB9B-605B0402BF4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4518"/>
              <a:stretch>
                <a:fillRect/>
              </a:stretch>
            </p:blipFill>
            <p:spPr bwMode="auto">
              <a:xfrm>
                <a:off x="2817813" y="5796957"/>
                <a:ext cx="6554788" cy="686393"/>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C9F455D1-D94A-F48D-3BAA-FCAA3BB5118D}"/>
                  </a:ext>
                </a:extLst>
              </p:cNvPr>
              <p:cNvSpPr txBox="1"/>
              <p:nvPr/>
            </p:nvSpPr>
            <p:spPr>
              <a:xfrm>
                <a:off x="4854894" y="5796957"/>
                <a:ext cx="2480626" cy="646331"/>
              </a:xfrm>
              <a:prstGeom prst="rect">
                <a:avLst/>
              </a:prstGeom>
              <a:noFill/>
            </p:spPr>
            <p:txBody>
              <a:bodyPr wrap="square">
                <a:spAutoFit/>
              </a:bodyPr>
              <a:lstStyle/>
              <a:p>
                <a:pPr algn="ctr"/>
                <a:r>
                  <a:rPr lang="zh-CN" altLang="en-US" sz="3600" b="1" spc="300">
                    <a:solidFill>
                      <a:schemeClr val="bg1"/>
                    </a:solidFill>
                    <a:effectLst>
                      <a:outerShdw blurRad="101600" dist="12700" dir="5400000" algn="t" rotWithShape="0">
                        <a:schemeClr val="accent3">
                          <a:alpha val="85000"/>
                        </a:schemeClr>
                      </a:outerShdw>
                    </a:effectLst>
                    <a:latin typeface="+mj-ea"/>
                    <a:ea typeface="+mj-ea"/>
                  </a:rPr>
                  <a:t>第六</a:t>
                </a:r>
                <a:r>
                  <a:rPr lang="zh-CN" altLang="en-US" sz="3600" b="1">
                    <a:solidFill>
                      <a:schemeClr val="bg1"/>
                    </a:solidFill>
                    <a:effectLst>
                      <a:outerShdw blurRad="101600" dist="12700" dir="5400000" algn="t" rotWithShape="0">
                        <a:schemeClr val="accent3">
                          <a:alpha val="85000"/>
                        </a:schemeClr>
                      </a:outerShdw>
                    </a:effectLst>
                    <a:latin typeface="+mj-ea"/>
                    <a:ea typeface="+mj-ea"/>
                  </a:rPr>
                  <a:t>章</a:t>
                </a:r>
                <a:endParaRPr lang="zh-CN" altLang="en-US" sz="3600" b="1" dirty="0">
                  <a:solidFill>
                    <a:schemeClr val="bg1"/>
                  </a:solidFill>
                  <a:effectLst>
                    <a:outerShdw blurRad="101600" dist="12700" dir="5400000" algn="t" rotWithShape="0">
                      <a:schemeClr val="accent3">
                        <a:alpha val="85000"/>
                      </a:schemeClr>
                    </a:outerShdw>
                  </a:effectLst>
                  <a:latin typeface="+mj-ea"/>
                  <a:ea typeface="+mj-ea"/>
                </a:endParaRPr>
              </a:p>
            </p:txBody>
          </p:sp>
        </p:grpSp>
        <p:grpSp>
          <p:nvGrpSpPr>
            <p:cNvPr id="14" name="组合 13">
              <a:extLst>
                <a:ext uri="{FF2B5EF4-FFF2-40B4-BE49-F238E27FC236}">
                  <a16:creationId xmlns:a16="http://schemas.microsoft.com/office/drawing/2014/main" id="{97AF5849-1454-0978-7D3C-F611B849BD20}"/>
                </a:ext>
              </a:extLst>
            </p:cNvPr>
            <p:cNvGrpSpPr/>
            <p:nvPr/>
          </p:nvGrpSpPr>
          <p:grpSpPr>
            <a:xfrm>
              <a:off x="977900" y="2121495"/>
              <a:ext cx="10236201" cy="2338592"/>
              <a:chOff x="948266" y="2341629"/>
              <a:chExt cx="10236201" cy="2338592"/>
            </a:xfrm>
          </p:grpSpPr>
          <p:grpSp>
            <p:nvGrpSpPr>
              <p:cNvPr id="13" name="组合 12">
                <a:extLst>
                  <a:ext uri="{FF2B5EF4-FFF2-40B4-BE49-F238E27FC236}">
                    <a16:creationId xmlns:a16="http://schemas.microsoft.com/office/drawing/2014/main" id="{47E14512-9D1C-B2C3-39C2-A45C54E5D653}"/>
                  </a:ext>
                </a:extLst>
              </p:cNvPr>
              <p:cNvGrpSpPr/>
              <p:nvPr/>
            </p:nvGrpSpPr>
            <p:grpSpPr>
              <a:xfrm>
                <a:off x="948266" y="2341629"/>
                <a:ext cx="10236201" cy="2338592"/>
                <a:chOff x="-203136" y="3193246"/>
                <a:chExt cx="9531744" cy="2177650"/>
              </a:xfrm>
            </p:grpSpPr>
            <p:pic>
              <p:nvPicPr>
                <p:cNvPr id="11" name="Picture 4" descr="查看图片">
                  <a:extLst>
                    <a:ext uri="{FF2B5EF4-FFF2-40B4-BE49-F238E27FC236}">
                      <a16:creationId xmlns:a16="http://schemas.microsoft.com/office/drawing/2014/main" id="{37D65C41-A948-F38D-96DE-18483670292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1436" b="66823"/>
                <a:stretch>
                  <a:fillRect/>
                </a:stretch>
              </p:blipFill>
              <p:spPr bwMode="auto">
                <a:xfrm>
                  <a:off x="-203136" y="3193246"/>
                  <a:ext cx="9531744" cy="75696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查看图片">
                  <a:extLst>
                    <a:ext uri="{FF2B5EF4-FFF2-40B4-BE49-F238E27FC236}">
                      <a16:creationId xmlns:a16="http://schemas.microsoft.com/office/drawing/2014/main" id="{F22C60A6-E48F-7BBE-7285-A930D263DA3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7991" b="-27"/>
                <a:stretch>
                  <a:fillRect/>
                </a:stretch>
              </p:blipFill>
              <p:spPr bwMode="auto">
                <a:xfrm>
                  <a:off x="-203136" y="3950207"/>
                  <a:ext cx="9531744" cy="1420689"/>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PA-文本框 47">
                <a:extLst>
                  <a:ext uri="{FF2B5EF4-FFF2-40B4-BE49-F238E27FC236}">
                    <a16:creationId xmlns:a16="http://schemas.microsoft.com/office/drawing/2014/main" id="{95CE9E20-1B01-1E09-2C3E-1E3A1A24EA1E}"/>
                  </a:ext>
                </a:extLst>
              </p:cNvPr>
              <p:cNvSpPr txBox="1"/>
              <p:nvPr>
                <p:custDataLst>
                  <p:tags r:id="rId1"/>
                </p:custDataLst>
              </p:nvPr>
            </p:nvSpPr>
            <p:spPr>
              <a:xfrm>
                <a:off x="1265764" y="2910761"/>
                <a:ext cx="9766300" cy="1200329"/>
              </a:xfrm>
              <a:prstGeom prst="rect">
                <a:avLst/>
              </a:prstGeom>
              <a:noFill/>
            </p:spPr>
            <p:txBody>
              <a:bodyPr wrap="square" rtlCol="0" anchor="ctr">
                <a:spAutoFit/>
              </a:bodyPr>
              <a:lstStyle/>
              <a:p>
                <a:pPr lvl="0" algn="ctr">
                  <a:lnSpc>
                    <a:spcPct val="100000"/>
                  </a:lnSpc>
                  <a:defRPr/>
                </a:pPr>
                <a:r>
                  <a:rPr lang="zh-CN" altLang="en-US" sz="7200" b="1" spc="100">
                    <a:solidFill>
                      <a:schemeClr val="bg1"/>
                    </a:solidFill>
                    <a:effectLst>
                      <a:outerShdw blurRad="101600" dist="12700" dir="5400000" algn="t" rotWithShape="0">
                        <a:schemeClr val="accent3">
                          <a:alpha val="85000"/>
                        </a:schemeClr>
                      </a:outerShdw>
                    </a:effectLst>
                    <a:latin typeface="+mj-ea"/>
                    <a:ea typeface="+mj-ea"/>
                  </a:rPr>
                  <a:t>多机器人协同导航技术</a:t>
                </a:r>
                <a:endParaRPr lang="zh-CN" altLang="en-US" sz="7200" b="1" spc="100" dirty="0">
                  <a:solidFill>
                    <a:schemeClr val="bg1"/>
                  </a:solidFill>
                  <a:effectLst>
                    <a:outerShdw blurRad="101600" dist="12700" dir="5400000" algn="t" rotWithShape="0">
                      <a:schemeClr val="accent3">
                        <a:alpha val="85000"/>
                      </a:schemeClr>
                    </a:outerShdw>
                  </a:effectLst>
                  <a:latin typeface="+mj-ea"/>
                  <a:ea typeface="+mj-ea"/>
                </a:endParaRPr>
              </a:p>
            </p:txBody>
          </p:sp>
        </p:grpSp>
      </p:grpSp>
    </p:spTree>
    <p:extLst>
      <p:ext uri="{BB962C8B-B14F-4D97-AF65-F5344CB8AC3E}">
        <p14:creationId xmlns:p14="http://schemas.microsoft.com/office/powerpoint/2010/main" val="1040166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250"/>
                                  </p:stCondLst>
                                  <p:childTnLst>
                                    <p:set>
                                      <p:cBhvr>
                                        <p:cTn id="6" dur="1" fill="hold">
                                          <p:stCondLst>
                                            <p:cond delay="0"/>
                                          </p:stCondLst>
                                        </p:cTn>
                                        <p:tgtEl>
                                          <p:spTgt spid="15"/>
                                        </p:tgtEl>
                                        <p:attrNameLst>
                                          <p:attrName>style.visibility</p:attrName>
                                        </p:attrNameLst>
                                      </p:cBhvr>
                                      <p:to>
                                        <p:strVal val="visible"/>
                                      </p:to>
                                    </p:set>
                                    <p:animEffect transition="in" filter="barn(outVertic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4724400" y="1295400"/>
            <a:ext cx="7467600" cy="3581400"/>
          </a:xfrm>
        </p:spPr>
        <p:txBody>
          <a:bodyPr>
            <a:normAutofit lnSpcReduction="10000"/>
          </a:bodyPr>
          <a:lstStyle/>
          <a:p>
            <a:pPr marL="0" indent="0">
              <a:lnSpc>
                <a:spcPct val="150000"/>
              </a:lnSpc>
              <a:buNone/>
            </a:pPr>
            <a:r>
              <a:rPr lang="en-US" altLang="zh-CN" sz="3600"/>
              <a:t>6.1</a:t>
            </a:r>
            <a:r>
              <a:rPr lang="zh-CN" altLang="en-US" sz="3600"/>
              <a:t> 多机器人协同导航架构</a:t>
            </a:r>
            <a:endParaRPr lang="en-US" altLang="zh-CN" sz="3600" dirty="0"/>
          </a:p>
          <a:p>
            <a:pPr marL="0" indent="0">
              <a:lnSpc>
                <a:spcPct val="150000"/>
              </a:lnSpc>
              <a:buNone/>
            </a:pPr>
            <a:r>
              <a:rPr lang="en-US" altLang="zh-CN" sz="3600"/>
              <a:t>6.2 </a:t>
            </a:r>
            <a:r>
              <a:rPr lang="zh-CN" altLang="en-US" sz="3600"/>
              <a:t>协同导航相对观测方式及算法</a:t>
            </a:r>
            <a:endParaRPr lang="en-US" altLang="zh-CN" sz="3600" dirty="0"/>
          </a:p>
          <a:p>
            <a:pPr marL="0" indent="0">
              <a:lnSpc>
                <a:spcPct val="150000"/>
              </a:lnSpc>
              <a:buNone/>
            </a:pPr>
            <a:r>
              <a:rPr lang="en-US" altLang="zh-CN" sz="3600"/>
              <a:t>6.3 </a:t>
            </a:r>
            <a:r>
              <a:rPr lang="zh-CN" altLang="en-US" sz="3600"/>
              <a:t>多机器人协同导航时空一致标定</a:t>
            </a:r>
            <a:endParaRPr lang="en-US" altLang="zh-CN" sz="3600" dirty="0"/>
          </a:p>
          <a:p>
            <a:pPr marL="0" indent="0">
              <a:lnSpc>
                <a:spcPct val="150000"/>
              </a:lnSpc>
              <a:buNone/>
            </a:pPr>
            <a:r>
              <a:rPr lang="en-US" altLang="zh-CN" sz="3600"/>
              <a:t>6.4 </a:t>
            </a:r>
            <a:r>
              <a:rPr lang="zh-CN" altLang="en-US" sz="3600"/>
              <a:t>多机器人协同导航系统案例</a:t>
            </a:r>
            <a:endParaRPr lang="en-US" altLang="zh-CN" sz="3600" dirty="0"/>
          </a:p>
          <a:p>
            <a:endParaRPr lang="en-US" altLang="zh-CN" dirty="0"/>
          </a:p>
        </p:txBody>
      </p:sp>
    </p:spTree>
    <p:extLst>
      <p:ext uri="{BB962C8B-B14F-4D97-AF65-F5344CB8AC3E}">
        <p14:creationId xmlns:p14="http://schemas.microsoft.com/office/powerpoint/2010/main" val="2423304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2">
                                            <p:txEl>
                                              <p:pRg st="0" end="0"/>
                                            </p:txEl>
                                          </p:spTgt>
                                        </p:tgtEl>
                                        <p:attrNameLst>
                                          <p:attrName>style.color</p:attrName>
                                        </p:attrNameLst>
                                      </p:cBhvr>
                                      <p:to>
                                        <p:clrVal>
                                          <a:srgbClr val="FF0F0F"/>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0FF91D4E-02FC-93E0-B9FD-7ACF618C8ADB}"/>
              </a:ext>
            </a:extLst>
          </p:cNvPr>
          <p:cNvGraphicFramePr>
            <a:graphicFrameLocks noChangeAspect="1"/>
          </p:cNvGraphicFramePr>
          <p:nvPr>
            <p:extLst>
              <p:ext uri="{D42A27DB-BD31-4B8C-83A1-F6EECF244321}">
                <p14:modId xmlns:p14="http://schemas.microsoft.com/office/powerpoint/2010/main" val="812354134"/>
              </p:ext>
            </p:extLst>
          </p:nvPr>
        </p:nvGraphicFramePr>
        <p:xfrm>
          <a:off x="8952808" y="1159051"/>
          <a:ext cx="1354973" cy="408763"/>
        </p:xfrm>
        <a:graphic>
          <a:graphicData uri="http://schemas.openxmlformats.org/presentationml/2006/ole">
            <mc:AlternateContent xmlns:mc="http://schemas.openxmlformats.org/markup-compatibility/2006">
              <mc:Choice xmlns:v="urn:schemas-microsoft-com:vml" Requires="v">
                <p:oleObj name="Equation" r:id="rId2" imgW="850531" imgH="253890" progId="Equation.DSMT4">
                  <p:embed/>
                </p:oleObj>
              </mc:Choice>
              <mc:Fallback>
                <p:oleObj name="Equation" r:id="rId2" imgW="850531" imgH="253890" progId="Equation.DSMT4">
                  <p:embed/>
                  <p:pic>
                    <p:nvPicPr>
                      <p:cNvPr id="3" name="对象 2">
                        <a:extLst>
                          <a:ext uri="{FF2B5EF4-FFF2-40B4-BE49-F238E27FC236}">
                            <a16:creationId xmlns:a16="http://schemas.microsoft.com/office/drawing/2014/main" id="{0FF91D4E-02FC-93E0-B9FD-7ACF618C8A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2808" y="1159051"/>
                        <a:ext cx="1354973" cy="408763"/>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B90BCD8B-A2ED-B401-A288-7C89B4C2A301}"/>
              </a:ext>
            </a:extLst>
          </p:cNvPr>
          <p:cNvGraphicFramePr>
            <a:graphicFrameLocks noChangeAspect="1"/>
          </p:cNvGraphicFramePr>
          <p:nvPr>
            <p:extLst>
              <p:ext uri="{D42A27DB-BD31-4B8C-83A1-F6EECF244321}">
                <p14:modId xmlns:p14="http://schemas.microsoft.com/office/powerpoint/2010/main" val="3712617355"/>
              </p:ext>
            </p:extLst>
          </p:nvPr>
        </p:nvGraphicFramePr>
        <p:xfrm>
          <a:off x="844505" y="1701079"/>
          <a:ext cx="1244839" cy="350111"/>
        </p:xfrm>
        <a:graphic>
          <a:graphicData uri="http://schemas.openxmlformats.org/presentationml/2006/ole">
            <mc:AlternateContent xmlns:mc="http://schemas.openxmlformats.org/markup-compatibility/2006">
              <mc:Choice xmlns:v="urn:schemas-microsoft-com:vml" Requires="v">
                <p:oleObj name="Equation" r:id="rId4" imgW="914400" imgH="254000" progId="Equation.DSMT4">
                  <p:embed/>
                </p:oleObj>
              </mc:Choice>
              <mc:Fallback>
                <p:oleObj name="Equation" r:id="rId4" imgW="914400" imgH="254000" progId="Equation.DSMT4">
                  <p:embed/>
                  <p:pic>
                    <p:nvPicPr>
                      <p:cNvPr id="4" name="对象 3">
                        <a:extLst>
                          <a:ext uri="{FF2B5EF4-FFF2-40B4-BE49-F238E27FC236}">
                            <a16:creationId xmlns:a16="http://schemas.microsoft.com/office/drawing/2014/main" id="{B90BCD8B-A2ED-B401-A288-7C89B4C2A3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4505" y="1701079"/>
                        <a:ext cx="1244839" cy="350111"/>
                      </a:xfrm>
                      <a:prstGeom prst="rect">
                        <a:avLst/>
                      </a:prstGeom>
                      <a:noFill/>
                    </p:spPr>
                  </p:pic>
                </p:oleObj>
              </mc:Fallback>
            </mc:AlternateContent>
          </a:graphicData>
        </a:graphic>
      </p:graphicFrame>
      <p:sp>
        <p:nvSpPr>
          <p:cNvPr id="16" name="Rectangle 14">
            <a:extLst>
              <a:ext uri="{FF2B5EF4-FFF2-40B4-BE49-F238E27FC236}">
                <a16:creationId xmlns:a16="http://schemas.microsoft.com/office/drawing/2014/main" id="{519FBA94-CB64-6396-A0C4-2D185BE01A06}"/>
              </a:ext>
            </a:extLst>
          </p:cNvPr>
          <p:cNvSpPr>
            <a:spLocks noChangeArrowheads="1"/>
          </p:cNvSpPr>
          <p:nvPr/>
        </p:nvSpPr>
        <p:spPr bwMode="auto">
          <a:xfrm>
            <a:off x="590204" y="1059265"/>
            <a:ext cx="1085642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720000" fontAlgn="ctr">
              <a:lnSpc>
                <a:spcPct val="130000"/>
              </a:lnSpc>
              <a:spcBef>
                <a:spcPct val="0"/>
              </a:spcBef>
              <a:spcAft>
                <a:spcPct val="0"/>
              </a:spcAft>
              <a:buClrTx/>
              <a:buSzTx/>
              <a:tabLst/>
            </a:pPr>
            <a:r>
              <a:rPr lang="zh-CN" altLang="zh-CN" sz="2000" b="1" dirty="0">
                <a:solidFill>
                  <a:srgbClr val="000000"/>
                </a:solidFill>
                <a:latin typeface="微软雅黑" panose="020B0503020204020204" pitchFamily="34" charset="-122"/>
                <a:ea typeface="微软雅黑" panose="020B0503020204020204" pitchFamily="34" charset="-122"/>
              </a:rPr>
              <a:t>平台状态由平台的位置、速度、姿态等的全部或部分元素组成。记</a:t>
            </a:r>
          </a:p>
        </p:txBody>
      </p:sp>
      <p:sp>
        <p:nvSpPr>
          <p:cNvPr id="17" name="Rectangle 15">
            <a:extLst>
              <a:ext uri="{FF2B5EF4-FFF2-40B4-BE49-F238E27FC236}">
                <a16:creationId xmlns:a16="http://schemas.microsoft.com/office/drawing/2014/main" id="{6E1A9027-0F5F-AA56-0D7A-FC2D14E5C462}"/>
              </a:ext>
            </a:extLst>
          </p:cNvPr>
          <p:cNvSpPr>
            <a:spLocks noChangeArrowheads="1"/>
          </p:cNvSpPr>
          <p:nvPr/>
        </p:nvSpPr>
        <p:spPr bwMode="auto">
          <a:xfrm>
            <a:off x="9710160" y="1043159"/>
            <a:ext cx="1985847"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720000" fontAlgn="ctr">
              <a:lnSpc>
                <a:spcPct val="130000"/>
              </a:lnSpc>
              <a:spcBef>
                <a:spcPct val="0"/>
              </a:spcBef>
              <a:spcAft>
                <a:spcPct val="0"/>
              </a:spcAft>
              <a:buClrTx/>
              <a:buSzTx/>
              <a:tabLst/>
            </a:pPr>
            <a:r>
              <a:rPr lang="zh-CN" altLang="zh-CN" sz="2000" b="1">
                <a:solidFill>
                  <a:srgbClr val="000000"/>
                </a:solidFill>
                <a:latin typeface="微软雅黑" panose="020B0503020204020204" pitchFamily="34" charset="-122"/>
                <a:ea typeface="微软雅黑" panose="020B0503020204020204" pitchFamily="34" charset="-122"/>
              </a:rPr>
              <a:t>时刻</a:t>
            </a:r>
            <a:r>
              <a:rPr lang="zh-CN" altLang="en-US" sz="2000" b="1">
                <a:solidFill>
                  <a:srgbClr val="000000"/>
                </a:solidFill>
                <a:latin typeface="微软雅黑" panose="020B0503020204020204" pitchFamily="34" charset="-122"/>
                <a:ea typeface="微软雅黑" panose="020B0503020204020204" pitchFamily="34" charset="-122"/>
              </a:rPr>
              <a:t>平</a:t>
            </a:r>
            <a:r>
              <a:rPr lang="zh-CN" altLang="zh-CN" sz="2000" b="1">
                <a:solidFill>
                  <a:srgbClr val="000000"/>
                </a:solidFill>
                <a:latin typeface="微软雅黑" panose="020B0503020204020204" pitchFamily="34" charset="-122"/>
                <a:ea typeface="微软雅黑" panose="020B0503020204020204" pitchFamily="34" charset="-122"/>
              </a:rPr>
              <a:t>台</a:t>
            </a:r>
          </a:p>
        </p:txBody>
      </p:sp>
      <p:sp>
        <p:nvSpPr>
          <p:cNvPr id="38" name="文本框 37">
            <a:extLst>
              <a:ext uri="{FF2B5EF4-FFF2-40B4-BE49-F238E27FC236}">
                <a16:creationId xmlns:a16="http://schemas.microsoft.com/office/drawing/2014/main" id="{9D00DF30-0146-BED1-8236-41C2ADFF966E}"/>
              </a:ext>
            </a:extLst>
          </p:cNvPr>
          <p:cNvSpPr txBox="1"/>
          <p:nvPr/>
        </p:nvSpPr>
        <p:spPr>
          <a:xfrm>
            <a:off x="1327283" y="1598420"/>
            <a:ext cx="8087712" cy="453457"/>
          </a:xfrm>
          <a:prstGeom prst="rect">
            <a:avLst/>
          </a:prstGeom>
          <a:noFill/>
        </p:spPr>
        <p:txBody>
          <a:bodyPr wrap="square">
            <a:spAutoFit/>
          </a:bodyPr>
          <a:lstStyle/>
          <a:p>
            <a:pPr indent="720000">
              <a:lnSpc>
                <a:spcPct val="130000"/>
              </a:lnSpc>
            </a:pPr>
            <a:r>
              <a:rPr lang="zh-CN" altLang="zh-CN" sz="2000" b="1" dirty="0">
                <a:solidFill>
                  <a:srgbClr val="000000"/>
                </a:solidFill>
                <a:latin typeface="微软雅黑" panose="020B0503020204020204" pitchFamily="34" charset="-122"/>
                <a:ea typeface="微软雅黑" panose="020B0503020204020204" pitchFamily="34" charset="-122"/>
              </a:rPr>
              <a:t>的状态为</a:t>
            </a:r>
            <a:r>
              <a:rPr lang="en-US" altLang="zh-CN" sz="2000" b="1" dirty="0">
                <a:solidFill>
                  <a:srgbClr val="000000"/>
                </a:solidFill>
                <a:latin typeface="微软雅黑" panose="020B0503020204020204" pitchFamily="34" charset="-122"/>
                <a:ea typeface="微软雅黑" panose="020B0503020204020204" pitchFamily="34" charset="-122"/>
              </a:rPr>
              <a:t>      </a:t>
            </a:r>
            <a:r>
              <a:rPr lang="zh-CN" altLang="en-US" sz="2000" b="1" dirty="0">
                <a:solidFill>
                  <a:srgbClr val="000000"/>
                </a:solidFill>
                <a:latin typeface="微软雅黑" panose="020B0503020204020204" pitchFamily="34" charset="-122"/>
                <a:ea typeface="微软雅黑" panose="020B0503020204020204" pitchFamily="34" charset="-122"/>
              </a:rPr>
              <a:t>。</a:t>
            </a:r>
            <a:r>
              <a:rPr lang="zh-CN" altLang="zh-CN" sz="2000" b="1" dirty="0">
                <a:solidFill>
                  <a:srgbClr val="000000"/>
                </a:solidFill>
                <a:latin typeface="微软雅黑" panose="020B0503020204020204" pitchFamily="34" charset="-122"/>
                <a:ea typeface="微软雅黑" panose="020B0503020204020204" pitchFamily="34" charset="-122"/>
              </a:rPr>
              <a:t>平台运动方程的一般形式为</a:t>
            </a:r>
            <a:endParaRPr lang="zh-CN" altLang="en-US" sz="2000" b="1" dirty="0">
              <a:solidFill>
                <a:srgbClr val="000000"/>
              </a:solidFill>
              <a:latin typeface="微软雅黑" panose="020B0503020204020204" pitchFamily="34" charset="-122"/>
              <a:ea typeface="微软雅黑" panose="020B0503020204020204" pitchFamily="34" charset="-122"/>
            </a:endParaRPr>
          </a:p>
        </p:txBody>
      </p:sp>
      <p:graphicFrame>
        <p:nvGraphicFramePr>
          <p:cNvPr id="39" name="对象 38">
            <a:extLst>
              <a:ext uri="{FF2B5EF4-FFF2-40B4-BE49-F238E27FC236}">
                <a16:creationId xmlns:a16="http://schemas.microsoft.com/office/drawing/2014/main" id="{9CE8B71F-83AE-4E6F-6617-792DB4C98704}"/>
              </a:ext>
            </a:extLst>
          </p:cNvPr>
          <p:cNvGraphicFramePr>
            <a:graphicFrameLocks noChangeAspect="1"/>
          </p:cNvGraphicFramePr>
          <p:nvPr>
            <p:extLst>
              <p:ext uri="{D42A27DB-BD31-4B8C-83A1-F6EECF244321}">
                <p14:modId xmlns:p14="http://schemas.microsoft.com/office/powerpoint/2010/main" val="557826388"/>
              </p:ext>
            </p:extLst>
          </p:nvPr>
        </p:nvGraphicFramePr>
        <p:xfrm>
          <a:off x="3234222" y="1611761"/>
          <a:ext cx="331938" cy="426777"/>
        </p:xfrm>
        <a:graphic>
          <a:graphicData uri="http://schemas.openxmlformats.org/presentationml/2006/ole">
            <mc:AlternateContent xmlns:mc="http://schemas.openxmlformats.org/markup-compatibility/2006">
              <mc:Choice xmlns:v="urn:schemas-microsoft-com:vml" Requires="v">
                <p:oleObj name="Equation" r:id="rId6" imgW="200135" imgH="257013" progId="Equation.DSMT4">
                  <p:embed/>
                </p:oleObj>
              </mc:Choice>
              <mc:Fallback>
                <p:oleObj name="Equation" r:id="rId6" imgW="200135" imgH="257013" progId="Equation.DSMT4">
                  <p:embed/>
                  <p:pic>
                    <p:nvPicPr>
                      <p:cNvPr id="39" name="对象 38">
                        <a:extLst>
                          <a:ext uri="{FF2B5EF4-FFF2-40B4-BE49-F238E27FC236}">
                            <a16:creationId xmlns:a16="http://schemas.microsoft.com/office/drawing/2014/main" id="{9CE8B71F-83AE-4E6F-6617-792DB4C98704}"/>
                          </a:ext>
                        </a:extLst>
                      </p:cNvPr>
                      <p:cNvPicPr/>
                      <p:nvPr/>
                    </p:nvPicPr>
                    <p:blipFill>
                      <a:blip r:embed="rId7"/>
                      <a:stretch>
                        <a:fillRect/>
                      </a:stretch>
                    </p:blipFill>
                    <p:spPr>
                      <a:xfrm>
                        <a:off x="3234222" y="1611761"/>
                        <a:ext cx="331938" cy="426777"/>
                      </a:xfrm>
                      <a:prstGeom prst="rect">
                        <a:avLst/>
                      </a:prstGeom>
                    </p:spPr>
                  </p:pic>
                </p:oleObj>
              </mc:Fallback>
            </mc:AlternateContent>
          </a:graphicData>
        </a:graphic>
      </p:graphicFrame>
      <p:graphicFrame>
        <p:nvGraphicFramePr>
          <p:cNvPr id="41" name="对象 40">
            <a:extLst>
              <a:ext uri="{FF2B5EF4-FFF2-40B4-BE49-F238E27FC236}">
                <a16:creationId xmlns:a16="http://schemas.microsoft.com/office/drawing/2014/main" id="{5AAECEEC-D3A0-B542-7535-6C0D0F78A7A3}"/>
              </a:ext>
            </a:extLst>
          </p:cNvPr>
          <p:cNvGraphicFramePr>
            <a:graphicFrameLocks noChangeAspect="1"/>
          </p:cNvGraphicFramePr>
          <p:nvPr>
            <p:extLst>
              <p:ext uri="{D42A27DB-BD31-4B8C-83A1-F6EECF244321}">
                <p14:modId xmlns:p14="http://schemas.microsoft.com/office/powerpoint/2010/main" val="4028922722"/>
              </p:ext>
            </p:extLst>
          </p:nvPr>
        </p:nvGraphicFramePr>
        <p:xfrm>
          <a:off x="3756798" y="2113829"/>
          <a:ext cx="4131019" cy="774566"/>
        </p:xfrm>
        <a:graphic>
          <a:graphicData uri="http://schemas.openxmlformats.org/presentationml/2006/ole">
            <mc:AlternateContent xmlns:mc="http://schemas.openxmlformats.org/markup-compatibility/2006">
              <mc:Choice xmlns:v="urn:schemas-microsoft-com:vml" Requires="v">
                <p:oleObj name="Equation" r:id="rId8" imgW="1371426" imgH="257013" progId="Equation.DSMT4">
                  <p:embed/>
                </p:oleObj>
              </mc:Choice>
              <mc:Fallback>
                <p:oleObj name="Equation" r:id="rId8" imgW="1371426" imgH="257013" progId="Equation.DSMT4">
                  <p:embed/>
                  <p:pic>
                    <p:nvPicPr>
                      <p:cNvPr id="41" name="对象 40">
                        <a:extLst>
                          <a:ext uri="{FF2B5EF4-FFF2-40B4-BE49-F238E27FC236}">
                            <a16:creationId xmlns:a16="http://schemas.microsoft.com/office/drawing/2014/main" id="{5AAECEEC-D3A0-B542-7535-6C0D0F78A7A3}"/>
                          </a:ext>
                        </a:extLst>
                      </p:cNvPr>
                      <p:cNvPicPr/>
                      <p:nvPr/>
                    </p:nvPicPr>
                    <p:blipFill>
                      <a:blip r:embed="rId9"/>
                      <a:stretch>
                        <a:fillRect/>
                      </a:stretch>
                    </p:blipFill>
                    <p:spPr>
                      <a:xfrm>
                        <a:off x="3756798" y="2113829"/>
                        <a:ext cx="4131019" cy="774566"/>
                      </a:xfrm>
                      <a:prstGeom prst="rect">
                        <a:avLst/>
                      </a:prstGeom>
                    </p:spPr>
                  </p:pic>
                </p:oleObj>
              </mc:Fallback>
            </mc:AlternateContent>
          </a:graphicData>
        </a:graphic>
      </p:graphicFrame>
      <p:graphicFrame>
        <p:nvGraphicFramePr>
          <p:cNvPr id="36" name="对象 35">
            <a:extLst>
              <a:ext uri="{FF2B5EF4-FFF2-40B4-BE49-F238E27FC236}">
                <a16:creationId xmlns:a16="http://schemas.microsoft.com/office/drawing/2014/main" id="{56418766-9DCA-F1FD-86F3-5D6116104446}"/>
              </a:ext>
            </a:extLst>
          </p:cNvPr>
          <p:cNvGraphicFramePr>
            <a:graphicFrameLocks noChangeAspect="1"/>
          </p:cNvGraphicFramePr>
          <p:nvPr>
            <p:extLst>
              <p:ext uri="{D42A27DB-BD31-4B8C-83A1-F6EECF244321}">
                <p14:modId xmlns:p14="http://schemas.microsoft.com/office/powerpoint/2010/main" val="696104405"/>
              </p:ext>
            </p:extLst>
          </p:nvPr>
        </p:nvGraphicFramePr>
        <p:xfrm>
          <a:off x="4485048" y="4208719"/>
          <a:ext cx="2458720" cy="510657"/>
        </p:xfrm>
        <a:graphic>
          <a:graphicData uri="http://schemas.openxmlformats.org/presentationml/2006/ole">
            <mc:AlternateContent xmlns:mc="http://schemas.openxmlformats.org/markup-compatibility/2006">
              <mc:Choice xmlns:v="urn:schemas-microsoft-com:vml" Requires="v">
                <p:oleObj name="Equation" r:id="rId10" imgW="1237743" imgH="257049" progId="Equation.DSMT4">
                  <p:embed/>
                </p:oleObj>
              </mc:Choice>
              <mc:Fallback>
                <p:oleObj name="Equation" r:id="rId10" imgW="1237743" imgH="257049" progId="Equation.DSMT4">
                  <p:embed/>
                  <p:pic>
                    <p:nvPicPr>
                      <p:cNvPr id="36" name="对象 35">
                        <a:extLst>
                          <a:ext uri="{FF2B5EF4-FFF2-40B4-BE49-F238E27FC236}">
                            <a16:creationId xmlns:a16="http://schemas.microsoft.com/office/drawing/2014/main" id="{56418766-9DCA-F1FD-86F3-5D6116104446}"/>
                          </a:ext>
                        </a:extLst>
                      </p:cNvPr>
                      <p:cNvPicPr/>
                      <p:nvPr/>
                    </p:nvPicPr>
                    <p:blipFill>
                      <a:blip r:embed="rId11"/>
                      <a:stretch>
                        <a:fillRect/>
                      </a:stretch>
                    </p:blipFill>
                    <p:spPr>
                      <a:xfrm>
                        <a:off x="4485048" y="4208719"/>
                        <a:ext cx="2458720" cy="510657"/>
                      </a:xfrm>
                      <a:prstGeom prst="rect">
                        <a:avLst/>
                      </a:prstGeom>
                    </p:spPr>
                  </p:pic>
                </p:oleObj>
              </mc:Fallback>
            </mc:AlternateContent>
          </a:graphicData>
        </a:graphic>
      </p:graphicFrame>
      <p:graphicFrame>
        <p:nvGraphicFramePr>
          <p:cNvPr id="37" name="对象 36">
            <a:extLst>
              <a:ext uri="{FF2B5EF4-FFF2-40B4-BE49-F238E27FC236}">
                <a16:creationId xmlns:a16="http://schemas.microsoft.com/office/drawing/2014/main" id="{DDE654C6-808F-924A-9322-30684F5C7110}"/>
              </a:ext>
            </a:extLst>
          </p:cNvPr>
          <p:cNvGraphicFramePr>
            <a:graphicFrameLocks noChangeAspect="1"/>
          </p:cNvGraphicFramePr>
          <p:nvPr>
            <p:extLst>
              <p:ext uri="{D42A27DB-BD31-4B8C-83A1-F6EECF244321}">
                <p14:modId xmlns:p14="http://schemas.microsoft.com/office/powerpoint/2010/main" val="2679015403"/>
              </p:ext>
            </p:extLst>
          </p:nvPr>
        </p:nvGraphicFramePr>
        <p:xfrm>
          <a:off x="4927600" y="2641600"/>
          <a:ext cx="914400" cy="198438"/>
        </p:xfrm>
        <a:graphic>
          <a:graphicData uri="http://schemas.openxmlformats.org/presentationml/2006/ole">
            <mc:AlternateContent xmlns:mc="http://schemas.openxmlformats.org/markup-compatibility/2006">
              <mc:Choice xmlns:v="urn:schemas-microsoft-com:vml" Requires="v">
                <p:oleObj name="Equation" r:id="rId12" imgW="914400" imgH="198720" progId="Equation.DSMT4">
                  <p:embed/>
                </p:oleObj>
              </mc:Choice>
              <mc:Fallback>
                <p:oleObj name="Equation" r:id="rId12" imgW="914400" imgH="198720" progId="Equation.DSMT4">
                  <p:embed/>
                  <p:pic>
                    <p:nvPicPr>
                      <p:cNvPr id="37" name="对象 36">
                        <a:extLst>
                          <a:ext uri="{FF2B5EF4-FFF2-40B4-BE49-F238E27FC236}">
                            <a16:creationId xmlns:a16="http://schemas.microsoft.com/office/drawing/2014/main" id="{DDE654C6-808F-924A-9322-30684F5C7110}"/>
                          </a:ext>
                        </a:extLst>
                      </p:cNvPr>
                      <p:cNvPicPr/>
                      <p:nvPr/>
                    </p:nvPicPr>
                    <p:blipFill>
                      <a:blip r:embed="rId13"/>
                      <a:stretch>
                        <a:fillRect/>
                      </a:stretch>
                    </p:blipFill>
                    <p:spPr>
                      <a:xfrm>
                        <a:off x="4927600" y="2641600"/>
                        <a:ext cx="914400" cy="198438"/>
                      </a:xfrm>
                      <a:prstGeom prst="rect">
                        <a:avLst/>
                      </a:prstGeom>
                    </p:spPr>
                  </p:pic>
                </p:oleObj>
              </mc:Fallback>
            </mc:AlternateContent>
          </a:graphicData>
        </a:graphic>
      </p:graphicFrame>
      <p:graphicFrame>
        <p:nvGraphicFramePr>
          <p:cNvPr id="40" name="对象 39">
            <a:extLst>
              <a:ext uri="{FF2B5EF4-FFF2-40B4-BE49-F238E27FC236}">
                <a16:creationId xmlns:a16="http://schemas.microsoft.com/office/drawing/2014/main" id="{633843B1-4A8A-CABC-AFA2-12FC3DE76C0C}"/>
              </a:ext>
            </a:extLst>
          </p:cNvPr>
          <p:cNvGraphicFramePr>
            <a:graphicFrameLocks noChangeAspect="1"/>
          </p:cNvGraphicFramePr>
          <p:nvPr>
            <p:extLst>
              <p:ext uri="{D42A27DB-BD31-4B8C-83A1-F6EECF244321}">
                <p14:modId xmlns:p14="http://schemas.microsoft.com/office/powerpoint/2010/main" val="1151752999"/>
              </p:ext>
            </p:extLst>
          </p:nvPr>
        </p:nvGraphicFramePr>
        <p:xfrm>
          <a:off x="3119120" y="5918822"/>
          <a:ext cx="5597237" cy="612257"/>
        </p:xfrm>
        <a:graphic>
          <a:graphicData uri="http://schemas.openxmlformats.org/presentationml/2006/ole">
            <mc:AlternateContent xmlns:mc="http://schemas.openxmlformats.org/markup-compatibility/2006">
              <mc:Choice xmlns:v="urn:schemas-microsoft-com:vml" Requires="v">
                <p:oleObj name="Equation" r:id="rId14" imgW="2351353" imgH="257049" progId="Equation.DSMT4">
                  <p:embed/>
                </p:oleObj>
              </mc:Choice>
              <mc:Fallback>
                <p:oleObj name="Equation" r:id="rId14" imgW="2351353" imgH="257049" progId="Equation.DSMT4">
                  <p:embed/>
                  <p:pic>
                    <p:nvPicPr>
                      <p:cNvPr id="40" name="对象 39">
                        <a:extLst>
                          <a:ext uri="{FF2B5EF4-FFF2-40B4-BE49-F238E27FC236}">
                            <a16:creationId xmlns:a16="http://schemas.microsoft.com/office/drawing/2014/main" id="{633843B1-4A8A-CABC-AFA2-12FC3DE76C0C}"/>
                          </a:ext>
                        </a:extLst>
                      </p:cNvPr>
                      <p:cNvPicPr/>
                      <p:nvPr/>
                    </p:nvPicPr>
                    <p:blipFill>
                      <a:blip r:embed="rId15"/>
                      <a:stretch>
                        <a:fillRect/>
                      </a:stretch>
                    </p:blipFill>
                    <p:spPr>
                      <a:xfrm>
                        <a:off x="3119120" y="5918822"/>
                        <a:ext cx="5597237" cy="612257"/>
                      </a:xfrm>
                      <a:prstGeom prst="rect">
                        <a:avLst/>
                      </a:prstGeom>
                    </p:spPr>
                  </p:pic>
                </p:oleObj>
              </mc:Fallback>
            </mc:AlternateContent>
          </a:graphicData>
        </a:graphic>
      </p:graphicFrame>
      <p:graphicFrame>
        <p:nvGraphicFramePr>
          <p:cNvPr id="43" name="对象 42">
            <a:extLst>
              <a:ext uri="{FF2B5EF4-FFF2-40B4-BE49-F238E27FC236}">
                <a16:creationId xmlns:a16="http://schemas.microsoft.com/office/drawing/2014/main" id="{D87BE3A6-F22F-CDC5-495B-11361B4A1B19}"/>
              </a:ext>
            </a:extLst>
          </p:cNvPr>
          <p:cNvGraphicFramePr>
            <a:graphicFrameLocks noChangeAspect="1"/>
          </p:cNvGraphicFramePr>
          <p:nvPr>
            <p:extLst>
              <p:ext uri="{D42A27DB-BD31-4B8C-83A1-F6EECF244321}">
                <p14:modId xmlns:p14="http://schemas.microsoft.com/office/powerpoint/2010/main" val="3488447193"/>
              </p:ext>
            </p:extLst>
          </p:nvPr>
        </p:nvGraphicFramePr>
        <p:xfrm>
          <a:off x="3031651" y="5259580"/>
          <a:ext cx="737079" cy="585327"/>
        </p:xfrm>
        <a:graphic>
          <a:graphicData uri="http://schemas.openxmlformats.org/presentationml/2006/ole">
            <mc:AlternateContent xmlns:mc="http://schemas.openxmlformats.org/markup-compatibility/2006">
              <mc:Choice xmlns:v="urn:schemas-microsoft-com:vml" Requires="v">
                <p:oleObj name="Equation" r:id="rId16" imgW="323828" imgH="257049" progId="Equation.DSMT4">
                  <p:embed/>
                </p:oleObj>
              </mc:Choice>
              <mc:Fallback>
                <p:oleObj name="Equation" r:id="rId16" imgW="323828" imgH="257049" progId="Equation.DSMT4">
                  <p:embed/>
                  <p:pic>
                    <p:nvPicPr>
                      <p:cNvPr id="43" name="对象 42">
                        <a:extLst>
                          <a:ext uri="{FF2B5EF4-FFF2-40B4-BE49-F238E27FC236}">
                            <a16:creationId xmlns:a16="http://schemas.microsoft.com/office/drawing/2014/main" id="{D87BE3A6-F22F-CDC5-495B-11361B4A1B19}"/>
                          </a:ext>
                        </a:extLst>
                      </p:cNvPr>
                      <p:cNvPicPr/>
                      <p:nvPr/>
                    </p:nvPicPr>
                    <p:blipFill>
                      <a:blip r:embed="rId17"/>
                      <a:stretch>
                        <a:fillRect/>
                      </a:stretch>
                    </p:blipFill>
                    <p:spPr>
                      <a:xfrm>
                        <a:off x="3031651" y="5259580"/>
                        <a:ext cx="737079" cy="585327"/>
                      </a:xfrm>
                      <a:prstGeom prst="rect">
                        <a:avLst/>
                      </a:prstGeom>
                    </p:spPr>
                  </p:pic>
                </p:oleObj>
              </mc:Fallback>
            </mc:AlternateContent>
          </a:graphicData>
        </a:graphic>
      </p:graphicFrame>
      <p:graphicFrame>
        <p:nvGraphicFramePr>
          <p:cNvPr id="44" name="对象 43">
            <a:extLst>
              <a:ext uri="{FF2B5EF4-FFF2-40B4-BE49-F238E27FC236}">
                <a16:creationId xmlns:a16="http://schemas.microsoft.com/office/drawing/2014/main" id="{864AAA8F-065A-9C9A-3268-FC52A677BC2F}"/>
              </a:ext>
            </a:extLst>
          </p:cNvPr>
          <p:cNvGraphicFramePr>
            <a:graphicFrameLocks noChangeAspect="1"/>
          </p:cNvGraphicFramePr>
          <p:nvPr>
            <p:extLst>
              <p:ext uri="{D42A27DB-BD31-4B8C-83A1-F6EECF244321}">
                <p14:modId xmlns:p14="http://schemas.microsoft.com/office/powerpoint/2010/main" val="2161173810"/>
              </p:ext>
            </p:extLst>
          </p:nvPr>
        </p:nvGraphicFramePr>
        <p:xfrm>
          <a:off x="968938" y="2851643"/>
          <a:ext cx="358345" cy="483766"/>
        </p:xfrm>
        <a:graphic>
          <a:graphicData uri="http://schemas.openxmlformats.org/presentationml/2006/ole">
            <mc:AlternateContent xmlns:mc="http://schemas.openxmlformats.org/markup-compatibility/2006">
              <mc:Choice xmlns:v="urn:schemas-microsoft-com:vml" Requires="v">
                <p:oleObj name="Equation" r:id="rId18" imgW="190339" imgH="257049" progId="Equation.DSMT4">
                  <p:embed/>
                </p:oleObj>
              </mc:Choice>
              <mc:Fallback>
                <p:oleObj name="Equation" r:id="rId18" imgW="190339" imgH="257049" progId="Equation.DSMT4">
                  <p:embed/>
                  <p:pic>
                    <p:nvPicPr>
                      <p:cNvPr id="44" name="对象 43">
                        <a:extLst>
                          <a:ext uri="{FF2B5EF4-FFF2-40B4-BE49-F238E27FC236}">
                            <a16:creationId xmlns:a16="http://schemas.microsoft.com/office/drawing/2014/main" id="{864AAA8F-065A-9C9A-3268-FC52A677BC2F}"/>
                          </a:ext>
                        </a:extLst>
                      </p:cNvPr>
                      <p:cNvPicPr/>
                      <p:nvPr/>
                    </p:nvPicPr>
                    <p:blipFill>
                      <a:blip r:embed="rId19"/>
                      <a:stretch>
                        <a:fillRect/>
                      </a:stretch>
                    </p:blipFill>
                    <p:spPr>
                      <a:xfrm>
                        <a:off x="968938" y="2851643"/>
                        <a:ext cx="358345" cy="483766"/>
                      </a:xfrm>
                      <a:prstGeom prst="rect">
                        <a:avLst/>
                      </a:prstGeom>
                    </p:spPr>
                  </p:pic>
                </p:oleObj>
              </mc:Fallback>
            </mc:AlternateContent>
          </a:graphicData>
        </a:graphic>
      </p:graphicFrame>
      <p:graphicFrame>
        <p:nvGraphicFramePr>
          <p:cNvPr id="47" name="对象 46">
            <a:extLst>
              <a:ext uri="{FF2B5EF4-FFF2-40B4-BE49-F238E27FC236}">
                <a16:creationId xmlns:a16="http://schemas.microsoft.com/office/drawing/2014/main" id="{521F991C-5E6D-6892-B825-D1300A128195}"/>
              </a:ext>
            </a:extLst>
          </p:cNvPr>
          <p:cNvGraphicFramePr>
            <a:graphicFrameLocks noChangeAspect="1"/>
          </p:cNvGraphicFramePr>
          <p:nvPr>
            <p:extLst>
              <p:ext uri="{D42A27DB-BD31-4B8C-83A1-F6EECF244321}">
                <p14:modId xmlns:p14="http://schemas.microsoft.com/office/powerpoint/2010/main" val="2884178156"/>
              </p:ext>
            </p:extLst>
          </p:nvPr>
        </p:nvGraphicFramePr>
        <p:xfrm>
          <a:off x="3119120" y="4691581"/>
          <a:ext cx="320675" cy="45719"/>
        </p:xfrm>
        <a:graphic>
          <a:graphicData uri="http://schemas.openxmlformats.org/presentationml/2006/ole">
            <mc:AlternateContent xmlns:mc="http://schemas.openxmlformats.org/markup-compatibility/2006">
              <mc:Choice xmlns:v="urn:schemas-microsoft-com:vml" Requires="v">
                <p:oleObj name="Equation" r:id="rId20" imgW="355292" imgH="253780" progId="Equation.DSMT4">
                  <p:embed/>
                </p:oleObj>
              </mc:Choice>
              <mc:Fallback>
                <p:oleObj name="Equation" r:id="rId20" imgW="355292" imgH="253780" progId="Equation.DSMT4">
                  <p:embed/>
                  <p:pic>
                    <p:nvPicPr>
                      <p:cNvPr id="47" name="对象 46">
                        <a:extLst>
                          <a:ext uri="{FF2B5EF4-FFF2-40B4-BE49-F238E27FC236}">
                            <a16:creationId xmlns:a16="http://schemas.microsoft.com/office/drawing/2014/main" id="{521F991C-5E6D-6892-B825-D1300A128195}"/>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119120" y="4691581"/>
                        <a:ext cx="320675" cy="45719"/>
                      </a:xfrm>
                      <a:prstGeom prst="rect">
                        <a:avLst/>
                      </a:prstGeom>
                      <a:noFill/>
                    </p:spPr>
                  </p:pic>
                </p:oleObj>
              </mc:Fallback>
            </mc:AlternateContent>
          </a:graphicData>
        </a:graphic>
      </p:graphicFrame>
      <p:sp>
        <p:nvSpPr>
          <p:cNvPr id="51" name="文本框 50">
            <a:extLst>
              <a:ext uri="{FF2B5EF4-FFF2-40B4-BE49-F238E27FC236}">
                <a16:creationId xmlns:a16="http://schemas.microsoft.com/office/drawing/2014/main" id="{90CF69BC-20C0-7A5F-2EC3-84DF37639052}"/>
              </a:ext>
            </a:extLst>
          </p:cNvPr>
          <p:cNvSpPr txBox="1"/>
          <p:nvPr/>
        </p:nvSpPr>
        <p:spPr>
          <a:xfrm>
            <a:off x="844505" y="5306210"/>
            <a:ext cx="11180648" cy="646331"/>
          </a:xfrm>
          <a:prstGeom prst="rect">
            <a:avLst/>
          </a:prstGeom>
          <a:noFill/>
        </p:spPr>
        <p:txBody>
          <a:bodyPr wrap="square">
            <a:spAutoFit/>
          </a:bodyPr>
          <a:lstStyle/>
          <a:p>
            <a:pPr indent="266700" algn="just" fontAlgn="ctr">
              <a:buNone/>
            </a:pPr>
            <a:r>
              <a:rPr lang="zh-CN" altLang="zh-CN" sz="1800" kern="100" dirty="0">
                <a:effectLst/>
                <a:latin typeface="Times New Roman" panose="02020603050405020304" pitchFamily="18" charset="0"/>
                <a:ea typeface="宋体" panose="02010600030101010101" pitchFamily="2" charset="-122"/>
              </a:rPr>
              <a:t>当为非线性函数时</a:t>
            </a:r>
            <a:r>
              <a:rPr lang="en-US" altLang="zh-CN" sz="1800" kern="100" dirty="0">
                <a:effectLst/>
                <a:latin typeface="Times New Roman" panose="02020603050405020304" pitchFamily="18" charset="0"/>
                <a:ea typeface="宋体" panose="02010600030101010101" pitchFamily="2" charset="-122"/>
              </a:rPr>
              <a:t>       </a:t>
            </a:r>
            <a:r>
              <a:rPr lang="en-US" altLang="zh-CN" kern="100" dirty="0">
                <a:latin typeface="Times New Roman" panose="02020603050405020304" pitchFamily="18" charset="0"/>
                <a:ea typeface="宋体" panose="02010600030101010101" pitchFamily="2" charset="-122"/>
              </a:rPr>
              <a:t>   </a:t>
            </a:r>
            <a:r>
              <a:rPr lang="zh-CN" altLang="en-US" kern="100" dirty="0">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可以在的估值附近进行一阶泰勒展开（</a:t>
            </a:r>
            <a:r>
              <a:rPr lang="en-US" altLang="zh-CN" sz="1800" kern="100" dirty="0">
                <a:effectLst/>
                <a:latin typeface="Times New Roman" panose="02020603050405020304" pitchFamily="18" charset="0"/>
                <a:ea typeface="宋体" panose="02010600030101010101" pitchFamily="2" charset="-122"/>
              </a:rPr>
              <a:t>Taylor expansion</a:t>
            </a:r>
            <a:r>
              <a:rPr lang="zh-CN" altLang="zh-CN" sz="1800" kern="100" dirty="0">
                <a:effectLst/>
                <a:latin typeface="Times New Roman" panose="02020603050405020304" pitchFamily="18" charset="0"/>
                <a:ea typeface="宋体" panose="02010600030101010101" pitchFamily="2" charset="-122"/>
              </a:rPr>
              <a:t>），从而获得近似的线性方程：</a:t>
            </a:r>
          </a:p>
        </p:txBody>
      </p:sp>
      <p:graphicFrame>
        <p:nvGraphicFramePr>
          <p:cNvPr id="52" name="对象 51">
            <a:extLst>
              <a:ext uri="{FF2B5EF4-FFF2-40B4-BE49-F238E27FC236}">
                <a16:creationId xmlns:a16="http://schemas.microsoft.com/office/drawing/2014/main" id="{39809A2F-BF73-D60E-8372-498BFE3B8F41}"/>
              </a:ext>
            </a:extLst>
          </p:cNvPr>
          <p:cNvGraphicFramePr>
            <a:graphicFrameLocks noChangeAspect="1"/>
          </p:cNvGraphicFramePr>
          <p:nvPr>
            <p:extLst>
              <p:ext uri="{D42A27DB-BD31-4B8C-83A1-F6EECF244321}">
                <p14:modId xmlns:p14="http://schemas.microsoft.com/office/powerpoint/2010/main" val="3253958166"/>
              </p:ext>
            </p:extLst>
          </p:nvPr>
        </p:nvGraphicFramePr>
        <p:xfrm>
          <a:off x="3852809" y="2859997"/>
          <a:ext cx="378265" cy="510657"/>
        </p:xfrm>
        <a:graphic>
          <a:graphicData uri="http://schemas.openxmlformats.org/presentationml/2006/ole">
            <mc:AlternateContent xmlns:mc="http://schemas.openxmlformats.org/markup-compatibility/2006">
              <mc:Choice xmlns:v="urn:schemas-microsoft-com:vml" Requires="v">
                <p:oleObj name="Equation" r:id="rId22" imgW="190339" imgH="257049" progId="Equation.DSMT4">
                  <p:embed/>
                </p:oleObj>
              </mc:Choice>
              <mc:Fallback>
                <p:oleObj name="Equation" r:id="rId22" imgW="190339" imgH="257049" progId="Equation.DSMT4">
                  <p:embed/>
                  <p:pic>
                    <p:nvPicPr>
                      <p:cNvPr id="52" name="对象 51">
                        <a:extLst>
                          <a:ext uri="{FF2B5EF4-FFF2-40B4-BE49-F238E27FC236}">
                            <a16:creationId xmlns:a16="http://schemas.microsoft.com/office/drawing/2014/main" id="{39809A2F-BF73-D60E-8372-498BFE3B8F41}"/>
                          </a:ext>
                        </a:extLst>
                      </p:cNvPr>
                      <p:cNvPicPr/>
                      <p:nvPr/>
                    </p:nvPicPr>
                    <p:blipFill>
                      <a:blip r:embed="rId23"/>
                      <a:stretch>
                        <a:fillRect/>
                      </a:stretch>
                    </p:blipFill>
                    <p:spPr>
                      <a:xfrm>
                        <a:off x="3852809" y="2859997"/>
                        <a:ext cx="378265" cy="510657"/>
                      </a:xfrm>
                      <a:prstGeom prst="rect">
                        <a:avLst/>
                      </a:prstGeom>
                    </p:spPr>
                  </p:pic>
                </p:oleObj>
              </mc:Fallback>
            </mc:AlternateContent>
          </a:graphicData>
        </a:graphic>
      </p:graphicFrame>
      <p:graphicFrame>
        <p:nvGraphicFramePr>
          <p:cNvPr id="53" name="对象 52">
            <a:extLst>
              <a:ext uri="{FF2B5EF4-FFF2-40B4-BE49-F238E27FC236}">
                <a16:creationId xmlns:a16="http://schemas.microsoft.com/office/drawing/2014/main" id="{F26D8888-9AD1-B257-AD88-4F8442269FBA}"/>
              </a:ext>
            </a:extLst>
          </p:cNvPr>
          <p:cNvGraphicFramePr>
            <a:graphicFrameLocks noChangeAspect="1"/>
          </p:cNvGraphicFramePr>
          <p:nvPr>
            <p:extLst>
              <p:ext uri="{D42A27DB-BD31-4B8C-83A1-F6EECF244321}">
                <p14:modId xmlns:p14="http://schemas.microsoft.com/office/powerpoint/2010/main" val="1846175295"/>
              </p:ext>
            </p:extLst>
          </p:nvPr>
        </p:nvGraphicFramePr>
        <p:xfrm>
          <a:off x="5354629" y="2922356"/>
          <a:ext cx="669926" cy="394074"/>
        </p:xfrm>
        <a:graphic>
          <a:graphicData uri="http://schemas.openxmlformats.org/presentationml/2006/ole">
            <mc:AlternateContent xmlns:mc="http://schemas.openxmlformats.org/markup-compatibility/2006">
              <mc:Choice xmlns:v="urn:schemas-microsoft-com:vml" Requires="v">
                <p:oleObj name="Equation" r:id="rId24" imgW="323828" imgH="190447" progId="Equation.DSMT4">
                  <p:embed/>
                </p:oleObj>
              </mc:Choice>
              <mc:Fallback>
                <p:oleObj name="Equation" r:id="rId24" imgW="323828" imgH="190447" progId="Equation.DSMT4">
                  <p:embed/>
                  <p:pic>
                    <p:nvPicPr>
                      <p:cNvPr id="53" name="对象 52">
                        <a:extLst>
                          <a:ext uri="{FF2B5EF4-FFF2-40B4-BE49-F238E27FC236}">
                            <a16:creationId xmlns:a16="http://schemas.microsoft.com/office/drawing/2014/main" id="{F26D8888-9AD1-B257-AD88-4F8442269FBA}"/>
                          </a:ext>
                        </a:extLst>
                      </p:cNvPr>
                      <p:cNvPicPr/>
                      <p:nvPr/>
                    </p:nvPicPr>
                    <p:blipFill>
                      <a:blip r:embed="rId25"/>
                      <a:stretch>
                        <a:fillRect/>
                      </a:stretch>
                    </p:blipFill>
                    <p:spPr>
                      <a:xfrm>
                        <a:off x="5354629" y="2922356"/>
                        <a:ext cx="669926" cy="394074"/>
                      </a:xfrm>
                      <a:prstGeom prst="rect">
                        <a:avLst/>
                      </a:prstGeom>
                    </p:spPr>
                  </p:pic>
                </p:oleObj>
              </mc:Fallback>
            </mc:AlternateContent>
          </a:graphicData>
        </a:graphic>
      </p:graphicFrame>
      <p:graphicFrame>
        <p:nvGraphicFramePr>
          <p:cNvPr id="54" name="对象 53">
            <a:extLst>
              <a:ext uri="{FF2B5EF4-FFF2-40B4-BE49-F238E27FC236}">
                <a16:creationId xmlns:a16="http://schemas.microsoft.com/office/drawing/2014/main" id="{4C74D03F-8C3A-EA15-3C98-9EBD67AB70EA}"/>
              </a:ext>
            </a:extLst>
          </p:cNvPr>
          <p:cNvGraphicFramePr>
            <a:graphicFrameLocks noChangeAspect="1"/>
          </p:cNvGraphicFramePr>
          <p:nvPr>
            <p:extLst>
              <p:ext uri="{D42A27DB-BD31-4B8C-83A1-F6EECF244321}">
                <p14:modId xmlns:p14="http://schemas.microsoft.com/office/powerpoint/2010/main" val="2688026175"/>
              </p:ext>
            </p:extLst>
          </p:nvPr>
        </p:nvGraphicFramePr>
        <p:xfrm>
          <a:off x="10540753" y="3531413"/>
          <a:ext cx="324659" cy="438290"/>
        </p:xfrm>
        <a:graphic>
          <a:graphicData uri="http://schemas.openxmlformats.org/presentationml/2006/ole">
            <mc:AlternateContent xmlns:mc="http://schemas.openxmlformats.org/markup-compatibility/2006">
              <mc:Choice xmlns:v="urn:schemas-microsoft-com:vml" Requires="v">
                <p:oleObj name="Equation" r:id="rId26" imgW="190339" imgH="257049" progId="Equation.DSMT4">
                  <p:embed/>
                </p:oleObj>
              </mc:Choice>
              <mc:Fallback>
                <p:oleObj name="Equation" r:id="rId26" imgW="190339" imgH="257049" progId="Equation.DSMT4">
                  <p:embed/>
                  <p:pic>
                    <p:nvPicPr>
                      <p:cNvPr id="54" name="对象 53">
                        <a:extLst>
                          <a:ext uri="{FF2B5EF4-FFF2-40B4-BE49-F238E27FC236}">
                            <a16:creationId xmlns:a16="http://schemas.microsoft.com/office/drawing/2014/main" id="{4C74D03F-8C3A-EA15-3C98-9EBD67AB70EA}"/>
                          </a:ext>
                        </a:extLst>
                      </p:cNvPr>
                      <p:cNvPicPr/>
                      <p:nvPr/>
                    </p:nvPicPr>
                    <p:blipFill>
                      <a:blip r:embed="rId27"/>
                      <a:stretch>
                        <a:fillRect/>
                      </a:stretch>
                    </p:blipFill>
                    <p:spPr>
                      <a:xfrm>
                        <a:off x="10540753" y="3531413"/>
                        <a:ext cx="324659" cy="438290"/>
                      </a:xfrm>
                      <a:prstGeom prst="rect">
                        <a:avLst/>
                      </a:prstGeom>
                    </p:spPr>
                  </p:pic>
                </p:oleObj>
              </mc:Fallback>
            </mc:AlternateContent>
          </a:graphicData>
        </a:graphic>
      </p:graphicFrame>
      <p:graphicFrame>
        <p:nvGraphicFramePr>
          <p:cNvPr id="55" name="对象 54">
            <a:extLst>
              <a:ext uri="{FF2B5EF4-FFF2-40B4-BE49-F238E27FC236}">
                <a16:creationId xmlns:a16="http://schemas.microsoft.com/office/drawing/2014/main" id="{AB1267FB-6F2D-D256-5059-42DCDAE6AD68}"/>
              </a:ext>
            </a:extLst>
          </p:cNvPr>
          <p:cNvGraphicFramePr>
            <a:graphicFrameLocks noChangeAspect="1"/>
          </p:cNvGraphicFramePr>
          <p:nvPr>
            <p:extLst>
              <p:ext uri="{D42A27DB-BD31-4B8C-83A1-F6EECF244321}">
                <p14:modId xmlns:p14="http://schemas.microsoft.com/office/powerpoint/2010/main" val="517805780"/>
              </p:ext>
            </p:extLst>
          </p:nvPr>
        </p:nvGraphicFramePr>
        <p:xfrm>
          <a:off x="1148110" y="4955765"/>
          <a:ext cx="318814" cy="318814"/>
        </p:xfrm>
        <a:graphic>
          <a:graphicData uri="http://schemas.openxmlformats.org/presentationml/2006/ole">
            <mc:AlternateContent xmlns:mc="http://schemas.openxmlformats.org/markup-compatibility/2006">
              <mc:Choice xmlns:v="urn:schemas-microsoft-com:vml" Requires="v">
                <p:oleObj name="Equation" r:id="rId28" imgW="256904" imgH="257049" progId="Equation.DSMT4">
                  <p:embed/>
                </p:oleObj>
              </mc:Choice>
              <mc:Fallback>
                <p:oleObj name="Equation" r:id="rId28" imgW="256904" imgH="257049" progId="Equation.DSMT4">
                  <p:embed/>
                  <p:pic>
                    <p:nvPicPr>
                      <p:cNvPr id="55" name="对象 54">
                        <a:extLst>
                          <a:ext uri="{FF2B5EF4-FFF2-40B4-BE49-F238E27FC236}">
                            <a16:creationId xmlns:a16="http://schemas.microsoft.com/office/drawing/2014/main" id="{AB1267FB-6F2D-D256-5059-42DCDAE6AD68}"/>
                          </a:ext>
                        </a:extLst>
                      </p:cNvPr>
                      <p:cNvPicPr/>
                      <p:nvPr/>
                    </p:nvPicPr>
                    <p:blipFill>
                      <a:blip r:embed="rId29"/>
                      <a:stretch>
                        <a:fillRect/>
                      </a:stretch>
                    </p:blipFill>
                    <p:spPr>
                      <a:xfrm>
                        <a:off x="1148110" y="4955765"/>
                        <a:ext cx="318814" cy="318814"/>
                      </a:xfrm>
                      <a:prstGeom prst="rect">
                        <a:avLst/>
                      </a:prstGeom>
                    </p:spPr>
                  </p:pic>
                </p:oleObj>
              </mc:Fallback>
            </mc:AlternateContent>
          </a:graphicData>
        </a:graphic>
      </p:graphicFrame>
      <p:sp>
        <p:nvSpPr>
          <p:cNvPr id="75" name="文本框 74">
            <a:extLst>
              <a:ext uri="{FF2B5EF4-FFF2-40B4-BE49-F238E27FC236}">
                <a16:creationId xmlns:a16="http://schemas.microsoft.com/office/drawing/2014/main" id="{5BFB961D-FD79-DC67-848B-925B8858BE24}"/>
              </a:ext>
            </a:extLst>
          </p:cNvPr>
          <p:cNvSpPr txBox="1"/>
          <p:nvPr/>
        </p:nvSpPr>
        <p:spPr>
          <a:xfrm>
            <a:off x="290516" y="2988176"/>
            <a:ext cx="10856421" cy="1200329"/>
          </a:xfrm>
          <a:prstGeom prst="rect">
            <a:avLst/>
          </a:prstGeom>
          <a:noFill/>
        </p:spPr>
        <p:txBody>
          <a:bodyPr wrap="square">
            <a:spAutoFit/>
          </a:bodyPr>
          <a:lstStyle/>
          <a:p>
            <a:pPr algn="just" fontAlgn="ctr">
              <a:buNone/>
            </a:pPr>
            <a:r>
              <a:rPr lang="zh-CN" altLang="zh-CN" sz="1800" kern="100" dirty="0">
                <a:effectLst/>
                <a:latin typeface="Times New Roman" panose="02020603050405020304" pitchFamily="18" charset="0"/>
                <a:ea typeface="宋体" panose="02010600030101010101" pitchFamily="2" charset="-122"/>
              </a:rPr>
              <a:t>其中，</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由平台</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的动力学特性决定，</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是平台</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在第</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个解算周期内进行航迹推算时所需要的参变量，</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称为平台</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的输入。对于在二维空间运动的平台，输入量可以是解算周期内平台的位移，由里程计提供。对于在三维空间运动的平台，输入量可以是解算周期内平台的角速度和加速度，由陀螺和加速度计提供。</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是系统噪声，假设是高斯白噪声，可记作：</a:t>
            </a:r>
          </a:p>
        </p:txBody>
      </p:sp>
      <p:graphicFrame>
        <p:nvGraphicFramePr>
          <p:cNvPr id="76" name="对象 75">
            <a:extLst>
              <a:ext uri="{FF2B5EF4-FFF2-40B4-BE49-F238E27FC236}">
                <a16:creationId xmlns:a16="http://schemas.microsoft.com/office/drawing/2014/main" id="{073EBFA2-C9C4-846C-80DF-F8DB939F9CA6}"/>
              </a:ext>
            </a:extLst>
          </p:cNvPr>
          <p:cNvGraphicFramePr>
            <a:graphicFrameLocks noChangeAspect="1"/>
          </p:cNvGraphicFramePr>
          <p:nvPr>
            <p:extLst>
              <p:ext uri="{D42A27DB-BD31-4B8C-83A1-F6EECF244321}">
                <p14:modId xmlns:p14="http://schemas.microsoft.com/office/powerpoint/2010/main" val="3306943496"/>
              </p:ext>
            </p:extLst>
          </p:nvPr>
        </p:nvGraphicFramePr>
        <p:xfrm>
          <a:off x="5340350" y="2657475"/>
          <a:ext cx="88900" cy="165100"/>
        </p:xfrm>
        <a:graphic>
          <a:graphicData uri="http://schemas.openxmlformats.org/presentationml/2006/ole">
            <mc:AlternateContent xmlns:mc="http://schemas.openxmlformats.org/markup-compatibility/2006">
              <mc:Choice xmlns:v="urn:schemas-microsoft-com:vml" Requires="v">
                <p:oleObj name="Equation" r:id="rId30" imgW="88560" imgH="164880" progId="Equation.DSMT4">
                  <p:embed/>
                </p:oleObj>
              </mc:Choice>
              <mc:Fallback>
                <p:oleObj name="Equation" r:id="rId30" imgW="88560" imgH="164880" progId="Equation.DSMT4">
                  <p:embed/>
                  <p:pic>
                    <p:nvPicPr>
                      <p:cNvPr id="76" name="对象 75">
                        <a:extLst>
                          <a:ext uri="{FF2B5EF4-FFF2-40B4-BE49-F238E27FC236}">
                            <a16:creationId xmlns:a16="http://schemas.microsoft.com/office/drawing/2014/main" id="{073EBFA2-C9C4-846C-80DF-F8DB939F9CA6}"/>
                          </a:ext>
                        </a:extLst>
                      </p:cNvPr>
                      <p:cNvPicPr/>
                      <p:nvPr/>
                    </p:nvPicPr>
                    <p:blipFill>
                      <a:blip r:embed="rId31"/>
                      <a:stretch>
                        <a:fillRect/>
                      </a:stretch>
                    </p:blipFill>
                    <p:spPr>
                      <a:xfrm>
                        <a:off x="5340350" y="2657475"/>
                        <a:ext cx="88900" cy="165100"/>
                      </a:xfrm>
                      <a:prstGeom prst="rect">
                        <a:avLst/>
                      </a:prstGeom>
                    </p:spPr>
                  </p:pic>
                </p:oleObj>
              </mc:Fallback>
            </mc:AlternateContent>
          </a:graphicData>
        </a:graphic>
      </p:graphicFrame>
      <p:graphicFrame>
        <p:nvGraphicFramePr>
          <p:cNvPr id="77" name="对象 76">
            <a:extLst>
              <a:ext uri="{FF2B5EF4-FFF2-40B4-BE49-F238E27FC236}">
                <a16:creationId xmlns:a16="http://schemas.microsoft.com/office/drawing/2014/main" id="{169D47BA-CD31-A8CD-9B4C-EFE41BF7518C}"/>
              </a:ext>
            </a:extLst>
          </p:cNvPr>
          <p:cNvGraphicFramePr>
            <a:graphicFrameLocks noChangeAspect="1"/>
          </p:cNvGraphicFramePr>
          <p:nvPr>
            <p:extLst>
              <p:ext uri="{D42A27DB-BD31-4B8C-83A1-F6EECF244321}">
                <p14:modId xmlns:p14="http://schemas.microsoft.com/office/powerpoint/2010/main" val="2956903728"/>
              </p:ext>
            </p:extLst>
          </p:nvPr>
        </p:nvGraphicFramePr>
        <p:xfrm>
          <a:off x="1806094" y="2944507"/>
          <a:ext cx="222355" cy="412945"/>
        </p:xfrm>
        <a:graphic>
          <a:graphicData uri="http://schemas.openxmlformats.org/presentationml/2006/ole">
            <mc:AlternateContent xmlns:mc="http://schemas.openxmlformats.org/markup-compatibility/2006">
              <mc:Choice xmlns:v="urn:schemas-microsoft-com:vml" Requires="v">
                <p:oleObj name="Equation" r:id="rId32" imgW="88560" imgH="164880" progId="Equation.DSMT4">
                  <p:embed/>
                </p:oleObj>
              </mc:Choice>
              <mc:Fallback>
                <p:oleObj name="Equation" r:id="rId32" imgW="88560" imgH="164880" progId="Equation.DSMT4">
                  <p:embed/>
                  <p:pic>
                    <p:nvPicPr>
                      <p:cNvPr id="77" name="对象 76">
                        <a:extLst>
                          <a:ext uri="{FF2B5EF4-FFF2-40B4-BE49-F238E27FC236}">
                            <a16:creationId xmlns:a16="http://schemas.microsoft.com/office/drawing/2014/main" id="{169D47BA-CD31-A8CD-9B4C-EFE41BF7518C}"/>
                          </a:ext>
                        </a:extLst>
                      </p:cNvPr>
                      <p:cNvPicPr/>
                      <p:nvPr/>
                    </p:nvPicPr>
                    <p:blipFill>
                      <a:blip r:embed="rId33"/>
                      <a:stretch>
                        <a:fillRect/>
                      </a:stretch>
                    </p:blipFill>
                    <p:spPr>
                      <a:xfrm>
                        <a:off x="1806094" y="2944507"/>
                        <a:ext cx="222355" cy="412945"/>
                      </a:xfrm>
                      <a:prstGeom prst="rect">
                        <a:avLst/>
                      </a:prstGeom>
                    </p:spPr>
                  </p:pic>
                </p:oleObj>
              </mc:Fallback>
            </mc:AlternateContent>
          </a:graphicData>
        </a:graphic>
      </p:graphicFrame>
      <p:graphicFrame>
        <p:nvGraphicFramePr>
          <p:cNvPr id="78" name="对象 77">
            <a:extLst>
              <a:ext uri="{FF2B5EF4-FFF2-40B4-BE49-F238E27FC236}">
                <a16:creationId xmlns:a16="http://schemas.microsoft.com/office/drawing/2014/main" id="{481703C1-27DC-D55B-E8E3-CEDC4F32357E}"/>
              </a:ext>
            </a:extLst>
          </p:cNvPr>
          <p:cNvGraphicFramePr>
            <a:graphicFrameLocks noChangeAspect="1"/>
          </p:cNvGraphicFramePr>
          <p:nvPr>
            <p:extLst>
              <p:ext uri="{D42A27DB-BD31-4B8C-83A1-F6EECF244321}">
                <p14:modId xmlns:p14="http://schemas.microsoft.com/office/powerpoint/2010/main" val="847431759"/>
              </p:ext>
            </p:extLst>
          </p:nvPr>
        </p:nvGraphicFramePr>
        <p:xfrm>
          <a:off x="4816475" y="2970946"/>
          <a:ext cx="222250" cy="412750"/>
        </p:xfrm>
        <a:graphic>
          <a:graphicData uri="http://schemas.openxmlformats.org/presentationml/2006/ole">
            <mc:AlternateContent xmlns:mc="http://schemas.openxmlformats.org/markup-compatibility/2006">
              <mc:Choice xmlns:v="urn:schemas-microsoft-com:vml" Requires="v">
                <p:oleObj name="Equation" r:id="rId34" imgW="222497" imgH="413295" progId="Equation.DSMT4">
                  <p:embed/>
                </p:oleObj>
              </mc:Choice>
              <mc:Fallback>
                <p:oleObj name="Equation" r:id="rId34" imgW="222497" imgH="413295" progId="Equation.DSMT4">
                  <p:embed/>
                  <p:pic>
                    <p:nvPicPr>
                      <p:cNvPr id="78" name="对象 77">
                        <a:extLst>
                          <a:ext uri="{FF2B5EF4-FFF2-40B4-BE49-F238E27FC236}">
                            <a16:creationId xmlns:a16="http://schemas.microsoft.com/office/drawing/2014/main" id="{481703C1-27DC-D55B-E8E3-CEDC4F32357E}"/>
                          </a:ext>
                        </a:extLst>
                      </p:cNvPr>
                      <p:cNvPicPr/>
                      <p:nvPr/>
                    </p:nvPicPr>
                    <p:blipFill>
                      <a:blip r:embed="rId35"/>
                      <a:stretch>
                        <a:fillRect/>
                      </a:stretch>
                    </p:blipFill>
                    <p:spPr>
                      <a:xfrm>
                        <a:off x="4816475" y="2970946"/>
                        <a:ext cx="222250" cy="412750"/>
                      </a:xfrm>
                      <a:prstGeom prst="rect">
                        <a:avLst/>
                      </a:prstGeom>
                    </p:spPr>
                  </p:pic>
                </p:oleObj>
              </mc:Fallback>
            </mc:AlternateContent>
          </a:graphicData>
        </a:graphic>
      </p:graphicFrame>
      <p:graphicFrame>
        <p:nvGraphicFramePr>
          <p:cNvPr id="79" name="对象 78">
            <a:extLst>
              <a:ext uri="{FF2B5EF4-FFF2-40B4-BE49-F238E27FC236}">
                <a16:creationId xmlns:a16="http://schemas.microsoft.com/office/drawing/2014/main" id="{82A4CDCD-8105-6214-EE4C-200DD78FB242}"/>
              </a:ext>
            </a:extLst>
          </p:cNvPr>
          <p:cNvGraphicFramePr>
            <a:graphicFrameLocks noChangeAspect="1"/>
          </p:cNvGraphicFramePr>
          <p:nvPr>
            <p:extLst>
              <p:ext uri="{D42A27DB-BD31-4B8C-83A1-F6EECF244321}">
                <p14:modId xmlns:p14="http://schemas.microsoft.com/office/powerpoint/2010/main" val="2391576355"/>
              </p:ext>
            </p:extLst>
          </p:nvPr>
        </p:nvGraphicFramePr>
        <p:xfrm>
          <a:off x="1036985" y="3245878"/>
          <a:ext cx="222250" cy="412750"/>
        </p:xfrm>
        <a:graphic>
          <a:graphicData uri="http://schemas.openxmlformats.org/presentationml/2006/ole">
            <mc:AlternateContent xmlns:mc="http://schemas.openxmlformats.org/markup-compatibility/2006">
              <mc:Choice xmlns:v="urn:schemas-microsoft-com:vml" Requires="v">
                <p:oleObj name="Equation" r:id="rId36" imgW="222497" imgH="413295" progId="Equation.DSMT4">
                  <p:embed/>
                </p:oleObj>
              </mc:Choice>
              <mc:Fallback>
                <p:oleObj name="Equation" r:id="rId36" imgW="222497" imgH="413295" progId="Equation.DSMT4">
                  <p:embed/>
                  <p:pic>
                    <p:nvPicPr>
                      <p:cNvPr id="79" name="对象 78">
                        <a:extLst>
                          <a:ext uri="{FF2B5EF4-FFF2-40B4-BE49-F238E27FC236}">
                            <a16:creationId xmlns:a16="http://schemas.microsoft.com/office/drawing/2014/main" id="{82A4CDCD-8105-6214-EE4C-200DD78FB242}"/>
                          </a:ext>
                        </a:extLst>
                      </p:cNvPr>
                      <p:cNvPicPr/>
                      <p:nvPr/>
                    </p:nvPicPr>
                    <p:blipFill>
                      <a:blip r:embed="rId37"/>
                      <a:stretch>
                        <a:fillRect/>
                      </a:stretch>
                    </p:blipFill>
                    <p:spPr>
                      <a:xfrm>
                        <a:off x="1036985" y="3245878"/>
                        <a:ext cx="222250" cy="412750"/>
                      </a:xfrm>
                      <a:prstGeom prst="rect">
                        <a:avLst/>
                      </a:prstGeom>
                    </p:spPr>
                  </p:pic>
                </p:oleObj>
              </mc:Fallback>
            </mc:AlternateContent>
          </a:graphicData>
        </a:graphic>
      </p:graphicFrame>
      <p:sp>
        <p:nvSpPr>
          <p:cNvPr id="84" name="文本框 83">
            <a:extLst>
              <a:ext uri="{FF2B5EF4-FFF2-40B4-BE49-F238E27FC236}">
                <a16:creationId xmlns:a16="http://schemas.microsoft.com/office/drawing/2014/main" id="{AB4FC7E0-AEAB-A0AA-47D9-E6771E52579E}"/>
              </a:ext>
            </a:extLst>
          </p:cNvPr>
          <p:cNvSpPr txBox="1"/>
          <p:nvPr/>
        </p:nvSpPr>
        <p:spPr>
          <a:xfrm>
            <a:off x="611574" y="4934119"/>
            <a:ext cx="7239000" cy="369332"/>
          </a:xfrm>
          <a:prstGeom prst="rect">
            <a:avLst/>
          </a:prstGeom>
          <a:noFill/>
        </p:spPr>
        <p:txBody>
          <a:bodyPr wrap="square">
            <a:spAutoFit/>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表示用均值和协方差刻画的高斯分布。</a:t>
            </a:r>
            <a:endParaRPr lang="zh-CN" altLang="en-US" dirty="0"/>
          </a:p>
        </p:txBody>
      </p:sp>
    </p:spTree>
    <p:extLst>
      <p:ext uri="{BB962C8B-B14F-4D97-AF65-F5344CB8AC3E}">
        <p14:creationId xmlns:p14="http://schemas.microsoft.com/office/powerpoint/2010/main" val="42303458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81DA15CE-C230-5BF1-17DA-C5A65EAEE785}"/>
              </a:ext>
            </a:extLst>
          </p:cNvPr>
          <p:cNvGraphicFramePr>
            <a:graphicFrameLocks noChangeAspect="1"/>
          </p:cNvGraphicFramePr>
          <p:nvPr>
            <p:extLst>
              <p:ext uri="{D42A27DB-BD31-4B8C-83A1-F6EECF244321}">
                <p14:modId xmlns:p14="http://schemas.microsoft.com/office/powerpoint/2010/main" val="979106026"/>
              </p:ext>
            </p:extLst>
          </p:nvPr>
        </p:nvGraphicFramePr>
        <p:xfrm>
          <a:off x="2673593" y="4901591"/>
          <a:ext cx="6614341" cy="778607"/>
        </p:xfrm>
        <a:graphic>
          <a:graphicData uri="http://schemas.openxmlformats.org/presentationml/2006/ole">
            <mc:AlternateContent xmlns:mc="http://schemas.openxmlformats.org/markup-compatibility/2006">
              <mc:Choice xmlns:v="urn:schemas-microsoft-com:vml" Requires="v">
                <p:oleObj name="Equation" r:id="rId2" imgW="2751101" imgH="324012" progId="Equation.DSMT4">
                  <p:embed/>
                </p:oleObj>
              </mc:Choice>
              <mc:Fallback>
                <p:oleObj name="Equation" r:id="rId2" imgW="2751101" imgH="324012" progId="Equation.DSMT4">
                  <p:embed/>
                  <p:pic>
                    <p:nvPicPr>
                      <p:cNvPr id="3" name="对象 2">
                        <a:extLst>
                          <a:ext uri="{FF2B5EF4-FFF2-40B4-BE49-F238E27FC236}">
                            <a16:creationId xmlns:a16="http://schemas.microsoft.com/office/drawing/2014/main" id="{81DA15CE-C230-5BF1-17DA-C5A65EAEE785}"/>
                          </a:ext>
                        </a:extLst>
                      </p:cNvPr>
                      <p:cNvPicPr/>
                      <p:nvPr/>
                    </p:nvPicPr>
                    <p:blipFill>
                      <a:blip r:embed="rId3"/>
                      <a:stretch>
                        <a:fillRect/>
                      </a:stretch>
                    </p:blipFill>
                    <p:spPr>
                      <a:xfrm>
                        <a:off x="2673593" y="4901591"/>
                        <a:ext cx="6614341" cy="778607"/>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8BFBA2B9-E437-E65F-BBDD-A5768FAB04B0}"/>
              </a:ext>
            </a:extLst>
          </p:cNvPr>
          <p:cNvGraphicFramePr>
            <a:graphicFrameLocks noChangeAspect="1"/>
          </p:cNvGraphicFramePr>
          <p:nvPr>
            <p:extLst>
              <p:ext uri="{D42A27DB-BD31-4B8C-83A1-F6EECF244321}">
                <p14:modId xmlns:p14="http://schemas.microsoft.com/office/powerpoint/2010/main" val="2783414991"/>
              </p:ext>
            </p:extLst>
          </p:nvPr>
        </p:nvGraphicFramePr>
        <p:xfrm>
          <a:off x="1117713" y="5680198"/>
          <a:ext cx="641634" cy="641634"/>
        </p:xfrm>
        <a:graphic>
          <a:graphicData uri="http://schemas.openxmlformats.org/presentationml/2006/ole">
            <mc:AlternateContent xmlns:mc="http://schemas.openxmlformats.org/markup-compatibility/2006">
              <mc:Choice xmlns:v="urn:schemas-microsoft-com:vml" Requires="v">
                <p:oleObj name="Equation" r:id="rId4" imgW="190339" imgH="190447" progId="Equation.DSMT4">
                  <p:embed/>
                </p:oleObj>
              </mc:Choice>
              <mc:Fallback>
                <p:oleObj name="Equation" r:id="rId4" imgW="190339" imgH="190447" progId="Equation.DSMT4">
                  <p:embed/>
                  <p:pic>
                    <p:nvPicPr>
                      <p:cNvPr id="4" name="对象 3">
                        <a:extLst>
                          <a:ext uri="{FF2B5EF4-FFF2-40B4-BE49-F238E27FC236}">
                            <a16:creationId xmlns:a16="http://schemas.microsoft.com/office/drawing/2014/main" id="{8BFBA2B9-E437-E65F-BBDD-A5768FAB04B0}"/>
                          </a:ext>
                        </a:extLst>
                      </p:cNvPr>
                      <p:cNvPicPr/>
                      <p:nvPr/>
                    </p:nvPicPr>
                    <p:blipFill>
                      <a:blip r:embed="rId5"/>
                      <a:stretch>
                        <a:fillRect/>
                      </a:stretch>
                    </p:blipFill>
                    <p:spPr>
                      <a:xfrm>
                        <a:off x="1117713" y="5680198"/>
                        <a:ext cx="641634" cy="641634"/>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0E582AA1-310A-39A7-A2B8-0F56573B3731}"/>
              </a:ext>
            </a:extLst>
          </p:cNvPr>
          <p:cNvGraphicFramePr>
            <a:graphicFrameLocks noChangeAspect="1"/>
          </p:cNvGraphicFramePr>
          <p:nvPr>
            <p:extLst>
              <p:ext uri="{D42A27DB-BD31-4B8C-83A1-F6EECF244321}">
                <p14:modId xmlns:p14="http://schemas.microsoft.com/office/powerpoint/2010/main" val="2814205593"/>
              </p:ext>
            </p:extLst>
          </p:nvPr>
        </p:nvGraphicFramePr>
        <p:xfrm>
          <a:off x="4132028" y="2444029"/>
          <a:ext cx="2928565" cy="1525294"/>
        </p:xfrm>
        <a:graphic>
          <a:graphicData uri="http://schemas.openxmlformats.org/presentationml/2006/ole">
            <mc:AlternateContent xmlns:mc="http://schemas.openxmlformats.org/markup-compatibility/2006">
              <mc:Choice xmlns:v="urn:schemas-microsoft-com:vml" Requires="v">
                <p:oleObj name="Equation" r:id="rId6" imgW="1370873" imgH="714266" progId="Equation.DSMT4">
                  <p:embed/>
                </p:oleObj>
              </mc:Choice>
              <mc:Fallback>
                <p:oleObj name="Equation" r:id="rId6" imgW="1370873" imgH="714266" progId="Equation.DSMT4">
                  <p:embed/>
                  <p:pic>
                    <p:nvPicPr>
                      <p:cNvPr id="5" name="对象 4">
                        <a:extLst>
                          <a:ext uri="{FF2B5EF4-FFF2-40B4-BE49-F238E27FC236}">
                            <a16:creationId xmlns:a16="http://schemas.microsoft.com/office/drawing/2014/main" id="{0E582AA1-310A-39A7-A2B8-0F56573B3731}"/>
                          </a:ext>
                        </a:extLst>
                      </p:cNvPr>
                      <p:cNvPicPr/>
                      <p:nvPr/>
                    </p:nvPicPr>
                    <p:blipFill>
                      <a:blip r:embed="rId7"/>
                      <a:stretch>
                        <a:fillRect/>
                      </a:stretch>
                    </p:blipFill>
                    <p:spPr>
                      <a:xfrm>
                        <a:off x="4132028" y="2444029"/>
                        <a:ext cx="2928565" cy="1525294"/>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295E8585-D1C9-7824-7A04-C81221524180}"/>
              </a:ext>
            </a:extLst>
          </p:cNvPr>
          <p:cNvGraphicFramePr>
            <a:graphicFrameLocks noChangeAspect="1"/>
          </p:cNvGraphicFramePr>
          <p:nvPr>
            <p:extLst>
              <p:ext uri="{D42A27DB-BD31-4B8C-83A1-F6EECF244321}">
                <p14:modId xmlns:p14="http://schemas.microsoft.com/office/powerpoint/2010/main" val="4107262869"/>
              </p:ext>
            </p:extLst>
          </p:nvPr>
        </p:nvGraphicFramePr>
        <p:xfrm>
          <a:off x="9992995" y="1523670"/>
          <a:ext cx="1103630" cy="363390"/>
        </p:xfrm>
        <a:graphic>
          <a:graphicData uri="http://schemas.openxmlformats.org/presentationml/2006/ole">
            <mc:AlternateContent xmlns:mc="http://schemas.openxmlformats.org/markup-compatibility/2006">
              <mc:Choice xmlns:v="urn:schemas-microsoft-com:vml" Requires="v">
                <p:oleObj name="Equation" r:id="rId8" imgW="780786" imgH="257049" progId="Equation.DSMT4">
                  <p:embed/>
                </p:oleObj>
              </mc:Choice>
              <mc:Fallback>
                <p:oleObj name="Equation" r:id="rId8" imgW="780786" imgH="257049" progId="Equation.DSMT4">
                  <p:embed/>
                  <p:pic>
                    <p:nvPicPr>
                      <p:cNvPr id="6" name="对象 5">
                        <a:extLst>
                          <a:ext uri="{FF2B5EF4-FFF2-40B4-BE49-F238E27FC236}">
                            <a16:creationId xmlns:a16="http://schemas.microsoft.com/office/drawing/2014/main" id="{295E8585-D1C9-7824-7A04-C81221524180}"/>
                          </a:ext>
                        </a:extLst>
                      </p:cNvPr>
                      <p:cNvPicPr/>
                      <p:nvPr/>
                    </p:nvPicPr>
                    <p:blipFill>
                      <a:blip r:embed="rId9"/>
                      <a:stretch>
                        <a:fillRect/>
                      </a:stretch>
                    </p:blipFill>
                    <p:spPr>
                      <a:xfrm>
                        <a:off x="9992995" y="1523670"/>
                        <a:ext cx="1103630" cy="36339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643D5CB1-4B89-7BBB-4005-5B80B5521553}"/>
              </a:ext>
            </a:extLst>
          </p:cNvPr>
          <p:cNvGraphicFramePr>
            <a:graphicFrameLocks noChangeAspect="1"/>
          </p:cNvGraphicFramePr>
          <p:nvPr>
            <p:extLst>
              <p:ext uri="{D42A27DB-BD31-4B8C-83A1-F6EECF244321}">
                <p14:modId xmlns:p14="http://schemas.microsoft.com/office/powerpoint/2010/main" val="1272131752"/>
              </p:ext>
            </p:extLst>
          </p:nvPr>
        </p:nvGraphicFramePr>
        <p:xfrm>
          <a:off x="1239935" y="3953854"/>
          <a:ext cx="397192" cy="611065"/>
        </p:xfrm>
        <a:graphic>
          <a:graphicData uri="http://schemas.openxmlformats.org/presentationml/2006/ole">
            <mc:AlternateContent xmlns:mc="http://schemas.openxmlformats.org/markup-compatibility/2006">
              <mc:Choice xmlns:v="urn:schemas-microsoft-com:vml" Requires="v">
                <p:oleObj name="Equation" r:id="rId10" imgW="123774" imgH="190447" progId="Equation.DSMT4">
                  <p:embed/>
                </p:oleObj>
              </mc:Choice>
              <mc:Fallback>
                <p:oleObj name="Equation" r:id="rId10" imgW="123774" imgH="190447" progId="Equation.DSMT4">
                  <p:embed/>
                  <p:pic>
                    <p:nvPicPr>
                      <p:cNvPr id="7" name="对象 6">
                        <a:extLst>
                          <a:ext uri="{FF2B5EF4-FFF2-40B4-BE49-F238E27FC236}">
                            <a16:creationId xmlns:a16="http://schemas.microsoft.com/office/drawing/2014/main" id="{643D5CB1-4B89-7BBB-4005-5B80B5521553}"/>
                          </a:ext>
                        </a:extLst>
                      </p:cNvPr>
                      <p:cNvPicPr/>
                      <p:nvPr/>
                    </p:nvPicPr>
                    <p:blipFill>
                      <a:blip r:embed="rId11"/>
                      <a:stretch>
                        <a:fillRect/>
                      </a:stretch>
                    </p:blipFill>
                    <p:spPr>
                      <a:xfrm>
                        <a:off x="1239935" y="3953854"/>
                        <a:ext cx="397192" cy="611065"/>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FEFAADCB-4264-5BE3-FDC0-4CAAB3F6034D}"/>
              </a:ext>
            </a:extLst>
          </p:cNvPr>
          <p:cNvGraphicFramePr>
            <a:graphicFrameLocks noChangeAspect="1"/>
          </p:cNvGraphicFramePr>
          <p:nvPr>
            <p:extLst>
              <p:ext uri="{D42A27DB-BD31-4B8C-83A1-F6EECF244321}">
                <p14:modId xmlns:p14="http://schemas.microsoft.com/office/powerpoint/2010/main" val="3425083679"/>
              </p:ext>
            </p:extLst>
          </p:nvPr>
        </p:nvGraphicFramePr>
        <p:xfrm>
          <a:off x="9778331" y="1737348"/>
          <a:ext cx="286702" cy="532447"/>
        </p:xfrm>
        <a:graphic>
          <a:graphicData uri="http://schemas.openxmlformats.org/presentationml/2006/ole">
            <mc:AlternateContent xmlns:mc="http://schemas.openxmlformats.org/markup-compatibility/2006">
              <mc:Choice xmlns:v="urn:schemas-microsoft-com:vml" Requires="v">
                <p:oleObj name="Equation" r:id="rId12" imgW="66565" imgH="123844" progId="Equation.DSMT4">
                  <p:embed/>
                </p:oleObj>
              </mc:Choice>
              <mc:Fallback>
                <p:oleObj name="Equation" r:id="rId12" imgW="66565" imgH="123844" progId="Equation.DSMT4">
                  <p:embed/>
                  <p:pic>
                    <p:nvPicPr>
                      <p:cNvPr id="8" name="对象 7">
                        <a:extLst>
                          <a:ext uri="{FF2B5EF4-FFF2-40B4-BE49-F238E27FC236}">
                            <a16:creationId xmlns:a16="http://schemas.microsoft.com/office/drawing/2014/main" id="{FEFAADCB-4264-5BE3-FDC0-4CAAB3F6034D}"/>
                          </a:ext>
                        </a:extLst>
                      </p:cNvPr>
                      <p:cNvPicPr/>
                      <p:nvPr/>
                    </p:nvPicPr>
                    <p:blipFill>
                      <a:blip r:embed="rId13"/>
                      <a:stretch>
                        <a:fillRect/>
                      </a:stretch>
                    </p:blipFill>
                    <p:spPr>
                      <a:xfrm>
                        <a:off x="9778331" y="1737348"/>
                        <a:ext cx="286702" cy="532447"/>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E8505630-C5A7-8557-9835-8DB71163F27B}"/>
              </a:ext>
            </a:extLst>
          </p:cNvPr>
          <p:cNvGraphicFramePr>
            <a:graphicFrameLocks noChangeAspect="1"/>
          </p:cNvGraphicFramePr>
          <p:nvPr>
            <p:extLst>
              <p:ext uri="{D42A27DB-BD31-4B8C-83A1-F6EECF244321}">
                <p14:modId xmlns:p14="http://schemas.microsoft.com/office/powerpoint/2010/main" val="2050335344"/>
              </p:ext>
            </p:extLst>
          </p:nvPr>
        </p:nvGraphicFramePr>
        <p:xfrm>
          <a:off x="11879659" y="1490442"/>
          <a:ext cx="232244" cy="429845"/>
        </p:xfrm>
        <a:graphic>
          <a:graphicData uri="http://schemas.openxmlformats.org/presentationml/2006/ole">
            <mc:AlternateContent xmlns:mc="http://schemas.openxmlformats.org/markup-compatibility/2006">
              <mc:Choice xmlns:v="urn:schemas-microsoft-com:vml" Requires="v">
                <p:oleObj name="Equation" r:id="rId14" imgW="286581" imgH="532099" progId="Equation.DSMT4">
                  <p:embed/>
                </p:oleObj>
              </mc:Choice>
              <mc:Fallback>
                <p:oleObj name="Equation" r:id="rId14" imgW="286581" imgH="532099" progId="Equation.DSMT4">
                  <p:embed/>
                  <p:pic>
                    <p:nvPicPr>
                      <p:cNvPr id="9" name="对象 8">
                        <a:extLst>
                          <a:ext uri="{FF2B5EF4-FFF2-40B4-BE49-F238E27FC236}">
                            <a16:creationId xmlns:a16="http://schemas.microsoft.com/office/drawing/2014/main" id="{E8505630-C5A7-8557-9835-8DB71163F27B}"/>
                          </a:ext>
                        </a:extLst>
                      </p:cNvPr>
                      <p:cNvPicPr/>
                      <p:nvPr/>
                    </p:nvPicPr>
                    <p:blipFill>
                      <a:blip r:embed="rId15"/>
                      <a:stretch>
                        <a:fillRect/>
                      </a:stretch>
                    </p:blipFill>
                    <p:spPr>
                      <a:xfrm>
                        <a:off x="11879659" y="1490442"/>
                        <a:ext cx="232244" cy="42984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164D30E6-4C36-C092-1945-23664F430B86}"/>
              </a:ext>
            </a:extLst>
          </p:cNvPr>
          <p:cNvGraphicFramePr>
            <a:graphicFrameLocks noChangeAspect="1"/>
          </p:cNvGraphicFramePr>
          <p:nvPr>
            <p:extLst>
              <p:ext uri="{D42A27DB-BD31-4B8C-83A1-F6EECF244321}">
                <p14:modId xmlns:p14="http://schemas.microsoft.com/office/powerpoint/2010/main" val="4291862273"/>
              </p:ext>
            </p:extLst>
          </p:nvPr>
        </p:nvGraphicFramePr>
        <p:xfrm>
          <a:off x="4132028" y="4422166"/>
          <a:ext cx="515814" cy="429845"/>
        </p:xfrm>
        <a:graphic>
          <a:graphicData uri="http://schemas.openxmlformats.org/presentationml/2006/ole">
            <mc:AlternateContent xmlns:mc="http://schemas.openxmlformats.org/markup-compatibility/2006">
              <mc:Choice xmlns:v="urn:schemas-microsoft-com:vml" Requires="v">
                <p:oleObj name="Equation" r:id="rId16" imgW="228479" imgH="190447" progId="Equation.DSMT4">
                  <p:embed/>
                </p:oleObj>
              </mc:Choice>
              <mc:Fallback>
                <p:oleObj name="Equation" r:id="rId16" imgW="228479" imgH="190447" progId="Equation.DSMT4">
                  <p:embed/>
                  <p:pic>
                    <p:nvPicPr>
                      <p:cNvPr id="10" name="对象 9">
                        <a:extLst>
                          <a:ext uri="{FF2B5EF4-FFF2-40B4-BE49-F238E27FC236}">
                            <a16:creationId xmlns:a16="http://schemas.microsoft.com/office/drawing/2014/main" id="{164D30E6-4C36-C092-1945-23664F430B86}"/>
                          </a:ext>
                        </a:extLst>
                      </p:cNvPr>
                      <p:cNvPicPr/>
                      <p:nvPr/>
                    </p:nvPicPr>
                    <p:blipFill>
                      <a:blip r:embed="rId17"/>
                      <a:stretch>
                        <a:fillRect/>
                      </a:stretch>
                    </p:blipFill>
                    <p:spPr>
                      <a:xfrm>
                        <a:off x="4132028" y="4422166"/>
                        <a:ext cx="515814" cy="429845"/>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66938308-B46C-7EEE-3A3E-058F48C05D85}"/>
              </a:ext>
            </a:extLst>
          </p:cNvPr>
          <p:cNvGraphicFramePr>
            <a:graphicFrameLocks noChangeAspect="1"/>
          </p:cNvGraphicFramePr>
          <p:nvPr>
            <p:extLst>
              <p:ext uri="{D42A27DB-BD31-4B8C-83A1-F6EECF244321}">
                <p14:modId xmlns:p14="http://schemas.microsoft.com/office/powerpoint/2010/main" val="2239044273"/>
              </p:ext>
            </p:extLst>
          </p:nvPr>
        </p:nvGraphicFramePr>
        <p:xfrm>
          <a:off x="2342078" y="4393193"/>
          <a:ext cx="331515" cy="510024"/>
        </p:xfrm>
        <a:graphic>
          <a:graphicData uri="http://schemas.openxmlformats.org/presentationml/2006/ole">
            <mc:AlternateContent xmlns:mc="http://schemas.openxmlformats.org/markup-compatibility/2006">
              <mc:Choice xmlns:v="urn:schemas-microsoft-com:vml" Requires="v">
                <p:oleObj name="Equation" r:id="rId18" imgW="123774" imgH="190447" progId="Equation.DSMT4">
                  <p:embed/>
                </p:oleObj>
              </mc:Choice>
              <mc:Fallback>
                <p:oleObj name="Equation" r:id="rId18" imgW="123774" imgH="190447" progId="Equation.DSMT4">
                  <p:embed/>
                  <p:pic>
                    <p:nvPicPr>
                      <p:cNvPr id="11" name="对象 10">
                        <a:extLst>
                          <a:ext uri="{FF2B5EF4-FFF2-40B4-BE49-F238E27FC236}">
                            <a16:creationId xmlns:a16="http://schemas.microsoft.com/office/drawing/2014/main" id="{66938308-B46C-7EEE-3A3E-058F48C05D85}"/>
                          </a:ext>
                        </a:extLst>
                      </p:cNvPr>
                      <p:cNvPicPr/>
                      <p:nvPr/>
                    </p:nvPicPr>
                    <p:blipFill>
                      <a:blip r:embed="rId19"/>
                      <a:stretch>
                        <a:fillRect/>
                      </a:stretch>
                    </p:blipFill>
                    <p:spPr>
                      <a:xfrm>
                        <a:off x="2342078" y="4393193"/>
                        <a:ext cx="331515" cy="510024"/>
                      </a:xfrm>
                      <a:prstGeom prst="rect">
                        <a:avLst/>
                      </a:prstGeom>
                    </p:spPr>
                  </p:pic>
                </p:oleObj>
              </mc:Fallback>
            </mc:AlternateContent>
          </a:graphicData>
        </a:graphic>
      </p:graphicFrame>
      <p:sp>
        <p:nvSpPr>
          <p:cNvPr id="14" name="文本框 13">
            <a:extLst>
              <a:ext uri="{FF2B5EF4-FFF2-40B4-BE49-F238E27FC236}">
                <a16:creationId xmlns:a16="http://schemas.microsoft.com/office/drawing/2014/main" id="{588A0D12-19E5-81F5-41D0-DAEA9B77970C}"/>
              </a:ext>
            </a:extLst>
          </p:cNvPr>
          <p:cNvSpPr txBox="1"/>
          <p:nvPr/>
        </p:nvSpPr>
        <p:spPr>
          <a:xfrm>
            <a:off x="534984" y="966701"/>
            <a:ext cx="11460797" cy="1477328"/>
          </a:xfrm>
          <a:prstGeom prst="rect">
            <a:avLst/>
          </a:prstGeom>
          <a:noFill/>
        </p:spPr>
        <p:txBody>
          <a:bodyPr wrap="square">
            <a:spAutoFit/>
          </a:bodyPr>
          <a:lstStyle/>
          <a:p>
            <a:pPr indent="266700" algn="just" fontAlgn="ctr">
              <a:buNone/>
            </a:pPr>
            <a:r>
              <a:rPr lang="zh-CN" altLang="zh-CN" sz="1800" kern="100" dirty="0">
                <a:effectLst/>
                <a:latin typeface="Times New Roman" panose="02020603050405020304" pitchFamily="18" charset="0"/>
                <a:ea typeface="宋体" panose="02010600030101010101" pitchFamily="2" charset="-122"/>
              </a:rPr>
              <a:t>在协同导航系统中，平台之间的每个相对观测涉及两个平台，称为平台间观测。常见的平台间观测有平台间距离和相对方位。</a:t>
            </a:r>
          </a:p>
          <a:p>
            <a:pPr indent="266700" algn="just" fontAlgn="ctr">
              <a:buNone/>
            </a:pPr>
            <a:r>
              <a:rPr lang="zh-CN" altLang="zh-CN" sz="1800" kern="100" dirty="0">
                <a:effectLst/>
                <a:latin typeface="Times New Roman" panose="02020603050405020304" pitchFamily="18" charset="0"/>
                <a:ea typeface="宋体" panose="02010600030101010101" pitchFamily="2" charset="-122"/>
              </a:rPr>
              <a:t>考虑一个多机器人协同定位的例子。设每个机器人的状态由其三维笛卡尔位置坐标描述，即</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a:t>
            </a:r>
            <a:r>
              <a:rPr lang="zh-CN" altLang="en-US" kern="100" dirty="0">
                <a:latin typeface="Times New Roman" panose="02020603050405020304" pitchFamily="18" charset="0"/>
                <a:ea typeface="宋体" panose="02010600030101010101" pitchFamily="2" charset="-122"/>
              </a:rPr>
              <a:t>机器人</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装备有卫星导航系统和测距仪。将卫星导航系统的位置输出转换为笛卡尔坐标作为对机器人</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的状态的观测，得到对应的观测方程</a:t>
            </a:r>
            <a:r>
              <a:rPr lang="zh-CN" altLang="en-US" sz="1800" kern="100" dirty="0">
                <a:effectLst/>
                <a:latin typeface="Times New Roman" panose="02020603050405020304" pitchFamily="18" charset="0"/>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p:txBody>
      </p:sp>
      <p:sp>
        <p:nvSpPr>
          <p:cNvPr id="17" name="文本框 16">
            <a:extLst>
              <a:ext uri="{FF2B5EF4-FFF2-40B4-BE49-F238E27FC236}">
                <a16:creationId xmlns:a16="http://schemas.microsoft.com/office/drawing/2014/main" id="{2DEC75A0-4E89-6CFB-5D7F-4160AEAAD450}"/>
              </a:ext>
            </a:extLst>
          </p:cNvPr>
          <p:cNvSpPr txBox="1"/>
          <p:nvPr/>
        </p:nvSpPr>
        <p:spPr>
          <a:xfrm>
            <a:off x="534984" y="4116364"/>
            <a:ext cx="7498080" cy="369332"/>
          </a:xfrm>
          <a:prstGeom prst="rect">
            <a:avLst/>
          </a:prstGeom>
          <a:noFill/>
        </p:spPr>
        <p:txBody>
          <a:bodyPr wrap="square">
            <a:spAutoFit/>
          </a:bodyPr>
          <a:lstStyle/>
          <a:p>
            <a:pPr algn="just" fontAlgn="ctr">
              <a:buNone/>
            </a:pPr>
            <a:r>
              <a:rPr lang="zh-CN" altLang="zh-CN" sz="1800" kern="100" dirty="0">
                <a:effectLst/>
                <a:latin typeface="Times New Roman" panose="02020603050405020304" pitchFamily="18" charset="0"/>
                <a:ea typeface="宋体" panose="02010600030101010101" pitchFamily="2" charset="-122"/>
              </a:rPr>
              <a:t>式中，</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是观测噪声。</a:t>
            </a:r>
          </a:p>
        </p:txBody>
      </p:sp>
      <p:sp>
        <p:nvSpPr>
          <p:cNvPr id="20" name="文本框 19">
            <a:extLst>
              <a:ext uri="{FF2B5EF4-FFF2-40B4-BE49-F238E27FC236}">
                <a16:creationId xmlns:a16="http://schemas.microsoft.com/office/drawing/2014/main" id="{7B7F6BC0-A810-0A97-4939-81FA783DD8F6}"/>
              </a:ext>
            </a:extLst>
          </p:cNvPr>
          <p:cNvSpPr txBox="1"/>
          <p:nvPr/>
        </p:nvSpPr>
        <p:spPr>
          <a:xfrm>
            <a:off x="261068" y="4482679"/>
            <a:ext cx="7498080" cy="369332"/>
          </a:xfrm>
          <a:prstGeom prst="rect">
            <a:avLst/>
          </a:prstGeom>
          <a:noFill/>
        </p:spPr>
        <p:txBody>
          <a:bodyPr wrap="square">
            <a:spAutoFit/>
          </a:bodyPr>
          <a:lstStyle/>
          <a:p>
            <a:pPr indent="266700" algn="just" fontAlgn="ctr">
              <a:buNone/>
            </a:pPr>
            <a:r>
              <a:rPr lang="zh-CN" altLang="zh-CN" sz="1800" kern="100" dirty="0">
                <a:effectLst/>
                <a:latin typeface="Times New Roman" panose="02020603050405020304" pitchFamily="18" charset="0"/>
                <a:ea typeface="宋体" panose="02010600030101010101" pitchFamily="2" charset="-122"/>
              </a:rPr>
              <a:t>机器人</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对机器人</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的距离观测记为</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，对应的观测方程为</a:t>
            </a:r>
          </a:p>
        </p:txBody>
      </p:sp>
      <p:graphicFrame>
        <p:nvGraphicFramePr>
          <p:cNvPr id="21" name="对象 20">
            <a:extLst>
              <a:ext uri="{FF2B5EF4-FFF2-40B4-BE49-F238E27FC236}">
                <a16:creationId xmlns:a16="http://schemas.microsoft.com/office/drawing/2014/main" id="{BCA00322-C131-7D27-2219-CC54F8D44FE5}"/>
              </a:ext>
            </a:extLst>
          </p:cNvPr>
          <p:cNvGraphicFramePr>
            <a:graphicFrameLocks noChangeAspect="1"/>
          </p:cNvGraphicFramePr>
          <p:nvPr>
            <p:extLst>
              <p:ext uri="{D42A27DB-BD31-4B8C-83A1-F6EECF244321}">
                <p14:modId xmlns:p14="http://schemas.microsoft.com/office/powerpoint/2010/main" val="291948162"/>
              </p:ext>
            </p:extLst>
          </p:nvPr>
        </p:nvGraphicFramePr>
        <p:xfrm>
          <a:off x="1322643" y="4433099"/>
          <a:ext cx="231775" cy="430213"/>
        </p:xfrm>
        <a:graphic>
          <a:graphicData uri="http://schemas.openxmlformats.org/presentationml/2006/ole">
            <mc:AlternateContent xmlns:mc="http://schemas.openxmlformats.org/markup-compatibility/2006">
              <mc:Choice xmlns:v="urn:schemas-microsoft-com:vml" Requires="v">
                <p:oleObj name="Equation" r:id="rId20" imgW="231857" imgH="429855" progId="Equation.DSMT4">
                  <p:embed/>
                </p:oleObj>
              </mc:Choice>
              <mc:Fallback>
                <p:oleObj name="Equation" r:id="rId20" imgW="231857" imgH="429855" progId="Equation.DSMT4">
                  <p:embed/>
                  <p:pic>
                    <p:nvPicPr>
                      <p:cNvPr id="21" name="对象 20">
                        <a:extLst>
                          <a:ext uri="{FF2B5EF4-FFF2-40B4-BE49-F238E27FC236}">
                            <a16:creationId xmlns:a16="http://schemas.microsoft.com/office/drawing/2014/main" id="{BCA00322-C131-7D27-2219-CC54F8D44FE5}"/>
                          </a:ext>
                        </a:extLst>
                      </p:cNvPr>
                      <p:cNvPicPr/>
                      <p:nvPr/>
                    </p:nvPicPr>
                    <p:blipFill>
                      <a:blip r:embed="rId21"/>
                      <a:stretch>
                        <a:fillRect/>
                      </a:stretch>
                    </p:blipFill>
                    <p:spPr>
                      <a:xfrm>
                        <a:off x="1322643" y="4433099"/>
                        <a:ext cx="231775" cy="430213"/>
                      </a:xfrm>
                      <a:prstGeom prst="rect">
                        <a:avLst/>
                      </a:prstGeom>
                    </p:spPr>
                  </p:pic>
                </p:oleObj>
              </mc:Fallback>
            </mc:AlternateContent>
          </a:graphicData>
        </a:graphic>
      </p:graphicFrame>
      <p:sp>
        <p:nvSpPr>
          <p:cNvPr id="22" name="文本框 21">
            <a:extLst>
              <a:ext uri="{FF2B5EF4-FFF2-40B4-BE49-F238E27FC236}">
                <a16:creationId xmlns:a16="http://schemas.microsoft.com/office/drawing/2014/main" id="{A659172E-965B-A748-4A4A-40F6D710D9EE}"/>
              </a:ext>
            </a:extLst>
          </p:cNvPr>
          <p:cNvSpPr txBox="1"/>
          <p:nvPr/>
        </p:nvSpPr>
        <p:spPr>
          <a:xfrm>
            <a:off x="534984" y="5891299"/>
            <a:ext cx="7498080" cy="369332"/>
          </a:xfrm>
          <a:prstGeom prst="rect">
            <a:avLst/>
          </a:prstGeom>
          <a:noFill/>
        </p:spPr>
        <p:txBody>
          <a:bodyPr wrap="square">
            <a:spAutoFit/>
          </a:bodyPr>
          <a:lstStyle/>
          <a:p>
            <a:pPr algn="just" fontAlgn="ctr">
              <a:buNone/>
            </a:pPr>
            <a:r>
              <a:rPr lang="zh-CN" altLang="zh-CN" sz="1800" kern="100" dirty="0">
                <a:effectLst/>
                <a:latin typeface="Times New Roman" panose="02020603050405020304" pitchFamily="18" charset="0"/>
                <a:ea typeface="宋体" panose="02010600030101010101" pitchFamily="2" charset="-122"/>
              </a:rPr>
              <a:t>式中，</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是观测噪声。</a:t>
            </a:r>
          </a:p>
        </p:txBody>
      </p:sp>
    </p:spTree>
    <p:extLst>
      <p:ext uri="{BB962C8B-B14F-4D97-AF65-F5344CB8AC3E}">
        <p14:creationId xmlns:p14="http://schemas.microsoft.com/office/powerpoint/2010/main" val="36930886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5E415326-D238-D6C9-7998-5DAE3EEA535E}"/>
              </a:ext>
            </a:extLst>
          </p:cNvPr>
          <p:cNvGraphicFramePr>
            <a:graphicFrameLocks noChangeAspect="1"/>
          </p:cNvGraphicFramePr>
          <p:nvPr>
            <p:extLst>
              <p:ext uri="{D42A27DB-BD31-4B8C-83A1-F6EECF244321}">
                <p14:modId xmlns:p14="http://schemas.microsoft.com/office/powerpoint/2010/main" val="2555375390"/>
              </p:ext>
            </p:extLst>
          </p:nvPr>
        </p:nvGraphicFramePr>
        <p:xfrm>
          <a:off x="3727067" y="1459824"/>
          <a:ext cx="2630641" cy="645703"/>
        </p:xfrm>
        <a:graphic>
          <a:graphicData uri="http://schemas.openxmlformats.org/presentationml/2006/ole">
            <mc:AlternateContent xmlns:mc="http://schemas.openxmlformats.org/markup-compatibility/2006">
              <mc:Choice xmlns:v="urn:schemas-microsoft-com:vml" Requires="v">
                <p:oleObj name="Equation" r:id="rId2" imgW="1047045" imgH="257049" progId="Equation.DSMT4">
                  <p:embed/>
                </p:oleObj>
              </mc:Choice>
              <mc:Fallback>
                <p:oleObj name="Equation" r:id="rId2" imgW="1047045" imgH="257049" progId="Equation.DSMT4">
                  <p:embed/>
                  <p:pic>
                    <p:nvPicPr>
                      <p:cNvPr id="3" name="对象 2">
                        <a:extLst>
                          <a:ext uri="{FF2B5EF4-FFF2-40B4-BE49-F238E27FC236}">
                            <a16:creationId xmlns:a16="http://schemas.microsoft.com/office/drawing/2014/main" id="{5E415326-D238-D6C9-7998-5DAE3EEA535E}"/>
                          </a:ext>
                        </a:extLst>
                      </p:cNvPr>
                      <p:cNvPicPr/>
                      <p:nvPr/>
                    </p:nvPicPr>
                    <p:blipFill>
                      <a:blip r:embed="rId3"/>
                      <a:stretch>
                        <a:fillRect/>
                      </a:stretch>
                    </p:blipFill>
                    <p:spPr>
                      <a:xfrm>
                        <a:off x="3727067" y="1459824"/>
                        <a:ext cx="2630641" cy="645703"/>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2D5CAA97-66F7-B5EC-FB3C-FACFF154ED29}"/>
              </a:ext>
            </a:extLst>
          </p:cNvPr>
          <p:cNvGraphicFramePr>
            <a:graphicFrameLocks noChangeAspect="1"/>
          </p:cNvGraphicFramePr>
          <p:nvPr>
            <p:extLst>
              <p:ext uri="{D42A27DB-BD31-4B8C-83A1-F6EECF244321}">
                <p14:modId xmlns:p14="http://schemas.microsoft.com/office/powerpoint/2010/main" val="3151656295"/>
              </p:ext>
            </p:extLst>
          </p:nvPr>
        </p:nvGraphicFramePr>
        <p:xfrm>
          <a:off x="5147169" y="2096254"/>
          <a:ext cx="1897662" cy="416560"/>
        </p:xfrm>
        <a:graphic>
          <a:graphicData uri="http://schemas.openxmlformats.org/presentationml/2006/ole">
            <mc:AlternateContent xmlns:mc="http://schemas.openxmlformats.org/markup-compatibility/2006">
              <mc:Choice xmlns:v="urn:schemas-microsoft-com:vml" Requires="v">
                <p:oleObj name="Equation" r:id="rId4" imgW="1170819" imgH="257049" progId="Equation.DSMT4">
                  <p:embed/>
                </p:oleObj>
              </mc:Choice>
              <mc:Fallback>
                <p:oleObj name="Equation" r:id="rId4" imgW="1170819" imgH="257049" progId="Equation.DSMT4">
                  <p:embed/>
                  <p:pic>
                    <p:nvPicPr>
                      <p:cNvPr id="5" name="对象 4">
                        <a:extLst>
                          <a:ext uri="{FF2B5EF4-FFF2-40B4-BE49-F238E27FC236}">
                            <a16:creationId xmlns:a16="http://schemas.microsoft.com/office/drawing/2014/main" id="{2D5CAA97-66F7-B5EC-FB3C-FACFF154ED29}"/>
                          </a:ext>
                        </a:extLst>
                      </p:cNvPr>
                      <p:cNvPicPr/>
                      <p:nvPr/>
                    </p:nvPicPr>
                    <p:blipFill>
                      <a:blip r:embed="rId5"/>
                      <a:stretch>
                        <a:fillRect/>
                      </a:stretch>
                    </p:blipFill>
                    <p:spPr>
                      <a:xfrm>
                        <a:off x="5147169" y="2096254"/>
                        <a:ext cx="1897662" cy="41656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5D02951D-0944-35BC-1477-E006D2916753}"/>
              </a:ext>
            </a:extLst>
          </p:cNvPr>
          <p:cNvGraphicFramePr>
            <a:graphicFrameLocks noChangeAspect="1"/>
          </p:cNvGraphicFramePr>
          <p:nvPr>
            <p:extLst>
              <p:ext uri="{D42A27DB-BD31-4B8C-83A1-F6EECF244321}">
                <p14:modId xmlns:p14="http://schemas.microsoft.com/office/powerpoint/2010/main" val="987486658"/>
              </p:ext>
            </p:extLst>
          </p:nvPr>
        </p:nvGraphicFramePr>
        <p:xfrm>
          <a:off x="2543775" y="2060167"/>
          <a:ext cx="333692" cy="429033"/>
        </p:xfrm>
        <a:graphic>
          <a:graphicData uri="http://schemas.openxmlformats.org/presentationml/2006/ole">
            <mc:AlternateContent xmlns:mc="http://schemas.openxmlformats.org/markup-compatibility/2006">
              <mc:Choice xmlns:v="urn:schemas-microsoft-com:vml" Requires="v">
                <p:oleObj name="Equation" r:id="rId6" imgW="200054" imgH="257049" progId="Equation.DSMT4">
                  <p:embed/>
                </p:oleObj>
              </mc:Choice>
              <mc:Fallback>
                <p:oleObj name="Equation" r:id="rId6" imgW="200054" imgH="257049" progId="Equation.DSMT4">
                  <p:embed/>
                  <p:pic>
                    <p:nvPicPr>
                      <p:cNvPr id="6" name="对象 5">
                        <a:extLst>
                          <a:ext uri="{FF2B5EF4-FFF2-40B4-BE49-F238E27FC236}">
                            <a16:creationId xmlns:a16="http://schemas.microsoft.com/office/drawing/2014/main" id="{5D02951D-0944-35BC-1477-E006D2916753}"/>
                          </a:ext>
                        </a:extLst>
                      </p:cNvPr>
                      <p:cNvPicPr/>
                      <p:nvPr/>
                    </p:nvPicPr>
                    <p:blipFill>
                      <a:blip r:embed="rId7"/>
                      <a:stretch>
                        <a:fillRect/>
                      </a:stretch>
                    </p:blipFill>
                    <p:spPr>
                      <a:xfrm>
                        <a:off x="2543775" y="2060167"/>
                        <a:ext cx="333692" cy="429033"/>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056AD5C8-97E2-B4D2-C2D1-BF0955414A85}"/>
              </a:ext>
            </a:extLst>
          </p:cNvPr>
          <p:cNvGraphicFramePr>
            <a:graphicFrameLocks noChangeAspect="1"/>
          </p:cNvGraphicFramePr>
          <p:nvPr>
            <p:extLst>
              <p:ext uri="{D42A27DB-BD31-4B8C-83A1-F6EECF244321}">
                <p14:modId xmlns:p14="http://schemas.microsoft.com/office/powerpoint/2010/main" val="4142218970"/>
              </p:ext>
            </p:extLst>
          </p:nvPr>
        </p:nvGraphicFramePr>
        <p:xfrm>
          <a:off x="2252693" y="1028401"/>
          <a:ext cx="305276" cy="469656"/>
        </p:xfrm>
        <a:graphic>
          <a:graphicData uri="http://schemas.openxmlformats.org/presentationml/2006/ole">
            <mc:AlternateContent xmlns:mc="http://schemas.openxmlformats.org/markup-compatibility/2006">
              <mc:Choice xmlns:v="urn:schemas-microsoft-com:vml" Requires="v">
                <p:oleObj name="Equation" r:id="rId8" imgW="123774" imgH="190447" progId="Equation.DSMT4">
                  <p:embed/>
                </p:oleObj>
              </mc:Choice>
              <mc:Fallback>
                <p:oleObj name="Equation" r:id="rId8" imgW="123774" imgH="190447" progId="Equation.DSMT4">
                  <p:embed/>
                  <p:pic>
                    <p:nvPicPr>
                      <p:cNvPr id="7" name="对象 6">
                        <a:extLst>
                          <a:ext uri="{FF2B5EF4-FFF2-40B4-BE49-F238E27FC236}">
                            <a16:creationId xmlns:a16="http://schemas.microsoft.com/office/drawing/2014/main" id="{056AD5C8-97E2-B4D2-C2D1-BF0955414A85}"/>
                          </a:ext>
                        </a:extLst>
                      </p:cNvPr>
                      <p:cNvPicPr/>
                      <p:nvPr/>
                    </p:nvPicPr>
                    <p:blipFill>
                      <a:blip r:embed="rId9"/>
                      <a:stretch>
                        <a:fillRect/>
                      </a:stretch>
                    </p:blipFill>
                    <p:spPr>
                      <a:xfrm>
                        <a:off x="2252693" y="1028401"/>
                        <a:ext cx="305276" cy="469656"/>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A877247B-AC55-71F0-F5B8-BA385EC8FF1B}"/>
              </a:ext>
            </a:extLst>
          </p:cNvPr>
          <p:cNvGraphicFramePr>
            <a:graphicFrameLocks noChangeAspect="1"/>
          </p:cNvGraphicFramePr>
          <p:nvPr>
            <p:extLst>
              <p:ext uri="{D42A27DB-BD31-4B8C-83A1-F6EECF244321}">
                <p14:modId xmlns:p14="http://schemas.microsoft.com/office/powerpoint/2010/main" val="721536409"/>
              </p:ext>
            </p:extLst>
          </p:nvPr>
        </p:nvGraphicFramePr>
        <p:xfrm>
          <a:off x="3393375" y="953372"/>
          <a:ext cx="333692" cy="619714"/>
        </p:xfrm>
        <a:graphic>
          <a:graphicData uri="http://schemas.openxmlformats.org/presentationml/2006/ole">
            <mc:AlternateContent xmlns:mc="http://schemas.openxmlformats.org/markup-compatibility/2006">
              <mc:Choice xmlns:v="urn:schemas-microsoft-com:vml" Requires="v">
                <p:oleObj name="Equation" r:id="rId10" imgW="66565" imgH="123844" progId="Equation.DSMT4">
                  <p:embed/>
                </p:oleObj>
              </mc:Choice>
              <mc:Fallback>
                <p:oleObj name="Equation" r:id="rId10" imgW="66565" imgH="123844" progId="Equation.DSMT4">
                  <p:embed/>
                  <p:pic>
                    <p:nvPicPr>
                      <p:cNvPr id="8" name="对象 7">
                        <a:extLst>
                          <a:ext uri="{FF2B5EF4-FFF2-40B4-BE49-F238E27FC236}">
                            <a16:creationId xmlns:a16="http://schemas.microsoft.com/office/drawing/2014/main" id="{A877247B-AC55-71F0-F5B8-BA385EC8FF1B}"/>
                          </a:ext>
                        </a:extLst>
                      </p:cNvPr>
                      <p:cNvPicPr/>
                      <p:nvPr/>
                    </p:nvPicPr>
                    <p:blipFill>
                      <a:blip r:embed="rId11"/>
                      <a:stretch>
                        <a:fillRect/>
                      </a:stretch>
                    </p:blipFill>
                    <p:spPr>
                      <a:xfrm>
                        <a:off x="3393375" y="953372"/>
                        <a:ext cx="333692" cy="619714"/>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BAA22D07-B2D2-49BD-503D-C79D26BCB449}"/>
              </a:ext>
            </a:extLst>
          </p:cNvPr>
          <p:cNvGraphicFramePr>
            <a:graphicFrameLocks noChangeAspect="1"/>
          </p:cNvGraphicFramePr>
          <p:nvPr>
            <p:extLst>
              <p:ext uri="{D42A27DB-BD31-4B8C-83A1-F6EECF244321}">
                <p14:modId xmlns:p14="http://schemas.microsoft.com/office/powerpoint/2010/main" val="1164382508"/>
              </p:ext>
            </p:extLst>
          </p:nvPr>
        </p:nvGraphicFramePr>
        <p:xfrm>
          <a:off x="3353805" y="3759031"/>
          <a:ext cx="3003903" cy="619125"/>
        </p:xfrm>
        <a:graphic>
          <a:graphicData uri="http://schemas.openxmlformats.org/presentationml/2006/ole">
            <mc:AlternateContent xmlns:mc="http://schemas.openxmlformats.org/markup-compatibility/2006">
              <mc:Choice xmlns:v="urn:schemas-microsoft-com:vml" Requires="v">
                <p:oleObj name="Equation" r:id="rId12" imgW="1247098" imgH="257049" progId="Equation.DSMT4">
                  <p:embed/>
                </p:oleObj>
              </mc:Choice>
              <mc:Fallback>
                <p:oleObj name="Equation" r:id="rId12" imgW="1247098" imgH="257049" progId="Equation.DSMT4">
                  <p:embed/>
                  <p:pic>
                    <p:nvPicPr>
                      <p:cNvPr id="9" name="对象 8">
                        <a:extLst>
                          <a:ext uri="{FF2B5EF4-FFF2-40B4-BE49-F238E27FC236}">
                            <a16:creationId xmlns:a16="http://schemas.microsoft.com/office/drawing/2014/main" id="{BAA22D07-B2D2-49BD-503D-C79D26BCB449}"/>
                          </a:ext>
                        </a:extLst>
                      </p:cNvPr>
                      <p:cNvPicPr/>
                      <p:nvPr/>
                    </p:nvPicPr>
                    <p:blipFill>
                      <a:blip r:embed="rId13"/>
                      <a:stretch>
                        <a:fillRect/>
                      </a:stretch>
                    </p:blipFill>
                    <p:spPr>
                      <a:xfrm>
                        <a:off x="3353805" y="3759031"/>
                        <a:ext cx="3003903" cy="61912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31CF9941-8373-8BE6-D165-22B363B5532A}"/>
              </a:ext>
            </a:extLst>
          </p:cNvPr>
          <p:cNvGraphicFramePr>
            <a:graphicFrameLocks noChangeAspect="1"/>
          </p:cNvGraphicFramePr>
          <p:nvPr>
            <p:extLst>
              <p:ext uri="{D42A27DB-BD31-4B8C-83A1-F6EECF244321}">
                <p14:modId xmlns:p14="http://schemas.microsoft.com/office/powerpoint/2010/main" val="3820494335"/>
              </p:ext>
            </p:extLst>
          </p:nvPr>
        </p:nvGraphicFramePr>
        <p:xfrm>
          <a:off x="5074375" y="4264805"/>
          <a:ext cx="2596721" cy="539319"/>
        </p:xfrm>
        <a:graphic>
          <a:graphicData uri="http://schemas.openxmlformats.org/presentationml/2006/ole">
            <mc:AlternateContent xmlns:mc="http://schemas.openxmlformats.org/markup-compatibility/2006">
              <mc:Choice xmlns:v="urn:schemas-microsoft-com:vml" Requires="v">
                <p:oleObj name="Equation" r:id="rId14" imgW="1237743" imgH="257049" progId="Equation.DSMT4">
                  <p:embed/>
                </p:oleObj>
              </mc:Choice>
              <mc:Fallback>
                <p:oleObj name="Equation" r:id="rId14" imgW="1237743" imgH="257049" progId="Equation.DSMT4">
                  <p:embed/>
                  <p:pic>
                    <p:nvPicPr>
                      <p:cNvPr id="10" name="对象 9">
                        <a:extLst>
                          <a:ext uri="{FF2B5EF4-FFF2-40B4-BE49-F238E27FC236}">
                            <a16:creationId xmlns:a16="http://schemas.microsoft.com/office/drawing/2014/main" id="{31CF9941-8373-8BE6-D165-22B363B5532A}"/>
                          </a:ext>
                        </a:extLst>
                      </p:cNvPr>
                      <p:cNvPicPr/>
                      <p:nvPr/>
                    </p:nvPicPr>
                    <p:blipFill>
                      <a:blip r:embed="rId15"/>
                      <a:stretch>
                        <a:fillRect/>
                      </a:stretch>
                    </p:blipFill>
                    <p:spPr>
                      <a:xfrm>
                        <a:off x="5074375" y="4264805"/>
                        <a:ext cx="2596721" cy="539319"/>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9DF92406-4AC4-6015-B559-D1F3643D7DFB}"/>
              </a:ext>
            </a:extLst>
          </p:cNvPr>
          <p:cNvGraphicFramePr>
            <a:graphicFrameLocks noChangeAspect="1"/>
          </p:cNvGraphicFramePr>
          <p:nvPr>
            <p:extLst>
              <p:ext uri="{D42A27DB-BD31-4B8C-83A1-F6EECF244321}">
                <p14:modId xmlns:p14="http://schemas.microsoft.com/office/powerpoint/2010/main" val="2361455949"/>
              </p:ext>
            </p:extLst>
          </p:nvPr>
        </p:nvGraphicFramePr>
        <p:xfrm>
          <a:off x="3304271" y="5786453"/>
          <a:ext cx="1476640" cy="796227"/>
        </p:xfrm>
        <a:graphic>
          <a:graphicData uri="http://schemas.openxmlformats.org/presentationml/2006/ole">
            <mc:AlternateContent xmlns:mc="http://schemas.openxmlformats.org/markup-compatibility/2006">
              <mc:Choice xmlns:v="urn:schemas-microsoft-com:vml" Requires="v">
                <p:oleObj name="Equation" r:id="rId16" imgW="971125" imgH="523819" progId="Equation.DSMT4">
                  <p:embed/>
                </p:oleObj>
              </mc:Choice>
              <mc:Fallback>
                <p:oleObj name="Equation" r:id="rId16" imgW="971125" imgH="523819" progId="Equation.DSMT4">
                  <p:embed/>
                  <p:pic>
                    <p:nvPicPr>
                      <p:cNvPr id="12" name="对象 11">
                        <a:extLst>
                          <a:ext uri="{FF2B5EF4-FFF2-40B4-BE49-F238E27FC236}">
                            <a16:creationId xmlns:a16="http://schemas.microsoft.com/office/drawing/2014/main" id="{9DF92406-4AC4-6015-B559-D1F3643D7DFB}"/>
                          </a:ext>
                        </a:extLst>
                      </p:cNvPr>
                      <p:cNvPicPr/>
                      <p:nvPr/>
                    </p:nvPicPr>
                    <p:blipFill>
                      <a:blip r:embed="rId17"/>
                      <a:stretch>
                        <a:fillRect/>
                      </a:stretch>
                    </p:blipFill>
                    <p:spPr>
                      <a:xfrm>
                        <a:off x="3304271" y="5786453"/>
                        <a:ext cx="1476640" cy="796227"/>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56366BEF-8330-AD7B-91DE-E6C398414916}"/>
              </a:ext>
            </a:extLst>
          </p:cNvPr>
          <p:cNvGraphicFramePr>
            <a:graphicFrameLocks noChangeAspect="1"/>
          </p:cNvGraphicFramePr>
          <p:nvPr>
            <p:extLst>
              <p:ext uri="{D42A27DB-BD31-4B8C-83A1-F6EECF244321}">
                <p14:modId xmlns:p14="http://schemas.microsoft.com/office/powerpoint/2010/main" val="3426482361"/>
              </p:ext>
            </p:extLst>
          </p:nvPr>
        </p:nvGraphicFramePr>
        <p:xfrm>
          <a:off x="1561158" y="5829599"/>
          <a:ext cx="1476641" cy="788498"/>
        </p:xfrm>
        <a:graphic>
          <a:graphicData uri="http://schemas.openxmlformats.org/presentationml/2006/ole">
            <mc:AlternateContent xmlns:mc="http://schemas.openxmlformats.org/markup-compatibility/2006">
              <mc:Choice xmlns:v="urn:schemas-microsoft-com:vml" Requires="v">
                <p:oleObj name="Equation" r:id="rId18" imgW="980480" imgH="523819" progId="Equation.DSMT4">
                  <p:embed/>
                </p:oleObj>
              </mc:Choice>
              <mc:Fallback>
                <p:oleObj name="Equation" r:id="rId18" imgW="980480" imgH="523819" progId="Equation.DSMT4">
                  <p:embed/>
                  <p:pic>
                    <p:nvPicPr>
                      <p:cNvPr id="13" name="对象 12">
                        <a:extLst>
                          <a:ext uri="{FF2B5EF4-FFF2-40B4-BE49-F238E27FC236}">
                            <a16:creationId xmlns:a16="http://schemas.microsoft.com/office/drawing/2014/main" id="{56366BEF-8330-AD7B-91DE-E6C398414916}"/>
                          </a:ext>
                        </a:extLst>
                      </p:cNvPr>
                      <p:cNvPicPr/>
                      <p:nvPr/>
                    </p:nvPicPr>
                    <p:blipFill>
                      <a:blip r:embed="rId19"/>
                      <a:stretch>
                        <a:fillRect/>
                      </a:stretch>
                    </p:blipFill>
                    <p:spPr>
                      <a:xfrm>
                        <a:off x="1561158" y="5829599"/>
                        <a:ext cx="1476641" cy="788498"/>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CAE0DABC-0CA1-4F71-4CA3-474841F5B275}"/>
              </a:ext>
            </a:extLst>
          </p:cNvPr>
          <p:cNvGraphicFramePr>
            <a:graphicFrameLocks noChangeAspect="1"/>
          </p:cNvGraphicFramePr>
          <p:nvPr>
            <p:extLst>
              <p:ext uri="{D42A27DB-BD31-4B8C-83A1-F6EECF244321}">
                <p14:modId xmlns:p14="http://schemas.microsoft.com/office/powerpoint/2010/main" val="3059896764"/>
              </p:ext>
            </p:extLst>
          </p:nvPr>
        </p:nvGraphicFramePr>
        <p:xfrm>
          <a:off x="1942663" y="5293875"/>
          <a:ext cx="7099050" cy="538663"/>
        </p:xfrm>
        <a:graphic>
          <a:graphicData uri="http://schemas.openxmlformats.org/presentationml/2006/ole">
            <mc:AlternateContent xmlns:mc="http://schemas.openxmlformats.org/markup-compatibility/2006">
              <mc:Choice xmlns:v="urn:schemas-microsoft-com:vml" Requires="v">
                <p:oleObj name="Equation" r:id="rId20" imgW="3389042" imgH="257049" progId="Equation.DSMT4">
                  <p:embed/>
                </p:oleObj>
              </mc:Choice>
              <mc:Fallback>
                <p:oleObj name="Equation" r:id="rId20" imgW="3389042" imgH="257049" progId="Equation.DSMT4">
                  <p:embed/>
                  <p:pic>
                    <p:nvPicPr>
                      <p:cNvPr id="14" name="对象 13">
                        <a:extLst>
                          <a:ext uri="{FF2B5EF4-FFF2-40B4-BE49-F238E27FC236}">
                            <a16:creationId xmlns:a16="http://schemas.microsoft.com/office/drawing/2014/main" id="{CAE0DABC-0CA1-4F71-4CA3-474841F5B275}"/>
                          </a:ext>
                        </a:extLst>
                      </p:cNvPr>
                      <p:cNvPicPr/>
                      <p:nvPr/>
                    </p:nvPicPr>
                    <p:blipFill>
                      <a:blip r:embed="rId21"/>
                      <a:stretch>
                        <a:fillRect/>
                      </a:stretch>
                    </p:blipFill>
                    <p:spPr>
                      <a:xfrm>
                        <a:off x="1942663" y="5293875"/>
                        <a:ext cx="7099050" cy="538663"/>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7CF3A272-D044-88A6-D8DD-55036662F963}"/>
              </a:ext>
            </a:extLst>
          </p:cNvPr>
          <p:cNvGraphicFramePr>
            <a:graphicFrameLocks noChangeAspect="1"/>
          </p:cNvGraphicFramePr>
          <p:nvPr>
            <p:extLst>
              <p:ext uri="{D42A27DB-BD31-4B8C-83A1-F6EECF244321}">
                <p14:modId xmlns:p14="http://schemas.microsoft.com/office/powerpoint/2010/main" val="3053192161"/>
              </p:ext>
            </p:extLst>
          </p:nvPr>
        </p:nvGraphicFramePr>
        <p:xfrm>
          <a:off x="1156830" y="4757845"/>
          <a:ext cx="744517" cy="591234"/>
        </p:xfrm>
        <a:graphic>
          <a:graphicData uri="http://schemas.openxmlformats.org/presentationml/2006/ole">
            <mc:AlternateContent xmlns:mc="http://schemas.openxmlformats.org/markup-compatibility/2006">
              <mc:Choice xmlns:v="urn:schemas-microsoft-com:vml" Requires="v">
                <p:oleObj name="Equation" r:id="rId22" imgW="323828" imgH="257049" progId="Equation.DSMT4">
                  <p:embed/>
                </p:oleObj>
              </mc:Choice>
              <mc:Fallback>
                <p:oleObj name="Equation" r:id="rId22" imgW="323828" imgH="257049" progId="Equation.DSMT4">
                  <p:embed/>
                  <p:pic>
                    <p:nvPicPr>
                      <p:cNvPr id="15" name="对象 14">
                        <a:extLst>
                          <a:ext uri="{FF2B5EF4-FFF2-40B4-BE49-F238E27FC236}">
                            <a16:creationId xmlns:a16="http://schemas.microsoft.com/office/drawing/2014/main" id="{7CF3A272-D044-88A6-D8DD-55036662F963}"/>
                          </a:ext>
                        </a:extLst>
                      </p:cNvPr>
                      <p:cNvPicPr/>
                      <p:nvPr/>
                    </p:nvPicPr>
                    <p:blipFill>
                      <a:blip r:embed="rId23"/>
                      <a:stretch>
                        <a:fillRect/>
                      </a:stretch>
                    </p:blipFill>
                    <p:spPr>
                      <a:xfrm>
                        <a:off x="1156830" y="4757845"/>
                        <a:ext cx="744517" cy="591234"/>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5524F6B0-C628-5629-3F61-5114D42522B0}"/>
              </a:ext>
            </a:extLst>
          </p:cNvPr>
          <p:cNvGraphicFramePr>
            <a:graphicFrameLocks noChangeAspect="1"/>
          </p:cNvGraphicFramePr>
          <p:nvPr>
            <p:extLst>
              <p:ext uri="{D42A27DB-BD31-4B8C-83A1-F6EECF244321}">
                <p14:modId xmlns:p14="http://schemas.microsoft.com/office/powerpoint/2010/main" val="160301"/>
              </p:ext>
            </p:extLst>
          </p:nvPr>
        </p:nvGraphicFramePr>
        <p:xfrm>
          <a:off x="2958705" y="2858532"/>
          <a:ext cx="4167364" cy="531167"/>
        </p:xfrm>
        <a:graphic>
          <a:graphicData uri="http://schemas.openxmlformats.org/presentationml/2006/ole">
            <mc:AlternateContent xmlns:mc="http://schemas.openxmlformats.org/markup-compatibility/2006">
              <mc:Choice xmlns:v="urn:schemas-microsoft-com:vml" Requires="v">
                <p:oleObj name="Equation" r:id="rId24" imgW="2018169" imgH="257049" progId="Equation.DSMT4">
                  <p:embed/>
                </p:oleObj>
              </mc:Choice>
              <mc:Fallback>
                <p:oleObj name="Equation" r:id="rId24" imgW="2018169" imgH="257049" progId="Equation.DSMT4">
                  <p:embed/>
                  <p:pic>
                    <p:nvPicPr>
                      <p:cNvPr id="16" name="对象 15">
                        <a:extLst>
                          <a:ext uri="{FF2B5EF4-FFF2-40B4-BE49-F238E27FC236}">
                            <a16:creationId xmlns:a16="http://schemas.microsoft.com/office/drawing/2014/main" id="{5524F6B0-C628-5629-3F61-5114D42522B0}"/>
                          </a:ext>
                        </a:extLst>
                      </p:cNvPr>
                      <p:cNvPicPr/>
                      <p:nvPr/>
                    </p:nvPicPr>
                    <p:blipFill>
                      <a:blip r:embed="rId25"/>
                      <a:stretch>
                        <a:fillRect/>
                      </a:stretch>
                    </p:blipFill>
                    <p:spPr>
                      <a:xfrm>
                        <a:off x="2958705" y="2858532"/>
                        <a:ext cx="4167364" cy="531167"/>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FD6D1AA6-7E6E-E113-9914-0A7753ACA875}"/>
              </a:ext>
            </a:extLst>
          </p:cNvPr>
          <p:cNvGraphicFramePr>
            <a:graphicFrameLocks noChangeAspect="1"/>
          </p:cNvGraphicFramePr>
          <p:nvPr>
            <p:extLst>
              <p:ext uri="{D42A27DB-BD31-4B8C-83A1-F6EECF244321}">
                <p14:modId xmlns:p14="http://schemas.microsoft.com/office/powerpoint/2010/main" val="2411992628"/>
              </p:ext>
            </p:extLst>
          </p:nvPr>
        </p:nvGraphicFramePr>
        <p:xfrm>
          <a:off x="1064005" y="2489199"/>
          <a:ext cx="465084" cy="369333"/>
        </p:xfrm>
        <a:graphic>
          <a:graphicData uri="http://schemas.openxmlformats.org/presentationml/2006/ole">
            <mc:AlternateContent xmlns:mc="http://schemas.openxmlformats.org/markup-compatibility/2006">
              <mc:Choice xmlns:v="urn:schemas-microsoft-com:vml" Requires="v">
                <p:oleObj name="Equation" r:id="rId26" imgW="323828" imgH="257049" progId="Equation.DSMT4">
                  <p:embed/>
                </p:oleObj>
              </mc:Choice>
              <mc:Fallback>
                <p:oleObj name="Equation" r:id="rId26" imgW="323828" imgH="257049" progId="Equation.DSMT4">
                  <p:embed/>
                  <p:pic>
                    <p:nvPicPr>
                      <p:cNvPr id="17" name="对象 16">
                        <a:extLst>
                          <a:ext uri="{FF2B5EF4-FFF2-40B4-BE49-F238E27FC236}">
                            <a16:creationId xmlns:a16="http://schemas.microsoft.com/office/drawing/2014/main" id="{FD6D1AA6-7E6E-E113-9914-0A7753ACA875}"/>
                          </a:ext>
                        </a:extLst>
                      </p:cNvPr>
                      <p:cNvPicPr/>
                      <p:nvPr/>
                    </p:nvPicPr>
                    <p:blipFill>
                      <a:blip r:embed="rId27"/>
                      <a:stretch>
                        <a:fillRect/>
                      </a:stretch>
                    </p:blipFill>
                    <p:spPr>
                      <a:xfrm>
                        <a:off x="1064005" y="2489199"/>
                        <a:ext cx="465084" cy="369333"/>
                      </a:xfrm>
                      <a:prstGeom prst="rect">
                        <a:avLst/>
                      </a:prstGeom>
                    </p:spPr>
                  </p:pic>
                </p:oleObj>
              </mc:Fallback>
            </mc:AlternateContent>
          </a:graphicData>
        </a:graphic>
      </p:graphicFrame>
      <p:sp>
        <p:nvSpPr>
          <p:cNvPr id="26" name="文本框 25">
            <a:extLst>
              <a:ext uri="{FF2B5EF4-FFF2-40B4-BE49-F238E27FC236}">
                <a16:creationId xmlns:a16="http://schemas.microsoft.com/office/drawing/2014/main" id="{D4C8311C-C367-FD8A-1ADD-2BB699675400}"/>
              </a:ext>
            </a:extLst>
          </p:cNvPr>
          <p:cNvSpPr txBox="1"/>
          <p:nvPr/>
        </p:nvSpPr>
        <p:spPr>
          <a:xfrm>
            <a:off x="650625" y="1071547"/>
            <a:ext cx="9265534" cy="369332"/>
          </a:xfrm>
          <a:prstGeom prst="rect">
            <a:avLst/>
          </a:prstGeom>
          <a:noFill/>
        </p:spPr>
        <p:txBody>
          <a:bodyPr wrap="square">
            <a:spAutoFit/>
          </a:bodyPr>
          <a:lstStyle/>
          <a:p>
            <a:pPr indent="266700" algn="just" fontAlgn="ctr">
              <a:buNone/>
            </a:pPr>
            <a:r>
              <a:rPr lang="zh-CN" altLang="zh-CN" sz="1800" kern="100" dirty="0">
                <a:effectLst/>
                <a:latin typeface="Times New Roman" panose="02020603050405020304" pitchFamily="18" charset="0"/>
                <a:ea typeface="宋体" panose="02010600030101010101" pitchFamily="2" charset="-122"/>
              </a:rPr>
              <a:t>不失一般性，</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时刻平台</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的单平台的观测方程可写为下列形式</a:t>
            </a:r>
          </a:p>
        </p:txBody>
      </p:sp>
      <p:sp>
        <p:nvSpPr>
          <p:cNvPr id="29" name="文本框 28">
            <a:extLst>
              <a:ext uri="{FF2B5EF4-FFF2-40B4-BE49-F238E27FC236}">
                <a16:creationId xmlns:a16="http://schemas.microsoft.com/office/drawing/2014/main" id="{5637023F-BF56-D0A9-1578-0A46DD652365}"/>
              </a:ext>
            </a:extLst>
          </p:cNvPr>
          <p:cNvSpPr txBox="1"/>
          <p:nvPr/>
        </p:nvSpPr>
        <p:spPr>
          <a:xfrm>
            <a:off x="859421" y="2096254"/>
            <a:ext cx="9265534" cy="369332"/>
          </a:xfrm>
          <a:prstGeom prst="rect">
            <a:avLst/>
          </a:prstGeom>
          <a:noFill/>
        </p:spPr>
        <p:txBody>
          <a:bodyPr wrap="square">
            <a:spAutoFit/>
          </a:bodyPr>
          <a:lstStyle/>
          <a:p>
            <a:pPr algn="just" fontAlgn="ctr">
              <a:buNone/>
            </a:pPr>
            <a:r>
              <a:rPr lang="zh-CN" altLang="zh-CN" sz="1800" kern="100" dirty="0">
                <a:effectLst/>
                <a:latin typeface="Times New Roman" panose="02020603050405020304" pitchFamily="18" charset="0"/>
                <a:ea typeface="宋体" panose="02010600030101010101" pitchFamily="2" charset="-122"/>
              </a:rPr>
              <a:t>式中，观测噪声</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假定为高斯白噪声，且</a:t>
            </a:r>
          </a:p>
        </p:txBody>
      </p:sp>
      <p:sp>
        <p:nvSpPr>
          <p:cNvPr id="32" name="文本框 31">
            <a:extLst>
              <a:ext uri="{FF2B5EF4-FFF2-40B4-BE49-F238E27FC236}">
                <a16:creationId xmlns:a16="http://schemas.microsoft.com/office/drawing/2014/main" id="{BBFDE5CD-794C-C4B8-3F04-8CF29A5A3227}"/>
              </a:ext>
            </a:extLst>
          </p:cNvPr>
          <p:cNvSpPr txBox="1"/>
          <p:nvPr/>
        </p:nvSpPr>
        <p:spPr>
          <a:xfrm>
            <a:off x="514402" y="2489200"/>
            <a:ext cx="9265534" cy="369332"/>
          </a:xfrm>
          <a:prstGeom prst="rect">
            <a:avLst/>
          </a:prstGeom>
          <a:noFill/>
        </p:spPr>
        <p:txBody>
          <a:bodyPr wrap="square">
            <a:spAutoFit/>
          </a:bodyPr>
          <a:lstStyle/>
          <a:p>
            <a:pPr indent="266700" algn="just" fontAlgn="ctr">
              <a:buNone/>
            </a:pPr>
            <a:r>
              <a:rPr lang="zh-CN" altLang="zh-CN" sz="1800" kern="100" dirty="0">
                <a:effectLst/>
                <a:latin typeface="Times New Roman" panose="02020603050405020304" pitchFamily="18" charset="0"/>
                <a:ea typeface="宋体" panose="02010600030101010101" pitchFamily="2" charset="-122"/>
              </a:rPr>
              <a:t>当</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为非线性函数时，类似，可以通过泰勒级数展开得到近似的线性方程</a:t>
            </a:r>
          </a:p>
        </p:txBody>
      </p:sp>
      <p:sp>
        <p:nvSpPr>
          <p:cNvPr id="35" name="文本框 34">
            <a:extLst>
              <a:ext uri="{FF2B5EF4-FFF2-40B4-BE49-F238E27FC236}">
                <a16:creationId xmlns:a16="http://schemas.microsoft.com/office/drawing/2014/main" id="{9BB0F6D3-2900-E9B9-3651-83062DAB7F9C}"/>
              </a:ext>
            </a:extLst>
          </p:cNvPr>
          <p:cNvSpPr txBox="1"/>
          <p:nvPr/>
        </p:nvSpPr>
        <p:spPr>
          <a:xfrm>
            <a:off x="650625" y="3389699"/>
            <a:ext cx="9288682" cy="369332"/>
          </a:xfrm>
          <a:prstGeom prst="rect">
            <a:avLst/>
          </a:prstGeom>
          <a:noFill/>
        </p:spPr>
        <p:txBody>
          <a:bodyPr wrap="square">
            <a:spAutoFit/>
          </a:bodyPr>
          <a:lstStyle/>
          <a:p>
            <a:pPr indent="266700" algn="just" fontAlgn="ctr">
              <a:buNone/>
            </a:pPr>
            <a:r>
              <a:rPr lang="zh-CN" altLang="zh-CN" sz="1800" kern="100" dirty="0">
                <a:effectLst/>
                <a:latin typeface="Times New Roman" panose="02020603050405020304" pitchFamily="18" charset="0"/>
                <a:ea typeface="宋体" panose="02010600030101010101" pitchFamily="2" charset="-122"/>
              </a:rPr>
              <a:t>不失一般性，</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时刻平台</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对平台</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的观测的观测方程可写为下列形式</a:t>
            </a:r>
          </a:p>
        </p:txBody>
      </p:sp>
      <p:graphicFrame>
        <p:nvGraphicFramePr>
          <p:cNvPr id="36" name="对象 35">
            <a:extLst>
              <a:ext uri="{FF2B5EF4-FFF2-40B4-BE49-F238E27FC236}">
                <a16:creationId xmlns:a16="http://schemas.microsoft.com/office/drawing/2014/main" id="{2356A423-F15E-E293-D96D-DADFB9F924A8}"/>
              </a:ext>
            </a:extLst>
          </p:cNvPr>
          <p:cNvGraphicFramePr>
            <a:graphicFrameLocks noChangeAspect="1"/>
          </p:cNvGraphicFramePr>
          <p:nvPr>
            <p:extLst>
              <p:ext uri="{D42A27DB-BD31-4B8C-83A1-F6EECF244321}">
                <p14:modId xmlns:p14="http://schemas.microsoft.com/office/powerpoint/2010/main" val="1080039295"/>
              </p:ext>
            </p:extLst>
          </p:nvPr>
        </p:nvGraphicFramePr>
        <p:xfrm>
          <a:off x="3377892" y="3255169"/>
          <a:ext cx="333375" cy="619125"/>
        </p:xfrm>
        <a:graphic>
          <a:graphicData uri="http://schemas.openxmlformats.org/presentationml/2006/ole">
            <mc:AlternateContent xmlns:mc="http://schemas.openxmlformats.org/markup-compatibility/2006">
              <mc:Choice xmlns:v="urn:schemas-microsoft-com:vml" Requires="v">
                <p:oleObj name="Equation" r:id="rId28" imgW="333745" imgH="618862" progId="Equation.DSMT4">
                  <p:embed/>
                </p:oleObj>
              </mc:Choice>
              <mc:Fallback>
                <p:oleObj name="Equation" r:id="rId28" imgW="333745" imgH="618862" progId="Equation.DSMT4">
                  <p:embed/>
                  <p:pic>
                    <p:nvPicPr>
                      <p:cNvPr id="36" name="对象 35">
                        <a:extLst>
                          <a:ext uri="{FF2B5EF4-FFF2-40B4-BE49-F238E27FC236}">
                            <a16:creationId xmlns:a16="http://schemas.microsoft.com/office/drawing/2014/main" id="{2356A423-F15E-E293-D96D-DADFB9F924A8}"/>
                          </a:ext>
                        </a:extLst>
                      </p:cNvPr>
                      <p:cNvPicPr/>
                      <p:nvPr/>
                    </p:nvPicPr>
                    <p:blipFill>
                      <a:blip r:embed="rId29"/>
                      <a:stretch>
                        <a:fillRect/>
                      </a:stretch>
                    </p:blipFill>
                    <p:spPr>
                      <a:xfrm>
                        <a:off x="3377892" y="3255169"/>
                        <a:ext cx="333375" cy="619125"/>
                      </a:xfrm>
                      <a:prstGeom prst="rect">
                        <a:avLst/>
                      </a:prstGeom>
                    </p:spPr>
                  </p:pic>
                </p:oleObj>
              </mc:Fallback>
            </mc:AlternateContent>
          </a:graphicData>
        </a:graphic>
      </p:graphicFrame>
      <p:graphicFrame>
        <p:nvGraphicFramePr>
          <p:cNvPr id="37" name="对象 36">
            <a:extLst>
              <a:ext uri="{FF2B5EF4-FFF2-40B4-BE49-F238E27FC236}">
                <a16:creationId xmlns:a16="http://schemas.microsoft.com/office/drawing/2014/main" id="{25B73B3D-C5FC-1D30-D687-5E3DD978AA74}"/>
              </a:ext>
            </a:extLst>
          </p:cNvPr>
          <p:cNvGraphicFramePr>
            <a:graphicFrameLocks noChangeAspect="1"/>
          </p:cNvGraphicFramePr>
          <p:nvPr>
            <p:extLst>
              <p:ext uri="{D42A27DB-BD31-4B8C-83A1-F6EECF244321}">
                <p14:modId xmlns:p14="http://schemas.microsoft.com/office/powerpoint/2010/main" val="193581090"/>
              </p:ext>
            </p:extLst>
          </p:nvPr>
        </p:nvGraphicFramePr>
        <p:xfrm>
          <a:off x="4295057" y="3319785"/>
          <a:ext cx="359546" cy="539319"/>
        </p:xfrm>
        <a:graphic>
          <a:graphicData uri="http://schemas.openxmlformats.org/presentationml/2006/ole">
            <mc:AlternateContent xmlns:mc="http://schemas.openxmlformats.org/markup-compatibility/2006">
              <mc:Choice xmlns:v="urn:schemas-microsoft-com:vml" Requires="v">
                <p:oleObj name="Equation" r:id="rId30" imgW="126720" imgH="190440" progId="Equation.DSMT4">
                  <p:embed/>
                </p:oleObj>
              </mc:Choice>
              <mc:Fallback>
                <p:oleObj name="Equation" r:id="rId30" imgW="126720" imgH="190440" progId="Equation.DSMT4">
                  <p:embed/>
                  <p:pic>
                    <p:nvPicPr>
                      <p:cNvPr id="37" name="对象 36">
                        <a:extLst>
                          <a:ext uri="{FF2B5EF4-FFF2-40B4-BE49-F238E27FC236}">
                            <a16:creationId xmlns:a16="http://schemas.microsoft.com/office/drawing/2014/main" id="{25B73B3D-C5FC-1D30-D687-5E3DD978AA74}"/>
                          </a:ext>
                        </a:extLst>
                      </p:cNvPr>
                      <p:cNvPicPr/>
                      <p:nvPr/>
                    </p:nvPicPr>
                    <p:blipFill>
                      <a:blip r:embed="rId31"/>
                      <a:stretch>
                        <a:fillRect/>
                      </a:stretch>
                    </p:blipFill>
                    <p:spPr>
                      <a:xfrm>
                        <a:off x="4295057" y="3319785"/>
                        <a:ext cx="359546" cy="539319"/>
                      </a:xfrm>
                      <a:prstGeom prst="rect">
                        <a:avLst/>
                      </a:prstGeom>
                    </p:spPr>
                  </p:pic>
                </p:oleObj>
              </mc:Fallback>
            </mc:AlternateContent>
          </a:graphicData>
        </a:graphic>
      </p:graphicFrame>
      <p:graphicFrame>
        <p:nvGraphicFramePr>
          <p:cNvPr id="38" name="对象 37">
            <a:extLst>
              <a:ext uri="{FF2B5EF4-FFF2-40B4-BE49-F238E27FC236}">
                <a16:creationId xmlns:a16="http://schemas.microsoft.com/office/drawing/2014/main" id="{BB33D835-5839-C5EC-85F0-E1CAA2C97319}"/>
              </a:ext>
            </a:extLst>
          </p:cNvPr>
          <p:cNvGraphicFramePr>
            <a:graphicFrameLocks noChangeAspect="1"/>
          </p:cNvGraphicFramePr>
          <p:nvPr>
            <p:extLst>
              <p:ext uri="{D42A27DB-BD31-4B8C-83A1-F6EECF244321}">
                <p14:modId xmlns:p14="http://schemas.microsoft.com/office/powerpoint/2010/main" val="3724756210"/>
              </p:ext>
            </p:extLst>
          </p:nvPr>
        </p:nvGraphicFramePr>
        <p:xfrm>
          <a:off x="2238975" y="3319785"/>
          <a:ext cx="304800" cy="469900"/>
        </p:xfrm>
        <a:graphic>
          <a:graphicData uri="http://schemas.openxmlformats.org/presentationml/2006/ole">
            <mc:AlternateContent xmlns:mc="http://schemas.openxmlformats.org/markup-compatibility/2006">
              <mc:Choice xmlns:v="urn:schemas-microsoft-com:vml" Requires="v">
                <p:oleObj name="Equation" r:id="rId32" imgW="304943" imgH="469457" progId="Equation.DSMT4">
                  <p:embed/>
                </p:oleObj>
              </mc:Choice>
              <mc:Fallback>
                <p:oleObj name="Equation" r:id="rId32" imgW="304943" imgH="469457" progId="Equation.DSMT4">
                  <p:embed/>
                  <p:pic>
                    <p:nvPicPr>
                      <p:cNvPr id="38" name="对象 37">
                        <a:extLst>
                          <a:ext uri="{FF2B5EF4-FFF2-40B4-BE49-F238E27FC236}">
                            <a16:creationId xmlns:a16="http://schemas.microsoft.com/office/drawing/2014/main" id="{BB33D835-5839-C5EC-85F0-E1CAA2C97319}"/>
                          </a:ext>
                        </a:extLst>
                      </p:cNvPr>
                      <p:cNvPicPr/>
                      <p:nvPr/>
                    </p:nvPicPr>
                    <p:blipFill>
                      <a:blip r:embed="rId33"/>
                      <a:stretch>
                        <a:fillRect/>
                      </a:stretch>
                    </p:blipFill>
                    <p:spPr>
                      <a:xfrm>
                        <a:off x="2238975" y="3319785"/>
                        <a:ext cx="304800" cy="469900"/>
                      </a:xfrm>
                      <a:prstGeom prst="rect">
                        <a:avLst/>
                      </a:prstGeom>
                    </p:spPr>
                  </p:pic>
                </p:oleObj>
              </mc:Fallback>
            </mc:AlternateContent>
          </a:graphicData>
        </a:graphic>
      </p:graphicFrame>
      <p:graphicFrame>
        <p:nvGraphicFramePr>
          <p:cNvPr id="40" name="对象 39">
            <a:extLst>
              <a:ext uri="{FF2B5EF4-FFF2-40B4-BE49-F238E27FC236}">
                <a16:creationId xmlns:a16="http://schemas.microsoft.com/office/drawing/2014/main" id="{7E28ECF1-4D8C-87AC-34BB-EFD441EC6B5C}"/>
              </a:ext>
            </a:extLst>
          </p:cNvPr>
          <p:cNvGraphicFramePr>
            <a:graphicFrameLocks noChangeAspect="1"/>
          </p:cNvGraphicFramePr>
          <p:nvPr>
            <p:extLst>
              <p:ext uri="{D42A27DB-BD31-4B8C-83A1-F6EECF244321}">
                <p14:modId xmlns:p14="http://schemas.microsoft.com/office/powerpoint/2010/main" val="4238117859"/>
              </p:ext>
            </p:extLst>
          </p:nvPr>
        </p:nvGraphicFramePr>
        <p:xfrm>
          <a:off x="4927600" y="2641600"/>
          <a:ext cx="914400" cy="198438"/>
        </p:xfrm>
        <a:graphic>
          <a:graphicData uri="http://schemas.openxmlformats.org/presentationml/2006/ole">
            <mc:AlternateContent xmlns:mc="http://schemas.openxmlformats.org/markup-compatibility/2006">
              <mc:Choice xmlns:v="urn:schemas-microsoft-com:vml" Requires="v">
                <p:oleObj name="Equation" r:id="rId34" imgW="914400" imgH="198720" progId="Equation.DSMT4">
                  <p:embed/>
                </p:oleObj>
              </mc:Choice>
              <mc:Fallback>
                <p:oleObj name="Equation" r:id="rId34" imgW="914400" imgH="198720" progId="Equation.DSMT4">
                  <p:embed/>
                  <p:pic>
                    <p:nvPicPr>
                      <p:cNvPr id="40" name="对象 39">
                        <a:extLst>
                          <a:ext uri="{FF2B5EF4-FFF2-40B4-BE49-F238E27FC236}">
                            <a16:creationId xmlns:a16="http://schemas.microsoft.com/office/drawing/2014/main" id="{7E28ECF1-4D8C-87AC-34BB-EFD441EC6B5C}"/>
                          </a:ext>
                        </a:extLst>
                      </p:cNvPr>
                      <p:cNvPicPr/>
                      <p:nvPr/>
                    </p:nvPicPr>
                    <p:blipFill>
                      <a:blip r:embed="rId35"/>
                      <a:stretch>
                        <a:fillRect/>
                      </a:stretch>
                    </p:blipFill>
                    <p:spPr>
                      <a:xfrm>
                        <a:off x="4927600" y="2641600"/>
                        <a:ext cx="914400" cy="198438"/>
                      </a:xfrm>
                      <a:prstGeom prst="rect">
                        <a:avLst/>
                      </a:prstGeom>
                    </p:spPr>
                  </p:pic>
                </p:oleObj>
              </mc:Fallback>
            </mc:AlternateContent>
          </a:graphicData>
        </a:graphic>
      </p:graphicFrame>
      <p:sp>
        <p:nvSpPr>
          <p:cNvPr id="43" name="文本框 42">
            <a:extLst>
              <a:ext uri="{FF2B5EF4-FFF2-40B4-BE49-F238E27FC236}">
                <a16:creationId xmlns:a16="http://schemas.microsoft.com/office/drawing/2014/main" id="{A7D37BE0-9377-59D6-341C-A7A8EFE0396E}"/>
              </a:ext>
            </a:extLst>
          </p:cNvPr>
          <p:cNvSpPr txBox="1"/>
          <p:nvPr/>
        </p:nvSpPr>
        <p:spPr>
          <a:xfrm>
            <a:off x="859421" y="4434792"/>
            <a:ext cx="9323406" cy="369332"/>
          </a:xfrm>
          <a:prstGeom prst="rect">
            <a:avLst/>
          </a:prstGeom>
          <a:noFill/>
        </p:spPr>
        <p:txBody>
          <a:bodyPr wrap="square">
            <a:spAutoFit/>
          </a:bodyPr>
          <a:lstStyle/>
          <a:p>
            <a:pPr algn="just" fontAlgn="ctr">
              <a:buNone/>
            </a:pPr>
            <a:r>
              <a:rPr lang="zh-CN" altLang="zh-CN" sz="1800" kern="100" dirty="0">
                <a:effectLst/>
                <a:latin typeface="Times New Roman" panose="02020603050405020304" pitchFamily="18" charset="0"/>
                <a:ea typeface="宋体" panose="02010600030101010101" pitchFamily="2" charset="-122"/>
              </a:rPr>
              <a:t>式中，</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观测噪声假定为高斯白噪声，且</a:t>
            </a:r>
            <a:r>
              <a:rPr lang="en-US" altLang="zh-CN" sz="1800" kern="100" dirty="0">
                <a:effectLst/>
                <a:latin typeface="Times New Roman" panose="02020603050405020304" pitchFamily="18" charset="0"/>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p:txBody>
      </p:sp>
      <p:graphicFrame>
        <p:nvGraphicFramePr>
          <p:cNvPr id="44" name="对象 43">
            <a:extLst>
              <a:ext uri="{FF2B5EF4-FFF2-40B4-BE49-F238E27FC236}">
                <a16:creationId xmlns:a16="http://schemas.microsoft.com/office/drawing/2014/main" id="{838BDBF5-C468-917A-D6D8-F7BB2F2FC3E2}"/>
              </a:ext>
            </a:extLst>
          </p:cNvPr>
          <p:cNvGraphicFramePr>
            <a:graphicFrameLocks noChangeAspect="1"/>
          </p:cNvGraphicFramePr>
          <p:nvPr>
            <p:extLst>
              <p:ext uri="{D42A27DB-BD31-4B8C-83A1-F6EECF244321}">
                <p14:modId xmlns:p14="http://schemas.microsoft.com/office/powerpoint/2010/main" val="2806912776"/>
              </p:ext>
            </p:extLst>
          </p:nvPr>
        </p:nvGraphicFramePr>
        <p:xfrm>
          <a:off x="1420652" y="4264805"/>
          <a:ext cx="455862" cy="618670"/>
        </p:xfrm>
        <a:graphic>
          <a:graphicData uri="http://schemas.openxmlformats.org/presentationml/2006/ole">
            <mc:AlternateContent xmlns:mc="http://schemas.openxmlformats.org/markup-compatibility/2006">
              <mc:Choice xmlns:v="urn:schemas-microsoft-com:vml" Requires="v">
                <p:oleObj name="Equation" r:id="rId36" imgW="177480" imgH="241200" progId="Equation.DSMT4">
                  <p:embed/>
                </p:oleObj>
              </mc:Choice>
              <mc:Fallback>
                <p:oleObj name="Equation" r:id="rId36" imgW="177480" imgH="241200" progId="Equation.DSMT4">
                  <p:embed/>
                  <p:pic>
                    <p:nvPicPr>
                      <p:cNvPr id="44" name="对象 43">
                        <a:extLst>
                          <a:ext uri="{FF2B5EF4-FFF2-40B4-BE49-F238E27FC236}">
                            <a16:creationId xmlns:a16="http://schemas.microsoft.com/office/drawing/2014/main" id="{838BDBF5-C468-917A-D6D8-F7BB2F2FC3E2}"/>
                          </a:ext>
                        </a:extLst>
                      </p:cNvPr>
                      <p:cNvPicPr/>
                      <p:nvPr/>
                    </p:nvPicPr>
                    <p:blipFill>
                      <a:blip r:embed="rId37"/>
                      <a:stretch>
                        <a:fillRect/>
                      </a:stretch>
                    </p:blipFill>
                    <p:spPr>
                      <a:xfrm>
                        <a:off x="1420652" y="4264805"/>
                        <a:ext cx="455862" cy="618670"/>
                      </a:xfrm>
                      <a:prstGeom prst="rect">
                        <a:avLst/>
                      </a:prstGeom>
                    </p:spPr>
                  </p:pic>
                </p:oleObj>
              </mc:Fallback>
            </mc:AlternateContent>
          </a:graphicData>
        </a:graphic>
      </p:graphicFrame>
      <p:sp>
        <p:nvSpPr>
          <p:cNvPr id="47" name="文本框 46">
            <a:extLst>
              <a:ext uri="{FF2B5EF4-FFF2-40B4-BE49-F238E27FC236}">
                <a16:creationId xmlns:a16="http://schemas.microsoft.com/office/drawing/2014/main" id="{1AB36BC9-DA36-B6FD-EC63-1DEBC7AA591E}"/>
              </a:ext>
            </a:extLst>
          </p:cNvPr>
          <p:cNvSpPr txBox="1"/>
          <p:nvPr/>
        </p:nvSpPr>
        <p:spPr>
          <a:xfrm>
            <a:off x="872529" y="4908790"/>
            <a:ext cx="9323406" cy="369332"/>
          </a:xfrm>
          <a:prstGeom prst="rect">
            <a:avLst/>
          </a:prstGeom>
          <a:noFill/>
        </p:spPr>
        <p:txBody>
          <a:bodyPr wrap="square">
            <a:spAutoFit/>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当</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为非线性函数时，类似，可以求得线性化的观测方程</a:t>
            </a:r>
            <a:endParaRPr lang="zh-CN" altLang="en-US" dirty="0"/>
          </a:p>
        </p:txBody>
      </p:sp>
      <p:sp>
        <p:nvSpPr>
          <p:cNvPr id="50" name="文本框 49">
            <a:extLst>
              <a:ext uri="{FF2B5EF4-FFF2-40B4-BE49-F238E27FC236}">
                <a16:creationId xmlns:a16="http://schemas.microsoft.com/office/drawing/2014/main" id="{94565130-6475-F174-A3D9-E1773C1D4815}"/>
              </a:ext>
            </a:extLst>
          </p:cNvPr>
          <p:cNvSpPr txBox="1"/>
          <p:nvPr/>
        </p:nvSpPr>
        <p:spPr>
          <a:xfrm>
            <a:off x="735737" y="5999900"/>
            <a:ext cx="9034040" cy="369332"/>
          </a:xfrm>
          <a:prstGeom prst="rect">
            <a:avLst/>
          </a:prstGeom>
          <a:noFill/>
        </p:spPr>
        <p:txBody>
          <a:bodyPr wrap="square">
            <a:spAutoFit/>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式中，</a:t>
            </a:r>
            <a:endParaRPr lang="zh-CN" altLang="en-US" dirty="0"/>
          </a:p>
        </p:txBody>
      </p:sp>
    </p:spTree>
    <p:extLst>
      <p:ext uri="{BB962C8B-B14F-4D97-AF65-F5344CB8AC3E}">
        <p14:creationId xmlns:p14="http://schemas.microsoft.com/office/powerpoint/2010/main" val="27909282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4560AB8-8EF9-0F22-A68D-5B9026067A6D}"/>
              </a:ext>
            </a:extLst>
          </p:cNvPr>
          <p:cNvSpPr txBox="1"/>
          <p:nvPr/>
        </p:nvSpPr>
        <p:spPr>
          <a:xfrm>
            <a:off x="-427867" y="851076"/>
            <a:ext cx="7406182" cy="597921"/>
          </a:xfrm>
          <a:prstGeom prst="rect">
            <a:avLst/>
          </a:prstGeom>
          <a:noFill/>
        </p:spPr>
        <p:txBody>
          <a:bodyPr wrap="square">
            <a:spAutoFit/>
          </a:bodyPr>
          <a:lstStyle/>
          <a:p>
            <a:pPr indent="720000">
              <a:lnSpc>
                <a:spcPct val="130000"/>
              </a:lnSpc>
            </a:pPr>
            <a:r>
              <a:rPr lang="en-US" altLang="zh-CN" sz="2800" b="1">
                <a:solidFill>
                  <a:srgbClr val="000000"/>
                </a:solidFill>
                <a:latin typeface="微软雅黑" panose="020B0503020204020204" pitchFamily="34" charset="-122"/>
                <a:ea typeface="微软雅黑" panose="020B0503020204020204" pitchFamily="34" charset="-122"/>
              </a:rPr>
              <a:t>6.2.1 </a:t>
            </a:r>
            <a:r>
              <a:rPr lang="zh-CN" altLang="en-US" sz="2800" b="1">
                <a:solidFill>
                  <a:srgbClr val="000000"/>
                </a:solidFill>
                <a:latin typeface="微软雅黑" panose="020B0503020204020204" pitchFamily="34" charset="-122"/>
                <a:ea typeface="微软雅黑" panose="020B0503020204020204" pitchFamily="34" charset="-122"/>
              </a:rPr>
              <a:t>基于超宽带测距的协同导航算法</a:t>
            </a:r>
            <a:endParaRPr lang="zh-CN" altLang="zh-CN" sz="2000" b="1">
              <a:solidFill>
                <a:srgbClr val="0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82A6AB1B-676D-2057-9B01-E55F79A85AC0}"/>
              </a:ext>
            </a:extLst>
          </p:cNvPr>
          <p:cNvPicPr>
            <a:picLocks noChangeAspect="1"/>
          </p:cNvPicPr>
          <p:nvPr/>
        </p:nvPicPr>
        <p:blipFill>
          <a:blip r:embed="rId2"/>
          <a:stretch>
            <a:fillRect/>
          </a:stretch>
        </p:blipFill>
        <p:spPr>
          <a:xfrm>
            <a:off x="6866437" y="2151112"/>
            <a:ext cx="4896319" cy="3652921"/>
          </a:xfrm>
          <a:prstGeom prst="rect">
            <a:avLst/>
          </a:prstGeom>
        </p:spPr>
      </p:pic>
      <p:sp>
        <p:nvSpPr>
          <p:cNvPr id="6" name="文本框 5">
            <a:extLst>
              <a:ext uri="{FF2B5EF4-FFF2-40B4-BE49-F238E27FC236}">
                <a16:creationId xmlns:a16="http://schemas.microsoft.com/office/drawing/2014/main" id="{367F5FCE-0DDB-0609-196C-274ADD58E402}"/>
              </a:ext>
            </a:extLst>
          </p:cNvPr>
          <p:cNvSpPr txBox="1"/>
          <p:nvPr/>
        </p:nvSpPr>
        <p:spPr>
          <a:xfrm>
            <a:off x="228599" y="1710605"/>
            <a:ext cx="6309360" cy="4093428"/>
          </a:xfrm>
          <a:prstGeom prst="rect">
            <a:avLst/>
          </a:prstGeom>
          <a:noFill/>
        </p:spPr>
        <p:txBody>
          <a:bodyPr wrap="square">
            <a:spAutoFit/>
          </a:bodyPr>
          <a:lstStyle/>
          <a:p>
            <a:pPr indent="720000" fontAlgn="ctr">
              <a:lnSpc>
                <a:spcPct val="130000"/>
              </a:lnSpc>
            </a:pPr>
            <a:r>
              <a:rPr lang="zh-CN" altLang="zh-CN" sz="2000" b="1" dirty="0">
                <a:solidFill>
                  <a:srgbClr val="000000"/>
                </a:solidFill>
                <a:latin typeface="微软雅黑" panose="020B0503020204020204" pitchFamily="34" charset="-122"/>
                <a:ea typeface="微软雅黑" panose="020B0503020204020204" pitchFamily="34" charset="-122"/>
              </a:rPr>
              <a:t>超宽带测距原理主要有两种方式，分别是双向飞行时间法（</a:t>
            </a:r>
            <a:r>
              <a:rPr lang="en-US" altLang="zh-CN" sz="2000" b="1" dirty="0">
                <a:solidFill>
                  <a:srgbClr val="000000"/>
                </a:solidFill>
                <a:latin typeface="微软雅黑" panose="020B0503020204020204" pitchFamily="34" charset="-122"/>
                <a:ea typeface="微软雅黑" panose="020B0503020204020204" pitchFamily="34" charset="-122"/>
              </a:rPr>
              <a:t>Two-Way Time of Flight, TW-TOF</a:t>
            </a:r>
            <a:r>
              <a:rPr lang="zh-CN" altLang="zh-CN" sz="2000" b="1" dirty="0">
                <a:solidFill>
                  <a:srgbClr val="000000"/>
                </a:solidFill>
                <a:latin typeface="微软雅黑" panose="020B0503020204020204" pitchFamily="34" charset="-122"/>
                <a:ea typeface="微软雅黑" panose="020B0503020204020204" pitchFamily="34" charset="-122"/>
              </a:rPr>
              <a:t>）和单边双向测距法（</a:t>
            </a:r>
            <a:r>
              <a:rPr lang="en-US" altLang="zh-CN" sz="2000" b="1" dirty="0">
                <a:solidFill>
                  <a:srgbClr val="000000"/>
                </a:solidFill>
                <a:latin typeface="微软雅黑" panose="020B0503020204020204" pitchFamily="34" charset="-122"/>
                <a:ea typeface="微软雅黑" panose="020B0503020204020204" pitchFamily="34" charset="-122"/>
              </a:rPr>
              <a:t>Single-Sided Two-Way Ranging, SS-TWR</a:t>
            </a:r>
            <a:r>
              <a:rPr lang="zh-CN" altLang="zh-CN" sz="2000" b="1" dirty="0">
                <a:solidFill>
                  <a:srgbClr val="000000"/>
                </a:solidFill>
                <a:latin typeface="微软雅黑" panose="020B0503020204020204" pitchFamily="34" charset="-122"/>
                <a:ea typeface="微软雅黑" panose="020B0503020204020204" pitchFamily="34" charset="-122"/>
              </a:rPr>
              <a:t>）。双向飞行时间法是</a:t>
            </a:r>
            <a:r>
              <a:rPr lang="en-US" altLang="zh-CN" sz="2000" b="1" dirty="0">
                <a:solidFill>
                  <a:srgbClr val="000000"/>
                </a:solidFill>
                <a:latin typeface="微软雅黑" panose="020B0503020204020204" pitchFamily="34" charset="-122"/>
                <a:ea typeface="微软雅黑" panose="020B0503020204020204" pitchFamily="34" charset="-122"/>
              </a:rPr>
              <a:t>UWB</a:t>
            </a:r>
            <a:r>
              <a:rPr lang="zh-CN" altLang="zh-CN" sz="2000" b="1" dirty="0">
                <a:solidFill>
                  <a:srgbClr val="000000"/>
                </a:solidFill>
                <a:latin typeface="微软雅黑" panose="020B0503020204020204" pitchFamily="34" charset="-122"/>
                <a:ea typeface="微软雅黑" panose="020B0503020204020204" pitchFamily="34" charset="-122"/>
              </a:rPr>
              <a:t>测距中最常用的方法，它涉及到两个设备之间的通信：一个作为发射器，另一个作为接收器。发射器发送一个脉冲信号，接收器接收到信号后，会发送一个响应信号回发射器。发射器接收到响应信号后，通过计算信号往返的时间，可以确定两个设备之间的距离。由于信号往返，所以实际使用的是单程时间的一半来计算距离。</a:t>
            </a:r>
          </a:p>
        </p:txBody>
      </p:sp>
    </p:spTree>
    <p:extLst>
      <p:ext uri="{BB962C8B-B14F-4D97-AF65-F5344CB8AC3E}">
        <p14:creationId xmlns:p14="http://schemas.microsoft.com/office/powerpoint/2010/main" val="42539271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A591B-4EF0-471E-EB64-D6940C88DF4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9E0D8B7E-9834-EF47-A785-65E0084DC733}"/>
              </a:ext>
            </a:extLst>
          </p:cNvPr>
          <p:cNvSpPr txBox="1"/>
          <p:nvPr/>
        </p:nvSpPr>
        <p:spPr>
          <a:xfrm>
            <a:off x="-427867" y="851076"/>
            <a:ext cx="7406182" cy="597921"/>
          </a:xfrm>
          <a:prstGeom prst="rect">
            <a:avLst/>
          </a:prstGeom>
          <a:noFill/>
        </p:spPr>
        <p:txBody>
          <a:bodyPr wrap="square">
            <a:spAutoFit/>
          </a:bodyPr>
          <a:lstStyle/>
          <a:p>
            <a:pPr indent="720000">
              <a:lnSpc>
                <a:spcPct val="130000"/>
              </a:lnSpc>
            </a:pPr>
            <a:r>
              <a:rPr lang="en-US" altLang="zh-CN" sz="2800" b="1">
                <a:solidFill>
                  <a:srgbClr val="000000"/>
                </a:solidFill>
                <a:latin typeface="微软雅黑" panose="020B0503020204020204" pitchFamily="34" charset="-122"/>
                <a:ea typeface="微软雅黑" panose="020B0503020204020204" pitchFamily="34" charset="-122"/>
              </a:rPr>
              <a:t>6.2.1 </a:t>
            </a:r>
            <a:r>
              <a:rPr lang="zh-CN" altLang="en-US" sz="2800" b="1">
                <a:solidFill>
                  <a:srgbClr val="000000"/>
                </a:solidFill>
                <a:latin typeface="微软雅黑" panose="020B0503020204020204" pitchFamily="34" charset="-122"/>
                <a:ea typeface="微软雅黑" panose="020B0503020204020204" pitchFamily="34" charset="-122"/>
              </a:rPr>
              <a:t>基于超宽带测距的协同导航算法</a:t>
            </a:r>
            <a:endParaRPr lang="zh-CN" altLang="zh-CN" sz="2000" b="1">
              <a:solidFill>
                <a:srgbClr val="0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C2C710CB-4495-50C9-4F7E-8EFFE678F1F1}"/>
              </a:ext>
            </a:extLst>
          </p:cNvPr>
          <p:cNvPicPr>
            <a:picLocks noChangeAspect="1"/>
          </p:cNvPicPr>
          <p:nvPr/>
        </p:nvPicPr>
        <p:blipFill>
          <a:blip r:embed="rId2"/>
          <a:stretch>
            <a:fillRect/>
          </a:stretch>
        </p:blipFill>
        <p:spPr>
          <a:xfrm>
            <a:off x="7931715" y="1448997"/>
            <a:ext cx="3531019" cy="3173463"/>
          </a:xfrm>
          <a:prstGeom prst="rect">
            <a:avLst/>
          </a:prstGeom>
        </p:spPr>
      </p:pic>
      <p:sp>
        <p:nvSpPr>
          <p:cNvPr id="8" name="文本框 7">
            <a:extLst>
              <a:ext uri="{FF2B5EF4-FFF2-40B4-BE49-F238E27FC236}">
                <a16:creationId xmlns:a16="http://schemas.microsoft.com/office/drawing/2014/main" id="{926472D5-F476-3AE2-1EFF-1DA49D5311ED}"/>
              </a:ext>
            </a:extLst>
          </p:cNvPr>
          <p:cNvSpPr txBox="1"/>
          <p:nvPr/>
        </p:nvSpPr>
        <p:spPr>
          <a:xfrm>
            <a:off x="530208" y="2162286"/>
            <a:ext cx="7102626" cy="1692771"/>
          </a:xfrm>
          <a:prstGeom prst="rect">
            <a:avLst/>
          </a:prstGeom>
          <a:noFill/>
        </p:spPr>
        <p:txBody>
          <a:bodyPr wrap="square">
            <a:spAutoFit/>
          </a:bodyPr>
          <a:lstStyle/>
          <a:p>
            <a:pPr indent="720000" fontAlgn="ctr">
              <a:lnSpc>
                <a:spcPct val="130000"/>
              </a:lnSpc>
            </a:pPr>
            <a:r>
              <a:rPr lang="zh-CN" altLang="zh-CN" sz="2000" b="1" dirty="0">
                <a:solidFill>
                  <a:srgbClr val="000000"/>
                </a:solidFill>
                <a:latin typeface="微软雅黑" panose="020B0503020204020204" pitchFamily="34" charset="-122"/>
                <a:ea typeface="微软雅黑" panose="020B0503020204020204" pitchFamily="34" charset="-122"/>
              </a:rPr>
              <a:t>集中式协同导航通过一个中央处理单元来进行协同导航解算，中央处理器可以是某一个节点，也可以是集群控制地面站。中央处理器将收集所有节点的导航状态和相对观测信息进行导航参数估计，然后将校正的导航参数返回给各节点。</a:t>
            </a:r>
          </a:p>
        </p:txBody>
      </p:sp>
      <p:graphicFrame>
        <p:nvGraphicFramePr>
          <p:cNvPr id="9" name="对象 8">
            <a:extLst>
              <a:ext uri="{FF2B5EF4-FFF2-40B4-BE49-F238E27FC236}">
                <a16:creationId xmlns:a16="http://schemas.microsoft.com/office/drawing/2014/main" id="{5C438C15-4DC2-E0CF-3745-AA5C420327EC}"/>
              </a:ext>
            </a:extLst>
          </p:cNvPr>
          <p:cNvGraphicFramePr>
            <a:graphicFrameLocks noChangeAspect="1"/>
          </p:cNvGraphicFramePr>
          <p:nvPr>
            <p:extLst>
              <p:ext uri="{D42A27DB-BD31-4B8C-83A1-F6EECF244321}">
                <p14:modId xmlns:p14="http://schemas.microsoft.com/office/powerpoint/2010/main" val="3055759282"/>
              </p:ext>
            </p:extLst>
          </p:nvPr>
        </p:nvGraphicFramePr>
        <p:xfrm>
          <a:off x="1860181" y="4592700"/>
          <a:ext cx="6162489" cy="1832091"/>
        </p:xfrm>
        <a:graphic>
          <a:graphicData uri="http://schemas.openxmlformats.org/presentationml/2006/ole">
            <mc:AlternateContent xmlns:mc="http://schemas.openxmlformats.org/markup-compatibility/2006">
              <mc:Choice xmlns:v="urn:schemas-microsoft-com:vml" Requires="v">
                <p:oleObj name="Equation" r:id="rId3" imgW="3523952" imgH="1047488" progId="Equation.DSMT4">
                  <p:embed/>
                </p:oleObj>
              </mc:Choice>
              <mc:Fallback>
                <p:oleObj name="Equation" r:id="rId3" imgW="3523952" imgH="1047488" progId="Equation.DSMT4">
                  <p:embed/>
                  <p:pic>
                    <p:nvPicPr>
                      <p:cNvPr id="9" name="对象 8">
                        <a:extLst>
                          <a:ext uri="{FF2B5EF4-FFF2-40B4-BE49-F238E27FC236}">
                            <a16:creationId xmlns:a16="http://schemas.microsoft.com/office/drawing/2014/main" id="{5C438C15-4DC2-E0CF-3745-AA5C420327EC}"/>
                          </a:ext>
                        </a:extLst>
                      </p:cNvPr>
                      <p:cNvPicPr/>
                      <p:nvPr/>
                    </p:nvPicPr>
                    <p:blipFill>
                      <a:blip r:embed="rId4"/>
                      <a:stretch>
                        <a:fillRect/>
                      </a:stretch>
                    </p:blipFill>
                    <p:spPr>
                      <a:xfrm>
                        <a:off x="1860181" y="4592700"/>
                        <a:ext cx="6162489" cy="1832091"/>
                      </a:xfrm>
                      <a:prstGeom prst="rect">
                        <a:avLst/>
                      </a:prstGeom>
                    </p:spPr>
                  </p:pic>
                </p:oleObj>
              </mc:Fallback>
            </mc:AlternateContent>
          </a:graphicData>
        </a:graphic>
      </p:graphicFrame>
    </p:spTree>
    <p:extLst>
      <p:ext uri="{BB962C8B-B14F-4D97-AF65-F5344CB8AC3E}">
        <p14:creationId xmlns:p14="http://schemas.microsoft.com/office/powerpoint/2010/main" val="24464231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5706D-2411-8DFF-53F2-EA3F6D08D97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908B1052-DFC3-57D1-FDD3-F4417EB5FE59}"/>
              </a:ext>
            </a:extLst>
          </p:cNvPr>
          <p:cNvSpPr txBox="1"/>
          <p:nvPr/>
        </p:nvSpPr>
        <p:spPr>
          <a:xfrm>
            <a:off x="-427867" y="851076"/>
            <a:ext cx="7406182" cy="597921"/>
          </a:xfrm>
          <a:prstGeom prst="rect">
            <a:avLst/>
          </a:prstGeom>
          <a:noFill/>
        </p:spPr>
        <p:txBody>
          <a:bodyPr wrap="square">
            <a:spAutoFit/>
          </a:bodyPr>
          <a:lstStyle/>
          <a:p>
            <a:pPr indent="720000">
              <a:lnSpc>
                <a:spcPct val="130000"/>
              </a:lnSpc>
            </a:pPr>
            <a:r>
              <a:rPr lang="en-US" altLang="zh-CN" sz="2800" b="1">
                <a:solidFill>
                  <a:srgbClr val="000000"/>
                </a:solidFill>
                <a:latin typeface="微软雅黑" panose="020B0503020204020204" pitchFamily="34" charset="-122"/>
                <a:ea typeface="微软雅黑" panose="020B0503020204020204" pitchFamily="34" charset="-122"/>
              </a:rPr>
              <a:t>6.2.1 </a:t>
            </a:r>
            <a:r>
              <a:rPr lang="zh-CN" altLang="en-US" sz="2800" b="1">
                <a:solidFill>
                  <a:srgbClr val="000000"/>
                </a:solidFill>
                <a:latin typeface="微软雅黑" panose="020B0503020204020204" pitchFamily="34" charset="-122"/>
                <a:ea typeface="微软雅黑" panose="020B0503020204020204" pitchFamily="34" charset="-122"/>
              </a:rPr>
              <a:t>基于超宽带测距的协同导航算法</a:t>
            </a:r>
            <a:endParaRPr lang="zh-CN" altLang="zh-CN" sz="2000" b="1">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89556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B66D9-EAE0-2CC4-6D37-AD401BABFC0E}"/>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1EDE3DD-4388-31E5-1A9C-4193F840C66C}"/>
              </a:ext>
            </a:extLst>
          </p:cNvPr>
          <p:cNvSpPr txBox="1"/>
          <p:nvPr/>
        </p:nvSpPr>
        <p:spPr>
          <a:xfrm>
            <a:off x="-427867" y="851076"/>
            <a:ext cx="7406182" cy="597921"/>
          </a:xfrm>
          <a:prstGeom prst="rect">
            <a:avLst/>
          </a:prstGeom>
          <a:noFill/>
        </p:spPr>
        <p:txBody>
          <a:bodyPr wrap="square">
            <a:spAutoFit/>
          </a:bodyPr>
          <a:lstStyle/>
          <a:p>
            <a:pPr indent="720000">
              <a:lnSpc>
                <a:spcPct val="130000"/>
              </a:lnSpc>
            </a:pPr>
            <a:r>
              <a:rPr lang="en-US" altLang="zh-CN" sz="2800" b="1">
                <a:solidFill>
                  <a:srgbClr val="000000"/>
                </a:solidFill>
                <a:latin typeface="微软雅黑" panose="020B0503020204020204" pitchFamily="34" charset="-122"/>
                <a:ea typeface="微软雅黑" panose="020B0503020204020204" pitchFamily="34" charset="-122"/>
              </a:rPr>
              <a:t>6.2.1 </a:t>
            </a:r>
            <a:r>
              <a:rPr lang="zh-CN" altLang="en-US" sz="2800" b="1">
                <a:solidFill>
                  <a:srgbClr val="000000"/>
                </a:solidFill>
                <a:latin typeface="微软雅黑" panose="020B0503020204020204" pitchFamily="34" charset="-122"/>
                <a:ea typeface="微软雅黑" panose="020B0503020204020204" pitchFamily="34" charset="-122"/>
              </a:rPr>
              <a:t>基于超宽带测距的协同导航算法</a:t>
            </a:r>
            <a:endParaRPr lang="zh-CN" altLang="zh-CN" sz="2000" b="1">
              <a:solidFill>
                <a:srgbClr val="0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98D1F3D8-AEDC-97D0-2C77-EFDB29EA6F3D}"/>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7123998" y="2172351"/>
            <a:ext cx="4447870" cy="3314049"/>
          </a:xfrm>
          <a:prstGeom prst="rect">
            <a:avLst/>
          </a:prstGeom>
        </p:spPr>
      </p:pic>
      <p:sp>
        <p:nvSpPr>
          <p:cNvPr id="6" name="文本框 5">
            <a:extLst>
              <a:ext uri="{FF2B5EF4-FFF2-40B4-BE49-F238E27FC236}">
                <a16:creationId xmlns:a16="http://schemas.microsoft.com/office/drawing/2014/main" id="{E605ED42-4A5B-2B5F-1D34-F4F187C1BC26}"/>
              </a:ext>
            </a:extLst>
          </p:cNvPr>
          <p:cNvSpPr txBox="1"/>
          <p:nvPr/>
        </p:nvSpPr>
        <p:spPr>
          <a:xfrm>
            <a:off x="620132" y="2382825"/>
            <a:ext cx="6309360" cy="2893100"/>
          </a:xfrm>
          <a:prstGeom prst="rect">
            <a:avLst/>
          </a:prstGeom>
          <a:noFill/>
        </p:spPr>
        <p:txBody>
          <a:bodyPr wrap="square">
            <a:spAutoFit/>
          </a:bodyPr>
          <a:lstStyle/>
          <a:p>
            <a:pPr indent="720000" fontAlgn="ctr">
              <a:lnSpc>
                <a:spcPct val="130000"/>
              </a:lnSpc>
            </a:pPr>
            <a:r>
              <a:rPr lang="zh-CN" altLang="zh-CN" sz="2000" b="1">
                <a:solidFill>
                  <a:srgbClr val="000000"/>
                </a:solidFill>
                <a:latin typeface="微软雅黑" panose="020B0503020204020204" pitchFamily="34" charset="-122"/>
                <a:ea typeface="微软雅黑" panose="020B0503020204020204" pitchFamily="34" charset="-122"/>
              </a:rPr>
              <a:t>分布式测距协同依赖于多个独立的节点或设备，这些节点分布在一个区域中，并且能够相互通信。每个节点都能够测量到其他节点或目标的距离，然后通过协同合作来确定整个网络中所有节点的位置。采样分布式协同导航方案，集群中的节点没有主从之分，在部分无人机损坏的情况下，无人机群仍然能够正常进行导航定位，因此系统的鲁棒性较强。分布式协同算法框架如下：</a:t>
            </a:r>
          </a:p>
        </p:txBody>
      </p:sp>
      <p:graphicFrame>
        <p:nvGraphicFramePr>
          <p:cNvPr id="7" name="对象 6">
            <a:extLst>
              <a:ext uri="{FF2B5EF4-FFF2-40B4-BE49-F238E27FC236}">
                <a16:creationId xmlns:a16="http://schemas.microsoft.com/office/drawing/2014/main" id="{E0B257C6-367D-5978-9F99-558FD57E27DD}"/>
              </a:ext>
            </a:extLst>
          </p:cNvPr>
          <p:cNvGraphicFramePr>
            <a:graphicFrameLocks noChangeAspect="1"/>
          </p:cNvGraphicFramePr>
          <p:nvPr>
            <p:extLst>
              <p:ext uri="{D42A27DB-BD31-4B8C-83A1-F6EECF244321}">
                <p14:modId xmlns:p14="http://schemas.microsoft.com/office/powerpoint/2010/main" val="2650526397"/>
              </p:ext>
            </p:extLst>
          </p:nvPr>
        </p:nvGraphicFramePr>
        <p:xfrm>
          <a:off x="4071548" y="5658450"/>
          <a:ext cx="4594694" cy="696948"/>
        </p:xfrm>
        <a:graphic>
          <a:graphicData uri="http://schemas.openxmlformats.org/presentationml/2006/ole">
            <mc:AlternateContent xmlns:mc="http://schemas.openxmlformats.org/markup-compatibility/2006">
              <mc:Choice xmlns:v="urn:schemas-microsoft-com:vml" Requires="v">
                <p:oleObj name="Equation" r:id="rId4" imgW="1695385" imgH="257013" progId="Equation.DSMT4">
                  <p:embed/>
                </p:oleObj>
              </mc:Choice>
              <mc:Fallback>
                <p:oleObj name="Equation" r:id="rId4" imgW="1695385" imgH="257013" progId="Equation.DSMT4">
                  <p:embed/>
                  <p:pic>
                    <p:nvPicPr>
                      <p:cNvPr id="7" name="对象 6">
                        <a:extLst>
                          <a:ext uri="{FF2B5EF4-FFF2-40B4-BE49-F238E27FC236}">
                            <a16:creationId xmlns:a16="http://schemas.microsoft.com/office/drawing/2014/main" id="{E0B257C6-367D-5978-9F99-558FD57E27DD}"/>
                          </a:ext>
                        </a:extLst>
                      </p:cNvPr>
                      <p:cNvPicPr/>
                      <p:nvPr/>
                    </p:nvPicPr>
                    <p:blipFill>
                      <a:blip r:embed="rId5"/>
                      <a:stretch>
                        <a:fillRect/>
                      </a:stretch>
                    </p:blipFill>
                    <p:spPr>
                      <a:xfrm>
                        <a:off x="4071548" y="5658450"/>
                        <a:ext cx="4594694" cy="696948"/>
                      </a:xfrm>
                      <a:prstGeom prst="rect">
                        <a:avLst/>
                      </a:prstGeom>
                    </p:spPr>
                  </p:pic>
                </p:oleObj>
              </mc:Fallback>
            </mc:AlternateContent>
          </a:graphicData>
        </a:graphic>
      </p:graphicFrame>
    </p:spTree>
    <p:extLst>
      <p:ext uri="{BB962C8B-B14F-4D97-AF65-F5344CB8AC3E}">
        <p14:creationId xmlns:p14="http://schemas.microsoft.com/office/powerpoint/2010/main" val="14326118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DC96196-A7EB-2509-C045-93391B91A8B3}"/>
              </a:ext>
            </a:extLst>
          </p:cNvPr>
          <p:cNvSpPr txBox="1"/>
          <p:nvPr/>
        </p:nvSpPr>
        <p:spPr>
          <a:xfrm>
            <a:off x="637272" y="1512038"/>
            <a:ext cx="10917456" cy="2092881"/>
          </a:xfrm>
          <a:prstGeom prst="rect">
            <a:avLst/>
          </a:prstGeom>
          <a:noFill/>
        </p:spPr>
        <p:txBody>
          <a:bodyPr wrap="square">
            <a:spAutoFit/>
          </a:bodyPr>
          <a:lstStyle/>
          <a:p>
            <a:pPr indent="720000" fontAlgn="ctr">
              <a:lnSpc>
                <a:spcPct val="130000"/>
              </a:lnSpc>
            </a:pPr>
            <a:r>
              <a:rPr lang="zh-CN" altLang="zh-CN" sz="2000" b="1">
                <a:solidFill>
                  <a:srgbClr val="000000"/>
                </a:solidFill>
                <a:latin typeface="微软雅黑" panose="020B0503020204020204" pitchFamily="34" charset="-122"/>
                <a:ea typeface="微软雅黑" panose="020B0503020204020204" pitchFamily="34" charset="-122"/>
              </a:rPr>
              <a:t>在集群在进行测距协同时，不同的构型会对协同的精度产生影响。为了便于定量分析无人机群协同构型对精度的影响，根据测距误差的特性，仿照卫星单点定位的位置精度因子（</a:t>
            </a:r>
            <a:r>
              <a:rPr lang="en-US" altLang="zh-CN" sz="2000" b="1">
                <a:solidFill>
                  <a:srgbClr val="000000"/>
                </a:solidFill>
                <a:latin typeface="微软雅黑" panose="020B0503020204020204" pitchFamily="34" charset="-122"/>
                <a:ea typeface="微软雅黑" panose="020B0503020204020204" pitchFamily="34" charset="-122"/>
              </a:rPr>
              <a:t>Dilution of Precision</a:t>
            </a:r>
            <a:r>
              <a:rPr lang="zh-CN" altLang="zh-CN" sz="2000" b="1">
                <a:solidFill>
                  <a:srgbClr val="000000"/>
                </a:solidFill>
                <a:latin typeface="微软雅黑" panose="020B0503020204020204" pitchFamily="34" charset="-122"/>
                <a:ea typeface="微软雅黑" panose="020B0503020204020204" pitchFamily="34" charset="-122"/>
              </a:rPr>
              <a:t>，</a:t>
            </a:r>
            <a:r>
              <a:rPr lang="en-US" altLang="zh-CN" sz="2000" b="1">
                <a:solidFill>
                  <a:srgbClr val="000000"/>
                </a:solidFill>
                <a:latin typeface="微软雅黑" panose="020B0503020204020204" pitchFamily="34" charset="-122"/>
                <a:ea typeface="微软雅黑" panose="020B0503020204020204" pitchFamily="34" charset="-122"/>
              </a:rPr>
              <a:t> DOP</a:t>
            </a:r>
            <a:r>
              <a:rPr lang="zh-CN" altLang="zh-CN" sz="2000" b="1">
                <a:solidFill>
                  <a:srgbClr val="000000"/>
                </a:solidFill>
                <a:latin typeface="微软雅黑" panose="020B0503020204020204" pitchFamily="34" charset="-122"/>
                <a:ea typeface="微软雅黑" panose="020B0503020204020204" pitchFamily="34" charset="-122"/>
              </a:rPr>
              <a:t>）的定义方法，又考虑到无人机集群中包含两种不同精度的无人机，不同精度的无人机对无人机群的构型影响的权重不一样，因此定义无人机群的包含权重的协同精度因子为</a:t>
            </a:r>
            <a:r>
              <a:rPr lang="en-US" altLang="zh-CN" sz="2000" b="1">
                <a:solidFill>
                  <a:srgbClr val="000000"/>
                </a:solidFill>
                <a:latin typeface="微软雅黑" panose="020B0503020204020204" pitchFamily="34" charset="-122"/>
                <a:ea typeface="微软雅黑" panose="020B0503020204020204" pitchFamily="34" charset="-122"/>
              </a:rPr>
              <a:t>WC-DOP</a:t>
            </a:r>
            <a:r>
              <a:rPr lang="zh-CN" altLang="zh-CN" sz="2000" b="1">
                <a:solidFill>
                  <a:srgbClr val="000000"/>
                </a:solidFill>
                <a:latin typeface="微软雅黑" panose="020B0503020204020204" pitchFamily="34" charset="-122"/>
                <a:ea typeface="微软雅黑" panose="020B0503020204020204" pitchFamily="34" charset="-122"/>
              </a:rPr>
              <a:t>（</a:t>
            </a:r>
            <a:r>
              <a:rPr lang="en-US" altLang="zh-CN" sz="2000" b="1">
                <a:solidFill>
                  <a:srgbClr val="000000"/>
                </a:solidFill>
                <a:latin typeface="微软雅黑" panose="020B0503020204020204" pitchFamily="34" charset="-122"/>
                <a:ea typeface="微软雅黑" panose="020B0503020204020204" pitchFamily="34" charset="-122"/>
              </a:rPr>
              <a:t>Weight Cooperative-Dilution of Precision</a:t>
            </a:r>
            <a:r>
              <a:rPr lang="zh-CN" altLang="zh-CN" sz="2000" b="1">
                <a:solidFill>
                  <a:srgbClr val="000000"/>
                </a:solidFill>
                <a:latin typeface="微软雅黑" panose="020B0503020204020204" pitchFamily="34" charset="-122"/>
                <a:ea typeface="微软雅黑" panose="020B0503020204020204" pitchFamily="34" charset="-122"/>
              </a:rPr>
              <a:t>，</a:t>
            </a:r>
            <a:r>
              <a:rPr lang="en-US" altLang="zh-CN" sz="2000" b="1">
                <a:solidFill>
                  <a:srgbClr val="000000"/>
                </a:solidFill>
                <a:latin typeface="微软雅黑" panose="020B0503020204020204" pitchFamily="34" charset="-122"/>
                <a:ea typeface="微软雅黑" panose="020B0503020204020204" pitchFamily="34" charset="-122"/>
              </a:rPr>
              <a:t>WC-DOP</a:t>
            </a:r>
            <a:r>
              <a:rPr lang="zh-CN" altLang="zh-CN" sz="2000" b="1">
                <a:solidFill>
                  <a:srgbClr val="000000"/>
                </a:solidFill>
                <a:latin typeface="微软雅黑" panose="020B0503020204020204" pitchFamily="34" charset="-122"/>
                <a:ea typeface="微软雅黑" panose="020B0503020204020204" pitchFamily="34" charset="-122"/>
              </a:rPr>
              <a:t>）。</a:t>
            </a:r>
          </a:p>
        </p:txBody>
      </p:sp>
      <p:graphicFrame>
        <p:nvGraphicFramePr>
          <p:cNvPr id="5" name="对象 4">
            <a:extLst>
              <a:ext uri="{FF2B5EF4-FFF2-40B4-BE49-F238E27FC236}">
                <a16:creationId xmlns:a16="http://schemas.microsoft.com/office/drawing/2014/main" id="{AC56F717-37F1-3543-7367-0C86E1F471FD}"/>
              </a:ext>
            </a:extLst>
          </p:cNvPr>
          <p:cNvGraphicFramePr>
            <a:graphicFrameLocks noChangeAspect="1"/>
          </p:cNvGraphicFramePr>
          <p:nvPr>
            <p:extLst>
              <p:ext uri="{D42A27DB-BD31-4B8C-83A1-F6EECF244321}">
                <p14:modId xmlns:p14="http://schemas.microsoft.com/office/powerpoint/2010/main" val="2952761664"/>
              </p:ext>
            </p:extLst>
          </p:nvPr>
        </p:nvGraphicFramePr>
        <p:xfrm>
          <a:off x="1163353" y="4064012"/>
          <a:ext cx="9431427" cy="931499"/>
        </p:xfrm>
        <a:graphic>
          <a:graphicData uri="http://schemas.openxmlformats.org/presentationml/2006/ole">
            <mc:AlternateContent xmlns:mc="http://schemas.openxmlformats.org/markup-compatibility/2006">
              <mc:Choice xmlns:v="urn:schemas-microsoft-com:vml" Requires="v">
                <p:oleObj name="Equation" r:id="rId2" imgW="4628652" imgH="457151" progId="Equation.DSMT4">
                  <p:embed/>
                </p:oleObj>
              </mc:Choice>
              <mc:Fallback>
                <p:oleObj name="Equation" r:id="rId2" imgW="4628652" imgH="457151" progId="Equation.DSMT4">
                  <p:embed/>
                  <p:pic>
                    <p:nvPicPr>
                      <p:cNvPr id="5" name="对象 4">
                        <a:extLst>
                          <a:ext uri="{FF2B5EF4-FFF2-40B4-BE49-F238E27FC236}">
                            <a16:creationId xmlns:a16="http://schemas.microsoft.com/office/drawing/2014/main" id="{AC56F717-37F1-3543-7367-0C86E1F471FD}"/>
                          </a:ext>
                        </a:extLst>
                      </p:cNvPr>
                      <p:cNvPicPr/>
                      <p:nvPr/>
                    </p:nvPicPr>
                    <p:blipFill>
                      <a:blip r:embed="rId3"/>
                      <a:stretch>
                        <a:fillRect/>
                      </a:stretch>
                    </p:blipFill>
                    <p:spPr>
                      <a:xfrm>
                        <a:off x="1163353" y="4064012"/>
                        <a:ext cx="9431427" cy="931499"/>
                      </a:xfrm>
                      <a:prstGeom prst="rect">
                        <a:avLst/>
                      </a:prstGeom>
                    </p:spPr>
                  </p:pic>
                </p:oleObj>
              </mc:Fallback>
            </mc:AlternateContent>
          </a:graphicData>
        </a:graphic>
      </p:graphicFrame>
    </p:spTree>
    <p:extLst>
      <p:ext uri="{BB962C8B-B14F-4D97-AF65-F5344CB8AC3E}">
        <p14:creationId xmlns:p14="http://schemas.microsoft.com/office/powerpoint/2010/main" val="38094742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26B734A-42F0-BE8F-DF2F-9E67FB01A54B}"/>
              </a:ext>
            </a:extLst>
          </p:cNvPr>
          <p:cNvPicPr>
            <a:picLocks noChangeAspect="1"/>
          </p:cNvPicPr>
          <p:nvPr/>
        </p:nvPicPr>
        <p:blipFill>
          <a:blip r:embed="rId2"/>
          <a:srcRect l="11686" r="2784"/>
          <a:stretch>
            <a:fillRect/>
          </a:stretch>
        </p:blipFill>
        <p:spPr>
          <a:xfrm>
            <a:off x="6490636" y="2924391"/>
            <a:ext cx="5204059" cy="3414011"/>
          </a:xfrm>
          <a:prstGeom prst="rect">
            <a:avLst/>
          </a:prstGeom>
        </p:spPr>
      </p:pic>
      <p:pic>
        <p:nvPicPr>
          <p:cNvPr id="3" name="图片 2">
            <a:extLst>
              <a:ext uri="{FF2B5EF4-FFF2-40B4-BE49-F238E27FC236}">
                <a16:creationId xmlns:a16="http://schemas.microsoft.com/office/drawing/2014/main" id="{4357B3EB-834B-8B8C-1913-F2180756D3CD}"/>
              </a:ext>
            </a:extLst>
          </p:cNvPr>
          <p:cNvPicPr>
            <a:picLocks noChangeAspect="1"/>
          </p:cNvPicPr>
          <p:nvPr/>
        </p:nvPicPr>
        <p:blipFill>
          <a:blip r:embed="rId3"/>
          <a:srcRect l="18662" r="11083"/>
          <a:stretch>
            <a:fillRect/>
          </a:stretch>
        </p:blipFill>
        <p:spPr>
          <a:xfrm>
            <a:off x="522972" y="3211756"/>
            <a:ext cx="5293894" cy="3324689"/>
          </a:xfrm>
          <a:prstGeom prst="rect">
            <a:avLst/>
          </a:prstGeom>
        </p:spPr>
      </p:pic>
      <p:sp>
        <p:nvSpPr>
          <p:cNvPr id="6" name="文本框 5">
            <a:extLst>
              <a:ext uri="{FF2B5EF4-FFF2-40B4-BE49-F238E27FC236}">
                <a16:creationId xmlns:a16="http://schemas.microsoft.com/office/drawing/2014/main" id="{1333235C-17E9-F12F-436B-863CBF638E67}"/>
              </a:ext>
            </a:extLst>
          </p:cNvPr>
          <p:cNvSpPr txBox="1"/>
          <p:nvPr/>
        </p:nvSpPr>
        <p:spPr>
          <a:xfrm>
            <a:off x="522972" y="985051"/>
            <a:ext cx="11171723" cy="1653786"/>
          </a:xfrm>
          <a:prstGeom prst="rect">
            <a:avLst/>
          </a:prstGeom>
          <a:noFill/>
        </p:spPr>
        <p:txBody>
          <a:bodyPr wrap="square">
            <a:spAutoFit/>
          </a:bodyPr>
          <a:lstStyle/>
          <a:p>
            <a:pPr indent="720000">
              <a:lnSpc>
                <a:spcPct val="130000"/>
              </a:lnSpc>
            </a:pPr>
            <a:r>
              <a:rPr lang="zh-CN" altLang="zh-CN" sz="2000" b="1">
                <a:solidFill>
                  <a:srgbClr val="000000"/>
                </a:solidFill>
                <a:latin typeface="微软雅黑" panose="020B0503020204020204" pitchFamily="34" charset="-122"/>
                <a:ea typeface="微软雅黑" panose="020B0503020204020204" pitchFamily="34" charset="-122"/>
              </a:rPr>
              <a:t>光电吊舱通常同时具有激光测距和光电测角能力，能够获取一个目标相对于吊舱的距离、方位角、俯仰角。激光测距信息能够作为观测量抑制惯性导航系统的误差发散，将惯性与激光测距系统进行组合定位的重点是卡尔曼滤波中观测矩阵</a:t>
            </a:r>
            <a:r>
              <a:rPr lang="en-US" altLang="zh-CN" sz="2000" b="1">
                <a:solidFill>
                  <a:srgbClr val="000000"/>
                </a:solidFill>
                <a:latin typeface="微软雅黑" panose="020B0503020204020204" pitchFamily="34" charset="-122"/>
                <a:ea typeface="微软雅黑" panose="020B0503020204020204" pitchFamily="34" charset="-122"/>
              </a:rPr>
              <a:t>         </a:t>
            </a:r>
            <a:r>
              <a:rPr lang="zh-CN" altLang="zh-CN" sz="2000" b="1">
                <a:solidFill>
                  <a:srgbClr val="000000"/>
                </a:solidFill>
                <a:latin typeface="微软雅黑" panose="020B0503020204020204" pitchFamily="34" charset="-122"/>
                <a:ea typeface="微软雅黑" panose="020B0503020204020204" pitchFamily="34" charset="-122"/>
              </a:rPr>
              <a:t>残差协方差矩阵</a:t>
            </a:r>
            <a:r>
              <a:rPr lang="en-US" altLang="zh-CN" sz="2000" b="1">
                <a:solidFill>
                  <a:srgbClr val="000000"/>
                </a:solidFill>
                <a:latin typeface="微软雅黑" panose="020B0503020204020204" pitchFamily="34" charset="-122"/>
                <a:ea typeface="微软雅黑" panose="020B0503020204020204" pitchFamily="34" charset="-122"/>
              </a:rPr>
              <a:t>        </a:t>
            </a:r>
            <a:r>
              <a:rPr lang="zh-CN" altLang="zh-CN"/>
              <a:t>的</a:t>
            </a:r>
            <a:r>
              <a:rPr lang="zh-CN" altLang="zh-CN" sz="2000" b="1">
                <a:solidFill>
                  <a:srgbClr val="000000"/>
                </a:solidFill>
                <a:latin typeface="微软雅黑" panose="020B0503020204020204" pitchFamily="34" charset="-122"/>
                <a:ea typeface="微软雅黑" panose="020B0503020204020204" pitchFamily="34" charset="-122"/>
              </a:rPr>
              <a:t>设计。以当地导航系下的</a:t>
            </a:r>
            <a:r>
              <a:rPr lang="en-US" altLang="zh-CN" sz="2000" b="1">
                <a:solidFill>
                  <a:srgbClr val="000000"/>
                </a:solidFill>
                <a:latin typeface="微软雅黑" panose="020B0503020204020204" pitchFamily="34" charset="-122"/>
                <a:ea typeface="微软雅黑" panose="020B0503020204020204" pitchFamily="34" charset="-122"/>
              </a:rPr>
              <a:t>9</a:t>
            </a:r>
            <a:r>
              <a:rPr lang="zh-CN" altLang="zh-CN" sz="2000" b="1">
                <a:solidFill>
                  <a:srgbClr val="000000"/>
                </a:solidFill>
                <a:latin typeface="微软雅黑" panose="020B0503020204020204" pitchFamily="34" charset="-122"/>
                <a:ea typeface="微软雅黑" panose="020B0503020204020204" pitchFamily="34" charset="-122"/>
              </a:rPr>
              <a:t>状态卡尔曼滤波为例</a:t>
            </a:r>
            <a:endParaRPr lang="zh-CN" altLang="en-US" sz="2000" b="1">
              <a:solidFill>
                <a:srgbClr val="000000"/>
              </a:solidFill>
              <a:latin typeface="微软雅黑" panose="020B0503020204020204" pitchFamily="34" charset="-122"/>
              <a:ea typeface="微软雅黑" panose="020B0503020204020204" pitchFamily="34" charset="-122"/>
            </a:endParaRPr>
          </a:p>
        </p:txBody>
      </p:sp>
      <p:graphicFrame>
        <p:nvGraphicFramePr>
          <p:cNvPr id="7" name="对象 6">
            <a:extLst>
              <a:ext uri="{FF2B5EF4-FFF2-40B4-BE49-F238E27FC236}">
                <a16:creationId xmlns:a16="http://schemas.microsoft.com/office/drawing/2014/main" id="{971051E5-4FBC-AB61-3BB3-A38F18C232A2}"/>
              </a:ext>
            </a:extLst>
          </p:cNvPr>
          <p:cNvGraphicFramePr>
            <a:graphicFrameLocks noChangeAspect="1"/>
          </p:cNvGraphicFramePr>
          <p:nvPr>
            <p:extLst>
              <p:ext uri="{D42A27DB-BD31-4B8C-83A1-F6EECF244321}">
                <p14:modId xmlns:p14="http://schemas.microsoft.com/office/powerpoint/2010/main" val="1023041870"/>
              </p:ext>
            </p:extLst>
          </p:nvPr>
        </p:nvGraphicFramePr>
        <p:xfrm>
          <a:off x="6029498" y="1890426"/>
          <a:ext cx="375094" cy="348302"/>
        </p:xfrm>
        <a:graphic>
          <a:graphicData uri="http://schemas.openxmlformats.org/presentationml/2006/ole">
            <mc:AlternateContent xmlns:mc="http://schemas.openxmlformats.org/markup-compatibility/2006">
              <mc:Choice xmlns:v="urn:schemas-microsoft-com:vml" Requires="v">
                <p:oleObj name="Equation" r:id="rId4" imgW="133183" imgH="123827" progId="Equation.DSMT4">
                  <p:embed/>
                </p:oleObj>
              </mc:Choice>
              <mc:Fallback>
                <p:oleObj name="Equation" r:id="rId4" imgW="133183" imgH="123827" progId="Equation.DSMT4">
                  <p:embed/>
                  <p:pic>
                    <p:nvPicPr>
                      <p:cNvPr id="7" name="对象 6">
                        <a:extLst>
                          <a:ext uri="{FF2B5EF4-FFF2-40B4-BE49-F238E27FC236}">
                            <a16:creationId xmlns:a16="http://schemas.microsoft.com/office/drawing/2014/main" id="{971051E5-4FBC-AB61-3BB3-A38F18C232A2}"/>
                          </a:ext>
                        </a:extLst>
                      </p:cNvPr>
                      <p:cNvPicPr/>
                      <p:nvPr/>
                    </p:nvPicPr>
                    <p:blipFill>
                      <a:blip r:embed="rId5"/>
                      <a:stretch>
                        <a:fillRect/>
                      </a:stretch>
                    </p:blipFill>
                    <p:spPr>
                      <a:xfrm>
                        <a:off x="6029498" y="1890426"/>
                        <a:ext cx="375094" cy="348302"/>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A9491056-5811-7DD7-6E18-34019027625E}"/>
              </a:ext>
            </a:extLst>
          </p:cNvPr>
          <p:cNvGraphicFramePr>
            <a:graphicFrameLocks noChangeAspect="1"/>
          </p:cNvGraphicFramePr>
          <p:nvPr>
            <p:extLst>
              <p:ext uri="{D42A27DB-BD31-4B8C-83A1-F6EECF244321}">
                <p14:modId xmlns:p14="http://schemas.microsoft.com/office/powerpoint/2010/main" val="4002607376"/>
              </p:ext>
            </p:extLst>
          </p:nvPr>
        </p:nvGraphicFramePr>
        <p:xfrm>
          <a:off x="8487002" y="1803592"/>
          <a:ext cx="375094" cy="375094"/>
        </p:xfrm>
        <a:graphic>
          <a:graphicData uri="http://schemas.openxmlformats.org/presentationml/2006/ole">
            <mc:AlternateContent xmlns:mc="http://schemas.openxmlformats.org/markup-compatibility/2006">
              <mc:Choice xmlns:v="urn:schemas-microsoft-com:vml" Requires="v">
                <p:oleObj name="Equation" r:id="rId6" imgW="123824" imgH="123827" progId="Equation.DSMT4">
                  <p:embed/>
                </p:oleObj>
              </mc:Choice>
              <mc:Fallback>
                <p:oleObj name="Equation" r:id="rId6" imgW="123824" imgH="123827" progId="Equation.DSMT4">
                  <p:embed/>
                  <p:pic>
                    <p:nvPicPr>
                      <p:cNvPr id="9" name="对象 8">
                        <a:extLst>
                          <a:ext uri="{FF2B5EF4-FFF2-40B4-BE49-F238E27FC236}">
                            <a16:creationId xmlns:a16="http://schemas.microsoft.com/office/drawing/2014/main" id="{A9491056-5811-7DD7-6E18-34019027625E}"/>
                          </a:ext>
                        </a:extLst>
                      </p:cNvPr>
                      <p:cNvPicPr/>
                      <p:nvPr/>
                    </p:nvPicPr>
                    <p:blipFill>
                      <a:blip r:embed="rId7"/>
                      <a:stretch>
                        <a:fillRect/>
                      </a:stretch>
                    </p:blipFill>
                    <p:spPr>
                      <a:xfrm>
                        <a:off x="8487002" y="1803592"/>
                        <a:ext cx="375094" cy="375094"/>
                      </a:xfrm>
                      <a:prstGeom prst="rect">
                        <a:avLst/>
                      </a:prstGeom>
                    </p:spPr>
                  </p:pic>
                </p:oleObj>
              </mc:Fallback>
            </mc:AlternateContent>
          </a:graphicData>
        </a:graphic>
      </p:graphicFrame>
    </p:spTree>
    <p:extLst>
      <p:ext uri="{BB962C8B-B14F-4D97-AF65-F5344CB8AC3E}">
        <p14:creationId xmlns:p14="http://schemas.microsoft.com/office/powerpoint/2010/main" val="496494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52">
            <a:extLst>
              <a:ext uri="{FF2B5EF4-FFF2-40B4-BE49-F238E27FC236}">
                <a16:creationId xmlns:a16="http://schemas.microsoft.com/office/drawing/2014/main" id="{719BDF95-3B40-7AD2-14E5-2AED89DE81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58528" y="1791335"/>
            <a:ext cx="5400675" cy="1711960"/>
          </a:xfrm>
          <a:prstGeom prst="rect">
            <a:avLst/>
          </a:prstGeom>
        </p:spPr>
      </p:pic>
      <p:pic>
        <p:nvPicPr>
          <p:cNvPr id="4" name="图片 18" descr="相对位姿估计">
            <a:extLst>
              <a:ext uri="{FF2B5EF4-FFF2-40B4-BE49-F238E27FC236}">
                <a16:creationId xmlns:a16="http://schemas.microsoft.com/office/drawing/2014/main" id="{85902153-34D5-89E6-373C-CE3AD907291C}"/>
              </a:ext>
            </a:extLst>
          </p:cNvPr>
          <p:cNvPicPr>
            <a:picLocks noChangeAspect="1"/>
          </p:cNvPicPr>
          <p:nvPr/>
        </p:nvPicPr>
        <p:blipFill>
          <a:blip r:embed="rId3"/>
          <a:stretch>
            <a:fillRect/>
          </a:stretch>
        </p:blipFill>
        <p:spPr>
          <a:xfrm>
            <a:off x="9297988" y="802640"/>
            <a:ext cx="2520315" cy="2790190"/>
          </a:xfrm>
          <a:prstGeom prst="rect">
            <a:avLst/>
          </a:prstGeom>
        </p:spPr>
      </p:pic>
      <p:pic>
        <p:nvPicPr>
          <p:cNvPr id="5" name="图片 4">
            <a:extLst>
              <a:ext uri="{FF2B5EF4-FFF2-40B4-BE49-F238E27FC236}">
                <a16:creationId xmlns:a16="http://schemas.microsoft.com/office/drawing/2014/main" id="{DAF1E273-6818-28A6-802B-DA5E55754A04}"/>
              </a:ext>
            </a:extLst>
          </p:cNvPr>
          <p:cNvPicPr>
            <a:picLocks noChangeAspect="1"/>
          </p:cNvPicPr>
          <p:nvPr/>
        </p:nvPicPr>
        <p:blipFill>
          <a:blip r:embed="rId4"/>
          <a:stretch>
            <a:fillRect/>
          </a:stretch>
        </p:blipFill>
        <p:spPr>
          <a:xfrm>
            <a:off x="434340" y="1821180"/>
            <a:ext cx="2260600" cy="1682115"/>
          </a:xfrm>
          <a:prstGeom prst="rect">
            <a:avLst/>
          </a:prstGeom>
        </p:spPr>
      </p:pic>
      <p:pic>
        <p:nvPicPr>
          <p:cNvPr id="6" name="图片 5">
            <a:extLst>
              <a:ext uri="{FF2B5EF4-FFF2-40B4-BE49-F238E27FC236}">
                <a16:creationId xmlns:a16="http://schemas.microsoft.com/office/drawing/2014/main" id="{3870EB78-BFEA-AE3E-2BD0-544958F68D45}"/>
              </a:ext>
            </a:extLst>
          </p:cNvPr>
          <p:cNvPicPr>
            <a:picLocks noChangeAspect="1"/>
          </p:cNvPicPr>
          <p:nvPr/>
        </p:nvPicPr>
        <p:blipFill>
          <a:blip r:embed="rId5"/>
          <a:stretch>
            <a:fillRect/>
          </a:stretch>
        </p:blipFill>
        <p:spPr>
          <a:xfrm>
            <a:off x="7101840" y="4495165"/>
            <a:ext cx="2921635" cy="1109345"/>
          </a:xfrm>
          <a:prstGeom prst="rect">
            <a:avLst/>
          </a:prstGeom>
          <a:noFill/>
          <a:ln w="9525">
            <a:noFill/>
          </a:ln>
        </p:spPr>
      </p:pic>
      <p:pic>
        <p:nvPicPr>
          <p:cNvPr id="7" name="图片 6">
            <a:extLst>
              <a:ext uri="{FF2B5EF4-FFF2-40B4-BE49-F238E27FC236}">
                <a16:creationId xmlns:a16="http://schemas.microsoft.com/office/drawing/2014/main" id="{60FCAB18-DA67-E796-70D9-C781B21738A5}"/>
              </a:ext>
            </a:extLst>
          </p:cNvPr>
          <p:cNvPicPr>
            <a:picLocks noChangeAspect="1"/>
          </p:cNvPicPr>
          <p:nvPr/>
        </p:nvPicPr>
        <p:blipFill>
          <a:blip r:embed="rId6"/>
          <a:stretch>
            <a:fillRect/>
          </a:stretch>
        </p:blipFill>
        <p:spPr>
          <a:xfrm>
            <a:off x="2432050" y="4441825"/>
            <a:ext cx="3019425" cy="1112520"/>
          </a:xfrm>
          <a:prstGeom prst="rect">
            <a:avLst/>
          </a:prstGeom>
          <a:noFill/>
          <a:ln w="9525">
            <a:noFill/>
          </a:ln>
        </p:spPr>
      </p:pic>
      <p:sp>
        <p:nvSpPr>
          <p:cNvPr id="8" name="文本框 7">
            <a:extLst>
              <a:ext uri="{FF2B5EF4-FFF2-40B4-BE49-F238E27FC236}">
                <a16:creationId xmlns:a16="http://schemas.microsoft.com/office/drawing/2014/main" id="{8CA13A9E-B5B1-2DFE-07ED-8FF1C1E01015}"/>
              </a:ext>
            </a:extLst>
          </p:cNvPr>
          <p:cNvSpPr txBox="1"/>
          <p:nvPr/>
        </p:nvSpPr>
        <p:spPr>
          <a:xfrm>
            <a:off x="309880" y="3503295"/>
            <a:ext cx="2509520" cy="368300"/>
          </a:xfrm>
          <a:prstGeom prst="rect">
            <a:avLst/>
          </a:prstGeom>
          <a:noFill/>
          <a:ln w="9525">
            <a:noFill/>
          </a:ln>
        </p:spPr>
        <p:txBody>
          <a:bodyPr wrap="square">
            <a:spAutoFit/>
          </a:bodyPr>
          <a:lstStyle/>
          <a:p>
            <a:pPr indent="127000" algn="ctr" fontAlgn="base">
              <a:spcBef>
                <a:spcPct val="0"/>
              </a:spcBef>
              <a:spcAft>
                <a:spcPct val="0"/>
              </a:spcAft>
            </a:pPr>
            <a:r>
              <a:rPr lang="zh-CN" altLang="en-US">
                <a:solidFill>
                  <a:srgbClr val="000000"/>
                </a:solidFill>
                <a:latin typeface="Times New Roman" panose="02020603050405020304" pitchFamily="18" charset="0"/>
                <a:ea typeface="宋体" panose="02010600030101010101" pitchFamily="2" charset="-122"/>
                <a:cs typeface="Arial"/>
              </a:rPr>
              <a:t>词袋模型的位置识别</a:t>
            </a:r>
          </a:p>
        </p:txBody>
      </p:sp>
      <p:sp>
        <p:nvSpPr>
          <p:cNvPr id="9" name="文本框 8">
            <a:extLst>
              <a:ext uri="{FF2B5EF4-FFF2-40B4-BE49-F238E27FC236}">
                <a16:creationId xmlns:a16="http://schemas.microsoft.com/office/drawing/2014/main" id="{B35C7AB7-0E02-F3BD-E8C0-0156740B938F}"/>
              </a:ext>
            </a:extLst>
          </p:cNvPr>
          <p:cNvSpPr txBox="1"/>
          <p:nvPr/>
        </p:nvSpPr>
        <p:spPr>
          <a:xfrm>
            <a:off x="3606165" y="3572510"/>
            <a:ext cx="5080000" cy="368300"/>
          </a:xfrm>
          <a:prstGeom prst="rect">
            <a:avLst/>
          </a:prstGeom>
          <a:noFill/>
          <a:ln w="9525">
            <a:noFill/>
          </a:ln>
        </p:spPr>
        <p:txBody>
          <a:bodyPr>
            <a:spAutoFit/>
          </a:bodyPr>
          <a:lstStyle/>
          <a:p>
            <a:pPr indent="127000" algn="ctr" fontAlgn="base">
              <a:spcBef>
                <a:spcPct val="0"/>
              </a:spcBef>
              <a:spcAft>
                <a:spcPct val="0"/>
              </a:spcAft>
            </a:pPr>
            <a:r>
              <a:rPr lang="zh-CN" altLang="en-US">
                <a:solidFill>
                  <a:srgbClr val="000000"/>
                </a:solidFill>
                <a:latin typeface="Times New Roman" panose="02020603050405020304" pitchFamily="18" charset="0"/>
                <a:ea typeface="宋体" panose="02010600030101010101" pitchFamily="2" charset="-122"/>
                <a:cs typeface="Arial"/>
              </a:rPr>
              <a:t>图像特征点匹配与离群点剔除</a:t>
            </a:r>
          </a:p>
        </p:txBody>
      </p:sp>
      <p:sp>
        <p:nvSpPr>
          <p:cNvPr id="10" name="文本框 9">
            <a:extLst>
              <a:ext uri="{FF2B5EF4-FFF2-40B4-BE49-F238E27FC236}">
                <a16:creationId xmlns:a16="http://schemas.microsoft.com/office/drawing/2014/main" id="{95781814-12B9-F385-7163-9DD184841EA5}"/>
              </a:ext>
            </a:extLst>
          </p:cNvPr>
          <p:cNvSpPr txBox="1"/>
          <p:nvPr/>
        </p:nvSpPr>
        <p:spPr>
          <a:xfrm>
            <a:off x="9705340" y="3676650"/>
            <a:ext cx="1960880" cy="368300"/>
          </a:xfrm>
          <a:prstGeom prst="rect">
            <a:avLst/>
          </a:prstGeom>
          <a:noFill/>
          <a:ln w="9525">
            <a:noFill/>
          </a:ln>
        </p:spPr>
        <p:txBody>
          <a:bodyPr wrap="square">
            <a:spAutoFit/>
          </a:bodyPr>
          <a:lstStyle/>
          <a:p>
            <a:pPr indent="127000" algn="ctr" fontAlgn="base">
              <a:spcBef>
                <a:spcPct val="0"/>
              </a:spcBef>
              <a:spcAft>
                <a:spcPct val="0"/>
              </a:spcAft>
            </a:pPr>
            <a:r>
              <a:rPr lang="en-US">
                <a:solidFill>
                  <a:srgbClr val="000000"/>
                </a:solidFill>
                <a:latin typeface="Times New Roman" panose="02020603050405020304" pitchFamily="18" charset="0"/>
                <a:ea typeface="宋体" panose="02010600030101010101" pitchFamily="2" charset="-122"/>
                <a:cs typeface="Arial"/>
              </a:rPr>
              <a:t>PnP</a:t>
            </a:r>
            <a:r>
              <a:rPr lang="zh-CN" altLang="en-US">
                <a:solidFill>
                  <a:srgbClr val="000000"/>
                </a:solidFill>
                <a:latin typeface="Times New Roman" panose="02020603050405020304" pitchFamily="18" charset="0"/>
                <a:ea typeface="宋体" panose="02010600030101010101" pitchFamily="2" charset="-122"/>
                <a:cs typeface="Arial"/>
              </a:rPr>
              <a:t>解算</a:t>
            </a:r>
          </a:p>
        </p:txBody>
      </p:sp>
      <p:sp>
        <p:nvSpPr>
          <p:cNvPr id="11" name="右箭头 7">
            <a:extLst>
              <a:ext uri="{FF2B5EF4-FFF2-40B4-BE49-F238E27FC236}">
                <a16:creationId xmlns:a16="http://schemas.microsoft.com/office/drawing/2014/main" id="{7A56DF10-6E04-3DA9-9282-A208772DD715}"/>
              </a:ext>
            </a:extLst>
          </p:cNvPr>
          <p:cNvSpPr/>
          <p:nvPr/>
        </p:nvSpPr>
        <p:spPr>
          <a:xfrm>
            <a:off x="2915920" y="2597785"/>
            <a:ext cx="406400" cy="274320"/>
          </a:xfrm>
          <a:prstGeom prst="rightArrow">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spAutoFit/>
          </a:bodyPr>
          <a:lstStyle/>
          <a:p>
            <a:pPr eaLnBrk="0" fontAlgn="base" hangingPunct="0">
              <a:spcBef>
                <a:spcPct val="50000"/>
              </a:spcBef>
              <a:spcAft>
                <a:spcPct val="0"/>
              </a:spcAft>
              <a:buSzPct val="70000"/>
              <a:buFontTx/>
              <a:buBlip>
                <a:blip r:embed="rId7"/>
              </a:buBlip>
            </a:pPr>
            <a:endParaRPr lang="en-US" altLang="en-US" sz="2400">
              <a:solidFill>
                <a:srgbClr val="000000"/>
              </a:solidFill>
              <a:ea typeface="MS Gothic" panose="020B0609070205080204" pitchFamily="49" charset="-128"/>
              <a:cs typeface="Arial"/>
            </a:endParaRPr>
          </a:p>
        </p:txBody>
      </p:sp>
      <p:sp>
        <p:nvSpPr>
          <p:cNvPr id="12" name="右箭头 8">
            <a:extLst>
              <a:ext uri="{FF2B5EF4-FFF2-40B4-BE49-F238E27FC236}">
                <a16:creationId xmlns:a16="http://schemas.microsoft.com/office/drawing/2014/main" id="{E290FD2D-901E-2877-B645-4EAD44E457BC}"/>
              </a:ext>
            </a:extLst>
          </p:cNvPr>
          <p:cNvSpPr/>
          <p:nvPr/>
        </p:nvSpPr>
        <p:spPr>
          <a:xfrm>
            <a:off x="9006840" y="2597785"/>
            <a:ext cx="406400" cy="274320"/>
          </a:xfrm>
          <a:prstGeom prst="rightArrow">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spAutoFit/>
          </a:bodyPr>
          <a:lstStyle/>
          <a:p>
            <a:pPr eaLnBrk="0" fontAlgn="base" hangingPunct="0">
              <a:spcBef>
                <a:spcPct val="50000"/>
              </a:spcBef>
              <a:spcAft>
                <a:spcPct val="0"/>
              </a:spcAft>
              <a:buSzPct val="70000"/>
              <a:buFontTx/>
              <a:buBlip>
                <a:blip r:embed="rId7"/>
              </a:buBlip>
            </a:pPr>
            <a:endParaRPr lang="en-US" altLang="en-US" sz="2400">
              <a:solidFill>
                <a:srgbClr val="000000"/>
              </a:solidFill>
              <a:ea typeface="MS Gothic" panose="020B0609070205080204" pitchFamily="49" charset="-128"/>
              <a:cs typeface="Arial"/>
            </a:endParaRPr>
          </a:p>
        </p:txBody>
      </p:sp>
      <p:sp>
        <p:nvSpPr>
          <p:cNvPr id="13" name="文本框 12">
            <a:extLst>
              <a:ext uri="{FF2B5EF4-FFF2-40B4-BE49-F238E27FC236}">
                <a16:creationId xmlns:a16="http://schemas.microsoft.com/office/drawing/2014/main" id="{61E474FF-64BD-5503-2264-DA3B8B3A12F9}"/>
              </a:ext>
            </a:extLst>
          </p:cNvPr>
          <p:cNvSpPr txBox="1"/>
          <p:nvPr/>
        </p:nvSpPr>
        <p:spPr>
          <a:xfrm>
            <a:off x="2594610" y="5729605"/>
            <a:ext cx="2640330" cy="368300"/>
          </a:xfrm>
          <a:prstGeom prst="rect">
            <a:avLst/>
          </a:prstGeom>
          <a:noFill/>
          <a:ln w="9525">
            <a:noFill/>
          </a:ln>
        </p:spPr>
        <p:txBody>
          <a:bodyPr wrap="square">
            <a:spAutoFit/>
          </a:bodyPr>
          <a:lstStyle/>
          <a:p>
            <a:pPr indent="127000" algn="ctr" fontAlgn="base">
              <a:spcBef>
                <a:spcPct val="0"/>
              </a:spcBef>
              <a:spcAft>
                <a:spcPct val="0"/>
              </a:spcAft>
            </a:pPr>
            <a:r>
              <a:rPr lang="zh-CN" altLang="en-US">
                <a:solidFill>
                  <a:srgbClr val="000000"/>
                </a:solidFill>
                <a:latin typeface="Times New Roman" panose="02020603050405020304" pitchFamily="18" charset="0"/>
                <a:ea typeface="宋体" panose="02010600030101010101" pitchFamily="2" charset="-122"/>
                <a:cs typeface="Arial"/>
              </a:rPr>
              <a:t>两帧之间的相对位姿</a:t>
            </a:r>
          </a:p>
        </p:txBody>
      </p:sp>
      <p:sp>
        <p:nvSpPr>
          <p:cNvPr id="14" name="文本框 13">
            <a:extLst>
              <a:ext uri="{FF2B5EF4-FFF2-40B4-BE49-F238E27FC236}">
                <a16:creationId xmlns:a16="http://schemas.microsoft.com/office/drawing/2014/main" id="{877C05C9-BC5C-9002-7AF0-F8D45CB8FE70}"/>
              </a:ext>
            </a:extLst>
          </p:cNvPr>
          <p:cNvSpPr txBox="1"/>
          <p:nvPr/>
        </p:nvSpPr>
        <p:spPr>
          <a:xfrm>
            <a:off x="7462520" y="5770245"/>
            <a:ext cx="2357120" cy="368300"/>
          </a:xfrm>
          <a:prstGeom prst="rect">
            <a:avLst/>
          </a:prstGeom>
          <a:noFill/>
          <a:ln w="9525">
            <a:noFill/>
          </a:ln>
        </p:spPr>
        <p:txBody>
          <a:bodyPr wrap="square">
            <a:spAutoFit/>
          </a:bodyPr>
          <a:lstStyle/>
          <a:p>
            <a:pPr algn="ctr" fontAlgn="base">
              <a:spcBef>
                <a:spcPct val="0"/>
              </a:spcBef>
              <a:spcAft>
                <a:spcPct val="0"/>
              </a:spcAft>
            </a:pPr>
            <a:r>
              <a:rPr lang="zh-CN" altLang="en-US">
                <a:solidFill>
                  <a:srgbClr val="000000"/>
                </a:solidFill>
                <a:latin typeface="Times New Roman" panose="02020603050405020304" pitchFamily="18" charset="0"/>
                <a:ea typeface="宋体" panose="02010600030101010101" pitchFamily="2" charset="-122"/>
                <a:cs typeface="Arial"/>
              </a:rPr>
              <a:t>全局一致的坐标系</a:t>
            </a:r>
          </a:p>
        </p:txBody>
      </p:sp>
      <p:sp>
        <p:nvSpPr>
          <p:cNvPr id="15" name="右箭头 12">
            <a:extLst>
              <a:ext uri="{FF2B5EF4-FFF2-40B4-BE49-F238E27FC236}">
                <a16:creationId xmlns:a16="http://schemas.microsoft.com/office/drawing/2014/main" id="{07174D4B-8ECF-5155-C22A-73E0B2E8BDC1}"/>
              </a:ext>
            </a:extLst>
          </p:cNvPr>
          <p:cNvSpPr/>
          <p:nvPr/>
        </p:nvSpPr>
        <p:spPr>
          <a:xfrm>
            <a:off x="5679440" y="4912995"/>
            <a:ext cx="1209040" cy="360000"/>
          </a:xfrm>
          <a:prstGeom prst="rightArrow">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spAutoFit/>
          </a:bodyPr>
          <a:lstStyle/>
          <a:p>
            <a:pPr eaLnBrk="0" fontAlgn="base" hangingPunct="0">
              <a:spcBef>
                <a:spcPct val="50000"/>
              </a:spcBef>
              <a:spcAft>
                <a:spcPct val="0"/>
              </a:spcAft>
              <a:buSzPct val="70000"/>
              <a:buFontTx/>
              <a:buBlip>
                <a:blip r:embed="rId7"/>
              </a:buBlip>
            </a:pPr>
            <a:endParaRPr lang="en-US" altLang="en-US" sz="2400">
              <a:solidFill>
                <a:srgbClr val="000000"/>
              </a:solidFill>
              <a:ea typeface="MS Gothic" panose="020B0609070205080204" pitchFamily="49" charset="-128"/>
              <a:cs typeface="Arial"/>
            </a:endParaRPr>
          </a:p>
        </p:txBody>
      </p:sp>
      <p:sp>
        <p:nvSpPr>
          <p:cNvPr id="16" name="文本框 15">
            <a:extLst>
              <a:ext uri="{FF2B5EF4-FFF2-40B4-BE49-F238E27FC236}">
                <a16:creationId xmlns:a16="http://schemas.microsoft.com/office/drawing/2014/main" id="{57B5ED2F-EE9A-CA0A-6FB4-F64530DC25BC}"/>
              </a:ext>
            </a:extLst>
          </p:cNvPr>
          <p:cNvSpPr txBox="1"/>
          <p:nvPr/>
        </p:nvSpPr>
        <p:spPr>
          <a:xfrm>
            <a:off x="5379720" y="4641850"/>
            <a:ext cx="1747520" cy="922020"/>
          </a:xfrm>
          <a:prstGeom prst="rect">
            <a:avLst/>
          </a:prstGeom>
          <a:noFill/>
          <a:ln w="9525">
            <a:noFill/>
          </a:ln>
        </p:spPr>
        <p:txBody>
          <a:bodyPr wrap="square">
            <a:spAutoFit/>
          </a:bodyPr>
          <a:lstStyle/>
          <a:p>
            <a:pPr algn="ctr" fontAlgn="base">
              <a:spcBef>
                <a:spcPct val="0"/>
              </a:spcBef>
              <a:spcAft>
                <a:spcPct val="0"/>
              </a:spcAft>
            </a:pPr>
            <a:r>
              <a:rPr lang="zh-CN" altLang="en-US">
                <a:solidFill>
                  <a:srgbClr val="000000"/>
                </a:solidFill>
                <a:latin typeface="Times New Roman" panose="02020603050405020304" pitchFamily="18" charset="0"/>
                <a:ea typeface="宋体" panose="02010600030101010101" pitchFamily="2" charset="-122"/>
                <a:cs typeface="Arial"/>
              </a:rPr>
              <a:t>来自不同无人</a:t>
            </a:r>
          </a:p>
          <a:p>
            <a:pPr algn="ctr" fontAlgn="base">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cs typeface="Arial"/>
            </a:endParaRPr>
          </a:p>
          <a:p>
            <a:pPr algn="ctr" fontAlgn="base">
              <a:spcBef>
                <a:spcPct val="0"/>
              </a:spcBef>
              <a:spcAft>
                <a:spcPct val="0"/>
              </a:spcAft>
            </a:pPr>
            <a:r>
              <a:rPr lang="zh-CN" altLang="en-US">
                <a:solidFill>
                  <a:srgbClr val="000000"/>
                </a:solidFill>
                <a:latin typeface="Times New Roman" panose="02020603050405020304" pitchFamily="18" charset="0"/>
                <a:ea typeface="宋体" panose="02010600030101010101" pitchFamily="2" charset="-122"/>
                <a:cs typeface="Arial"/>
              </a:rPr>
              <a:t>机的两帧</a:t>
            </a:r>
          </a:p>
        </p:txBody>
      </p:sp>
    </p:spTree>
    <p:extLst>
      <p:ext uri="{BB962C8B-B14F-4D97-AF65-F5344CB8AC3E}">
        <p14:creationId xmlns:p14="http://schemas.microsoft.com/office/powerpoint/2010/main" val="17543323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34">
            <a:extLst>
              <a:ext uri="{FF2B5EF4-FFF2-40B4-BE49-F238E27FC236}">
                <a16:creationId xmlns:a16="http://schemas.microsoft.com/office/drawing/2014/main" id="{0503AF00-D2A7-DBF7-D7CB-1D86EA7D45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52575" y="1029970"/>
            <a:ext cx="3782060" cy="2479675"/>
          </a:xfrm>
          <a:prstGeom prst="rect">
            <a:avLst/>
          </a:prstGeom>
        </p:spPr>
      </p:pic>
      <p:pic>
        <p:nvPicPr>
          <p:cNvPr id="3" name="图片 74" descr="IMG_256">
            <a:extLst>
              <a:ext uri="{FF2B5EF4-FFF2-40B4-BE49-F238E27FC236}">
                <a16:creationId xmlns:a16="http://schemas.microsoft.com/office/drawing/2014/main" id="{08575339-33AE-01BB-0396-9C3B4285AFF5}"/>
              </a:ext>
            </a:extLst>
          </p:cNvPr>
          <p:cNvPicPr>
            <a:picLocks noChangeAspect="1"/>
          </p:cNvPicPr>
          <p:nvPr/>
        </p:nvPicPr>
        <p:blipFill>
          <a:blip r:embed="rId3"/>
          <a:stretch>
            <a:fillRect/>
          </a:stretch>
        </p:blipFill>
        <p:spPr>
          <a:xfrm>
            <a:off x="6077585" y="1180465"/>
            <a:ext cx="4018280" cy="2178050"/>
          </a:xfrm>
          <a:prstGeom prst="rect">
            <a:avLst/>
          </a:prstGeom>
          <a:noFill/>
          <a:ln w="9525">
            <a:noFill/>
          </a:ln>
        </p:spPr>
      </p:pic>
      <p:pic>
        <p:nvPicPr>
          <p:cNvPr id="4" name="图片 3">
            <a:extLst>
              <a:ext uri="{FF2B5EF4-FFF2-40B4-BE49-F238E27FC236}">
                <a16:creationId xmlns:a16="http://schemas.microsoft.com/office/drawing/2014/main" id="{F40E450E-46A5-B75A-BF12-94D1B0A1CBA2}"/>
              </a:ext>
            </a:extLst>
          </p:cNvPr>
          <p:cNvPicPr>
            <a:picLocks noChangeAspect="1"/>
          </p:cNvPicPr>
          <p:nvPr/>
        </p:nvPicPr>
        <p:blipFill>
          <a:blip r:embed="rId4"/>
          <a:stretch>
            <a:fillRect/>
          </a:stretch>
        </p:blipFill>
        <p:spPr>
          <a:xfrm>
            <a:off x="2226310" y="3913505"/>
            <a:ext cx="7691755" cy="977900"/>
          </a:xfrm>
          <a:prstGeom prst="rect">
            <a:avLst/>
          </a:prstGeom>
          <a:noFill/>
          <a:ln w="9525">
            <a:noFill/>
          </a:ln>
        </p:spPr>
      </p:pic>
      <p:sp>
        <p:nvSpPr>
          <p:cNvPr id="5" name="文本框 4">
            <a:extLst>
              <a:ext uri="{FF2B5EF4-FFF2-40B4-BE49-F238E27FC236}">
                <a16:creationId xmlns:a16="http://schemas.microsoft.com/office/drawing/2014/main" id="{4B55854D-162C-0E59-9DDD-6423D2ED69B8}"/>
              </a:ext>
            </a:extLst>
          </p:cNvPr>
          <p:cNvSpPr txBox="1"/>
          <p:nvPr/>
        </p:nvSpPr>
        <p:spPr>
          <a:xfrm>
            <a:off x="2226545" y="3527695"/>
            <a:ext cx="2454160" cy="368300"/>
          </a:xfrm>
          <a:prstGeom prst="rect">
            <a:avLst/>
          </a:prstGeom>
          <a:noFill/>
        </p:spPr>
        <p:txBody>
          <a:bodyPr wrap="square">
            <a:spAutoFit/>
          </a:bodyPr>
          <a:lstStyle/>
          <a:p>
            <a:pPr algn="ctr"/>
            <a:r>
              <a:rPr lang="zh-CN" altLang="zh-CN" sz="1800" dirty="0">
                <a:latin typeface="Times New Roman" panose="02020603050405020304" pitchFamily="18" charset="0"/>
                <a:ea typeface="宋体" panose="02010600030101010101" pitchFamily="2" charset="-122"/>
                <a:cs typeface="宋体" panose="02010600030101010101" pitchFamily="2" charset="-122"/>
              </a:rPr>
              <a:t>地图点管理结构</a:t>
            </a:r>
          </a:p>
        </p:txBody>
      </p:sp>
      <p:sp>
        <p:nvSpPr>
          <p:cNvPr id="6" name="文本框 5">
            <a:extLst>
              <a:ext uri="{FF2B5EF4-FFF2-40B4-BE49-F238E27FC236}">
                <a16:creationId xmlns:a16="http://schemas.microsoft.com/office/drawing/2014/main" id="{BFF90718-13BF-D3D2-1627-E7DCF521DAB6}"/>
              </a:ext>
            </a:extLst>
          </p:cNvPr>
          <p:cNvSpPr txBox="1"/>
          <p:nvPr/>
        </p:nvSpPr>
        <p:spPr>
          <a:xfrm>
            <a:off x="5482590" y="3505200"/>
            <a:ext cx="5080000" cy="368300"/>
          </a:xfrm>
          <a:prstGeom prst="rect">
            <a:avLst/>
          </a:prstGeom>
          <a:noFill/>
          <a:ln w="9525">
            <a:noFill/>
          </a:ln>
        </p:spPr>
        <p:txBody>
          <a:bodyPr>
            <a:spAutoFit/>
          </a:bodyPr>
          <a:lstStyle/>
          <a:p>
            <a:pPr marL="0" indent="127000" algn="ctr"/>
            <a:r>
              <a:rPr lang="zh-CN" sz="1800" b="0">
                <a:latin typeface="Times New Roman" panose="02020603050405020304" pitchFamily="18" charset="0"/>
                <a:ea typeface="宋体" panose="02010600030101010101" pitchFamily="2" charset="-122"/>
              </a:rPr>
              <a:t>地图特征点三角化重新估计位置</a:t>
            </a:r>
          </a:p>
        </p:txBody>
      </p:sp>
      <p:sp>
        <p:nvSpPr>
          <p:cNvPr id="7" name="文本框 6">
            <a:extLst>
              <a:ext uri="{FF2B5EF4-FFF2-40B4-BE49-F238E27FC236}">
                <a16:creationId xmlns:a16="http://schemas.microsoft.com/office/drawing/2014/main" id="{4292ABDE-0BCC-C5C9-7C69-C72522EDE020}"/>
              </a:ext>
            </a:extLst>
          </p:cNvPr>
          <p:cNvSpPr txBox="1"/>
          <p:nvPr/>
        </p:nvSpPr>
        <p:spPr>
          <a:xfrm>
            <a:off x="220345" y="4186555"/>
            <a:ext cx="1884680" cy="645160"/>
          </a:xfrm>
          <a:prstGeom prst="rect">
            <a:avLst/>
          </a:prstGeom>
          <a:noFill/>
          <a:ln w="9525">
            <a:noFill/>
          </a:ln>
        </p:spPr>
        <p:txBody>
          <a:bodyPr wrap="square">
            <a:spAutoFit/>
          </a:bodyPr>
          <a:lstStyle/>
          <a:p>
            <a:pPr marL="0" indent="127000"/>
            <a:r>
              <a:rPr sz="1800" b="1">
                <a:latin typeface="Times New Roman" panose="02020603050405020304" pitchFamily="18" charset="0"/>
                <a:ea typeface="宋体" panose="02010600030101010101" pitchFamily="2" charset="-122"/>
              </a:rPr>
              <a:t>全局捆集调整（GBA）</a:t>
            </a:r>
            <a:r>
              <a:rPr lang="zh-CN" sz="1800" b="1">
                <a:latin typeface="Times New Roman" panose="02020603050405020304" pitchFamily="18" charset="0"/>
                <a:ea typeface="宋体" panose="02010600030101010101" pitchFamily="2" charset="-122"/>
              </a:rPr>
              <a:t>：</a:t>
            </a:r>
          </a:p>
        </p:txBody>
      </p:sp>
      <p:sp>
        <p:nvSpPr>
          <p:cNvPr id="8" name="矩形 7">
            <a:extLst>
              <a:ext uri="{FF2B5EF4-FFF2-40B4-BE49-F238E27FC236}">
                <a16:creationId xmlns:a16="http://schemas.microsoft.com/office/drawing/2014/main" id="{CB9C1708-88CE-67DC-6757-561B2E23F345}"/>
              </a:ext>
            </a:extLst>
          </p:cNvPr>
          <p:cNvSpPr/>
          <p:nvPr/>
        </p:nvSpPr>
        <p:spPr>
          <a:xfrm>
            <a:off x="8296275" y="3983355"/>
            <a:ext cx="1501140" cy="943610"/>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spAutoFit/>
          </a:bodyPr>
          <a:lstStyle/>
          <a:p>
            <a:pPr marL="0" marR="0" indent="0" algn="l" defTabSz="914400" rtl="0" eaLnBrk="0" fontAlgn="base" latinLnBrk="0" hangingPunct="0">
              <a:lnSpc>
                <a:spcPct val="100000"/>
              </a:lnSpc>
              <a:spcBef>
                <a:spcPct val="50000"/>
              </a:spcBef>
              <a:spcAft>
                <a:spcPct val="0"/>
              </a:spcAft>
              <a:buClrTx/>
              <a:buSzPct val="70000"/>
              <a:buFontTx/>
              <a:buBlip>
                <a:blip r:embed="rId5"/>
              </a:buBlip>
            </a:pPr>
            <a:endParaRPr kumimoji="0" lang="en-US" altLang="en-US" sz="2400" b="0" i="0" u="none" strike="noStrike" cap="none" normalizeH="0" baseline="0">
              <a:ln>
                <a:noFill/>
              </a:ln>
              <a:solidFill>
                <a:schemeClr val="tx1"/>
              </a:solidFill>
              <a:effectLst/>
              <a:latin typeface="Arial" panose="020B0604020202020204" pitchFamily="34" charset="0"/>
            </a:endParaRPr>
          </a:p>
        </p:txBody>
      </p:sp>
      <p:sp>
        <p:nvSpPr>
          <p:cNvPr id="9" name="文本框 8">
            <a:extLst>
              <a:ext uri="{FF2B5EF4-FFF2-40B4-BE49-F238E27FC236}">
                <a16:creationId xmlns:a16="http://schemas.microsoft.com/office/drawing/2014/main" id="{28B4047A-0309-073F-3ED1-CC58308BF405}"/>
              </a:ext>
            </a:extLst>
          </p:cNvPr>
          <p:cNvSpPr txBox="1"/>
          <p:nvPr/>
        </p:nvSpPr>
        <p:spPr>
          <a:xfrm>
            <a:off x="10284460" y="3388995"/>
            <a:ext cx="1996440" cy="645160"/>
          </a:xfrm>
          <a:prstGeom prst="rect">
            <a:avLst/>
          </a:prstGeom>
          <a:noFill/>
          <a:ln w="9525">
            <a:noFill/>
          </a:ln>
        </p:spPr>
        <p:txBody>
          <a:bodyPr wrap="square">
            <a:spAutoFit/>
          </a:bodyPr>
          <a:lstStyle/>
          <a:p>
            <a:pPr marL="0" indent="0" eaLnBrk="1" latinLnBrk="0" hangingPunct="1"/>
            <a:r>
              <a:rPr lang="zh-CN" sz="1800" b="1">
                <a:solidFill>
                  <a:srgbClr val="FF0000"/>
                </a:solidFill>
                <a:latin typeface="Times New Roman" panose="02020603050405020304" pitchFamily="18" charset="0"/>
                <a:ea typeface="宋体" panose="02010600030101010101" pitchFamily="2" charset="-122"/>
              </a:rPr>
              <a:t>视觉特征重投影误差</a:t>
            </a:r>
          </a:p>
        </p:txBody>
      </p:sp>
      <p:cxnSp>
        <p:nvCxnSpPr>
          <p:cNvPr id="10" name="直接箭头连接符 9">
            <a:extLst>
              <a:ext uri="{FF2B5EF4-FFF2-40B4-BE49-F238E27FC236}">
                <a16:creationId xmlns:a16="http://schemas.microsoft.com/office/drawing/2014/main" id="{BF2FB2F5-1EC4-0D64-8E30-268F836A5911}"/>
              </a:ext>
            </a:extLst>
          </p:cNvPr>
          <p:cNvCxnSpPr/>
          <p:nvPr/>
        </p:nvCxnSpPr>
        <p:spPr>
          <a:xfrm flipV="1">
            <a:off x="9797415" y="3877310"/>
            <a:ext cx="476885" cy="525145"/>
          </a:xfrm>
          <a:prstGeom prst="straightConnector1">
            <a:avLst/>
          </a:prstGeom>
          <a:noFill/>
          <a:ln w="28575" cap="flat" cmpd="sng" algn="ctr">
            <a:solidFill>
              <a:srgbClr val="FF0000"/>
            </a:solidFill>
            <a:prstDash val="solid"/>
            <a:round/>
            <a:headEnd type="none" w="med" len="med"/>
            <a:tailEnd type="arrow" w="med" len="med"/>
          </a:ln>
        </p:spPr>
      </p:cxnSp>
      <p:grpSp>
        <p:nvGrpSpPr>
          <p:cNvPr id="11" name="组合 10">
            <a:extLst>
              <a:ext uri="{FF2B5EF4-FFF2-40B4-BE49-F238E27FC236}">
                <a16:creationId xmlns:a16="http://schemas.microsoft.com/office/drawing/2014/main" id="{A6847D6C-DFA7-D58C-4036-8B33074ED23D}"/>
              </a:ext>
            </a:extLst>
          </p:cNvPr>
          <p:cNvGrpSpPr/>
          <p:nvPr/>
        </p:nvGrpSpPr>
        <p:grpSpPr>
          <a:xfrm>
            <a:off x="341630" y="5092700"/>
            <a:ext cx="10748645" cy="1339850"/>
            <a:chOff x="538" y="8020"/>
            <a:chExt cx="16927" cy="2110"/>
          </a:xfrm>
        </p:grpSpPr>
        <p:grpSp>
          <p:nvGrpSpPr>
            <p:cNvPr id="12" name="组合 11">
              <a:extLst>
                <a:ext uri="{FF2B5EF4-FFF2-40B4-BE49-F238E27FC236}">
                  <a16:creationId xmlns:a16="http://schemas.microsoft.com/office/drawing/2014/main" id="{267E35DC-C948-C5E3-3610-55051798F044}"/>
                </a:ext>
              </a:extLst>
            </p:cNvPr>
            <p:cNvGrpSpPr/>
            <p:nvPr/>
          </p:nvGrpSpPr>
          <p:grpSpPr>
            <a:xfrm>
              <a:off x="3445" y="8020"/>
              <a:ext cx="14020" cy="2111"/>
              <a:chOff x="2590" y="8020"/>
              <a:chExt cx="14020" cy="2111"/>
            </a:xfrm>
          </p:grpSpPr>
          <p:pic>
            <p:nvPicPr>
              <p:cNvPr id="14" name="图片 13">
                <a:extLst>
                  <a:ext uri="{FF2B5EF4-FFF2-40B4-BE49-F238E27FC236}">
                    <a16:creationId xmlns:a16="http://schemas.microsoft.com/office/drawing/2014/main" id="{AC3E06B3-8603-822C-58E5-0EB2B9E676BE}"/>
                  </a:ext>
                </a:extLst>
              </p:cNvPr>
              <p:cNvPicPr>
                <a:picLocks noChangeAspect="1"/>
              </p:cNvPicPr>
              <p:nvPr/>
            </p:nvPicPr>
            <p:blipFill>
              <a:blip r:embed="rId6"/>
              <a:stretch>
                <a:fillRect/>
              </a:stretch>
            </p:blipFill>
            <p:spPr>
              <a:xfrm>
                <a:off x="2590" y="8020"/>
                <a:ext cx="14020" cy="2056"/>
              </a:xfrm>
              <a:prstGeom prst="rect">
                <a:avLst/>
              </a:prstGeom>
              <a:noFill/>
              <a:ln w="9525">
                <a:noFill/>
              </a:ln>
            </p:spPr>
          </p:pic>
          <p:sp>
            <p:nvSpPr>
              <p:cNvPr id="15" name="矩形 14">
                <a:extLst>
                  <a:ext uri="{FF2B5EF4-FFF2-40B4-BE49-F238E27FC236}">
                    <a16:creationId xmlns:a16="http://schemas.microsoft.com/office/drawing/2014/main" id="{8D7829A2-2EC0-DBB1-0539-C1E67789645C}"/>
                  </a:ext>
                </a:extLst>
              </p:cNvPr>
              <p:cNvSpPr/>
              <p:nvPr/>
            </p:nvSpPr>
            <p:spPr>
              <a:xfrm>
                <a:off x="4911" y="8997"/>
                <a:ext cx="5637" cy="1134"/>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spAutoFit/>
              </a:bodyPr>
              <a:lstStyle/>
              <a:p>
                <a:pPr marL="0" marR="0" indent="0" algn="l" defTabSz="914400" rtl="0" eaLnBrk="0" fontAlgn="base" latinLnBrk="0" hangingPunct="0">
                  <a:lnSpc>
                    <a:spcPct val="100000"/>
                  </a:lnSpc>
                  <a:spcBef>
                    <a:spcPct val="50000"/>
                  </a:spcBef>
                  <a:spcAft>
                    <a:spcPct val="0"/>
                  </a:spcAft>
                  <a:buClrTx/>
                  <a:buSzPct val="70000"/>
                  <a:buFontTx/>
                  <a:buBlip>
                    <a:blip r:embed="rId5"/>
                  </a:buBlip>
                </a:pPr>
                <a:endParaRPr kumimoji="0" lang="en-US" altLang="en-US" sz="2400" b="0" i="0" u="none" strike="noStrike" cap="none" normalizeH="0" baseline="0">
                  <a:ln>
                    <a:noFill/>
                  </a:ln>
                  <a:solidFill>
                    <a:schemeClr val="tx1"/>
                  </a:solidFill>
                  <a:effectLst/>
                  <a:latin typeface="Arial" panose="020B0604020202020204" pitchFamily="34" charset="0"/>
                </a:endParaRPr>
              </a:p>
            </p:txBody>
          </p:sp>
          <p:sp>
            <p:nvSpPr>
              <p:cNvPr id="16" name="文本框 15">
                <a:extLst>
                  <a:ext uri="{FF2B5EF4-FFF2-40B4-BE49-F238E27FC236}">
                    <a16:creationId xmlns:a16="http://schemas.microsoft.com/office/drawing/2014/main" id="{AAE9C079-5EA7-ADEE-2C10-501C8A157E83}"/>
                  </a:ext>
                </a:extLst>
              </p:cNvPr>
              <p:cNvSpPr txBox="1"/>
              <p:nvPr/>
            </p:nvSpPr>
            <p:spPr>
              <a:xfrm>
                <a:off x="11895" y="9115"/>
                <a:ext cx="3144" cy="1016"/>
              </a:xfrm>
              <a:prstGeom prst="rect">
                <a:avLst/>
              </a:prstGeom>
              <a:noFill/>
              <a:ln w="9525">
                <a:noFill/>
              </a:ln>
            </p:spPr>
            <p:txBody>
              <a:bodyPr wrap="square">
                <a:spAutoFit/>
              </a:bodyPr>
              <a:lstStyle/>
              <a:p>
                <a:pPr marL="0" indent="0" eaLnBrk="1" latinLnBrk="0" hangingPunct="1"/>
                <a:r>
                  <a:rPr lang="zh-CN" sz="1800" b="1">
                    <a:solidFill>
                      <a:srgbClr val="FF0000"/>
                    </a:solidFill>
                    <a:latin typeface="Times New Roman" panose="02020603050405020304" pitchFamily="18" charset="0"/>
                    <a:ea typeface="宋体" panose="02010600030101010101" pitchFamily="2" charset="-122"/>
                  </a:rPr>
                  <a:t>利用特征地图优化前端定位</a:t>
                </a:r>
              </a:p>
            </p:txBody>
          </p:sp>
          <p:cxnSp>
            <p:nvCxnSpPr>
              <p:cNvPr id="17" name="直接箭头连接符 16">
                <a:extLst>
                  <a:ext uri="{FF2B5EF4-FFF2-40B4-BE49-F238E27FC236}">
                    <a16:creationId xmlns:a16="http://schemas.microsoft.com/office/drawing/2014/main" id="{ED966DF3-6FFE-A69B-4F08-01E44EE24088}"/>
                  </a:ext>
                </a:extLst>
              </p:cNvPr>
              <p:cNvCxnSpPr>
                <a:stCxn id="15" idx="3"/>
                <a:endCxn id="16" idx="1"/>
              </p:cNvCxnSpPr>
              <p:nvPr/>
            </p:nvCxnSpPr>
            <p:spPr>
              <a:xfrm>
                <a:off x="10548" y="9564"/>
                <a:ext cx="1347" cy="0"/>
              </a:xfrm>
              <a:prstGeom prst="straightConnector1">
                <a:avLst/>
              </a:prstGeom>
              <a:noFill/>
              <a:ln w="28575" cap="flat" cmpd="sng" algn="ctr">
                <a:solidFill>
                  <a:srgbClr val="FF0000"/>
                </a:solidFill>
                <a:prstDash val="solid"/>
                <a:round/>
                <a:headEnd type="none" w="med" len="med"/>
                <a:tailEnd type="arrow" w="med" len="med"/>
              </a:ln>
            </p:spPr>
          </p:cxnSp>
        </p:grpSp>
        <p:sp>
          <p:nvSpPr>
            <p:cNvPr id="13" name="文本框 12">
              <a:extLst>
                <a:ext uri="{FF2B5EF4-FFF2-40B4-BE49-F238E27FC236}">
                  <a16:creationId xmlns:a16="http://schemas.microsoft.com/office/drawing/2014/main" id="{6F552143-68A7-F4DE-DB33-A7FECFCB3514}"/>
                </a:ext>
              </a:extLst>
            </p:cNvPr>
            <p:cNvSpPr txBox="1"/>
            <p:nvPr/>
          </p:nvSpPr>
          <p:spPr>
            <a:xfrm>
              <a:off x="538" y="8675"/>
              <a:ext cx="2968" cy="580"/>
            </a:xfrm>
            <a:prstGeom prst="rect">
              <a:avLst/>
            </a:prstGeom>
            <a:noFill/>
            <a:ln w="9525">
              <a:noFill/>
            </a:ln>
          </p:spPr>
          <p:txBody>
            <a:bodyPr wrap="square">
              <a:spAutoFit/>
            </a:bodyPr>
            <a:lstStyle/>
            <a:p>
              <a:pPr marL="0" indent="127000"/>
              <a:r>
                <a:rPr lang="zh-CN" sz="1800" b="1">
                  <a:latin typeface="Times New Roman" panose="02020603050405020304" pitchFamily="18" charset="0"/>
                  <a:ea typeface="宋体" panose="02010600030101010101" pitchFamily="2" charset="-122"/>
                </a:rPr>
                <a:t>反馈给前端：</a:t>
              </a:r>
            </a:p>
          </p:txBody>
        </p:sp>
      </p:grpSp>
    </p:spTree>
    <p:extLst>
      <p:ext uri="{BB962C8B-B14F-4D97-AF65-F5344CB8AC3E}">
        <p14:creationId xmlns:p14="http://schemas.microsoft.com/office/powerpoint/2010/main" val="24498362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9">
            <a:extLst>
              <a:ext uri="{FF2B5EF4-FFF2-40B4-BE49-F238E27FC236}">
                <a16:creationId xmlns:a16="http://schemas.microsoft.com/office/drawing/2014/main" id="{D9FCC5F2-620F-7CE4-BD22-2FE6D655C38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400050" y="1492885"/>
            <a:ext cx="4966970" cy="4023995"/>
          </a:xfrm>
          <a:prstGeom prst="rect">
            <a:avLst/>
          </a:prstGeom>
          <a:noFill/>
          <a:ln>
            <a:noFill/>
          </a:ln>
        </p:spPr>
      </p:pic>
      <p:sp>
        <p:nvSpPr>
          <p:cNvPr id="3" name="文本框 2">
            <a:extLst>
              <a:ext uri="{FF2B5EF4-FFF2-40B4-BE49-F238E27FC236}">
                <a16:creationId xmlns:a16="http://schemas.microsoft.com/office/drawing/2014/main" id="{E017AC7E-0750-417A-E6E8-6C178312916F}"/>
              </a:ext>
            </a:extLst>
          </p:cNvPr>
          <p:cNvSpPr txBox="1"/>
          <p:nvPr/>
        </p:nvSpPr>
        <p:spPr>
          <a:xfrm>
            <a:off x="986155" y="5633720"/>
            <a:ext cx="3701415" cy="368300"/>
          </a:xfrm>
          <a:prstGeom prst="rect">
            <a:avLst/>
          </a:prstGeom>
          <a:noFill/>
          <a:ln w="9525">
            <a:noFill/>
          </a:ln>
        </p:spPr>
        <p:txBody>
          <a:bodyPr wrap="square">
            <a:spAutoFit/>
          </a:bodyPr>
          <a:lstStyle/>
          <a:p>
            <a:pPr marL="0" indent="127000" algn="ctr"/>
            <a:r>
              <a:rPr lang="zh-CN" sz="1800" b="0">
                <a:latin typeface="Times New Roman" panose="02020603050405020304" pitchFamily="18" charset="0"/>
                <a:ea typeface="宋体" panose="02010600030101010101" pitchFamily="2" charset="-122"/>
              </a:rPr>
              <a:t>可视区域与共视区域示意图</a:t>
            </a:r>
            <a:endParaRPr lang="zh-CN" altLang="en-US" sz="1800" b="0">
              <a:latin typeface="Times New Roman" panose="02020603050405020304" pitchFamily="18" charset="0"/>
              <a:ea typeface="宋体" panose="02010600030101010101" pitchFamily="2" charset="-122"/>
            </a:endParaRPr>
          </a:p>
        </p:txBody>
      </p:sp>
      <p:grpSp>
        <p:nvGrpSpPr>
          <p:cNvPr id="4" name="组合 3">
            <a:extLst>
              <a:ext uri="{FF2B5EF4-FFF2-40B4-BE49-F238E27FC236}">
                <a16:creationId xmlns:a16="http://schemas.microsoft.com/office/drawing/2014/main" id="{319F0F5C-D864-545C-ECEB-30890E6233C5}"/>
              </a:ext>
            </a:extLst>
          </p:cNvPr>
          <p:cNvGrpSpPr/>
          <p:nvPr/>
        </p:nvGrpSpPr>
        <p:grpSpPr>
          <a:xfrm>
            <a:off x="5549900" y="1010285"/>
            <a:ext cx="6394450" cy="2324735"/>
            <a:chOff x="8740" y="1591"/>
            <a:chExt cx="10070" cy="3661"/>
          </a:xfrm>
        </p:grpSpPr>
        <p:grpSp>
          <p:nvGrpSpPr>
            <p:cNvPr id="5" name="组合 4">
              <a:extLst>
                <a:ext uri="{FF2B5EF4-FFF2-40B4-BE49-F238E27FC236}">
                  <a16:creationId xmlns:a16="http://schemas.microsoft.com/office/drawing/2014/main" id="{A2C5E5F5-5AB1-B137-D17F-ABA3350FCE1C}"/>
                </a:ext>
              </a:extLst>
            </p:cNvPr>
            <p:cNvGrpSpPr/>
            <p:nvPr/>
          </p:nvGrpSpPr>
          <p:grpSpPr>
            <a:xfrm>
              <a:off x="8740" y="1591"/>
              <a:ext cx="10071" cy="2745"/>
              <a:chOff x="8740" y="1591"/>
              <a:chExt cx="10071" cy="2745"/>
            </a:xfrm>
          </p:grpSpPr>
          <p:pic>
            <p:nvPicPr>
              <p:cNvPr id="9" name="图片 24">
                <a:extLst>
                  <a:ext uri="{FF2B5EF4-FFF2-40B4-BE49-F238E27FC236}">
                    <a16:creationId xmlns:a16="http://schemas.microsoft.com/office/drawing/2014/main" id="{8789FA6B-36C9-B8FA-B4CB-95AFD0F9B8A5}"/>
                  </a:ext>
                </a:extLst>
              </p:cNvPr>
              <p:cNvPicPr>
                <a:picLocks noChangeAspect="1"/>
              </p:cNvPicPr>
              <p:nvPr/>
            </p:nvPicPr>
            <p:blipFill>
              <a:blip r:embed="rId3"/>
              <a:stretch>
                <a:fillRect/>
              </a:stretch>
            </p:blipFill>
            <p:spPr>
              <a:xfrm>
                <a:off x="8740" y="1625"/>
                <a:ext cx="6405" cy="2277"/>
              </a:xfrm>
              <a:prstGeom prst="rect">
                <a:avLst/>
              </a:prstGeom>
            </p:spPr>
          </p:pic>
          <p:pic>
            <p:nvPicPr>
              <p:cNvPr id="10" name="图片 25">
                <a:extLst>
                  <a:ext uri="{FF2B5EF4-FFF2-40B4-BE49-F238E27FC236}">
                    <a16:creationId xmlns:a16="http://schemas.microsoft.com/office/drawing/2014/main" id="{BF07089B-FDA8-E4AB-748E-CF0FC06ECEA7}"/>
                  </a:ext>
                </a:extLst>
              </p:cNvPr>
              <p:cNvPicPr>
                <a:picLocks noChangeAspect="1"/>
              </p:cNvPicPr>
              <p:nvPr/>
            </p:nvPicPr>
            <p:blipFill>
              <a:blip r:embed="rId4"/>
              <a:stretch>
                <a:fillRect/>
              </a:stretch>
            </p:blipFill>
            <p:spPr>
              <a:xfrm>
                <a:off x="15273" y="1591"/>
                <a:ext cx="3538" cy="2311"/>
              </a:xfrm>
              <a:prstGeom prst="rect">
                <a:avLst/>
              </a:prstGeom>
            </p:spPr>
          </p:pic>
          <p:sp>
            <p:nvSpPr>
              <p:cNvPr id="11" name="文本框 10">
                <a:extLst>
                  <a:ext uri="{FF2B5EF4-FFF2-40B4-BE49-F238E27FC236}">
                    <a16:creationId xmlns:a16="http://schemas.microsoft.com/office/drawing/2014/main" id="{96CB4CFB-3B7A-25BE-BCE5-8454822A7B81}"/>
                  </a:ext>
                </a:extLst>
              </p:cNvPr>
              <p:cNvSpPr txBox="1"/>
              <p:nvPr/>
            </p:nvSpPr>
            <p:spPr>
              <a:xfrm>
                <a:off x="8848" y="3902"/>
                <a:ext cx="5715" cy="434"/>
              </a:xfrm>
              <a:prstGeom prst="rect">
                <a:avLst/>
              </a:prstGeom>
              <a:noFill/>
              <a:ln w="9525">
                <a:noFill/>
              </a:ln>
            </p:spPr>
            <p:txBody>
              <a:bodyPr wrap="square">
                <a:spAutoFit/>
              </a:bodyPr>
              <a:lstStyle/>
              <a:p>
                <a:pPr marL="0" indent="0" eaLnBrk="1" latinLnBrk="0" hangingPunct="1"/>
                <a:r>
                  <a:rPr lang="zh-CN" sz="1200" b="0">
                    <a:latin typeface="Times New Roman" panose="02020603050405020304" pitchFamily="18" charset="0"/>
                    <a:ea typeface="宋体" panose="02010600030101010101" pitchFamily="2" charset="-122"/>
                  </a:rPr>
                  <a:t>可观测区域划定（左）错误划定；（右）正确划定</a:t>
                </a:r>
                <a:endParaRPr lang="zh-CN" altLang="en-US" sz="1200" b="0">
                  <a:latin typeface="Times New Roman" panose="02020603050405020304" pitchFamily="18" charset="0"/>
                  <a:ea typeface="宋体" panose="02010600030101010101" pitchFamily="2" charset="-122"/>
                </a:endParaRPr>
              </a:p>
            </p:txBody>
          </p:sp>
          <p:sp>
            <p:nvSpPr>
              <p:cNvPr id="12" name="文本框 11">
                <a:extLst>
                  <a:ext uri="{FF2B5EF4-FFF2-40B4-BE49-F238E27FC236}">
                    <a16:creationId xmlns:a16="http://schemas.microsoft.com/office/drawing/2014/main" id="{05D5A313-80AF-1327-541D-667474457668}"/>
                  </a:ext>
                </a:extLst>
              </p:cNvPr>
              <p:cNvSpPr txBox="1"/>
              <p:nvPr/>
            </p:nvSpPr>
            <p:spPr>
              <a:xfrm>
                <a:off x="15609" y="3902"/>
                <a:ext cx="2607" cy="434"/>
              </a:xfrm>
              <a:prstGeom prst="rect">
                <a:avLst/>
              </a:prstGeom>
              <a:noFill/>
              <a:ln w="9525">
                <a:noFill/>
              </a:ln>
            </p:spPr>
            <p:txBody>
              <a:bodyPr wrap="square">
                <a:spAutoFit/>
              </a:bodyPr>
              <a:lstStyle/>
              <a:p>
                <a:pPr marL="0" indent="127000" algn="ctr"/>
                <a:r>
                  <a:rPr lang="zh-CN" sz="1200" b="0">
                    <a:latin typeface="Times New Roman" panose="02020603050405020304" pitchFamily="18" charset="0"/>
                    <a:ea typeface="宋体" panose="02010600030101010101" pitchFamily="2" charset="-122"/>
                  </a:rPr>
                  <a:t>重叠区域面积计算</a:t>
                </a:r>
                <a:endParaRPr lang="zh-CN" altLang="en-US"/>
              </a:p>
            </p:txBody>
          </p:sp>
        </p:grpSp>
        <p:grpSp>
          <p:nvGrpSpPr>
            <p:cNvPr id="6" name="组合 5">
              <a:extLst>
                <a:ext uri="{FF2B5EF4-FFF2-40B4-BE49-F238E27FC236}">
                  <a16:creationId xmlns:a16="http://schemas.microsoft.com/office/drawing/2014/main" id="{17AD03BB-3D16-A6B1-EDA6-607A10A1BE46}"/>
                </a:ext>
              </a:extLst>
            </p:cNvPr>
            <p:cNvGrpSpPr/>
            <p:nvPr/>
          </p:nvGrpSpPr>
          <p:grpSpPr>
            <a:xfrm>
              <a:off x="10851" y="4518"/>
              <a:ext cx="4122" cy="734"/>
              <a:chOff x="10851" y="4518"/>
              <a:chExt cx="4122" cy="734"/>
            </a:xfrm>
          </p:grpSpPr>
          <p:pic>
            <p:nvPicPr>
              <p:cNvPr id="7" name="图片 6">
                <a:extLst>
                  <a:ext uri="{FF2B5EF4-FFF2-40B4-BE49-F238E27FC236}">
                    <a16:creationId xmlns:a16="http://schemas.microsoft.com/office/drawing/2014/main" id="{CBB40F02-93E6-7FEF-41F6-8BB39F9142B1}"/>
                  </a:ext>
                </a:extLst>
              </p:cNvPr>
              <p:cNvPicPr>
                <a:picLocks noChangeAspect="1"/>
              </p:cNvPicPr>
              <p:nvPr/>
            </p:nvPicPr>
            <p:blipFill>
              <a:blip r:embed="rId5"/>
              <a:stretch>
                <a:fillRect/>
              </a:stretch>
            </p:blipFill>
            <p:spPr>
              <a:xfrm>
                <a:off x="12733" y="4518"/>
                <a:ext cx="2240" cy="734"/>
              </a:xfrm>
              <a:prstGeom prst="rect">
                <a:avLst/>
              </a:prstGeom>
              <a:noFill/>
              <a:ln w="9525">
                <a:noFill/>
              </a:ln>
            </p:spPr>
          </p:pic>
          <p:sp>
            <p:nvSpPr>
              <p:cNvPr id="8" name="文本框 7">
                <a:extLst>
                  <a:ext uri="{FF2B5EF4-FFF2-40B4-BE49-F238E27FC236}">
                    <a16:creationId xmlns:a16="http://schemas.microsoft.com/office/drawing/2014/main" id="{73E0C25C-DC53-E2BD-6921-6BE09FA18260}"/>
                  </a:ext>
                </a:extLst>
              </p:cNvPr>
              <p:cNvSpPr txBox="1"/>
              <p:nvPr/>
            </p:nvSpPr>
            <p:spPr>
              <a:xfrm>
                <a:off x="10851" y="4650"/>
                <a:ext cx="1708" cy="531"/>
              </a:xfrm>
              <a:prstGeom prst="rect">
                <a:avLst/>
              </a:prstGeom>
              <a:noFill/>
              <a:ln w="9525">
                <a:noFill/>
              </a:ln>
            </p:spPr>
            <p:txBody>
              <a:bodyPr wrap="square">
                <a:spAutoFit/>
              </a:bodyPr>
              <a:lstStyle/>
              <a:p>
                <a:pPr marL="0" indent="127000" algn="ctr"/>
                <a:r>
                  <a:rPr lang="zh-CN" sz="1600" b="0">
                    <a:latin typeface="Times New Roman" panose="02020603050405020304" pitchFamily="18" charset="0"/>
                    <a:ea typeface="宋体" panose="02010600030101010101" pitchFamily="2" charset="-122"/>
                  </a:rPr>
                  <a:t>重叠率：</a:t>
                </a:r>
                <a:endParaRPr lang="zh-CN" altLang="en-US" sz="1600"/>
              </a:p>
            </p:txBody>
          </p:sp>
        </p:grpSp>
      </p:grpSp>
      <p:grpSp>
        <p:nvGrpSpPr>
          <p:cNvPr id="13" name="组合 12">
            <a:extLst>
              <a:ext uri="{FF2B5EF4-FFF2-40B4-BE49-F238E27FC236}">
                <a16:creationId xmlns:a16="http://schemas.microsoft.com/office/drawing/2014/main" id="{2FA455A9-FEB9-B79D-54AD-EDBAA123B353}"/>
              </a:ext>
            </a:extLst>
          </p:cNvPr>
          <p:cNvGrpSpPr/>
          <p:nvPr/>
        </p:nvGrpSpPr>
        <p:grpSpPr>
          <a:xfrm>
            <a:off x="4687570" y="3450590"/>
            <a:ext cx="7515225" cy="3030220"/>
            <a:chOff x="7382" y="5434"/>
            <a:chExt cx="11835" cy="4772"/>
          </a:xfrm>
        </p:grpSpPr>
        <p:pic>
          <p:nvPicPr>
            <p:cNvPr id="14" name="图片 1">
              <a:extLst>
                <a:ext uri="{FF2B5EF4-FFF2-40B4-BE49-F238E27FC236}">
                  <a16:creationId xmlns:a16="http://schemas.microsoft.com/office/drawing/2014/main" id="{41F50B7C-F320-A492-3E8C-C960237E3AD4}"/>
                </a:ext>
              </a:extLst>
            </p:cNvPr>
            <p:cNvPicPr>
              <a:picLocks noChangeAspect="1"/>
            </p:cNvPicPr>
            <p:nvPr/>
          </p:nvPicPr>
          <p:blipFill>
            <a:blip r:embed="rId6"/>
            <a:stretch>
              <a:fillRect/>
            </a:stretch>
          </p:blipFill>
          <p:spPr>
            <a:xfrm>
              <a:off x="7382" y="5510"/>
              <a:ext cx="6261" cy="4697"/>
            </a:xfrm>
            <a:prstGeom prst="rect">
              <a:avLst/>
            </a:prstGeom>
          </p:spPr>
        </p:pic>
        <p:pic>
          <p:nvPicPr>
            <p:cNvPr id="15" name="图片 5">
              <a:extLst>
                <a:ext uri="{FF2B5EF4-FFF2-40B4-BE49-F238E27FC236}">
                  <a16:creationId xmlns:a16="http://schemas.microsoft.com/office/drawing/2014/main" id="{28CB6787-859D-7855-D4F6-6096FEBEE90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a:xfrm>
              <a:off x="13393" y="5775"/>
              <a:ext cx="5825" cy="4367"/>
            </a:xfrm>
            <a:prstGeom prst="rect">
              <a:avLst/>
            </a:prstGeom>
            <a:noFill/>
            <a:ln>
              <a:noFill/>
            </a:ln>
          </p:spPr>
        </p:pic>
        <p:sp>
          <p:nvSpPr>
            <p:cNvPr id="16" name="文本框 15">
              <a:extLst>
                <a:ext uri="{FF2B5EF4-FFF2-40B4-BE49-F238E27FC236}">
                  <a16:creationId xmlns:a16="http://schemas.microsoft.com/office/drawing/2014/main" id="{EE221BDB-F427-AAAB-F8AE-630045C8D8CC}"/>
                </a:ext>
              </a:extLst>
            </p:cNvPr>
            <p:cNvSpPr txBox="1"/>
            <p:nvPr/>
          </p:nvSpPr>
          <p:spPr>
            <a:xfrm>
              <a:off x="9386" y="5434"/>
              <a:ext cx="8000" cy="580"/>
            </a:xfrm>
            <a:prstGeom prst="rect">
              <a:avLst/>
            </a:prstGeom>
            <a:noFill/>
            <a:ln w="9525">
              <a:noFill/>
            </a:ln>
          </p:spPr>
          <p:txBody>
            <a:bodyPr>
              <a:spAutoFit/>
            </a:bodyPr>
            <a:lstStyle/>
            <a:p>
              <a:pPr marL="0" indent="127000" algn="ctr"/>
              <a:r>
                <a:rPr lang="zh-CN" sz="1800" b="0">
                  <a:ea typeface="宋体" panose="02010600030101010101" pitchFamily="2" charset="-122"/>
                </a:rPr>
                <a:t>距离和高度对重叠率的影响</a:t>
              </a:r>
              <a:endParaRPr lang="zh-CN" altLang="en-US" sz="1800"/>
            </a:p>
          </p:txBody>
        </p:sp>
      </p:grpSp>
    </p:spTree>
    <p:extLst>
      <p:ext uri="{BB962C8B-B14F-4D97-AF65-F5344CB8AC3E}">
        <p14:creationId xmlns:p14="http://schemas.microsoft.com/office/powerpoint/2010/main" val="1142041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4D52F-7D71-11D0-D5AB-D61D5234A2B4}"/>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E1C89855-52F2-111F-C73E-0A769B364EC8}"/>
              </a:ext>
            </a:extLst>
          </p:cNvPr>
          <p:cNvSpPr txBox="1"/>
          <p:nvPr/>
        </p:nvSpPr>
        <p:spPr>
          <a:xfrm>
            <a:off x="1015139" y="959579"/>
            <a:ext cx="10190136" cy="5342103"/>
          </a:xfrm>
          <a:prstGeom prst="rect">
            <a:avLst/>
          </a:prstGeom>
          <a:noFill/>
        </p:spPr>
        <p:txBody>
          <a:bodyPr wrap="square">
            <a:spAutoFit/>
          </a:bodyPr>
          <a:lstStyle/>
          <a:p>
            <a:pPr>
              <a:lnSpc>
                <a:spcPct val="115000"/>
              </a:lnSpc>
              <a:spcAft>
                <a:spcPts val="800"/>
              </a:spcAft>
              <a:buNone/>
            </a:pP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        </a:t>
            </a: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多机器人集群</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执行任务前需要校准所有节点在当地地理系下的坐标（以任意一个节点所在位置为原点）。通常高度上的估计可以通过气压计给出，因此建立通信的节点之间的相对高度是已知量。因此，三维空间中的位置校准问题多机器人集群在转换为了二维平面上的位置校准问题。</a:t>
            </a:r>
            <a:endPar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15000"/>
              </a:lnSpc>
              <a:spcAft>
                <a:spcPts val="800"/>
              </a:spcAft>
              <a:buNone/>
            </a:pPr>
            <a:r>
              <a:rPr lang="en-US" altLang="zh-CN" dirty="0"/>
              <a:t>        </a:t>
            </a:r>
            <a:r>
              <a:rPr lang="zh-CN" altLang="zh-CN" dirty="0"/>
              <a:t>在一个二维平面中的一个机器人集群，将其视为无大小的质点，节点个数为</a:t>
            </a:r>
            <a:r>
              <a:rPr lang="en-US" altLang="zh-CN" dirty="0"/>
              <a:t>                  </a:t>
            </a:r>
            <a:r>
              <a:rPr lang="zh-CN" altLang="en-US" dirty="0"/>
              <a:t>，用</a:t>
            </a:r>
            <a:endParaRPr lang="en-US" altLang="zh-CN" dirty="0"/>
          </a:p>
          <a:p>
            <a:pPr>
              <a:lnSpc>
                <a:spcPct val="115000"/>
              </a:lnSpc>
              <a:spcAft>
                <a:spcPts val="800"/>
              </a:spcAft>
              <a:buNone/>
            </a:pP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表示</a:t>
            </a:r>
            <a:r>
              <a:rPr lang="en-US" altLang="zh-CN" sz="2000" dirty="0">
                <a:latin typeface="+mj-ea"/>
                <a:ea typeface="+mj-ea"/>
              </a:rPr>
              <a:t>,</a:t>
            </a:r>
            <a:r>
              <a:rPr lang="zh-CN" altLang="zh-CN" sz="2000" dirty="0">
                <a:latin typeface="+mj-ea"/>
                <a:ea typeface="+mj-ea"/>
              </a:rPr>
              <a:t>节点真实位置</a:t>
            </a:r>
            <a:r>
              <a:rPr lang="en-US" altLang="zh-CN" sz="2000" dirty="0">
                <a:latin typeface="+mj-ea"/>
                <a:ea typeface="+mj-ea"/>
              </a:rPr>
              <a:t>                            ,    </a:t>
            </a:r>
            <a:r>
              <a:rPr lang="zh-CN" altLang="en-US" sz="2000" dirty="0">
                <a:latin typeface="+mj-ea"/>
                <a:ea typeface="+mj-ea"/>
              </a:rPr>
              <a:t>与     </a:t>
            </a:r>
            <a:r>
              <a:rPr lang="zh-CN" altLang="zh-CN" dirty="0"/>
              <a:t>的测得距离记为</a:t>
            </a:r>
            <a:r>
              <a:rPr lang="en-US" altLang="zh-CN" dirty="0"/>
              <a:t>      </a:t>
            </a:r>
          </a:p>
          <a:p>
            <a:pPr>
              <a:lnSpc>
                <a:spcPct val="115000"/>
              </a:lnSpc>
              <a:spcAft>
                <a:spcPts val="800"/>
              </a:spcAft>
              <a:buNone/>
            </a:pPr>
            <a:endParaRPr lang="en-US" altLang="zh-CN" sz="2000" kern="100" dirty="0">
              <a:latin typeface="+mj-ea"/>
              <a:ea typeface="+mj-ea"/>
              <a:cs typeface="Times New Roman" panose="02020603050405020304" pitchFamily="18" charset="0"/>
            </a:endParaRPr>
          </a:p>
          <a:p>
            <a:pPr>
              <a:lnSpc>
                <a:spcPct val="115000"/>
              </a:lnSpc>
              <a:spcAft>
                <a:spcPts val="800"/>
              </a:spcAft>
              <a:buNone/>
            </a:pPr>
            <a:r>
              <a:rPr lang="zh-CN" altLang="zh-CN" dirty="0"/>
              <a:t>其中，</a:t>
            </a:r>
            <a:r>
              <a:rPr lang="en-US" altLang="zh-CN" dirty="0"/>
              <a:t>     </a:t>
            </a:r>
            <a:r>
              <a:rPr lang="zh-CN" altLang="zh-CN" dirty="0"/>
              <a:t>为真实距离</a:t>
            </a:r>
            <a:r>
              <a:rPr lang="zh-CN" altLang="en-US" dirty="0"/>
              <a:t>，    </a:t>
            </a:r>
            <a:r>
              <a:rPr lang="zh-CN" altLang="zh-CN" dirty="0"/>
              <a:t>为测距噪声。</a:t>
            </a:r>
            <a:endParaRPr lang="en-US" altLang="zh-CN" dirty="0"/>
          </a:p>
          <a:p>
            <a:pPr>
              <a:lnSpc>
                <a:spcPct val="115000"/>
              </a:lnSpc>
              <a:spcAft>
                <a:spcPts val="800"/>
              </a:spcAft>
              <a:buNone/>
            </a:pPr>
            <a:r>
              <a:rPr lang="zh-CN" altLang="zh-CN" dirty="0"/>
              <a:t>由测得距离构建距离矩阵记为</a:t>
            </a:r>
            <a:r>
              <a:rPr lang="en-US" altLang="zh-CN" dirty="0"/>
              <a:t>D</a:t>
            </a:r>
          </a:p>
          <a:p>
            <a:pPr>
              <a:lnSpc>
                <a:spcPct val="115000"/>
              </a:lnSpc>
              <a:spcAft>
                <a:spcPts val="800"/>
              </a:spcAft>
              <a:buNone/>
            </a:pPr>
            <a:endParaRPr lang="en-US" altLang="zh-CN" dirty="0"/>
          </a:p>
          <a:p>
            <a:pPr>
              <a:lnSpc>
                <a:spcPct val="115000"/>
              </a:lnSpc>
              <a:spcAft>
                <a:spcPts val="800"/>
              </a:spcAft>
              <a:buNone/>
            </a:pPr>
            <a:endParaRPr lang="en-US" altLang="zh-CN" dirty="0"/>
          </a:p>
          <a:p>
            <a:pPr>
              <a:lnSpc>
                <a:spcPct val="115000"/>
              </a:lnSpc>
              <a:spcAft>
                <a:spcPts val="800"/>
              </a:spcAft>
              <a:buNone/>
            </a:pPr>
            <a:endParaRPr lang="en-US" altLang="zh-CN" dirty="0"/>
          </a:p>
          <a:p>
            <a:pPr>
              <a:lnSpc>
                <a:spcPct val="115000"/>
              </a:lnSpc>
              <a:spcAft>
                <a:spcPts val="800"/>
              </a:spcAft>
              <a:buNone/>
            </a:pPr>
            <a:r>
              <a:rPr lang="zh-CN" altLang="zh-CN" dirty="0"/>
              <a:t>其中，</a:t>
            </a:r>
            <a:r>
              <a:rPr lang="en-US" altLang="zh-CN" dirty="0"/>
              <a:t>    </a:t>
            </a:r>
            <a:r>
              <a:rPr lang="zh-CN" altLang="zh-CN" dirty="0"/>
              <a:t>为距离矩阵</a:t>
            </a:r>
            <a:r>
              <a:rPr lang="en-US" altLang="zh-CN" dirty="0"/>
              <a:t>D</a:t>
            </a:r>
            <a:r>
              <a:rPr lang="zh-CN" altLang="en-US" dirty="0"/>
              <a:t>的第</a:t>
            </a:r>
            <a:r>
              <a:rPr lang="en-US" altLang="zh-CN" dirty="0" err="1"/>
              <a:t>i</a:t>
            </a:r>
            <a:r>
              <a:rPr lang="zh-CN" altLang="en-US" dirty="0"/>
              <a:t>行、第</a:t>
            </a:r>
            <a:r>
              <a:rPr lang="en-US" altLang="zh-CN" dirty="0"/>
              <a:t>j</a:t>
            </a:r>
            <a:r>
              <a:rPr lang="zh-CN" altLang="en-US" dirty="0"/>
              <a:t>列的元素。</a:t>
            </a:r>
            <a:endParaRPr lang="en-US" altLang="zh-CN" dirty="0"/>
          </a:p>
        </p:txBody>
      </p:sp>
      <p:graphicFrame>
        <p:nvGraphicFramePr>
          <p:cNvPr id="9" name="对象 8">
            <a:extLst>
              <a:ext uri="{FF2B5EF4-FFF2-40B4-BE49-F238E27FC236}">
                <a16:creationId xmlns:a16="http://schemas.microsoft.com/office/drawing/2014/main" id="{FA890F01-7AFC-8EB0-C6CA-D74EB956B497}"/>
              </a:ext>
            </a:extLst>
          </p:cNvPr>
          <p:cNvGraphicFramePr>
            <a:graphicFrameLocks noChangeAspect="1"/>
          </p:cNvGraphicFramePr>
          <p:nvPr/>
        </p:nvGraphicFramePr>
        <p:xfrm>
          <a:off x="9184470" y="2389915"/>
          <a:ext cx="1176149" cy="490062"/>
        </p:xfrm>
        <a:graphic>
          <a:graphicData uri="http://schemas.openxmlformats.org/presentationml/2006/ole">
            <mc:AlternateContent xmlns:mc="http://schemas.openxmlformats.org/markup-compatibility/2006">
              <mc:Choice xmlns:v="urn:schemas-microsoft-com:vml" Requires="v">
                <p:oleObj name="Equation" r:id="rId3" imgW="457200" imgH="190440" progId="Equation.DSMT4">
                  <p:embed/>
                </p:oleObj>
              </mc:Choice>
              <mc:Fallback>
                <p:oleObj name="Equation" r:id="rId3" imgW="457200" imgH="190440" progId="Equation.DSMT4">
                  <p:embed/>
                  <p:pic>
                    <p:nvPicPr>
                      <p:cNvPr id="9" name="对象 8">
                        <a:extLst>
                          <a:ext uri="{FF2B5EF4-FFF2-40B4-BE49-F238E27FC236}">
                            <a16:creationId xmlns:a16="http://schemas.microsoft.com/office/drawing/2014/main" id="{FA890F01-7AFC-8EB0-C6CA-D74EB956B497}"/>
                          </a:ext>
                        </a:extLst>
                      </p:cNvPr>
                      <p:cNvPicPr/>
                      <p:nvPr/>
                    </p:nvPicPr>
                    <p:blipFill>
                      <a:blip r:embed="rId4"/>
                      <a:stretch>
                        <a:fillRect/>
                      </a:stretch>
                    </p:blipFill>
                    <p:spPr>
                      <a:xfrm>
                        <a:off x="9184470" y="2389915"/>
                        <a:ext cx="1176149" cy="49006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F439029F-8396-CE00-6F49-30FEF69610FD}"/>
              </a:ext>
            </a:extLst>
          </p:cNvPr>
          <p:cNvGraphicFramePr>
            <a:graphicFrameLocks noChangeAspect="1"/>
          </p:cNvGraphicFramePr>
          <p:nvPr/>
        </p:nvGraphicFramePr>
        <p:xfrm>
          <a:off x="1015139" y="2864253"/>
          <a:ext cx="1761255" cy="421709"/>
        </p:xfrm>
        <a:graphic>
          <a:graphicData uri="http://schemas.openxmlformats.org/presentationml/2006/ole">
            <mc:AlternateContent xmlns:mc="http://schemas.openxmlformats.org/markup-compatibility/2006">
              <mc:Choice xmlns:v="urn:schemas-microsoft-com:vml" Requires="v">
                <p:oleObj name="Equation" r:id="rId5" imgW="901440" imgH="215640" progId="Equation.DSMT4">
                  <p:embed/>
                </p:oleObj>
              </mc:Choice>
              <mc:Fallback>
                <p:oleObj name="Equation" r:id="rId5" imgW="901440" imgH="215640" progId="Equation.DSMT4">
                  <p:embed/>
                  <p:pic>
                    <p:nvPicPr>
                      <p:cNvPr id="10" name="对象 9">
                        <a:extLst>
                          <a:ext uri="{FF2B5EF4-FFF2-40B4-BE49-F238E27FC236}">
                            <a16:creationId xmlns:a16="http://schemas.microsoft.com/office/drawing/2014/main" id="{F439029F-8396-CE00-6F49-30FEF69610FD}"/>
                          </a:ext>
                        </a:extLst>
                      </p:cNvPr>
                      <p:cNvPicPr/>
                      <p:nvPr/>
                    </p:nvPicPr>
                    <p:blipFill>
                      <a:blip r:embed="rId6"/>
                      <a:stretch>
                        <a:fillRect/>
                      </a:stretch>
                    </p:blipFill>
                    <p:spPr>
                      <a:xfrm>
                        <a:off x="1015139" y="2864253"/>
                        <a:ext cx="1761255" cy="421709"/>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282ED17C-9144-0EB4-8FF1-02403BC2B803}"/>
              </a:ext>
            </a:extLst>
          </p:cNvPr>
          <p:cNvGraphicFramePr>
            <a:graphicFrameLocks noChangeAspect="1"/>
          </p:cNvGraphicFramePr>
          <p:nvPr/>
        </p:nvGraphicFramePr>
        <p:xfrm>
          <a:off x="5854700" y="3290888"/>
          <a:ext cx="127000" cy="152400"/>
        </p:xfrm>
        <a:graphic>
          <a:graphicData uri="http://schemas.openxmlformats.org/presentationml/2006/ole">
            <mc:AlternateContent xmlns:mc="http://schemas.openxmlformats.org/markup-compatibility/2006">
              <mc:Choice xmlns:v="urn:schemas-microsoft-com:vml" Requires="v">
                <p:oleObj name="Equation" r:id="rId7" imgW="126720" imgH="152280" progId="Equation.DSMT4">
                  <p:embed/>
                </p:oleObj>
              </mc:Choice>
              <mc:Fallback>
                <p:oleObj name="Equation" r:id="rId7" imgW="126720" imgH="152280" progId="Equation.DSMT4">
                  <p:embed/>
                  <p:pic>
                    <p:nvPicPr>
                      <p:cNvPr id="12" name="对象 11">
                        <a:extLst>
                          <a:ext uri="{FF2B5EF4-FFF2-40B4-BE49-F238E27FC236}">
                            <a16:creationId xmlns:a16="http://schemas.microsoft.com/office/drawing/2014/main" id="{282ED17C-9144-0EB4-8FF1-02403BC2B803}"/>
                          </a:ext>
                        </a:extLst>
                      </p:cNvPr>
                      <p:cNvPicPr/>
                      <p:nvPr/>
                    </p:nvPicPr>
                    <p:blipFill>
                      <a:blip r:embed="rId8"/>
                      <a:stretch>
                        <a:fillRect/>
                      </a:stretch>
                    </p:blipFill>
                    <p:spPr>
                      <a:xfrm>
                        <a:off x="5854700" y="3290888"/>
                        <a:ext cx="127000" cy="152400"/>
                      </a:xfrm>
                      <a:prstGeom prst="rect">
                        <a:avLst/>
                      </a:prstGeom>
                    </p:spPr>
                  </p:pic>
                </p:oleObj>
              </mc:Fallback>
            </mc:AlternateContent>
          </a:graphicData>
        </a:graphic>
      </p:graphicFrame>
      <p:pic>
        <p:nvPicPr>
          <p:cNvPr id="13" name="图片 12">
            <a:extLst>
              <a:ext uri="{FF2B5EF4-FFF2-40B4-BE49-F238E27FC236}">
                <a16:creationId xmlns:a16="http://schemas.microsoft.com/office/drawing/2014/main" id="{172F2A21-BB84-8C4C-4031-52D3F4A6C724}"/>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838796" y="2816824"/>
            <a:ext cx="2058100" cy="484955"/>
          </a:xfrm>
          <a:prstGeom prst="rect">
            <a:avLst/>
          </a:prstGeom>
          <a:noFill/>
          <a:ln>
            <a:noFill/>
          </a:ln>
        </p:spPr>
      </p:pic>
      <p:pic>
        <p:nvPicPr>
          <p:cNvPr id="14" name="图片 13">
            <a:extLst>
              <a:ext uri="{FF2B5EF4-FFF2-40B4-BE49-F238E27FC236}">
                <a16:creationId xmlns:a16="http://schemas.microsoft.com/office/drawing/2014/main" id="{93E85B34-CFDA-CA9B-DC4D-D6024C8F56EF}"/>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6967531" y="2766465"/>
            <a:ext cx="391693" cy="535314"/>
          </a:xfrm>
          <a:prstGeom prst="rect">
            <a:avLst/>
          </a:prstGeom>
          <a:noFill/>
          <a:ln>
            <a:noFill/>
          </a:ln>
        </p:spPr>
      </p:pic>
      <p:pic>
        <p:nvPicPr>
          <p:cNvPr id="15" name="图片 14">
            <a:extLst>
              <a:ext uri="{FF2B5EF4-FFF2-40B4-BE49-F238E27FC236}">
                <a16:creationId xmlns:a16="http://schemas.microsoft.com/office/drawing/2014/main" id="{04E2B9A4-7EE5-D35F-5857-B28030D0C796}"/>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7560080" y="2773255"/>
            <a:ext cx="391693" cy="535314"/>
          </a:xfrm>
          <a:prstGeom prst="rect">
            <a:avLst/>
          </a:prstGeom>
          <a:noFill/>
          <a:ln>
            <a:noFill/>
          </a:ln>
        </p:spPr>
      </p:pic>
      <p:pic>
        <p:nvPicPr>
          <p:cNvPr id="17" name="图片 16">
            <a:extLst>
              <a:ext uri="{FF2B5EF4-FFF2-40B4-BE49-F238E27FC236}">
                <a16:creationId xmlns:a16="http://schemas.microsoft.com/office/drawing/2014/main" id="{7CD4B8E3-9D23-3E1D-784E-45D839F82C76}"/>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9530153" y="2831774"/>
            <a:ext cx="391693" cy="535314"/>
          </a:xfrm>
          <a:prstGeom prst="rect">
            <a:avLst/>
          </a:prstGeom>
          <a:noFill/>
          <a:ln>
            <a:noFill/>
          </a:ln>
        </p:spPr>
      </p:pic>
      <p:pic>
        <p:nvPicPr>
          <p:cNvPr id="18" name="图片 17">
            <a:extLst>
              <a:ext uri="{FF2B5EF4-FFF2-40B4-BE49-F238E27FC236}">
                <a16:creationId xmlns:a16="http://schemas.microsoft.com/office/drawing/2014/main" id="{185BD0EB-68DF-1A04-8F0D-9784FB84ED4E}"/>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3971675" y="3240100"/>
            <a:ext cx="3893050" cy="618663"/>
          </a:xfrm>
          <a:prstGeom prst="rect">
            <a:avLst/>
          </a:prstGeom>
          <a:noFill/>
          <a:ln>
            <a:noFill/>
          </a:ln>
        </p:spPr>
      </p:pic>
      <p:pic>
        <p:nvPicPr>
          <p:cNvPr id="28" name="图片 27">
            <a:extLst>
              <a:ext uri="{FF2B5EF4-FFF2-40B4-BE49-F238E27FC236}">
                <a16:creationId xmlns:a16="http://schemas.microsoft.com/office/drawing/2014/main" id="{9E9EE043-093D-D4EE-B29C-82EA00CACC2F}"/>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1685150" y="3664885"/>
            <a:ext cx="421231" cy="575683"/>
          </a:xfrm>
          <a:prstGeom prst="rect">
            <a:avLst/>
          </a:prstGeom>
          <a:noFill/>
          <a:ln>
            <a:noFill/>
          </a:ln>
        </p:spPr>
      </p:pic>
      <p:pic>
        <p:nvPicPr>
          <p:cNvPr id="30" name="图片 29">
            <a:extLst>
              <a:ext uri="{FF2B5EF4-FFF2-40B4-BE49-F238E27FC236}">
                <a16:creationId xmlns:a16="http://schemas.microsoft.com/office/drawing/2014/main" id="{36FCB758-3332-7C8B-AFB7-B26EE35FC789}"/>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3355424" y="3664884"/>
            <a:ext cx="421231" cy="575683"/>
          </a:xfrm>
          <a:prstGeom prst="rect">
            <a:avLst/>
          </a:prstGeom>
          <a:noFill/>
          <a:ln>
            <a:noFill/>
          </a:ln>
        </p:spPr>
      </p:pic>
      <p:pic>
        <p:nvPicPr>
          <p:cNvPr id="33" name="图片 32">
            <a:extLst>
              <a:ext uri="{FF2B5EF4-FFF2-40B4-BE49-F238E27FC236}">
                <a16:creationId xmlns:a16="http://schemas.microsoft.com/office/drawing/2014/main" id="{30752C3B-62E4-E614-DB9C-C43C973F5023}"/>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3788784" y="4499928"/>
            <a:ext cx="3108112" cy="1146682"/>
          </a:xfrm>
          <a:prstGeom prst="rect">
            <a:avLst/>
          </a:prstGeom>
          <a:noFill/>
          <a:ln>
            <a:noFill/>
          </a:ln>
        </p:spPr>
      </p:pic>
      <p:pic>
        <p:nvPicPr>
          <p:cNvPr id="35" name="图片 34">
            <a:extLst>
              <a:ext uri="{FF2B5EF4-FFF2-40B4-BE49-F238E27FC236}">
                <a16:creationId xmlns:a16="http://schemas.microsoft.com/office/drawing/2014/main" id="{604C784F-A3F8-B042-CE7C-55E1665A8DC4}"/>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bwMode="auto">
          <a:xfrm>
            <a:off x="1685150" y="5811936"/>
            <a:ext cx="358351" cy="489746"/>
          </a:xfrm>
          <a:prstGeom prst="rect">
            <a:avLst/>
          </a:prstGeom>
          <a:noFill/>
          <a:ln>
            <a:noFill/>
          </a:ln>
        </p:spPr>
      </p:pic>
    </p:spTree>
    <p:extLst>
      <p:ext uri="{BB962C8B-B14F-4D97-AF65-F5344CB8AC3E}">
        <p14:creationId xmlns:p14="http://schemas.microsoft.com/office/powerpoint/2010/main" val="4832407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1CCA8720-DE23-4D38-5BAF-087F61FAC37C}"/>
              </a:ext>
            </a:extLst>
          </p:cNvPr>
          <p:cNvGraphicFramePr>
            <a:graphicFrameLocks noChangeAspect="1"/>
          </p:cNvGraphicFramePr>
          <p:nvPr>
            <p:extLst>
              <p:ext uri="{D42A27DB-BD31-4B8C-83A1-F6EECF244321}">
                <p14:modId xmlns:p14="http://schemas.microsoft.com/office/powerpoint/2010/main" val="572175502"/>
              </p:ext>
            </p:extLst>
          </p:nvPr>
        </p:nvGraphicFramePr>
        <p:xfrm>
          <a:off x="7222132" y="859657"/>
          <a:ext cx="1538043" cy="601843"/>
        </p:xfrm>
        <a:graphic>
          <a:graphicData uri="http://schemas.openxmlformats.org/presentationml/2006/ole">
            <mc:AlternateContent xmlns:mc="http://schemas.openxmlformats.org/markup-compatibility/2006">
              <mc:Choice xmlns:v="urn:schemas-microsoft-com:vml" Requires="v">
                <p:oleObj name="Equation" r:id="rId2" imgW="657011" imgH="257049" progId="Equation.DSMT4">
                  <p:embed/>
                </p:oleObj>
              </mc:Choice>
              <mc:Fallback>
                <p:oleObj name="Equation" r:id="rId2" imgW="657011" imgH="257049" progId="Equation.DSMT4">
                  <p:embed/>
                  <p:pic>
                    <p:nvPicPr>
                      <p:cNvPr id="3" name="对象 2">
                        <a:extLst>
                          <a:ext uri="{FF2B5EF4-FFF2-40B4-BE49-F238E27FC236}">
                            <a16:creationId xmlns:a16="http://schemas.microsoft.com/office/drawing/2014/main" id="{1CCA8720-DE23-4D38-5BAF-087F61FAC37C}"/>
                          </a:ext>
                        </a:extLst>
                      </p:cNvPr>
                      <p:cNvPicPr/>
                      <p:nvPr/>
                    </p:nvPicPr>
                    <p:blipFill>
                      <a:blip r:embed="rId3"/>
                      <a:stretch>
                        <a:fillRect/>
                      </a:stretch>
                    </p:blipFill>
                    <p:spPr>
                      <a:xfrm>
                        <a:off x="7222132" y="859657"/>
                        <a:ext cx="1538043" cy="601843"/>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01E83503-E841-3817-40A5-636FECC63461}"/>
              </a:ext>
            </a:extLst>
          </p:cNvPr>
          <p:cNvGraphicFramePr>
            <a:graphicFrameLocks noChangeAspect="1"/>
          </p:cNvGraphicFramePr>
          <p:nvPr>
            <p:extLst>
              <p:ext uri="{D42A27DB-BD31-4B8C-83A1-F6EECF244321}">
                <p14:modId xmlns:p14="http://schemas.microsoft.com/office/powerpoint/2010/main" val="574344224"/>
              </p:ext>
            </p:extLst>
          </p:nvPr>
        </p:nvGraphicFramePr>
        <p:xfrm>
          <a:off x="10645364" y="1006628"/>
          <a:ext cx="1578896" cy="519881"/>
        </p:xfrm>
        <a:graphic>
          <a:graphicData uri="http://schemas.openxmlformats.org/presentationml/2006/ole">
            <mc:AlternateContent xmlns:mc="http://schemas.openxmlformats.org/markup-compatibility/2006">
              <mc:Choice xmlns:v="urn:schemas-microsoft-com:vml" Requires="v">
                <p:oleObj name="Equation" r:id="rId4" imgW="780786" imgH="257049" progId="Equation.DSMT4">
                  <p:embed/>
                </p:oleObj>
              </mc:Choice>
              <mc:Fallback>
                <p:oleObj name="Equation" r:id="rId4" imgW="780786" imgH="257049" progId="Equation.DSMT4">
                  <p:embed/>
                  <p:pic>
                    <p:nvPicPr>
                      <p:cNvPr id="4" name="对象 3">
                        <a:extLst>
                          <a:ext uri="{FF2B5EF4-FFF2-40B4-BE49-F238E27FC236}">
                            <a16:creationId xmlns:a16="http://schemas.microsoft.com/office/drawing/2014/main" id="{01E83503-E841-3817-40A5-636FECC63461}"/>
                          </a:ext>
                        </a:extLst>
                      </p:cNvPr>
                      <p:cNvPicPr/>
                      <p:nvPr/>
                    </p:nvPicPr>
                    <p:blipFill>
                      <a:blip r:embed="rId5"/>
                      <a:stretch>
                        <a:fillRect/>
                      </a:stretch>
                    </p:blipFill>
                    <p:spPr>
                      <a:xfrm>
                        <a:off x="10645364" y="1006628"/>
                        <a:ext cx="1578896" cy="519881"/>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5ABA25B9-10E4-342C-C792-108C752B804B}"/>
              </a:ext>
            </a:extLst>
          </p:cNvPr>
          <p:cNvGraphicFramePr>
            <a:graphicFrameLocks noChangeAspect="1"/>
          </p:cNvGraphicFramePr>
          <p:nvPr>
            <p:extLst>
              <p:ext uri="{D42A27DB-BD31-4B8C-83A1-F6EECF244321}">
                <p14:modId xmlns:p14="http://schemas.microsoft.com/office/powerpoint/2010/main" val="31018966"/>
              </p:ext>
            </p:extLst>
          </p:nvPr>
        </p:nvGraphicFramePr>
        <p:xfrm>
          <a:off x="1922460" y="1368730"/>
          <a:ext cx="892572" cy="502072"/>
        </p:xfrm>
        <a:graphic>
          <a:graphicData uri="http://schemas.openxmlformats.org/presentationml/2006/ole">
            <mc:AlternateContent xmlns:mc="http://schemas.openxmlformats.org/markup-compatibility/2006">
              <mc:Choice xmlns:v="urn:schemas-microsoft-com:vml" Requires="v">
                <p:oleObj name="Equation" r:id="rId6" imgW="456958" imgH="257049" progId="Equation.DSMT4">
                  <p:embed/>
                </p:oleObj>
              </mc:Choice>
              <mc:Fallback>
                <p:oleObj name="Equation" r:id="rId6" imgW="456958" imgH="257049" progId="Equation.DSMT4">
                  <p:embed/>
                  <p:pic>
                    <p:nvPicPr>
                      <p:cNvPr id="5" name="对象 4">
                        <a:extLst>
                          <a:ext uri="{FF2B5EF4-FFF2-40B4-BE49-F238E27FC236}">
                            <a16:creationId xmlns:a16="http://schemas.microsoft.com/office/drawing/2014/main" id="{5ABA25B9-10E4-342C-C792-108C752B804B}"/>
                          </a:ext>
                        </a:extLst>
                      </p:cNvPr>
                      <p:cNvPicPr/>
                      <p:nvPr/>
                    </p:nvPicPr>
                    <p:blipFill>
                      <a:blip r:embed="rId7"/>
                      <a:stretch>
                        <a:fillRect/>
                      </a:stretch>
                    </p:blipFill>
                    <p:spPr>
                      <a:xfrm>
                        <a:off x="1922460" y="1368730"/>
                        <a:ext cx="892572" cy="502072"/>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A5DDDB3E-7C89-BE28-91F6-2F7E2E0AF162}"/>
              </a:ext>
            </a:extLst>
          </p:cNvPr>
          <p:cNvGraphicFramePr>
            <a:graphicFrameLocks noChangeAspect="1"/>
          </p:cNvGraphicFramePr>
          <p:nvPr>
            <p:extLst>
              <p:ext uri="{D42A27DB-BD31-4B8C-83A1-F6EECF244321}">
                <p14:modId xmlns:p14="http://schemas.microsoft.com/office/powerpoint/2010/main" val="2882096367"/>
              </p:ext>
            </p:extLst>
          </p:nvPr>
        </p:nvGraphicFramePr>
        <p:xfrm>
          <a:off x="3139359" y="1352643"/>
          <a:ext cx="873726" cy="491471"/>
        </p:xfrm>
        <a:graphic>
          <a:graphicData uri="http://schemas.openxmlformats.org/presentationml/2006/ole">
            <mc:AlternateContent xmlns:mc="http://schemas.openxmlformats.org/markup-compatibility/2006">
              <mc:Choice xmlns:v="urn:schemas-microsoft-com:vml" Requires="v">
                <p:oleObj name="Equation" r:id="rId8" imgW="456958" imgH="257049" progId="Equation.DSMT4">
                  <p:embed/>
                </p:oleObj>
              </mc:Choice>
              <mc:Fallback>
                <p:oleObj name="Equation" r:id="rId8" imgW="456958" imgH="257049" progId="Equation.DSMT4">
                  <p:embed/>
                  <p:pic>
                    <p:nvPicPr>
                      <p:cNvPr id="6" name="对象 5">
                        <a:extLst>
                          <a:ext uri="{FF2B5EF4-FFF2-40B4-BE49-F238E27FC236}">
                            <a16:creationId xmlns:a16="http://schemas.microsoft.com/office/drawing/2014/main" id="{A5DDDB3E-7C89-BE28-91F6-2F7E2E0AF162}"/>
                          </a:ext>
                        </a:extLst>
                      </p:cNvPr>
                      <p:cNvPicPr/>
                      <p:nvPr/>
                    </p:nvPicPr>
                    <p:blipFill>
                      <a:blip r:embed="rId7"/>
                      <a:stretch>
                        <a:fillRect/>
                      </a:stretch>
                    </p:blipFill>
                    <p:spPr>
                      <a:xfrm>
                        <a:off x="3139359" y="1352643"/>
                        <a:ext cx="873726" cy="491471"/>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E9D2EA4E-83BE-A4D7-97A8-93A117C605B0}"/>
              </a:ext>
            </a:extLst>
          </p:cNvPr>
          <p:cNvGraphicFramePr>
            <a:graphicFrameLocks noChangeAspect="1"/>
          </p:cNvGraphicFramePr>
          <p:nvPr>
            <p:extLst>
              <p:ext uri="{D42A27DB-BD31-4B8C-83A1-F6EECF244321}">
                <p14:modId xmlns:p14="http://schemas.microsoft.com/office/powerpoint/2010/main" val="2251355174"/>
              </p:ext>
            </p:extLst>
          </p:nvPr>
        </p:nvGraphicFramePr>
        <p:xfrm>
          <a:off x="5180881" y="1340111"/>
          <a:ext cx="367340" cy="472294"/>
        </p:xfrm>
        <a:graphic>
          <a:graphicData uri="http://schemas.openxmlformats.org/presentationml/2006/ole">
            <mc:AlternateContent xmlns:mc="http://schemas.openxmlformats.org/markup-compatibility/2006">
              <mc:Choice xmlns:v="urn:schemas-microsoft-com:vml" Requires="v">
                <p:oleObj name="Equation" r:id="rId9" imgW="200054" imgH="257049" progId="Equation.DSMT4">
                  <p:embed/>
                </p:oleObj>
              </mc:Choice>
              <mc:Fallback>
                <p:oleObj name="Equation" r:id="rId9" imgW="200054" imgH="257049" progId="Equation.DSMT4">
                  <p:embed/>
                  <p:pic>
                    <p:nvPicPr>
                      <p:cNvPr id="7" name="对象 6">
                        <a:extLst>
                          <a:ext uri="{FF2B5EF4-FFF2-40B4-BE49-F238E27FC236}">
                            <a16:creationId xmlns:a16="http://schemas.microsoft.com/office/drawing/2014/main" id="{E9D2EA4E-83BE-A4D7-97A8-93A117C605B0}"/>
                          </a:ext>
                        </a:extLst>
                      </p:cNvPr>
                      <p:cNvPicPr/>
                      <p:nvPr/>
                    </p:nvPicPr>
                    <p:blipFill>
                      <a:blip r:embed="rId10"/>
                      <a:stretch>
                        <a:fillRect/>
                      </a:stretch>
                    </p:blipFill>
                    <p:spPr>
                      <a:xfrm>
                        <a:off x="5180881" y="1340111"/>
                        <a:ext cx="367340" cy="472294"/>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F611FA12-2CA7-9BB4-7D69-8FEC4F2527CC}"/>
              </a:ext>
            </a:extLst>
          </p:cNvPr>
          <p:cNvGraphicFramePr>
            <a:graphicFrameLocks noChangeAspect="1"/>
          </p:cNvGraphicFramePr>
          <p:nvPr>
            <p:extLst>
              <p:ext uri="{D42A27DB-BD31-4B8C-83A1-F6EECF244321}">
                <p14:modId xmlns:p14="http://schemas.microsoft.com/office/powerpoint/2010/main" val="772030889"/>
              </p:ext>
            </p:extLst>
          </p:nvPr>
        </p:nvGraphicFramePr>
        <p:xfrm>
          <a:off x="3199290" y="1619766"/>
          <a:ext cx="3433434" cy="1853107"/>
        </p:xfrm>
        <a:graphic>
          <a:graphicData uri="http://schemas.openxmlformats.org/presentationml/2006/ole">
            <mc:AlternateContent xmlns:mc="http://schemas.openxmlformats.org/markup-compatibility/2006">
              <mc:Choice xmlns:v="urn:schemas-microsoft-com:vml" Requires="v">
                <p:oleObj name="Equation" r:id="rId11" imgW="2417917" imgH="1305047" progId="Equation.DSMT4">
                  <p:embed/>
                </p:oleObj>
              </mc:Choice>
              <mc:Fallback>
                <p:oleObj name="Equation" r:id="rId11" imgW="2417917" imgH="1305047" progId="Equation.DSMT4">
                  <p:embed/>
                  <p:pic>
                    <p:nvPicPr>
                      <p:cNvPr id="8" name="对象 7">
                        <a:extLst>
                          <a:ext uri="{FF2B5EF4-FFF2-40B4-BE49-F238E27FC236}">
                            <a16:creationId xmlns:a16="http://schemas.microsoft.com/office/drawing/2014/main" id="{F611FA12-2CA7-9BB4-7D69-8FEC4F2527CC}"/>
                          </a:ext>
                        </a:extLst>
                      </p:cNvPr>
                      <p:cNvPicPr/>
                      <p:nvPr/>
                    </p:nvPicPr>
                    <p:blipFill>
                      <a:blip r:embed="rId12"/>
                      <a:stretch>
                        <a:fillRect/>
                      </a:stretch>
                    </p:blipFill>
                    <p:spPr>
                      <a:xfrm>
                        <a:off x="3199290" y="1619766"/>
                        <a:ext cx="3433434" cy="1853107"/>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D83E2F5E-CCF8-F887-90E4-E5BBBAC1092A}"/>
              </a:ext>
            </a:extLst>
          </p:cNvPr>
          <p:cNvGraphicFramePr>
            <a:graphicFrameLocks noChangeAspect="1"/>
          </p:cNvGraphicFramePr>
          <p:nvPr>
            <p:extLst>
              <p:ext uri="{D42A27DB-BD31-4B8C-83A1-F6EECF244321}">
                <p14:modId xmlns:p14="http://schemas.microsoft.com/office/powerpoint/2010/main" val="273391827"/>
              </p:ext>
            </p:extLst>
          </p:nvPr>
        </p:nvGraphicFramePr>
        <p:xfrm>
          <a:off x="3454697" y="3837674"/>
          <a:ext cx="3452367" cy="1062267"/>
        </p:xfrm>
        <a:graphic>
          <a:graphicData uri="http://schemas.openxmlformats.org/presentationml/2006/ole">
            <mc:AlternateContent xmlns:mc="http://schemas.openxmlformats.org/markup-compatibility/2006">
              <mc:Choice xmlns:v="urn:schemas-microsoft-com:vml" Requires="v">
                <p:oleObj name="Equation" r:id="rId13" imgW="1485292" imgH="457216" progId="Equation.DSMT4">
                  <p:embed/>
                </p:oleObj>
              </mc:Choice>
              <mc:Fallback>
                <p:oleObj name="Equation" r:id="rId13" imgW="1485292" imgH="457216" progId="Equation.DSMT4">
                  <p:embed/>
                  <p:pic>
                    <p:nvPicPr>
                      <p:cNvPr id="9" name="对象 8">
                        <a:extLst>
                          <a:ext uri="{FF2B5EF4-FFF2-40B4-BE49-F238E27FC236}">
                            <a16:creationId xmlns:a16="http://schemas.microsoft.com/office/drawing/2014/main" id="{D83E2F5E-CCF8-F887-90E4-E5BBBAC1092A}"/>
                          </a:ext>
                        </a:extLst>
                      </p:cNvPr>
                      <p:cNvPicPr/>
                      <p:nvPr/>
                    </p:nvPicPr>
                    <p:blipFill>
                      <a:blip r:embed="rId14"/>
                      <a:stretch>
                        <a:fillRect/>
                      </a:stretch>
                    </p:blipFill>
                    <p:spPr>
                      <a:xfrm>
                        <a:off x="3454697" y="3837674"/>
                        <a:ext cx="3452367" cy="1062267"/>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F6115685-D682-CF91-702F-18812A43A479}"/>
              </a:ext>
            </a:extLst>
          </p:cNvPr>
          <p:cNvGraphicFramePr>
            <a:graphicFrameLocks noChangeAspect="1"/>
          </p:cNvGraphicFramePr>
          <p:nvPr>
            <p:extLst>
              <p:ext uri="{D42A27DB-BD31-4B8C-83A1-F6EECF244321}">
                <p14:modId xmlns:p14="http://schemas.microsoft.com/office/powerpoint/2010/main" val="461534354"/>
              </p:ext>
            </p:extLst>
          </p:nvPr>
        </p:nvGraphicFramePr>
        <p:xfrm>
          <a:off x="2518647" y="5155185"/>
          <a:ext cx="4287267" cy="844290"/>
        </p:xfrm>
        <a:graphic>
          <a:graphicData uri="http://schemas.openxmlformats.org/presentationml/2006/ole">
            <mc:AlternateContent xmlns:mc="http://schemas.openxmlformats.org/markup-compatibility/2006">
              <mc:Choice xmlns:v="urn:schemas-microsoft-com:vml" Requires="v">
                <p:oleObj name="Equation" r:id="rId15" imgW="2998649" imgH="590421" progId="Equation.DSMT4">
                  <p:embed/>
                </p:oleObj>
              </mc:Choice>
              <mc:Fallback>
                <p:oleObj name="Equation" r:id="rId15" imgW="2998649" imgH="590421" progId="Equation.DSMT4">
                  <p:embed/>
                  <p:pic>
                    <p:nvPicPr>
                      <p:cNvPr id="10" name="对象 9">
                        <a:extLst>
                          <a:ext uri="{FF2B5EF4-FFF2-40B4-BE49-F238E27FC236}">
                            <a16:creationId xmlns:a16="http://schemas.microsoft.com/office/drawing/2014/main" id="{F6115685-D682-CF91-702F-18812A43A479}"/>
                          </a:ext>
                        </a:extLst>
                      </p:cNvPr>
                      <p:cNvPicPr/>
                      <p:nvPr/>
                    </p:nvPicPr>
                    <p:blipFill>
                      <a:blip r:embed="rId16"/>
                      <a:stretch>
                        <a:fillRect/>
                      </a:stretch>
                    </p:blipFill>
                    <p:spPr>
                      <a:xfrm>
                        <a:off x="2518647" y="5155185"/>
                        <a:ext cx="4287267" cy="84429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A20F0DE9-970C-3589-DE07-C2DB2F1E1191}"/>
              </a:ext>
            </a:extLst>
          </p:cNvPr>
          <p:cNvGraphicFramePr>
            <a:graphicFrameLocks noChangeAspect="1"/>
          </p:cNvGraphicFramePr>
          <p:nvPr>
            <p:extLst>
              <p:ext uri="{D42A27DB-BD31-4B8C-83A1-F6EECF244321}">
                <p14:modId xmlns:p14="http://schemas.microsoft.com/office/powerpoint/2010/main" val="2127937892"/>
              </p:ext>
            </p:extLst>
          </p:nvPr>
        </p:nvGraphicFramePr>
        <p:xfrm>
          <a:off x="3781116" y="4764313"/>
          <a:ext cx="1211131" cy="473921"/>
        </p:xfrm>
        <a:graphic>
          <a:graphicData uri="http://schemas.openxmlformats.org/presentationml/2006/ole">
            <mc:AlternateContent xmlns:mc="http://schemas.openxmlformats.org/markup-compatibility/2006">
              <mc:Choice xmlns:v="urn:schemas-microsoft-com:vml" Requires="v">
                <p:oleObj name="Equation" r:id="rId17" imgW="657011" imgH="257049" progId="Equation.DSMT4">
                  <p:embed/>
                </p:oleObj>
              </mc:Choice>
              <mc:Fallback>
                <p:oleObj name="Equation" r:id="rId17" imgW="657011" imgH="257049" progId="Equation.DSMT4">
                  <p:embed/>
                  <p:pic>
                    <p:nvPicPr>
                      <p:cNvPr id="11" name="对象 10">
                        <a:extLst>
                          <a:ext uri="{FF2B5EF4-FFF2-40B4-BE49-F238E27FC236}">
                            <a16:creationId xmlns:a16="http://schemas.microsoft.com/office/drawing/2014/main" id="{A20F0DE9-970C-3589-DE07-C2DB2F1E1191}"/>
                          </a:ext>
                        </a:extLst>
                      </p:cNvPr>
                      <p:cNvPicPr/>
                      <p:nvPr/>
                    </p:nvPicPr>
                    <p:blipFill>
                      <a:blip r:embed="rId18"/>
                      <a:stretch>
                        <a:fillRect/>
                      </a:stretch>
                    </p:blipFill>
                    <p:spPr>
                      <a:xfrm>
                        <a:off x="3781116" y="4764313"/>
                        <a:ext cx="1211131" cy="473921"/>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C6FAD05C-6699-BD8C-1D1C-A966FF11DA06}"/>
              </a:ext>
            </a:extLst>
          </p:cNvPr>
          <p:cNvGraphicFramePr>
            <a:graphicFrameLocks noChangeAspect="1"/>
          </p:cNvGraphicFramePr>
          <p:nvPr>
            <p:extLst>
              <p:ext uri="{D42A27DB-BD31-4B8C-83A1-F6EECF244321}">
                <p14:modId xmlns:p14="http://schemas.microsoft.com/office/powerpoint/2010/main" val="206072652"/>
              </p:ext>
            </p:extLst>
          </p:nvPr>
        </p:nvGraphicFramePr>
        <p:xfrm>
          <a:off x="1535360" y="4537197"/>
          <a:ext cx="436563" cy="725487"/>
        </p:xfrm>
        <a:graphic>
          <a:graphicData uri="http://schemas.openxmlformats.org/presentationml/2006/ole">
            <mc:AlternateContent xmlns:mc="http://schemas.openxmlformats.org/markup-compatibility/2006">
              <mc:Choice xmlns:v="urn:schemas-microsoft-com:vml" Requires="v">
                <p:oleObj name="Equation" r:id="rId19" imgW="152280" imgH="253800" progId="Equation.DSMT4">
                  <p:embed/>
                </p:oleObj>
              </mc:Choice>
              <mc:Fallback>
                <p:oleObj name="Equation" r:id="rId19" imgW="152280" imgH="253800" progId="Equation.DSMT4">
                  <p:embed/>
                  <p:pic>
                    <p:nvPicPr>
                      <p:cNvPr id="12" name="对象 11">
                        <a:extLst>
                          <a:ext uri="{FF2B5EF4-FFF2-40B4-BE49-F238E27FC236}">
                            <a16:creationId xmlns:a16="http://schemas.microsoft.com/office/drawing/2014/main" id="{C6FAD05C-6699-BD8C-1D1C-A966FF11DA06}"/>
                          </a:ext>
                        </a:extLst>
                      </p:cNvPr>
                      <p:cNvPicPr/>
                      <p:nvPr/>
                    </p:nvPicPr>
                    <p:blipFill>
                      <a:blip r:embed="rId20"/>
                      <a:stretch>
                        <a:fillRect/>
                      </a:stretch>
                    </p:blipFill>
                    <p:spPr>
                      <a:xfrm>
                        <a:off x="1535360" y="4537197"/>
                        <a:ext cx="436563" cy="725487"/>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3DA70660-02FB-BAEA-5840-E3D5C5D4C120}"/>
              </a:ext>
            </a:extLst>
          </p:cNvPr>
          <p:cNvGraphicFramePr>
            <a:graphicFrameLocks noChangeAspect="1"/>
          </p:cNvGraphicFramePr>
          <p:nvPr>
            <p:extLst>
              <p:ext uri="{D42A27DB-BD31-4B8C-83A1-F6EECF244321}">
                <p14:modId xmlns:p14="http://schemas.microsoft.com/office/powerpoint/2010/main" val="2923580982"/>
              </p:ext>
            </p:extLst>
          </p:nvPr>
        </p:nvGraphicFramePr>
        <p:xfrm>
          <a:off x="1019009" y="5930876"/>
          <a:ext cx="3283336" cy="462120"/>
        </p:xfrm>
        <a:graphic>
          <a:graphicData uri="http://schemas.openxmlformats.org/presentationml/2006/ole">
            <mc:AlternateContent xmlns:mc="http://schemas.openxmlformats.org/markup-compatibility/2006">
              <mc:Choice xmlns:v="urn:schemas-microsoft-com:vml" Requires="v">
                <p:oleObj name="Equation" r:id="rId21" imgW="1827830" imgH="257049" progId="Equation.DSMT4">
                  <p:embed/>
                </p:oleObj>
              </mc:Choice>
              <mc:Fallback>
                <p:oleObj name="Equation" r:id="rId21" imgW="1827830" imgH="257049" progId="Equation.DSMT4">
                  <p:embed/>
                  <p:pic>
                    <p:nvPicPr>
                      <p:cNvPr id="14" name="对象 13">
                        <a:extLst>
                          <a:ext uri="{FF2B5EF4-FFF2-40B4-BE49-F238E27FC236}">
                            <a16:creationId xmlns:a16="http://schemas.microsoft.com/office/drawing/2014/main" id="{3DA70660-02FB-BAEA-5840-E3D5C5D4C120}"/>
                          </a:ext>
                        </a:extLst>
                      </p:cNvPr>
                      <p:cNvPicPr/>
                      <p:nvPr/>
                    </p:nvPicPr>
                    <p:blipFill>
                      <a:blip r:embed="rId22"/>
                      <a:stretch>
                        <a:fillRect/>
                      </a:stretch>
                    </p:blipFill>
                    <p:spPr>
                      <a:xfrm>
                        <a:off x="1019009" y="5930876"/>
                        <a:ext cx="3283336" cy="46212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AE7AAB95-95E7-5B2F-9AD6-5784F8589240}"/>
              </a:ext>
            </a:extLst>
          </p:cNvPr>
          <p:cNvGraphicFramePr>
            <a:graphicFrameLocks noChangeAspect="1"/>
          </p:cNvGraphicFramePr>
          <p:nvPr>
            <p:extLst>
              <p:ext uri="{D42A27DB-BD31-4B8C-83A1-F6EECF244321}">
                <p14:modId xmlns:p14="http://schemas.microsoft.com/office/powerpoint/2010/main" val="1648788542"/>
              </p:ext>
            </p:extLst>
          </p:nvPr>
        </p:nvGraphicFramePr>
        <p:xfrm>
          <a:off x="6343657" y="5854304"/>
          <a:ext cx="1376657" cy="538692"/>
        </p:xfrm>
        <a:graphic>
          <a:graphicData uri="http://schemas.openxmlformats.org/presentationml/2006/ole">
            <mc:AlternateContent xmlns:mc="http://schemas.openxmlformats.org/markup-compatibility/2006">
              <mc:Choice xmlns:v="urn:schemas-microsoft-com:vml" Requires="v">
                <p:oleObj name="Equation" r:id="rId23" imgW="657011" imgH="257049" progId="Equation.DSMT4">
                  <p:embed/>
                </p:oleObj>
              </mc:Choice>
              <mc:Fallback>
                <p:oleObj name="Equation" r:id="rId23" imgW="657011" imgH="257049" progId="Equation.DSMT4">
                  <p:embed/>
                  <p:pic>
                    <p:nvPicPr>
                      <p:cNvPr id="15" name="对象 14">
                        <a:extLst>
                          <a:ext uri="{FF2B5EF4-FFF2-40B4-BE49-F238E27FC236}">
                            <a16:creationId xmlns:a16="http://schemas.microsoft.com/office/drawing/2014/main" id="{AE7AAB95-95E7-5B2F-9AD6-5784F8589240}"/>
                          </a:ext>
                        </a:extLst>
                      </p:cNvPr>
                      <p:cNvPicPr/>
                      <p:nvPr/>
                    </p:nvPicPr>
                    <p:blipFill>
                      <a:blip r:embed="rId24"/>
                      <a:stretch>
                        <a:fillRect/>
                      </a:stretch>
                    </p:blipFill>
                    <p:spPr>
                      <a:xfrm>
                        <a:off x="6343657" y="5854304"/>
                        <a:ext cx="1376657" cy="538692"/>
                      </a:xfrm>
                      <a:prstGeom prst="rect">
                        <a:avLst/>
                      </a:prstGeom>
                    </p:spPr>
                  </p:pic>
                </p:oleObj>
              </mc:Fallback>
            </mc:AlternateContent>
          </a:graphicData>
        </a:graphic>
      </p:graphicFrame>
      <p:sp>
        <p:nvSpPr>
          <p:cNvPr id="18" name="文本框 17">
            <a:extLst>
              <a:ext uri="{FF2B5EF4-FFF2-40B4-BE49-F238E27FC236}">
                <a16:creationId xmlns:a16="http://schemas.microsoft.com/office/drawing/2014/main" id="{ED78FD82-68AA-EEE1-D8E8-1C8C27BD35F5}"/>
              </a:ext>
            </a:extLst>
          </p:cNvPr>
          <p:cNvSpPr txBox="1"/>
          <p:nvPr/>
        </p:nvSpPr>
        <p:spPr>
          <a:xfrm>
            <a:off x="431649" y="1107676"/>
            <a:ext cx="10362236" cy="646331"/>
          </a:xfrm>
          <a:prstGeom prst="rect">
            <a:avLst/>
          </a:prstGeom>
          <a:noFill/>
        </p:spPr>
        <p:txBody>
          <a:bodyPr wrap="square">
            <a:spAutoFit/>
          </a:bodyPr>
          <a:lstStyle/>
          <a:p>
            <a:pPr indent="266700" algn="just" fontAlgn="ctr">
              <a:buNone/>
            </a:pPr>
            <a:r>
              <a:rPr lang="zh-CN" altLang="zh-CN" sz="1800" kern="100" dirty="0">
                <a:effectLst/>
                <a:latin typeface="Times New Roman" panose="02020603050405020304" pitchFamily="18" charset="0"/>
                <a:ea typeface="宋体" panose="02010600030101010101" pitchFamily="2" charset="-122"/>
              </a:rPr>
              <a:t>中心节点移动了两次，将两次移动后的节点视为虚拟节点，记为</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。将三个距离矩阵</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融合为一个行</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列</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的距离矩阵</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，其形式如下：</a:t>
            </a:r>
          </a:p>
        </p:txBody>
      </p:sp>
      <p:sp>
        <p:nvSpPr>
          <p:cNvPr id="21" name="文本框 20">
            <a:extLst>
              <a:ext uri="{FF2B5EF4-FFF2-40B4-BE49-F238E27FC236}">
                <a16:creationId xmlns:a16="http://schemas.microsoft.com/office/drawing/2014/main" id="{79F610E0-CCC8-AEC3-5983-0C7C7173B030}"/>
              </a:ext>
            </a:extLst>
          </p:cNvPr>
          <p:cNvSpPr txBox="1"/>
          <p:nvPr/>
        </p:nvSpPr>
        <p:spPr>
          <a:xfrm>
            <a:off x="493325" y="3524234"/>
            <a:ext cx="9851149" cy="369332"/>
          </a:xfrm>
          <a:prstGeom prst="rect">
            <a:avLst/>
          </a:prstGeom>
          <a:noFill/>
        </p:spPr>
        <p:txBody>
          <a:bodyPr wrap="square">
            <a:spAutoFit/>
          </a:bodyPr>
          <a:lstStyle/>
          <a:p>
            <a:pPr indent="266700" algn="just" fontAlgn="ctr">
              <a:buNone/>
            </a:pPr>
            <a:r>
              <a:rPr lang="zh-CN" altLang="zh-CN" sz="1800" kern="100" dirty="0">
                <a:effectLst/>
                <a:latin typeface="Times New Roman" panose="02020603050405020304" pitchFamily="18" charset="0"/>
                <a:ea typeface="宋体" panose="02010600030101010101" pitchFamily="2" charset="-122"/>
              </a:rPr>
              <a:t>建立无约束的非线性最小二乘问题，距离为</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的不添加残差项。目标函数定义如下：</a:t>
            </a:r>
          </a:p>
        </p:txBody>
      </p:sp>
      <p:sp>
        <p:nvSpPr>
          <p:cNvPr id="24" name="文本框 23">
            <a:extLst>
              <a:ext uri="{FF2B5EF4-FFF2-40B4-BE49-F238E27FC236}">
                <a16:creationId xmlns:a16="http://schemas.microsoft.com/office/drawing/2014/main" id="{220EBB90-9A6C-0251-A163-B81288314490}"/>
              </a:ext>
            </a:extLst>
          </p:cNvPr>
          <p:cNvSpPr txBox="1"/>
          <p:nvPr/>
        </p:nvSpPr>
        <p:spPr>
          <a:xfrm>
            <a:off x="964480" y="4782637"/>
            <a:ext cx="8432800" cy="369332"/>
          </a:xfrm>
          <a:prstGeom prst="rect">
            <a:avLst/>
          </a:prstGeom>
          <a:noFill/>
        </p:spPr>
        <p:txBody>
          <a:bodyPr wrap="square">
            <a:spAutoFit/>
          </a:bodyPr>
          <a:lstStyle/>
          <a:p>
            <a:pPr algn="just" fontAlgn="ctr">
              <a:buNone/>
            </a:pPr>
            <a:r>
              <a:rPr lang="zh-CN" altLang="zh-CN" sz="1800" kern="100" dirty="0">
                <a:effectLst/>
                <a:latin typeface="Times New Roman" panose="02020603050405020304" pitchFamily="18" charset="0"/>
                <a:ea typeface="宋体" panose="02010600030101010101" pitchFamily="2" charset="-122"/>
              </a:rPr>
              <a:t>其中，</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表示欧几里得范数</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。定义如下：</a:t>
            </a:r>
          </a:p>
        </p:txBody>
      </p:sp>
      <p:sp>
        <p:nvSpPr>
          <p:cNvPr id="27" name="文本框 26">
            <a:extLst>
              <a:ext uri="{FF2B5EF4-FFF2-40B4-BE49-F238E27FC236}">
                <a16:creationId xmlns:a16="http://schemas.microsoft.com/office/drawing/2014/main" id="{E68208D0-2B0F-02C8-5656-E1DBE5B0D3D2}"/>
              </a:ext>
            </a:extLst>
          </p:cNvPr>
          <p:cNvSpPr txBox="1"/>
          <p:nvPr/>
        </p:nvSpPr>
        <p:spPr>
          <a:xfrm>
            <a:off x="177723" y="5997203"/>
            <a:ext cx="10006314" cy="646331"/>
          </a:xfrm>
          <a:prstGeom prst="rect">
            <a:avLst/>
          </a:prstGeom>
          <a:noFill/>
        </p:spPr>
        <p:txBody>
          <a:bodyPr wrap="square">
            <a:spAutoFit/>
          </a:bodyPr>
          <a:lstStyle/>
          <a:p>
            <a:pPr algn="just" fontAlgn="ctr">
              <a:buNone/>
            </a:pPr>
            <a:r>
              <a:rPr lang="zh-CN" altLang="zh-CN" sz="1800" kern="100" dirty="0">
                <a:effectLst/>
                <a:latin typeface="Times New Roman" panose="02020603050405020304" pitchFamily="18" charset="0"/>
                <a:ea typeface="宋体" panose="02010600030101010101" pitchFamily="2" charset="-122"/>
              </a:rPr>
              <a:t>其中</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为待优化变量，并记</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。上述问题可通过随机赋予节点初始位置，然后采用迭代优化算法进行数值求解。</a:t>
            </a:r>
          </a:p>
        </p:txBody>
      </p:sp>
    </p:spTree>
    <p:extLst>
      <p:ext uri="{BB962C8B-B14F-4D97-AF65-F5344CB8AC3E}">
        <p14:creationId xmlns:p14="http://schemas.microsoft.com/office/powerpoint/2010/main" val="31633506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EFF32CD-BBDA-01C1-919D-DFB9C858F87A}"/>
              </a:ext>
            </a:extLst>
          </p:cNvPr>
          <p:cNvSpPr>
            <a:spLocks noChangeArrowheads="1"/>
          </p:cNvSpPr>
          <p:nvPr/>
        </p:nvSpPr>
        <p:spPr bwMode="auto">
          <a:xfrm>
            <a:off x="3407228" y="2132013"/>
            <a:ext cx="3098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fontAlgn="base">
              <a:spcBef>
                <a:spcPct val="0"/>
              </a:spcBef>
              <a:spcAft>
                <a:spcPct val="0"/>
              </a:spcAft>
            </a:pPr>
            <a:endParaRPr lang="zh-CN" altLang="en-US" sz="2400">
              <a:solidFill>
                <a:srgbClr val="000000"/>
              </a:solidFill>
              <a:latin typeface="微软雅黑" panose="020B0503020204020204" pitchFamily="34" charset="-122"/>
              <a:cs typeface="Arial"/>
            </a:endParaRPr>
          </a:p>
        </p:txBody>
      </p:sp>
      <p:sp>
        <p:nvSpPr>
          <p:cNvPr id="3" name="Rectangle 2">
            <a:extLst>
              <a:ext uri="{FF2B5EF4-FFF2-40B4-BE49-F238E27FC236}">
                <a16:creationId xmlns:a16="http://schemas.microsoft.com/office/drawing/2014/main" id="{239FDC4C-ACEC-5BD1-5613-152A8F3BB4BE}"/>
              </a:ext>
            </a:extLst>
          </p:cNvPr>
          <p:cNvSpPr>
            <a:spLocks noChangeArrowheads="1"/>
          </p:cNvSpPr>
          <p:nvPr/>
        </p:nvSpPr>
        <p:spPr bwMode="auto">
          <a:xfrm>
            <a:off x="7666711" y="1880895"/>
            <a:ext cx="3098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fontAlgn="base">
              <a:spcBef>
                <a:spcPct val="0"/>
              </a:spcBef>
              <a:spcAft>
                <a:spcPct val="0"/>
              </a:spcAft>
            </a:pPr>
            <a:endParaRPr lang="zh-CN" altLang="en-US" sz="2400">
              <a:solidFill>
                <a:srgbClr val="000000"/>
              </a:solidFill>
              <a:latin typeface="微软雅黑" panose="020B0503020204020204" pitchFamily="34" charset="-122"/>
              <a:cs typeface="Arial"/>
            </a:endParaRPr>
          </a:p>
        </p:txBody>
      </p:sp>
      <p:sp>
        <p:nvSpPr>
          <p:cNvPr id="4" name="Rectangle 2">
            <a:extLst>
              <a:ext uri="{FF2B5EF4-FFF2-40B4-BE49-F238E27FC236}">
                <a16:creationId xmlns:a16="http://schemas.microsoft.com/office/drawing/2014/main" id="{21BFACF4-7065-3BB5-AA04-8EE4CEC52C48}"/>
              </a:ext>
            </a:extLst>
          </p:cNvPr>
          <p:cNvSpPr>
            <a:spLocks noChangeArrowheads="1"/>
          </p:cNvSpPr>
          <p:nvPr/>
        </p:nvSpPr>
        <p:spPr bwMode="auto">
          <a:xfrm>
            <a:off x="7819111" y="2033295"/>
            <a:ext cx="3098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fontAlgn="base">
              <a:spcBef>
                <a:spcPct val="0"/>
              </a:spcBef>
              <a:spcAft>
                <a:spcPct val="0"/>
              </a:spcAft>
            </a:pPr>
            <a:endParaRPr lang="zh-CN" altLang="en-US" sz="2400">
              <a:solidFill>
                <a:srgbClr val="000000"/>
              </a:solidFill>
              <a:latin typeface="微软雅黑" panose="020B0503020204020204" pitchFamily="34" charset="-122"/>
              <a:cs typeface="Arial"/>
            </a:endParaRPr>
          </a:p>
        </p:txBody>
      </p:sp>
      <p:pic>
        <p:nvPicPr>
          <p:cNvPr id="5" name="图片 5">
            <a:extLst>
              <a:ext uri="{FF2B5EF4-FFF2-40B4-BE49-F238E27FC236}">
                <a16:creationId xmlns:a16="http://schemas.microsoft.com/office/drawing/2014/main" id="{8C23EDDE-C88E-F9B4-AE92-70256FBECE5E}"/>
              </a:ext>
            </a:extLst>
          </p:cNvPr>
          <p:cNvPicPr>
            <a:picLocks noChangeAspect="1"/>
          </p:cNvPicPr>
          <p:nvPr/>
        </p:nvPicPr>
        <p:blipFill>
          <a:blip r:embed="rId3"/>
          <a:stretch>
            <a:fillRect/>
          </a:stretch>
        </p:blipFill>
        <p:spPr>
          <a:xfrm>
            <a:off x="1025525" y="1183005"/>
            <a:ext cx="2967218" cy="2160000"/>
          </a:xfrm>
          <a:prstGeom prst="rect">
            <a:avLst/>
          </a:prstGeom>
          <a:noFill/>
          <a:ln>
            <a:noFill/>
          </a:ln>
        </p:spPr>
      </p:pic>
      <p:pic>
        <p:nvPicPr>
          <p:cNvPr id="6" name="图片 73">
            <a:extLst>
              <a:ext uri="{FF2B5EF4-FFF2-40B4-BE49-F238E27FC236}">
                <a16:creationId xmlns:a16="http://schemas.microsoft.com/office/drawing/2014/main" id="{F71777B9-E1B5-0885-C108-29119232C6B5}"/>
              </a:ext>
            </a:extLst>
          </p:cNvPr>
          <p:cNvPicPr>
            <a:picLocks noChangeAspect="1"/>
          </p:cNvPicPr>
          <p:nvPr/>
        </p:nvPicPr>
        <p:blipFill>
          <a:blip r:embed="rId4"/>
          <a:stretch>
            <a:fillRect/>
          </a:stretch>
        </p:blipFill>
        <p:spPr>
          <a:xfrm>
            <a:off x="4233408" y="1183005"/>
            <a:ext cx="3193415" cy="2160000"/>
          </a:xfrm>
          <a:prstGeom prst="rect">
            <a:avLst/>
          </a:prstGeom>
        </p:spPr>
      </p:pic>
      <p:pic>
        <p:nvPicPr>
          <p:cNvPr id="7" name="图片 62">
            <a:extLst>
              <a:ext uri="{FF2B5EF4-FFF2-40B4-BE49-F238E27FC236}">
                <a16:creationId xmlns:a16="http://schemas.microsoft.com/office/drawing/2014/main" id="{DCD15A57-DB22-338C-6D57-72EF1CEF6245}"/>
              </a:ext>
            </a:extLst>
          </p:cNvPr>
          <p:cNvPicPr>
            <a:picLocks noChangeAspect="1"/>
          </p:cNvPicPr>
          <p:nvPr/>
        </p:nvPicPr>
        <p:blipFill>
          <a:blip r:embed="rId5"/>
          <a:stretch>
            <a:fillRect/>
          </a:stretch>
        </p:blipFill>
        <p:spPr>
          <a:xfrm>
            <a:off x="7667488" y="1183005"/>
            <a:ext cx="3092450" cy="2160000"/>
          </a:xfrm>
          <a:prstGeom prst="rect">
            <a:avLst/>
          </a:prstGeom>
        </p:spPr>
      </p:pic>
      <p:graphicFrame>
        <p:nvGraphicFramePr>
          <p:cNvPr id="8" name="表格 7">
            <a:extLst>
              <a:ext uri="{FF2B5EF4-FFF2-40B4-BE49-F238E27FC236}">
                <a16:creationId xmlns:a16="http://schemas.microsoft.com/office/drawing/2014/main" id="{596F6E40-3AEB-E5C5-1766-258A9CAB35D7}"/>
              </a:ext>
            </a:extLst>
          </p:cNvPr>
          <p:cNvGraphicFramePr/>
          <p:nvPr>
            <p:custDataLst>
              <p:tags r:id="rId1"/>
            </p:custDataLst>
          </p:nvPr>
        </p:nvGraphicFramePr>
        <p:xfrm>
          <a:off x="7194550" y="4206240"/>
          <a:ext cx="4391025" cy="1676400"/>
        </p:xfrm>
        <a:graphic>
          <a:graphicData uri="http://schemas.openxmlformats.org/drawingml/2006/table">
            <a:tbl>
              <a:tblPr firstRow="1" bandRow="1"/>
              <a:tblGrid>
                <a:gridCol w="962025">
                  <a:extLst>
                    <a:ext uri="{9D8B030D-6E8A-4147-A177-3AD203B41FA5}">
                      <a16:colId xmlns:a16="http://schemas.microsoft.com/office/drawing/2014/main" val="20000"/>
                    </a:ext>
                  </a:extLst>
                </a:gridCol>
                <a:gridCol w="840740">
                  <a:extLst>
                    <a:ext uri="{9D8B030D-6E8A-4147-A177-3AD203B41FA5}">
                      <a16:colId xmlns:a16="http://schemas.microsoft.com/office/drawing/2014/main" val="20001"/>
                    </a:ext>
                  </a:extLst>
                </a:gridCol>
                <a:gridCol w="2588260">
                  <a:extLst>
                    <a:ext uri="{9D8B030D-6E8A-4147-A177-3AD203B41FA5}">
                      <a16:colId xmlns:a16="http://schemas.microsoft.com/office/drawing/2014/main" val="20002"/>
                    </a:ext>
                  </a:extLst>
                </a:gridCol>
              </a:tblGrid>
              <a:tr h="243840">
                <a:tc>
                  <a:txBody>
                    <a:bodyPr/>
                    <a:lstStyle>
                      <a:lvl1pPr marL="0" algn="l" defTabSz="914400" rtl="0" eaLnBrk="1" latinLnBrk="0" hangingPunct="1">
                        <a:defRPr sz="1800" kern="1200">
                          <a:solidFill>
                            <a:schemeClr val="tx1"/>
                          </a:solidFill>
                          <a:latin typeface="Arial"/>
                          <a:ea typeface="MS Gothic"/>
                          <a:cs typeface="Arial"/>
                        </a:defRPr>
                      </a:lvl1pPr>
                      <a:lvl2pPr marL="457200" algn="l" defTabSz="914400" rtl="0" eaLnBrk="1" latinLnBrk="0" hangingPunct="1">
                        <a:defRPr sz="1800" kern="1200">
                          <a:solidFill>
                            <a:schemeClr val="tx1"/>
                          </a:solidFill>
                          <a:latin typeface="Arial"/>
                          <a:ea typeface="MS Gothic"/>
                          <a:cs typeface="Arial"/>
                        </a:defRPr>
                      </a:lvl2pPr>
                      <a:lvl3pPr marL="914400" algn="l" defTabSz="914400" rtl="0" eaLnBrk="1" latinLnBrk="0" hangingPunct="1">
                        <a:defRPr sz="1800" kern="1200">
                          <a:solidFill>
                            <a:schemeClr val="tx1"/>
                          </a:solidFill>
                          <a:latin typeface="Arial"/>
                          <a:ea typeface="MS Gothic"/>
                          <a:cs typeface="Arial"/>
                        </a:defRPr>
                      </a:lvl3pPr>
                      <a:lvl4pPr marL="1371600" algn="l" defTabSz="914400" rtl="0" eaLnBrk="1" latinLnBrk="0" hangingPunct="1">
                        <a:defRPr sz="1800" kern="1200">
                          <a:solidFill>
                            <a:schemeClr val="tx1"/>
                          </a:solidFill>
                          <a:latin typeface="Arial"/>
                          <a:ea typeface="MS Gothic"/>
                          <a:cs typeface="Arial"/>
                        </a:defRPr>
                      </a:lvl4pPr>
                      <a:lvl5pPr marL="1828800" algn="l" defTabSz="914400" rtl="0" eaLnBrk="1" latinLnBrk="0" hangingPunct="1">
                        <a:defRPr sz="1800" kern="1200">
                          <a:solidFill>
                            <a:schemeClr val="tx1"/>
                          </a:solidFill>
                          <a:latin typeface="Arial"/>
                          <a:ea typeface="MS Gothic"/>
                          <a:cs typeface="Arial"/>
                        </a:defRPr>
                      </a:lvl5pPr>
                      <a:lvl6pPr marL="2286000" algn="l" defTabSz="914400" rtl="0" eaLnBrk="1" latinLnBrk="0" hangingPunct="1">
                        <a:defRPr sz="1800" kern="1200">
                          <a:solidFill>
                            <a:schemeClr val="tx1"/>
                          </a:solidFill>
                          <a:latin typeface="Arial"/>
                          <a:ea typeface="MS Gothic"/>
                          <a:cs typeface="Arial"/>
                        </a:defRPr>
                      </a:lvl6pPr>
                      <a:lvl7pPr marL="2743200" algn="l" defTabSz="914400" rtl="0" eaLnBrk="1" latinLnBrk="0" hangingPunct="1">
                        <a:defRPr sz="1800" kern="1200">
                          <a:solidFill>
                            <a:schemeClr val="tx1"/>
                          </a:solidFill>
                          <a:latin typeface="Arial"/>
                          <a:ea typeface="MS Gothic"/>
                          <a:cs typeface="Arial"/>
                        </a:defRPr>
                      </a:lvl7pPr>
                      <a:lvl8pPr marL="3200400" algn="l" defTabSz="914400" rtl="0" eaLnBrk="1" latinLnBrk="0" hangingPunct="1">
                        <a:defRPr sz="1800" kern="1200">
                          <a:solidFill>
                            <a:schemeClr val="tx1"/>
                          </a:solidFill>
                          <a:latin typeface="Arial"/>
                          <a:ea typeface="MS Gothic"/>
                          <a:cs typeface="Arial"/>
                        </a:defRPr>
                      </a:lvl8pPr>
                      <a:lvl9pPr marL="3657600" algn="l" defTabSz="914400" rtl="0" eaLnBrk="1" latinLnBrk="0" hangingPunct="1">
                        <a:defRPr sz="1800" kern="1200">
                          <a:solidFill>
                            <a:schemeClr val="tx1"/>
                          </a:solidFill>
                          <a:latin typeface="Arial"/>
                          <a:ea typeface="MS Gothic"/>
                          <a:cs typeface="Arial"/>
                        </a:defRPr>
                      </a:lvl9pPr>
                    </a:lstStyle>
                    <a:p>
                      <a:pPr indent="0" algn="ctr">
                        <a:buNone/>
                      </a:pPr>
                      <a:r>
                        <a:rPr lang="en-US" sz="1000" b="1">
                          <a:latin typeface="宋体" panose="02010600030101010101" pitchFamily="2" charset="-122"/>
                          <a:ea typeface="宋体" panose="02010600030101010101" pitchFamily="2" charset="-122"/>
                          <a:cs typeface="宋体" panose="02010600030101010101" pitchFamily="2" charset="-122"/>
                        </a:rPr>
                        <a:t>传感器</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Gothic"/>
                          <a:cs typeface="Arial"/>
                        </a:defRPr>
                      </a:lvl1pPr>
                      <a:lvl2pPr marL="457200" algn="l" defTabSz="914400" rtl="0" eaLnBrk="1" latinLnBrk="0" hangingPunct="1">
                        <a:defRPr sz="1800" kern="1200">
                          <a:solidFill>
                            <a:schemeClr val="tx1"/>
                          </a:solidFill>
                          <a:latin typeface="Arial"/>
                          <a:ea typeface="MS Gothic"/>
                          <a:cs typeface="Arial"/>
                        </a:defRPr>
                      </a:lvl2pPr>
                      <a:lvl3pPr marL="914400" algn="l" defTabSz="914400" rtl="0" eaLnBrk="1" latinLnBrk="0" hangingPunct="1">
                        <a:defRPr sz="1800" kern="1200">
                          <a:solidFill>
                            <a:schemeClr val="tx1"/>
                          </a:solidFill>
                          <a:latin typeface="Arial"/>
                          <a:ea typeface="MS Gothic"/>
                          <a:cs typeface="Arial"/>
                        </a:defRPr>
                      </a:lvl3pPr>
                      <a:lvl4pPr marL="1371600" algn="l" defTabSz="914400" rtl="0" eaLnBrk="1" latinLnBrk="0" hangingPunct="1">
                        <a:defRPr sz="1800" kern="1200">
                          <a:solidFill>
                            <a:schemeClr val="tx1"/>
                          </a:solidFill>
                          <a:latin typeface="Arial"/>
                          <a:ea typeface="MS Gothic"/>
                          <a:cs typeface="Arial"/>
                        </a:defRPr>
                      </a:lvl4pPr>
                      <a:lvl5pPr marL="1828800" algn="l" defTabSz="914400" rtl="0" eaLnBrk="1" latinLnBrk="0" hangingPunct="1">
                        <a:defRPr sz="1800" kern="1200">
                          <a:solidFill>
                            <a:schemeClr val="tx1"/>
                          </a:solidFill>
                          <a:latin typeface="Arial"/>
                          <a:ea typeface="MS Gothic"/>
                          <a:cs typeface="Arial"/>
                        </a:defRPr>
                      </a:lvl5pPr>
                      <a:lvl6pPr marL="2286000" algn="l" defTabSz="914400" rtl="0" eaLnBrk="1" latinLnBrk="0" hangingPunct="1">
                        <a:defRPr sz="1800" kern="1200">
                          <a:solidFill>
                            <a:schemeClr val="tx1"/>
                          </a:solidFill>
                          <a:latin typeface="Arial"/>
                          <a:ea typeface="MS Gothic"/>
                          <a:cs typeface="Arial"/>
                        </a:defRPr>
                      </a:lvl6pPr>
                      <a:lvl7pPr marL="2743200" algn="l" defTabSz="914400" rtl="0" eaLnBrk="1" latinLnBrk="0" hangingPunct="1">
                        <a:defRPr sz="1800" kern="1200">
                          <a:solidFill>
                            <a:schemeClr val="tx1"/>
                          </a:solidFill>
                          <a:latin typeface="Arial"/>
                          <a:ea typeface="MS Gothic"/>
                          <a:cs typeface="Arial"/>
                        </a:defRPr>
                      </a:lvl7pPr>
                      <a:lvl8pPr marL="3200400" algn="l" defTabSz="914400" rtl="0" eaLnBrk="1" latinLnBrk="0" hangingPunct="1">
                        <a:defRPr sz="1800" kern="1200">
                          <a:solidFill>
                            <a:schemeClr val="tx1"/>
                          </a:solidFill>
                          <a:latin typeface="Arial"/>
                          <a:ea typeface="MS Gothic"/>
                          <a:cs typeface="Arial"/>
                        </a:defRPr>
                      </a:lvl8pPr>
                      <a:lvl9pPr marL="3657600" algn="l" defTabSz="914400" rtl="0" eaLnBrk="1" latinLnBrk="0" hangingPunct="1">
                        <a:defRPr sz="1800" kern="1200">
                          <a:solidFill>
                            <a:schemeClr val="tx1"/>
                          </a:solidFill>
                          <a:latin typeface="Arial"/>
                          <a:ea typeface="MS Gothic"/>
                          <a:cs typeface="Arial"/>
                        </a:defRPr>
                      </a:lvl9pPr>
                    </a:lstStyle>
                    <a:p>
                      <a:pPr indent="0" algn="ctr">
                        <a:buNone/>
                      </a:pPr>
                      <a:r>
                        <a:rPr lang="en-US" sz="1000" b="1">
                          <a:latin typeface="宋体" panose="02010600030101010101" pitchFamily="2" charset="-122"/>
                          <a:ea typeface="宋体" panose="02010600030101010101" pitchFamily="2" charset="-122"/>
                          <a:cs typeface="宋体" panose="02010600030101010101" pitchFamily="2" charset="-122"/>
                        </a:rPr>
                        <a:t>频率</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Gothic"/>
                          <a:cs typeface="Arial"/>
                        </a:defRPr>
                      </a:lvl1pPr>
                      <a:lvl2pPr marL="457200" algn="l" defTabSz="914400" rtl="0" eaLnBrk="1" latinLnBrk="0" hangingPunct="1">
                        <a:defRPr sz="1800" kern="1200">
                          <a:solidFill>
                            <a:schemeClr val="tx1"/>
                          </a:solidFill>
                          <a:latin typeface="Arial"/>
                          <a:ea typeface="MS Gothic"/>
                          <a:cs typeface="Arial"/>
                        </a:defRPr>
                      </a:lvl2pPr>
                      <a:lvl3pPr marL="914400" algn="l" defTabSz="914400" rtl="0" eaLnBrk="1" latinLnBrk="0" hangingPunct="1">
                        <a:defRPr sz="1800" kern="1200">
                          <a:solidFill>
                            <a:schemeClr val="tx1"/>
                          </a:solidFill>
                          <a:latin typeface="Arial"/>
                          <a:ea typeface="MS Gothic"/>
                          <a:cs typeface="Arial"/>
                        </a:defRPr>
                      </a:lvl3pPr>
                      <a:lvl4pPr marL="1371600" algn="l" defTabSz="914400" rtl="0" eaLnBrk="1" latinLnBrk="0" hangingPunct="1">
                        <a:defRPr sz="1800" kern="1200">
                          <a:solidFill>
                            <a:schemeClr val="tx1"/>
                          </a:solidFill>
                          <a:latin typeface="Arial"/>
                          <a:ea typeface="MS Gothic"/>
                          <a:cs typeface="Arial"/>
                        </a:defRPr>
                      </a:lvl4pPr>
                      <a:lvl5pPr marL="1828800" algn="l" defTabSz="914400" rtl="0" eaLnBrk="1" latinLnBrk="0" hangingPunct="1">
                        <a:defRPr sz="1800" kern="1200">
                          <a:solidFill>
                            <a:schemeClr val="tx1"/>
                          </a:solidFill>
                          <a:latin typeface="Arial"/>
                          <a:ea typeface="MS Gothic"/>
                          <a:cs typeface="Arial"/>
                        </a:defRPr>
                      </a:lvl5pPr>
                      <a:lvl6pPr marL="2286000" algn="l" defTabSz="914400" rtl="0" eaLnBrk="1" latinLnBrk="0" hangingPunct="1">
                        <a:defRPr sz="1800" kern="1200">
                          <a:solidFill>
                            <a:schemeClr val="tx1"/>
                          </a:solidFill>
                          <a:latin typeface="Arial"/>
                          <a:ea typeface="MS Gothic"/>
                          <a:cs typeface="Arial"/>
                        </a:defRPr>
                      </a:lvl6pPr>
                      <a:lvl7pPr marL="2743200" algn="l" defTabSz="914400" rtl="0" eaLnBrk="1" latinLnBrk="0" hangingPunct="1">
                        <a:defRPr sz="1800" kern="1200">
                          <a:solidFill>
                            <a:schemeClr val="tx1"/>
                          </a:solidFill>
                          <a:latin typeface="Arial"/>
                          <a:ea typeface="MS Gothic"/>
                          <a:cs typeface="Arial"/>
                        </a:defRPr>
                      </a:lvl7pPr>
                      <a:lvl8pPr marL="3200400" algn="l" defTabSz="914400" rtl="0" eaLnBrk="1" latinLnBrk="0" hangingPunct="1">
                        <a:defRPr sz="1800" kern="1200">
                          <a:solidFill>
                            <a:schemeClr val="tx1"/>
                          </a:solidFill>
                          <a:latin typeface="Arial"/>
                          <a:ea typeface="MS Gothic"/>
                          <a:cs typeface="Arial"/>
                        </a:defRPr>
                      </a:lvl8pPr>
                      <a:lvl9pPr marL="3657600" algn="l" defTabSz="914400" rtl="0" eaLnBrk="1" latinLnBrk="0" hangingPunct="1">
                        <a:defRPr sz="1800" kern="1200">
                          <a:solidFill>
                            <a:schemeClr val="tx1"/>
                          </a:solidFill>
                          <a:latin typeface="Arial"/>
                          <a:ea typeface="MS Gothic"/>
                          <a:cs typeface="Arial"/>
                        </a:defRPr>
                      </a:lvl9pPr>
                    </a:lstStyle>
                    <a:p>
                      <a:pPr indent="0" algn="ctr">
                        <a:buNone/>
                      </a:pPr>
                      <a:r>
                        <a:rPr lang="en-US" sz="1000" b="1">
                          <a:latin typeface="宋体" panose="02010600030101010101" pitchFamily="2" charset="-122"/>
                          <a:ea typeface="宋体" panose="02010600030101010101" pitchFamily="2" charset="-122"/>
                          <a:cs typeface="宋体" panose="02010600030101010101" pitchFamily="2" charset="-122"/>
                        </a:rPr>
                        <a:t>参数</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240">
                <a:tc>
                  <a:txBody>
                    <a:bodyPr/>
                    <a:lstStyle>
                      <a:lvl1pPr marL="0" algn="l" defTabSz="914400" rtl="0" eaLnBrk="1" latinLnBrk="0" hangingPunct="1">
                        <a:defRPr sz="1800" kern="1200">
                          <a:solidFill>
                            <a:schemeClr val="tx1"/>
                          </a:solidFill>
                          <a:latin typeface="Arial"/>
                          <a:ea typeface="MS Gothic"/>
                          <a:cs typeface="Arial"/>
                        </a:defRPr>
                      </a:lvl1pPr>
                      <a:lvl2pPr marL="457200" algn="l" defTabSz="914400" rtl="0" eaLnBrk="1" latinLnBrk="0" hangingPunct="1">
                        <a:defRPr sz="1800" kern="1200">
                          <a:solidFill>
                            <a:schemeClr val="tx1"/>
                          </a:solidFill>
                          <a:latin typeface="Arial"/>
                          <a:ea typeface="MS Gothic"/>
                          <a:cs typeface="Arial"/>
                        </a:defRPr>
                      </a:lvl2pPr>
                      <a:lvl3pPr marL="914400" algn="l" defTabSz="914400" rtl="0" eaLnBrk="1" latinLnBrk="0" hangingPunct="1">
                        <a:defRPr sz="1800" kern="1200">
                          <a:solidFill>
                            <a:schemeClr val="tx1"/>
                          </a:solidFill>
                          <a:latin typeface="Arial"/>
                          <a:ea typeface="MS Gothic"/>
                          <a:cs typeface="Arial"/>
                        </a:defRPr>
                      </a:lvl3pPr>
                      <a:lvl4pPr marL="1371600" algn="l" defTabSz="914400" rtl="0" eaLnBrk="1" latinLnBrk="0" hangingPunct="1">
                        <a:defRPr sz="1800" kern="1200">
                          <a:solidFill>
                            <a:schemeClr val="tx1"/>
                          </a:solidFill>
                          <a:latin typeface="Arial"/>
                          <a:ea typeface="MS Gothic"/>
                          <a:cs typeface="Arial"/>
                        </a:defRPr>
                      </a:lvl4pPr>
                      <a:lvl5pPr marL="1828800" algn="l" defTabSz="914400" rtl="0" eaLnBrk="1" latinLnBrk="0" hangingPunct="1">
                        <a:defRPr sz="1800" kern="1200">
                          <a:solidFill>
                            <a:schemeClr val="tx1"/>
                          </a:solidFill>
                          <a:latin typeface="Arial"/>
                          <a:ea typeface="MS Gothic"/>
                          <a:cs typeface="Arial"/>
                        </a:defRPr>
                      </a:lvl5pPr>
                      <a:lvl6pPr marL="2286000" algn="l" defTabSz="914400" rtl="0" eaLnBrk="1" latinLnBrk="0" hangingPunct="1">
                        <a:defRPr sz="1800" kern="1200">
                          <a:solidFill>
                            <a:schemeClr val="tx1"/>
                          </a:solidFill>
                          <a:latin typeface="Arial"/>
                          <a:ea typeface="MS Gothic"/>
                          <a:cs typeface="Arial"/>
                        </a:defRPr>
                      </a:lvl6pPr>
                      <a:lvl7pPr marL="2743200" algn="l" defTabSz="914400" rtl="0" eaLnBrk="1" latinLnBrk="0" hangingPunct="1">
                        <a:defRPr sz="1800" kern="1200">
                          <a:solidFill>
                            <a:schemeClr val="tx1"/>
                          </a:solidFill>
                          <a:latin typeface="Arial"/>
                          <a:ea typeface="MS Gothic"/>
                          <a:cs typeface="Arial"/>
                        </a:defRPr>
                      </a:lvl7pPr>
                      <a:lvl8pPr marL="3200400" algn="l" defTabSz="914400" rtl="0" eaLnBrk="1" latinLnBrk="0" hangingPunct="1">
                        <a:defRPr sz="1800" kern="1200">
                          <a:solidFill>
                            <a:schemeClr val="tx1"/>
                          </a:solidFill>
                          <a:latin typeface="Arial"/>
                          <a:ea typeface="MS Gothic"/>
                          <a:cs typeface="Arial"/>
                        </a:defRPr>
                      </a:lvl8pPr>
                      <a:lvl9pPr marL="3657600" algn="l" defTabSz="914400" rtl="0" eaLnBrk="1" latinLnBrk="0" hangingPunct="1">
                        <a:defRPr sz="1800" kern="1200">
                          <a:solidFill>
                            <a:schemeClr val="tx1"/>
                          </a:solidFill>
                          <a:latin typeface="Arial"/>
                          <a:ea typeface="MS Gothic"/>
                          <a:cs typeface="Arial"/>
                        </a:defRPr>
                      </a:lvl9pPr>
                    </a:lstStyle>
                    <a:p>
                      <a:pPr indent="0" algn="ctr">
                        <a:buNone/>
                      </a:pPr>
                      <a:r>
                        <a:rPr lang="en-US" sz="1000" b="1">
                          <a:latin typeface="宋体" panose="02010600030101010101" pitchFamily="2" charset="-122"/>
                          <a:ea typeface="宋体" panose="02010600030101010101" pitchFamily="2" charset="-122"/>
                          <a:cs typeface="宋体" panose="02010600030101010101" pitchFamily="2" charset="-122"/>
                        </a:rPr>
                        <a:t>相机</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Gothic"/>
                          <a:cs typeface="Arial"/>
                        </a:defRPr>
                      </a:lvl1pPr>
                      <a:lvl2pPr marL="457200" algn="l" defTabSz="914400" rtl="0" eaLnBrk="1" latinLnBrk="0" hangingPunct="1">
                        <a:defRPr sz="1800" kern="1200">
                          <a:solidFill>
                            <a:schemeClr val="tx1"/>
                          </a:solidFill>
                          <a:latin typeface="Arial"/>
                          <a:ea typeface="MS Gothic"/>
                          <a:cs typeface="Arial"/>
                        </a:defRPr>
                      </a:lvl2pPr>
                      <a:lvl3pPr marL="914400" algn="l" defTabSz="914400" rtl="0" eaLnBrk="1" latinLnBrk="0" hangingPunct="1">
                        <a:defRPr sz="1800" kern="1200">
                          <a:solidFill>
                            <a:schemeClr val="tx1"/>
                          </a:solidFill>
                          <a:latin typeface="Arial"/>
                          <a:ea typeface="MS Gothic"/>
                          <a:cs typeface="Arial"/>
                        </a:defRPr>
                      </a:lvl3pPr>
                      <a:lvl4pPr marL="1371600" algn="l" defTabSz="914400" rtl="0" eaLnBrk="1" latinLnBrk="0" hangingPunct="1">
                        <a:defRPr sz="1800" kern="1200">
                          <a:solidFill>
                            <a:schemeClr val="tx1"/>
                          </a:solidFill>
                          <a:latin typeface="Arial"/>
                          <a:ea typeface="MS Gothic"/>
                          <a:cs typeface="Arial"/>
                        </a:defRPr>
                      </a:lvl4pPr>
                      <a:lvl5pPr marL="1828800" algn="l" defTabSz="914400" rtl="0" eaLnBrk="1" latinLnBrk="0" hangingPunct="1">
                        <a:defRPr sz="1800" kern="1200">
                          <a:solidFill>
                            <a:schemeClr val="tx1"/>
                          </a:solidFill>
                          <a:latin typeface="Arial"/>
                          <a:ea typeface="MS Gothic"/>
                          <a:cs typeface="Arial"/>
                        </a:defRPr>
                      </a:lvl5pPr>
                      <a:lvl6pPr marL="2286000" algn="l" defTabSz="914400" rtl="0" eaLnBrk="1" latinLnBrk="0" hangingPunct="1">
                        <a:defRPr sz="1800" kern="1200">
                          <a:solidFill>
                            <a:schemeClr val="tx1"/>
                          </a:solidFill>
                          <a:latin typeface="Arial"/>
                          <a:ea typeface="MS Gothic"/>
                          <a:cs typeface="Arial"/>
                        </a:defRPr>
                      </a:lvl6pPr>
                      <a:lvl7pPr marL="2743200" algn="l" defTabSz="914400" rtl="0" eaLnBrk="1" latinLnBrk="0" hangingPunct="1">
                        <a:defRPr sz="1800" kern="1200">
                          <a:solidFill>
                            <a:schemeClr val="tx1"/>
                          </a:solidFill>
                          <a:latin typeface="Arial"/>
                          <a:ea typeface="MS Gothic"/>
                          <a:cs typeface="Arial"/>
                        </a:defRPr>
                      </a:lvl7pPr>
                      <a:lvl8pPr marL="3200400" algn="l" defTabSz="914400" rtl="0" eaLnBrk="1" latinLnBrk="0" hangingPunct="1">
                        <a:defRPr sz="1800" kern="1200">
                          <a:solidFill>
                            <a:schemeClr val="tx1"/>
                          </a:solidFill>
                          <a:latin typeface="Arial"/>
                          <a:ea typeface="MS Gothic"/>
                          <a:cs typeface="Arial"/>
                        </a:defRPr>
                      </a:lvl8pPr>
                      <a:lvl9pPr marL="3657600" algn="l" defTabSz="914400" rtl="0" eaLnBrk="1" latinLnBrk="0" hangingPunct="1">
                        <a:defRPr sz="1800" kern="1200">
                          <a:solidFill>
                            <a:schemeClr val="tx1"/>
                          </a:solidFill>
                          <a:latin typeface="Arial"/>
                          <a:ea typeface="MS Gothic"/>
                          <a:cs typeface="Arial"/>
                        </a:defRPr>
                      </a:lvl9pPr>
                    </a:lstStyle>
                    <a:p>
                      <a:pPr indent="0" algn="ctr">
                        <a:buNone/>
                      </a:pPr>
                      <a:r>
                        <a:rPr lang="en-US" sz="1000" b="0">
                          <a:latin typeface="宋体" panose="02010600030101010101" pitchFamily="2" charset="-122"/>
                          <a:ea typeface="宋体" panose="02010600030101010101" pitchFamily="2" charset="-122"/>
                          <a:cs typeface="宋体" panose="02010600030101010101" pitchFamily="2" charset="-122"/>
                        </a:rPr>
                        <a:t>1</a:t>
                      </a:r>
                      <a:r>
                        <a:rPr lang="en-US" sz="1000" b="0">
                          <a:latin typeface="Times New Roman" panose="02020603050405020304" pitchFamily="18" charset="0"/>
                          <a:cs typeface="Times New Roman" panose="02020603050405020304" pitchFamily="18" charset="0"/>
                        </a:rPr>
                        <a:t>0Hz</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Gothic"/>
                          <a:cs typeface="Arial"/>
                        </a:defRPr>
                      </a:lvl1pPr>
                      <a:lvl2pPr marL="457200" algn="l" defTabSz="914400" rtl="0" eaLnBrk="1" latinLnBrk="0" hangingPunct="1">
                        <a:defRPr sz="1800" kern="1200">
                          <a:solidFill>
                            <a:schemeClr val="tx1"/>
                          </a:solidFill>
                          <a:latin typeface="Arial"/>
                          <a:ea typeface="MS Gothic"/>
                          <a:cs typeface="Arial"/>
                        </a:defRPr>
                      </a:lvl2pPr>
                      <a:lvl3pPr marL="914400" algn="l" defTabSz="914400" rtl="0" eaLnBrk="1" latinLnBrk="0" hangingPunct="1">
                        <a:defRPr sz="1800" kern="1200">
                          <a:solidFill>
                            <a:schemeClr val="tx1"/>
                          </a:solidFill>
                          <a:latin typeface="Arial"/>
                          <a:ea typeface="MS Gothic"/>
                          <a:cs typeface="Arial"/>
                        </a:defRPr>
                      </a:lvl3pPr>
                      <a:lvl4pPr marL="1371600" algn="l" defTabSz="914400" rtl="0" eaLnBrk="1" latinLnBrk="0" hangingPunct="1">
                        <a:defRPr sz="1800" kern="1200">
                          <a:solidFill>
                            <a:schemeClr val="tx1"/>
                          </a:solidFill>
                          <a:latin typeface="Arial"/>
                          <a:ea typeface="MS Gothic"/>
                          <a:cs typeface="Arial"/>
                        </a:defRPr>
                      </a:lvl4pPr>
                      <a:lvl5pPr marL="1828800" algn="l" defTabSz="914400" rtl="0" eaLnBrk="1" latinLnBrk="0" hangingPunct="1">
                        <a:defRPr sz="1800" kern="1200">
                          <a:solidFill>
                            <a:schemeClr val="tx1"/>
                          </a:solidFill>
                          <a:latin typeface="Arial"/>
                          <a:ea typeface="MS Gothic"/>
                          <a:cs typeface="Arial"/>
                        </a:defRPr>
                      </a:lvl5pPr>
                      <a:lvl6pPr marL="2286000" algn="l" defTabSz="914400" rtl="0" eaLnBrk="1" latinLnBrk="0" hangingPunct="1">
                        <a:defRPr sz="1800" kern="1200">
                          <a:solidFill>
                            <a:schemeClr val="tx1"/>
                          </a:solidFill>
                          <a:latin typeface="Arial"/>
                          <a:ea typeface="MS Gothic"/>
                          <a:cs typeface="Arial"/>
                        </a:defRPr>
                      </a:lvl6pPr>
                      <a:lvl7pPr marL="2743200" algn="l" defTabSz="914400" rtl="0" eaLnBrk="1" latinLnBrk="0" hangingPunct="1">
                        <a:defRPr sz="1800" kern="1200">
                          <a:solidFill>
                            <a:schemeClr val="tx1"/>
                          </a:solidFill>
                          <a:latin typeface="Arial"/>
                          <a:ea typeface="MS Gothic"/>
                          <a:cs typeface="Arial"/>
                        </a:defRPr>
                      </a:lvl7pPr>
                      <a:lvl8pPr marL="3200400" algn="l" defTabSz="914400" rtl="0" eaLnBrk="1" latinLnBrk="0" hangingPunct="1">
                        <a:defRPr sz="1800" kern="1200">
                          <a:solidFill>
                            <a:schemeClr val="tx1"/>
                          </a:solidFill>
                          <a:latin typeface="Arial"/>
                          <a:ea typeface="MS Gothic"/>
                          <a:cs typeface="Arial"/>
                        </a:defRPr>
                      </a:lvl8pPr>
                      <a:lvl9pPr marL="3657600" algn="l" defTabSz="914400" rtl="0" eaLnBrk="1" latinLnBrk="0" hangingPunct="1">
                        <a:defRPr sz="1800" kern="1200">
                          <a:solidFill>
                            <a:schemeClr val="tx1"/>
                          </a:solidFill>
                          <a:latin typeface="Arial"/>
                          <a:ea typeface="MS Gothic"/>
                          <a:cs typeface="Arial"/>
                        </a:defRPr>
                      </a:lvl9pPr>
                    </a:lstStyle>
                    <a:p>
                      <a:pPr indent="0" algn="ctr">
                        <a:buNone/>
                      </a:pPr>
                      <a:r>
                        <a:rPr lang="en-US" sz="1000" b="0">
                          <a:latin typeface="宋体" panose="02010600030101010101" pitchFamily="2" charset="-122"/>
                          <a:ea typeface="宋体" panose="02010600030101010101" pitchFamily="2" charset="-122"/>
                          <a:cs typeface="宋体" panose="02010600030101010101" pitchFamily="2" charset="-122"/>
                        </a:rPr>
                        <a:t>分辨率</a:t>
                      </a:r>
                      <a:r>
                        <a:rPr lang="en-US" sz="1000" b="0">
                          <a:latin typeface="Times New Roman" panose="02020603050405020304" pitchFamily="18" charset="0"/>
                          <a:cs typeface="Times New Roman" panose="02020603050405020304" pitchFamily="18" charset="0"/>
                        </a:rPr>
                        <a:t>:640×512 pixels</a:t>
                      </a:r>
                    </a:p>
                    <a:p>
                      <a:pPr indent="0" algn="ctr">
                        <a:buNone/>
                      </a:pPr>
                      <a:r>
                        <a:rPr lang="en-US" sz="1000" b="0">
                          <a:latin typeface="宋体" panose="02010600030101010101" pitchFamily="2" charset="-122"/>
                          <a:ea typeface="宋体" panose="02010600030101010101" pitchFamily="2" charset="-122"/>
                          <a:cs typeface="宋体" panose="02010600030101010101" pitchFamily="2" charset="-122"/>
                        </a:rPr>
                        <a:t>镜头焦距</a:t>
                      </a:r>
                      <a:r>
                        <a:rPr lang="en-US" sz="1000" b="0">
                          <a:latin typeface="Times New Roman" panose="02020603050405020304" pitchFamily="18" charset="0"/>
                          <a:cs typeface="Times New Roman" panose="02020603050405020304" pitchFamily="18" charset="0"/>
                        </a:rPr>
                        <a:t>: 8</a:t>
                      </a:r>
                      <a:r>
                        <a:rPr lang="en-US" sz="1000" b="0">
                          <a:latin typeface="宋体" panose="02010600030101010101" pitchFamily="2" charset="-122"/>
                          <a:ea typeface="宋体" panose="02010600030101010101" pitchFamily="2" charset="-122"/>
                          <a:cs typeface="宋体" panose="02010600030101010101" pitchFamily="2" charset="-122"/>
                        </a:rPr>
                        <a:t>mm</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40">
                <a:tc>
                  <a:txBody>
                    <a:bodyPr/>
                    <a:lstStyle>
                      <a:lvl1pPr marL="0" algn="l" defTabSz="914400" rtl="0" eaLnBrk="1" latinLnBrk="0" hangingPunct="1">
                        <a:defRPr sz="1800" kern="1200">
                          <a:solidFill>
                            <a:schemeClr val="tx1"/>
                          </a:solidFill>
                          <a:latin typeface="Arial"/>
                          <a:ea typeface="MS Gothic"/>
                          <a:cs typeface="Arial"/>
                        </a:defRPr>
                      </a:lvl1pPr>
                      <a:lvl2pPr marL="457200" algn="l" defTabSz="914400" rtl="0" eaLnBrk="1" latinLnBrk="0" hangingPunct="1">
                        <a:defRPr sz="1800" kern="1200">
                          <a:solidFill>
                            <a:schemeClr val="tx1"/>
                          </a:solidFill>
                          <a:latin typeface="Arial"/>
                          <a:ea typeface="MS Gothic"/>
                          <a:cs typeface="Arial"/>
                        </a:defRPr>
                      </a:lvl2pPr>
                      <a:lvl3pPr marL="914400" algn="l" defTabSz="914400" rtl="0" eaLnBrk="1" latinLnBrk="0" hangingPunct="1">
                        <a:defRPr sz="1800" kern="1200">
                          <a:solidFill>
                            <a:schemeClr val="tx1"/>
                          </a:solidFill>
                          <a:latin typeface="Arial"/>
                          <a:ea typeface="MS Gothic"/>
                          <a:cs typeface="Arial"/>
                        </a:defRPr>
                      </a:lvl3pPr>
                      <a:lvl4pPr marL="1371600" algn="l" defTabSz="914400" rtl="0" eaLnBrk="1" latinLnBrk="0" hangingPunct="1">
                        <a:defRPr sz="1800" kern="1200">
                          <a:solidFill>
                            <a:schemeClr val="tx1"/>
                          </a:solidFill>
                          <a:latin typeface="Arial"/>
                          <a:ea typeface="MS Gothic"/>
                          <a:cs typeface="Arial"/>
                        </a:defRPr>
                      </a:lvl4pPr>
                      <a:lvl5pPr marL="1828800" algn="l" defTabSz="914400" rtl="0" eaLnBrk="1" latinLnBrk="0" hangingPunct="1">
                        <a:defRPr sz="1800" kern="1200">
                          <a:solidFill>
                            <a:schemeClr val="tx1"/>
                          </a:solidFill>
                          <a:latin typeface="Arial"/>
                          <a:ea typeface="MS Gothic"/>
                          <a:cs typeface="Arial"/>
                        </a:defRPr>
                      </a:lvl5pPr>
                      <a:lvl6pPr marL="2286000" algn="l" defTabSz="914400" rtl="0" eaLnBrk="1" latinLnBrk="0" hangingPunct="1">
                        <a:defRPr sz="1800" kern="1200">
                          <a:solidFill>
                            <a:schemeClr val="tx1"/>
                          </a:solidFill>
                          <a:latin typeface="Arial"/>
                          <a:ea typeface="MS Gothic"/>
                          <a:cs typeface="Arial"/>
                        </a:defRPr>
                      </a:lvl6pPr>
                      <a:lvl7pPr marL="2743200" algn="l" defTabSz="914400" rtl="0" eaLnBrk="1" latinLnBrk="0" hangingPunct="1">
                        <a:defRPr sz="1800" kern="1200">
                          <a:solidFill>
                            <a:schemeClr val="tx1"/>
                          </a:solidFill>
                          <a:latin typeface="Arial"/>
                          <a:ea typeface="MS Gothic"/>
                          <a:cs typeface="Arial"/>
                        </a:defRPr>
                      </a:lvl7pPr>
                      <a:lvl8pPr marL="3200400" algn="l" defTabSz="914400" rtl="0" eaLnBrk="1" latinLnBrk="0" hangingPunct="1">
                        <a:defRPr sz="1800" kern="1200">
                          <a:solidFill>
                            <a:schemeClr val="tx1"/>
                          </a:solidFill>
                          <a:latin typeface="Arial"/>
                          <a:ea typeface="MS Gothic"/>
                          <a:cs typeface="Arial"/>
                        </a:defRPr>
                      </a:lvl8pPr>
                      <a:lvl9pPr marL="3657600" algn="l" defTabSz="914400" rtl="0" eaLnBrk="1" latinLnBrk="0" hangingPunct="1">
                        <a:defRPr sz="1800" kern="1200">
                          <a:solidFill>
                            <a:schemeClr val="tx1"/>
                          </a:solidFill>
                          <a:latin typeface="Arial"/>
                          <a:ea typeface="MS Gothic"/>
                          <a:cs typeface="Arial"/>
                        </a:defRPr>
                      </a:lvl9pPr>
                    </a:lstStyle>
                    <a:p>
                      <a:pPr indent="0" algn="ctr">
                        <a:buNone/>
                      </a:pPr>
                      <a:r>
                        <a:rPr lang="en-US" sz="1000" b="1">
                          <a:latin typeface="Times New Roman" panose="02020603050405020304" pitchFamily="18" charset="0"/>
                          <a:cs typeface="Times New Roman" panose="02020603050405020304" pitchFamily="18" charset="0"/>
                        </a:rPr>
                        <a:t>MIMU</a:t>
                      </a:r>
                      <a:endParaRPr lang="en-US" altLang="en-US" sz="1000" b="1">
                        <a:latin typeface="Times New Roman" panose="02020603050405020304" pitchFamily="18" charset="0"/>
                        <a:ea typeface="Times New Roman" panose="02020603050405020304" pitchFamily="18" charset="0"/>
                        <a:cs typeface="Times New Roman" panose="02020603050405020304" pitchFamily="18" charset="0"/>
                      </a:endParaRPr>
                    </a:p>
                  </a:txBody>
                  <a:tcPr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Gothic"/>
                          <a:cs typeface="Arial"/>
                        </a:defRPr>
                      </a:lvl1pPr>
                      <a:lvl2pPr marL="457200" algn="l" defTabSz="914400" rtl="0" eaLnBrk="1" latinLnBrk="0" hangingPunct="1">
                        <a:defRPr sz="1800" kern="1200">
                          <a:solidFill>
                            <a:schemeClr val="tx1"/>
                          </a:solidFill>
                          <a:latin typeface="Arial"/>
                          <a:ea typeface="MS Gothic"/>
                          <a:cs typeface="Arial"/>
                        </a:defRPr>
                      </a:lvl2pPr>
                      <a:lvl3pPr marL="914400" algn="l" defTabSz="914400" rtl="0" eaLnBrk="1" latinLnBrk="0" hangingPunct="1">
                        <a:defRPr sz="1800" kern="1200">
                          <a:solidFill>
                            <a:schemeClr val="tx1"/>
                          </a:solidFill>
                          <a:latin typeface="Arial"/>
                          <a:ea typeface="MS Gothic"/>
                          <a:cs typeface="Arial"/>
                        </a:defRPr>
                      </a:lvl3pPr>
                      <a:lvl4pPr marL="1371600" algn="l" defTabSz="914400" rtl="0" eaLnBrk="1" latinLnBrk="0" hangingPunct="1">
                        <a:defRPr sz="1800" kern="1200">
                          <a:solidFill>
                            <a:schemeClr val="tx1"/>
                          </a:solidFill>
                          <a:latin typeface="Arial"/>
                          <a:ea typeface="MS Gothic"/>
                          <a:cs typeface="Arial"/>
                        </a:defRPr>
                      </a:lvl4pPr>
                      <a:lvl5pPr marL="1828800" algn="l" defTabSz="914400" rtl="0" eaLnBrk="1" latinLnBrk="0" hangingPunct="1">
                        <a:defRPr sz="1800" kern="1200">
                          <a:solidFill>
                            <a:schemeClr val="tx1"/>
                          </a:solidFill>
                          <a:latin typeface="Arial"/>
                          <a:ea typeface="MS Gothic"/>
                          <a:cs typeface="Arial"/>
                        </a:defRPr>
                      </a:lvl5pPr>
                      <a:lvl6pPr marL="2286000" algn="l" defTabSz="914400" rtl="0" eaLnBrk="1" latinLnBrk="0" hangingPunct="1">
                        <a:defRPr sz="1800" kern="1200">
                          <a:solidFill>
                            <a:schemeClr val="tx1"/>
                          </a:solidFill>
                          <a:latin typeface="Arial"/>
                          <a:ea typeface="MS Gothic"/>
                          <a:cs typeface="Arial"/>
                        </a:defRPr>
                      </a:lvl6pPr>
                      <a:lvl7pPr marL="2743200" algn="l" defTabSz="914400" rtl="0" eaLnBrk="1" latinLnBrk="0" hangingPunct="1">
                        <a:defRPr sz="1800" kern="1200">
                          <a:solidFill>
                            <a:schemeClr val="tx1"/>
                          </a:solidFill>
                          <a:latin typeface="Arial"/>
                          <a:ea typeface="MS Gothic"/>
                          <a:cs typeface="Arial"/>
                        </a:defRPr>
                      </a:lvl7pPr>
                      <a:lvl8pPr marL="3200400" algn="l" defTabSz="914400" rtl="0" eaLnBrk="1" latinLnBrk="0" hangingPunct="1">
                        <a:defRPr sz="1800" kern="1200">
                          <a:solidFill>
                            <a:schemeClr val="tx1"/>
                          </a:solidFill>
                          <a:latin typeface="Arial"/>
                          <a:ea typeface="MS Gothic"/>
                          <a:cs typeface="Arial"/>
                        </a:defRPr>
                      </a:lvl8pPr>
                      <a:lvl9pPr marL="3657600" algn="l" defTabSz="914400" rtl="0" eaLnBrk="1" latinLnBrk="0" hangingPunct="1">
                        <a:defRPr sz="1800" kern="1200">
                          <a:solidFill>
                            <a:schemeClr val="tx1"/>
                          </a:solidFill>
                          <a:latin typeface="Arial"/>
                          <a:ea typeface="MS Gothic"/>
                          <a:cs typeface="Arial"/>
                        </a:defRPr>
                      </a:lvl9pPr>
                    </a:lstStyle>
                    <a:p>
                      <a:pPr indent="0" algn="ctr">
                        <a:buNone/>
                      </a:pPr>
                      <a:r>
                        <a:rPr lang="en-US" sz="1000" b="0">
                          <a:latin typeface="Times New Roman" panose="02020603050405020304" pitchFamily="18" charset="0"/>
                          <a:cs typeface="Times New Roman" panose="02020603050405020304" pitchFamily="18" charset="0"/>
                        </a:rPr>
                        <a:t>200Hz</a:t>
                      </a:r>
                      <a:endParaRPr lang="en-US" altLang="en-US" sz="1000" b="0">
                        <a:latin typeface="Times New Roman" panose="02020603050405020304" pitchFamily="18" charset="0"/>
                        <a:ea typeface="Times New Roman" panose="02020603050405020304" pitchFamily="18" charset="0"/>
                        <a:cs typeface="Times New Roman" panose="02020603050405020304" pitchFamily="18" charset="0"/>
                      </a:endParaRPr>
                    </a:p>
                  </a:txBody>
                  <a:tcPr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Gothic"/>
                          <a:cs typeface="Arial"/>
                        </a:defRPr>
                      </a:lvl1pPr>
                      <a:lvl2pPr marL="457200" algn="l" defTabSz="914400" rtl="0" eaLnBrk="1" latinLnBrk="0" hangingPunct="1">
                        <a:defRPr sz="1800" kern="1200">
                          <a:solidFill>
                            <a:schemeClr val="tx1"/>
                          </a:solidFill>
                          <a:latin typeface="Arial"/>
                          <a:ea typeface="MS Gothic"/>
                          <a:cs typeface="Arial"/>
                        </a:defRPr>
                      </a:lvl2pPr>
                      <a:lvl3pPr marL="914400" algn="l" defTabSz="914400" rtl="0" eaLnBrk="1" latinLnBrk="0" hangingPunct="1">
                        <a:defRPr sz="1800" kern="1200">
                          <a:solidFill>
                            <a:schemeClr val="tx1"/>
                          </a:solidFill>
                          <a:latin typeface="Arial"/>
                          <a:ea typeface="MS Gothic"/>
                          <a:cs typeface="Arial"/>
                        </a:defRPr>
                      </a:lvl3pPr>
                      <a:lvl4pPr marL="1371600" algn="l" defTabSz="914400" rtl="0" eaLnBrk="1" latinLnBrk="0" hangingPunct="1">
                        <a:defRPr sz="1800" kern="1200">
                          <a:solidFill>
                            <a:schemeClr val="tx1"/>
                          </a:solidFill>
                          <a:latin typeface="Arial"/>
                          <a:ea typeface="MS Gothic"/>
                          <a:cs typeface="Arial"/>
                        </a:defRPr>
                      </a:lvl4pPr>
                      <a:lvl5pPr marL="1828800" algn="l" defTabSz="914400" rtl="0" eaLnBrk="1" latinLnBrk="0" hangingPunct="1">
                        <a:defRPr sz="1800" kern="1200">
                          <a:solidFill>
                            <a:schemeClr val="tx1"/>
                          </a:solidFill>
                          <a:latin typeface="Arial"/>
                          <a:ea typeface="MS Gothic"/>
                          <a:cs typeface="Arial"/>
                        </a:defRPr>
                      </a:lvl5pPr>
                      <a:lvl6pPr marL="2286000" algn="l" defTabSz="914400" rtl="0" eaLnBrk="1" latinLnBrk="0" hangingPunct="1">
                        <a:defRPr sz="1800" kern="1200">
                          <a:solidFill>
                            <a:schemeClr val="tx1"/>
                          </a:solidFill>
                          <a:latin typeface="Arial"/>
                          <a:ea typeface="MS Gothic"/>
                          <a:cs typeface="Arial"/>
                        </a:defRPr>
                      </a:lvl6pPr>
                      <a:lvl7pPr marL="2743200" algn="l" defTabSz="914400" rtl="0" eaLnBrk="1" latinLnBrk="0" hangingPunct="1">
                        <a:defRPr sz="1800" kern="1200">
                          <a:solidFill>
                            <a:schemeClr val="tx1"/>
                          </a:solidFill>
                          <a:latin typeface="Arial"/>
                          <a:ea typeface="MS Gothic"/>
                          <a:cs typeface="Arial"/>
                        </a:defRPr>
                      </a:lvl7pPr>
                      <a:lvl8pPr marL="3200400" algn="l" defTabSz="914400" rtl="0" eaLnBrk="1" latinLnBrk="0" hangingPunct="1">
                        <a:defRPr sz="1800" kern="1200">
                          <a:solidFill>
                            <a:schemeClr val="tx1"/>
                          </a:solidFill>
                          <a:latin typeface="Arial"/>
                          <a:ea typeface="MS Gothic"/>
                          <a:cs typeface="Arial"/>
                        </a:defRPr>
                      </a:lvl8pPr>
                      <a:lvl9pPr marL="3657600" algn="l" defTabSz="914400" rtl="0" eaLnBrk="1" latinLnBrk="0" hangingPunct="1">
                        <a:defRPr sz="1800" kern="1200">
                          <a:solidFill>
                            <a:schemeClr val="tx1"/>
                          </a:solidFill>
                          <a:latin typeface="Arial"/>
                          <a:ea typeface="MS Gothic"/>
                          <a:cs typeface="Arial"/>
                        </a:defRPr>
                      </a:lvl9pPr>
                    </a:lstStyle>
                    <a:p>
                      <a:pPr indent="0" algn="ctr">
                        <a:buNone/>
                      </a:pPr>
                      <a:r>
                        <a:rPr lang="en-US" sz="1000" b="0">
                          <a:latin typeface="宋体" panose="02010600030101010101" pitchFamily="2" charset="-122"/>
                          <a:ea typeface="宋体" panose="02010600030101010101" pitchFamily="2" charset="-122"/>
                          <a:cs typeface="宋体" panose="02010600030101010101" pitchFamily="2" charset="-122"/>
                        </a:rPr>
                        <a:t>陀螺零偏：0.5°/h</a:t>
                      </a:r>
                    </a:p>
                    <a:p>
                      <a:pPr indent="0" algn="ctr">
                        <a:buNone/>
                      </a:pPr>
                      <a:r>
                        <a:rPr lang="en-US" sz="1000" b="0">
                          <a:latin typeface="宋体" panose="02010600030101010101" pitchFamily="2" charset="-122"/>
                          <a:ea typeface="宋体" panose="02010600030101010101" pitchFamily="2" charset="-122"/>
                          <a:cs typeface="宋体" panose="02010600030101010101" pitchFamily="2" charset="-122"/>
                        </a:rPr>
                        <a:t>加表零偏：0.05mg</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240">
                <a:tc>
                  <a:txBody>
                    <a:bodyPr/>
                    <a:lstStyle>
                      <a:lvl1pPr marL="0" algn="l" defTabSz="914400" rtl="0" eaLnBrk="1" latinLnBrk="0" hangingPunct="1">
                        <a:defRPr sz="1800" kern="1200">
                          <a:solidFill>
                            <a:schemeClr val="tx1"/>
                          </a:solidFill>
                          <a:latin typeface="Arial"/>
                          <a:ea typeface="MS Gothic"/>
                          <a:cs typeface="Arial"/>
                        </a:defRPr>
                      </a:lvl1pPr>
                      <a:lvl2pPr marL="457200" algn="l" defTabSz="914400" rtl="0" eaLnBrk="1" latinLnBrk="0" hangingPunct="1">
                        <a:defRPr sz="1800" kern="1200">
                          <a:solidFill>
                            <a:schemeClr val="tx1"/>
                          </a:solidFill>
                          <a:latin typeface="Arial"/>
                          <a:ea typeface="MS Gothic"/>
                          <a:cs typeface="Arial"/>
                        </a:defRPr>
                      </a:lvl2pPr>
                      <a:lvl3pPr marL="914400" algn="l" defTabSz="914400" rtl="0" eaLnBrk="1" latinLnBrk="0" hangingPunct="1">
                        <a:defRPr sz="1800" kern="1200">
                          <a:solidFill>
                            <a:schemeClr val="tx1"/>
                          </a:solidFill>
                          <a:latin typeface="Arial"/>
                          <a:ea typeface="MS Gothic"/>
                          <a:cs typeface="Arial"/>
                        </a:defRPr>
                      </a:lvl3pPr>
                      <a:lvl4pPr marL="1371600" algn="l" defTabSz="914400" rtl="0" eaLnBrk="1" latinLnBrk="0" hangingPunct="1">
                        <a:defRPr sz="1800" kern="1200">
                          <a:solidFill>
                            <a:schemeClr val="tx1"/>
                          </a:solidFill>
                          <a:latin typeface="Arial"/>
                          <a:ea typeface="MS Gothic"/>
                          <a:cs typeface="Arial"/>
                        </a:defRPr>
                      </a:lvl4pPr>
                      <a:lvl5pPr marL="1828800" algn="l" defTabSz="914400" rtl="0" eaLnBrk="1" latinLnBrk="0" hangingPunct="1">
                        <a:defRPr sz="1800" kern="1200">
                          <a:solidFill>
                            <a:schemeClr val="tx1"/>
                          </a:solidFill>
                          <a:latin typeface="Arial"/>
                          <a:ea typeface="MS Gothic"/>
                          <a:cs typeface="Arial"/>
                        </a:defRPr>
                      </a:lvl5pPr>
                      <a:lvl6pPr marL="2286000" algn="l" defTabSz="914400" rtl="0" eaLnBrk="1" latinLnBrk="0" hangingPunct="1">
                        <a:defRPr sz="1800" kern="1200">
                          <a:solidFill>
                            <a:schemeClr val="tx1"/>
                          </a:solidFill>
                          <a:latin typeface="Arial"/>
                          <a:ea typeface="MS Gothic"/>
                          <a:cs typeface="Arial"/>
                        </a:defRPr>
                      </a:lvl6pPr>
                      <a:lvl7pPr marL="2743200" algn="l" defTabSz="914400" rtl="0" eaLnBrk="1" latinLnBrk="0" hangingPunct="1">
                        <a:defRPr sz="1800" kern="1200">
                          <a:solidFill>
                            <a:schemeClr val="tx1"/>
                          </a:solidFill>
                          <a:latin typeface="Arial"/>
                          <a:ea typeface="MS Gothic"/>
                          <a:cs typeface="Arial"/>
                        </a:defRPr>
                      </a:lvl7pPr>
                      <a:lvl8pPr marL="3200400" algn="l" defTabSz="914400" rtl="0" eaLnBrk="1" latinLnBrk="0" hangingPunct="1">
                        <a:defRPr sz="1800" kern="1200">
                          <a:solidFill>
                            <a:schemeClr val="tx1"/>
                          </a:solidFill>
                          <a:latin typeface="Arial"/>
                          <a:ea typeface="MS Gothic"/>
                          <a:cs typeface="Arial"/>
                        </a:defRPr>
                      </a:lvl8pPr>
                      <a:lvl9pPr marL="3657600" algn="l" defTabSz="914400" rtl="0" eaLnBrk="1" latinLnBrk="0" hangingPunct="1">
                        <a:defRPr sz="1800" kern="1200">
                          <a:solidFill>
                            <a:schemeClr val="tx1"/>
                          </a:solidFill>
                          <a:latin typeface="Arial"/>
                          <a:ea typeface="MS Gothic"/>
                          <a:cs typeface="Arial"/>
                        </a:defRPr>
                      </a:lvl9pPr>
                    </a:lstStyle>
                    <a:p>
                      <a:pPr indent="0" algn="ctr">
                        <a:buNone/>
                      </a:pPr>
                      <a:r>
                        <a:rPr lang="en-US" sz="1000" b="1">
                          <a:latin typeface="宋体" panose="02010600030101010101" pitchFamily="2" charset="-122"/>
                          <a:ea typeface="宋体" panose="02010600030101010101" pitchFamily="2" charset="-122"/>
                          <a:cs typeface="宋体" panose="02010600030101010101" pitchFamily="2" charset="-122"/>
                        </a:rPr>
                        <a:t>U</a:t>
                      </a:r>
                      <a:r>
                        <a:rPr lang="en-US" sz="1000" b="1">
                          <a:latin typeface="Times New Roman" panose="02020603050405020304" pitchFamily="18" charset="0"/>
                          <a:cs typeface="Times New Roman" panose="02020603050405020304" pitchFamily="18" charset="0"/>
                        </a:rPr>
                        <a:t>WB</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Gothic"/>
                          <a:cs typeface="Arial"/>
                        </a:defRPr>
                      </a:lvl1pPr>
                      <a:lvl2pPr marL="457200" algn="l" defTabSz="914400" rtl="0" eaLnBrk="1" latinLnBrk="0" hangingPunct="1">
                        <a:defRPr sz="1800" kern="1200">
                          <a:solidFill>
                            <a:schemeClr val="tx1"/>
                          </a:solidFill>
                          <a:latin typeface="Arial"/>
                          <a:ea typeface="MS Gothic"/>
                          <a:cs typeface="Arial"/>
                        </a:defRPr>
                      </a:lvl2pPr>
                      <a:lvl3pPr marL="914400" algn="l" defTabSz="914400" rtl="0" eaLnBrk="1" latinLnBrk="0" hangingPunct="1">
                        <a:defRPr sz="1800" kern="1200">
                          <a:solidFill>
                            <a:schemeClr val="tx1"/>
                          </a:solidFill>
                          <a:latin typeface="Arial"/>
                          <a:ea typeface="MS Gothic"/>
                          <a:cs typeface="Arial"/>
                        </a:defRPr>
                      </a:lvl3pPr>
                      <a:lvl4pPr marL="1371600" algn="l" defTabSz="914400" rtl="0" eaLnBrk="1" latinLnBrk="0" hangingPunct="1">
                        <a:defRPr sz="1800" kern="1200">
                          <a:solidFill>
                            <a:schemeClr val="tx1"/>
                          </a:solidFill>
                          <a:latin typeface="Arial"/>
                          <a:ea typeface="MS Gothic"/>
                          <a:cs typeface="Arial"/>
                        </a:defRPr>
                      </a:lvl4pPr>
                      <a:lvl5pPr marL="1828800" algn="l" defTabSz="914400" rtl="0" eaLnBrk="1" latinLnBrk="0" hangingPunct="1">
                        <a:defRPr sz="1800" kern="1200">
                          <a:solidFill>
                            <a:schemeClr val="tx1"/>
                          </a:solidFill>
                          <a:latin typeface="Arial"/>
                          <a:ea typeface="MS Gothic"/>
                          <a:cs typeface="Arial"/>
                        </a:defRPr>
                      </a:lvl5pPr>
                      <a:lvl6pPr marL="2286000" algn="l" defTabSz="914400" rtl="0" eaLnBrk="1" latinLnBrk="0" hangingPunct="1">
                        <a:defRPr sz="1800" kern="1200">
                          <a:solidFill>
                            <a:schemeClr val="tx1"/>
                          </a:solidFill>
                          <a:latin typeface="Arial"/>
                          <a:ea typeface="MS Gothic"/>
                          <a:cs typeface="Arial"/>
                        </a:defRPr>
                      </a:lvl6pPr>
                      <a:lvl7pPr marL="2743200" algn="l" defTabSz="914400" rtl="0" eaLnBrk="1" latinLnBrk="0" hangingPunct="1">
                        <a:defRPr sz="1800" kern="1200">
                          <a:solidFill>
                            <a:schemeClr val="tx1"/>
                          </a:solidFill>
                          <a:latin typeface="Arial"/>
                          <a:ea typeface="MS Gothic"/>
                          <a:cs typeface="Arial"/>
                        </a:defRPr>
                      </a:lvl7pPr>
                      <a:lvl8pPr marL="3200400" algn="l" defTabSz="914400" rtl="0" eaLnBrk="1" latinLnBrk="0" hangingPunct="1">
                        <a:defRPr sz="1800" kern="1200">
                          <a:solidFill>
                            <a:schemeClr val="tx1"/>
                          </a:solidFill>
                          <a:latin typeface="Arial"/>
                          <a:ea typeface="MS Gothic"/>
                          <a:cs typeface="Arial"/>
                        </a:defRPr>
                      </a:lvl8pPr>
                      <a:lvl9pPr marL="3657600" algn="l" defTabSz="914400" rtl="0" eaLnBrk="1" latinLnBrk="0" hangingPunct="1">
                        <a:defRPr sz="1800" kern="1200">
                          <a:solidFill>
                            <a:schemeClr val="tx1"/>
                          </a:solidFill>
                          <a:latin typeface="Arial"/>
                          <a:ea typeface="MS Gothic"/>
                          <a:cs typeface="Arial"/>
                        </a:defRPr>
                      </a:lvl9pPr>
                    </a:lstStyle>
                    <a:p>
                      <a:pPr indent="0" algn="ctr">
                        <a:buNone/>
                      </a:pPr>
                      <a:r>
                        <a:rPr lang="en-US" sz="1000" b="0">
                          <a:latin typeface="Times New Roman" panose="02020603050405020304" pitchFamily="18" charset="0"/>
                          <a:cs typeface="Times New Roman" panose="02020603050405020304" pitchFamily="18" charset="0"/>
                        </a:rPr>
                        <a:t>25Hz</a:t>
                      </a:r>
                      <a:endParaRPr lang="en-US" altLang="en-US" sz="1000" b="0">
                        <a:latin typeface="Times New Roman" panose="02020603050405020304" pitchFamily="18" charset="0"/>
                        <a:ea typeface="Times New Roman" panose="02020603050405020304" pitchFamily="18" charset="0"/>
                        <a:cs typeface="Times New Roman" panose="02020603050405020304" pitchFamily="18" charset="0"/>
                      </a:endParaRPr>
                    </a:p>
                  </a:txBody>
                  <a:tcPr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Gothic"/>
                          <a:cs typeface="Arial"/>
                        </a:defRPr>
                      </a:lvl1pPr>
                      <a:lvl2pPr marL="457200" algn="l" defTabSz="914400" rtl="0" eaLnBrk="1" latinLnBrk="0" hangingPunct="1">
                        <a:defRPr sz="1800" kern="1200">
                          <a:solidFill>
                            <a:schemeClr val="tx1"/>
                          </a:solidFill>
                          <a:latin typeface="Arial"/>
                          <a:ea typeface="MS Gothic"/>
                          <a:cs typeface="Arial"/>
                        </a:defRPr>
                      </a:lvl2pPr>
                      <a:lvl3pPr marL="914400" algn="l" defTabSz="914400" rtl="0" eaLnBrk="1" latinLnBrk="0" hangingPunct="1">
                        <a:defRPr sz="1800" kern="1200">
                          <a:solidFill>
                            <a:schemeClr val="tx1"/>
                          </a:solidFill>
                          <a:latin typeface="Arial"/>
                          <a:ea typeface="MS Gothic"/>
                          <a:cs typeface="Arial"/>
                        </a:defRPr>
                      </a:lvl3pPr>
                      <a:lvl4pPr marL="1371600" algn="l" defTabSz="914400" rtl="0" eaLnBrk="1" latinLnBrk="0" hangingPunct="1">
                        <a:defRPr sz="1800" kern="1200">
                          <a:solidFill>
                            <a:schemeClr val="tx1"/>
                          </a:solidFill>
                          <a:latin typeface="Arial"/>
                          <a:ea typeface="MS Gothic"/>
                          <a:cs typeface="Arial"/>
                        </a:defRPr>
                      </a:lvl4pPr>
                      <a:lvl5pPr marL="1828800" algn="l" defTabSz="914400" rtl="0" eaLnBrk="1" latinLnBrk="0" hangingPunct="1">
                        <a:defRPr sz="1800" kern="1200">
                          <a:solidFill>
                            <a:schemeClr val="tx1"/>
                          </a:solidFill>
                          <a:latin typeface="Arial"/>
                          <a:ea typeface="MS Gothic"/>
                          <a:cs typeface="Arial"/>
                        </a:defRPr>
                      </a:lvl5pPr>
                      <a:lvl6pPr marL="2286000" algn="l" defTabSz="914400" rtl="0" eaLnBrk="1" latinLnBrk="0" hangingPunct="1">
                        <a:defRPr sz="1800" kern="1200">
                          <a:solidFill>
                            <a:schemeClr val="tx1"/>
                          </a:solidFill>
                          <a:latin typeface="Arial"/>
                          <a:ea typeface="MS Gothic"/>
                          <a:cs typeface="Arial"/>
                        </a:defRPr>
                      </a:lvl6pPr>
                      <a:lvl7pPr marL="2743200" algn="l" defTabSz="914400" rtl="0" eaLnBrk="1" latinLnBrk="0" hangingPunct="1">
                        <a:defRPr sz="1800" kern="1200">
                          <a:solidFill>
                            <a:schemeClr val="tx1"/>
                          </a:solidFill>
                          <a:latin typeface="Arial"/>
                          <a:ea typeface="MS Gothic"/>
                          <a:cs typeface="Arial"/>
                        </a:defRPr>
                      </a:lvl7pPr>
                      <a:lvl8pPr marL="3200400" algn="l" defTabSz="914400" rtl="0" eaLnBrk="1" latinLnBrk="0" hangingPunct="1">
                        <a:defRPr sz="1800" kern="1200">
                          <a:solidFill>
                            <a:schemeClr val="tx1"/>
                          </a:solidFill>
                          <a:latin typeface="Arial"/>
                          <a:ea typeface="MS Gothic"/>
                          <a:cs typeface="Arial"/>
                        </a:defRPr>
                      </a:lvl8pPr>
                      <a:lvl9pPr marL="3657600" algn="l" defTabSz="914400" rtl="0" eaLnBrk="1" latinLnBrk="0" hangingPunct="1">
                        <a:defRPr sz="1800" kern="1200">
                          <a:solidFill>
                            <a:schemeClr val="tx1"/>
                          </a:solidFill>
                          <a:latin typeface="Arial"/>
                          <a:ea typeface="MS Gothic"/>
                          <a:cs typeface="Arial"/>
                        </a:defRPr>
                      </a:lvl9pPr>
                    </a:lstStyle>
                    <a:p>
                      <a:pPr indent="0" algn="ctr">
                        <a:buNone/>
                      </a:pPr>
                      <a:r>
                        <a:rPr lang="en-US" sz="1000" b="0">
                          <a:latin typeface="宋体" panose="02010600030101010101" pitchFamily="2" charset="-122"/>
                          <a:ea typeface="宋体" panose="02010600030101010101" pitchFamily="2" charset="-122"/>
                          <a:cs typeface="宋体" panose="02010600030101010101" pitchFamily="2" charset="-122"/>
                        </a:rPr>
                        <a:t>测距精度</a:t>
                      </a:r>
                      <a:r>
                        <a:rPr lang="en-US" sz="1000" b="0">
                          <a:latin typeface="Times New Roman" panose="02020603050405020304" pitchFamily="18" charset="0"/>
                          <a:cs typeface="Times New Roman" panose="02020603050405020304" pitchFamily="18" charset="0"/>
                        </a:rPr>
                        <a:t>: </a:t>
                      </a:r>
                      <a:r>
                        <a:rPr lang="en-US" sz="1000" b="0">
                          <a:latin typeface="宋体" panose="02010600030101010101" pitchFamily="2" charset="-122"/>
                          <a:ea typeface="宋体" panose="02010600030101010101" pitchFamily="2" charset="-122"/>
                          <a:cs typeface="宋体" panose="02010600030101010101" pitchFamily="2" charset="-122"/>
                        </a:rPr>
                        <a:t>&lt;</a:t>
                      </a:r>
                      <a:r>
                        <a:rPr lang="en-US" sz="1000" b="0">
                          <a:latin typeface="Times New Roman" panose="02020603050405020304" pitchFamily="18" charset="0"/>
                          <a:cs typeface="Times New Roman" panose="02020603050405020304" pitchFamily="18" charset="0"/>
                        </a:rPr>
                        <a:t>0.1</a:t>
                      </a:r>
                      <a:r>
                        <a:rPr lang="en-US" sz="1000" b="0">
                          <a:latin typeface="宋体" panose="02010600030101010101" pitchFamily="2" charset="-122"/>
                          <a:ea typeface="宋体" panose="02010600030101010101" pitchFamily="2" charset="-122"/>
                          <a:cs typeface="宋体" panose="02010600030101010101" pitchFamily="2" charset="-122"/>
                        </a:rPr>
                        <a:t>m</a:t>
                      </a:r>
                    </a:p>
                    <a:p>
                      <a:pPr indent="0" algn="ctr">
                        <a:buNone/>
                      </a:pPr>
                      <a:r>
                        <a:rPr lang="en-US" sz="1000" b="0">
                          <a:latin typeface="宋体" panose="02010600030101010101" pitchFamily="2" charset="-122"/>
                          <a:ea typeface="宋体" panose="02010600030101010101" pitchFamily="2" charset="-122"/>
                          <a:cs typeface="宋体" panose="02010600030101010101" pitchFamily="2" charset="-122"/>
                        </a:rPr>
                        <a:t>最大测距</a:t>
                      </a:r>
                      <a:r>
                        <a:rPr lang="en-US" sz="1000" b="0">
                          <a:latin typeface="Times New Roman" panose="02020603050405020304" pitchFamily="18" charset="0"/>
                          <a:cs typeface="Times New Roman" panose="02020603050405020304" pitchFamily="18" charset="0"/>
                        </a:rPr>
                        <a:t>: 500m</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3840">
                <a:tc>
                  <a:txBody>
                    <a:bodyPr/>
                    <a:lstStyle>
                      <a:lvl1pPr marL="0" algn="l" defTabSz="914400" rtl="0" eaLnBrk="1" latinLnBrk="0" hangingPunct="1">
                        <a:defRPr sz="1800" kern="1200">
                          <a:solidFill>
                            <a:schemeClr val="tx1"/>
                          </a:solidFill>
                          <a:latin typeface="Arial"/>
                          <a:ea typeface="MS Gothic"/>
                          <a:cs typeface="Arial"/>
                        </a:defRPr>
                      </a:lvl1pPr>
                      <a:lvl2pPr marL="457200" algn="l" defTabSz="914400" rtl="0" eaLnBrk="1" latinLnBrk="0" hangingPunct="1">
                        <a:defRPr sz="1800" kern="1200">
                          <a:solidFill>
                            <a:schemeClr val="tx1"/>
                          </a:solidFill>
                          <a:latin typeface="Arial"/>
                          <a:ea typeface="MS Gothic"/>
                          <a:cs typeface="Arial"/>
                        </a:defRPr>
                      </a:lvl2pPr>
                      <a:lvl3pPr marL="914400" algn="l" defTabSz="914400" rtl="0" eaLnBrk="1" latinLnBrk="0" hangingPunct="1">
                        <a:defRPr sz="1800" kern="1200">
                          <a:solidFill>
                            <a:schemeClr val="tx1"/>
                          </a:solidFill>
                          <a:latin typeface="Arial"/>
                          <a:ea typeface="MS Gothic"/>
                          <a:cs typeface="Arial"/>
                        </a:defRPr>
                      </a:lvl3pPr>
                      <a:lvl4pPr marL="1371600" algn="l" defTabSz="914400" rtl="0" eaLnBrk="1" latinLnBrk="0" hangingPunct="1">
                        <a:defRPr sz="1800" kern="1200">
                          <a:solidFill>
                            <a:schemeClr val="tx1"/>
                          </a:solidFill>
                          <a:latin typeface="Arial"/>
                          <a:ea typeface="MS Gothic"/>
                          <a:cs typeface="Arial"/>
                        </a:defRPr>
                      </a:lvl4pPr>
                      <a:lvl5pPr marL="1828800" algn="l" defTabSz="914400" rtl="0" eaLnBrk="1" latinLnBrk="0" hangingPunct="1">
                        <a:defRPr sz="1800" kern="1200">
                          <a:solidFill>
                            <a:schemeClr val="tx1"/>
                          </a:solidFill>
                          <a:latin typeface="Arial"/>
                          <a:ea typeface="MS Gothic"/>
                          <a:cs typeface="Arial"/>
                        </a:defRPr>
                      </a:lvl5pPr>
                      <a:lvl6pPr marL="2286000" algn="l" defTabSz="914400" rtl="0" eaLnBrk="1" latinLnBrk="0" hangingPunct="1">
                        <a:defRPr sz="1800" kern="1200">
                          <a:solidFill>
                            <a:schemeClr val="tx1"/>
                          </a:solidFill>
                          <a:latin typeface="Arial"/>
                          <a:ea typeface="MS Gothic"/>
                          <a:cs typeface="Arial"/>
                        </a:defRPr>
                      </a:lvl6pPr>
                      <a:lvl7pPr marL="2743200" algn="l" defTabSz="914400" rtl="0" eaLnBrk="1" latinLnBrk="0" hangingPunct="1">
                        <a:defRPr sz="1800" kern="1200">
                          <a:solidFill>
                            <a:schemeClr val="tx1"/>
                          </a:solidFill>
                          <a:latin typeface="Arial"/>
                          <a:ea typeface="MS Gothic"/>
                          <a:cs typeface="Arial"/>
                        </a:defRPr>
                      </a:lvl7pPr>
                      <a:lvl8pPr marL="3200400" algn="l" defTabSz="914400" rtl="0" eaLnBrk="1" latinLnBrk="0" hangingPunct="1">
                        <a:defRPr sz="1800" kern="1200">
                          <a:solidFill>
                            <a:schemeClr val="tx1"/>
                          </a:solidFill>
                          <a:latin typeface="Arial"/>
                          <a:ea typeface="MS Gothic"/>
                          <a:cs typeface="Arial"/>
                        </a:defRPr>
                      </a:lvl8pPr>
                      <a:lvl9pPr marL="3657600" algn="l" defTabSz="914400" rtl="0" eaLnBrk="1" latinLnBrk="0" hangingPunct="1">
                        <a:defRPr sz="1800" kern="1200">
                          <a:solidFill>
                            <a:schemeClr val="tx1"/>
                          </a:solidFill>
                          <a:latin typeface="Arial"/>
                          <a:ea typeface="MS Gothic"/>
                          <a:cs typeface="Arial"/>
                        </a:defRPr>
                      </a:lvl9pPr>
                    </a:lstStyle>
                    <a:p>
                      <a:pPr indent="0" algn="ctr">
                        <a:buNone/>
                      </a:pPr>
                      <a:r>
                        <a:rPr lang="en-US" sz="1000" b="1">
                          <a:latin typeface="Times New Roman" panose="02020603050405020304" pitchFamily="18" charset="0"/>
                          <a:cs typeface="Times New Roman" panose="02020603050405020304" pitchFamily="18" charset="0"/>
                        </a:rPr>
                        <a:t>GNSS</a:t>
                      </a:r>
                      <a:endParaRPr lang="en-US" altLang="en-US" sz="1000" b="1">
                        <a:latin typeface="Times New Roman" panose="02020603050405020304" pitchFamily="18" charset="0"/>
                        <a:ea typeface="Times New Roman" panose="02020603050405020304" pitchFamily="18" charset="0"/>
                        <a:cs typeface="Times New Roman" panose="02020603050405020304" pitchFamily="18" charset="0"/>
                      </a:endParaRPr>
                    </a:p>
                  </a:txBody>
                  <a:tcPr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Gothic"/>
                          <a:cs typeface="Arial"/>
                        </a:defRPr>
                      </a:lvl1pPr>
                      <a:lvl2pPr marL="457200" algn="l" defTabSz="914400" rtl="0" eaLnBrk="1" latinLnBrk="0" hangingPunct="1">
                        <a:defRPr sz="1800" kern="1200">
                          <a:solidFill>
                            <a:schemeClr val="tx1"/>
                          </a:solidFill>
                          <a:latin typeface="Arial"/>
                          <a:ea typeface="MS Gothic"/>
                          <a:cs typeface="Arial"/>
                        </a:defRPr>
                      </a:lvl2pPr>
                      <a:lvl3pPr marL="914400" algn="l" defTabSz="914400" rtl="0" eaLnBrk="1" latinLnBrk="0" hangingPunct="1">
                        <a:defRPr sz="1800" kern="1200">
                          <a:solidFill>
                            <a:schemeClr val="tx1"/>
                          </a:solidFill>
                          <a:latin typeface="Arial"/>
                          <a:ea typeface="MS Gothic"/>
                          <a:cs typeface="Arial"/>
                        </a:defRPr>
                      </a:lvl3pPr>
                      <a:lvl4pPr marL="1371600" algn="l" defTabSz="914400" rtl="0" eaLnBrk="1" latinLnBrk="0" hangingPunct="1">
                        <a:defRPr sz="1800" kern="1200">
                          <a:solidFill>
                            <a:schemeClr val="tx1"/>
                          </a:solidFill>
                          <a:latin typeface="Arial"/>
                          <a:ea typeface="MS Gothic"/>
                          <a:cs typeface="Arial"/>
                        </a:defRPr>
                      </a:lvl4pPr>
                      <a:lvl5pPr marL="1828800" algn="l" defTabSz="914400" rtl="0" eaLnBrk="1" latinLnBrk="0" hangingPunct="1">
                        <a:defRPr sz="1800" kern="1200">
                          <a:solidFill>
                            <a:schemeClr val="tx1"/>
                          </a:solidFill>
                          <a:latin typeface="Arial"/>
                          <a:ea typeface="MS Gothic"/>
                          <a:cs typeface="Arial"/>
                        </a:defRPr>
                      </a:lvl5pPr>
                      <a:lvl6pPr marL="2286000" algn="l" defTabSz="914400" rtl="0" eaLnBrk="1" latinLnBrk="0" hangingPunct="1">
                        <a:defRPr sz="1800" kern="1200">
                          <a:solidFill>
                            <a:schemeClr val="tx1"/>
                          </a:solidFill>
                          <a:latin typeface="Arial"/>
                          <a:ea typeface="MS Gothic"/>
                          <a:cs typeface="Arial"/>
                        </a:defRPr>
                      </a:lvl6pPr>
                      <a:lvl7pPr marL="2743200" algn="l" defTabSz="914400" rtl="0" eaLnBrk="1" latinLnBrk="0" hangingPunct="1">
                        <a:defRPr sz="1800" kern="1200">
                          <a:solidFill>
                            <a:schemeClr val="tx1"/>
                          </a:solidFill>
                          <a:latin typeface="Arial"/>
                          <a:ea typeface="MS Gothic"/>
                          <a:cs typeface="Arial"/>
                        </a:defRPr>
                      </a:lvl7pPr>
                      <a:lvl8pPr marL="3200400" algn="l" defTabSz="914400" rtl="0" eaLnBrk="1" latinLnBrk="0" hangingPunct="1">
                        <a:defRPr sz="1800" kern="1200">
                          <a:solidFill>
                            <a:schemeClr val="tx1"/>
                          </a:solidFill>
                          <a:latin typeface="Arial"/>
                          <a:ea typeface="MS Gothic"/>
                          <a:cs typeface="Arial"/>
                        </a:defRPr>
                      </a:lvl8pPr>
                      <a:lvl9pPr marL="3657600" algn="l" defTabSz="914400" rtl="0" eaLnBrk="1" latinLnBrk="0" hangingPunct="1">
                        <a:defRPr sz="1800" kern="1200">
                          <a:solidFill>
                            <a:schemeClr val="tx1"/>
                          </a:solidFill>
                          <a:latin typeface="Arial"/>
                          <a:ea typeface="MS Gothic"/>
                          <a:cs typeface="Arial"/>
                        </a:defRPr>
                      </a:lvl9pPr>
                    </a:lstStyle>
                    <a:p>
                      <a:pPr indent="0" algn="ctr">
                        <a:buNone/>
                      </a:pPr>
                      <a:r>
                        <a:rPr lang="en-US" sz="1000" b="0">
                          <a:latin typeface="宋体" panose="02010600030101010101" pitchFamily="2" charset="-122"/>
                          <a:ea typeface="宋体" panose="02010600030101010101" pitchFamily="2" charset="-122"/>
                          <a:cs typeface="宋体" panose="02010600030101010101" pitchFamily="2" charset="-122"/>
                        </a:rPr>
                        <a:t>1</a:t>
                      </a:r>
                      <a:r>
                        <a:rPr lang="en-US" sz="1000" b="0">
                          <a:latin typeface="Times New Roman" panose="02020603050405020304" pitchFamily="18" charset="0"/>
                          <a:cs typeface="Times New Roman" panose="02020603050405020304" pitchFamily="18" charset="0"/>
                        </a:rPr>
                        <a:t>0Hz</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Gothic"/>
                          <a:cs typeface="Arial"/>
                        </a:defRPr>
                      </a:lvl1pPr>
                      <a:lvl2pPr marL="457200" algn="l" defTabSz="914400" rtl="0" eaLnBrk="1" latinLnBrk="0" hangingPunct="1">
                        <a:defRPr sz="1800" kern="1200">
                          <a:solidFill>
                            <a:schemeClr val="tx1"/>
                          </a:solidFill>
                          <a:latin typeface="Arial"/>
                          <a:ea typeface="MS Gothic"/>
                          <a:cs typeface="Arial"/>
                        </a:defRPr>
                      </a:lvl2pPr>
                      <a:lvl3pPr marL="914400" algn="l" defTabSz="914400" rtl="0" eaLnBrk="1" latinLnBrk="0" hangingPunct="1">
                        <a:defRPr sz="1800" kern="1200">
                          <a:solidFill>
                            <a:schemeClr val="tx1"/>
                          </a:solidFill>
                          <a:latin typeface="Arial"/>
                          <a:ea typeface="MS Gothic"/>
                          <a:cs typeface="Arial"/>
                        </a:defRPr>
                      </a:lvl3pPr>
                      <a:lvl4pPr marL="1371600" algn="l" defTabSz="914400" rtl="0" eaLnBrk="1" latinLnBrk="0" hangingPunct="1">
                        <a:defRPr sz="1800" kern="1200">
                          <a:solidFill>
                            <a:schemeClr val="tx1"/>
                          </a:solidFill>
                          <a:latin typeface="Arial"/>
                          <a:ea typeface="MS Gothic"/>
                          <a:cs typeface="Arial"/>
                        </a:defRPr>
                      </a:lvl4pPr>
                      <a:lvl5pPr marL="1828800" algn="l" defTabSz="914400" rtl="0" eaLnBrk="1" latinLnBrk="0" hangingPunct="1">
                        <a:defRPr sz="1800" kern="1200">
                          <a:solidFill>
                            <a:schemeClr val="tx1"/>
                          </a:solidFill>
                          <a:latin typeface="Arial"/>
                          <a:ea typeface="MS Gothic"/>
                          <a:cs typeface="Arial"/>
                        </a:defRPr>
                      </a:lvl5pPr>
                      <a:lvl6pPr marL="2286000" algn="l" defTabSz="914400" rtl="0" eaLnBrk="1" latinLnBrk="0" hangingPunct="1">
                        <a:defRPr sz="1800" kern="1200">
                          <a:solidFill>
                            <a:schemeClr val="tx1"/>
                          </a:solidFill>
                          <a:latin typeface="Arial"/>
                          <a:ea typeface="MS Gothic"/>
                          <a:cs typeface="Arial"/>
                        </a:defRPr>
                      </a:lvl6pPr>
                      <a:lvl7pPr marL="2743200" algn="l" defTabSz="914400" rtl="0" eaLnBrk="1" latinLnBrk="0" hangingPunct="1">
                        <a:defRPr sz="1800" kern="1200">
                          <a:solidFill>
                            <a:schemeClr val="tx1"/>
                          </a:solidFill>
                          <a:latin typeface="Arial"/>
                          <a:ea typeface="MS Gothic"/>
                          <a:cs typeface="Arial"/>
                        </a:defRPr>
                      </a:lvl7pPr>
                      <a:lvl8pPr marL="3200400" algn="l" defTabSz="914400" rtl="0" eaLnBrk="1" latinLnBrk="0" hangingPunct="1">
                        <a:defRPr sz="1800" kern="1200">
                          <a:solidFill>
                            <a:schemeClr val="tx1"/>
                          </a:solidFill>
                          <a:latin typeface="Arial"/>
                          <a:ea typeface="MS Gothic"/>
                          <a:cs typeface="Arial"/>
                        </a:defRPr>
                      </a:lvl8pPr>
                      <a:lvl9pPr marL="3657600" algn="l" defTabSz="914400" rtl="0" eaLnBrk="1" latinLnBrk="0" hangingPunct="1">
                        <a:defRPr sz="1800" kern="1200">
                          <a:solidFill>
                            <a:schemeClr val="tx1"/>
                          </a:solidFill>
                          <a:latin typeface="Arial"/>
                          <a:ea typeface="MS Gothic"/>
                          <a:cs typeface="Arial"/>
                        </a:defRPr>
                      </a:lvl9pPr>
                    </a:lstStyle>
                    <a:p>
                      <a:pPr indent="0" algn="ctr">
                        <a:buNone/>
                      </a:pPr>
                      <a:r>
                        <a:rPr lang="en-US" sz="1000" b="0">
                          <a:latin typeface="宋体" panose="02010600030101010101" pitchFamily="2" charset="-122"/>
                          <a:ea typeface="宋体" panose="02010600030101010101" pitchFamily="2" charset="-122"/>
                          <a:cs typeface="宋体" panose="02010600030101010101" pitchFamily="2" charset="-122"/>
                        </a:rPr>
                        <a:t>定位精度：&lt;1</a:t>
                      </a:r>
                      <a:r>
                        <a:rPr lang="en-US" sz="1000" b="0">
                          <a:latin typeface="Times New Roman" panose="02020603050405020304" pitchFamily="18" charset="0"/>
                          <a:cs typeface="Times New Roman" panose="02020603050405020304" pitchFamily="18" charset="0"/>
                        </a:rPr>
                        <a:t>.5</a:t>
                      </a:r>
                      <a:r>
                        <a:rPr lang="en-US" sz="1000" b="0">
                          <a:latin typeface="宋体" panose="02010600030101010101" pitchFamily="2" charset="-122"/>
                          <a:ea typeface="宋体" panose="02010600030101010101" pitchFamily="2" charset="-122"/>
                          <a:cs typeface="宋体" panose="02010600030101010101" pitchFamily="2" charset="-122"/>
                        </a:rPr>
                        <a:t>m</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9" name="图片 35" descr="UWB时间同步">
            <a:extLst>
              <a:ext uri="{FF2B5EF4-FFF2-40B4-BE49-F238E27FC236}">
                <a16:creationId xmlns:a16="http://schemas.microsoft.com/office/drawing/2014/main" id="{14FA5D26-8E79-299E-47AC-191D50904493}"/>
              </a:ext>
            </a:extLst>
          </p:cNvPr>
          <p:cNvPicPr>
            <a:picLocks noChangeAspect="1"/>
          </p:cNvPicPr>
          <p:nvPr/>
        </p:nvPicPr>
        <p:blipFill>
          <a:blip r:embed="rId6"/>
          <a:stretch>
            <a:fillRect/>
          </a:stretch>
        </p:blipFill>
        <p:spPr>
          <a:xfrm>
            <a:off x="2606040" y="3706495"/>
            <a:ext cx="2965450" cy="2593340"/>
          </a:xfrm>
          <a:prstGeom prst="rect">
            <a:avLst/>
          </a:prstGeom>
        </p:spPr>
      </p:pic>
      <p:sp>
        <p:nvSpPr>
          <p:cNvPr id="10" name="文本框 9">
            <a:extLst>
              <a:ext uri="{FF2B5EF4-FFF2-40B4-BE49-F238E27FC236}">
                <a16:creationId xmlns:a16="http://schemas.microsoft.com/office/drawing/2014/main" id="{C2DE8C44-DBE7-B988-8F25-6118030797B4}"/>
              </a:ext>
            </a:extLst>
          </p:cNvPr>
          <p:cNvSpPr txBox="1"/>
          <p:nvPr/>
        </p:nvSpPr>
        <p:spPr>
          <a:xfrm>
            <a:off x="1330960" y="3343275"/>
            <a:ext cx="1918335" cy="368300"/>
          </a:xfrm>
          <a:prstGeom prst="rect">
            <a:avLst/>
          </a:prstGeom>
          <a:noFill/>
          <a:ln w="9525">
            <a:noFill/>
          </a:ln>
        </p:spPr>
        <p:txBody>
          <a:bodyPr wrap="square">
            <a:spAutoFit/>
          </a:bodyPr>
          <a:lstStyle/>
          <a:p>
            <a:pPr indent="127000" algn="ctr" fontAlgn="base">
              <a:spcBef>
                <a:spcPct val="0"/>
              </a:spcBef>
              <a:spcAft>
                <a:spcPct val="0"/>
              </a:spcAft>
            </a:pPr>
            <a:r>
              <a:rPr lang="zh-CN" altLang="en-US">
                <a:solidFill>
                  <a:srgbClr val="000000"/>
                </a:solidFill>
                <a:ea typeface="宋体" panose="02010600030101010101" pitchFamily="2" charset="-122"/>
                <a:cs typeface="Arial"/>
              </a:rPr>
              <a:t>实验</a:t>
            </a:r>
            <a:r>
              <a:rPr lang="zh-CN" altLang="en-US">
                <a:solidFill>
                  <a:srgbClr val="000000"/>
                </a:solidFill>
                <a:latin typeface="Times New Roman" panose="02020603050405020304" pitchFamily="18" charset="0"/>
                <a:ea typeface="宋体" panose="02010600030101010101" pitchFamily="2" charset="-122"/>
                <a:cs typeface="Arial"/>
              </a:rPr>
              <a:t>场地卫星图</a:t>
            </a:r>
            <a:endParaRPr lang="en-US" altLang="zh-CN">
              <a:solidFill>
                <a:srgbClr val="000000"/>
              </a:solidFill>
              <a:latin typeface="Times New Roman" panose="02020603050405020304" pitchFamily="18" charset="0"/>
              <a:ea typeface="宋体" panose="02010600030101010101" pitchFamily="2" charset="-122"/>
              <a:cs typeface="Arial"/>
            </a:endParaRPr>
          </a:p>
        </p:txBody>
      </p:sp>
      <p:sp>
        <p:nvSpPr>
          <p:cNvPr id="11" name="文本框 10">
            <a:extLst>
              <a:ext uri="{FF2B5EF4-FFF2-40B4-BE49-F238E27FC236}">
                <a16:creationId xmlns:a16="http://schemas.microsoft.com/office/drawing/2014/main" id="{080F2F5A-39BF-6A4D-A9CB-FD591D436D3B}"/>
              </a:ext>
            </a:extLst>
          </p:cNvPr>
          <p:cNvSpPr txBox="1"/>
          <p:nvPr/>
        </p:nvSpPr>
        <p:spPr>
          <a:xfrm>
            <a:off x="4344035" y="3343275"/>
            <a:ext cx="2743835" cy="368300"/>
          </a:xfrm>
          <a:prstGeom prst="rect">
            <a:avLst/>
          </a:prstGeom>
          <a:noFill/>
          <a:ln w="9525">
            <a:noFill/>
          </a:ln>
        </p:spPr>
        <p:txBody>
          <a:bodyPr wrap="square">
            <a:spAutoFit/>
          </a:bodyPr>
          <a:lstStyle/>
          <a:p>
            <a:pPr indent="127000" algn="ctr" fontAlgn="base">
              <a:spcBef>
                <a:spcPct val="0"/>
              </a:spcBef>
              <a:spcAft>
                <a:spcPct val="0"/>
              </a:spcAft>
            </a:pPr>
            <a:r>
              <a:rPr lang="zh-CN" altLang="en-US">
                <a:solidFill>
                  <a:srgbClr val="000000"/>
                </a:solidFill>
                <a:latin typeface="Times New Roman" panose="02020603050405020304" pitchFamily="18" charset="0"/>
                <a:ea typeface="宋体" panose="02010600030101010101" pitchFamily="2" charset="-122"/>
                <a:cs typeface="Arial"/>
              </a:rPr>
              <a:t>实验使用的三架无人机</a:t>
            </a:r>
          </a:p>
        </p:txBody>
      </p:sp>
      <p:sp>
        <p:nvSpPr>
          <p:cNvPr id="12" name="文本框 11">
            <a:extLst>
              <a:ext uri="{FF2B5EF4-FFF2-40B4-BE49-F238E27FC236}">
                <a16:creationId xmlns:a16="http://schemas.microsoft.com/office/drawing/2014/main" id="{A8D254F1-C3CA-382B-E26D-49BD0EB94537}"/>
              </a:ext>
            </a:extLst>
          </p:cNvPr>
          <p:cNvSpPr txBox="1"/>
          <p:nvPr/>
        </p:nvSpPr>
        <p:spPr>
          <a:xfrm>
            <a:off x="7491095" y="3369310"/>
            <a:ext cx="3444875" cy="368300"/>
          </a:xfrm>
          <a:prstGeom prst="rect">
            <a:avLst/>
          </a:prstGeom>
          <a:noFill/>
          <a:ln w="9525">
            <a:noFill/>
          </a:ln>
        </p:spPr>
        <p:txBody>
          <a:bodyPr wrap="square">
            <a:spAutoFit/>
          </a:bodyPr>
          <a:lstStyle/>
          <a:p>
            <a:pPr indent="127000" algn="ctr" fontAlgn="base">
              <a:spcBef>
                <a:spcPct val="0"/>
              </a:spcBef>
              <a:spcAft>
                <a:spcPct val="0"/>
              </a:spcAft>
            </a:pPr>
            <a:r>
              <a:rPr lang="zh-CN" altLang="en-US">
                <a:solidFill>
                  <a:srgbClr val="000000"/>
                </a:solidFill>
                <a:latin typeface="Times New Roman" panose="02020603050405020304" pitchFamily="18" charset="0"/>
                <a:ea typeface="宋体" panose="02010600030101010101" pitchFamily="2" charset="-122"/>
                <a:cs typeface="Arial"/>
              </a:rPr>
              <a:t>无人机设备安装示意图</a:t>
            </a:r>
          </a:p>
        </p:txBody>
      </p:sp>
      <p:sp>
        <p:nvSpPr>
          <p:cNvPr id="13" name="文本框 12">
            <a:extLst>
              <a:ext uri="{FF2B5EF4-FFF2-40B4-BE49-F238E27FC236}">
                <a16:creationId xmlns:a16="http://schemas.microsoft.com/office/drawing/2014/main" id="{B4F93F04-50F3-69D1-A80A-9DDB74E55C4A}"/>
              </a:ext>
            </a:extLst>
          </p:cNvPr>
          <p:cNvSpPr txBox="1"/>
          <p:nvPr/>
        </p:nvSpPr>
        <p:spPr>
          <a:xfrm>
            <a:off x="1548765" y="6196965"/>
            <a:ext cx="5080000" cy="368300"/>
          </a:xfrm>
          <a:prstGeom prst="rect">
            <a:avLst/>
          </a:prstGeom>
          <a:noFill/>
          <a:ln w="9525">
            <a:noFill/>
          </a:ln>
        </p:spPr>
        <p:txBody>
          <a:bodyPr>
            <a:spAutoFit/>
          </a:bodyPr>
          <a:lstStyle/>
          <a:p>
            <a:pPr indent="127000" algn="ctr" fontAlgn="base">
              <a:spcBef>
                <a:spcPct val="0"/>
              </a:spcBef>
              <a:spcAft>
                <a:spcPct val="0"/>
              </a:spcAft>
            </a:pPr>
            <a:r>
              <a:rPr lang="zh-CN" altLang="en-US">
                <a:solidFill>
                  <a:srgbClr val="000000"/>
                </a:solidFill>
                <a:ea typeface="宋体" panose="02010600030101010101" pitchFamily="2" charset="-122"/>
                <a:cs typeface="Arial"/>
              </a:rPr>
              <a:t>无人机间时间同步机制</a:t>
            </a:r>
          </a:p>
        </p:txBody>
      </p:sp>
      <p:sp>
        <p:nvSpPr>
          <p:cNvPr id="14" name="文本框 13">
            <a:extLst>
              <a:ext uri="{FF2B5EF4-FFF2-40B4-BE49-F238E27FC236}">
                <a16:creationId xmlns:a16="http://schemas.microsoft.com/office/drawing/2014/main" id="{2491C221-64DF-5502-3203-8D6A19943612}"/>
              </a:ext>
            </a:extLst>
          </p:cNvPr>
          <p:cNvSpPr txBox="1"/>
          <p:nvPr/>
        </p:nvSpPr>
        <p:spPr>
          <a:xfrm>
            <a:off x="6756400" y="3849370"/>
            <a:ext cx="5080000" cy="368300"/>
          </a:xfrm>
          <a:prstGeom prst="rect">
            <a:avLst/>
          </a:prstGeom>
          <a:noFill/>
          <a:ln w="9525">
            <a:noFill/>
          </a:ln>
        </p:spPr>
        <p:txBody>
          <a:bodyPr>
            <a:spAutoFit/>
          </a:bodyPr>
          <a:lstStyle/>
          <a:p>
            <a:pPr indent="127000" algn="ctr" fontAlgn="base">
              <a:spcBef>
                <a:spcPct val="0"/>
              </a:spcBef>
              <a:spcAft>
                <a:spcPct val="0"/>
              </a:spcAft>
            </a:pPr>
            <a:r>
              <a:rPr lang="zh-CN" altLang="en-US">
                <a:solidFill>
                  <a:srgbClr val="000000"/>
                </a:solidFill>
                <a:latin typeface="Times New Roman" panose="02020603050405020304" pitchFamily="18" charset="0"/>
                <a:ea typeface="宋体" panose="02010600030101010101" pitchFamily="2" charset="-122"/>
                <a:cs typeface="Arial"/>
              </a:rPr>
              <a:t>无人机载传感器参数表</a:t>
            </a:r>
          </a:p>
        </p:txBody>
      </p:sp>
    </p:spTree>
    <p:extLst>
      <p:ext uri="{BB962C8B-B14F-4D97-AF65-F5344CB8AC3E}">
        <p14:creationId xmlns:p14="http://schemas.microsoft.com/office/powerpoint/2010/main" val="23734417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2DDE99F-8471-5154-B93C-58A8406D03D4}"/>
              </a:ext>
            </a:extLst>
          </p:cNvPr>
          <p:cNvSpPr>
            <a:spLocks noChangeArrowheads="1"/>
          </p:cNvSpPr>
          <p:nvPr/>
        </p:nvSpPr>
        <p:spPr bwMode="auto">
          <a:xfrm>
            <a:off x="3407228" y="2132013"/>
            <a:ext cx="3098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fontAlgn="base">
              <a:spcBef>
                <a:spcPct val="0"/>
              </a:spcBef>
              <a:spcAft>
                <a:spcPct val="0"/>
              </a:spcAft>
            </a:pPr>
            <a:endParaRPr lang="zh-CN" altLang="en-US" sz="2400">
              <a:solidFill>
                <a:srgbClr val="000000"/>
              </a:solidFill>
              <a:latin typeface="微软雅黑" panose="020B0503020204020204" pitchFamily="34" charset="-122"/>
              <a:cs typeface="Arial"/>
            </a:endParaRPr>
          </a:p>
        </p:txBody>
      </p:sp>
      <p:sp>
        <p:nvSpPr>
          <p:cNvPr id="3" name="Rectangle 2">
            <a:extLst>
              <a:ext uri="{FF2B5EF4-FFF2-40B4-BE49-F238E27FC236}">
                <a16:creationId xmlns:a16="http://schemas.microsoft.com/office/drawing/2014/main" id="{BC5C4686-D378-D8DB-5EE2-1E4993178AF9}"/>
              </a:ext>
            </a:extLst>
          </p:cNvPr>
          <p:cNvSpPr>
            <a:spLocks noChangeArrowheads="1"/>
          </p:cNvSpPr>
          <p:nvPr/>
        </p:nvSpPr>
        <p:spPr bwMode="auto">
          <a:xfrm>
            <a:off x="7666711" y="1880895"/>
            <a:ext cx="3098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fontAlgn="base">
              <a:spcBef>
                <a:spcPct val="0"/>
              </a:spcBef>
              <a:spcAft>
                <a:spcPct val="0"/>
              </a:spcAft>
            </a:pPr>
            <a:endParaRPr lang="zh-CN" altLang="en-US" sz="2400">
              <a:solidFill>
                <a:srgbClr val="000000"/>
              </a:solidFill>
              <a:latin typeface="微软雅黑" panose="020B0503020204020204" pitchFamily="34" charset="-122"/>
              <a:cs typeface="Arial"/>
            </a:endParaRPr>
          </a:p>
        </p:txBody>
      </p:sp>
      <p:sp>
        <p:nvSpPr>
          <p:cNvPr id="4" name="Rectangle 2">
            <a:extLst>
              <a:ext uri="{FF2B5EF4-FFF2-40B4-BE49-F238E27FC236}">
                <a16:creationId xmlns:a16="http://schemas.microsoft.com/office/drawing/2014/main" id="{21F6E855-22F4-2F79-1CE1-326145AADA10}"/>
              </a:ext>
            </a:extLst>
          </p:cNvPr>
          <p:cNvSpPr>
            <a:spLocks noChangeArrowheads="1"/>
          </p:cNvSpPr>
          <p:nvPr/>
        </p:nvSpPr>
        <p:spPr bwMode="auto">
          <a:xfrm>
            <a:off x="7819111" y="2033295"/>
            <a:ext cx="3098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fontAlgn="base">
              <a:spcBef>
                <a:spcPct val="0"/>
              </a:spcBef>
              <a:spcAft>
                <a:spcPct val="0"/>
              </a:spcAft>
            </a:pPr>
            <a:endParaRPr lang="zh-CN" altLang="en-US" sz="2400">
              <a:solidFill>
                <a:srgbClr val="000000"/>
              </a:solidFill>
              <a:latin typeface="微软雅黑" panose="020B0503020204020204" pitchFamily="34" charset="-122"/>
              <a:cs typeface="Arial"/>
            </a:endParaRPr>
          </a:p>
        </p:txBody>
      </p:sp>
      <p:sp>
        <p:nvSpPr>
          <p:cNvPr id="5" name="文本框 4">
            <a:extLst>
              <a:ext uri="{FF2B5EF4-FFF2-40B4-BE49-F238E27FC236}">
                <a16:creationId xmlns:a16="http://schemas.microsoft.com/office/drawing/2014/main" id="{92E019D0-8432-F433-6E68-2E557C7E2E48}"/>
              </a:ext>
            </a:extLst>
          </p:cNvPr>
          <p:cNvSpPr txBox="1"/>
          <p:nvPr/>
        </p:nvSpPr>
        <p:spPr>
          <a:xfrm>
            <a:off x="550545" y="1087120"/>
            <a:ext cx="5080000" cy="275590"/>
          </a:xfrm>
          <a:prstGeom prst="rect">
            <a:avLst/>
          </a:prstGeom>
          <a:noFill/>
          <a:ln w="9525">
            <a:noFill/>
          </a:ln>
        </p:spPr>
        <p:txBody>
          <a:bodyPr>
            <a:spAutoFit/>
          </a:bodyPr>
          <a:lstStyle/>
          <a:p>
            <a:pPr indent="127000" fontAlgn="base">
              <a:spcBef>
                <a:spcPct val="0"/>
              </a:spcBef>
              <a:spcAft>
                <a:spcPct val="0"/>
              </a:spcAft>
            </a:pPr>
            <a:r>
              <a:rPr lang="zh-CN" altLang="en-US" sz="1200">
                <a:solidFill>
                  <a:srgbClr val="000000"/>
                </a:solidFill>
                <a:latin typeface="Times New Roman" panose="02020603050405020304" pitchFamily="18" charset="0"/>
                <a:ea typeface="宋体" panose="02010600030101010101" pitchFamily="2" charset="-122"/>
                <a:cs typeface="Arial"/>
              </a:rPr>
              <a:t>实验一</a:t>
            </a:r>
            <a:endParaRPr lang="zh-CN" altLang="en-US" sz="2400">
              <a:solidFill>
                <a:srgbClr val="000000"/>
              </a:solidFill>
              <a:ea typeface="MS Gothic" panose="020B0609070205080204" pitchFamily="49" charset="-128"/>
              <a:cs typeface="Arial"/>
            </a:endParaRPr>
          </a:p>
        </p:txBody>
      </p:sp>
      <p:pic>
        <p:nvPicPr>
          <p:cNvPr id="6" name="图片 63" descr="轨迹图">
            <a:extLst>
              <a:ext uri="{FF2B5EF4-FFF2-40B4-BE49-F238E27FC236}">
                <a16:creationId xmlns:a16="http://schemas.microsoft.com/office/drawing/2014/main" id="{0BC24784-7D06-F423-3F97-9A608FB456D7}"/>
              </a:ext>
            </a:extLst>
          </p:cNvPr>
          <p:cNvPicPr>
            <a:picLocks noChangeAspect="1"/>
          </p:cNvPicPr>
          <p:nvPr/>
        </p:nvPicPr>
        <p:blipFill>
          <a:blip r:embed="rId3"/>
          <a:stretch>
            <a:fillRect/>
          </a:stretch>
        </p:blipFill>
        <p:spPr>
          <a:xfrm>
            <a:off x="149860" y="1123950"/>
            <a:ext cx="2676525" cy="2035175"/>
          </a:xfrm>
          <a:prstGeom prst="rect">
            <a:avLst/>
          </a:prstGeom>
        </p:spPr>
      </p:pic>
      <p:pic>
        <p:nvPicPr>
          <p:cNvPr id="7" name="Picture 3" descr="image_007023">
            <a:extLst>
              <a:ext uri="{FF2B5EF4-FFF2-40B4-BE49-F238E27FC236}">
                <a16:creationId xmlns:a16="http://schemas.microsoft.com/office/drawing/2014/main" id="{EFDDB167-5492-7A14-951B-AD09FB6B2937}"/>
              </a:ext>
            </a:extLst>
          </p:cNvPr>
          <p:cNvPicPr>
            <a:picLocks noChangeAspect="1"/>
          </p:cNvPicPr>
          <p:nvPr/>
        </p:nvPicPr>
        <p:blipFill>
          <a:blip r:embed="rId4"/>
          <a:stretch>
            <a:fillRect/>
          </a:stretch>
        </p:blipFill>
        <p:spPr>
          <a:xfrm>
            <a:off x="2979420" y="1172845"/>
            <a:ext cx="2475230" cy="1979930"/>
          </a:xfrm>
          <a:prstGeom prst="rect">
            <a:avLst/>
          </a:prstGeom>
        </p:spPr>
      </p:pic>
      <p:pic>
        <p:nvPicPr>
          <p:cNvPr id="8" name="图片 5">
            <a:extLst>
              <a:ext uri="{FF2B5EF4-FFF2-40B4-BE49-F238E27FC236}">
                <a16:creationId xmlns:a16="http://schemas.microsoft.com/office/drawing/2014/main" id="{26D8F312-5B63-3BAE-05C7-AE62D7C328AB}"/>
              </a:ext>
            </a:extLst>
          </p:cNvPr>
          <p:cNvPicPr>
            <a:picLocks noChangeAspect="1"/>
          </p:cNvPicPr>
          <p:nvPr/>
        </p:nvPicPr>
        <p:blipFill>
          <a:blip r:embed="rId5"/>
          <a:stretch>
            <a:fillRect/>
          </a:stretch>
        </p:blipFill>
        <p:spPr>
          <a:xfrm>
            <a:off x="453708" y="3293745"/>
            <a:ext cx="4319905" cy="3241040"/>
          </a:xfrm>
          <a:prstGeom prst="rect">
            <a:avLst/>
          </a:prstGeom>
          <a:noFill/>
          <a:ln>
            <a:noFill/>
          </a:ln>
        </p:spPr>
      </p:pic>
      <p:pic>
        <p:nvPicPr>
          <p:cNvPr id="9" name="图片 70">
            <a:extLst>
              <a:ext uri="{FF2B5EF4-FFF2-40B4-BE49-F238E27FC236}">
                <a16:creationId xmlns:a16="http://schemas.microsoft.com/office/drawing/2014/main" id="{0119DBBD-1FB9-768A-66C8-5B8ADF89B59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20223" y="3293745"/>
            <a:ext cx="4319905" cy="3239770"/>
          </a:xfrm>
          <a:prstGeom prst="rect">
            <a:avLst/>
          </a:prstGeom>
        </p:spPr>
      </p:pic>
      <p:graphicFrame>
        <p:nvGraphicFramePr>
          <p:cNvPr id="10" name="表格 9">
            <a:extLst>
              <a:ext uri="{FF2B5EF4-FFF2-40B4-BE49-F238E27FC236}">
                <a16:creationId xmlns:a16="http://schemas.microsoft.com/office/drawing/2014/main" id="{3208EFC0-8884-44FC-3E40-387377E4858A}"/>
              </a:ext>
            </a:extLst>
          </p:cNvPr>
          <p:cNvGraphicFramePr/>
          <p:nvPr>
            <p:custDataLst>
              <p:tags r:id="rId1"/>
            </p:custDataLst>
          </p:nvPr>
        </p:nvGraphicFramePr>
        <p:xfrm>
          <a:off x="5630545" y="1399540"/>
          <a:ext cx="6450330" cy="1706880"/>
        </p:xfrm>
        <a:graphic>
          <a:graphicData uri="http://schemas.openxmlformats.org/drawingml/2006/table">
            <a:tbl>
              <a:tblPr firstRow="1" bandRow="1"/>
              <a:tblGrid>
                <a:gridCol w="857885">
                  <a:extLst>
                    <a:ext uri="{9D8B030D-6E8A-4147-A177-3AD203B41FA5}">
                      <a16:colId xmlns:a16="http://schemas.microsoft.com/office/drawing/2014/main" val="20000"/>
                    </a:ext>
                  </a:extLst>
                </a:gridCol>
                <a:gridCol w="1525270">
                  <a:extLst>
                    <a:ext uri="{9D8B030D-6E8A-4147-A177-3AD203B41FA5}">
                      <a16:colId xmlns:a16="http://schemas.microsoft.com/office/drawing/2014/main" val="20001"/>
                    </a:ext>
                  </a:extLst>
                </a:gridCol>
                <a:gridCol w="1699895">
                  <a:extLst>
                    <a:ext uri="{9D8B030D-6E8A-4147-A177-3AD203B41FA5}">
                      <a16:colId xmlns:a16="http://schemas.microsoft.com/office/drawing/2014/main" val="20002"/>
                    </a:ext>
                  </a:extLst>
                </a:gridCol>
                <a:gridCol w="1477010">
                  <a:extLst>
                    <a:ext uri="{9D8B030D-6E8A-4147-A177-3AD203B41FA5}">
                      <a16:colId xmlns:a16="http://schemas.microsoft.com/office/drawing/2014/main" val="20003"/>
                    </a:ext>
                  </a:extLst>
                </a:gridCol>
                <a:gridCol w="890270">
                  <a:extLst>
                    <a:ext uri="{9D8B030D-6E8A-4147-A177-3AD203B41FA5}">
                      <a16:colId xmlns:a16="http://schemas.microsoft.com/office/drawing/2014/main" val="20004"/>
                    </a:ext>
                  </a:extLst>
                </a:gridCol>
              </a:tblGrid>
              <a:tr h="731520">
                <a:tc>
                  <a:txBody>
                    <a:bodyPr/>
                    <a:lstStyle>
                      <a:lvl1pPr marL="0" algn="l" defTabSz="914400" rtl="0" eaLnBrk="1" latinLnBrk="0" hangingPunct="1">
                        <a:defRPr sz="1800" b="1" kern="1200">
                          <a:solidFill>
                            <a:schemeClr val="lt1"/>
                          </a:solidFill>
                          <a:latin typeface="Arial"/>
                          <a:ea typeface="MS Gothic"/>
                          <a:cs typeface="Arial"/>
                        </a:defRPr>
                      </a:lvl1pPr>
                      <a:lvl2pPr marL="457200" algn="l" defTabSz="914400" rtl="0" eaLnBrk="1" latinLnBrk="0" hangingPunct="1">
                        <a:defRPr sz="1800" b="1" kern="1200">
                          <a:solidFill>
                            <a:schemeClr val="lt1"/>
                          </a:solidFill>
                          <a:latin typeface="Arial"/>
                          <a:ea typeface="MS Gothic"/>
                          <a:cs typeface="Arial"/>
                        </a:defRPr>
                      </a:lvl2pPr>
                      <a:lvl3pPr marL="914400" algn="l" defTabSz="914400" rtl="0" eaLnBrk="1" latinLnBrk="0" hangingPunct="1">
                        <a:defRPr sz="1800" b="1" kern="1200">
                          <a:solidFill>
                            <a:schemeClr val="lt1"/>
                          </a:solidFill>
                          <a:latin typeface="Arial"/>
                          <a:ea typeface="MS Gothic"/>
                          <a:cs typeface="Arial"/>
                        </a:defRPr>
                      </a:lvl3pPr>
                      <a:lvl4pPr marL="1371600" algn="l" defTabSz="914400" rtl="0" eaLnBrk="1" latinLnBrk="0" hangingPunct="1">
                        <a:defRPr sz="1800" b="1" kern="1200">
                          <a:solidFill>
                            <a:schemeClr val="lt1"/>
                          </a:solidFill>
                          <a:latin typeface="Arial"/>
                          <a:ea typeface="MS Gothic"/>
                          <a:cs typeface="Arial"/>
                        </a:defRPr>
                      </a:lvl4pPr>
                      <a:lvl5pPr marL="1828800" algn="l" defTabSz="914400" rtl="0" eaLnBrk="1" latinLnBrk="0" hangingPunct="1">
                        <a:defRPr sz="1800" b="1" kern="1200">
                          <a:solidFill>
                            <a:schemeClr val="lt1"/>
                          </a:solidFill>
                          <a:latin typeface="Arial"/>
                          <a:ea typeface="MS Gothic"/>
                          <a:cs typeface="Arial"/>
                        </a:defRPr>
                      </a:lvl5pPr>
                      <a:lvl6pPr marL="2286000" algn="l" defTabSz="914400" rtl="0" eaLnBrk="1" latinLnBrk="0" hangingPunct="1">
                        <a:defRPr sz="1800" b="1" kern="1200">
                          <a:solidFill>
                            <a:schemeClr val="lt1"/>
                          </a:solidFill>
                          <a:latin typeface="Arial"/>
                          <a:ea typeface="MS Gothic"/>
                          <a:cs typeface="Arial"/>
                        </a:defRPr>
                      </a:lvl6pPr>
                      <a:lvl7pPr marL="2743200" algn="l" defTabSz="914400" rtl="0" eaLnBrk="1" latinLnBrk="0" hangingPunct="1">
                        <a:defRPr sz="1800" b="1" kern="1200">
                          <a:solidFill>
                            <a:schemeClr val="lt1"/>
                          </a:solidFill>
                          <a:latin typeface="Arial"/>
                          <a:ea typeface="MS Gothic"/>
                          <a:cs typeface="Arial"/>
                        </a:defRPr>
                      </a:lvl7pPr>
                      <a:lvl8pPr marL="3200400" algn="l" defTabSz="914400" rtl="0" eaLnBrk="1" latinLnBrk="0" hangingPunct="1">
                        <a:defRPr sz="1800" b="1" kern="1200">
                          <a:solidFill>
                            <a:schemeClr val="lt1"/>
                          </a:solidFill>
                          <a:latin typeface="Arial"/>
                          <a:ea typeface="MS Gothic"/>
                          <a:cs typeface="Arial"/>
                        </a:defRPr>
                      </a:lvl8pPr>
                      <a:lvl9pPr marL="3657600" algn="l" defTabSz="914400" rtl="0" eaLnBrk="1" latinLnBrk="0" hangingPunct="1">
                        <a:defRPr sz="1800" b="1" kern="1200">
                          <a:solidFill>
                            <a:schemeClr val="lt1"/>
                          </a:solidFill>
                          <a:latin typeface="Arial"/>
                          <a:ea typeface="MS Gothic"/>
                          <a:cs typeface="Arial"/>
                        </a:defRPr>
                      </a:lvl9pPr>
                    </a:lstStyle>
                    <a:p>
                      <a:pPr>
                        <a:buNone/>
                      </a:pPr>
                      <a:endParaRPr lang="zh-CN" altLang="en-US" sz="160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CC99"/>
                    </a:solidFill>
                  </a:tcPr>
                </a:tc>
                <a:tc>
                  <a:txBody>
                    <a:bodyPr/>
                    <a:lstStyle>
                      <a:lvl1pPr marL="0" algn="l" defTabSz="914400" rtl="0" eaLnBrk="1" latinLnBrk="0" hangingPunct="1">
                        <a:defRPr sz="1800" b="1" kern="1200">
                          <a:solidFill>
                            <a:schemeClr val="lt1"/>
                          </a:solidFill>
                          <a:latin typeface="Arial"/>
                          <a:ea typeface="MS Gothic"/>
                          <a:cs typeface="Arial"/>
                        </a:defRPr>
                      </a:lvl1pPr>
                      <a:lvl2pPr marL="457200" algn="l" defTabSz="914400" rtl="0" eaLnBrk="1" latinLnBrk="0" hangingPunct="1">
                        <a:defRPr sz="1800" b="1" kern="1200">
                          <a:solidFill>
                            <a:schemeClr val="lt1"/>
                          </a:solidFill>
                          <a:latin typeface="Arial"/>
                          <a:ea typeface="MS Gothic"/>
                          <a:cs typeface="Arial"/>
                        </a:defRPr>
                      </a:lvl2pPr>
                      <a:lvl3pPr marL="914400" algn="l" defTabSz="914400" rtl="0" eaLnBrk="1" latinLnBrk="0" hangingPunct="1">
                        <a:defRPr sz="1800" b="1" kern="1200">
                          <a:solidFill>
                            <a:schemeClr val="lt1"/>
                          </a:solidFill>
                          <a:latin typeface="Arial"/>
                          <a:ea typeface="MS Gothic"/>
                          <a:cs typeface="Arial"/>
                        </a:defRPr>
                      </a:lvl3pPr>
                      <a:lvl4pPr marL="1371600" algn="l" defTabSz="914400" rtl="0" eaLnBrk="1" latinLnBrk="0" hangingPunct="1">
                        <a:defRPr sz="1800" b="1" kern="1200">
                          <a:solidFill>
                            <a:schemeClr val="lt1"/>
                          </a:solidFill>
                          <a:latin typeface="Arial"/>
                          <a:ea typeface="MS Gothic"/>
                          <a:cs typeface="Arial"/>
                        </a:defRPr>
                      </a:lvl4pPr>
                      <a:lvl5pPr marL="1828800" algn="l" defTabSz="914400" rtl="0" eaLnBrk="1" latinLnBrk="0" hangingPunct="1">
                        <a:defRPr sz="1800" b="1" kern="1200">
                          <a:solidFill>
                            <a:schemeClr val="lt1"/>
                          </a:solidFill>
                          <a:latin typeface="Arial"/>
                          <a:ea typeface="MS Gothic"/>
                          <a:cs typeface="Arial"/>
                        </a:defRPr>
                      </a:lvl5pPr>
                      <a:lvl6pPr marL="2286000" algn="l" defTabSz="914400" rtl="0" eaLnBrk="1" latinLnBrk="0" hangingPunct="1">
                        <a:defRPr sz="1800" b="1" kern="1200">
                          <a:solidFill>
                            <a:schemeClr val="lt1"/>
                          </a:solidFill>
                          <a:latin typeface="Arial"/>
                          <a:ea typeface="MS Gothic"/>
                          <a:cs typeface="Arial"/>
                        </a:defRPr>
                      </a:lvl6pPr>
                      <a:lvl7pPr marL="2743200" algn="l" defTabSz="914400" rtl="0" eaLnBrk="1" latinLnBrk="0" hangingPunct="1">
                        <a:defRPr sz="1800" b="1" kern="1200">
                          <a:solidFill>
                            <a:schemeClr val="lt1"/>
                          </a:solidFill>
                          <a:latin typeface="Arial"/>
                          <a:ea typeface="MS Gothic"/>
                          <a:cs typeface="Arial"/>
                        </a:defRPr>
                      </a:lvl7pPr>
                      <a:lvl8pPr marL="3200400" algn="l" defTabSz="914400" rtl="0" eaLnBrk="1" latinLnBrk="0" hangingPunct="1">
                        <a:defRPr sz="1800" b="1" kern="1200">
                          <a:solidFill>
                            <a:schemeClr val="lt1"/>
                          </a:solidFill>
                          <a:latin typeface="Arial"/>
                          <a:ea typeface="MS Gothic"/>
                          <a:cs typeface="Arial"/>
                        </a:defRPr>
                      </a:lvl8pPr>
                      <a:lvl9pPr marL="3657600" algn="l" defTabSz="914400" rtl="0" eaLnBrk="1" latinLnBrk="0" hangingPunct="1">
                        <a:defRPr sz="1800" b="1" kern="1200">
                          <a:solidFill>
                            <a:schemeClr val="lt1"/>
                          </a:solidFill>
                          <a:latin typeface="Arial"/>
                          <a:ea typeface="MS Gothic"/>
                          <a:cs typeface="Arial"/>
                        </a:defRPr>
                      </a:lvl9pPr>
                    </a:lstStyle>
                    <a:p>
                      <a:pPr indent="0" algn="ctr">
                        <a:buNone/>
                      </a:pPr>
                      <a:r>
                        <a:rPr lang="en-US" sz="1600" b="1">
                          <a:solidFill>
                            <a:schemeClr val="tx1"/>
                          </a:solidFill>
                          <a:latin typeface="Times New Roman" panose="02020603050405020304" pitchFamily="18" charset="0"/>
                          <a:cs typeface="Times New Roman" panose="02020603050405020304" pitchFamily="18" charset="0"/>
                        </a:rPr>
                        <a:t>VINS-Mono</a:t>
                      </a:r>
                      <a:endParaRPr lang="en-US" altLang="en-US" sz="1600" b="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CC99"/>
                    </a:solidFill>
                  </a:tcPr>
                </a:tc>
                <a:tc>
                  <a:txBody>
                    <a:bodyPr/>
                    <a:lstStyle>
                      <a:lvl1pPr marL="0" algn="l" defTabSz="914400" rtl="0" eaLnBrk="1" latinLnBrk="0" hangingPunct="1">
                        <a:defRPr sz="1800" b="1" kern="1200">
                          <a:solidFill>
                            <a:schemeClr val="lt1"/>
                          </a:solidFill>
                          <a:latin typeface="Arial"/>
                          <a:ea typeface="MS Gothic"/>
                          <a:cs typeface="Arial"/>
                        </a:defRPr>
                      </a:lvl1pPr>
                      <a:lvl2pPr marL="457200" algn="l" defTabSz="914400" rtl="0" eaLnBrk="1" latinLnBrk="0" hangingPunct="1">
                        <a:defRPr sz="1800" b="1" kern="1200">
                          <a:solidFill>
                            <a:schemeClr val="lt1"/>
                          </a:solidFill>
                          <a:latin typeface="Arial"/>
                          <a:ea typeface="MS Gothic"/>
                          <a:cs typeface="Arial"/>
                        </a:defRPr>
                      </a:lvl2pPr>
                      <a:lvl3pPr marL="914400" algn="l" defTabSz="914400" rtl="0" eaLnBrk="1" latinLnBrk="0" hangingPunct="1">
                        <a:defRPr sz="1800" b="1" kern="1200">
                          <a:solidFill>
                            <a:schemeClr val="lt1"/>
                          </a:solidFill>
                          <a:latin typeface="Arial"/>
                          <a:ea typeface="MS Gothic"/>
                          <a:cs typeface="Arial"/>
                        </a:defRPr>
                      </a:lvl3pPr>
                      <a:lvl4pPr marL="1371600" algn="l" defTabSz="914400" rtl="0" eaLnBrk="1" latinLnBrk="0" hangingPunct="1">
                        <a:defRPr sz="1800" b="1" kern="1200">
                          <a:solidFill>
                            <a:schemeClr val="lt1"/>
                          </a:solidFill>
                          <a:latin typeface="Arial"/>
                          <a:ea typeface="MS Gothic"/>
                          <a:cs typeface="Arial"/>
                        </a:defRPr>
                      </a:lvl4pPr>
                      <a:lvl5pPr marL="1828800" algn="l" defTabSz="914400" rtl="0" eaLnBrk="1" latinLnBrk="0" hangingPunct="1">
                        <a:defRPr sz="1800" b="1" kern="1200">
                          <a:solidFill>
                            <a:schemeClr val="lt1"/>
                          </a:solidFill>
                          <a:latin typeface="Arial"/>
                          <a:ea typeface="MS Gothic"/>
                          <a:cs typeface="Arial"/>
                        </a:defRPr>
                      </a:lvl5pPr>
                      <a:lvl6pPr marL="2286000" algn="l" defTabSz="914400" rtl="0" eaLnBrk="1" latinLnBrk="0" hangingPunct="1">
                        <a:defRPr sz="1800" b="1" kern="1200">
                          <a:solidFill>
                            <a:schemeClr val="lt1"/>
                          </a:solidFill>
                          <a:latin typeface="Arial"/>
                          <a:ea typeface="MS Gothic"/>
                          <a:cs typeface="Arial"/>
                        </a:defRPr>
                      </a:lvl6pPr>
                      <a:lvl7pPr marL="2743200" algn="l" defTabSz="914400" rtl="0" eaLnBrk="1" latinLnBrk="0" hangingPunct="1">
                        <a:defRPr sz="1800" b="1" kern="1200">
                          <a:solidFill>
                            <a:schemeClr val="lt1"/>
                          </a:solidFill>
                          <a:latin typeface="Arial"/>
                          <a:ea typeface="MS Gothic"/>
                          <a:cs typeface="Arial"/>
                        </a:defRPr>
                      </a:lvl7pPr>
                      <a:lvl8pPr marL="3200400" algn="l" defTabSz="914400" rtl="0" eaLnBrk="1" latinLnBrk="0" hangingPunct="1">
                        <a:defRPr sz="1800" b="1" kern="1200">
                          <a:solidFill>
                            <a:schemeClr val="lt1"/>
                          </a:solidFill>
                          <a:latin typeface="Arial"/>
                          <a:ea typeface="MS Gothic"/>
                          <a:cs typeface="Arial"/>
                        </a:defRPr>
                      </a:lvl8pPr>
                      <a:lvl9pPr marL="3657600" algn="l" defTabSz="914400" rtl="0" eaLnBrk="1" latinLnBrk="0" hangingPunct="1">
                        <a:defRPr sz="1800" b="1" kern="1200">
                          <a:solidFill>
                            <a:schemeClr val="lt1"/>
                          </a:solidFill>
                          <a:latin typeface="Arial"/>
                          <a:ea typeface="MS Gothic"/>
                          <a:cs typeface="Arial"/>
                        </a:defRPr>
                      </a:lvl9pPr>
                    </a:lstStyle>
                    <a:p>
                      <a:pPr indent="0" algn="ctr">
                        <a:buNone/>
                      </a:pPr>
                      <a:r>
                        <a:rPr lang="en-US" sz="1600" b="1">
                          <a:solidFill>
                            <a:schemeClr val="tx1"/>
                          </a:solidFill>
                          <a:latin typeface="Times New Roman" panose="02020603050405020304" pitchFamily="18" charset="0"/>
                          <a:cs typeface="Times New Roman" panose="02020603050405020304" pitchFamily="18" charset="0"/>
                        </a:rPr>
                        <a:t>C2VIR-SLAM</a:t>
                      </a:r>
                    </a:p>
                    <a:p>
                      <a:pPr indent="0" algn="ctr">
                        <a:buNone/>
                      </a:pPr>
                      <a:r>
                        <a:rPr lang="en-US" sz="1600" b="1">
                          <a:solidFill>
                            <a:schemeClr val="tx1"/>
                          </a:solidFill>
                          <a:latin typeface="Times New Roman" panose="02020603050405020304" pitchFamily="18" charset="0"/>
                          <a:cs typeface="Times New Roman" panose="02020603050405020304" pitchFamily="18" charset="0"/>
                        </a:rPr>
                        <a:t>Without </a:t>
                      </a:r>
                      <a:r>
                        <a:rPr lang="en-US" sz="1600" b="1">
                          <a:solidFill>
                            <a:schemeClr val="tx1"/>
                          </a:solidFill>
                          <a:latin typeface="宋体" panose="02010600030101010101" pitchFamily="2" charset="-122"/>
                          <a:ea typeface="宋体" panose="02010600030101010101" pitchFamily="2" charset="-122"/>
                          <a:cs typeface="宋体" panose="02010600030101010101" pitchFamily="2" charset="-122"/>
                        </a:rPr>
                        <a:t>Co</a:t>
                      </a:r>
                      <a:r>
                        <a:rPr lang="en-US" sz="1600" b="1">
                          <a:solidFill>
                            <a:schemeClr val="tx1"/>
                          </a:solidFill>
                          <a:latin typeface="Times New Roman" panose="02020603050405020304" pitchFamily="18" charset="0"/>
                          <a:cs typeface="Times New Roman" panose="02020603050405020304" pitchFamily="18" charset="0"/>
                        </a:rPr>
                        <a:t>-Visual</a:t>
                      </a:r>
                      <a:endParaRPr lang="en-US" altLang="en-US" sz="1600" b="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CC99"/>
                    </a:solidFill>
                  </a:tcPr>
                </a:tc>
                <a:tc>
                  <a:txBody>
                    <a:bodyPr/>
                    <a:lstStyle>
                      <a:lvl1pPr marL="0" algn="l" defTabSz="914400" rtl="0" eaLnBrk="1" latinLnBrk="0" hangingPunct="1">
                        <a:defRPr sz="1800" b="1" kern="1200">
                          <a:solidFill>
                            <a:schemeClr val="lt1"/>
                          </a:solidFill>
                          <a:latin typeface="Arial"/>
                          <a:ea typeface="MS Gothic"/>
                          <a:cs typeface="Arial"/>
                        </a:defRPr>
                      </a:lvl1pPr>
                      <a:lvl2pPr marL="457200" algn="l" defTabSz="914400" rtl="0" eaLnBrk="1" latinLnBrk="0" hangingPunct="1">
                        <a:defRPr sz="1800" b="1" kern="1200">
                          <a:solidFill>
                            <a:schemeClr val="lt1"/>
                          </a:solidFill>
                          <a:latin typeface="Arial"/>
                          <a:ea typeface="MS Gothic"/>
                          <a:cs typeface="Arial"/>
                        </a:defRPr>
                      </a:lvl2pPr>
                      <a:lvl3pPr marL="914400" algn="l" defTabSz="914400" rtl="0" eaLnBrk="1" latinLnBrk="0" hangingPunct="1">
                        <a:defRPr sz="1800" b="1" kern="1200">
                          <a:solidFill>
                            <a:schemeClr val="lt1"/>
                          </a:solidFill>
                          <a:latin typeface="Arial"/>
                          <a:ea typeface="MS Gothic"/>
                          <a:cs typeface="Arial"/>
                        </a:defRPr>
                      </a:lvl3pPr>
                      <a:lvl4pPr marL="1371600" algn="l" defTabSz="914400" rtl="0" eaLnBrk="1" latinLnBrk="0" hangingPunct="1">
                        <a:defRPr sz="1800" b="1" kern="1200">
                          <a:solidFill>
                            <a:schemeClr val="lt1"/>
                          </a:solidFill>
                          <a:latin typeface="Arial"/>
                          <a:ea typeface="MS Gothic"/>
                          <a:cs typeface="Arial"/>
                        </a:defRPr>
                      </a:lvl4pPr>
                      <a:lvl5pPr marL="1828800" algn="l" defTabSz="914400" rtl="0" eaLnBrk="1" latinLnBrk="0" hangingPunct="1">
                        <a:defRPr sz="1800" b="1" kern="1200">
                          <a:solidFill>
                            <a:schemeClr val="lt1"/>
                          </a:solidFill>
                          <a:latin typeface="Arial"/>
                          <a:ea typeface="MS Gothic"/>
                          <a:cs typeface="Arial"/>
                        </a:defRPr>
                      </a:lvl5pPr>
                      <a:lvl6pPr marL="2286000" algn="l" defTabSz="914400" rtl="0" eaLnBrk="1" latinLnBrk="0" hangingPunct="1">
                        <a:defRPr sz="1800" b="1" kern="1200">
                          <a:solidFill>
                            <a:schemeClr val="lt1"/>
                          </a:solidFill>
                          <a:latin typeface="Arial"/>
                          <a:ea typeface="MS Gothic"/>
                          <a:cs typeface="Arial"/>
                        </a:defRPr>
                      </a:lvl6pPr>
                      <a:lvl7pPr marL="2743200" algn="l" defTabSz="914400" rtl="0" eaLnBrk="1" latinLnBrk="0" hangingPunct="1">
                        <a:defRPr sz="1800" b="1" kern="1200">
                          <a:solidFill>
                            <a:schemeClr val="lt1"/>
                          </a:solidFill>
                          <a:latin typeface="Arial"/>
                          <a:ea typeface="MS Gothic"/>
                          <a:cs typeface="Arial"/>
                        </a:defRPr>
                      </a:lvl7pPr>
                      <a:lvl8pPr marL="3200400" algn="l" defTabSz="914400" rtl="0" eaLnBrk="1" latinLnBrk="0" hangingPunct="1">
                        <a:defRPr sz="1800" b="1" kern="1200">
                          <a:solidFill>
                            <a:schemeClr val="lt1"/>
                          </a:solidFill>
                          <a:latin typeface="Arial"/>
                          <a:ea typeface="MS Gothic"/>
                          <a:cs typeface="Arial"/>
                        </a:defRPr>
                      </a:lvl8pPr>
                      <a:lvl9pPr marL="3657600" algn="l" defTabSz="914400" rtl="0" eaLnBrk="1" latinLnBrk="0" hangingPunct="1">
                        <a:defRPr sz="1800" b="1" kern="1200">
                          <a:solidFill>
                            <a:schemeClr val="lt1"/>
                          </a:solidFill>
                          <a:latin typeface="Arial"/>
                          <a:ea typeface="MS Gothic"/>
                          <a:cs typeface="Arial"/>
                        </a:defRPr>
                      </a:lvl9pPr>
                    </a:lstStyle>
                    <a:p>
                      <a:pPr indent="0" algn="ctr">
                        <a:buNone/>
                      </a:pPr>
                      <a:r>
                        <a:rPr lang="en-US" sz="1600" b="1">
                          <a:solidFill>
                            <a:schemeClr val="tx1"/>
                          </a:solidFill>
                          <a:latin typeface="Times New Roman" panose="02020603050405020304" pitchFamily="18" charset="0"/>
                          <a:cs typeface="Times New Roman" panose="02020603050405020304" pitchFamily="18" charset="0"/>
                        </a:rPr>
                        <a:t>C2VIR-SLAM</a:t>
                      </a:r>
                    </a:p>
                    <a:p>
                      <a:pPr indent="0" algn="ctr">
                        <a:buNone/>
                      </a:pPr>
                      <a:r>
                        <a:rPr lang="en-US" sz="1600" b="1">
                          <a:solidFill>
                            <a:schemeClr val="tx1"/>
                          </a:solidFill>
                          <a:latin typeface="Times New Roman" panose="02020603050405020304" pitchFamily="18" charset="0"/>
                          <a:cs typeface="Times New Roman" panose="02020603050405020304" pitchFamily="18" charset="0"/>
                        </a:rPr>
                        <a:t>With </a:t>
                      </a:r>
                      <a:r>
                        <a:rPr lang="en-US" sz="1600" b="1">
                          <a:solidFill>
                            <a:schemeClr val="tx1"/>
                          </a:solidFill>
                          <a:latin typeface="宋体" panose="02010600030101010101" pitchFamily="2" charset="-122"/>
                          <a:ea typeface="宋体" panose="02010600030101010101" pitchFamily="2" charset="-122"/>
                          <a:cs typeface="宋体" panose="02010600030101010101" pitchFamily="2" charset="-122"/>
                        </a:rPr>
                        <a:t>Co</a:t>
                      </a:r>
                      <a:r>
                        <a:rPr lang="en-US" sz="1600" b="1">
                          <a:solidFill>
                            <a:schemeClr val="tx1"/>
                          </a:solidFill>
                          <a:latin typeface="Times New Roman" panose="02020603050405020304" pitchFamily="18" charset="0"/>
                          <a:cs typeface="Times New Roman" panose="02020603050405020304" pitchFamily="18" charset="0"/>
                        </a:rPr>
                        <a:t>-Visual</a:t>
                      </a:r>
                      <a:endParaRPr lang="en-US" altLang="en-US" sz="1600" b="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CC99"/>
                    </a:solidFill>
                  </a:tcPr>
                </a:tc>
                <a:tc>
                  <a:txBody>
                    <a:bodyPr/>
                    <a:lstStyle>
                      <a:lvl1pPr marL="0" algn="l" defTabSz="914400" rtl="0" eaLnBrk="1" latinLnBrk="0" hangingPunct="1">
                        <a:defRPr sz="1800" b="1" kern="1200">
                          <a:solidFill>
                            <a:schemeClr val="lt1"/>
                          </a:solidFill>
                          <a:latin typeface="Arial"/>
                          <a:ea typeface="MS Gothic"/>
                          <a:cs typeface="Arial"/>
                        </a:defRPr>
                      </a:lvl1pPr>
                      <a:lvl2pPr marL="457200" algn="l" defTabSz="914400" rtl="0" eaLnBrk="1" latinLnBrk="0" hangingPunct="1">
                        <a:defRPr sz="1800" b="1" kern="1200">
                          <a:solidFill>
                            <a:schemeClr val="lt1"/>
                          </a:solidFill>
                          <a:latin typeface="Arial"/>
                          <a:ea typeface="MS Gothic"/>
                          <a:cs typeface="Arial"/>
                        </a:defRPr>
                      </a:lvl2pPr>
                      <a:lvl3pPr marL="914400" algn="l" defTabSz="914400" rtl="0" eaLnBrk="1" latinLnBrk="0" hangingPunct="1">
                        <a:defRPr sz="1800" b="1" kern="1200">
                          <a:solidFill>
                            <a:schemeClr val="lt1"/>
                          </a:solidFill>
                          <a:latin typeface="Arial"/>
                          <a:ea typeface="MS Gothic"/>
                          <a:cs typeface="Arial"/>
                        </a:defRPr>
                      </a:lvl3pPr>
                      <a:lvl4pPr marL="1371600" algn="l" defTabSz="914400" rtl="0" eaLnBrk="1" latinLnBrk="0" hangingPunct="1">
                        <a:defRPr sz="1800" b="1" kern="1200">
                          <a:solidFill>
                            <a:schemeClr val="lt1"/>
                          </a:solidFill>
                          <a:latin typeface="Arial"/>
                          <a:ea typeface="MS Gothic"/>
                          <a:cs typeface="Arial"/>
                        </a:defRPr>
                      </a:lvl4pPr>
                      <a:lvl5pPr marL="1828800" algn="l" defTabSz="914400" rtl="0" eaLnBrk="1" latinLnBrk="0" hangingPunct="1">
                        <a:defRPr sz="1800" b="1" kern="1200">
                          <a:solidFill>
                            <a:schemeClr val="lt1"/>
                          </a:solidFill>
                          <a:latin typeface="Arial"/>
                          <a:ea typeface="MS Gothic"/>
                          <a:cs typeface="Arial"/>
                        </a:defRPr>
                      </a:lvl5pPr>
                      <a:lvl6pPr marL="2286000" algn="l" defTabSz="914400" rtl="0" eaLnBrk="1" latinLnBrk="0" hangingPunct="1">
                        <a:defRPr sz="1800" b="1" kern="1200">
                          <a:solidFill>
                            <a:schemeClr val="lt1"/>
                          </a:solidFill>
                          <a:latin typeface="Arial"/>
                          <a:ea typeface="MS Gothic"/>
                          <a:cs typeface="Arial"/>
                        </a:defRPr>
                      </a:lvl6pPr>
                      <a:lvl7pPr marL="2743200" algn="l" defTabSz="914400" rtl="0" eaLnBrk="1" latinLnBrk="0" hangingPunct="1">
                        <a:defRPr sz="1800" b="1" kern="1200">
                          <a:solidFill>
                            <a:schemeClr val="lt1"/>
                          </a:solidFill>
                          <a:latin typeface="Arial"/>
                          <a:ea typeface="MS Gothic"/>
                          <a:cs typeface="Arial"/>
                        </a:defRPr>
                      </a:lvl7pPr>
                      <a:lvl8pPr marL="3200400" algn="l" defTabSz="914400" rtl="0" eaLnBrk="1" latinLnBrk="0" hangingPunct="1">
                        <a:defRPr sz="1800" b="1" kern="1200">
                          <a:solidFill>
                            <a:schemeClr val="lt1"/>
                          </a:solidFill>
                          <a:latin typeface="Arial"/>
                          <a:ea typeface="MS Gothic"/>
                          <a:cs typeface="Arial"/>
                        </a:defRPr>
                      </a:lvl8pPr>
                      <a:lvl9pPr marL="3657600" algn="l" defTabSz="914400" rtl="0" eaLnBrk="1" latinLnBrk="0" hangingPunct="1">
                        <a:defRPr sz="1800" b="1" kern="1200">
                          <a:solidFill>
                            <a:schemeClr val="lt1"/>
                          </a:solidFill>
                          <a:latin typeface="Arial"/>
                          <a:ea typeface="MS Gothic"/>
                          <a:cs typeface="Arial"/>
                        </a:defRPr>
                      </a:lvl9pPr>
                    </a:lstStyle>
                    <a:p>
                      <a:pPr indent="0" algn="ctr">
                        <a:buNone/>
                      </a:pPr>
                      <a:r>
                        <a:rPr lang="en-US" sz="1600" b="1">
                          <a:solidFill>
                            <a:schemeClr val="tx1"/>
                          </a:solidFill>
                          <a:latin typeface="宋体" panose="02010600030101010101" pitchFamily="2" charset="-122"/>
                          <a:ea typeface="宋体" panose="02010600030101010101" pitchFamily="2" charset="-122"/>
                          <a:cs typeface="宋体" panose="02010600030101010101" pitchFamily="2" charset="-122"/>
                        </a:rPr>
                        <a:t>提高百分比</a:t>
                      </a:r>
                      <a:endParaRPr lang="en-US" altLang="en-US" sz="1600" b="1">
                        <a:solidFill>
                          <a:schemeClr val="tx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CC99"/>
                    </a:solidFill>
                  </a:tcPr>
                </a:tc>
                <a:extLst>
                  <a:ext uri="{0D108BD9-81ED-4DB2-BD59-A6C34878D82A}">
                    <a16:rowId xmlns:a16="http://schemas.microsoft.com/office/drawing/2014/main" val="10000"/>
                  </a:ext>
                </a:extLst>
              </a:tr>
              <a:tr h="487680">
                <a:tc>
                  <a:txBody>
                    <a:bodyPr/>
                    <a:lstStyle>
                      <a:lvl1pPr marL="0" algn="l" defTabSz="914400" rtl="0" eaLnBrk="1" latinLnBrk="0" hangingPunct="1">
                        <a:defRPr sz="1800" kern="1200">
                          <a:solidFill>
                            <a:schemeClr val="dk1"/>
                          </a:solidFill>
                          <a:latin typeface="Arial"/>
                          <a:ea typeface="MS Gothic"/>
                          <a:cs typeface="Arial"/>
                        </a:defRPr>
                      </a:lvl1pPr>
                      <a:lvl2pPr marL="457200" algn="l" defTabSz="914400" rtl="0" eaLnBrk="1" latinLnBrk="0" hangingPunct="1">
                        <a:defRPr sz="1800" kern="1200">
                          <a:solidFill>
                            <a:schemeClr val="dk1"/>
                          </a:solidFill>
                          <a:latin typeface="Arial"/>
                          <a:ea typeface="MS Gothic"/>
                          <a:cs typeface="Arial"/>
                        </a:defRPr>
                      </a:lvl2pPr>
                      <a:lvl3pPr marL="914400" algn="l" defTabSz="914400" rtl="0" eaLnBrk="1" latinLnBrk="0" hangingPunct="1">
                        <a:defRPr sz="1800" kern="1200">
                          <a:solidFill>
                            <a:schemeClr val="dk1"/>
                          </a:solidFill>
                          <a:latin typeface="Arial"/>
                          <a:ea typeface="MS Gothic"/>
                          <a:cs typeface="Arial"/>
                        </a:defRPr>
                      </a:lvl3pPr>
                      <a:lvl4pPr marL="1371600" algn="l" defTabSz="914400" rtl="0" eaLnBrk="1" latinLnBrk="0" hangingPunct="1">
                        <a:defRPr sz="1800" kern="1200">
                          <a:solidFill>
                            <a:schemeClr val="dk1"/>
                          </a:solidFill>
                          <a:latin typeface="Arial"/>
                          <a:ea typeface="MS Gothic"/>
                          <a:cs typeface="Arial"/>
                        </a:defRPr>
                      </a:lvl4pPr>
                      <a:lvl5pPr marL="1828800" algn="l" defTabSz="914400" rtl="0" eaLnBrk="1" latinLnBrk="0" hangingPunct="1">
                        <a:defRPr sz="1800" kern="1200">
                          <a:solidFill>
                            <a:schemeClr val="dk1"/>
                          </a:solidFill>
                          <a:latin typeface="Arial"/>
                          <a:ea typeface="MS Gothic"/>
                          <a:cs typeface="Arial"/>
                        </a:defRPr>
                      </a:lvl5pPr>
                      <a:lvl6pPr marL="2286000" algn="l" defTabSz="914400" rtl="0" eaLnBrk="1" latinLnBrk="0" hangingPunct="1">
                        <a:defRPr sz="1800" kern="1200">
                          <a:solidFill>
                            <a:schemeClr val="dk1"/>
                          </a:solidFill>
                          <a:latin typeface="Arial"/>
                          <a:ea typeface="MS Gothic"/>
                          <a:cs typeface="Arial"/>
                        </a:defRPr>
                      </a:lvl6pPr>
                      <a:lvl7pPr marL="2743200" algn="l" defTabSz="914400" rtl="0" eaLnBrk="1" latinLnBrk="0" hangingPunct="1">
                        <a:defRPr sz="1800" kern="1200">
                          <a:solidFill>
                            <a:schemeClr val="dk1"/>
                          </a:solidFill>
                          <a:latin typeface="Arial"/>
                          <a:ea typeface="MS Gothic"/>
                          <a:cs typeface="Arial"/>
                        </a:defRPr>
                      </a:lvl7pPr>
                      <a:lvl8pPr marL="3200400" algn="l" defTabSz="914400" rtl="0" eaLnBrk="1" latinLnBrk="0" hangingPunct="1">
                        <a:defRPr sz="1800" kern="1200">
                          <a:solidFill>
                            <a:schemeClr val="dk1"/>
                          </a:solidFill>
                          <a:latin typeface="Arial"/>
                          <a:ea typeface="MS Gothic"/>
                          <a:cs typeface="Arial"/>
                        </a:defRPr>
                      </a:lvl8pPr>
                      <a:lvl9pPr marL="3657600" algn="l" defTabSz="914400" rtl="0" eaLnBrk="1" latinLnBrk="0" hangingPunct="1">
                        <a:defRPr sz="1800" kern="1200">
                          <a:solidFill>
                            <a:schemeClr val="dk1"/>
                          </a:solidFill>
                          <a:latin typeface="Arial"/>
                          <a:ea typeface="MS Gothic"/>
                          <a:cs typeface="Arial"/>
                        </a:defRPr>
                      </a:lvl9pPr>
                    </a:lstStyle>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无人机</a:t>
                      </a:r>
                      <a:r>
                        <a:rPr lang="en-US" sz="1600" b="0">
                          <a:latin typeface="Times New Roman" panose="02020603050405020304" pitchFamily="18" charset="0"/>
                          <a:cs typeface="Times New Roman" panose="02020603050405020304" pitchFamily="18" charset="0"/>
                        </a:rPr>
                        <a:t>A</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40000"/>
                      </a:srgbClr>
                    </a:solidFill>
                  </a:tcPr>
                </a:tc>
                <a:tc>
                  <a:txBody>
                    <a:bodyPr/>
                    <a:lstStyle>
                      <a:lvl1pPr marL="0" algn="l" defTabSz="914400" rtl="0" eaLnBrk="1" latinLnBrk="0" hangingPunct="1">
                        <a:defRPr sz="1800" kern="1200">
                          <a:solidFill>
                            <a:schemeClr val="dk1"/>
                          </a:solidFill>
                          <a:latin typeface="Arial"/>
                          <a:ea typeface="MS Gothic"/>
                          <a:cs typeface="Arial"/>
                        </a:defRPr>
                      </a:lvl1pPr>
                      <a:lvl2pPr marL="457200" algn="l" defTabSz="914400" rtl="0" eaLnBrk="1" latinLnBrk="0" hangingPunct="1">
                        <a:defRPr sz="1800" kern="1200">
                          <a:solidFill>
                            <a:schemeClr val="dk1"/>
                          </a:solidFill>
                          <a:latin typeface="Arial"/>
                          <a:ea typeface="MS Gothic"/>
                          <a:cs typeface="Arial"/>
                        </a:defRPr>
                      </a:lvl2pPr>
                      <a:lvl3pPr marL="914400" algn="l" defTabSz="914400" rtl="0" eaLnBrk="1" latinLnBrk="0" hangingPunct="1">
                        <a:defRPr sz="1800" kern="1200">
                          <a:solidFill>
                            <a:schemeClr val="dk1"/>
                          </a:solidFill>
                          <a:latin typeface="Arial"/>
                          <a:ea typeface="MS Gothic"/>
                          <a:cs typeface="Arial"/>
                        </a:defRPr>
                      </a:lvl3pPr>
                      <a:lvl4pPr marL="1371600" algn="l" defTabSz="914400" rtl="0" eaLnBrk="1" latinLnBrk="0" hangingPunct="1">
                        <a:defRPr sz="1800" kern="1200">
                          <a:solidFill>
                            <a:schemeClr val="dk1"/>
                          </a:solidFill>
                          <a:latin typeface="Arial"/>
                          <a:ea typeface="MS Gothic"/>
                          <a:cs typeface="Arial"/>
                        </a:defRPr>
                      </a:lvl4pPr>
                      <a:lvl5pPr marL="1828800" algn="l" defTabSz="914400" rtl="0" eaLnBrk="1" latinLnBrk="0" hangingPunct="1">
                        <a:defRPr sz="1800" kern="1200">
                          <a:solidFill>
                            <a:schemeClr val="dk1"/>
                          </a:solidFill>
                          <a:latin typeface="Arial"/>
                          <a:ea typeface="MS Gothic"/>
                          <a:cs typeface="Arial"/>
                        </a:defRPr>
                      </a:lvl5pPr>
                      <a:lvl6pPr marL="2286000" algn="l" defTabSz="914400" rtl="0" eaLnBrk="1" latinLnBrk="0" hangingPunct="1">
                        <a:defRPr sz="1800" kern="1200">
                          <a:solidFill>
                            <a:schemeClr val="dk1"/>
                          </a:solidFill>
                          <a:latin typeface="Arial"/>
                          <a:ea typeface="MS Gothic"/>
                          <a:cs typeface="Arial"/>
                        </a:defRPr>
                      </a:lvl6pPr>
                      <a:lvl7pPr marL="2743200" algn="l" defTabSz="914400" rtl="0" eaLnBrk="1" latinLnBrk="0" hangingPunct="1">
                        <a:defRPr sz="1800" kern="1200">
                          <a:solidFill>
                            <a:schemeClr val="dk1"/>
                          </a:solidFill>
                          <a:latin typeface="Arial"/>
                          <a:ea typeface="MS Gothic"/>
                          <a:cs typeface="Arial"/>
                        </a:defRPr>
                      </a:lvl7pPr>
                      <a:lvl8pPr marL="3200400" algn="l" defTabSz="914400" rtl="0" eaLnBrk="1" latinLnBrk="0" hangingPunct="1">
                        <a:defRPr sz="1800" kern="1200">
                          <a:solidFill>
                            <a:schemeClr val="dk1"/>
                          </a:solidFill>
                          <a:latin typeface="Arial"/>
                          <a:ea typeface="MS Gothic"/>
                          <a:cs typeface="Arial"/>
                        </a:defRPr>
                      </a:lvl8pPr>
                      <a:lvl9pPr marL="3657600" algn="l" defTabSz="914400" rtl="0" eaLnBrk="1" latinLnBrk="0" hangingPunct="1">
                        <a:defRPr sz="1800" kern="1200">
                          <a:solidFill>
                            <a:schemeClr val="dk1"/>
                          </a:solidFill>
                          <a:latin typeface="Arial"/>
                          <a:ea typeface="MS Gothic"/>
                          <a:cs typeface="Arial"/>
                        </a:defRPr>
                      </a:lvl9pPr>
                    </a:lstStyle>
                    <a:p>
                      <a:pPr indent="0" algn="ctr">
                        <a:buNone/>
                      </a:pPr>
                      <a:r>
                        <a:rPr lang="en-US" sz="1600" b="0">
                          <a:latin typeface="Times New Roman" panose="02020603050405020304" pitchFamily="18" charset="0"/>
                          <a:cs typeface="Times New Roman" panose="02020603050405020304" pitchFamily="18" charset="0"/>
                        </a:rPr>
                        <a:t>2.26</a:t>
                      </a:r>
                      <a:r>
                        <a:rPr lang="en-US" sz="1600" b="0">
                          <a:latin typeface="Times New Roman" panose="02020603050405020304" pitchFamily="18" charset="0"/>
                          <a:ea typeface="宋体" panose="02010600030101010101" pitchFamily="2" charset="-122"/>
                          <a:cs typeface="Times New Roman" panose="02020603050405020304" pitchFamily="18" charset="0"/>
                        </a:rPr>
                        <a:t>45</a:t>
                      </a:r>
                      <a:r>
                        <a:rPr lang="en-US" sz="1600" b="0">
                          <a:latin typeface="Times New Roman" panose="02020603050405020304" pitchFamily="18" charset="0"/>
                          <a:cs typeface="Times New Roman" panose="02020603050405020304" pitchFamily="18" charset="0"/>
                        </a:rPr>
                        <a:t>(0.8</a:t>
                      </a:r>
                      <a:r>
                        <a:rPr lang="en-US" sz="1600" b="0">
                          <a:latin typeface="Times New Roman" panose="02020603050405020304" pitchFamily="18" charset="0"/>
                          <a:ea typeface="宋体" panose="02010600030101010101" pitchFamily="2" charset="-122"/>
                          <a:cs typeface="Times New Roman" panose="02020603050405020304" pitchFamily="18" charset="0"/>
                        </a:rPr>
                        <a:t>356</a:t>
                      </a:r>
                      <a:r>
                        <a:rPr lang="en-US" sz="1600" b="0">
                          <a:latin typeface="Times New Roman" panose="02020603050405020304" pitchFamily="18" charset="0"/>
                          <a:cs typeface="Times New Roman" panose="02020603050405020304" pitchFamily="18" charset="0"/>
                        </a:rPr>
                        <a:t>%)</a:t>
                      </a:r>
                      <a:endParaRPr lang="en-US" alt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40000"/>
                      </a:srgbClr>
                    </a:solidFill>
                  </a:tcPr>
                </a:tc>
                <a:tc>
                  <a:txBody>
                    <a:bodyPr/>
                    <a:lstStyle>
                      <a:lvl1pPr marL="0" algn="l" defTabSz="914400" rtl="0" eaLnBrk="1" latinLnBrk="0" hangingPunct="1">
                        <a:defRPr sz="1800" kern="1200">
                          <a:solidFill>
                            <a:schemeClr val="dk1"/>
                          </a:solidFill>
                          <a:latin typeface="Arial"/>
                          <a:ea typeface="MS Gothic"/>
                          <a:cs typeface="Arial"/>
                        </a:defRPr>
                      </a:lvl1pPr>
                      <a:lvl2pPr marL="457200" algn="l" defTabSz="914400" rtl="0" eaLnBrk="1" latinLnBrk="0" hangingPunct="1">
                        <a:defRPr sz="1800" kern="1200">
                          <a:solidFill>
                            <a:schemeClr val="dk1"/>
                          </a:solidFill>
                          <a:latin typeface="Arial"/>
                          <a:ea typeface="MS Gothic"/>
                          <a:cs typeface="Arial"/>
                        </a:defRPr>
                      </a:lvl2pPr>
                      <a:lvl3pPr marL="914400" algn="l" defTabSz="914400" rtl="0" eaLnBrk="1" latinLnBrk="0" hangingPunct="1">
                        <a:defRPr sz="1800" kern="1200">
                          <a:solidFill>
                            <a:schemeClr val="dk1"/>
                          </a:solidFill>
                          <a:latin typeface="Arial"/>
                          <a:ea typeface="MS Gothic"/>
                          <a:cs typeface="Arial"/>
                        </a:defRPr>
                      </a:lvl3pPr>
                      <a:lvl4pPr marL="1371600" algn="l" defTabSz="914400" rtl="0" eaLnBrk="1" latinLnBrk="0" hangingPunct="1">
                        <a:defRPr sz="1800" kern="1200">
                          <a:solidFill>
                            <a:schemeClr val="dk1"/>
                          </a:solidFill>
                          <a:latin typeface="Arial"/>
                          <a:ea typeface="MS Gothic"/>
                          <a:cs typeface="Arial"/>
                        </a:defRPr>
                      </a:lvl4pPr>
                      <a:lvl5pPr marL="1828800" algn="l" defTabSz="914400" rtl="0" eaLnBrk="1" latinLnBrk="0" hangingPunct="1">
                        <a:defRPr sz="1800" kern="1200">
                          <a:solidFill>
                            <a:schemeClr val="dk1"/>
                          </a:solidFill>
                          <a:latin typeface="Arial"/>
                          <a:ea typeface="MS Gothic"/>
                          <a:cs typeface="Arial"/>
                        </a:defRPr>
                      </a:lvl5pPr>
                      <a:lvl6pPr marL="2286000" algn="l" defTabSz="914400" rtl="0" eaLnBrk="1" latinLnBrk="0" hangingPunct="1">
                        <a:defRPr sz="1800" kern="1200">
                          <a:solidFill>
                            <a:schemeClr val="dk1"/>
                          </a:solidFill>
                          <a:latin typeface="Arial"/>
                          <a:ea typeface="MS Gothic"/>
                          <a:cs typeface="Arial"/>
                        </a:defRPr>
                      </a:lvl6pPr>
                      <a:lvl7pPr marL="2743200" algn="l" defTabSz="914400" rtl="0" eaLnBrk="1" latinLnBrk="0" hangingPunct="1">
                        <a:defRPr sz="1800" kern="1200">
                          <a:solidFill>
                            <a:schemeClr val="dk1"/>
                          </a:solidFill>
                          <a:latin typeface="Arial"/>
                          <a:ea typeface="MS Gothic"/>
                          <a:cs typeface="Arial"/>
                        </a:defRPr>
                      </a:lvl7pPr>
                      <a:lvl8pPr marL="3200400" algn="l" defTabSz="914400" rtl="0" eaLnBrk="1" latinLnBrk="0" hangingPunct="1">
                        <a:defRPr sz="1800" kern="1200">
                          <a:solidFill>
                            <a:schemeClr val="dk1"/>
                          </a:solidFill>
                          <a:latin typeface="Arial"/>
                          <a:ea typeface="MS Gothic"/>
                          <a:cs typeface="Arial"/>
                        </a:defRPr>
                      </a:lvl8pPr>
                      <a:lvl9pPr marL="3657600" algn="l" defTabSz="914400" rtl="0" eaLnBrk="1" latinLnBrk="0" hangingPunct="1">
                        <a:defRPr sz="1800" kern="1200">
                          <a:solidFill>
                            <a:schemeClr val="dk1"/>
                          </a:solidFill>
                          <a:latin typeface="Arial"/>
                          <a:ea typeface="MS Gothic"/>
                          <a:cs typeface="Arial"/>
                        </a:defRPr>
                      </a:lvl9pPr>
                    </a:lstStyle>
                    <a:p>
                      <a:pPr indent="0" algn="ctr">
                        <a:buNone/>
                      </a:pPr>
                      <a:r>
                        <a:rPr lang="en-US" sz="1600" b="0">
                          <a:latin typeface="Times New Roman" panose="02020603050405020304" pitchFamily="18" charset="0"/>
                          <a:ea typeface="宋体" panose="02010600030101010101" pitchFamily="2" charset="-122"/>
                          <a:cs typeface="Times New Roman" panose="02020603050405020304" pitchFamily="18" charset="0"/>
                        </a:rPr>
                        <a:t>1.6098(0.5940 %)</a:t>
                      </a:r>
                      <a:endParaRPr lang="en-US" altLang="en-US" sz="16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40000"/>
                      </a:srgbClr>
                    </a:solidFill>
                  </a:tcPr>
                </a:tc>
                <a:tc>
                  <a:txBody>
                    <a:bodyPr/>
                    <a:lstStyle>
                      <a:lvl1pPr marL="0" algn="l" defTabSz="914400" rtl="0" eaLnBrk="1" latinLnBrk="0" hangingPunct="1">
                        <a:defRPr sz="1800" kern="1200">
                          <a:solidFill>
                            <a:schemeClr val="dk1"/>
                          </a:solidFill>
                          <a:latin typeface="Arial"/>
                          <a:ea typeface="MS Gothic"/>
                          <a:cs typeface="Arial"/>
                        </a:defRPr>
                      </a:lvl1pPr>
                      <a:lvl2pPr marL="457200" algn="l" defTabSz="914400" rtl="0" eaLnBrk="1" latinLnBrk="0" hangingPunct="1">
                        <a:defRPr sz="1800" kern="1200">
                          <a:solidFill>
                            <a:schemeClr val="dk1"/>
                          </a:solidFill>
                          <a:latin typeface="Arial"/>
                          <a:ea typeface="MS Gothic"/>
                          <a:cs typeface="Arial"/>
                        </a:defRPr>
                      </a:lvl2pPr>
                      <a:lvl3pPr marL="914400" algn="l" defTabSz="914400" rtl="0" eaLnBrk="1" latinLnBrk="0" hangingPunct="1">
                        <a:defRPr sz="1800" kern="1200">
                          <a:solidFill>
                            <a:schemeClr val="dk1"/>
                          </a:solidFill>
                          <a:latin typeface="Arial"/>
                          <a:ea typeface="MS Gothic"/>
                          <a:cs typeface="Arial"/>
                        </a:defRPr>
                      </a:lvl3pPr>
                      <a:lvl4pPr marL="1371600" algn="l" defTabSz="914400" rtl="0" eaLnBrk="1" latinLnBrk="0" hangingPunct="1">
                        <a:defRPr sz="1800" kern="1200">
                          <a:solidFill>
                            <a:schemeClr val="dk1"/>
                          </a:solidFill>
                          <a:latin typeface="Arial"/>
                          <a:ea typeface="MS Gothic"/>
                          <a:cs typeface="Arial"/>
                        </a:defRPr>
                      </a:lvl4pPr>
                      <a:lvl5pPr marL="1828800" algn="l" defTabSz="914400" rtl="0" eaLnBrk="1" latinLnBrk="0" hangingPunct="1">
                        <a:defRPr sz="1800" kern="1200">
                          <a:solidFill>
                            <a:schemeClr val="dk1"/>
                          </a:solidFill>
                          <a:latin typeface="Arial"/>
                          <a:ea typeface="MS Gothic"/>
                          <a:cs typeface="Arial"/>
                        </a:defRPr>
                      </a:lvl5pPr>
                      <a:lvl6pPr marL="2286000" algn="l" defTabSz="914400" rtl="0" eaLnBrk="1" latinLnBrk="0" hangingPunct="1">
                        <a:defRPr sz="1800" kern="1200">
                          <a:solidFill>
                            <a:schemeClr val="dk1"/>
                          </a:solidFill>
                          <a:latin typeface="Arial"/>
                          <a:ea typeface="MS Gothic"/>
                          <a:cs typeface="Arial"/>
                        </a:defRPr>
                      </a:lvl6pPr>
                      <a:lvl7pPr marL="2743200" algn="l" defTabSz="914400" rtl="0" eaLnBrk="1" latinLnBrk="0" hangingPunct="1">
                        <a:defRPr sz="1800" kern="1200">
                          <a:solidFill>
                            <a:schemeClr val="dk1"/>
                          </a:solidFill>
                          <a:latin typeface="Arial"/>
                          <a:ea typeface="MS Gothic"/>
                          <a:cs typeface="Arial"/>
                        </a:defRPr>
                      </a:lvl7pPr>
                      <a:lvl8pPr marL="3200400" algn="l" defTabSz="914400" rtl="0" eaLnBrk="1" latinLnBrk="0" hangingPunct="1">
                        <a:defRPr sz="1800" kern="1200">
                          <a:solidFill>
                            <a:schemeClr val="dk1"/>
                          </a:solidFill>
                          <a:latin typeface="Arial"/>
                          <a:ea typeface="MS Gothic"/>
                          <a:cs typeface="Arial"/>
                        </a:defRPr>
                      </a:lvl8pPr>
                      <a:lvl9pPr marL="3657600" algn="l" defTabSz="914400" rtl="0" eaLnBrk="1" latinLnBrk="0" hangingPunct="1">
                        <a:defRPr sz="1800" kern="1200">
                          <a:solidFill>
                            <a:schemeClr val="dk1"/>
                          </a:solidFill>
                          <a:latin typeface="Arial"/>
                          <a:ea typeface="MS Gothic"/>
                          <a:cs typeface="Arial"/>
                        </a:defRPr>
                      </a:lvl9pPr>
                    </a:lstStyle>
                    <a:p>
                      <a:pPr indent="0" algn="ctr">
                        <a:buNone/>
                      </a:pPr>
                      <a:r>
                        <a:rPr lang="en-US" sz="1600" b="1">
                          <a:latin typeface="Times New Roman" panose="02020603050405020304" pitchFamily="18" charset="0"/>
                          <a:ea typeface="宋体" panose="02010600030101010101" pitchFamily="2" charset="-122"/>
                          <a:cs typeface="Times New Roman" panose="02020603050405020304" pitchFamily="18" charset="0"/>
                        </a:rPr>
                        <a:t>1.</a:t>
                      </a:r>
                      <a:r>
                        <a:rPr lang="en-US" sz="1600" b="1">
                          <a:latin typeface="Times New Roman" panose="02020603050405020304" pitchFamily="18" charset="0"/>
                          <a:cs typeface="Times New Roman" panose="02020603050405020304" pitchFamily="18" charset="0"/>
                        </a:rPr>
                        <a:t>2822</a:t>
                      </a:r>
                      <a:r>
                        <a:rPr lang="en-US" sz="1600" b="1">
                          <a:latin typeface="Times New Roman" panose="02020603050405020304" pitchFamily="18" charset="0"/>
                          <a:ea typeface="宋体" panose="02010600030101010101" pitchFamily="2" charset="-122"/>
                          <a:cs typeface="Times New Roman" panose="02020603050405020304" pitchFamily="18" charset="0"/>
                        </a:rPr>
                        <a:t>(0.</a:t>
                      </a:r>
                      <a:r>
                        <a:rPr lang="en-US" sz="1600" b="1">
                          <a:latin typeface="Times New Roman" panose="02020603050405020304" pitchFamily="18" charset="0"/>
                          <a:cs typeface="Times New Roman" panose="02020603050405020304" pitchFamily="18" charset="0"/>
                        </a:rPr>
                        <a:t>4731</a:t>
                      </a:r>
                      <a:r>
                        <a:rPr lang="en-US" sz="1600" b="1">
                          <a:latin typeface="Times New Roman" panose="02020603050405020304" pitchFamily="18" charset="0"/>
                          <a:ea typeface="宋体" panose="02010600030101010101" pitchFamily="2" charset="-122"/>
                          <a:cs typeface="Times New Roman" panose="02020603050405020304" pitchFamily="18" charset="0"/>
                        </a:rPr>
                        <a:t>%)</a:t>
                      </a:r>
                      <a:endParaRPr lang="en-US" altLang="en-US" sz="1600" b="1">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40000"/>
                      </a:srgbClr>
                    </a:solidFill>
                  </a:tcPr>
                </a:tc>
                <a:tc>
                  <a:txBody>
                    <a:bodyPr/>
                    <a:lstStyle>
                      <a:lvl1pPr marL="0" algn="l" defTabSz="914400" rtl="0" eaLnBrk="1" latinLnBrk="0" hangingPunct="1">
                        <a:defRPr sz="1800" kern="1200">
                          <a:solidFill>
                            <a:schemeClr val="dk1"/>
                          </a:solidFill>
                          <a:latin typeface="Arial"/>
                          <a:ea typeface="MS Gothic"/>
                          <a:cs typeface="Arial"/>
                        </a:defRPr>
                      </a:lvl1pPr>
                      <a:lvl2pPr marL="457200" algn="l" defTabSz="914400" rtl="0" eaLnBrk="1" latinLnBrk="0" hangingPunct="1">
                        <a:defRPr sz="1800" kern="1200">
                          <a:solidFill>
                            <a:schemeClr val="dk1"/>
                          </a:solidFill>
                          <a:latin typeface="Arial"/>
                          <a:ea typeface="MS Gothic"/>
                          <a:cs typeface="Arial"/>
                        </a:defRPr>
                      </a:lvl2pPr>
                      <a:lvl3pPr marL="914400" algn="l" defTabSz="914400" rtl="0" eaLnBrk="1" latinLnBrk="0" hangingPunct="1">
                        <a:defRPr sz="1800" kern="1200">
                          <a:solidFill>
                            <a:schemeClr val="dk1"/>
                          </a:solidFill>
                          <a:latin typeface="Arial"/>
                          <a:ea typeface="MS Gothic"/>
                          <a:cs typeface="Arial"/>
                        </a:defRPr>
                      </a:lvl3pPr>
                      <a:lvl4pPr marL="1371600" algn="l" defTabSz="914400" rtl="0" eaLnBrk="1" latinLnBrk="0" hangingPunct="1">
                        <a:defRPr sz="1800" kern="1200">
                          <a:solidFill>
                            <a:schemeClr val="dk1"/>
                          </a:solidFill>
                          <a:latin typeface="Arial"/>
                          <a:ea typeface="MS Gothic"/>
                          <a:cs typeface="Arial"/>
                        </a:defRPr>
                      </a:lvl4pPr>
                      <a:lvl5pPr marL="1828800" algn="l" defTabSz="914400" rtl="0" eaLnBrk="1" latinLnBrk="0" hangingPunct="1">
                        <a:defRPr sz="1800" kern="1200">
                          <a:solidFill>
                            <a:schemeClr val="dk1"/>
                          </a:solidFill>
                          <a:latin typeface="Arial"/>
                          <a:ea typeface="MS Gothic"/>
                          <a:cs typeface="Arial"/>
                        </a:defRPr>
                      </a:lvl5pPr>
                      <a:lvl6pPr marL="2286000" algn="l" defTabSz="914400" rtl="0" eaLnBrk="1" latinLnBrk="0" hangingPunct="1">
                        <a:defRPr sz="1800" kern="1200">
                          <a:solidFill>
                            <a:schemeClr val="dk1"/>
                          </a:solidFill>
                          <a:latin typeface="Arial"/>
                          <a:ea typeface="MS Gothic"/>
                          <a:cs typeface="Arial"/>
                        </a:defRPr>
                      </a:lvl6pPr>
                      <a:lvl7pPr marL="2743200" algn="l" defTabSz="914400" rtl="0" eaLnBrk="1" latinLnBrk="0" hangingPunct="1">
                        <a:defRPr sz="1800" kern="1200">
                          <a:solidFill>
                            <a:schemeClr val="dk1"/>
                          </a:solidFill>
                          <a:latin typeface="Arial"/>
                          <a:ea typeface="MS Gothic"/>
                          <a:cs typeface="Arial"/>
                        </a:defRPr>
                      </a:lvl7pPr>
                      <a:lvl8pPr marL="3200400" algn="l" defTabSz="914400" rtl="0" eaLnBrk="1" latinLnBrk="0" hangingPunct="1">
                        <a:defRPr sz="1800" kern="1200">
                          <a:solidFill>
                            <a:schemeClr val="dk1"/>
                          </a:solidFill>
                          <a:latin typeface="Arial"/>
                          <a:ea typeface="MS Gothic"/>
                          <a:cs typeface="Arial"/>
                        </a:defRPr>
                      </a:lvl8pPr>
                      <a:lvl9pPr marL="3657600" algn="l" defTabSz="914400" rtl="0" eaLnBrk="1" latinLnBrk="0" hangingPunct="1">
                        <a:defRPr sz="1800" kern="1200">
                          <a:solidFill>
                            <a:schemeClr val="dk1"/>
                          </a:solidFill>
                          <a:latin typeface="Arial"/>
                          <a:ea typeface="MS Gothic"/>
                          <a:cs typeface="Arial"/>
                        </a:defRPr>
                      </a:lvl9pPr>
                    </a:lstStyle>
                    <a:p>
                      <a:pPr indent="0" algn="ctr">
                        <a:buNone/>
                      </a:pPr>
                      <a:r>
                        <a:rPr lang="en-US" sz="1600" b="0">
                          <a:latin typeface="Times New Roman" panose="02020603050405020304" pitchFamily="18" charset="0"/>
                          <a:cs typeface="Times New Roman" panose="02020603050405020304" pitchFamily="18" charset="0"/>
                        </a:rPr>
                        <a:t>43.3782</a:t>
                      </a:r>
                      <a:r>
                        <a:rPr lang="en-US" sz="1600" b="0">
                          <a:latin typeface="Times New Roman" panose="02020603050405020304" pitchFamily="18" charset="0"/>
                          <a:ea typeface="宋体" panose="02010600030101010101" pitchFamily="2" charset="-122"/>
                          <a:cs typeface="Times New Roman" panose="02020603050405020304" pitchFamily="18" charset="0"/>
                        </a:rPr>
                        <a:t>%</a:t>
                      </a:r>
                      <a:endParaRPr lang="en-US" alt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40000"/>
                      </a:srgbClr>
                    </a:solidFill>
                  </a:tcPr>
                </a:tc>
                <a:extLst>
                  <a:ext uri="{0D108BD9-81ED-4DB2-BD59-A6C34878D82A}">
                    <a16:rowId xmlns:a16="http://schemas.microsoft.com/office/drawing/2014/main" val="10001"/>
                  </a:ext>
                </a:extLst>
              </a:tr>
              <a:tr h="487680">
                <a:tc>
                  <a:txBody>
                    <a:bodyPr/>
                    <a:lstStyle>
                      <a:lvl1pPr marL="0" algn="l" defTabSz="914400" rtl="0" eaLnBrk="1" latinLnBrk="0" hangingPunct="1">
                        <a:defRPr sz="1800" kern="1200">
                          <a:solidFill>
                            <a:schemeClr val="dk1"/>
                          </a:solidFill>
                          <a:latin typeface="Arial"/>
                          <a:ea typeface="MS Gothic"/>
                          <a:cs typeface="Arial"/>
                        </a:defRPr>
                      </a:lvl1pPr>
                      <a:lvl2pPr marL="457200" algn="l" defTabSz="914400" rtl="0" eaLnBrk="1" latinLnBrk="0" hangingPunct="1">
                        <a:defRPr sz="1800" kern="1200">
                          <a:solidFill>
                            <a:schemeClr val="dk1"/>
                          </a:solidFill>
                          <a:latin typeface="Arial"/>
                          <a:ea typeface="MS Gothic"/>
                          <a:cs typeface="Arial"/>
                        </a:defRPr>
                      </a:lvl2pPr>
                      <a:lvl3pPr marL="914400" algn="l" defTabSz="914400" rtl="0" eaLnBrk="1" latinLnBrk="0" hangingPunct="1">
                        <a:defRPr sz="1800" kern="1200">
                          <a:solidFill>
                            <a:schemeClr val="dk1"/>
                          </a:solidFill>
                          <a:latin typeface="Arial"/>
                          <a:ea typeface="MS Gothic"/>
                          <a:cs typeface="Arial"/>
                        </a:defRPr>
                      </a:lvl3pPr>
                      <a:lvl4pPr marL="1371600" algn="l" defTabSz="914400" rtl="0" eaLnBrk="1" latinLnBrk="0" hangingPunct="1">
                        <a:defRPr sz="1800" kern="1200">
                          <a:solidFill>
                            <a:schemeClr val="dk1"/>
                          </a:solidFill>
                          <a:latin typeface="Arial"/>
                          <a:ea typeface="MS Gothic"/>
                          <a:cs typeface="Arial"/>
                        </a:defRPr>
                      </a:lvl4pPr>
                      <a:lvl5pPr marL="1828800" algn="l" defTabSz="914400" rtl="0" eaLnBrk="1" latinLnBrk="0" hangingPunct="1">
                        <a:defRPr sz="1800" kern="1200">
                          <a:solidFill>
                            <a:schemeClr val="dk1"/>
                          </a:solidFill>
                          <a:latin typeface="Arial"/>
                          <a:ea typeface="MS Gothic"/>
                          <a:cs typeface="Arial"/>
                        </a:defRPr>
                      </a:lvl5pPr>
                      <a:lvl6pPr marL="2286000" algn="l" defTabSz="914400" rtl="0" eaLnBrk="1" latinLnBrk="0" hangingPunct="1">
                        <a:defRPr sz="1800" kern="1200">
                          <a:solidFill>
                            <a:schemeClr val="dk1"/>
                          </a:solidFill>
                          <a:latin typeface="Arial"/>
                          <a:ea typeface="MS Gothic"/>
                          <a:cs typeface="Arial"/>
                        </a:defRPr>
                      </a:lvl6pPr>
                      <a:lvl7pPr marL="2743200" algn="l" defTabSz="914400" rtl="0" eaLnBrk="1" latinLnBrk="0" hangingPunct="1">
                        <a:defRPr sz="1800" kern="1200">
                          <a:solidFill>
                            <a:schemeClr val="dk1"/>
                          </a:solidFill>
                          <a:latin typeface="Arial"/>
                          <a:ea typeface="MS Gothic"/>
                          <a:cs typeface="Arial"/>
                        </a:defRPr>
                      </a:lvl7pPr>
                      <a:lvl8pPr marL="3200400" algn="l" defTabSz="914400" rtl="0" eaLnBrk="1" latinLnBrk="0" hangingPunct="1">
                        <a:defRPr sz="1800" kern="1200">
                          <a:solidFill>
                            <a:schemeClr val="dk1"/>
                          </a:solidFill>
                          <a:latin typeface="Arial"/>
                          <a:ea typeface="MS Gothic"/>
                          <a:cs typeface="Arial"/>
                        </a:defRPr>
                      </a:lvl8pPr>
                      <a:lvl9pPr marL="3657600" algn="l" defTabSz="914400" rtl="0" eaLnBrk="1" latinLnBrk="0" hangingPunct="1">
                        <a:defRPr sz="1800" kern="1200">
                          <a:solidFill>
                            <a:schemeClr val="dk1"/>
                          </a:solidFill>
                          <a:latin typeface="Arial"/>
                          <a:ea typeface="MS Gothic"/>
                          <a:cs typeface="Arial"/>
                        </a:defRPr>
                      </a:lvl9pPr>
                    </a:lstStyle>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无人机</a:t>
                      </a:r>
                      <a:r>
                        <a:rPr lang="en-US" sz="1600" b="0">
                          <a:latin typeface="Times New Roman" panose="02020603050405020304" pitchFamily="18" charset="0"/>
                          <a:cs typeface="Times New Roman" panose="02020603050405020304" pitchFamily="18" charset="0"/>
                        </a:rPr>
                        <a:t>B</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20000"/>
                      </a:srgbClr>
                    </a:solidFill>
                  </a:tcPr>
                </a:tc>
                <a:tc>
                  <a:txBody>
                    <a:bodyPr/>
                    <a:lstStyle>
                      <a:lvl1pPr marL="0" algn="l" defTabSz="914400" rtl="0" eaLnBrk="1" latinLnBrk="0" hangingPunct="1">
                        <a:defRPr sz="1800" kern="1200">
                          <a:solidFill>
                            <a:schemeClr val="dk1"/>
                          </a:solidFill>
                          <a:latin typeface="Arial"/>
                          <a:ea typeface="MS Gothic"/>
                          <a:cs typeface="Arial"/>
                        </a:defRPr>
                      </a:lvl1pPr>
                      <a:lvl2pPr marL="457200" algn="l" defTabSz="914400" rtl="0" eaLnBrk="1" latinLnBrk="0" hangingPunct="1">
                        <a:defRPr sz="1800" kern="1200">
                          <a:solidFill>
                            <a:schemeClr val="dk1"/>
                          </a:solidFill>
                          <a:latin typeface="Arial"/>
                          <a:ea typeface="MS Gothic"/>
                          <a:cs typeface="Arial"/>
                        </a:defRPr>
                      </a:lvl2pPr>
                      <a:lvl3pPr marL="914400" algn="l" defTabSz="914400" rtl="0" eaLnBrk="1" latinLnBrk="0" hangingPunct="1">
                        <a:defRPr sz="1800" kern="1200">
                          <a:solidFill>
                            <a:schemeClr val="dk1"/>
                          </a:solidFill>
                          <a:latin typeface="Arial"/>
                          <a:ea typeface="MS Gothic"/>
                          <a:cs typeface="Arial"/>
                        </a:defRPr>
                      </a:lvl3pPr>
                      <a:lvl4pPr marL="1371600" algn="l" defTabSz="914400" rtl="0" eaLnBrk="1" latinLnBrk="0" hangingPunct="1">
                        <a:defRPr sz="1800" kern="1200">
                          <a:solidFill>
                            <a:schemeClr val="dk1"/>
                          </a:solidFill>
                          <a:latin typeface="Arial"/>
                          <a:ea typeface="MS Gothic"/>
                          <a:cs typeface="Arial"/>
                        </a:defRPr>
                      </a:lvl4pPr>
                      <a:lvl5pPr marL="1828800" algn="l" defTabSz="914400" rtl="0" eaLnBrk="1" latinLnBrk="0" hangingPunct="1">
                        <a:defRPr sz="1800" kern="1200">
                          <a:solidFill>
                            <a:schemeClr val="dk1"/>
                          </a:solidFill>
                          <a:latin typeface="Arial"/>
                          <a:ea typeface="MS Gothic"/>
                          <a:cs typeface="Arial"/>
                        </a:defRPr>
                      </a:lvl5pPr>
                      <a:lvl6pPr marL="2286000" algn="l" defTabSz="914400" rtl="0" eaLnBrk="1" latinLnBrk="0" hangingPunct="1">
                        <a:defRPr sz="1800" kern="1200">
                          <a:solidFill>
                            <a:schemeClr val="dk1"/>
                          </a:solidFill>
                          <a:latin typeface="Arial"/>
                          <a:ea typeface="MS Gothic"/>
                          <a:cs typeface="Arial"/>
                        </a:defRPr>
                      </a:lvl6pPr>
                      <a:lvl7pPr marL="2743200" algn="l" defTabSz="914400" rtl="0" eaLnBrk="1" latinLnBrk="0" hangingPunct="1">
                        <a:defRPr sz="1800" kern="1200">
                          <a:solidFill>
                            <a:schemeClr val="dk1"/>
                          </a:solidFill>
                          <a:latin typeface="Arial"/>
                          <a:ea typeface="MS Gothic"/>
                          <a:cs typeface="Arial"/>
                        </a:defRPr>
                      </a:lvl7pPr>
                      <a:lvl8pPr marL="3200400" algn="l" defTabSz="914400" rtl="0" eaLnBrk="1" latinLnBrk="0" hangingPunct="1">
                        <a:defRPr sz="1800" kern="1200">
                          <a:solidFill>
                            <a:schemeClr val="dk1"/>
                          </a:solidFill>
                          <a:latin typeface="Arial"/>
                          <a:ea typeface="MS Gothic"/>
                          <a:cs typeface="Arial"/>
                        </a:defRPr>
                      </a:lvl8pPr>
                      <a:lvl9pPr marL="3657600" algn="l" defTabSz="914400" rtl="0" eaLnBrk="1" latinLnBrk="0" hangingPunct="1">
                        <a:defRPr sz="1800" kern="1200">
                          <a:solidFill>
                            <a:schemeClr val="dk1"/>
                          </a:solidFill>
                          <a:latin typeface="Arial"/>
                          <a:ea typeface="MS Gothic"/>
                          <a:cs typeface="Arial"/>
                        </a:defRPr>
                      </a:lvl9pPr>
                    </a:lstStyle>
                    <a:p>
                      <a:pPr indent="0" algn="ctr">
                        <a:buNone/>
                      </a:pPr>
                      <a:r>
                        <a:rPr lang="en-US" sz="1600" b="0">
                          <a:latin typeface="Times New Roman" panose="02020603050405020304" pitchFamily="18" charset="0"/>
                          <a:cs typeface="Times New Roman" panose="02020603050405020304" pitchFamily="18" charset="0"/>
                        </a:rPr>
                        <a:t>2.5737(0.</a:t>
                      </a:r>
                      <a:r>
                        <a:rPr lang="en-US" sz="1600" b="0">
                          <a:latin typeface="Times New Roman" panose="02020603050405020304" pitchFamily="18" charset="0"/>
                          <a:ea typeface="宋体" panose="02010600030101010101" pitchFamily="2" charset="-122"/>
                          <a:cs typeface="Times New Roman" panose="02020603050405020304" pitchFamily="18" charset="0"/>
                        </a:rPr>
                        <a:t>8018</a:t>
                      </a:r>
                      <a:r>
                        <a:rPr lang="en-US" sz="1600" b="0">
                          <a:latin typeface="Times New Roman" panose="02020603050405020304" pitchFamily="18" charset="0"/>
                          <a:cs typeface="Times New Roman" panose="02020603050405020304" pitchFamily="18" charset="0"/>
                        </a:rPr>
                        <a:t>%)</a:t>
                      </a:r>
                      <a:endParaRPr lang="en-US" alt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20000"/>
                      </a:srgbClr>
                    </a:solidFill>
                  </a:tcPr>
                </a:tc>
                <a:tc>
                  <a:txBody>
                    <a:bodyPr/>
                    <a:lstStyle>
                      <a:lvl1pPr marL="0" algn="l" defTabSz="914400" rtl="0" eaLnBrk="1" latinLnBrk="0" hangingPunct="1">
                        <a:defRPr sz="1800" kern="1200">
                          <a:solidFill>
                            <a:schemeClr val="dk1"/>
                          </a:solidFill>
                          <a:latin typeface="Arial"/>
                          <a:ea typeface="MS Gothic"/>
                          <a:cs typeface="Arial"/>
                        </a:defRPr>
                      </a:lvl1pPr>
                      <a:lvl2pPr marL="457200" algn="l" defTabSz="914400" rtl="0" eaLnBrk="1" latinLnBrk="0" hangingPunct="1">
                        <a:defRPr sz="1800" kern="1200">
                          <a:solidFill>
                            <a:schemeClr val="dk1"/>
                          </a:solidFill>
                          <a:latin typeface="Arial"/>
                          <a:ea typeface="MS Gothic"/>
                          <a:cs typeface="Arial"/>
                        </a:defRPr>
                      </a:lvl2pPr>
                      <a:lvl3pPr marL="914400" algn="l" defTabSz="914400" rtl="0" eaLnBrk="1" latinLnBrk="0" hangingPunct="1">
                        <a:defRPr sz="1800" kern="1200">
                          <a:solidFill>
                            <a:schemeClr val="dk1"/>
                          </a:solidFill>
                          <a:latin typeface="Arial"/>
                          <a:ea typeface="MS Gothic"/>
                          <a:cs typeface="Arial"/>
                        </a:defRPr>
                      </a:lvl3pPr>
                      <a:lvl4pPr marL="1371600" algn="l" defTabSz="914400" rtl="0" eaLnBrk="1" latinLnBrk="0" hangingPunct="1">
                        <a:defRPr sz="1800" kern="1200">
                          <a:solidFill>
                            <a:schemeClr val="dk1"/>
                          </a:solidFill>
                          <a:latin typeface="Arial"/>
                          <a:ea typeface="MS Gothic"/>
                          <a:cs typeface="Arial"/>
                        </a:defRPr>
                      </a:lvl4pPr>
                      <a:lvl5pPr marL="1828800" algn="l" defTabSz="914400" rtl="0" eaLnBrk="1" latinLnBrk="0" hangingPunct="1">
                        <a:defRPr sz="1800" kern="1200">
                          <a:solidFill>
                            <a:schemeClr val="dk1"/>
                          </a:solidFill>
                          <a:latin typeface="Arial"/>
                          <a:ea typeface="MS Gothic"/>
                          <a:cs typeface="Arial"/>
                        </a:defRPr>
                      </a:lvl5pPr>
                      <a:lvl6pPr marL="2286000" algn="l" defTabSz="914400" rtl="0" eaLnBrk="1" latinLnBrk="0" hangingPunct="1">
                        <a:defRPr sz="1800" kern="1200">
                          <a:solidFill>
                            <a:schemeClr val="dk1"/>
                          </a:solidFill>
                          <a:latin typeface="Arial"/>
                          <a:ea typeface="MS Gothic"/>
                          <a:cs typeface="Arial"/>
                        </a:defRPr>
                      </a:lvl6pPr>
                      <a:lvl7pPr marL="2743200" algn="l" defTabSz="914400" rtl="0" eaLnBrk="1" latinLnBrk="0" hangingPunct="1">
                        <a:defRPr sz="1800" kern="1200">
                          <a:solidFill>
                            <a:schemeClr val="dk1"/>
                          </a:solidFill>
                          <a:latin typeface="Arial"/>
                          <a:ea typeface="MS Gothic"/>
                          <a:cs typeface="Arial"/>
                        </a:defRPr>
                      </a:lvl7pPr>
                      <a:lvl8pPr marL="3200400" algn="l" defTabSz="914400" rtl="0" eaLnBrk="1" latinLnBrk="0" hangingPunct="1">
                        <a:defRPr sz="1800" kern="1200">
                          <a:solidFill>
                            <a:schemeClr val="dk1"/>
                          </a:solidFill>
                          <a:latin typeface="Arial"/>
                          <a:ea typeface="MS Gothic"/>
                          <a:cs typeface="Arial"/>
                        </a:defRPr>
                      </a:lvl8pPr>
                      <a:lvl9pPr marL="3657600" algn="l" defTabSz="914400" rtl="0" eaLnBrk="1" latinLnBrk="0" hangingPunct="1">
                        <a:defRPr sz="1800" kern="1200">
                          <a:solidFill>
                            <a:schemeClr val="dk1"/>
                          </a:solidFill>
                          <a:latin typeface="Arial"/>
                          <a:ea typeface="MS Gothic"/>
                          <a:cs typeface="Arial"/>
                        </a:defRPr>
                      </a:lvl9pPr>
                    </a:lstStyle>
                    <a:p>
                      <a:pPr indent="0" algn="ctr">
                        <a:buNone/>
                      </a:pPr>
                      <a:r>
                        <a:rPr lang="en-US" sz="1600" b="0">
                          <a:latin typeface="Times New Roman" panose="02020603050405020304" pitchFamily="18" charset="0"/>
                          <a:ea typeface="宋体" panose="02010600030101010101" pitchFamily="2" charset="-122"/>
                          <a:cs typeface="Times New Roman" panose="02020603050405020304" pitchFamily="18" charset="0"/>
                        </a:rPr>
                        <a:t>1.8699(0.5825 %)</a:t>
                      </a:r>
                      <a:endParaRPr lang="en-US" altLang="en-US" sz="16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20000"/>
                      </a:srgbClr>
                    </a:solidFill>
                  </a:tcPr>
                </a:tc>
                <a:tc>
                  <a:txBody>
                    <a:bodyPr/>
                    <a:lstStyle>
                      <a:lvl1pPr marL="0" algn="l" defTabSz="914400" rtl="0" eaLnBrk="1" latinLnBrk="0" hangingPunct="1">
                        <a:defRPr sz="1800" kern="1200">
                          <a:solidFill>
                            <a:schemeClr val="dk1"/>
                          </a:solidFill>
                          <a:latin typeface="Arial"/>
                          <a:ea typeface="MS Gothic"/>
                          <a:cs typeface="Arial"/>
                        </a:defRPr>
                      </a:lvl1pPr>
                      <a:lvl2pPr marL="457200" algn="l" defTabSz="914400" rtl="0" eaLnBrk="1" latinLnBrk="0" hangingPunct="1">
                        <a:defRPr sz="1800" kern="1200">
                          <a:solidFill>
                            <a:schemeClr val="dk1"/>
                          </a:solidFill>
                          <a:latin typeface="Arial"/>
                          <a:ea typeface="MS Gothic"/>
                          <a:cs typeface="Arial"/>
                        </a:defRPr>
                      </a:lvl2pPr>
                      <a:lvl3pPr marL="914400" algn="l" defTabSz="914400" rtl="0" eaLnBrk="1" latinLnBrk="0" hangingPunct="1">
                        <a:defRPr sz="1800" kern="1200">
                          <a:solidFill>
                            <a:schemeClr val="dk1"/>
                          </a:solidFill>
                          <a:latin typeface="Arial"/>
                          <a:ea typeface="MS Gothic"/>
                          <a:cs typeface="Arial"/>
                        </a:defRPr>
                      </a:lvl3pPr>
                      <a:lvl4pPr marL="1371600" algn="l" defTabSz="914400" rtl="0" eaLnBrk="1" latinLnBrk="0" hangingPunct="1">
                        <a:defRPr sz="1800" kern="1200">
                          <a:solidFill>
                            <a:schemeClr val="dk1"/>
                          </a:solidFill>
                          <a:latin typeface="Arial"/>
                          <a:ea typeface="MS Gothic"/>
                          <a:cs typeface="Arial"/>
                        </a:defRPr>
                      </a:lvl4pPr>
                      <a:lvl5pPr marL="1828800" algn="l" defTabSz="914400" rtl="0" eaLnBrk="1" latinLnBrk="0" hangingPunct="1">
                        <a:defRPr sz="1800" kern="1200">
                          <a:solidFill>
                            <a:schemeClr val="dk1"/>
                          </a:solidFill>
                          <a:latin typeface="Arial"/>
                          <a:ea typeface="MS Gothic"/>
                          <a:cs typeface="Arial"/>
                        </a:defRPr>
                      </a:lvl5pPr>
                      <a:lvl6pPr marL="2286000" algn="l" defTabSz="914400" rtl="0" eaLnBrk="1" latinLnBrk="0" hangingPunct="1">
                        <a:defRPr sz="1800" kern="1200">
                          <a:solidFill>
                            <a:schemeClr val="dk1"/>
                          </a:solidFill>
                          <a:latin typeface="Arial"/>
                          <a:ea typeface="MS Gothic"/>
                          <a:cs typeface="Arial"/>
                        </a:defRPr>
                      </a:lvl6pPr>
                      <a:lvl7pPr marL="2743200" algn="l" defTabSz="914400" rtl="0" eaLnBrk="1" latinLnBrk="0" hangingPunct="1">
                        <a:defRPr sz="1800" kern="1200">
                          <a:solidFill>
                            <a:schemeClr val="dk1"/>
                          </a:solidFill>
                          <a:latin typeface="Arial"/>
                          <a:ea typeface="MS Gothic"/>
                          <a:cs typeface="Arial"/>
                        </a:defRPr>
                      </a:lvl7pPr>
                      <a:lvl8pPr marL="3200400" algn="l" defTabSz="914400" rtl="0" eaLnBrk="1" latinLnBrk="0" hangingPunct="1">
                        <a:defRPr sz="1800" kern="1200">
                          <a:solidFill>
                            <a:schemeClr val="dk1"/>
                          </a:solidFill>
                          <a:latin typeface="Arial"/>
                          <a:ea typeface="MS Gothic"/>
                          <a:cs typeface="Arial"/>
                        </a:defRPr>
                      </a:lvl8pPr>
                      <a:lvl9pPr marL="3657600" algn="l" defTabSz="914400" rtl="0" eaLnBrk="1" latinLnBrk="0" hangingPunct="1">
                        <a:defRPr sz="1800" kern="1200">
                          <a:solidFill>
                            <a:schemeClr val="dk1"/>
                          </a:solidFill>
                          <a:latin typeface="Arial"/>
                          <a:ea typeface="MS Gothic"/>
                          <a:cs typeface="Arial"/>
                        </a:defRPr>
                      </a:lvl9pPr>
                    </a:lstStyle>
                    <a:p>
                      <a:pPr indent="0" algn="ctr">
                        <a:buNone/>
                      </a:pPr>
                      <a:r>
                        <a:rPr lang="en-US" sz="1600" b="1">
                          <a:latin typeface="Times New Roman" panose="02020603050405020304" pitchFamily="18" charset="0"/>
                          <a:ea typeface="宋体" panose="02010600030101010101" pitchFamily="2" charset="-122"/>
                          <a:cs typeface="Times New Roman" panose="02020603050405020304" pitchFamily="18" charset="0"/>
                        </a:rPr>
                        <a:t>1.</a:t>
                      </a:r>
                      <a:r>
                        <a:rPr lang="en-US" sz="1600" b="1">
                          <a:latin typeface="Times New Roman" panose="02020603050405020304" pitchFamily="18" charset="0"/>
                          <a:cs typeface="Times New Roman" panose="02020603050405020304" pitchFamily="18" charset="0"/>
                        </a:rPr>
                        <a:t>3162</a:t>
                      </a:r>
                      <a:r>
                        <a:rPr lang="en-US" sz="1600" b="1">
                          <a:latin typeface="Times New Roman" panose="02020603050405020304" pitchFamily="18" charset="0"/>
                          <a:ea typeface="宋体" panose="02010600030101010101" pitchFamily="2" charset="-122"/>
                          <a:cs typeface="Times New Roman" panose="02020603050405020304" pitchFamily="18" charset="0"/>
                        </a:rPr>
                        <a:t>(0.</a:t>
                      </a:r>
                      <a:r>
                        <a:rPr lang="en-US" sz="1600" b="1">
                          <a:latin typeface="Times New Roman" panose="02020603050405020304" pitchFamily="18" charset="0"/>
                          <a:cs typeface="Times New Roman" panose="02020603050405020304" pitchFamily="18" charset="0"/>
                        </a:rPr>
                        <a:t>4100</a:t>
                      </a:r>
                      <a:r>
                        <a:rPr lang="en-US" sz="1600" b="1">
                          <a:latin typeface="Times New Roman" panose="02020603050405020304" pitchFamily="18" charset="0"/>
                          <a:ea typeface="宋体" panose="02010600030101010101" pitchFamily="2" charset="-122"/>
                          <a:cs typeface="Times New Roman" panose="02020603050405020304" pitchFamily="18" charset="0"/>
                        </a:rPr>
                        <a:t>%)</a:t>
                      </a:r>
                      <a:endParaRPr lang="en-US" altLang="en-US" sz="1600" b="1">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20000"/>
                      </a:srgbClr>
                    </a:solidFill>
                  </a:tcPr>
                </a:tc>
                <a:tc>
                  <a:txBody>
                    <a:bodyPr/>
                    <a:lstStyle>
                      <a:lvl1pPr marL="0" algn="l" defTabSz="914400" rtl="0" eaLnBrk="1" latinLnBrk="0" hangingPunct="1">
                        <a:defRPr sz="1800" kern="1200">
                          <a:solidFill>
                            <a:schemeClr val="dk1"/>
                          </a:solidFill>
                          <a:latin typeface="Arial"/>
                          <a:ea typeface="MS Gothic"/>
                          <a:cs typeface="Arial"/>
                        </a:defRPr>
                      </a:lvl1pPr>
                      <a:lvl2pPr marL="457200" algn="l" defTabSz="914400" rtl="0" eaLnBrk="1" latinLnBrk="0" hangingPunct="1">
                        <a:defRPr sz="1800" kern="1200">
                          <a:solidFill>
                            <a:schemeClr val="dk1"/>
                          </a:solidFill>
                          <a:latin typeface="Arial"/>
                          <a:ea typeface="MS Gothic"/>
                          <a:cs typeface="Arial"/>
                        </a:defRPr>
                      </a:lvl2pPr>
                      <a:lvl3pPr marL="914400" algn="l" defTabSz="914400" rtl="0" eaLnBrk="1" latinLnBrk="0" hangingPunct="1">
                        <a:defRPr sz="1800" kern="1200">
                          <a:solidFill>
                            <a:schemeClr val="dk1"/>
                          </a:solidFill>
                          <a:latin typeface="Arial"/>
                          <a:ea typeface="MS Gothic"/>
                          <a:cs typeface="Arial"/>
                        </a:defRPr>
                      </a:lvl3pPr>
                      <a:lvl4pPr marL="1371600" algn="l" defTabSz="914400" rtl="0" eaLnBrk="1" latinLnBrk="0" hangingPunct="1">
                        <a:defRPr sz="1800" kern="1200">
                          <a:solidFill>
                            <a:schemeClr val="dk1"/>
                          </a:solidFill>
                          <a:latin typeface="Arial"/>
                          <a:ea typeface="MS Gothic"/>
                          <a:cs typeface="Arial"/>
                        </a:defRPr>
                      </a:lvl4pPr>
                      <a:lvl5pPr marL="1828800" algn="l" defTabSz="914400" rtl="0" eaLnBrk="1" latinLnBrk="0" hangingPunct="1">
                        <a:defRPr sz="1800" kern="1200">
                          <a:solidFill>
                            <a:schemeClr val="dk1"/>
                          </a:solidFill>
                          <a:latin typeface="Arial"/>
                          <a:ea typeface="MS Gothic"/>
                          <a:cs typeface="Arial"/>
                        </a:defRPr>
                      </a:lvl5pPr>
                      <a:lvl6pPr marL="2286000" algn="l" defTabSz="914400" rtl="0" eaLnBrk="1" latinLnBrk="0" hangingPunct="1">
                        <a:defRPr sz="1800" kern="1200">
                          <a:solidFill>
                            <a:schemeClr val="dk1"/>
                          </a:solidFill>
                          <a:latin typeface="Arial"/>
                          <a:ea typeface="MS Gothic"/>
                          <a:cs typeface="Arial"/>
                        </a:defRPr>
                      </a:lvl6pPr>
                      <a:lvl7pPr marL="2743200" algn="l" defTabSz="914400" rtl="0" eaLnBrk="1" latinLnBrk="0" hangingPunct="1">
                        <a:defRPr sz="1800" kern="1200">
                          <a:solidFill>
                            <a:schemeClr val="dk1"/>
                          </a:solidFill>
                          <a:latin typeface="Arial"/>
                          <a:ea typeface="MS Gothic"/>
                          <a:cs typeface="Arial"/>
                        </a:defRPr>
                      </a:lvl7pPr>
                      <a:lvl8pPr marL="3200400" algn="l" defTabSz="914400" rtl="0" eaLnBrk="1" latinLnBrk="0" hangingPunct="1">
                        <a:defRPr sz="1800" kern="1200">
                          <a:solidFill>
                            <a:schemeClr val="dk1"/>
                          </a:solidFill>
                          <a:latin typeface="Arial"/>
                          <a:ea typeface="MS Gothic"/>
                          <a:cs typeface="Arial"/>
                        </a:defRPr>
                      </a:lvl8pPr>
                      <a:lvl9pPr marL="3657600" algn="l" defTabSz="914400" rtl="0" eaLnBrk="1" latinLnBrk="0" hangingPunct="1">
                        <a:defRPr sz="1800" kern="1200">
                          <a:solidFill>
                            <a:schemeClr val="dk1"/>
                          </a:solidFill>
                          <a:latin typeface="Arial"/>
                          <a:ea typeface="MS Gothic"/>
                          <a:cs typeface="Arial"/>
                        </a:defRPr>
                      </a:lvl9pPr>
                    </a:lstStyle>
                    <a:p>
                      <a:pPr indent="0" algn="ctr">
                        <a:buNone/>
                      </a:pPr>
                      <a:r>
                        <a:rPr lang="en-US" sz="1600" b="0">
                          <a:latin typeface="Times New Roman" panose="02020603050405020304" pitchFamily="18" charset="0"/>
                          <a:cs typeface="Times New Roman" panose="02020603050405020304" pitchFamily="18" charset="0"/>
                        </a:rPr>
                        <a:t>48.8596</a:t>
                      </a:r>
                      <a:r>
                        <a:rPr lang="en-US" sz="1600" b="0">
                          <a:latin typeface="Times New Roman" panose="02020603050405020304" pitchFamily="18" charset="0"/>
                          <a:ea typeface="宋体" panose="02010600030101010101" pitchFamily="2" charset="-122"/>
                          <a:cs typeface="Times New Roman" panose="02020603050405020304" pitchFamily="18" charset="0"/>
                        </a:rPr>
                        <a:t>%</a:t>
                      </a:r>
                      <a:endParaRPr lang="en-US" alt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20000"/>
                      </a:srgbClr>
                    </a:solidFill>
                  </a:tcPr>
                </a:tc>
                <a:extLst>
                  <a:ext uri="{0D108BD9-81ED-4DB2-BD59-A6C34878D82A}">
                    <a16:rowId xmlns:a16="http://schemas.microsoft.com/office/drawing/2014/main" val="10002"/>
                  </a:ext>
                </a:extLst>
              </a:tr>
            </a:tbl>
          </a:graphicData>
        </a:graphic>
      </p:graphicFrame>
      <p:pic>
        <p:nvPicPr>
          <p:cNvPr id="11" name="图片 32">
            <a:extLst>
              <a:ext uri="{FF2B5EF4-FFF2-40B4-BE49-F238E27FC236}">
                <a16:creationId xmlns:a16="http://schemas.microsoft.com/office/drawing/2014/main" id="{80B6F68C-E19D-F85F-6512-B1CA3D97774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a:xfrm>
            <a:off x="8347710" y="3388678"/>
            <a:ext cx="3959860" cy="2966085"/>
          </a:xfrm>
          <a:prstGeom prst="rect">
            <a:avLst/>
          </a:prstGeom>
          <a:noFill/>
          <a:ln>
            <a:noFill/>
          </a:ln>
        </p:spPr>
      </p:pic>
      <p:sp>
        <p:nvSpPr>
          <p:cNvPr id="12" name="文本框 11">
            <a:extLst>
              <a:ext uri="{FF2B5EF4-FFF2-40B4-BE49-F238E27FC236}">
                <a16:creationId xmlns:a16="http://schemas.microsoft.com/office/drawing/2014/main" id="{3D9B6D72-A867-DAD2-77A9-0924A12445BB}"/>
              </a:ext>
            </a:extLst>
          </p:cNvPr>
          <p:cNvSpPr txBox="1"/>
          <p:nvPr/>
        </p:nvSpPr>
        <p:spPr>
          <a:xfrm>
            <a:off x="374650" y="3152775"/>
            <a:ext cx="2014855" cy="275590"/>
          </a:xfrm>
          <a:prstGeom prst="rect">
            <a:avLst/>
          </a:prstGeom>
          <a:noFill/>
          <a:ln w="9525">
            <a:noFill/>
          </a:ln>
        </p:spPr>
        <p:txBody>
          <a:bodyPr wrap="square">
            <a:spAutoFit/>
          </a:bodyPr>
          <a:lstStyle/>
          <a:p>
            <a:pPr indent="127000" algn="ctr" fontAlgn="base">
              <a:spcBef>
                <a:spcPct val="0"/>
              </a:spcBef>
              <a:spcAft>
                <a:spcPct val="0"/>
              </a:spcAft>
            </a:pPr>
            <a:r>
              <a:rPr lang="zh-CN" altLang="en-US" sz="1200">
                <a:solidFill>
                  <a:srgbClr val="000000"/>
                </a:solidFill>
                <a:latin typeface="Times New Roman" panose="02020603050405020304" pitchFamily="18" charset="0"/>
                <a:ea typeface="宋体" panose="02010600030101010101" pitchFamily="2" charset="-122"/>
                <a:cs typeface="Arial"/>
              </a:rPr>
              <a:t>无人机飞行</a:t>
            </a:r>
            <a:r>
              <a:rPr lang="en-US" sz="1200">
                <a:solidFill>
                  <a:srgbClr val="000000"/>
                </a:solidFill>
                <a:latin typeface="Times New Roman" panose="02020603050405020304" pitchFamily="18" charset="0"/>
                <a:ea typeface="宋体" panose="02010600030101010101" pitchFamily="2" charset="-122"/>
                <a:cs typeface="Arial"/>
              </a:rPr>
              <a:t>G</a:t>
            </a:r>
            <a:r>
              <a:rPr lang="en-US" sz="1200">
                <a:solidFill>
                  <a:srgbClr val="000000"/>
                </a:solidFill>
                <a:latin typeface="Times New Roman" panose="02020603050405020304" pitchFamily="18" charset="0"/>
                <a:ea typeface="宋体" panose="02010600030101010101" pitchFamily="2" charset="-122"/>
                <a:cs typeface="宋体" panose="02010600030101010101" pitchFamily="2" charset="-122"/>
              </a:rPr>
              <a:t>NSS</a:t>
            </a:r>
            <a:r>
              <a:rPr lang="zh-CN" altLang="en-US" sz="1200">
                <a:solidFill>
                  <a:srgbClr val="000000"/>
                </a:solidFill>
                <a:latin typeface="Times New Roman" panose="02020603050405020304" pitchFamily="18" charset="0"/>
                <a:ea typeface="宋体" panose="02010600030101010101" pitchFamily="2" charset="-122"/>
                <a:cs typeface="Arial"/>
              </a:rPr>
              <a:t>轨迹</a:t>
            </a:r>
            <a:endParaRPr lang="zh-CN" altLang="en-US" sz="2400">
              <a:solidFill>
                <a:srgbClr val="000000"/>
              </a:solidFill>
              <a:ea typeface="MS Gothic" panose="020B0609070205080204" pitchFamily="49" charset="-128"/>
              <a:cs typeface="Arial"/>
            </a:endParaRPr>
          </a:p>
        </p:txBody>
      </p:sp>
      <p:sp>
        <p:nvSpPr>
          <p:cNvPr id="13" name="文本框 12">
            <a:extLst>
              <a:ext uri="{FF2B5EF4-FFF2-40B4-BE49-F238E27FC236}">
                <a16:creationId xmlns:a16="http://schemas.microsoft.com/office/drawing/2014/main" id="{14D74615-E5D9-1B7E-AE95-24EF5A8B303D}"/>
              </a:ext>
            </a:extLst>
          </p:cNvPr>
          <p:cNvSpPr txBox="1"/>
          <p:nvPr/>
        </p:nvSpPr>
        <p:spPr>
          <a:xfrm>
            <a:off x="3371215" y="3159125"/>
            <a:ext cx="1619250" cy="275590"/>
          </a:xfrm>
          <a:prstGeom prst="rect">
            <a:avLst/>
          </a:prstGeom>
          <a:noFill/>
          <a:ln w="9525">
            <a:noFill/>
          </a:ln>
        </p:spPr>
        <p:txBody>
          <a:bodyPr wrap="square">
            <a:spAutoFit/>
          </a:bodyPr>
          <a:lstStyle/>
          <a:p>
            <a:pPr indent="127000" algn="ctr" fontAlgn="base">
              <a:spcBef>
                <a:spcPct val="0"/>
              </a:spcBef>
              <a:spcAft>
                <a:spcPct val="0"/>
              </a:spcAft>
            </a:pPr>
            <a:r>
              <a:rPr lang="zh-CN" altLang="en-US" sz="1200">
                <a:solidFill>
                  <a:srgbClr val="000000"/>
                </a:solidFill>
                <a:latin typeface="Times New Roman" panose="02020603050405020304" pitchFamily="18" charset="0"/>
                <a:ea typeface="宋体" panose="02010600030101010101" pitchFamily="2" charset="-122"/>
                <a:cs typeface="Arial"/>
              </a:rPr>
              <a:t>无人机</a:t>
            </a:r>
            <a:r>
              <a:rPr lang="en-US" sz="1200">
                <a:solidFill>
                  <a:srgbClr val="000000"/>
                </a:solidFill>
                <a:latin typeface="Times New Roman" panose="02020603050405020304" pitchFamily="18" charset="0"/>
                <a:ea typeface="宋体" panose="02010600030101010101" pitchFamily="2" charset="-122"/>
                <a:cs typeface="Arial"/>
              </a:rPr>
              <a:t>A</a:t>
            </a:r>
            <a:r>
              <a:rPr lang="zh-CN" altLang="en-US" sz="1200">
                <a:solidFill>
                  <a:srgbClr val="000000"/>
                </a:solidFill>
                <a:latin typeface="Times New Roman" panose="02020603050405020304" pitchFamily="18" charset="0"/>
                <a:ea typeface="宋体" panose="02010600030101010101" pitchFamily="2" charset="-122"/>
                <a:cs typeface="Arial"/>
              </a:rPr>
              <a:t>观测图像</a:t>
            </a:r>
            <a:endParaRPr lang="zh-CN" altLang="en-US" sz="2400">
              <a:solidFill>
                <a:srgbClr val="000000"/>
              </a:solidFill>
              <a:ea typeface="MS Gothic" panose="020B0609070205080204" pitchFamily="49" charset="-128"/>
              <a:cs typeface="Arial"/>
            </a:endParaRPr>
          </a:p>
        </p:txBody>
      </p:sp>
    </p:spTree>
    <p:extLst>
      <p:ext uri="{BB962C8B-B14F-4D97-AF65-F5344CB8AC3E}">
        <p14:creationId xmlns:p14="http://schemas.microsoft.com/office/powerpoint/2010/main" val="181396887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6E71A1D-301E-9CA1-A38B-B332C5A2CC1D}"/>
              </a:ext>
            </a:extLst>
          </p:cNvPr>
          <p:cNvPicPr>
            <a:picLocks noChangeAspect="1"/>
          </p:cNvPicPr>
          <p:nvPr/>
        </p:nvPicPr>
        <p:blipFill>
          <a:blip r:embed="rId2"/>
          <a:stretch>
            <a:fillRect/>
          </a:stretch>
        </p:blipFill>
        <p:spPr>
          <a:xfrm>
            <a:off x="6937586" y="1839595"/>
            <a:ext cx="5140960" cy="1589405"/>
          </a:xfrm>
          <a:prstGeom prst="rect">
            <a:avLst/>
          </a:prstGeom>
        </p:spPr>
      </p:pic>
      <p:pic>
        <p:nvPicPr>
          <p:cNvPr id="3" name="图片 2">
            <a:extLst>
              <a:ext uri="{FF2B5EF4-FFF2-40B4-BE49-F238E27FC236}">
                <a16:creationId xmlns:a16="http://schemas.microsoft.com/office/drawing/2014/main" id="{0040A1F9-EBA1-9D08-FCAA-B7F7E474124F}"/>
              </a:ext>
            </a:extLst>
          </p:cNvPr>
          <p:cNvPicPr>
            <a:picLocks noChangeAspect="1"/>
          </p:cNvPicPr>
          <p:nvPr/>
        </p:nvPicPr>
        <p:blipFill>
          <a:blip r:embed="rId3"/>
          <a:stretch>
            <a:fillRect/>
          </a:stretch>
        </p:blipFill>
        <p:spPr>
          <a:xfrm>
            <a:off x="7116233" y="3500649"/>
            <a:ext cx="4597400" cy="2348230"/>
          </a:xfrm>
          <a:prstGeom prst="rect">
            <a:avLst/>
          </a:prstGeom>
        </p:spPr>
      </p:pic>
      <p:sp>
        <p:nvSpPr>
          <p:cNvPr id="6" name="文本框 5">
            <a:extLst>
              <a:ext uri="{FF2B5EF4-FFF2-40B4-BE49-F238E27FC236}">
                <a16:creationId xmlns:a16="http://schemas.microsoft.com/office/drawing/2014/main" id="{59D97574-C798-0672-0DE7-4E609517CD8D}"/>
              </a:ext>
            </a:extLst>
          </p:cNvPr>
          <p:cNvSpPr txBox="1"/>
          <p:nvPr/>
        </p:nvSpPr>
        <p:spPr>
          <a:xfrm>
            <a:off x="859366" y="947043"/>
            <a:ext cx="10054167" cy="892552"/>
          </a:xfrm>
          <a:prstGeom prst="rect">
            <a:avLst/>
          </a:prstGeom>
          <a:noFill/>
        </p:spPr>
        <p:txBody>
          <a:bodyPr wrap="square">
            <a:spAutoFit/>
          </a:bodyPr>
          <a:lstStyle/>
          <a:p>
            <a:pPr indent="720000" fontAlgn="ctr">
              <a:lnSpc>
                <a:spcPct val="130000"/>
              </a:lnSpc>
            </a:pPr>
            <a:r>
              <a:rPr lang="zh-CN" altLang="zh-CN" sz="2000" b="1">
                <a:solidFill>
                  <a:srgbClr val="000000"/>
                </a:solidFill>
                <a:latin typeface="微软雅黑" panose="020B0503020204020204" pitchFamily="34" charset="-122"/>
                <a:ea typeface="微软雅黑" panose="020B0503020204020204" pitchFamily="34" charset="-122"/>
              </a:rPr>
              <a:t>以卫星</a:t>
            </a:r>
            <a:r>
              <a:rPr lang="en-US" altLang="zh-CN" sz="2000" b="1">
                <a:solidFill>
                  <a:srgbClr val="000000"/>
                </a:solidFill>
                <a:latin typeface="微软雅黑" panose="020B0503020204020204" pitchFamily="34" charset="-122"/>
                <a:ea typeface="微软雅黑" panose="020B0503020204020204" pitchFamily="34" charset="-122"/>
              </a:rPr>
              <a:t>/</a:t>
            </a:r>
            <a:r>
              <a:rPr lang="zh-CN" altLang="zh-CN" sz="2000" b="1">
                <a:solidFill>
                  <a:srgbClr val="000000"/>
                </a:solidFill>
                <a:latin typeface="微软雅黑" panose="020B0503020204020204" pitchFamily="34" charset="-122"/>
                <a:ea typeface="微软雅黑" panose="020B0503020204020204" pitchFamily="34" charset="-122"/>
              </a:rPr>
              <a:t>惯性组合定位结果作为参考的位置真值，与协同定位结果进行对比。案例实验场景如图</a:t>
            </a:r>
            <a:r>
              <a:rPr lang="en-US" altLang="zh-CN" sz="2000" b="1">
                <a:solidFill>
                  <a:srgbClr val="000000"/>
                </a:solidFill>
                <a:latin typeface="微软雅黑" panose="020B0503020204020204" pitchFamily="34" charset="-122"/>
                <a:ea typeface="微软雅黑" panose="020B0503020204020204" pitchFamily="34" charset="-122"/>
              </a:rPr>
              <a:t>6-15</a:t>
            </a:r>
            <a:r>
              <a:rPr lang="zh-CN" altLang="zh-CN" sz="2000" b="1">
                <a:solidFill>
                  <a:srgbClr val="000000"/>
                </a:solidFill>
                <a:latin typeface="微软雅黑" panose="020B0503020204020204" pitchFamily="34" charset="-122"/>
                <a:ea typeface="微软雅黑" panose="020B0503020204020204" pitchFamily="34" charset="-122"/>
              </a:rPr>
              <a:t>所示，实验中采用的地面平台如图</a:t>
            </a:r>
            <a:r>
              <a:rPr lang="en-US" altLang="zh-CN" sz="2000" b="1">
                <a:solidFill>
                  <a:srgbClr val="000000"/>
                </a:solidFill>
                <a:latin typeface="微软雅黑" panose="020B0503020204020204" pitchFamily="34" charset="-122"/>
                <a:ea typeface="微软雅黑" panose="020B0503020204020204" pitchFamily="34" charset="-122"/>
              </a:rPr>
              <a:t>6-16</a:t>
            </a:r>
            <a:r>
              <a:rPr lang="zh-CN" altLang="zh-CN" sz="2000" b="1">
                <a:solidFill>
                  <a:srgbClr val="000000"/>
                </a:solidFill>
                <a:latin typeface="微软雅黑" panose="020B0503020204020204" pitchFamily="34" charset="-122"/>
                <a:ea typeface="微软雅黑" panose="020B0503020204020204" pitchFamily="34" charset="-122"/>
              </a:rPr>
              <a:t>所示：</a:t>
            </a:r>
          </a:p>
        </p:txBody>
      </p:sp>
      <p:pic>
        <p:nvPicPr>
          <p:cNvPr id="7" name="图片 6">
            <a:extLst>
              <a:ext uri="{FF2B5EF4-FFF2-40B4-BE49-F238E27FC236}">
                <a16:creationId xmlns:a16="http://schemas.microsoft.com/office/drawing/2014/main" id="{3C2CEF01-DB78-060C-7E61-31472F04D83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373821" y="1987784"/>
            <a:ext cx="4597631" cy="2348229"/>
          </a:xfrm>
          <a:prstGeom prst="rect">
            <a:avLst/>
          </a:prstGeom>
          <a:noFill/>
          <a:ln>
            <a:noFill/>
          </a:ln>
        </p:spPr>
      </p:pic>
      <p:pic>
        <p:nvPicPr>
          <p:cNvPr id="8" name="图片 7">
            <a:extLst>
              <a:ext uri="{FF2B5EF4-FFF2-40B4-BE49-F238E27FC236}">
                <a16:creationId xmlns:a16="http://schemas.microsoft.com/office/drawing/2014/main" id="{8E98551A-6FA0-289A-5DD1-AB07B0A205E8}"/>
              </a:ext>
            </a:extLst>
          </p:cNvPr>
          <p:cNvPicPr>
            <a:picLocks noChangeAspect="1"/>
          </p:cNvPicPr>
          <p:nvPr/>
        </p:nvPicPr>
        <p:blipFill>
          <a:blip r:embed="rId5"/>
          <a:stretch>
            <a:fillRect/>
          </a:stretch>
        </p:blipFill>
        <p:spPr>
          <a:xfrm>
            <a:off x="2261129" y="4275645"/>
            <a:ext cx="2708805" cy="2304794"/>
          </a:xfrm>
          <a:prstGeom prst="rect">
            <a:avLst/>
          </a:prstGeom>
        </p:spPr>
      </p:pic>
    </p:spTree>
    <p:extLst>
      <p:ext uri="{BB962C8B-B14F-4D97-AF65-F5344CB8AC3E}">
        <p14:creationId xmlns:p14="http://schemas.microsoft.com/office/powerpoint/2010/main" val="136116774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D5B87CB-05BE-B650-98C4-B7C281180837}"/>
              </a:ext>
            </a:extLst>
          </p:cNvPr>
          <p:cNvSpPr txBox="1"/>
          <p:nvPr/>
        </p:nvSpPr>
        <p:spPr>
          <a:xfrm>
            <a:off x="482600" y="1472970"/>
            <a:ext cx="5875868" cy="1292662"/>
          </a:xfrm>
          <a:prstGeom prst="rect">
            <a:avLst/>
          </a:prstGeom>
          <a:noFill/>
        </p:spPr>
        <p:txBody>
          <a:bodyPr wrap="square">
            <a:spAutoFit/>
          </a:bodyPr>
          <a:lstStyle/>
          <a:p>
            <a:pPr indent="720000" fontAlgn="ctr">
              <a:lnSpc>
                <a:spcPct val="130000"/>
              </a:lnSpc>
            </a:pPr>
            <a:r>
              <a:rPr lang="zh-CN" altLang="zh-CN" sz="2000" b="1" dirty="0">
                <a:solidFill>
                  <a:srgbClr val="000000"/>
                </a:solidFill>
                <a:latin typeface="微软雅黑" panose="020B0503020204020204" pitchFamily="34" charset="-122"/>
                <a:ea typeface="微软雅黑" panose="020B0503020204020204" pitchFamily="34" charset="-122"/>
              </a:rPr>
              <a:t>以卫星</a:t>
            </a:r>
            <a:r>
              <a:rPr lang="en-US" altLang="zh-CN" sz="2000" b="1" dirty="0">
                <a:solidFill>
                  <a:srgbClr val="000000"/>
                </a:solidFill>
                <a:latin typeface="微软雅黑" panose="020B0503020204020204" pitchFamily="34" charset="-122"/>
                <a:ea typeface="微软雅黑" panose="020B0503020204020204" pitchFamily="34" charset="-122"/>
              </a:rPr>
              <a:t>/</a:t>
            </a:r>
            <a:r>
              <a:rPr lang="zh-CN" altLang="zh-CN" sz="2000" b="1" dirty="0">
                <a:solidFill>
                  <a:srgbClr val="000000"/>
                </a:solidFill>
                <a:latin typeface="微软雅黑" panose="020B0503020204020204" pitchFamily="34" charset="-122"/>
                <a:ea typeface="微软雅黑" panose="020B0503020204020204" pitchFamily="34" charset="-122"/>
              </a:rPr>
              <a:t>惯性组合定位结果作为参考的位置真值，与协同定位结果进行对比。案例实验场景如图</a:t>
            </a:r>
            <a:r>
              <a:rPr lang="en-US" altLang="zh-CN" sz="2000" b="1" dirty="0">
                <a:solidFill>
                  <a:srgbClr val="000000"/>
                </a:solidFill>
                <a:latin typeface="微软雅黑" panose="020B0503020204020204" pitchFamily="34" charset="-122"/>
                <a:ea typeface="微软雅黑" panose="020B0503020204020204" pitchFamily="34" charset="-122"/>
              </a:rPr>
              <a:t>6-15</a:t>
            </a:r>
            <a:r>
              <a:rPr lang="zh-CN" altLang="zh-CN" sz="2000" b="1" dirty="0">
                <a:solidFill>
                  <a:srgbClr val="000000"/>
                </a:solidFill>
                <a:latin typeface="微软雅黑" panose="020B0503020204020204" pitchFamily="34" charset="-122"/>
                <a:ea typeface="微软雅黑" panose="020B0503020204020204" pitchFamily="34" charset="-122"/>
              </a:rPr>
              <a:t>所示，实验中采用的地面平台如图</a:t>
            </a:r>
            <a:r>
              <a:rPr lang="en-US" altLang="zh-CN" sz="2000" b="1" dirty="0">
                <a:solidFill>
                  <a:srgbClr val="000000"/>
                </a:solidFill>
                <a:latin typeface="微软雅黑" panose="020B0503020204020204" pitchFamily="34" charset="-122"/>
                <a:ea typeface="微软雅黑" panose="020B0503020204020204" pitchFamily="34" charset="-122"/>
              </a:rPr>
              <a:t>6-16</a:t>
            </a:r>
            <a:r>
              <a:rPr lang="zh-CN" altLang="zh-CN" sz="2000" b="1" dirty="0">
                <a:solidFill>
                  <a:srgbClr val="000000"/>
                </a:solidFill>
                <a:latin typeface="微软雅黑" panose="020B0503020204020204" pitchFamily="34" charset="-122"/>
                <a:ea typeface="微软雅黑" panose="020B0503020204020204" pitchFamily="34" charset="-122"/>
              </a:rPr>
              <a:t>所示：</a:t>
            </a:r>
          </a:p>
        </p:txBody>
      </p:sp>
      <p:sp>
        <p:nvSpPr>
          <p:cNvPr id="7" name="文本框 6">
            <a:extLst>
              <a:ext uri="{FF2B5EF4-FFF2-40B4-BE49-F238E27FC236}">
                <a16:creationId xmlns:a16="http://schemas.microsoft.com/office/drawing/2014/main" id="{CB2FD42B-2A41-5BBE-E21A-27219EAF7C60}"/>
              </a:ext>
            </a:extLst>
          </p:cNvPr>
          <p:cNvSpPr txBox="1"/>
          <p:nvPr/>
        </p:nvSpPr>
        <p:spPr>
          <a:xfrm>
            <a:off x="618067" y="3429000"/>
            <a:ext cx="5875867" cy="2492990"/>
          </a:xfrm>
          <a:prstGeom prst="rect">
            <a:avLst/>
          </a:prstGeom>
          <a:noFill/>
        </p:spPr>
        <p:txBody>
          <a:bodyPr wrap="square">
            <a:spAutoFit/>
          </a:bodyPr>
          <a:lstStyle/>
          <a:p>
            <a:pPr indent="720000" fontAlgn="ctr">
              <a:lnSpc>
                <a:spcPct val="130000"/>
              </a:lnSpc>
            </a:pPr>
            <a:r>
              <a:rPr lang="zh-CN" altLang="zh-CN" sz="2000" b="1" dirty="0">
                <a:solidFill>
                  <a:srgbClr val="000000"/>
                </a:solidFill>
                <a:latin typeface="微软雅黑" panose="020B0503020204020204" pitchFamily="34" charset="-122"/>
                <a:ea typeface="微软雅黑" panose="020B0503020204020204" pitchFamily="34" charset="-122"/>
              </a:rPr>
              <a:t>搭载惯导系统和</a:t>
            </a:r>
            <a:r>
              <a:rPr lang="en-US" altLang="zh-CN" sz="2000" b="1" dirty="0">
                <a:solidFill>
                  <a:srgbClr val="000000"/>
                </a:solidFill>
                <a:latin typeface="微软雅黑" panose="020B0503020204020204" pitchFamily="34" charset="-122"/>
                <a:ea typeface="微软雅黑" panose="020B0503020204020204" pitchFamily="34" charset="-122"/>
              </a:rPr>
              <a:t>UWB</a:t>
            </a:r>
            <a:r>
              <a:rPr lang="zh-CN" altLang="zh-CN" sz="2000" b="1" dirty="0">
                <a:solidFill>
                  <a:srgbClr val="000000"/>
                </a:solidFill>
                <a:latin typeface="微软雅黑" panose="020B0503020204020204" pitchFamily="34" charset="-122"/>
                <a:ea typeface="微软雅黑" panose="020B0503020204020204" pitchFamily="34" charset="-122"/>
              </a:rPr>
              <a:t>测距模块的无人车围绕广场逆时针运动，</a:t>
            </a:r>
            <a:r>
              <a:rPr lang="en-US" altLang="zh-CN" sz="2000" b="1" dirty="0">
                <a:solidFill>
                  <a:srgbClr val="000000"/>
                </a:solidFill>
                <a:latin typeface="微软雅黑" panose="020B0503020204020204" pitchFamily="34" charset="-122"/>
                <a:ea typeface="微软雅黑" panose="020B0503020204020204" pitchFamily="34" charset="-122"/>
              </a:rPr>
              <a:t>UWB</a:t>
            </a:r>
            <a:r>
              <a:rPr lang="zh-CN" altLang="zh-CN" sz="2000" b="1" dirty="0">
                <a:solidFill>
                  <a:srgbClr val="000000"/>
                </a:solidFill>
                <a:latin typeface="微软雅黑" panose="020B0503020204020204" pitchFamily="34" charset="-122"/>
                <a:ea typeface="微软雅黑" panose="020B0503020204020204" pitchFamily="34" charset="-122"/>
              </a:rPr>
              <a:t>基站设置在广场中心位置，运动场景如图</a:t>
            </a:r>
            <a:r>
              <a:rPr lang="en-US" altLang="zh-CN" sz="2000" b="1" dirty="0">
                <a:solidFill>
                  <a:srgbClr val="000000"/>
                </a:solidFill>
                <a:latin typeface="微软雅黑" panose="020B0503020204020204" pitchFamily="34" charset="-122"/>
                <a:ea typeface="微软雅黑" panose="020B0503020204020204" pitchFamily="34" charset="-122"/>
              </a:rPr>
              <a:t>6-17</a:t>
            </a:r>
            <a:r>
              <a:rPr lang="zh-CN" altLang="zh-CN" sz="2000" b="1" dirty="0">
                <a:solidFill>
                  <a:srgbClr val="000000"/>
                </a:solidFill>
                <a:latin typeface="微软雅黑" panose="020B0503020204020204" pitchFamily="34" charset="-122"/>
                <a:ea typeface="微软雅黑" panose="020B0503020204020204" pitchFamily="34" charset="-122"/>
              </a:rPr>
              <a:t>所示。在运动开始前对运动平台进行了十分钟初始对准，将对准结果作为运动平台的初始运动状态。运动过程中采集平台的角速度、比力和测距信息。</a:t>
            </a:r>
          </a:p>
        </p:txBody>
      </p:sp>
      <p:pic>
        <p:nvPicPr>
          <p:cNvPr id="8" name="图片 7">
            <a:extLst>
              <a:ext uri="{FF2B5EF4-FFF2-40B4-BE49-F238E27FC236}">
                <a16:creationId xmlns:a16="http://schemas.microsoft.com/office/drawing/2014/main" id="{65C902A0-4B23-48A3-37B1-6FE2384203E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11534" y="915077"/>
            <a:ext cx="2827866" cy="2771122"/>
          </a:xfrm>
          <a:prstGeom prst="rect">
            <a:avLst/>
          </a:prstGeom>
          <a:noFill/>
          <a:ln>
            <a:noFill/>
          </a:ln>
        </p:spPr>
      </p:pic>
      <p:pic>
        <p:nvPicPr>
          <p:cNvPr id="9" name="图片 8">
            <a:extLst>
              <a:ext uri="{FF2B5EF4-FFF2-40B4-BE49-F238E27FC236}">
                <a16:creationId xmlns:a16="http://schemas.microsoft.com/office/drawing/2014/main" id="{AF5ADEC7-08C1-32B2-7497-5C121C5D524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09366" y="3939328"/>
            <a:ext cx="3687233" cy="2678170"/>
          </a:xfrm>
          <a:prstGeom prst="rect">
            <a:avLst/>
          </a:prstGeom>
          <a:noFill/>
          <a:ln>
            <a:noFill/>
          </a:ln>
        </p:spPr>
      </p:pic>
    </p:spTree>
    <p:extLst>
      <p:ext uri="{BB962C8B-B14F-4D97-AF65-F5344CB8AC3E}">
        <p14:creationId xmlns:p14="http://schemas.microsoft.com/office/powerpoint/2010/main" val="3897899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E183C4B8-3B1E-0194-49ED-61E1E9F7BE8A}"/>
              </a:ext>
            </a:extLst>
          </p:cNvPr>
          <p:cNvGrpSpPr/>
          <p:nvPr/>
        </p:nvGrpSpPr>
        <p:grpSpPr>
          <a:xfrm>
            <a:off x="542925" y="1895105"/>
            <a:ext cx="10009745" cy="2904826"/>
            <a:chOff x="542925" y="2623237"/>
            <a:chExt cx="6170578" cy="1790700"/>
          </a:xfrm>
        </p:grpSpPr>
        <p:sp>
          <p:nvSpPr>
            <p:cNvPr id="9" name="Shape 7"/>
            <p:cNvSpPr/>
            <p:nvPr/>
          </p:nvSpPr>
          <p:spPr>
            <a:xfrm>
              <a:off x="542925" y="2623237"/>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3D8B8B"/>
            </a:solidFill>
          </p:spPr>
        </p:sp>
        <p:sp>
          <p:nvSpPr>
            <p:cNvPr id="10" name="Text 8"/>
            <p:cNvSpPr/>
            <p:nvPr/>
          </p:nvSpPr>
          <p:spPr>
            <a:xfrm>
              <a:off x="668982" y="2680387"/>
              <a:ext cx="123825" cy="190500"/>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1</a:t>
              </a:r>
              <a:endParaRPr lang="en-US" dirty="0"/>
            </a:p>
          </p:txBody>
        </p:sp>
        <p:sp>
          <p:nvSpPr>
            <p:cNvPr id="11" name="Text 9"/>
            <p:cNvSpPr/>
            <p:nvPr/>
          </p:nvSpPr>
          <p:spPr>
            <a:xfrm>
              <a:off x="962025" y="2623237"/>
              <a:ext cx="5751478" cy="385578"/>
            </a:xfrm>
            <a:prstGeom prst="rect">
              <a:avLst/>
            </a:prstGeom>
            <a:noFill/>
          </p:spPr>
          <p:txBody>
            <a:bodyPr wrap="square" lIns="0" tIns="0" rIns="0" bIns="0" rtlCol="0" anchor="ctr"/>
            <a:lstStyle/>
            <a:p>
              <a:pPr>
                <a:lnSpc>
                  <a:spcPct val="140000"/>
                </a:lnSpc>
              </a:pPr>
              <a:r>
                <a:rPr lang="zh-CN" altLang="zh-CN" dirty="0"/>
                <a:t>超宽带测距与激光测距获取的相对观测信息是否相同，若不同请进行说明？</a:t>
              </a:r>
              <a:endParaRPr lang="en-US" dirty="0"/>
            </a:p>
          </p:txBody>
        </p:sp>
        <p:sp>
          <p:nvSpPr>
            <p:cNvPr id="17" name="Shape 15"/>
            <p:cNvSpPr/>
            <p:nvPr/>
          </p:nvSpPr>
          <p:spPr>
            <a:xfrm>
              <a:off x="542925" y="3366187"/>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3D8B8B"/>
            </a:solidFill>
          </p:spPr>
        </p:sp>
        <p:sp>
          <p:nvSpPr>
            <p:cNvPr id="18" name="Text 16"/>
            <p:cNvSpPr/>
            <p:nvPr/>
          </p:nvSpPr>
          <p:spPr>
            <a:xfrm>
              <a:off x="656034" y="3423337"/>
              <a:ext cx="142875" cy="190500"/>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2</a:t>
              </a:r>
              <a:endParaRPr lang="en-US" dirty="0"/>
            </a:p>
          </p:txBody>
        </p:sp>
        <p:sp>
          <p:nvSpPr>
            <p:cNvPr id="19" name="Text 17"/>
            <p:cNvSpPr/>
            <p:nvPr/>
          </p:nvSpPr>
          <p:spPr>
            <a:xfrm>
              <a:off x="912018" y="3199916"/>
              <a:ext cx="4586014" cy="640632"/>
            </a:xfrm>
            <a:prstGeom prst="rect">
              <a:avLst/>
            </a:prstGeom>
            <a:noFill/>
          </p:spPr>
          <p:txBody>
            <a:bodyPr wrap="square" lIns="0" tIns="0" rIns="0" bIns="0" rtlCol="0" anchor="ctr"/>
            <a:lstStyle/>
            <a:p>
              <a:pPr>
                <a:lnSpc>
                  <a:spcPct val="140000"/>
                </a:lnSpc>
              </a:pPr>
              <a:r>
                <a:rPr lang="zh-CN" altLang="zh-CN" dirty="0"/>
                <a:t>分析集中式协同导航算法和分布式协同导航算法的优缺点？</a:t>
              </a:r>
              <a:endParaRPr lang="en-US" dirty="0"/>
            </a:p>
          </p:txBody>
        </p:sp>
        <p:sp>
          <p:nvSpPr>
            <p:cNvPr id="25" name="Shape 23"/>
            <p:cNvSpPr/>
            <p:nvPr/>
          </p:nvSpPr>
          <p:spPr>
            <a:xfrm>
              <a:off x="542925" y="4109137"/>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3D8B8B"/>
            </a:solidFill>
          </p:spPr>
        </p:sp>
        <p:sp>
          <p:nvSpPr>
            <p:cNvPr id="26" name="Text 24"/>
            <p:cNvSpPr/>
            <p:nvPr/>
          </p:nvSpPr>
          <p:spPr>
            <a:xfrm>
              <a:off x="655439" y="4166287"/>
              <a:ext cx="142875" cy="190500"/>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3</a:t>
              </a:r>
              <a:endParaRPr lang="en-US" dirty="0"/>
            </a:p>
          </p:txBody>
        </p:sp>
        <p:sp>
          <p:nvSpPr>
            <p:cNvPr id="27" name="Text 25"/>
            <p:cNvSpPr/>
            <p:nvPr/>
          </p:nvSpPr>
          <p:spPr>
            <a:xfrm>
              <a:off x="962025" y="4109137"/>
              <a:ext cx="3938534" cy="304800"/>
            </a:xfrm>
            <a:prstGeom prst="rect">
              <a:avLst/>
            </a:prstGeom>
            <a:noFill/>
          </p:spPr>
          <p:txBody>
            <a:bodyPr wrap="square" lIns="0" tIns="0" rIns="0" bIns="0" rtlCol="0" anchor="ctr"/>
            <a:lstStyle/>
            <a:p>
              <a:pPr>
                <a:lnSpc>
                  <a:spcPct val="140000"/>
                </a:lnSpc>
              </a:pPr>
              <a:r>
                <a:rPr lang="zh-CN" altLang="zh-CN"/>
                <a:t>分析基于交叉视图的协同导航系统对通信链路的需求</a:t>
              </a:r>
              <a:endParaRPr lang="en-US" dirty="0"/>
            </a:p>
          </p:txBody>
        </p:sp>
      </p:grpSp>
      <p:grpSp>
        <p:nvGrpSpPr>
          <p:cNvPr id="44" name="组合 43">
            <a:extLst>
              <a:ext uri="{FF2B5EF4-FFF2-40B4-BE49-F238E27FC236}">
                <a16:creationId xmlns:a16="http://schemas.microsoft.com/office/drawing/2014/main" id="{13B5F402-3E75-9589-1B74-9AFC9A86DDD1}"/>
              </a:ext>
            </a:extLst>
          </p:cNvPr>
          <p:cNvGrpSpPr/>
          <p:nvPr/>
        </p:nvGrpSpPr>
        <p:grpSpPr>
          <a:xfrm>
            <a:off x="0" y="939798"/>
            <a:ext cx="6191249" cy="625474"/>
            <a:chOff x="0" y="1075267"/>
            <a:chExt cx="6191249" cy="625474"/>
          </a:xfrm>
        </p:grpSpPr>
        <p:sp>
          <p:nvSpPr>
            <p:cNvPr id="45" name="矩形 44">
              <a:extLst>
                <a:ext uri="{FF2B5EF4-FFF2-40B4-BE49-F238E27FC236}">
                  <a16:creationId xmlns:a16="http://schemas.microsoft.com/office/drawing/2014/main" id="{20E9C4FF-9C76-48FC-A814-27180048A666}"/>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0CE11ED0-25AD-0169-4A59-973CE08C29FC}"/>
                </a:ext>
              </a:extLst>
            </p:cNvPr>
            <p:cNvSpPr txBox="1"/>
            <p:nvPr/>
          </p:nvSpPr>
          <p:spPr>
            <a:xfrm>
              <a:off x="270932" y="1157172"/>
              <a:ext cx="5920317" cy="461665"/>
            </a:xfrm>
            <a:prstGeom prst="rect">
              <a:avLst/>
            </a:prstGeom>
            <a:noFill/>
          </p:spPr>
          <p:txBody>
            <a:bodyPr wrap="square">
              <a:spAutoFit/>
            </a:bodyPr>
            <a:lstStyle/>
            <a:p>
              <a:r>
                <a:rPr lang="zh-CN" altLang="en-US" sz="2400" b="1" dirty="0">
                  <a:solidFill>
                    <a:schemeClr val="accent1"/>
                  </a:solidFill>
                  <a:latin typeface="+mj-lt"/>
                </a:rPr>
                <a:t>思考题与习题</a:t>
              </a:r>
            </a:p>
          </p:txBody>
        </p:sp>
      </p:grpSp>
    </p:spTree>
    <p:extLst>
      <p:ext uri="{BB962C8B-B14F-4D97-AF65-F5344CB8AC3E}">
        <p14:creationId xmlns:p14="http://schemas.microsoft.com/office/powerpoint/2010/main" val="1644162067"/>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77900" y="1774224"/>
            <a:ext cx="10236201" cy="3309551"/>
            <a:chOff x="977900" y="1150536"/>
            <a:chExt cx="10236201" cy="3309551"/>
          </a:xfrm>
        </p:grpSpPr>
        <p:grpSp>
          <p:nvGrpSpPr>
            <p:cNvPr id="6" name="组合 5"/>
            <p:cNvGrpSpPr/>
            <p:nvPr/>
          </p:nvGrpSpPr>
          <p:grpSpPr>
            <a:xfrm>
              <a:off x="2817813" y="1150536"/>
              <a:ext cx="6554788" cy="686393"/>
              <a:chOff x="2817813" y="5796957"/>
              <a:chExt cx="6554788" cy="686393"/>
            </a:xfrm>
          </p:grpSpPr>
          <p:pic>
            <p:nvPicPr>
              <p:cNvPr id="12" name="Picture 4" descr="查看图片"/>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84518"/>
              <a:stretch>
                <a:fillRect/>
              </a:stretch>
            </p:blipFill>
            <p:spPr bwMode="auto">
              <a:xfrm>
                <a:off x="2817813" y="5796957"/>
                <a:ext cx="6554788" cy="686393"/>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5"/>
              <p:cNvSpPr txBox="1"/>
              <p:nvPr/>
            </p:nvSpPr>
            <p:spPr>
              <a:xfrm>
                <a:off x="4854894" y="5796957"/>
                <a:ext cx="2480626" cy="646331"/>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b="1" spc="300" dirty="0">
                    <a:solidFill>
                      <a:schemeClr val="bg1"/>
                    </a:solidFill>
                    <a:effectLst>
                      <a:outerShdw blurRad="101600" dist="12700" dir="5400000" algn="t" rotWithShape="0">
                        <a:schemeClr val="accent3">
                          <a:alpha val="85000"/>
                        </a:schemeClr>
                      </a:outerShdw>
                    </a:effectLst>
                    <a:latin typeface="+mj-ea"/>
                    <a:ea typeface="+mj-ea"/>
                  </a:rPr>
                  <a:t>第七章 </a:t>
                </a:r>
                <a:endParaRPr lang="zh-CN" altLang="en-US" sz="3600" b="1" dirty="0">
                  <a:solidFill>
                    <a:schemeClr val="bg1"/>
                  </a:solidFill>
                  <a:effectLst>
                    <a:outerShdw blurRad="101600" dist="12700" dir="5400000" algn="t" rotWithShape="0">
                      <a:schemeClr val="accent3">
                        <a:alpha val="85000"/>
                      </a:schemeClr>
                    </a:outerShdw>
                  </a:effectLst>
                  <a:latin typeface="+mj-ea"/>
                  <a:ea typeface="+mj-ea"/>
                </a:endParaRPr>
              </a:p>
            </p:txBody>
          </p:sp>
        </p:grpSp>
        <p:grpSp>
          <p:nvGrpSpPr>
            <p:cNvPr id="7" name="组合 6"/>
            <p:cNvGrpSpPr/>
            <p:nvPr/>
          </p:nvGrpSpPr>
          <p:grpSpPr>
            <a:xfrm>
              <a:off x="977900" y="2121495"/>
              <a:ext cx="10236201" cy="2338592"/>
              <a:chOff x="948266" y="2341629"/>
              <a:chExt cx="10236201" cy="2338592"/>
            </a:xfrm>
          </p:grpSpPr>
          <p:grpSp>
            <p:nvGrpSpPr>
              <p:cNvPr id="8" name="组合 7"/>
              <p:cNvGrpSpPr/>
              <p:nvPr/>
            </p:nvGrpSpPr>
            <p:grpSpPr>
              <a:xfrm>
                <a:off x="948266" y="2341629"/>
                <a:ext cx="10236201" cy="2338592"/>
                <a:chOff x="-203136" y="3193246"/>
                <a:chExt cx="9531744" cy="2177650"/>
              </a:xfrm>
            </p:grpSpPr>
            <p:pic>
              <p:nvPicPr>
                <p:cNvPr id="10" name="Picture 4" descr="查看图片"/>
                <p:cNvPicPr>
                  <a:picLocks noChangeAspect="1" noChangeArrowheads="1"/>
                </p:cNvPicPr>
                <p:nvPr/>
              </p:nvPicPr>
              <p:blipFill rotWithShape="1">
                <a:blip r:embed="rId2">
                  <a:extLst>
                    <a:ext uri="{28A0092B-C50C-407E-A947-70E740481C1C}">
                      <a14:useLocalDpi xmlns:a14="http://schemas.microsoft.com/office/drawing/2010/main" val="0"/>
                    </a:ext>
                  </a:extLst>
                </a:blip>
                <a:srcRect t="21436" b="66823"/>
                <a:stretch>
                  <a:fillRect/>
                </a:stretch>
              </p:blipFill>
              <p:spPr bwMode="auto">
                <a:xfrm>
                  <a:off x="-203136" y="3193246"/>
                  <a:ext cx="9531744" cy="75696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查看图片"/>
                <p:cNvPicPr>
                  <a:picLocks noChangeAspect="1" noChangeArrowheads="1"/>
                </p:cNvPicPr>
                <p:nvPr/>
              </p:nvPicPr>
              <p:blipFill rotWithShape="1">
                <a:blip r:embed="rId2">
                  <a:extLst>
                    <a:ext uri="{28A0092B-C50C-407E-A947-70E740481C1C}">
                      <a14:useLocalDpi xmlns:a14="http://schemas.microsoft.com/office/drawing/2010/main" val="0"/>
                    </a:ext>
                  </a:extLst>
                </a:blip>
                <a:srcRect t="77991" b="-27"/>
                <a:stretch>
                  <a:fillRect/>
                </a:stretch>
              </p:blipFill>
              <p:spPr bwMode="auto">
                <a:xfrm>
                  <a:off x="-203136" y="3950207"/>
                  <a:ext cx="9531744" cy="1420689"/>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PA-文本框 47"/>
              <p:cNvSpPr txBox="1"/>
              <p:nvPr/>
            </p:nvSpPr>
            <p:spPr>
              <a:xfrm>
                <a:off x="2009698" y="2910761"/>
                <a:ext cx="8113336" cy="1200329"/>
              </a:xfrm>
              <a:prstGeom prst="rect">
                <a:avLst/>
              </a:prstGeom>
              <a:noFill/>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defRPr/>
                </a:pPr>
                <a:r>
                  <a:rPr lang="zh-CN" altLang="en-US" sz="7200" b="1" spc="100" dirty="0">
                    <a:solidFill>
                      <a:schemeClr val="bg1"/>
                    </a:solidFill>
                    <a:effectLst>
                      <a:outerShdw blurRad="101600" dist="12700" dir="5400000" algn="t" rotWithShape="0">
                        <a:schemeClr val="accent3">
                          <a:alpha val="85000"/>
                        </a:schemeClr>
                      </a:outerShdw>
                    </a:effectLst>
                    <a:latin typeface="+mj-ea"/>
                    <a:ea typeface="+mj-ea"/>
                  </a:rPr>
                  <a:t>机器人导航规划</a:t>
                </a:r>
              </a:p>
            </p:txBody>
          </p:sp>
        </p:grpSp>
      </p:grpSp>
    </p:spTree>
    <p:extLst>
      <p:ext uri="{BB962C8B-B14F-4D97-AF65-F5344CB8AC3E}">
        <p14:creationId xmlns:p14="http://schemas.microsoft.com/office/powerpoint/2010/main" val="40240776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633657" y="3429000"/>
            <a:ext cx="10706969" cy="3305703"/>
          </a:xfrm>
          <a:custGeom>
            <a:avLst/>
            <a:gdLst/>
            <a:ahLst/>
            <a:cxnLst/>
            <a:rect l="l" t="t" r="r" b="b"/>
            <a:pathLst>
              <a:path w="6700268" h="3305703">
                <a:moveTo>
                  <a:pt x="35545" y="0"/>
                </a:moveTo>
                <a:lnTo>
                  <a:pt x="6558090" y="0"/>
                </a:lnTo>
                <a:cubicBezTo>
                  <a:pt x="6636613" y="0"/>
                  <a:pt x="6700268" y="63655"/>
                  <a:pt x="6700268" y="142178"/>
                </a:cubicBezTo>
                <a:lnTo>
                  <a:pt x="6700268" y="3163524"/>
                </a:lnTo>
                <a:cubicBezTo>
                  <a:pt x="6700268" y="3242047"/>
                  <a:pt x="6636613" y="3305703"/>
                  <a:pt x="6558090" y="3305703"/>
                </a:cubicBezTo>
                <a:lnTo>
                  <a:pt x="35545" y="3305703"/>
                </a:lnTo>
                <a:cubicBezTo>
                  <a:pt x="15914" y="3305703"/>
                  <a:pt x="0" y="3289789"/>
                  <a:pt x="0" y="3270157"/>
                </a:cubicBezTo>
                <a:lnTo>
                  <a:pt x="0" y="35545"/>
                </a:lnTo>
                <a:cubicBezTo>
                  <a:pt x="0" y="15927"/>
                  <a:pt x="15927" y="0"/>
                  <a:pt x="35545" y="0"/>
                </a:cubicBezTo>
                <a:close/>
              </a:path>
            </a:pathLst>
          </a:custGeom>
          <a:solidFill>
            <a:srgbClr val="5F87A7">
              <a:alpha val="10196"/>
            </a:srgbClr>
          </a:solidFill>
        </p:spPr>
      </p:sp>
      <p:sp>
        <p:nvSpPr>
          <p:cNvPr id="6" name="Shape 4"/>
          <p:cNvSpPr/>
          <p:nvPr/>
        </p:nvSpPr>
        <p:spPr>
          <a:xfrm>
            <a:off x="633658" y="3429000"/>
            <a:ext cx="35545" cy="3305703"/>
          </a:xfrm>
          <a:custGeom>
            <a:avLst/>
            <a:gdLst/>
            <a:ahLst/>
            <a:cxnLst/>
            <a:rect l="l" t="t" r="r" b="b"/>
            <a:pathLst>
              <a:path w="35545" h="3305703">
                <a:moveTo>
                  <a:pt x="35545" y="0"/>
                </a:moveTo>
                <a:lnTo>
                  <a:pt x="35545" y="0"/>
                </a:lnTo>
                <a:lnTo>
                  <a:pt x="35545" y="3305703"/>
                </a:lnTo>
                <a:lnTo>
                  <a:pt x="35545" y="3305703"/>
                </a:lnTo>
                <a:cubicBezTo>
                  <a:pt x="15914" y="3305703"/>
                  <a:pt x="0" y="3289789"/>
                  <a:pt x="0" y="3270157"/>
                </a:cubicBezTo>
                <a:lnTo>
                  <a:pt x="0" y="35545"/>
                </a:lnTo>
                <a:cubicBezTo>
                  <a:pt x="0" y="15927"/>
                  <a:pt x="15927" y="0"/>
                  <a:pt x="35545" y="0"/>
                </a:cubicBezTo>
                <a:close/>
              </a:path>
            </a:pathLst>
          </a:custGeom>
          <a:solidFill>
            <a:srgbClr val="E6B450"/>
          </a:solidFill>
        </p:spPr>
      </p:sp>
      <p:sp>
        <p:nvSpPr>
          <p:cNvPr id="7" name="Text 5"/>
          <p:cNvSpPr/>
          <p:nvPr/>
        </p:nvSpPr>
        <p:spPr>
          <a:xfrm>
            <a:off x="935793" y="3713361"/>
            <a:ext cx="10070874" cy="870857"/>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本章将对</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机器人导航规划</a:t>
            </a:r>
            <a:r>
              <a:rPr lang="en-US" sz="1600" dirty="0">
                <a:latin typeface="微软雅黑" panose="020B0503020204020204" pitchFamily="34" charset="-122"/>
                <a:ea typeface="微软雅黑" panose="020B0503020204020204" pitchFamily="34" charset="-122"/>
                <a:cs typeface="微软雅黑" panose="020B0503020204020204" pitchFamily="34" charset="-122"/>
              </a:rPr>
              <a:t>进行较为系统的介绍，从常见的</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地图表示方法</a:t>
            </a:r>
            <a:r>
              <a:rPr lang="en-US" sz="1600" dirty="0">
                <a:latin typeface="微软雅黑" panose="020B0503020204020204" pitchFamily="34" charset="-122"/>
                <a:ea typeface="微软雅黑" panose="020B0503020204020204" pitchFamily="34" charset="-122"/>
                <a:cs typeface="微软雅黑" panose="020B0503020204020204" pitchFamily="34" charset="-122"/>
              </a:rPr>
              <a:t>入手，告诉读者用于导航的地图能够作如何处理，接着对</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全局路径规划</a:t>
            </a:r>
            <a:r>
              <a:rPr lang="en-US" sz="1600" dirty="0">
                <a:latin typeface="微软雅黑" panose="020B0503020204020204" pitchFamily="34" charset="-122"/>
                <a:ea typeface="微软雅黑" panose="020B0503020204020204" pitchFamily="34" charset="-122"/>
                <a:cs typeface="微软雅黑" panose="020B0503020204020204" pitchFamily="34" charset="-122"/>
              </a:rPr>
              <a:t>及</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局部路径规划</a:t>
            </a:r>
            <a:r>
              <a:rPr lang="en-US" sz="1600" dirty="0">
                <a:latin typeface="微软雅黑" panose="020B0503020204020204" pitchFamily="34" charset="-122"/>
                <a:ea typeface="微软雅黑" panose="020B0503020204020204" pitchFamily="34" charset="-122"/>
                <a:cs typeface="微软雅黑" panose="020B0503020204020204" pitchFamily="34" charset="-122"/>
              </a:rPr>
              <a:t>进行了定义。</a:t>
            </a:r>
            <a:endParaRPr lang="en-US" sz="1600" dirty="0"/>
          </a:p>
        </p:txBody>
      </p:sp>
      <p:sp>
        <p:nvSpPr>
          <p:cNvPr id="8" name="Text 6"/>
          <p:cNvSpPr/>
          <p:nvPr/>
        </p:nvSpPr>
        <p:spPr>
          <a:xfrm>
            <a:off x="935793" y="4793047"/>
            <a:ext cx="10070874" cy="577609"/>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就全局路径规划中的经典和先进算法，分别介绍了</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A*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波前传播规划方法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及</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快速扩展随机树算法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1600" dirty="0"/>
          </a:p>
        </p:txBody>
      </p:sp>
      <p:sp>
        <p:nvSpPr>
          <p:cNvPr id="9" name="Text 7"/>
          <p:cNvSpPr/>
          <p:nvPr/>
        </p:nvSpPr>
        <p:spPr>
          <a:xfrm>
            <a:off x="935793" y="5583927"/>
            <a:ext cx="10070874" cy="870857"/>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对于局部路径规划，则首先进行了</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避障控制</a:t>
            </a:r>
            <a:r>
              <a:rPr lang="en-US" sz="1600" dirty="0">
                <a:latin typeface="微软雅黑" panose="020B0503020204020204" pitchFamily="34" charset="-122"/>
                <a:ea typeface="微软雅黑" panose="020B0503020204020204" pitchFamily="34" charset="-122"/>
                <a:cs typeface="微软雅黑" panose="020B0503020204020204" pitchFamily="34" charset="-122"/>
              </a:rPr>
              <a:t>方面的论述，然后讲解了路径平滑的经典方法</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贝塞尔曲线 </a:t>
            </a:r>
            <a:r>
              <a:rPr lang="en-US" sz="1600" dirty="0">
                <a:latin typeface="微软雅黑" panose="020B0503020204020204" pitchFamily="34" charset="-122"/>
                <a:ea typeface="微软雅黑" panose="020B0503020204020204" pitchFamily="34" charset="-122"/>
                <a:cs typeface="微软雅黑" panose="020B0503020204020204" pitchFamily="34" charset="-122"/>
              </a:rPr>
              <a:t>，接着介绍了</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未知环境自主探索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相关算法，最后以</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TEB算法 </a:t>
            </a:r>
            <a:r>
              <a:rPr lang="en-US" sz="1600" dirty="0">
                <a:latin typeface="微软雅黑" panose="020B0503020204020204" pitchFamily="34" charset="-122"/>
                <a:ea typeface="微软雅黑" panose="020B0503020204020204" pitchFamily="34" charset="-122"/>
                <a:cs typeface="微软雅黑" panose="020B0503020204020204" pitchFamily="34" charset="-122"/>
              </a:rPr>
              <a:t>收尾。</a:t>
            </a:r>
            <a:endParaRPr lang="en-US" sz="1600" dirty="0"/>
          </a:p>
        </p:txBody>
      </p:sp>
      <p:sp>
        <p:nvSpPr>
          <p:cNvPr id="10" name="Shape 8"/>
          <p:cNvSpPr/>
          <p:nvPr/>
        </p:nvSpPr>
        <p:spPr>
          <a:xfrm>
            <a:off x="633658" y="1297399"/>
            <a:ext cx="10706970" cy="1608420"/>
          </a:xfrm>
          <a:custGeom>
            <a:avLst/>
            <a:gdLst/>
            <a:ahLst/>
            <a:cxnLst/>
            <a:rect l="l" t="t" r="r" b="b"/>
            <a:pathLst>
              <a:path w="4469808" h="1608420">
                <a:moveTo>
                  <a:pt x="106638" y="0"/>
                </a:moveTo>
                <a:lnTo>
                  <a:pt x="4363169" y="0"/>
                </a:lnTo>
                <a:cubicBezTo>
                  <a:pt x="4422064" y="0"/>
                  <a:pt x="4469808" y="47744"/>
                  <a:pt x="4469808" y="106638"/>
                </a:cubicBezTo>
                <a:lnTo>
                  <a:pt x="4469808" y="1501782"/>
                </a:lnTo>
                <a:cubicBezTo>
                  <a:pt x="4469808" y="1560676"/>
                  <a:pt x="4422064" y="1608420"/>
                  <a:pt x="4363169" y="1608420"/>
                </a:cubicBezTo>
                <a:lnTo>
                  <a:pt x="106638" y="1608420"/>
                </a:lnTo>
                <a:cubicBezTo>
                  <a:pt x="47744" y="1608420"/>
                  <a:pt x="0" y="1560676"/>
                  <a:pt x="0" y="1501782"/>
                </a:cubicBezTo>
                <a:lnTo>
                  <a:pt x="0" y="106638"/>
                </a:lnTo>
                <a:cubicBezTo>
                  <a:pt x="0" y="47783"/>
                  <a:pt x="47783" y="0"/>
                  <a:pt x="106638" y="0"/>
                </a:cubicBezTo>
                <a:close/>
              </a:path>
            </a:pathLst>
          </a:custGeom>
          <a:solidFill>
            <a:srgbClr val="E6B450">
              <a:alpha val="10196"/>
            </a:srgbClr>
          </a:solidFill>
          <a:ln w="12700">
            <a:solidFill>
              <a:srgbClr val="E6B450">
                <a:alpha val="30196"/>
              </a:srgbClr>
            </a:solidFill>
            <a:prstDash val="solid"/>
          </a:ln>
        </p:spPr>
      </p:sp>
      <p:sp>
        <p:nvSpPr>
          <p:cNvPr id="11" name="Shape 9"/>
          <p:cNvSpPr/>
          <p:nvPr/>
        </p:nvSpPr>
        <p:spPr>
          <a:xfrm>
            <a:off x="904690" y="1532886"/>
            <a:ext cx="159953" cy="213271"/>
          </a:xfrm>
          <a:custGeom>
            <a:avLst/>
            <a:gdLst/>
            <a:ahLst/>
            <a:cxnLst/>
            <a:rect l="l" t="t" r="r" b="b"/>
            <a:pathLst>
              <a:path w="159953" h="213271">
                <a:moveTo>
                  <a:pt x="122006" y="159953"/>
                </a:moveTo>
                <a:cubicBezTo>
                  <a:pt x="125047" y="150664"/>
                  <a:pt x="131128" y="142250"/>
                  <a:pt x="138001" y="135002"/>
                </a:cubicBezTo>
                <a:cubicBezTo>
                  <a:pt x="151622" y="120673"/>
                  <a:pt x="159953" y="101304"/>
                  <a:pt x="159953" y="79977"/>
                </a:cubicBezTo>
                <a:cubicBezTo>
                  <a:pt x="159953" y="35823"/>
                  <a:pt x="124130" y="0"/>
                  <a:pt x="79977" y="0"/>
                </a:cubicBezTo>
                <a:cubicBezTo>
                  <a:pt x="35823" y="0"/>
                  <a:pt x="0" y="35823"/>
                  <a:pt x="0" y="79977"/>
                </a:cubicBezTo>
                <a:cubicBezTo>
                  <a:pt x="0" y="101304"/>
                  <a:pt x="8331" y="120673"/>
                  <a:pt x="21952" y="135002"/>
                </a:cubicBezTo>
                <a:cubicBezTo>
                  <a:pt x="28825" y="142250"/>
                  <a:pt x="34948" y="150664"/>
                  <a:pt x="37947" y="159953"/>
                </a:cubicBezTo>
                <a:lnTo>
                  <a:pt x="121964" y="159953"/>
                </a:lnTo>
                <a:close/>
                <a:moveTo>
                  <a:pt x="119965" y="179948"/>
                </a:moveTo>
                <a:lnTo>
                  <a:pt x="39988" y="179948"/>
                </a:lnTo>
                <a:lnTo>
                  <a:pt x="39988" y="186612"/>
                </a:lnTo>
                <a:cubicBezTo>
                  <a:pt x="39988" y="205024"/>
                  <a:pt x="54901" y="219936"/>
                  <a:pt x="73312" y="219936"/>
                </a:cubicBezTo>
                <a:lnTo>
                  <a:pt x="86641" y="219936"/>
                </a:lnTo>
                <a:cubicBezTo>
                  <a:pt x="105053" y="219936"/>
                  <a:pt x="119965" y="205024"/>
                  <a:pt x="119965" y="186612"/>
                </a:cubicBezTo>
                <a:lnTo>
                  <a:pt x="119965" y="179948"/>
                </a:lnTo>
                <a:close/>
                <a:moveTo>
                  <a:pt x="76644" y="46653"/>
                </a:moveTo>
                <a:cubicBezTo>
                  <a:pt x="60066" y="46653"/>
                  <a:pt x="46653" y="60066"/>
                  <a:pt x="46653" y="76644"/>
                </a:cubicBezTo>
                <a:cubicBezTo>
                  <a:pt x="46653" y="82184"/>
                  <a:pt x="42196" y="86641"/>
                  <a:pt x="36656" y="86641"/>
                </a:cubicBezTo>
                <a:cubicBezTo>
                  <a:pt x="31116" y="86641"/>
                  <a:pt x="26659" y="82184"/>
                  <a:pt x="26659" y="76644"/>
                </a:cubicBezTo>
                <a:cubicBezTo>
                  <a:pt x="26659" y="49027"/>
                  <a:pt x="49027" y="26659"/>
                  <a:pt x="76644" y="26659"/>
                </a:cubicBezTo>
                <a:cubicBezTo>
                  <a:pt x="82184" y="26659"/>
                  <a:pt x="86641" y="31116"/>
                  <a:pt x="86641" y="36656"/>
                </a:cubicBezTo>
                <a:cubicBezTo>
                  <a:pt x="86641" y="42196"/>
                  <a:pt x="82184" y="46653"/>
                  <a:pt x="76644" y="46653"/>
                </a:cubicBezTo>
                <a:close/>
              </a:path>
            </a:pathLst>
          </a:custGeom>
          <a:solidFill>
            <a:srgbClr val="E6B450"/>
          </a:solidFill>
        </p:spPr>
      </p:sp>
      <p:sp>
        <p:nvSpPr>
          <p:cNvPr id="12" name="Text 10"/>
          <p:cNvSpPr/>
          <p:nvPr/>
        </p:nvSpPr>
        <p:spPr>
          <a:xfrm>
            <a:off x="1224597" y="1515113"/>
            <a:ext cx="1127443" cy="248816"/>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学习目标</a:t>
            </a:r>
            <a:endParaRPr lang="en-US" dirty="0"/>
          </a:p>
        </p:txBody>
      </p:sp>
      <p:sp>
        <p:nvSpPr>
          <p:cNvPr id="13" name="Text 11"/>
          <p:cNvSpPr/>
          <p:nvPr/>
        </p:nvSpPr>
        <p:spPr>
          <a:xfrm>
            <a:off x="851371" y="1906110"/>
            <a:ext cx="10216255" cy="781994"/>
          </a:xfrm>
          <a:prstGeom prst="rect">
            <a:avLst/>
          </a:prstGeom>
          <a:noFill/>
        </p:spPr>
        <p:txBody>
          <a:bodyPr wrap="square" lIns="0" tIns="0" rIns="0" bIns="0" rtlCol="0" anchor="ctr"/>
          <a:lstStyle/>
          <a:p>
            <a:pPr>
              <a:lnSpc>
                <a:spcPct val="140000"/>
              </a:lnSpc>
            </a:pPr>
            <a:r>
              <a:rPr lang="en-US" dirty="0">
                <a:latin typeface="微软雅黑" panose="020B0503020204020204" pitchFamily="34" charset="-122"/>
                <a:ea typeface="微软雅黑" panose="020B0503020204020204" pitchFamily="34" charset="-122"/>
                <a:cs typeface="微软雅黑" panose="020B0503020204020204" pitchFamily="34" charset="-122"/>
              </a:rPr>
              <a:t>通过本章学习，学生将掌握机器人导航规划的核心概念和算法，能够理解不同地图表示方法的优缺点，并具备选择合适路径规划算法的能力。</a:t>
            </a:r>
            <a:endParaRPr lang="en-US" dirty="0"/>
          </a:p>
        </p:txBody>
      </p:sp>
    </p:spTree>
    <p:extLst>
      <p:ext uri="{BB962C8B-B14F-4D97-AF65-F5344CB8AC3E}">
        <p14:creationId xmlns:p14="http://schemas.microsoft.com/office/powerpoint/2010/main" val="3636402745"/>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4724400" y="1295400"/>
            <a:ext cx="7467600" cy="3581400"/>
          </a:xfrm>
        </p:spPr>
        <p:txBody>
          <a:bodyPr>
            <a:normAutofit/>
          </a:bodyPr>
          <a:lstStyle/>
          <a:p>
            <a:pPr marL="0" indent="0">
              <a:lnSpc>
                <a:spcPct val="150000"/>
              </a:lnSpc>
              <a:buNone/>
            </a:pPr>
            <a:r>
              <a:rPr lang="en-US" altLang="zh-CN" sz="3600" dirty="0"/>
              <a:t>7.1 </a:t>
            </a:r>
            <a:r>
              <a:rPr lang="zh-CN" altLang="en-US" sz="3600" dirty="0"/>
              <a:t>地图表示</a:t>
            </a:r>
            <a:endParaRPr lang="en-US" altLang="zh-CN" sz="3600" dirty="0"/>
          </a:p>
          <a:p>
            <a:pPr marL="0" indent="0">
              <a:lnSpc>
                <a:spcPct val="150000"/>
              </a:lnSpc>
              <a:buNone/>
            </a:pPr>
            <a:r>
              <a:rPr lang="en-US" altLang="zh-CN" sz="3600" dirty="0"/>
              <a:t>7.2 </a:t>
            </a:r>
            <a:r>
              <a:rPr lang="zh-CN" altLang="en-US" sz="3600" dirty="0"/>
              <a:t>全局路径规划</a:t>
            </a:r>
            <a:endParaRPr lang="en-US" altLang="zh-CN" sz="3600" dirty="0"/>
          </a:p>
          <a:p>
            <a:pPr marL="0" indent="0">
              <a:lnSpc>
                <a:spcPct val="150000"/>
              </a:lnSpc>
              <a:buNone/>
            </a:pPr>
            <a:r>
              <a:rPr lang="en-US" altLang="zh-CN" sz="3600" dirty="0"/>
              <a:t>7.3 </a:t>
            </a:r>
            <a:r>
              <a:rPr lang="zh-CN" altLang="en-US" sz="3600" dirty="0"/>
              <a:t>局部路径规划</a:t>
            </a:r>
            <a:endParaRPr lang="en-US" altLang="zh-CN" sz="3600" dirty="0"/>
          </a:p>
        </p:txBody>
      </p:sp>
    </p:spTree>
    <p:extLst>
      <p:ext uri="{BB962C8B-B14F-4D97-AF65-F5344CB8AC3E}">
        <p14:creationId xmlns:p14="http://schemas.microsoft.com/office/powerpoint/2010/main" val="3683378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2">
                                            <p:txEl>
                                              <p:pRg st="0" end="0"/>
                                            </p:txEl>
                                          </p:spTgt>
                                        </p:tgtEl>
                                        <p:attrNameLst>
                                          <p:attrName>style.color</p:attrName>
                                        </p:attrNameLst>
                                      </p:cBhvr>
                                      <p:to>
                                        <p:clrVal>
                                          <a:srgbClr val="FF0F0F"/>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a:extLst>
              <a:ext uri="{FF2B5EF4-FFF2-40B4-BE49-F238E27FC236}">
                <a16:creationId xmlns:a16="http://schemas.microsoft.com/office/drawing/2014/main" id="{F7D3C82F-36AF-D6D4-54FE-BB6FE35798EA}"/>
              </a:ext>
            </a:extLst>
          </p:cNvPr>
          <p:cNvGrpSpPr/>
          <p:nvPr/>
        </p:nvGrpSpPr>
        <p:grpSpPr>
          <a:xfrm>
            <a:off x="353708" y="1020523"/>
            <a:ext cx="11372625" cy="5746368"/>
            <a:chOff x="353708" y="1589501"/>
            <a:chExt cx="7855805" cy="3969387"/>
          </a:xfrm>
        </p:grpSpPr>
        <p:sp>
          <p:nvSpPr>
            <p:cNvPr id="5" name="Shape 3"/>
            <p:cNvSpPr/>
            <p:nvPr/>
          </p:nvSpPr>
          <p:spPr>
            <a:xfrm>
              <a:off x="366808" y="1589501"/>
              <a:ext cx="7842705" cy="1318762"/>
            </a:xfrm>
            <a:custGeom>
              <a:avLst/>
              <a:gdLst/>
              <a:ahLst/>
              <a:cxnLst/>
              <a:rect l="l" t="t" r="r" b="b"/>
              <a:pathLst>
                <a:path w="7842705" h="1318762">
                  <a:moveTo>
                    <a:pt x="34934" y="0"/>
                  </a:moveTo>
                  <a:lnTo>
                    <a:pt x="7737903" y="0"/>
                  </a:lnTo>
                  <a:cubicBezTo>
                    <a:pt x="7795783" y="0"/>
                    <a:pt x="7842705" y="46921"/>
                    <a:pt x="7842705" y="104802"/>
                  </a:cubicBezTo>
                  <a:lnTo>
                    <a:pt x="7842705" y="1213960"/>
                  </a:lnTo>
                  <a:cubicBezTo>
                    <a:pt x="7842705" y="1271841"/>
                    <a:pt x="7795783" y="1318762"/>
                    <a:pt x="7737903" y="1318762"/>
                  </a:cubicBezTo>
                  <a:lnTo>
                    <a:pt x="34934" y="1318762"/>
                  </a:lnTo>
                  <a:cubicBezTo>
                    <a:pt x="15641" y="1318762"/>
                    <a:pt x="0" y="1303122"/>
                    <a:pt x="0" y="1283828"/>
                  </a:cubicBezTo>
                  <a:lnTo>
                    <a:pt x="0" y="34934"/>
                  </a:lnTo>
                  <a:cubicBezTo>
                    <a:pt x="0" y="15653"/>
                    <a:pt x="15653" y="0"/>
                    <a:pt x="34934" y="0"/>
                  </a:cubicBezTo>
                  <a:close/>
                </a:path>
              </a:pathLst>
            </a:custGeom>
            <a:solidFill>
              <a:srgbClr val="5F87A7">
                <a:alpha val="10196"/>
              </a:srgbClr>
            </a:solidFill>
          </p:spPr>
        </p:sp>
        <p:sp>
          <p:nvSpPr>
            <p:cNvPr id="6" name="Shape 4"/>
            <p:cNvSpPr/>
            <p:nvPr/>
          </p:nvSpPr>
          <p:spPr>
            <a:xfrm>
              <a:off x="366808" y="1589501"/>
              <a:ext cx="34934" cy="1318762"/>
            </a:xfrm>
            <a:custGeom>
              <a:avLst/>
              <a:gdLst/>
              <a:ahLst/>
              <a:cxnLst/>
              <a:rect l="l" t="t" r="r" b="b"/>
              <a:pathLst>
                <a:path w="34934" h="1318762">
                  <a:moveTo>
                    <a:pt x="34934" y="0"/>
                  </a:moveTo>
                  <a:lnTo>
                    <a:pt x="34934" y="0"/>
                  </a:lnTo>
                  <a:lnTo>
                    <a:pt x="34934" y="1318762"/>
                  </a:lnTo>
                  <a:lnTo>
                    <a:pt x="34934" y="1318762"/>
                  </a:lnTo>
                  <a:cubicBezTo>
                    <a:pt x="15641" y="1318762"/>
                    <a:pt x="0" y="1303122"/>
                    <a:pt x="0" y="1283828"/>
                  </a:cubicBezTo>
                  <a:lnTo>
                    <a:pt x="0" y="34934"/>
                  </a:lnTo>
                  <a:cubicBezTo>
                    <a:pt x="0" y="15653"/>
                    <a:pt x="15653" y="0"/>
                    <a:pt x="34934" y="0"/>
                  </a:cubicBezTo>
                  <a:close/>
                </a:path>
              </a:pathLst>
            </a:custGeom>
            <a:solidFill>
              <a:srgbClr val="E6B450"/>
            </a:solidFill>
          </p:spPr>
        </p:sp>
        <p:sp>
          <p:nvSpPr>
            <p:cNvPr id="7" name="Shape 5"/>
            <p:cNvSpPr/>
            <p:nvPr/>
          </p:nvSpPr>
          <p:spPr>
            <a:xfrm>
              <a:off x="530562" y="1834040"/>
              <a:ext cx="327507" cy="262006"/>
            </a:xfrm>
            <a:custGeom>
              <a:avLst/>
              <a:gdLst/>
              <a:ahLst/>
              <a:cxnLst/>
              <a:rect l="l" t="t" r="r" b="b"/>
              <a:pathLst>
                <a:path w="327507" h="262006">
                  <a:moveTo>
                    <a:pt x="294756" y="24563"/>
                  </a:moveTo>
                  <a:cubicBezTo>
                    <a:pt x="294756" y="18883"/>
                    <a:pt x="291840" y="13612"/>
                    <a:pt x="286978" y="10644"/>
                  </a:cubicBezTo>
                  <a:cubicBezTo>
                    <a:pt x="282117" y="7676"/>
                    <a:pt x="276129" y="7369"/>
                    <a:pt x="271063" y="9928"/>
                  </a:cubicBezTo>
                  <a:lnTo>
                    <a:pt x="211600" y="39659"/>
                  </a:lnTo>
                  <a:lnTo>
                    <a:pt x="119796" y="9006"/>
                  </a:lnTo>
                  <a:cubicBezTo>
                    <a:pt x="115651" y="7625"/>
                    <a:pt x="111199" y="7932"/>
                    <a:pt x="107310" y="9876"/>
                  </a:cubicBezTo>
                  <a:lnTo>
                    <a:pt x="41808" y="42627"/>
                  </a:lnTo>
                  <a:cubicBezTo>
                    <a:pt x="36230" y="45442"/>
                    <a:pt x="32751" y="51122"/>
                    <a:pt x="32751" y="57314"/>
                  </a:cubicBezTo>
                  <a:lnTo>
                    <a:pt x="32751" y="237443"/>
                  </a:lnTo>
                  <a:cubicBezTo>
                    <a:pt x="32751" y="243123"/>
                    <a:pt x="35668" y="248394"/>
                    <a:pt x="40529" y="251362"/>
                  </a:cubicBezTo>
                  <a:cubicBezTo>
                    <a:pt x="45390" y="254330"/>
                    <a:pt x="51378" y="254637"/>
                    <a:pt x="56444" y="252078"/>
                  </a:cubicBezTo>
                  <a:lnTo>
                    <a:pt x="115856" y="222347"/>
                  </a:lnTo>
                  <a:lnTo>
                    <a:pt x="204538" y="251925"/>
                  </a:lnTo>
                  <a:cubicBezTo>
                    <a:pt x="202338" y="248650"/>
                    <a:pt x="200189" y="245221"/>
                    <a:pt x="198091" y="241741"/>
                  </a:cubicBezTo>
                  <a:cubicBezTo>
                    <a:pt x="192462" y="232377"/>
                    <a:pt x="186884" y="221630"/>
                    <a:pt x="182739" y="210116"/>
                  </a:cubicBezTo>
                  <a:lnTo>
                    <a:pt x="130952" y="192871"/>
                  </a:lnTo>
                  <a:lnTo>
                    <a:pt x="130952" y="47284"/>
                  </a:lnTo>
                  <a:lnTo>
                    <a:pt x="196453" y="69135"/>
                  </a:lnTo>
                  <a:lnTo>
                    <a:pt x="196453" y="119949"/>
                  </a:lnTo>
                  <a:cubicBezTo>
                    <a:pt x="212317" y="101630"/>
                    <a:pt x="235856" y="90064"/>
                    <a:pt x="261955" y="90064"/>
                  </a:cubicBezTo>
                  <a:cubicBezTo>
                    <a:pt x="273520" y="90064"/>
                    <a:pt x="284573" y="92316"/>
                    <a:pt x="294705" y="96461"/>
                  </a:cubicBezTo>
                  <a:lnTo>
                    <a:pt x="294756" y="24563"/>
                  </a:lnTo>
                  <a:close/>
                  <a:moveTo>
                    <a:pt x="262006" y="114628"/>
                  </a:moveTo>
                  <a:cubicBezTo>
                    <a:pt x="228078" y="114628"/>
                    <a:pt x="200598" y="141647"/>
                    <a:pt x="200598" y="174960"/>
                  </a:cubicBezTo>
                  <a:cubicBezTo>
                    <a:pt x="200598" y="210219"/>
                    <a:pt x="233400" y="251925"/>
                    <a:pt x="251055" y="271831"/>
                  </a:cubicBezTo>
                  <a:cubicBezTo>
                    <a:pt x="256991" y="278483"/>
                    <a:pt x="267072" y="278483"/>
                    <a:pt x="273008" y="271831"/>
                  </a:cubicBezTo>
                  <a:cubicBezTo>
                    <a:pt x="290663" y="251925"/>
                    <a:pt x="323464" y="210219"/>
                    <a:pt x="323464" y="174960"/>
                  </a:cubicBezTo>
                  <a:cubicBezTo>
                    <a:pt x="323464" y="141647"/>
                    <a:pt x="295985" y="114628"/>
                    <a:pt x="262057" y="114628"/>
                  </a:cubicBezTo>
                  <a:close/>
                  <a:moveTo>
                    <a:pt x="241537" y="176035"/>
                  </a:moveTo>
                  <a:cubicBezTo>
                    <a:pt x="241537" y="164738"/>
                    <a:pt x="250708" y="155566"/>
                    <a:pt x="262006" y="155566"/>
                  </a:cubicBezTo>
                  <a:cubicBezTo>
                    <a:pt x="273303" y="155566"/>
                    <a:pt x="282475" y="164738"/>
                    <a:pt x="282475" y="176035"/>
                  </a:cubicBezTo>
                  <a:cubicBezTo>
                    <a:pt x="282475" y="187332"/>
                    <a:pt x="273303" y="196504"/>
                    <a:pt x="262006" y="196504"/>
                  </a:cubicBezTo>
                  <a:cubicBezTo>
                    <a:pt x="250708" y="196504"/>
                    <a:pt x="241537" y="187332"/>
                    <a:pt x="241537" y="176035"/>
                  </a:cubicBezTo>
                  <a:close/>
                </a:path>
              </a:pathLst>
            </a:custGeom>
            <a:solidFill>
              <a:srgbClr val="E6B450"/>
            </a:solidFill>
          </p:spPr>
        </p:sp>
        <p:sp>
          <p:nvSpPr>
            <p:cNvPr id="8" name="Text 6"/>
            <p:cNvSpPr/>
            <p:nvPr/>
          </p:nvSpPr>
          <p:spPr>
            <a:xfrm>
              <a:off x="938717" y="1799106"/>
              <a:ext cx="7161490" cy="279473"/>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地图的核心作用</a:t>
              </a:r>
              <a:endParaRPr lang="en-US" dirty="0"/>
            </a:p>
          </p:txBody>
        </p:sp>
        <p:sp>
          <p:nvSpPr>
            <p:cNvPr id="9" name="Text 7"/>
            <p:cNvSpPr/>
            <p:nvPr/>
          </p:nvSpPr>
          <p:spPr>
            <a:xfrm>
              <a:off x="938717" y="2183381"/>
              <a:ext cx="7135289" cy="51527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地图作为机器人感知和理解环境的一种</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载体</a:t>
              </a:r>
              <a:r>
                <a:rPr lang="en-US" sz="1600" dirty="0">
                  <a:latin typeface="微软雅黑" panose="020B0503020204020204" pitchFamily="34" charset="-122"/>
                  <a:ea typeface="微软雅黑" panose="020B0503020204020204" pitchFamily="34" charset="-122"/>
                  <a:cs typeface="微软雅黑" panose="020B0503020204020204" pitchFamily="34" charset="-122"/>
                </a:rPr>
                <a:t>，可以提供包括</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目标位置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障碍物布局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及</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形状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等关键信息，这些信息对于制定</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无碰撞且高效</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的导航指令至关重要。</a:t>
              </a:r>
              <a:endParaRPr lang="en-US" sz="1600" dirty="0"/>
            </a:p>
          </p:txBody>
        </p:sp>
        <p:sp>
          <p:nvSpPr>
            <p:cNvPr id="10" name="Shape 8"/>
            <p:cNvSpPr/>
            <p:nvPr/>
          </p:nvSpPr>
          <p:spPr>
            <a:xfrm>
              <a:off x="366808" y="3113501"/>
              <a:ext cx="7842705" cy="1318762"/>
            </a:xfrm>
            <a:custGeom>
              <a:avLst/>
              <a:gdLst/>
              <a:ahLst/>
              <a:cxnLst/>
              <a:rect l="l" t="t" r="r" b="b"/>
              <a:pathLst>
                <a:path w="7842705" h="1318762">
                  <a:moveTo>
                    <a:pt x="34934" y="0"/>
                  </a:moveTo>
                  <a:lnTo>
                    <a:pt x="7737903" y="0"/>
                  </a:lnTo>
                  <a:cubicBezTo>
                    <a:pt x="7795783" y="0"/>
                    <a:pt x="7842705" y="46921"/>
                    <a:pt x="7842705" y="104802"/>
                  </a:cubicBezTo>
                  <a:lnTo>
                    <a:pt x="7842705" y="1213960"/>
                  </a:lnTo>
                  <a:cubicBezTo>
                    <a:pt x="7842705" y="1271841"/>
                    <a:pt x="7795783" y="1318762"/>
                    <a:pt x="7737903" y="1318762"/>
                  </a:cubicBezTo>
                  <a:lnTo>
                    <a:pt x="34934" y="1318762"/>
                  </a:lnTo>
                  <a:cubicBezTo>
                    <a:pt x="15641" y="1318762"/>
                    <a:pt x="0" y="1303122"/>
                    <a:pt x="0" y="1283828"/>
                  </a:cubicBezTo>
                  <a:lnTo>
                    <a:pt x="0" y="34934"/>
                  </a:lnTo>
                  <a:cubicBezTo>
                    <a:pt x="0" y="15653"/>
                    <a:pt x="15653" y="0"/>
                    <a:pt x="34934" y="0"/>
                  </a:cubicBezTo>
                  <a:close/>
                </a:path>
              </a:pathLst>
            </a:custGeom>
            <a:solidFill>
              <a:srgbClr val="5F87A7">
                <a:alpha val="10196"/>
              </a:srgbClr>
            </a:solidFill>
          </p:spPr>
        </p:sp>
        <p:sp>
          <p:nvSpPr>
            <p:cNvPr id="11" name="Shape 9"/>
            <p:cNvSpPr/>
            <p:nvPr/>
          </p:nvSpPr>
          <p:spPr>
            <a:xfrm>
              <a:off x="366808" y="3113501"/>
              <a:ext cx="34934" cy="1318762"/>
            </a:xfrm>
            <a:custGeom>
              <a:avLst/>
              <a:gdLst/>
              <a:ahLst/>
              <a:cxnLst/>
              <a:rect l="l" t="t" r="r" b="b"/>
              <a:pathLst>
                <a:path w="34934" h="1318762">
                  <a:moveTo>
                    <a:pt x="34934" y="0"/>
                  </a:moveTo>
                  <a:lnTo>
                    <a:pt x="34934" y="0"/>
                  </a:lnTo>
                  <a:lnTo>
                    <a:pt x="34934" y="1318762"/>
                  </a:lnTo>
                  <a:lnTo>
                    <a:pt x="34934" y="1318762"/>
                  </a:lnTo>
                  <a:cubicBezTo>
                    <a:pt x="15641" y="1318762"/>
                    <a:pt x="0" y="1303122"/>
                    <a:pt x="0" y="1283828"/>
                  </a:cubicBezTo>
                  <a:lnTo>
                    <a:pt x="0" y="34934"/>
                  </a:lnTo>
                  <a:cubicBezTo>
                    <a:pt x="0" y="15653"/>
                    <a:pt x="15653" y="0"/>
                    <a:pt x="34934" y="0"/>
                  </a:cubicBezTo>
                  <a:close/>
                </a:path>
              </a:pathLst>
            </a:custGeom>
            <a:solidFill>
              <a:srgbClr val="E6B450"/>
            </a:solidFill>
          </p:spPr>
        </p:sp>
        <p:sp>
          <p:nvSpPr>
            <p:cNvPr id="12" name="Shape 10"/>
            <p:cNvSpPr/>
            <p:nvPr/>
          </p:nvSpPr>
          <p:spPr>
            <a:xfrm>
              <a:off x="598246" y="3358040"/>
              <a:ext cx="262006" cy="262006"/>
            </a:xfrm>
            <a:custGeom>
              <a:avLst/>
              <a:gdLst/>
              <a:ahLst/>
              <a:cxnLst/>
              <a:rect l="l" t="t" r="r" b="b"/>
              <a:pathLst>
                <a:path w="262006" h="262006">
                  <a:moveTo>
                    <a:pt x="229255" y="131003"/>
                  </a:moveTo>
                  <a:cubicBezTo>
                    <a:pt x="229255" y="76776"/>
                    <a:pt x="185230" y="32751"/>
                    <a:pt x="131003" y="32751"/>
                  </a:cubicBezTo>
                  <a:cubicBezTo>
                    <a:pt x="76776" y="32751"/>
                    <a:pt x="32751" y="76776"/>
                    <a:pt x="32751" y="131003"/>
                  </a:cubicBezTo>
                  <a:cubicBezTo>
                    <a:pt x="32751" y="185230"/>
                    <a:pt x="76776" y="229255"/>
                    <a:pt x="131003" y="229255"/>
                  </a:cubicBezTo>
                  <a:cubicBezTo>
                    <a:pt x="185230" y="229255"/>
                    <a:pt x="229255" y="185230"/>
                    <a:pt x="229255" y="131003"/>
                  </a:cubicBezTo>
                  <a:close/>
                  <a:moveTo>
                    <a:pt x="0" y="131003"/>
                  </a:moveTo>
                  <a:cubicBezTo>
                    <a:pt x="0" y="58700"/>
                    <a:pt x="58700" y="0"/>
                    <a:pt x="131003" y="0"/>
                  </a:cubicBezTo>
                  <a:cubicBezTo>
                    <a:pt x="203305" y="0"/>
                    <a:pt x="262006" y="58700"/>
                    <a:pt x="262006" y="131003"/>
                  </a:cubicBezTo>
                  <a:cubicBezTo>
                    <a:pt x="262006" y="203305"/>
                    <a:pt x="203305" y="262006"/>
                    <a:pt x="131003" y="262006"/>
                  </a:cubicBezTo>
                  <a:cubicBezTo>
                    <a:pt x="58700" y="262006"/>
                    <a:pt x="0" y="203305"/>
                    <a:pt x="0" y="131003"/>
                  </a:cubicBezTo>
                  <a:close/>
                  <a:moveTo>
                    <a:pt x="131003" y="171941"/>
                  </a:moveTo>
                  <a:cubicBezTo>
                    <a:pt x="153597" y="171941"/>
                    <a:pt x="171941" y="153597"/>
                    <a:pt x="171941" y="131003"/>
                  </a:cubicBezTo>
                  <a:cubicBezTo>
                    <a:pt x="171941" y="108408"/>
                    <a:pt x="153597" y="90064"/>
                    <a:pt x="131003" y="90064"/>
                  </a:cubicBezTo>
                  <a:cubicBezTo>
                    <a:pt x="108408" y="90064"/>
                    <a:pt x="90064" y="108408"/>
                    <a:pt x="90064" y="131003"/>
                  </a:cubicBezTo>
                  <a:cubicBezTo>
                    <a:pt x="90064" y="153597"/>
                    <a:pt x="108408" y="171941"/>
                    <a:pt x="131003" y="171941"/>
                  </a:cubicBezTo>
                  <a:close/>
                  <a:moveTo>
                    <a:pt x="131003" y="57314"/>
                  </a:moveTo>
                  <a:cubicBezTo>
                    <a:pt x="171673" y="57314"/>
                    <a:pt x="204692" y="90333"/>
                    <a:pt x="204692" y="131003"/>
                  </a:cubicBezTo>
                  <a:cubicBezTo>
                    <a:pt x="204692" y="171673"/>
                    <a:pt x="171673" y="204692"/>
                    <a:pt x="131003" y="204692"/>
                  </a:cubicBezTo>
                  <a:cubicBezTo>
                    <a:pt x="90333" y="204692"/>
                    <a:pt x="57314" y="171673"/>
                    <a:pt x="57314" y="131003"/>
                  </a:cubicBezTo>
                  <a:cubicBezTo>
                    <a:pt x="57314" y="90333"/>
                    <a:pt x="90333" y="57314"/>
                    <a:pt x="131003" y="57314"/>
                  </a:cubicBezTo>
                  <a:close/>
                  <a:moveTo>
                    <a:pt x="114628" y="131003"/>
                  </a:moveTo>
                  <a:cubicBezTo>
                    <a:pt x="114628" y="121965"/>
                    <a:pt x="121965" y="114628"/>
                    <a:pt x="131003" y="114628"/>
                  </a:cubicBezTo>
                  <a:cubicBezTo>
                    <a:pt x="140041" y="114628"/>
                    <a:pt x="147378" y="121965"/>
                    <a:pt x="147378" y="131003"/>
                  </a:cubicBezTo>
                  <a:cubicBezTo>
                    <a:pt x="147378" y="140041"/>
                    <a:pt x="140041" y="147378"/>
                    <a:pt x="131003" y="147378"/>
                  </a:cubicBezTo>
                  <a:cubicBezTo>
                    <a:pt x="121965" y="147378"/>
                    <a:pt x="114628" y="140041"/>
                    <a:pt x="114628" y="131003"/>
                  </a:cubicBezTo>
                  <a:close/>
                </a:path>
              </a:pathLst>
            </a:custGeom>
            <a:solidFill>
              <a:srgbClr val="E6B450"/>
            </a:solidFill>
          </p:spPr>
        </p:sp>
        <p:sp>
          <p:nvSpPr>
            <p:cNvPr id="13" name="Text 11"/>
            <p:cNvSpPr/>
            <p:nvPr/>
          </p:nvSpPr>
          <p:spPr>
            <a:xfrm>
              <a:off x="1008313" y="3323106"/>
              <a:ext cx="7091622" cy="279473"/>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选择标准</a:t>
              </a:r>
              <a:endParaRPr lang="en-US" dirty="0"/>
            </a:p>
          </p:txBody>
        </p:sp>
        <p:sp>
          <p:nvSpPr>
            <p:cNvPr id="14" name="Text 12"/>
            <p:cNvSpPr/>
            <p:nvPr/>
          </p:nvSpPr>
          <p:spPr>
            <a:xfrm>
              <a:off x="1008313" y="3707381"/>
              <a:ext cx="7065421" cy="51527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选择一个既能</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详尽地表征环境细节</a:t>
              </a:r>
              <a:r>
                <a:rPr lang="en-US" sz="1600" dirty="0">
                  <a:latin typeface="微软雅黑" panose="020B0503020204020204" pitchFamily="34" charset="-122"/>
                  <a:ea typeface="微软雅黑" panose="020B0503020204020204" pitchFamily="34" charset="-122"/>
                  <a:cs typeface="微软雅黑" panose="020B0503020204020204" pitchFamily="34" charset="-122"/>
                </a:rPr>
                <a:t>又</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易于算法解析和处理</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的地图表示方法对于实现快速、高效的全局路径规划至关重要。</a:t>
              </a:r>
              <a:endParaRPr lang="en-US" sz="1600" dirty="0"/>
            </a:p>
          </p:txBody>
        </p:sp>
        <p:sp>
          <p:nvSpPr>
            <p:cNvPr id="15" name="Shape 13"/>
            <p:cNvSpPr/>
            <p:nvPr/>
          </p:nvSpPr>
          <p:spPr>
            <a:xfrm>
              <a:off x="353708" y="4641868"/>
              <a:ext cx="3851484" cy="917020"/>
            </a:xfrm>
            <a:custGeom>
              <a:avLst/>
              <a:gdLst/>
              <a:ahLst/>
              <a:cxnLst/>
              <a:rect l="l" t="t" r="r" b="b"/>
              <a:pathLst>
                <a:path w="3851484" h="917020">
                  <a:moveTo>
                    <a:pt x="104806" y="0"/>
                  </a:moveTo>
                  <a:lnTo>
                    <a:pt x="3746678" y="0"/>
                  </a:lnTo>
                  <a:cubicBezTo>
                    <a:pt x="3804561" y="0"/>
                    <a:pt x="3851484" y="46923"/>
                    <a:pt x="3851484" y="104806"/>
                  </a:cubicBezTo>
                  <a:lnTo>
                    <a:pt x="3851484" y="812214"/>
                  </a:lnTo>
                  <a:cubicBezTo>
                    <a:pt x="3851484" y="870097"/>
                    <a:pt x="3804561" y="917020"/>
                    <a:pt x="3746678" y="917020"/>
                  </a:cubicBezTo>
                  <a:lnTo>
                    <a:pt x="104806" y="917020"/>
                  </a:lnTo>
                  <a:cubicBezTo>
                    <a:pt x="46923" y="917020"/>
                    <a:pt x="0" y="870097"/>
                    <a:pt x="0" y="812214"/>
                  </a:cubicBezTo>
                  <a:lnTo>
                    <a:pt x="0" y="104806"/>
                  </a:lnTo>
                  <a:cubicBezTo>
                    <a:pt x="0" y="46962"/>
                    <a:pt x="46962" y="0"/>
                    <a:pt x="104806" y="0"/>
                  </a:cubicBezTo>
                  <a:close/>
                </a:path>
              </a:pathLst>
            </a:custGeom>
            <a:solidFill>
              <a:srgbClr val="E6B450">
                <a:alpha val="10196"/>
              </a:srgbClr>
            </a:solidFill>
            <a:ln w="12700">
              <a:solidFill>
                <a:srgbClr val="E6B450">
                  <a:alpha val="30196"/>
                </a:srgbClr>
              </a:solidFill>
              <a:prstDash val="solid"/>
            </a:ln>
          </p:spPr>
        </p:sp>
        <p:sp>
          <p:nvSpPr>
            <p:cNvPr id="16" name="Shape 14"/>
            <p:cNvSpPr/>
            <p:nvPr/>
          </p:nvSpPr>
          <p:spPr>
            <a:xfrm>
              <a:off x="572046" y="4838372"/>
              <a:ext cx="183404" cy="209605"/>
            </a:xfrm>
            <a:custGeom>
              <a:avLst/>
              <a:gdLst/>
              <a:ahLst/>
              <a:cxnLst/>
              <a:rect l="l" t="t" r="r" b="b"/>
              <a:pathLst>
                <a:path w="183404" h="209605">
                  <a:moveTo>
                    <a:pt x="157203" y="39301"/>
                  </a:moveTo>
                  <a:lnTo>
                    <a:pt x="157203" y="65501"/>
                  </a:lnTo>
                  <a:lnTo>
                    <a:pt x="131003" y="65501"/>
                  </a:lnTo>
                  <a:lnTo>
                    <a:pt x="131003" y="39301"/>
                  </a:lnTo>
                  <a:lnTo>
                    <a:pt x="157203" y="39301"/>
                  </a:lnTo>
                  <a:close/>
                  <a:moveTo>
                    <a:pt x="157203" y="91702"/>
                  </a:moveTo>
                  <a:lnTo>
                    <a:pt x="157203" y="117903"/>
                  </a:lnTo>
                  <a:lnTo>
                    <a:pt x="131003" y="117903"/>
                  </a:lnTo>
                  <a:lnTo>
                    <a:pt x="131003" y="91702"/>
                  </a:lnTo>
                  <a:lnTo>
                    <a:pt x="157203" y="91702"/>
                  </a:lnTo>
                  <a:close/>
                  <a:moveTo>
                    <a:pt x="157203" y="144103"/>
                  </a:moveTo>
                  <a:lnTo>
                    <a:pt x="157203" y="170304"/>
                  </a:lnTo>
                  <a:lnTo>
                    <a:pt x="131003" y="170304"/>
                  </a:lnTo>
                  <a:lnTo>
                    <a:pt x="131003" y="144103"/>
                  </a:lnTo>
                  <a:lnTo>
                    <a:pt x="157203" y="144103"/>
                  </a:lnTo>
                  <a:close/>
                  <a:moveTo>
                    <a:pt x="104802" y="117903"/>
                  </a:moveTo>
                  <a:lnTo>
                    <a:pt x="78602" y="117903"/>
                  </a:lnTo>
                  <a:lnTo>
                    <a:pt x="78602" y="91702"/>
                  </a:lnTo>
                  <a:lnTo>
                    <a:pt x="104802" y="91702"/>
                  </a:lnTo>
                  <a:lnTo>
                    <a:pt x="104802" y="117903"/>
                  </a:lnTo>
                  <a:close/>
                  <a:moveTo>
                    <a:pt x="78602" y="144103"/>
                  </a:moveTo>
                  <a:lnTo>
                    <a:pt x="104802" y="144103"/>
                  </a:lnTo>
                  <a:lnTo>
                    <a:pt x="104802" y="170304"/>
                  </a:lnTo>
                  <a:lnTo>
                    <a:pt x="78602" y="170304"/>
                  </a:lnTo>
                  <a:lnTo>
                    <a:pt x="78602" y="144103"/>
                  </a:lnTo>
                  <a:close/>
                  <a:moveTo>
                    <a:pt x="52401" y="117903"/>
                  </a:moveTo>
                  <a:lnTo>
                    <a:pt x="26201" y="117903"/>
                  </a:lnTo>
                  <a:lnTo>
                    <a:pt x="26201" y="91702"/>
                  </a:lnTo>
                  <a:lnTo>
                    <a:pt x="52401" y="91702"/>
                  </a:lnTo>
                  <a:lnTo>
                    <a:pt x="52401" y="117903"/>
                  </a:lnTo>
                  <a:close/>
                  <a:moveTo>
                    <a:pt x="26201" y="144103"/>
                  </a:moveTo>
                  <a:lnTo>
                    <a:pt x="52401" y="144103"/>
                  </a:lnTo>
                  <a:lnTo>
                    <a:pt x="52401" y="170304"/>
                  </a:lnTo>
                  <a:lnTo>
                    <a:pt x="26201" y="170304"/>
                  </a:lnTo>
                  <a:lnTo>
                    <a:pt x="26201" y="144103"/>
                  </a:lnTo>
                  <a:close/>
                  <a:moveTo>
                    <a:pt x="26201" y="65501"/>
                  </a:moveTo>
                  <a:lnTo>
                    <a:pt x="26201" y="39301"/>
                  </a:lnTo>
                  <a:lnTo>
                    <a:pt x="52401" y="39301"/>
                  </a:lnTo>
                  <a:lnTo>
                    <a:pt x="52401" y="65501"/>
                  </a:lnTo>
                  <a:lnTo>
                    <a:pt x="26201" y="65501"/>
                  </a:lnTo>
                  <a:close/>
                  <a:moveTo>
                    <a:pt x="78602" y="65501"/>
                  </a:moveTo>
                  <a:lnTo>
                    <a:pt x="78602" y="39301"/>
                  </a:lnTo>
                  <a:lnTo>
                    <a:pt x="104802" y="39301"/>
                  </a:lnTo>
                  <a:lnTo>
                    <a:pt x="104802" y="65501"/>
                  </a:lnTo>
                  <a:lnTo>
                    <a:pt x="78602" y="65501"/>
                  </a:lnTo>
                  <a:close/>
                  <a:moveTo>
                    <a:pt x="26201" y="13100"/>
                  </a:moveTo>
                  <a:cubicBezTo>
                    <a:pt x="11749" y="13100"/>
                    <a:pt x="0" y="24850"/>
                    <a:pt x="0" y="39301"/>
                  </a:cubicBezTo>
                  <a:lnTo>
                    <a:pt x="0" y="170304"/>
                  </a:lnTo>
                  <a:cubicBezTo>
                    <a:pt x="0" y="184755"/>
                    <a:pt x="11749" y="196504"/>
                    <a:pt x="26201" y="196504"/>
                  </a:cubicBezTo>
                  <a:lnTo>
                    <a:pt x="157203" y="196504"/>
                  </a:lnTo>
                  <a:cubicBezTo>
                    <a:pt x="171655" y="196504"/>
                    <a:pt x="183404" y="184755"/>
                    <a:pt x="183404" y="170304"/>
                  </a:cubicBezTo>
                  <a:lnTo>
                    <a:pt x="183404" y="39301"/>
                  </a:lnTo>
                  <a:cubicBezTo>
                    <a:pt x="183404" y="24850"/>
                    <a:pt x="171655" y="13100"/>
                    <a:pt x="157203" y="13100"/>
                  </a:cubicBezTo>
                  <a:lnTo>
                    <a:pt x="26201" y="13100"/>
                  </a:lnTo>
                  <a:close/>
                </a:path>
              </a:pathLst>
            </a:custGeom>
            <a:solidFill>
              <a:srgbClr val="E6B450"/>
            </a:solidFill>
          </p:spPr>
        </p:sp>
        <p:sp>
          <p:nvSpPr>
            <p:cNvPr id="17" name="Text 15"/>
            <p:cNvSpPr/>
            <p:nvPr/>
          </p:nvSpPr>
          <p:spPr>
            <a:xfrm>
              <a:off x="899553" y="4820905"/>
              <a:ext cx="786017" cy="244539"/>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度量地图</a:t>
              </a:r>
              <a:endParaRPr lang="en-US" dirty="0"/>
            </a:p>
          </p:txBody>
        </p:sp>
        <p:sp>
          <p:nvSpPr>
            <p:cNvPr id="18" name="Text 16"/>
            <p:cNvSpPr/>
            <p:nvPr/>
          </p:nvSpPr>
          <p:spPr>
            <a:xfrm>
              <a:off x="532745" y="5170246"/>
              <a:ext cx="3563278" cy="209605"/>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精确的几何表示，适合细节建模</a:t>
              </a:r>
              <a:endParaRPr lang="en-US" sz="1600" dirty="0"/>
            </a:p>
          </p:txBody>
        </p:sp>
        <p:sp>
          <p:nvSpPr>
            <p:cNvPr id="19" name="Shape 17"/>
            <p:cNvSpPr/>
            <p:nvPr/>
          </p:nvSpPr>
          <p:spPr>
            <a:xfrm>
              <a:off x="4351615" y="4641868"/>
              <a:ext cx="3851484" cy="917020"/>
            </a:xfrm>
            <a:custGeom>
              <a:avLst/>
              <a:gdLst/>
              <a:ahLst/>
              <a:cxnLst/>
              <a:rect l="l" t="t" r="r" b="b"/>
              <a:pathLst>
                <a:path w="3851484" h="917020">
                  <a:moveTo>
                    <a:pt x="104806" y="0"/>
                  </a:moveTo>
                  <a:lnTo>
                    <a:pt x="3746678" y="0"/>
                  </a:lnTo>
                  <a:cubicBezTo>
                    <a:pt x="3804561" y="0"/>
                    <a:pt x="3851484" y="46923"/>
                    <a:pt x="3851484" y="104806"/>
                  </a:cubicBezTo>
                  <a:lnTo>
                    <a:pt x="3851484" y="812214"/>
                  </a:lnTo>
                  <a:cubicBezTo>
                    <a:pt x="3851484" y="870097"/>
                    <a:pt x="3804561" y="917020"/>
                    <a:pt x="3746678" y="917020"/>
                  </a:cubicBezTo>
                  <a:lnTo>
                    <a:pt x="104806" y="917020"/>
                  </a:lnTo>
                  <a:cubicBezTo>
                    <a:pt x="46923" y="917020"/>
                    <a:pt x="0" y="870097"/>
                    <a:pt x="0" y="812214"/>
                  </a:cubicBezTo>
                  <a:lnTo>
                    <a:pt x="0" y="104806"/>
                  </a:lnTo>
                  <a:cubicBezTo>
                    <a:pt x="0" y="46962"/>
                    <a:pt x="46962" y="0"/>
                    <a:pt x="104806" y="0"/>
                  </a:cubicBezTo>
                  <a:close/>
                </a:path>
              </a:pathLst>
            </a:custGeom>
            <a:solidFill>
              <a:srgbClr val="E6B450">
                <a:alpha val="10196"/>
              </a:srgbClr>
            </a:solidFill>
            <a:ln w="12700">
              <a:solidFill>
                <a:srgbClr val="E6B450">
                  <a:alpha val="30196"/>
                </a:srgbClr>
              </a:solidFill>
              <a:prstDash val="solid"/>
            </a:ln>
          </p:spPr>
        </p:sp>
        <p:sp>
          <p:nvSpPr>
            <p:cNvPr id="20" name="Shape 18"/>
            <p:cNvSpPr/>
            <p:nvPr/>
          </p:nvSpPr>
          <p:spPr>
            <a:xfrm>
              <a:off x="4556853" y="4838372"/>
              <a:ext cx="209605" cy="209605"/>
            </a:xfrm>
            <a:custGeom>
              <a:avLst/>
              <a:gdLst/>
              <a:ahLst/>
              <a:cxnLst/>
              <a:rect l="l" t="t" r="r" b="b"/>
              <a:pathLst>
                <a:path w="209605" h="209605">
                  <a:moveTo>
                    <a:pt x="0" y="32751"/>
                  </a:moveTo>
                  <a:cubicBezTo>
                    <a:pt x="0" y="21902"/>
                    <a:pt x="8802" y="13100"/>
                    <a:pt x="19650" y="13100"/>
                  </a:cubicBezTo>
                  <a:lnTo>
                    <a:pt x="58951" y="13100"/>
                  </a:lnTo>
                  <a:cubicBezTo>
                    <a:pt x="69800" y="13100"/>
                    <a:pt x="78602" y="21902"/>
                    <a:pt x="78602" y="32751"/>
                  </a:cubicBezTo>
                  <a:lnTo>
                    <a:pt x="78602" y="39301"/>
                  </a:lnTo>
                  <a:lnTo>
                    <a:pt x="131003" y="39301"/>
                  </a:lnTo>
                  <a:lnTo>
                    <a:pt x="131003" y="32751"/>
                  </a:lnTo>
                  <a:cubicBezTo>
                    <a:pt x="131003" y="21902"/>
                    <a:pt x="139805" y="13100"/>
                    <a:pt x="150653" y="13100"/>
                  </a:cubicBezTo>
                  <a:lnTo>
                    <a:pt x="189954" y="13100"/>
                  </a:lnTo>
                  <a:cubicBezTo>
                    <a:pt x="200803" y="13100"/>
                    <a:pt x="209605" y="21902"/>
                    <a:pt x="209605" y="32751"/>
                  </a:cubicBezTo>
                  <a:lnTo>
                    <a:pt x="209605" y="72052"/>
                  </a:lnTo>
                  <a:cubicBezTo>
                    <a:pt x="209605" y="82900"/>
                    <a:pt x="200803" y="91702"/>
                    <a:pt x="189954" y="91702"/>
                  </a:cubicBezTo>
                  <a:lnTo>
                    <a:pt x="150653" y="91702"/>
                  </a:lnTo>
                  <a:cubicBezTo>
                    <a:pt x="139805" y="91702"/>
                    <a:pt x="131003" y="82900"/>
                    <a:pt x="131003" y="72052"/>
                  </a:cubicBezTo>
                  <a:lnTo>
                    <a:pt x="131003" y="65501"/>
                  </a:lnTo>
                  <a:lnTo>
                    <a:pt x="78602" y="65501"/>
                  </a:lnTo>
                  <a:lnTo>
                    <a:pt x="78602" y="72052"/>
                  </a:lnTo>
                  <a:cubicBezTo>
                    <a:pt x="78602" y="75040"/>
                    <a:pt x="77906" y="77906"/>
                    <a:pt x="76719" y="80444"/>
                  </a:cubicBezTo>
                  <a:lnTo>
                    <a:pt x="104802" y="117903"/>
                  </a:lnTo>
                  <a:lnTo>
                    <a:pt x="137553" y="117903"/>
                  </a:lnTo>
                  <a:cubicBezTo>
                    <a:pt x="148402" y="117903"/>
                    <a:pt x="157203" y="126704"/>
                    <a:pt x="157203" y="137553"/>
                  </a:cubicBezTo>
                  <a:lnTo>
                    <a:pt x="157203" y="176854"/>
                  </a:lnTo>
                  <a:cubicBezTo>
                    <a:pt x="157203" y="187703"/>
                    <a:pt x="148402" y="196504"/>
                    <a:pt x="137553" y="196504"/>
                  </a:cubicBezTo>
                  <a:lnTo>
                    <a:pt x="98252" y="196504"/>
                  </a:lnTo>
                  <a:cubicBezTo>
                    <a:pt x="87403" y="196504"/>
                    <a:pt x="78602" y="187703"/>
                    <a:pt x="78602" y="176854"/>
                  </a:cubicBezTo>
                  <a:lnTo>
                    <a:pt x="78602" y="137553"/>
                  </a:lnTo>
                  <a:cubicBezTo>
                    <a:pt x="78602" y="134565"/>
                    <a:pt x="79298" y="131699"/>
                    <a:pt x="80485" y="129161"/>
                  </a:cubicBezTo>
                  <a:lnTo>
                    <a:pt x="52401" y="91702"/>
                  </a:lnTo>
                  <a:lnTo>
                    <a:pt x="19650" y="91702"/>
                  </a:lnTo>
                  <a:cubicBezTo>
                    <a:pt x="8802" y="91702"/>
                    <a:pt x="0" y="82900"/>
                    <a:pt x="0" y="72052"/>
                  </a:cubicBezTo>
                  <a:lnTo>
                    <a:pt x="0" y="32751"/>
                  </a:lnTo>
                  <a:close/>
                </a:path>
              </a:pathLst>
            </a:custGeom>
            <a:solidFill>
              <a:srgbClr val="E6B450"/>
            </a:solidFill>
          </p:spPr>
        </p:sp>
        <p:sp>
          <p:nvSpPr>
            <p:cNvPr id="21" name="Text 19"/>
            <p:cNvSpPr/>
            <p:nvPr/>
          </p:nvSpPr>
          <p:spPr>
            <a:xfrm>
              <a:off x="4897460" y="4820905"/>
              <a:ext cx="786017" cy="244539"/>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拓扑地图</a:t>
              </a:r>
              <a:endParaRPr lang="en-US" dirty="0"/>
            </a:p>
          </p:txBody>
        </p:sp>
        <p:sp>
          <p:nvSpPr>
            <p:cNvPr id="22" name="Text 20"/>
            <p:cNvSpPr/>
            <p:nvPr/>
          </p:nvSpPr>
          <p:spPr>
            <a:xfrm>
              <a:off x="4530652" y="5170246"/>
              <a:ext cx="3563278" cy="209605"/>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抽象的连通性表示，简化规划</a:t>
              </a:r>
              <a:endParaRPr lang="en-US" sz="1600" dirty="0"/>
            </a:p>
          </p:txBody>
        </p:sp>
      </p:grpSp>
    </p:spTree>
    <p:extLst>
      <p:ext uri="{BB962C8B-B14F-4D97-AF65-F5344CB8AC3E}">
        <p14:creationId xmlns:p14="http://schemas.microsoft.com/office/powerpoint/2010/main" val="2397855285"/>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a:extLst>
              <a:ext uri="{FF2B5EF4-FFF2-40B4-BE49-F238E27FC236}">
                <a16:creationId xmlns:a16="http://schemas.microsoft.com/office/drawing/2014/main" id="{8615D946-95D6-7F46-783E-C5B041629757}"/>
              </a:ext>
            </a:extLst>
          </p:cNvPr>
          <p:cNvGrpSpPr/>
          <p:nvPr/>
        </p:nvGrpSpPr>
        <p:grpSpPr>
          <a:xfrm>
            <a:off x="321469" y="1647826"/>
            <a:ext cx="10981531" cy="5122327"/>
            <a:chOff x="321469" y="1647827"/>
            <a:chExt cx="7529959" cy="3512344"/>
          </a:xfrm>
        </p:grpSpPr>
        <p:sp>
          <p:nvSpPr>
            <p:cNvPr id="5" name="Shape 3"/>
            <p:cNvSpPr/>
            <p:nvPr/>
          </p:nvSpPr>
          <p:spPr>
            <a:xfrm>
              <a:off x="333375" y="1647827"/>
              <a:ext cx="7516813" cy="1198563"/>
            </a:xfrm>
            <a:custGeom>
              <a:avLst/>
              <a:gdLst/>
              <a:ahLst/>
              <a:cxnLst/>
              <a:rect l="l" t="t" r="r" b="b"/>
              <a:pathLst>
                <a:path w="7516813" h="1198563">
                  <a:moveTo>
                    <a:pt x="31750" y="0"/>
                  </a:moveTo>
                  <a:lnTo>
                    <a:pt x="7421563" y="0"/>
                  </a:lnTo>
                  <a:cubicBezTo>
                    <a:pt x="7474168" y="0"/>
                    <a:pt x="7516813" y="42645"/>
                    <a:pt x="7516813" y="95250"/>
                  </a:cubicBezTo>
                  <a:lnTo>
                    <a:pt x="7516813" y="1103313"/>
                  </a:lnTo>
                  <a:cubicBezTo>
                    <a:pt x="7516813" y="1155918"/>
                    <a:pt x="7474168" y="1198563"/>
                    <a:pt x="7421563" y="1198563"/>
                  </a:cubicBezTo>
                  <a:lnTo>
                    <a:pt x="31750" y="1198563"/>
                  </a:lnTo>
                  <a:cubicBezTo>
                    <a:pt x="14215" y="1198563"/>
                    <a:pt x="0" y="1184348"/>
                    <a:pt x="0" y="1166813"/>
                  </a:cubicBezTo>
                  <a:lnTo>
                    <a:pt x="0" y="31750"/>
                  </a:lnTo>
                  <a:cubicBezTo>
                    <a:pt x="0" y="14227"/>
                    <a:pt x="14227" y="0"/>
                    <a:pt x="31750" y="0"/>
                  </a:cubicBezTo>
                  <a:close/>
                </a:path>
              </a:pathLst>
            </a:custGeom>
            <a:solidFill>
              <a:srgbClr val="5F87A7">
                <a:alpha val="10196"/>
              </a:srgbClr>
            </a:solidFill>
          </p:spPr>
        </p:sp>
        <p:sp>
          <p:nvSpPr>
            <p:cNvPr id="6" name="Shape 4"/>
            <p:cNvSpPr/>
            <p:nvPr/>
          </p:nvSpPr>
          <p:spPr>
            <a:xfrm>
              <a:off x="333375" y="1647827"/>
              <a:ext cx="31750" cy="1198563"/>
            </a:xfrm>
            <a:custGeom>
              <a:avLst/>
              <a:gdLst/>
              <a:ahLst/>
              <a:cxnLst/>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a:srgbClr val="E6B450"/>
            </a:solidFill>
          </p:spPr>
        </p:sp>
        <p:sp>
          <p:nvSpPr>
            <p:cNvPr id="7" name="Shape 5"/>
            <p:cNvSpPr/>
            <p:nvPr/>
          </p:nvSpPr>
          <p:spPr>
            <a:xfrm>
              <a:off x="535781" y="1870077"/>
              <a:ext cx="166688" cy="190500"/>
            </a:xfrm>
            <a:custGeom>
              <a:avLst/>
              <a:gdLst/>
              <a:ahLst/>
              <a:cxnLst/>
              <a:rect l="l" t="t" r="r" b="b"/>
              <a:pathLst>
                <a:path w="166688" h="190500">
                  <a:moveTo>
                    <a:pt x="142875" y="190500"/>
                  </a:moveTo>
                  <a:lnTo>
                    <a:pt x="35719" y="190500"/>
                  </a:lnTo>
                  <a:cubicBezTo>
                    <a:pt x="15999" y="190500"/>
                    <a:pt x="0" y="174501"/>
                    <a:pt x="0" y="154781"/>
                  </a:cubicBezTo>
                  <a:lnTo>
                    <a:pt x="0" y="35719"/>
                  </a:lnTo>
                  <a:cubicBezTo>
                    <a:pt x="0" y="15999"/>
                    <a:pt x="15999" y="0"/>
                    <a:pt x="35719" y="0"/>
                  </a:cubicBezTo>
                  <a:lnTo>
                    <a:pt x="148828" y="0"/>
                  </a:lnTo>
                  <a:cubicBezTo>
                    <a:pt x="158688" y="0"/>
                    <a:pt x="166688" y="8000"/>
                    <a:pt x="166688" y="17859"/>
                  </a:cubicBezTo>
                  <a:lnTo>
                    <a:pt x="166688" y="125016"/>
                  </a:lnTo>
                  <a:cubicBezTo>
                    <a:pt x="166688" y="132792"/>
                    <a:pt x="161702" y="139415"/>
                    <a:pt x="154781" y="141870"/>
                  </a:cubicBezTo>
                  <a:lnTo>
                    <a:pt x="154781" y="166688"/>
                  </a:lnTo>
                  <a:cubicBezTo>
                    <a:pt x="161367" y="166688"/>
                    <a:pt x="166688" y="172008"/>
                    <a:pt x="166688" y="178594"/>
                  </a:cubicBezTo>
                  <a:cubicBezTo>
                    <a:pt x="166688" y="185179"/>
                    <a:pt x="161367" y="190500"/>
                    <a:pt x="154781" y="190500"/>
                  </a:cubicBezTo>
                  <a:lnTo>
                    <a:pt x="142875" y="190500"/>
                  </a:lnTo>
                  <a:close/>
                  <a:moveTo>
                    <a:pt x="35719" y="142875"/>
                  </a:moveTo>
                  <a:cubicBezTo>
                    <a:pt x="29133" y="142875"/>
                    <a:pt x="23812" y="148196"/>
                    <a:pt x="23812" y="154781"/>
                  </a:cubicBezTo>
                  <a:cubicBezTo>
                    <a:pt x="23812" y="161367"/>
                    <a:pt x="29133" y="166688"/>
                    <a:pt x="35719" y="166688"/>
                  </a:cubicBezTo>
                  <a:lnTo>
                    <a:pt x="130969" y="166688"/>
                  </a:lnTo>
                  <a:lnTo>
                    <a:pt x="130969" y="142875"/>
                  </a:lnTo>
                  <a:lnTo>
                    <a:pt x="35719" y="142875"/>
                  </a:lnTo>
                  <a:close/>
                  <a:moveTo>
                    <a:pt x="47625" y="56555"/>
                  </a:moveTo>
                  <a:cubicBezTo>
                    <a:pt x="47625" y="61503"/>
                    <a:pt x="51606" y="65484"/>
                    <a:pt x="56555" y="65484"/>
                  </a:cubicBezTo>
                  <a:lnTo>
                    <a:pt x="122039" y="65484"/>
                  </a:lnTo>
                  <a:cubicBezTo>
                    <a:pt x="126988" y="65484"/>
                    <a:pt x="130969" y="61503"/>
                    <a:pt x="130969" y="56555"/>
                  </a:cubicBezTo>
                  <a:cubicBezTo>
                    <a:pt x="130969" y="51606"/>
                    <a:pt x="126988" y="47625"/>
                    <a:pt x="122039" y="47625"/>
                  </a:cubicBezTo>
                  <a:lnTo>
                    <a:pt x="56555" y="47625"/>
                  </a:lnTo>
                  <a:cubicBezTo>
                    <a:pt x="51606" y="47625"/>
                    <a:pt x="47625" y="51606"/>
                    <a:pt x="47625" y="56555"/>
                  </a:cubicBezTo>
                  <a:close/>
                  <a:moveTo>
                    <a:pt x="56555" y="83344"/>
                  </a:moveTo>
                  <a:cubicBezTo>
                    <a:pt x="51606" y="83344"/>
                    <a:pt x="47625" y="87325"/>
                    <a:pt x="47625" y="92273"/>
                  </a:cubicBezTo>
                  <a:cubicBezTo>
                    <a:pt x="47625" y="97222"/>
                    <a:pt x="51606" y="101203"/>
                    <a:pt x="56555" y="101203"/>
                  </a:cubicBezTo>
                  <a:lnTo>
                    <a:pt x="122039" y="101203"/>
                  </a:lnTo>
                  <a:cubicBezTo>
                    <a:pt x="126988" y="101203"/>
                    <a:pt x="130969" y="97222"/>
                    <a:pt x="130969" y="92273"/>
                  </a:cubicBezTo>
                  <a:cubicBezTo>
                    <a:pt x="130969" y="87325"/>
                    <a:pt x="126988" y="83344"/>
                    <a:pt x="122039" y="83344"/>
                  </a:cubicBezTo>
                  <a:lnTo>
                    <a:pt x="56555" y="83344"/>
                  </a:lnTo>
                  <a:close/>
                </a:path>
              </a:pathLst>
            </a:custGeom>
            <a:solidFill>
              <a:srgbClr val="E6B450"/>
            </a:solidFill>
          </p:spPr>
        </p:sp>
        <p:sp>
          <p:nvSpPr>
            <p:cNvPr id="8" name="Text 6"/>
            <p:cNvSpPr/>
            <p:nvPr/>
          </p:nvSpPr>
          <p:spPr>
            <a:xfrm>
              <a:off x="826864" y="1838327"/>
              <a:ext cx="6929438"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定义</a:t>
              </a:r>
              <a:endParaRPr lang="en-US" dirty="0"/>
            </a:p>
          </p:txBody>
        </p:sp>
        <p:sp>
          <p:nvSpPr>
            <p:cNvPr id="9" name="Text 7"/>
            <p:cNvSpPr/>
            <p:nvPr/>
          </p:nvSpPr>
          <p:spPr>
            <a:xfrm>
              <a:off x="826864" y="2187577"/>
              <a:ext cx="6905625" cy="468313"/>
            </a:xfrm>
            <a:prstGeom prst="rect">
              <a:avLst/>
            </a:prstGeom>
            <a:noFill/>
          </p:spPr>
          <p:txBody>
            <a:bodyPr wrap="square" lIns="0" tIns="0" rIns="0" bIns="0" rtlCol="0" anchor="ctr"/>
            <a:lstStyle/>
            <a:p>
              <a:pPr>
                <a:lnSpc>
                  <a:spcPct val="14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度量地图（metric map）</a:t>
              </a:r>
              <a:r>
                <a:rPr lang="en-US" sz="1600" dirty="0">
                  <a:latin typeface="微软雅黑" panose="020B0503020204020204" pitchFamily="34" charset="-122"/>
                  <a:ea typeface="微软雅黑" panose="020B0503020204020204" pitchFamily="34" charset="-122"/>
                  <a:cs typeface="微软雅黑" panose="020B0503020204020204" pitchFamily="34" charset="-122"/>
                </a:rPr>
                <a:t>可能是在移动机器人中应用最多的地图表示方法。它是机器人所处环境和环境中的物体在</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传感器视场所在水平面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的一种二维表示方法。</a:t>
              </a:r>
              <a:endParaRPr lang="en-US" sz="1600" dirty="0"/>
            </a:p>
          </p:txBody>
        </p:sp>
        <p:sp>
          <p:nvSpPr>
            <p:cNvPr id="10" name="Shape 8"/>
            <p:cNvSpPr/>
            <p:nvPr/>
          </p:nvSpPr>
          <p:spPr>
            <a:xfrm>
              <a:off x="333375" y="3032921"/>
              <a:ext cx="7516813" cy="1198563"/>
            </a:xfrm>
            <a:custGeom>
              <a:avLst/>
              <a:gdLst/>
              <a:ahLst/>
              <a:cxnLst/>
              <a:rect l="l" t="t" r="r" b="b"/>
              <a:pathLst>
                <a:path w="7516813" h="1198563">
                  <a:moveTo>
                    <a:pt x="31750" y="0"/>
                  </a:moveTo>
                  <a:lnTo>
                    <a:pt x="7421563" y="0"/>
                  </a:lnTo>
                  <a:cubicBezTo>
                    <a:pt x="7474168" y="0"/>
                    <a:pt x="7516813" y="42645"/>
                    <a:pt x="7516813" y="95250"/>
                  </a:cubicBezTo>
                  <a:lnTo>
                    <a:pt x="7516813" y="1103313"/>
                  </a:lnTo>
                  <a:cubicBezTo>
                    <a:pt x="7516813" y="1155918"/>
                    <a:pt x="7474168" y="1198563"/>
                    <a:pt x="7421563" y="1198563"/>
                  </a:cubicBezTo>
                  <a:lnTo>
                    <a:pt x="31750" y="1198563"/>
                  </a:lnTo>
                  <a:cubicBezTo>
                    <a:pt x="14215" y="1198563"/>
                    <a:pt x="0" y="1184348"/>
                    <a:pt x="0" y="1166813"/>
                  </a:cubicBezTo>
                  <a:lnTo>
                    <a:pt x="0" y="31750"/>
                  </a:lnTo>
                  <a:cubicBezTo>
                    <a:pt x="0" y="14227"/>
                    <a:pt x="14227" y="0"/>
                    <a:pt x="31750" y="0"/>
                  </a:cubicBezTo>
                  <a:close/>
                </a:path>
              </a:pathLst>
            </a:custGeom>
            <a:solidFill>
              <a:srgbClr val="5F87A7">
                <a:alpha val="10196"/>
              </a:srgbClr>
            </a:solidFill>
          </p:spPr>
        </p:sp>
        <p:sp>
          <p:nvSpPr>
            <p:cNvPr id="11" name="Shape 9"/>
            <p:cNvSpPr/>
            <p:nvPr/>
          </p:nvSpPr>
          <p:spPr>
            <a:xfrm>
              <a:off x="333375" y="3032921"/>
              <a:ext cx="31750" cy="1198563"/>
            </a:xfrm>
            <a:custGeom>
              <a:avLst/>
              <a:gdLst/>
              <a:ahLst/>
              <a:cxnLst/>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a:srgbClr val="E6B450"/>
            </a:solidFill>
          </p:spPr>
        </p:sp>
        <p:sp>
          <p:nvSpPr>
            <p:cNvPr id="12" name="Shape 10"/>
            <p:cNvSpPr/>
            <p:nvPr/>
          </p:nvSpPr>
          <p:spPr>
            <a:xfrm>
              <a:off x="511969" y="3255171"/>
              <a:ext cx="190500" cy="190500"/>
            </a:xfrm>
            <a:custGeom>
              <a:avLst/>
              <a:gdLst/>
              <a:ahLst/>
              <a:cxnLst/>
              <a:rect l="l" t="t" r="r" b="b"/>
              <a:pathLst>
                <a:path w="190500" h="190500">
                  <a:moveTo>
                    <a:pt x="83455" y="-930"/>
                  </a:moveTo>
                  <a:cubicBezTo>
                    <a:pt x="90822" y="-5172"/>
                    <a:pt x="99901" y="-5172"/>
                    <a:pt x="107268" y="-930"/>
                  </a:cubicBezTo>
                  <a:lnTo>
                    <a:pt x="172715" y="36835"/>
                  </a:lnTo>
                  <a:cubicBezTo>
                    <a:pt x="180082" y="41077"/>
                    <a:pt x="184621" y="48964"/>
                    <a:pt x="184621" y="57448"/>
                  </a:cubicBezTo>
                  <a:lnTo>
                    <a:pt x="184621" y="132978"/>
                  </a:lnTo>
                  <a:cubicBezTo>
                    <a:pt x="184621" y="141498"/>
                    <a:pt x="180082" y="149349"/>
                    <a:pt x="172715" y="153591"/>
                  </a:cubicBezTo>
                  <a:lnTo>
                    <a:pt x="107268" y="191430"/>
                  </a:lnTo>
                  <a:cubicBezTo>
                    <a:pt x="99901" y="195672"/>
                    <a:pt x="90822" y="195672"/>
                    <a:pt x="83455" y="191430"/>
                  </a:cubicBezTo>
                  <a:lnTo>
                    <a:pt x="18045" y="153665"/>
                  </a:lnTo>
                  <a:cubicBezTo>
                    <a:pt x="10678" y="149423"/>
                    <a:pt x="6139" y="141536"/>
                    <a:pt x="6139" y="133052"/>
                  </a:cubicBezTo>
                  <a:lnTo>
                    <a:pt x="6139" y="57522"/>
                  </a:lnTo>
                  <a:cubicBezTo>
                    <a:pt x="6139" y="49002"/>
                    <a:pt x="10678" y="41151"/>
                    <a:pt x="18045" y="36909"/>
                  </a:cubicBezTo>
                  <a:lnTo>
                    <a:pt x="83455" y="-930"/>
                  </a:lnTo>
                  <a:close/>
                  <a:moveTo>
                    <a:pt x="160772" y="133015"/>
                  </a:moveTo>
                  <a:lnTo>
                    <a:pt x="160772" y="71214"/>
                  </a:lnTo>
                  <a:lnTo>
                    <a:pt x="107268" y="102096"/>
                  </a:lnTo>
                  <a:lnTo>
                    <a:pt x="107268" y="163897"/>
                  </a:lnTo>
                  <a:lnTo>
                    <a:pt x="160772" y="133015"/>
                  </a:lnTo>
                  <a:close/>
                </a:path>
              </a:pathLst>
            </a:custGeom>
            <a:solidFill>
              <a:srgbClr val="E6B450"/>
            </a:solidFill>
          </p:spPr>
        </p:sp>
        <p:sp>
          <p:nvSpPr>
            <p:cNvPr id="13" name="Text 11"/>
            <p:cNvSpPr/>
            <p:nvPr/>
          </p:nvSpPr>
          <p:spPr>
            <a:xfrm>
              <a:off x="804416" y="3223421"/>
              <a:ext cx="6953250"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表示特点</a:t>
              </a:r>
              <a:endParaRPr lang="en-US" dirty="0"/>
            </a:p>
          </p:txBody>
        </p:sp>
        <p:sp>
          <p:nvSpPr>
            <p:cNvPr id="14" name="Text 12"/>
            <p:cNvSpPr/>
            <p:nvPr/>
          </p:nvSpPr>
          <p:spPr>
            <a:xfrm>
              <a:off x="804416" y="3572671"/>
              <a:ext cx="6929438" cy="468313"/>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物体不是用它的体积来表示，而是用它们在</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传感器视场所在水平面中</a:t>
              </a:r>
              <a:r>
                <a:rPr lang="en-US" sz="1600" dirty="0">
                  <a:latin typeface="微软雅黑" panose="020B0503020204020204" pitchFamily="34" charset="-122"/>
                  <a:ea typeface="微软雅黑" panose="020B0503020204020204" pitchFamily="34" charset="-122"/>
                  <a:cs typeface="微软雅黑" panose="020B0503020204020204" pitchFamily="34" charset="-122"/>
                </a:rPr>
                <a:t>所占空间来表示。例如，一个</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桌子</a:t>
              </a:r>
              <a:r>
                <a:rPr lang="en-US" sz="1600" dirty="0">
                  <a:latin typeface="微软雅黑" panose="020B0503020204020204" pitchFamily="34" charset="-122"/>
                  <a:ea typeface="微软雅黑" panose="020B0503020204020204" pitchFamily="34" charset="-122"/>
                  <a:cs typeface="微软雅黑" panose="020B0503020204020204" pitchFamily="34" charset="-122"/>
                </a:rPr>
                <a:t>会以</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四个点簇</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的方式在地图中呈现，因为机器人传感器视场平面与桌子的四条腿相交。</a:t>
              </a:r>
              <a:endParaRPr lang="en-US" sz="1600" dirty="0"/>
            </a:p>
          </p:txBody>
        </p:sp>
        <p:sp>
          <p:nvSpPr>
            <p:cNvPr id="15" name="Shape 13"/>
            <p:cNvSpPr/>
            <p:nvPr/>
          </p:nvSpPr>
          <p:spPr>
            <a:xfrm>
              <a:off x="321469" y="4421983"/>
              <a:ext cx="3698875" cy="738188"/>
            </a:xfrm>
            <a:custGeom>
              <a:avLst/>
              <a:gdLst/>
              <a:ahLst/>
              <a:cxnLst/>
              <a:rect l="l" t="t" r="r" b="b"/>
              <a:pathLst>
                <a:path w="3698875" h="738188">
                  <a:moveTo>
                    <a:pt x="95248" y="0"/>
                  </a:moveTo>
                  <a:lnTo>
                    <a:pt x="3603627" y="0"/>
                  </a:lnTo>
                  <a:cubicBezTo>
                    <a:pt x="3656231" y="0"/>
                    <a:pt x="3698875" y="42644"/>
                    <a:pt x="3698875" y="95248"/>
                  </a:cubicBezTo>
                  <a:lnTo>
                    <a:pt x="3698875" y="642939"/>
                  </a:lnTo>
                  <a:cubicBezTo>
                    <a:pt x="3698875" y="695543"/>
                    <a:pt x="3656231" y="738188"/>
                    <a:pt x="3603627" y="738188"/>
                  </a:cubicBezTo>
                  <a:lnTo>
                    <a:pt x="95248" y="738188"/>
                  </a:lnTo>
                  <a:cubicBezTo>
                    <a:pt x="42644" y="738188"/>
                    <a:pt x="0" y="695543"/>
                    <a:pt x="0" y="642939"/>
                  </a:cubicBezTo>
                  <a:lnTo>
                    <a:pt x="0" y="95248"/>
                  </a:lnTo>
                  <a:cubicBezTo>
                    <a:pt x="0" y="42679"/>
                    <a:pt x="42679" y="0"/>
                    <a:pt x="95248" y="0"/>
                  </a:cubicBezTo>
                  <a:close/>
                </a:path>
              </a:pathLst>
            </a:custGeom>
            <a:solidFill>
              <a:srgbClr val="E6B450">
                <a:alpha val="10196"/>
              </a:srgbClr>
            </a:solidFill>
            <a:ln w="12700">
              <a:solidFill>
                <a:srgbClr val="E6B450">
                  <a:alpha val="30196"/>
                </a:srgbClr>
              </a:solidFill>
              <a:prstDash val="solid"/>
            </a:ln>
          </p:spPr>
        </p:sp>
        <p:sp>
          <p:nvSpPr>
            <p:cNvPr id="16" name="Shape 14"/>
            <p:cNvSpPr/>
            <p:nvPr/>
          </p:nvSpPr>
          <p:spPr>
            <a:xfrm>
              <a:off x="462359" y="4584702"/>
              <a:ext cx="178594" cy="158750"/>
            </a:xfrm>
            <a:custGeom>
              <a:avLst/>
              <a:gdLst/>
              <a:ahLst/>
              <a:cxnLst/>
              <a:rect l="l" t="t" r="r" b="b"/>
              <a:pathLst>
                <a:path w="178594" h="158750">
                  <a:moveTo>
                    <a:pt x="64833" y="160052"/>
                  </a:moveTo>
                  <a:cubicBezTo>
                    <a:pt x="59035" y="165850"/>
                    <a:pt x="49609" y="165850"/>
                    <a:pt x="43780" y="160052"/>
                  </a:cubicBezTo>
                  <a:lnTo>
                    <a:pt x="8713" y="124985"/>
                  </a:lnTo>
                  <a:cubicBezTo>
                    <a:pt x="2915" y="119187"/>
                    <a:pt x="2915" y="109761"/>
                    <a:pt x="8713" y="103932"/>
                  </a:cubicBezTo>
                  <a:lnTo>
                    <a:pt x="13984" y="98661"/>
                  </a:lnTo>
                  <a:lnTo>
                    <a:pt x="36773" y="121450"/>
                  </a:lnTo>
                  <a:cubicBezTo>
                    <a:pt x="39688" y="124365"/>
                    <a:pt x="44400" y="124365"/>
                    <a:pt x="47284" y="121450"/>
                  </a:cubicBezTo>
                  <a:cubicBezTo>
                    <a:pt x="50167" y="118535"/>
                    <a:pt x="50198" y="113823"/>
                    <a:pt x="47284" y="110939"/>
                  </a:cubicBezTo>
                  <a:lnTo>
                    <a:pt x="24495" y="88150"/>
                  </a:lnTo>
                  <a:lnTo>
                    <a:pt x="35006" y="77639"/>
                  </a:lnTo>
                  <a:lnTo>
                    <a:pt x="50788" y="93421"/>
                  </a:lnTo>
                  <a:cubicBezTo>
                    <a:pt x="53702" y="96335"/>
                    <a:pt x="58415" y="96335"/>
                    <a:pt x="61299" y="93421"/>
                  </a:cubicBezTo>
                  <a:cubicBezTo>
                    <a:pt x="64182" y="90506"/>
                    <a:pt x="64213" y="85793"/>
                    <a:pt x="61299" y="82910"/>
                  </a:cubicBezTo>
                  <a:lnTo>
                    <a:pt x="45517" y="67128"/>
                  </a:lnTo>
                  <a:lnTo>
                    <a:pt x="56028" y="56617"/>
                  </a:lnTo>
                  <a:lnTo>
                    <a:pt x="78817" y="79406"/>
                  </a:lnTo>
                  <a:cubicBezTo>
                    <a:pt x="81731" y="82321"/>
                    <a:pt x="86444" y="82321"/>
                    <a:pt x="89328" y="79406"/>
                  </a:cubicBezTo>
                  <a:cubicBezTo>
                    <a:pt x="92211" y="76491"/>
                    <a:pt x="92242" y="71779"/>
                    <a:pt x="89328" y="68895"/>
                  </a:cubicBezTo>
                  <a:lnTo>
                    <a:pt x="66539" y="46106"/>
                  </a:lnTo>
                  <a:lnTo>
                    <a:pt x="77050" y="35595"/>
                  </a:lnTo>
                  <a:lnTo>
                    <a:pt x="92832" y="51377"/>
                  </a:lnTo>
                  <a:cubicBezTo>
                    <a:pt x="95746" y="54291"/>
                    <a:pt x="100459" y="54291"/>
                    <a:pt x="103343" y="51377"/>
                  </a:cubicBezTo>
                  <a:cubicBezTo>
                    <a:pt x="106226" y="48462"/>
                    <a:pt x="106257" y="43749"/>
                    <a:pt x="103343" y="40866"/>
                  </a:cubicBezTo>
                  <a:lnTo>
                    <a:pt x="87561" y="25084"/>
                  </a:lnTo>
                  <a:lnTo>
                    <a:pt x="98072" y="14573"/>
                  </a:lnTo>
                  <a:lnTo>
                    <a:pt x="120861" y="37362"/>
                  </a:lnTo>
                  <a:cubicBezTo>
                    <a:pt x="123775" y="40277"/>
                    <a:pt x="128488" y="40277"/>
                    <a:pt x="131372" y="37362"/>
                  </a:cubicBezTo>
                  <a:cubicBezTo>
                    <a:pt x="134255" y="34448"/>
                    <a:pt x="134286" y="29735"/>
                    <a:pt x="131372" y="26851"/>
                  </a:cubicBezTo>
                  <a:lnTo>
                    <a:pt x="108583" y="4062"/>
                  </a:lnTo>
                  <a:lnTo>
                    <a:pt x="113854" y="-1209"/>
                  </a:lnTo>
                  <a:cubicBezTo>
                    <a:pt x="119652" y="-7007"/>
                    <a:pt x="129077" y="-7007"/>
                    <a:pt x="134906" y="-1209"/>
                  </a:cubicBezTo>
                  <a:lnTo>
                    <a:pt x="170067" y="33765"/>
                  </a:lnTo>
                  <a:cubicBezTo>
                    <a:pt x="175865" y="39563"/>
                    <a:pt x="175865" y="48989"/>
                    <a:pt x="170067" y="54818"/>
                  </a:cubicBezTo>
                  <a:lnTo>
                    <a:pt x="64833" y="160052"/>
                  </a:lnTo>
                  <a:close/>
                </a:path>
              </a:pathLst>
            </a:custGeom>
            <a:solidFill>
              <a:srgbClr val="E6B450"/>
            </a:solidFill>
          </p:spPr>
        </p:sp>
        <p:sp>
          <p:nvSpPr>
            <p:cNvPr id="17" name="Text 15"/>
            <p:cNvSpPr/>
            <p:nvPr/>
          </p:nvSpPr>
          <p:spPr>
            <a:xfrm>
              <a:off x="746125" y="4552952"/>
              <a:ext cx="642938" cy="222250"/>
            </a:xfrm>
            <a:prstGeom prst="rect">
              <a:avLst/>
            </a:prstGeom>
            <a:noFill/>
          </p:spPr>
          <p:txBody>
            <a:bodyPr wrap="square" lIns="0" tIns="0" rIns="0" bIns="0" rtlCol="0" anchor="ctr"/>
            <a:lstStyle/>
            <a:p>
              <a:pPr>
                <a:lnSpc>
                  <a:spcPct val="13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精确度量</a:t>
              </a:r>
              <a:endParaRPr lang="en-US" dirty="0"/>
            </a:p>
          </p:txBody>
        </p:sp>
        <p:sp>
          <p:nvSpPr>
            <p:cNvPr id="18" name="Text 16"/>
            <p:cNvSpPr/>
            <p:nvPr/>
          </p:nvSpPr>
          <p:spPr>
            <a:xfrm>
              <a:off x="452438" y="4838702"/>
              <a:ext cx="3500438" cy="1905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精确表示环境的几何信息</a:t>
              </a:r>
              <a:endParaRPr lang="en-US" sz="1600" dirty="0"/>
            </a:p>
          </p:txBody>
        </p:sp>
        <p:sp>
          <p:nvSpPr>
            <p:cNvPr id="19" name="Shape 17"/>
            <p:cNvSpPr/>
            <p:nvPr/>
          </p:nvSpPr>
          <p:spPr>
            <a:xfrm>
              <a:off x="4152553" y="4421983"/>
              <a:ext cx="3698875" cy="738188"/>
            </a:xfrm>
            <a:custGeom>
              <a:avLst/>
              <a:gdLst/>
              <a:ahLst/>
              <a:cxnLst/>
              <a:rect l="l" t="t" r="r" b="b"/>
              <a:pathLst>
                <a:path w="3698875" h="738188">
                  <a:moveTo>
                    <a:pt x="95248" y="0"/>
                  </a:moveTo>
                  <a:lnTo>
                    <a:pt x="3603627" y="0"/>
                  </a:lnTo>
                  <a:cubicBezTo>
                    <a:pt x="3656231" y="0"/>
                    <a:pt x="3698875" y="42644"/>
                    <a:pt x="3698875" y="95248"/>
                  </a:cubicBezTo>
                  <a:lnTo>
                    <a:pt x="3698875" y="642939"/>
                  </a:lnTo>
                  <a:cubicBezTo>
                    <a:pt x="3698875" y="695543"/>
                    <a:pt x="3656231" y="738188"/>
                    <a:pt x="3603627" y="738188"/>
                  </a:cubicBezTo>
                  <a:lnTo>
                    <a:pt x="95248" y="738188"/>
                  </a:lnTo>
                  <a:cubicBezTo>
                    <a:pt x="42644" y="738188"/>
                    <a:pt x="0" y="695543"/>
                    <a:pt x="0" y="642939"/>
                  </a:cubicBezTo>
                  <a:lnTo>
                    <a:pt x="0" y="95248"/>
                  </a:lnTo>
                  <a:cubicBezTo>
                    <a:pt x="0" y="42679"/>
                    <a:pt x="42679" y="0"/>
                    <a:pt x="95248" y="0"/>
                  </a:cubicBezTo>
                  <a:close/>
                </a:path>
              </a:pathLst>
            </a:custGeom>
            <a:solidFill>
              <a:srgbClr val="E6B450">
                <a:alpha val="10196"/>
              </a:srgbClr>
            </a:solidFill>
            <a:ln w="12700">
              <a:solidFill>
                <a:srgbClr val="E6B450">
                  <a:alpha val="30196"/>
                </a:srgbClr>
              </a:solidFill>
              <a:prstDash val="solid"/>
            </a:ln>
          </p:spPr>
        </p:sp>
        <p:sp>
          <p:nvSpPr>
            <p:cNvPr id="20" name="Shape 18"/>
            <p:cNvSpPr/>
            <p:nvPr/>
          </p:nvSpPr>
          <p:spPr>
            <a:xfrm>
              <a:off x="4293443" y="4584702"/>
              <a:ext cx="178594" cy="158750"/>
            </a:xfrm>
            <a:custGeom>
              <a:avLst/>
              <a:gdLst/>
              <a:ahLst/>
              <a:cxnLst/>
              <a:rect l="l" t="t" r="r" b="b"/>
              <a:pathLst>
                <a:path w="178594" h="158750">
                  <a:moveTo>
                    <a:pt x="89297" y="9922"/>
                  </a:moveTo>
                  <a:cubicBezTo>
                    <a:pt x="64244" y="9922"/>
                    <a:pt x="44183" y="21332"/>
                    <a:pt x="29580" y="34913"/>
                  </a:cubicBezTo>
                  <a:cubicBezTo>
                    <a:pt x="15069" y="48400"/>
                    <a:pt x="5364" y="64492"/>
                    <a:pt x="744" y="75561"/>
                  </a:cubicBezTo>
                  <a:cubicBezTo>
                    <a:pt x="-279" y="78011"/>
                    <a:pt x="-279" y="80739"/>
                    <a:pt x="744" y="83189"/>
                  </a:cubicBezTo>
                  <a:cubicBezTo>
                    <a:pt x="5364" y="94258"/>
                    <a:pt x="15069" y="110381"/>
                    <a:pt x="29580" y="123837"/>
                  </a:cubicBezTo>
                  <a:cubicBezTo>
                    <a:pt x="44183" y="137387"/>
                    <a:pt x="64244" y="148828"/>
                    <a:pt x="89297" y="148828"/>
                  </a:cubicBezTo>
                  <a:cubicBezTo>
                    <a:pt x="114350" y="148828"/>
                    <a:pt x="134410" y="137418"/>
                    <a:pt x="149014" y="123837"/>
                  </a:cubicBezTo>
                  <a:cubicBezTo>
                    <a:pt x="163525" y="110350"/>
                    <a:pt x="173230" y="94258"/>
                    <a:pt x="177850" y="83189"/>
                  </a:cubicBezTo>
                  <a:cubicBezTo>
                    <a:pt x="178873" y="80739"/>
                    <a:pt x="178873" y="78011"/>
                    <a:pt x="177850" y="75561"/>
                  </a:cubicBezTo>
                  <a:cubicBezTo>
                    <a:pt x="173230" y="64492"/>
                    <a:pt x="163525" y="48369"/>
                    <a:pt x="149014" y="34913"/>
                  </a:cubicBezTo>
                  <a:cubicBezTo>
                    <a:pt x="134410" y="21363"/>
                    <a:pt x="114350" y="9922"/>
                    <a:pt x="89297" y="9922"/>
                  </a:cubicBezTo>
                  <a:close/>
                  <a:moveTo>
                    <a:pt x="44648" y="79375"/>
                  </a:moveTo>
                  <a:cubicBezTo>
                    <a:pt x="44648" y="54733"/>
                    <a:pt x="64655" y="34727"/>
                    <a:pt x="89297" y="34727"/>
                  </a:cubicBezTo>
                  <a:cubicBezTo>
                    <a:pt x="113939" y="34727"/>
                    <a:pt x="133945" y="54733"/>
                    <a:pt x="133945" y="79375"/>
                  </a:cubicBezTo>
                  <a:cubicBezTo>
                    <a:pt x="133945" y="104017"/>
                    <a:pt x="113939" y="124023"/>
                    <a:pt x="89297" y="124023"/>
                  </a:cubicBezTo>
                  <a:cubicBezTo>
                    <a:pt x="64655" y="124023"/>
                    <a:pt x="44648" y="104017"/>
                    <a:pt x="44648" y="79375"/>
                  </a:cubicBezTo>
                  <a:close/>
                  <a:moveTo>
                    <a:pt x="89297" y="59531"/>
                  </a:moveTo>
                  <a:cubicBezTo>
                    <a:pt x="89297" y="70476"/>
                    <a:pt x="80398" y="79375"/>
                    <a:pt x="69453" y="79375"/>
                  </a:cubicBezTo>
                  <a:cubicBezTo>
                    <a:pt x="65887" y="79375"/>
                    <a:pt x="62539" y="78445"/>
                    <a:pt x="59624" y="76771"/>
                  </a:cubicBezTo>
                  <a:cubicBezTo>
                    <a:pt x="59314" y="80150"/>
                    <a:pt x="59593" y="83623"/>
                    <a:pt x="60523" y="87064"/>
                  </a:cubicBezTo>
                  <a:cubicBezTo>
                    <a:pt x="64771" y="102939"/>
                    <a:pt x="81111" y="112365"/>
                    <a:pt x="96986" y="108117"/>
                  </a:cubicBezTo>
                  <a:cubicBezTo>
                    <a:pt x="112861" y="103870"/>
                    <a:pt x="122287" y="87530"/>
                    <a:pt x="118039" y="71655"/>
                  </a:cubicBezTo>
                  <a:cubicBezTo>
                    <a:pt x="114257" y="57485"/>
                    <a:pt x="100831" y="48462"/>
                    <a:pt x="86692" y="49702"/>
                  </a:cubicBezTo>
                  <a:cubicBezTo>
                    <a:pt x="88336" y="52586"/>
                    <a:pt x="89297" y="55935"/>
                    <a:pt x="89297" y="59531"/>
                  </a:cubicBezTo>
                  <a:close/>
                </a:path>
              </a:pathLst>
            </a:custGeom>
            <a:solidFill>
              <a:srgbClr val="E6B450"/>
            </a:solidFill>
          </p:spPr>
        </p:sp>
        <p:sp>
          <p:nvSpPr>
            <p:cNvPr id="21" name="Text 19"/>
            <p:cNvSpPr/>
            <p:nvPr/>
          </p:nvSpPr>
          <p:spPr>
            <a:xfrm>
              <a:off x="4577209" y="4552952"/>
              <a:ext cx="785813" cy="222250"/>
            </a:xfrm>
            <a:prstGeom prst="rect">
              <a:avLst/>
            </a:prstGeom>
            <a:noFill/>
          </p:spPr>
          <p:txBody>
            <a:bodyPr wrap="square" lIns="0" tIns="0" rIns="0" bIns="0" rtlCol="0" anchor="ctr"/>
            <a:lstStyle/>
            <a:p>
              <a:pPr>
                <a:lnSpc>
                  <a:spcPct val="13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传感器平面</a:t>
              </a:r>
              <a:endParaRPr lang="en-US" dirty="0"/>
            </a:p>
          </p:txBody>
        </p:sp>
        <p:sp>
          <p:nvSpPr>
            <p:cNvPr id="22" name="Text 20"/>
            <p:cNvSpPr/>
            <p:nvPr/>
          </p:nvSpPr>
          <p:spPr>
            <a:xfrm>
              <a:off x="4283521" y="4838702"/>
              <a:ext cx="3500438" cy="1905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基于传感器视场水平面</a:t>
              </a:r>
              <a:endParaRPr lang="en-US" sz="1600" dirty="0"/>
            </a:p>
          </p:txBody>
        </p:sp>
      </p:grpSp>
      <p:grpSp>
        <p:nvGrpSpPr>
          <p:cNvPr id="45" name="组合 44">
            <a:extLst>
              <a:ext uri="{FF2B5EF4-FFF2-40B4-BE49-F238E27FC236}">
                <a16:creationId xmlns:a16="http://schemas.microsoft.com/office/drawing/2014/main" id="{00891657-CE4C-6C72-6015-F3FF7C44FA12}"/>
              </a:ext>
            </a:extLst>
          </p:cNvPr>
          <p:cNvGrpSpPr/>
          <p:nvPr/>
        </p:nvGrpSpPr>
        <p:grpSpPr>
          <a:xfrm>
            <a:off x="0" y="939798"/>
            <a:ext cx="5022850" cy="625474"/>
            <a:chOff x="0" y="1075267"/>
            <a:chExt cx="5022850" cy="625474"/>
          </a:xfrm>
        </p:grpSpPr>
        <p:sp>
          <p:nvSpPr>
            <p:cNvPr id="46" name="矩形 45">
              <a:extLst>
                <a:ext uri="{FF2B5EF4-FFF2-40B4-BE49-F238E27FC236}">
                  <a16:creationId xmlns:a16="http://schemas.microsoft.com/office/drawing/2014/main" id="{6BB7965C-6B15-AD78-8AAC-CFEEA947E7DB}"/>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1B4957E3-DC5B-333F-9A70-5B173094F5AC}"/>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7.1.1 </a:t>
              </a:r>
              <a:r>
                <a:rPr lang="zh-CN" altLang="en-US" sz="2400" b="1" dirty="0">
                  <a:solidFill>
                    <a:schemeClr val="accent1"/>
                  </a:solidFill>
                  <a:latin typeface="+mj-lt"/>
                </a:rPr>
                <a:t>度量地图</a:t>
              </a:r>
            </a:p>
          </p:txBody>
        </p:sp>
      </p:grpSp>
    </p:spTree>
    <p:extLst>
      <p:ext uri="{BB962C8B-B14F-4D97-AF65-F5344CB8AC3E}">
        <p14:creationId xmlns:p14="http://schemas.microsoft.com/office/powerpoint/2010/main" val="2973927254"/>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44504" y="1647100"/>
            <a:ext cx="6327935" cy="1653162"/>
          </a:xfrm>
          <a:custGeom>
            <a:avLst/>
            <a:gdLst/>
            <a:ahLst/>
            <a:cxnLst/>
            <a:rect l="l" t="t" r="r" b="b"/>
            <a:pathLst>
              <a:path w="5626449" h="1469900">
                <a:moveTo>
                  <a:pt x="32664" y="0"/>
                </a:moveTo>
                <a:lnTo>
                  <a:pt x="5528451" y="0"/>
                </a:lnTo>
                <a:cubicBezTo>
                  <a:pt x="5582573" y="0"/>
                  <a:pt x="5626449" y="43875"/>
                  <a:pt x="5626449" y="97998"/>
                </a:cubicBezTo>
                <a:lnTo>
                  <a:pt x="5626449" y="1371901"/>
                </a:lnTo>
                <a:cubicBezTo>
                  <a:pt x="5626449" y="1426024"/>
                  <a:pt x="5582573" y="1469900"/>
                  <a:pt x="5528451" y="1469900"/>
                </a:cubicBezTo>
                <a:lnTo>
                  <a:pt x="32664" y="1469900"/>
                </a:lnTo>
                <a:cubicBezTo>
                  <a:pt x="14624" y="1469900"/>
                  <a:pt x="0" y="1455275"/>
                  <a:pt x="0" y="1437235"/>
                </a:cubicBezTo>
                <a:lnTo>
                  <a:pt x="0" y="32664"/>
                </a:lnTo>
                <a:cubicBezTo>
                  <a:pt x="0" y="14636"/>
                  <a:pt x="14636" y="0"/>
                  <a:pt x="32664" y="0"/>
                </a:cubicBezTo>
                <a:close/>
              </a:path>
            </a:pathLst>
          </a:custGeom>
          <a:solidFill>
            <a:srgbClr val="5F87A7">
              <a:alpha val="10196"/>
            </a:srgbClr>
          </a:solidFill>
        </p:spPr>
      </p:sp>
      <p:sp>
        <p:nvSpPr>
          <p:cNvPr id="6" name="Shape 4"/>
          <p:cNvSpPr/>
          <p:nvPr/>
        </p:nvSpPr>
        <p:spPr>
          <a:xfrm>
            <a:off x="344504" y="1647100"/>
            <a:ext cx="36736" cy="1653162"/>
          </a:xfrm>
          <a:custGeom>
            <a:avLst/>
            <a:gdLst/>
            <a:ahLst/>
            <a:cxnLst/>
            <a:rect l="l" t="t" r="r" b="b"/>
            <a:pathLst>
              <a:path w="32664" h="1469900">
                <a:moveTo>
                  <a:pt x="32664" y="0"/>
                </a:moveTo>
                <a:lnTo>
                  <a:pt x="32664" y="0"/>
                </a:lnTo>
                <a:lnTo>
                  <a:pt x="32664" y="1469900"/>
                </a:lnTo>
                <a:lnTo>
                  <a:pt x="32664" y="1469900"/>
                </a:lnTo>
                <a:cubicBezTo>
                  <a:pt x="14624" y="1469900"/>
                  <a:pt x="0" y="1455275"/>
                  <a:pt x="0" y="1437235"/>
                </a:cubicBezTo>
                <a:lnTo>
                  <a:pt x="0" y="32664"/>
                </a:lnTo>
                <a:cubicBezTo>
                  <a:pt x="0" y="14636"/>
                  <a:pt x="14636" y="0"/>
                  <a:pt x="32664" y="0"/>
                </a:cubicBezTo>
                <a:close/>
              </a:path>
            </a:pathLst>
          </a:custGeom>
          <a:solidFill>
            <a:srgbClr val="E6B450"/>
          </a:solidFill>
        </p:spPr>
      </p:sp>
      <p:sp>
        <p:nvSpPr>
          <p:cNvPr id="7" name="Shape 5"/>
          <p:cNvSpPr/>
          <p:nvPr/>
        </p:nvSpPr>
        <p:spPr>
          <a:xfrm>
            <a:off x="564925" y="1887324"/>
            <a:ext cx="192869" cy="220422"/>
          </a:xfrm>
          <a:custGeom>
            <a:avLst/>
            <a:gdLst/>
            <a:ahLst/>
            <a:cxnLst/>
            <a:rect l="l" t="t" r="r" b="b"/>
            <a:pathLst>
              <a:path w="171488" h="195987">
                <a:moveTo>
                  <a:pt x="171488" y="78777"/>
                </a:moveTo>
                <a:cubicBezTo>
                  <a:pt x="165823" y="82529"/>
                  <a:pt x="159316" y="85553"/>
                  <a:pt x="152540" y="87964"/>
                </a:cubicBezTo>
                <a:cubicBezTo>
                  <a:pt x="134549" y="94395"/>
                  <a:pt x="110931" y="97993"/>
                  <a:pt x="85744" y="97993"/>
                </a:cubicBezTo>
                <a:cubicBezTo>
                  <a:pt x="60557" y="97993"/>
                  <a:pt x="36901" y="94357"/>
                  <a:pt x="18948" y="87964"/>
                </a:cubicBezTo>
                <a:cubicBezTo>
                  <a:pt x="12211" y="85553"/>
                  <a:pt x="5665" y="82529"/>
                  <a:pt x="0" y="78777"/>
                </a:cubicBezTo>
                <a:lnTo>
                  <a:pt x="0" y="110242"/>
                </a:lnTo>
                <a:cubicBezTo>
                  <a:pt x="0" y="127162"/>
                  <a:pt x="38393" y="140865"/>
                  <a:pt x="85744" y="140865"/>
                </a:cubicBezTo>
                <a:cubicBezTo>
                  <a:pt x="133095" y="140865"/>
                  <a:pt x="171488" y="127162"/>
                  <a:pt x="171488" y="110242"/>
                </a:cubicBezTo>
                <a:lnTo>
                  <a:pt x="171488" y="78777"/>
                </a:lnTo>
                <a:close/>
                <a:moveTo>
                  <a:pt x="171488" y="48997"/>
                </a:moveTo>
                <a:lnTo>
                  <a:pt x="171488" y="30623"/>
                </a:lnTo>
                <a:cubicBezTo>
                  <a:pt x="171488" y="13704"/>
                  <a:pt x="133095" y="0"/>
                  <a:pt x="85744" y="0"/>
                </a:cubicBezTo>
                <a:cubicBezTo>
                  <a:pt x="38393" y="0"/>
                  <a:pt x="0" y="13704"/>
                  <a:pt x="0" y="30623"/>
                </a:cubicBezTo>
                <a:lnTo>
                  <a:pt x="0" y="48997"/>
                </a:lnTo>
                <a:cubicBezTo>
                  <a:pt x="0" y="65916"/>
                  <a:pt x="38393" y="79620"/>
                  <a:pt x="85744" y="79620"/>
                </a:cubicBezTo>
                <a:cubicBezTo>
                  <a:pt x="133095" y="79620"/>
                  <a:pt x="171488" y="65916"/>
                  <a:pt x="171488" y="48997"/>
                </a:cubicBezTo>
                <a:close/>
                <a:moveTo>
                  <a:pt x="152540" y="149210"/>
                </a:moveTo>
                <a:cubicBezTo>
                  <a:pt x="134588" y="155603"/>
                  <a:pt x="110970" y="159239"/>
                  <a:pt x="85744" y="159239"/>
                </a:cubicBezTo>
                <a:cubicBezTo>
                  <a:pt x="60519" y="159239"/>
                  <a:pt x="36901" y="155603"/>
                  <a:pt x="18948" y="149210"/>
                </a:cubicBezTo>
                <a:cubicBezTo>
                  <a:pt x="12211" y="146799"/>
                  <a:pt x="5665" y="143775"/>
                  <a:pt x="0" y="140023"/>
                </a:cubicBezTo>
                <a:lnTo>
                  <a:pt x="0" y="165364"/>
                </a:lnTo>
                <a:cubicBezTo>
                  <a:pt x="0" y="182283"/>
                  <a:pt x="38393" y="195987"/>
                  <a:pt x="85744" y="195987"/>
                </a:cubicBezTo>
                <a:cubicBezTo>
                  <a:pt x="133095" y="195987"/>
                  <a:pt x="171488" y="182283"/>
                  <a:pt x="171488" y="165364"/>
                </a:cubicBezTo>
                <a:lnTo>
                  <a:pt x="171488" y="140023"/>
                </a:lnTo>
                <a:cubicBezTo>
                  <a:pt x="165823" y="143775"/>
                  <a:pt x="159316" y="146799"/>
                  <a:pt x="152540" y="149210"/>
                </a:cubicBezTo>
                <a:close/>
              </a:path>
            </a:pathLst>
          </a:custGeom>
          <a:solidFill>
            <a:srgbClr val="E6B450"/>
          </a:solidFill>
        </p:spPr>
      </p:sp>
      <p:sp>
        <p:nvSpPr>
          <p:cNvPr id="8" name="Text 6"/>
          <p:cNvSpPr/>
          <p:nvPr/>
        </p:nvSpPr>
        <p:spPr>
          <a:xfrm>
            <a:off x="883934" y="1850587"/>
            <a:ext cx="5675854" cy="293895"/>
          </a:xfrm>
          <a:prstGeom prst="rect">
            <a:avLst/>
          </a:prstGeom>
          <a:noFill/>
        </p:spPr>
        <p:txBody>
          <a:bodyPr wrap="square" lIns="0" tIns="0" rIns="0" bIns="0" rtlCol="0" anchor="ctr"/>
          <a:lstStyle/>
          <a:p>
            <a:pPr>
              <a:lnSpc>
                <a:spcPct val="11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存储需求</a:t>
            </a:r>
            <a:endParaRPr lang="en-US" sz="1600" dirty="0"/>
          </a:p>
        </p:txBody>
      </p:sp>
      <p:sp>
        <p:nvSpPr>
          <p:cNvPr id="9" name="Text 7"/>
          <p:cNvSpPr/>
          <p:nvPr/>
        </p:nvSpPr>
        <p:spPr>
          <a:xfrm>
            <a:off x="883934" y="2271627"/>
            <a:ext cx="5648302" cy="808213"/>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在地图中精确地表示机器人的工作空间和物体的形状意味着需要</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大量的存储空间</a:t>
            </a:r>
            <a:r>
              <a:rPr lang="en-US" sz="1600" dirty="0">
                <a:latin typeface="微软雅黑" panose="020B0503020204020204" pitchFamily="34" charset="-122"/>
                <a:ea typeface="微软雅黑" panose="020B0503020204020204" pitchFamily="34" charset="-122"/>
                <a:cs typeface="微软雅黑" panose="020B0503020204020204" pitchFamily="34" charset="-122"/>
              </a:rPr>
              <a:t>来保存地图。度量图有不同的实现方式，最常用的一种是占用栅格地图。</a:t>
            </a:r>
            <a:endParaRPr lang="en-US" sz="1600" dirty="0"/>
          </a:p>
        </p:txBody>
      </p:sp>
      <p:sp>
        <p:nvSpPr>
          <p:cNvPr id="10" name="Shape 8"/>
          <p:cNvSpPr/>
          <p:nvPr/>
        </p:nvSpPr>
        <p:spPr>
          <a:xfrm>
            <a:off x="344504" y="3518385"/>
            <a:ext cx="6327935" cy="1925681"/>
          </a:xfrm>
          <a:custGeom>
            <a:avLst/>
            <a:gdLst/>
            <a:ahLst/>
            <a:cxnLst/>
            <a:rect l="l" t="t" r="r" b="b"/>
            <a:pathLst>
              <a:path w="5626449" h="1469900">
                <a:moveTo>
                  <a:pt x="32664" y="0"/>
                </a:moveTo>
                <a:lnTo>
                  <a:pt x="5528451" y="0"/>
                </a:lnTo>
                <a:cubicBezTo>
                  <a:pt x="5582573" y="0"/>
                  <a:pt x="5626449" y="43875"/>
                  <a:pt x="5626449" y="97998"/>
                </a:cubicBezTo>
                <a:lnTo>
                  <a:pt x="5626449" y="1371901"/>
                </a:lnTo>
                <a:cubicBezTo>
                  <a:pt x="5626449" y="1426024"/>
                  <a:pt x="5582573" y="1469900"/>
                  <a:pt x="5528451" y="1469900"/>
                </a:cubicBezTo>
                <a:lnTo>
                  <a:pt x="32664" y="1469900"/>
                </a:lnTo>
                <a:cubicBezTo>
                  <a:pt x="14624" y="1469900"/>
                  <a:pt x="0" y="1455275"/>
                  <a:pt x="0" y="1437235"/>
                </a:cubicBezTo>
                <a:lnTo>
                  <a:pt x="0" y="32664"/>
                </a:lnTo>
                <a:cubicBezTo>
                  <a:pt x="0" y="14636"/>
                  <a:pt x="14636" y="0"/>
                  <a:pt x="32664" y="0"/>
                </a:cubicBezTo>
                <a:close/>
              </a:path>
            </a:pathLst>
          </a:custGeom>
          <a:solidFill>
            <a:srgbClr val="5F87A7">
              <a:alpha val="10196"/>
            </a:srgbClr>
          </a:solidFill>
        </p:spPr>
      </p:sp>
      <p:sp>
        <p:nvSpPr>
          <p:cNvPr id="11" name="Shape 9"/>
          <p:cNvSpPr/>
          <p:nvPr/>
        </p:nvSpPr>
        <p:spPr>
          <a:xfrm>
            <a:off x="344504" y="3518385"/>
            <a:ext cx="36736" cy="1925681"/>
          </a:xfrm>
          <a:custGeom>
            <a:avLst/>
            <a:gdLst/>
            <a:ahLst/>
            <a:cxnLst/>
            <a:rect l="l" t="t" r="r" b="b"/>
            <a:pathLst>
              <a:path w="32664" h="1469900">
                <a:moveTo>
                  <a:pt x="32664" y="0"/>
                </a:moveTo>
                <a:lnTo>
                  <a:pt x="32664" y="0"/>
                </a:lnTo>
                <a:lnTo>
                  <a:pt x="32664" y="1469900"/>
                </a:lnTo>
                <a:lnTo>
                  <a:pt x="32664" y="1469900"/>
                </a:lnTo>
                <a:cubicBezTo>
                  <a:pt x="14624" y="1469900"/>
                  <a:pt x="0" y="1455275"/>
                  <a:pt x="0" y="1437235"/>
                </a:cubicBezTo>
                <a:lnTo>
                  <a:pt x="0" y="32664"/>
                </a:lnTo>
                <a:cubicBezTo>
                  <a:pt x="0" y="14636"/>
                  <a:pt x="14636" y="0"/>
                  <a:pt x="32664" y="0"/>
                </a:cubicBezTo>
                <a:close/>
              </a:path>
            </a:pathLst>
          </a:custGeom>
          <a:solidFill>
            <a:srgbClr val="E6B450"/>
          </a:solidFill>
        </p:spPr>
      </p:sp>
      <p:sp>
        <p:nvSpPr>
          <p:cNvPr id="12" name="Shape 10"/>
          <p:cNvSpPr/>
          <p:nvPr/>
        </p:nvSpPr>
        <p:spPr>
          <a:xfrm>
            <a:off x="564925" y="3606207"/>
            <a:ext cx="192869" cy="220422"/>
          </a:xfrm>
          <a:custGeom>
            <a:avLst/>
            <a:gdLst/>
            <a:ahLst/>
            <a:cxnLst/>
            <a:rect l="l" t="t" r="r" b="b"/>
            <a:pathLst>
              <a:path w="171488" h="195987">
                <a:moveTo>
                  <a:pt x="146990" y="36747"/>
                </a:moveTo>
                <a:lnTo>
                  <a:pt x="146990" y="61246"/>
                </a:lnTo>
                <a:lnTo>
                  <a:pt x="122492" y="61246"/>
                </a:lnTo>
                <a:lnTo>
                  <a:pt x="122492" y="36747"/>
                </a:lnTo>
                <a:lnTo>
                  <a:pt x="146990" y="36747"/>
                </a:lnTo>
                <a:close/>
                <a:moveTo>
                  <a:pt x="146990" y="85744"/>
                </a:moveTo>
                <a:lnTo>
                  <a:pt x="146990" y="110242"/>
                </a:lnTo>
                <a:lnTo>
                  <a:pt x="122492" y="110242"/>
                </a:lnTo>
                <a:lnTo>
                  <a:pt x="122492" y="85744"/>
                </a:lnTo>
                <a:lnTo>
                  <a:pt x="146990" y="85744"/>
                </a:lnTo>
                <a:close/>
                <a:moveTo>
                  <a:pt x="146990" y="134741"/>
                </a:moveTo>
                <a:lnTo>
                  <a:pt x="146990" y="159239"/>
                </a:lnTo>
                <a:lnTo>
                  <a:pt x="122492" y="159239"/>
                </a:lnTo>
                <a:lnTo>
                  <a:pt x="122492" y="134741"/>
                </a:lnTo>
                <a:lnTo>
                  <a:pt x="146990" y="134741"/>
                </a:lnTo>
                <a:close/>
                <a:moveTo>
                  <a:pt x="97993" y="110242"/>
                </a:moveTo>
                <a:lnTo>
                  <a:pt x="73495" y="110242"/>
                </a:lnTo>
                <a:lnTo>
                  <a:pt x="73495" y="85744"/>
                </a:lnTo>
                <a:lnTo>
                  <a:pt x="97993" y="85744"/>
                </a:lnTo>
                <a:lnTo>
                  <a:pt x="97993" y="110242"/>
                </a:lnTo>
                <a:close/>
                <a:moveTo>
                  <a:pt x="73495" y="134741"/>
                </a:moveTo>
                <a:lnTo>
                  <a:pt x="97993" y="134741"/>
                </a:lnTo>
                <a:lnTo>
                  <a:pt x="97993" y="159239"/>
                </a:lnTo>
                <a:lnTo>
                  <a:pt x="73495" y="159239"/>
                </a:lnTo>
                <a:lnTo>
                  <a:pt x="73495" y="134741"/>
                </a:lnTo>
                <a:close/>
                <a:moveTo>
                  <a:pt x="48997" y="110242"/>
                </a:moveTo>
                <a:lnTo>
                  <a:pt x="24498" y="110242"/>
                </a:lnTo>
                <a:lnTo>
                  <a:pt x="24498" y="85744"/>
                </a:lnTo>
                <a:lnTo>
                  <a:pt x="48997" y="85744"/>
                </a:lnTo>
                <a:lnTo>
                  <a:pt x="48997" y="110242"/>
                </a:lnTo>
                <a:close/>
                <a:moveTo>
                  <a:pt x="24498" y="134741"/>
                </a:moveTo>
                <a:lnTo>
                  <a:pt x="48997" y="134741"/>
                </a:lnTo>
                <a:lnTo>
                  <a:pt x="48997" y="159239"/>
                </a:lnTo>
                <a:lnTo>
                  <a:pt x="24498" y="159239"/>
                </a:lnTo>
                <a:lnTo>
                  <a:pt x="24498" y="134741"/>
                </a:lnTo>
                <a:close/>
                <a:moveTo>
                  <a:pt x="24498" y="61246"/>
                </a:moveTo>
                <a:lnTo>
                  <a:pt x="24498" y="36747"/>
                </a:lnTo>
                <a:lnTo>
                  <a:pt x="48997" y="36747"/>
                </a:lnTo>
                <a:lnTo>
                  <a:pt x="48997" y="61246"/>
                </a:lnTo>
                <a:lnTo>
                  <a:pt x="24498" y="61246"/>
                </a:lnTo>
                <a:close/>
                <a:moveTo>
                  <a:pt x="73495" y="61246"/>
                </a:moveTo>
                <a:lnTo>
                  <a:pt x="73495" y="36747"/>
                </a:lnTo>
                <a:lnTo>
                  <a:pt x="97993" y="36747"/>
                </a:lnTo>
                <a:lnTo>
                  <a:pt x="97993" y="61246"/>
                </a:lnTo>
                <a:lnTo>
                  <a:pt x="73495" y="61246"/>
                </a:lnTo>
                <a:close/>
                <a:moveTo>
                  <a:pt x="24498" y="12249"/>
                </a:moveTo>
                <a:cubicBezTo>
                  <a:pt x="10986" y="12249"/>
                  <a:pt x="0" y="23235"/>
                  <a:pt x="0" y="36747"/>
                </a:cubicBezTo>
                <a:lnTo>
                  <a:pt x="0" y="159239"/>
                </a:lnTo>
                <a:cubicBezTo>
                  <a:pt x="0" y="172751"/>
                  <a:pt x="10986" y="183737"/>
                  <a:pt x="24498" y="183737"/>
                </a:cubicBezTo>
                <a:lnTo>
                  <a:pt x="146990" y="183737"/>
                </a:lnTo>
                <a:cubicBezTo>
                  <a:pt x="160502" y="183737"/>
                  <a:pt x="171488" y="172751"/>
                  <a:pt x="171488" y="159239"/>
                </a:cubicBezTo>
                <a:lnTo>
                  <a:pt x="171488" y="36747"/>
                </a:lnTo>
                <a:cubicBezTo>
                  <a:pt x="171488" y="23235"/>
                  <a:pt x="160502" y="12249"/>
                  <a:pt x="146990" y="12249"/>
                </a:cubicBezTo>
                <a:lnTo>
                  <a:pt x="24498" y="12249"/>
                </a:lnTo>
                <a:close/>
              </a:path>
            </a:pathLst>
          </a:custGeom>
          <a:solidFill>
            <a:srgbClr val="E6B450"/>
          </a:solidFill>
        </p:spPr>
      </p:sp>
      <p:sp>
        <p:nvSpPr>
          <p:cNvPr id="13" name="Text 11"/>
          <p:cNvSpPr/>
          <p:nvPr/>
        </p:nvSpPr>
        <p:spPr>
          <a:xfrm>
            <a:off x="883934" y="3569470"/>
            <a:ext cx="5675854" cy="293895"/>
          </a:xfrm>
          <a:prstGeom prst="rect">
            <a:avLst/>
          </a:prstGeom>
          <a:noFill/>
        </p:spPr>
        <p:txBody>
          <a:bodyPr wrap="square" lIns="0" tIns="0" rIns="0" bIns="0" rtlCol="0" anchor="ctr"/>
          <a:lstStyle/>
          <a:p>
            <a:pPr>
              <a:lnSpc>
                <a:spcPct val="11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占用栅格地图定义</a:t>
            </a:r>
            <a:endParaRPr lang="en-US" sz="1600" dirty="0"/>
          </a:p>
        </p:txBody>
      </p:sp>
      <p:sp>
        <p:nvSpPr>
          <p:cNvPr id="14" name="Text 12"/>
          <p:cNvSpPr/>
          <p:nvPr/>
        </p:nvSpPr>
        <p:spPr>
          <a:xfrm>
            <a:off x="883934" y="4142915"/>
            <a:ext cx="5648302" cy="1004818"/>
          </a:xfrm>
          <a:prstGeom prst="rect">
            <a:avLst/>
          </a:prstGeom>
          <a:noFill/>
        </p:spPr>
        <p:txBody>
          <a:bodyPr wrap="square" lIns="0" tIns="0" rIns="0" bIns="0" rtlCol="0" anchor="ctr"/>
          <a:lstStyle/>
          <a:p>
            <a:pPr>
              <a:lnSpc>
                <a:spcPct val="14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占用栅格地图（occupancy grid）</a:t>
            </a:r>
            <a:r>
              <a:rPr lang="en-US" sz="1600" dirty="0">
                <a:latin typeface="微软雅黑" panose="020B0503020204020204" pitchFamily="34" charset="-122"/>
                <a:ea typeface="微软雅黑" panose="020B0503020204020204" pitchFamily="34" charset="-122"/>
                <a:cs typeface="微软雅黑" panose="020B0503020204020204" pitchFamily="34" charset="-122"/>
              </a:rPr>
              <a:t>利用一个栅格将环境细分为许多单元格来建模机器人周围的物理空间。每个单元格代表环境中的一小块特定区域，根据是否有障碍物被分类为</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"已占用"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"未占用"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1600" dirty="0"/>
          </a:p>
        </p:txBody>
      </p:sp>
      <p:sp>
        <p:nvSpPr>
          <p:cNvPr id="15" name="Shape 13"/>
          <p:cNvSpPr/>
          <p:nvPr/>
        </p:nvSpPr>
        <p:spPr>
          <a:xfrm>
            <a:off x="330727" y="5885333"/>
            <a:ext cx="3085901" cy="854133"/>
          </a:xfrm>
          <a:custGeom>
            <a:avLst/>
            <a:gdLst/>
            <a:ahLst/>
            <a:cxnLst/>
            <a:rect l="l" t="t" r="r" b="b"/>
            <a:pathLst>
              <a:path w="2743812" h="759448">
                <a:moveTo>
                  <a:pt x="97992" y="0"/>
                </a:moveTo>
                <a:lnTo>
                  <a:pt x="2645821" y="0"/>
                </a:lnTo>
                <a:cubicBezTo>
                  <a:pt x="2699940" y="0"/>
                  <a:pt x="2743812" y="43872"/>
                  <a:pt x="2743812" y="97992"/>
                </a:cubicBezTo>
                <a:lnTo>
                  <a:pt x="2743812" y="661457"/>
                </a:lnTo>
                <a:cubicBezTo>
                  <a:pt x="2743812" y="715576"/>
                  <a:pt x="2699940" y="759448"/>
                  <a:pt x="2645821" y="759448"/>
                </a:cubicBezTo>
                <a:lnTo>
                  <a:pt x="97992" y="759448"/>
                </a:lnTo>
                <a:cubicBezTo>
                  <a:pt x="43872" y="759448"/>
                  <a:pt x="0" y="715576"/>
                  <a:pt x="0" y="661457"/>
                </a:cubicBezTo>
                <a:lnTo>
                  <a:pt x="0" y="97992"/>
                </a:lnTo>
                <a:cubicBezTo>
                  <a:pt x="0" y="43909"/>
                  <a:pt x="43909" y="0"/>
                  <a:pt x="97992" y="0"/>
                </a:cubicBezTo>
                <a:close/>
              </a:path>
            </a:pathLst>
          </a:custGeom>
          <a:solidFill>
            <a:srgbClr val="E6B450">
              <a:alpha val="10196"/>
            </a:srgbClr>
          </a:solidFill>
          <a:ln w="12700">
            <a:solidFill>
              <a:srgbClr val="E6B450">
                <a:alpha val="30196"/>
              </a:srgbClr>
            </a:solidFill>
            <a:prstDash val="solid"/>
          </a:ln>
        </p:spPr>
      </p:sp>
      <p:sp>
        <p:nvSpPr>
          <p:cNvPr id="16" name="Shape 14"/>
          <p:cNvSpPr/>
          <p:nvPr/>
        </p:nvSpPr>
        <p:spPr>
          <a:xfrm>
            <a:off x="482267" y="6091977"/>
            <a:ext cx="146948" cy="146948"/>
          </a:xfrm>
          <a:custGeom>
            <a:avLst/>
            <a:gdLst/>
            <a:ahLst/>
            <a:cxnLst/>
            <a:rect l="l" t="t" r="r" b="b"/>
            <a:pathLst>
              <a:path w="130658" h="130658">
                <a:moveTo>
                  <a:pt x="32664" y="0"/>
                </a:moveTo>
                <a:lnTo>
                  <a:pt x="97993" y="0"/>
                </a:lnTo>
                <a:cubicBezTo>
                  <a:pt x="116033" y="0"/>
                  <a:pt x="130658" y="14624"/>
                  <a:pt x="130658" y="32664"/>
                </a:cubicBezTo>
                <a:lnTo>
                  <a:pt x="130658" y="97993"/>
                </a:lnTo>
                <a:cubicBezTo>
                  <a:pt x="130658" y="116033"/>
                  <a:pt x="116033" y="130658"/>
                  <a:pt x="97993" y="130658"/>
                </a:cubicBezTo>
                <a:lnTo>
                  <a:pt x="32664" y="130658"/>
                </a:lnTo>
                <a:cubicBezTo>
                  <a:pt x="14624" y="130658"/>
                  <a:pt x="0" y="116033"/>
                  <a:pt x="0" y="97993"/>
                </a:cubicBezTo>
                <a:lnTo>
                  <a:pt x="0" y="32664"/>
                </a:lnTo>
                <a:cubicBezTo>
                  <a:pt x="0" y="14636"/>
                  <a:pt x="14636" y="0"/>
                  <a:pt x="32664" y="0"/>
                </a:cubicBezTo>
                <a:close/>
              </a:path>
            </a:pathLst>
          </a:custGeom>
          <a:solidFill>
            <a:srgbClr val="E6B450"/>
          </a:solidFill>
        </p:spPr>
      </p:sp>
      <p:sp>
        <p:nvSpPr>
          <p:cNvPr id="17" name="Text 15"/>
          <p:cNvSpPr/>
          <p:nvPr/>
        </p:nvSpPr>
        <p:spPr>
          <a:xfrm>
            <a:off x="739425" y="6036873"/>
            <a:ext cx="841725" cy="257158"/>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已占用</a:t>
            </a:r>
            <a:endParaRPr lang="en-US" sz="1600" dirty="0"/>
          </a:p>
        </p:txBody>
      </p:sp>
      <p:sp>
        <p:nvSpPr>
          <p:cNvPr id="18" name="Text 16"/>
          <p:cNvSpPr/>
          <p:nvPr/>
        </p:nvSpPr>
        <p:spPr>
          <a:xfrm>
            <a:off x="482267" y="6367505"/>
            <a:ext cx="2856296" cy="220422"/>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该区域有障碍物存在</a:t>
            </a:r>
            <a:endParaRPr lang="en-US" sz="1600" dirty="0"/>
          </a:p>
        </p:txBody>
      </p:sp>
      <p:sp>
        <p:nvSpPr>
          <p:cNvPr id="19" name="Shape 17"/>
          <p:cNvSpPr/>
          <p:nvPr/>
        </p:nvSpPr>
        <p:spPr>
          <a:xfrm>
            <a:off x="3575774" y="5885333"/>
            <a:ext cx="3085901" cy="854133"/>
          </a:xfrm>
          <a:custGeom>
            <a:avLst/>
            <a:gdLst/>
            <a:ahLst/>
            <a:cxnLst/>
            <a:rect l="l" t="t" r="r" b="b"/>
            <a:pathLst>
              <a:path w="2743812" h="759448">
                <a:moveTo>
                  <a:pt x="97992" y="0"/>
                </a:moveTo>
                <a:lnTo>
                  <a:pt x="2645821" y="0"/>
                </a:lnTo>
                <a:cubicBezTo>
                  <a:pt x="2699940" y="0"/>
                  <a:pt x="2743812" y="43872"/>
                  <a:pt x="2743812" y="97992"/>
                </a:cubicBezTo>
                <a:lnTo>
                  <a:pt x="2743812" y="661457"/>
                </a:lnTo>
                <a:cubicBezTo>
                  <a:pt x="2743812" y="715576"/>
                  <a:pt x="2699940" y="759448"/>
                  <a:pt x="2645821" y="759448"/>
                </a:cubicBezTo>
                <a:lnTo>
                  <a:pt x="97992" y="759448"/>
                </a:lnTo>
                <a:cubicBezTo>
                  <a:pt x="43872" y="759448"/>
                  <a:pt x="0" y="715576"/>
                  <a:pt x="0" y="661457"/>
                </a:cubicBezTo>
                <a:lnTo>
                  <a:pt x="0" y="97992"/>
                </a:lnTo>
                <a:cubicBezTo>
                  <a:pt x="0" y="43909"/>
                  <a:pt x="43909" y="0"/>
                  <a:pt x="97992" y="0"/>
                </a:cubicBezTo>
                <a:close/>
              </a:path>
            </a:pathLst>
          </a:custGeom>
          <a:solidFill>
            <a:srgbClr val="E6B450">
              <a:alpha val="10196"/>
            </a:srgbClr>
          </a:solidFill>
          <a:ln w="12700">
            <a:solidFill>
              <a:srgbClr val="E6B450">
                <a:alpha val="30196"/>
              </a:srgbClr>
            </a:solidFill>
            <a:prstDash val="solid"/>
          </a:ln>
        </p:spPr>
      </p:sp>
      <p:sp>
        <p:nvSpPr>
          <p:cNvPr id="20" name="Shape 18"/>
          <p:cNvSpPr/>
          <p:nvPr/>
        </p:nvSpPr>
        <p:spPr>
          <a:xfrm>
            <a:off x="3736498" y="6101163"/>
            <a:ext cx="128580" cy="128580"/>
          </a:xfrm>
          <a:custGeom>
            <a:avLst/>
            <a:gdLst/>
            <a:ahLst/>
            <a:cxnLst/>
            <a:rect l="l" t="t" r="r" b="b"/>
            <a:pathLst>
              <a:path w="114326" h="114326">
                <a:moveTo>
                  <a:pt x="32664" y="0"/>
                </a:moveTo>
                <a:lnTo>
                  <a:pt x="81662" y="0"/>
                </a:lnTo>
                <a:cubicBezTo>
                  <a:pt x="99689" y="0"/>
                  <a:pt x="114326" y="14636"/>
                  <a:pt x="114326" y="32664"/>
                </a:cubicBezTo>
                <a:lnTo>
                  <a:pt x="114326" y="81662"/>
                </a:lnTo>
                <a:cubicBezTo>
                  <a:pt x="114326" y="99701"/>
                  <a:pt x="99701" y="114326"/>
                  <a:pt x="81662" y="114326"/>
                </a:cubicBezTo>
                <a:lnTo>
                  <a:pt x="32664" y="114326"/>
                </a:lnTo>
                <a:cubicBezTo>
                  <a:pt x="14636" y="114326"/>
                  <a:pt x="0" y="99689"/>
                  <a:pt x="0" y="81662"/>
                </a:cubicBezTo>
                <a:lnTo>
                  <a:pt x="0" y="32664"/>
                </a:lnTo>
                <a:cubicBezTo>
                  <a:pt x="0" y="14624"/>
                  <a:pt x="14624" y="0"/>
                  <a:pt x="32664" y="0"/>
                </a:cubicBezTo>
                <a:close/>
              </a:path>
            </a:pathLst>
          </a:custGeom>
          <a:solidFill>
            <a:srgbClr val="000000">
              <a:alpha val="0"/>
            </a:srgbClr>
          </a:solidFill>
          <a:ln w="25400">
            <a:solidFill>
              <a:srgbClr val="E6B450"/>
            </a:solidFill>
            <a:prstDash val="solid"/>
          </a:ln>
        </p:spPr>
      </p:sp>
      <p:sp>
        <p:nvSpPr>
          <p:cNvPr id="21" name="Text 19"/>
          <p:cNvSpPr/>
          <p:nvPr/>
        </p:nvSpPr>
        <p:spPr>
          <a:xfrm>
            <a:off x="3984472" y="6036873"/>
            <a:ext cx="905028" cy="257158"/>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未占用</a:t>
            </a:r>
            <a:endParaRPr lang="en-US" sz="1600" dirty="0"/>
          </a:p>
        </p:txBody>
      </p:sp>
      <p:sp>
        <p:nvSpPr>
          <p:cNvPr id="22" name="Text 20"/>
          <p:cNvSpPr/>
          <p:nvPr/>
        </p:nvSpPr>
        <p:spPr>
          <a:xfrm>
            <a:off x="3727314" y="6367505"/>
            <a:ext cx="2856296" cy="220422"/>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机器人可以通行</a:t>
            </a:r>
            <a:endParaRPr lang="en-US" sz="1600" dirty="0"/>
          </a:p>
        </p:txBody>
      </p:sp>
      <p:sp>
        <p:nvSpPr>
          <p:cNvPr id="23" name="Shape 21"/>
          <p:cNvSpPr/>
          <p:nvPr/>
        </p:nvSpPr>
        <p:spPr>
          <a:xfrm>
            <a:off x="6807752" y="1651185"/>
            <a:ext cx="4726255" cy="5147548"/>
          </a:xfrm>
          <a:custGeom>
            <a:avLst/>
            <a:gdLst/>
            <a:ahLst/>
            <a:cxnLst/>
            <a:rect l="l" t="t" r="r" b="b"/>
            <a:pathLst>
              <a:path w="5634615" h="5365133">
                <a:moveTo>
                  <a:pt x="97967" y="0"/>
                </a:moveTo>
                <a:lnTo>
                  <a:pt x="5536648" y="0"/>
                </a:lnTo>
                <a:cubicBezTo>
                  <a:pt x="5590753" y="0"/>
                  <a:pt x="5634615" y="43861"/>
                  <a:pt x="5634615" y="97967"/>
                </a:cubicBezTo>
                <a:lnTo>
                  <a:pt x="5634615" y="5267166"/>
                </a:lnTo>
                <a:cubicBezTo>
                  <a:pt x="5634615" y="5321272"/>
                  <a:pt x="5590753" y="5365133"/>
                  <a:pt x="5536648" y="5365133"/>
                </a:cubicBezTo>
                <a:lnTo>
                  <a:pt x="97967" y="5365133"/>
                </a:lnTo>
                <a:cubicBezTo>
                  <a:pt x="43861" y="5365133"/>
                  <a:pt x="0" y="5321272"/>
                  <a:pt x="0" y="5267166"/>
                </a:cubicBezTo>
                <a:lnTo>
                  <a:pt x="0" y="97967"/>
                </a:lnTo>
                <a:cubicBezTo>
                  <a:pt x="0" y="43898"/>
                  <a:pt x="43898" y="0"/>
                  <a:pt x="97967" y="0"/>
                </a:cubicBezTo>
                <a:close/>
              </a:path>
            </a:pathLst>
          </a:custGeom>
          <a:solidFill>
            <a:srgbClr val="E6B450">
              <a:alpha val="10196"/>
            </a:srgbClr>
          </a:solidFill>
          <a:ln w="12700">
            <a:solidFill>
              <a:srgbClr val="E6B450">
                <a:alpha val="30196"/>
              </a:srgbClr>
            </a:solidFill>
            <a:prstDash val="solid"/>
          </a:ln>
        </p:spPr>
      </p:sp>
      <p:sp>
        <p:nvSpPr>
          <p:cNvPr id="24" name="Shape 22"/>
          <p:cNvSpPr/>
          <p:nvPr/>
        </p:nvSpPr>
        <p:spPr>
          <a:xfrm>
            <a:off x="7038444" y="1883918"/>
            <a:ext cx="142907" cy="163322"/>
          </a:xfrm>
          <a:custGeom>
            <a:avLst/>
            <a:gdLst/>
            <a:ahLst/>
            <a:cxnLst/>
            <a:rect l="l" t="t" r="r" b="b"/>
            <a:pathLst>
              <a:path w="142907" h="163322">
                <a:moveTo>
                  <a:pt x="122492" y="30623"/>
                </a:moveTo>
                <a:lnTo>
                  <a:pt x="81661" y="30623"/>
                </a:lnTo>
                <a:lnTo>
                  <a:pt x="81661" y="71453"/>
                </a:lnTo>
                <a:lnTo>
                  <a:pt x="122492" y="71453"/>
                </a:lnTo>
                <a:lnTo>
                  <a:pt x="122492" y="30623"/>
                </a:lnTo>
                <a:close/>
                <a:moveTo>
                  <a:pt x="142907" y="71453"/>
                </a:moveTo>
                <a:lnTo>
                  <a:pt x="142907" y="132699"/>
                </a:lnTo>
                <a:cubicBezTo>
                  <a:pt x="142907" y="143960"/>
                  <a:pt x="133752" y="153115"/>
                  <a:pt x="122492" y="153115"/>
                </a:cubicBezTo>
                <a:lnTo>
                  <a:pt x="20415" y="153115"/>
                </a:lnTo>
                <a:cubicBezTo>
                  <a:pt x="9155" y="153115"/>
                  <a:pt x="0" y="143960"/>
                  <a:pt x="0" y="132699"/>
                </a:cubicBezTo>
                <a:lnTo>
                  <a:pt x="0" y="30623"/>
                </a:lnTo>
                <a:cubicBezTo>
                  <a:pt x="0" y="19363"/>
                  <a:pt x="9155" y="10208"/>
                  <a:pt x="20415" y="10208"/>
                </a:cubicBezTo>
                <a:lnTo>
                  <a:pt x="122492" y="10208"/>
                </a:lnTo>
                <a:cubicBezTo>
                  <a:pt x="133752" y="10208"/>
                  <a:pt x="142907" y="19363"/>
                  <a:pt x="142907" y="30623"/>
                </a:cubicBezTo>
                <a:lnTo>
                  <a:pt x="142907" y="71453"/>
                </a:lnTo>
                <a:close/>
                <a:moveTo>
                  <a:pt x="20415" y="91869"/>
                </a:moveTo>
                <a:lnTo>
                  <a:pt x="20415" y="132699"/>
                </a:lnTo>
                <a:lnTo>
                  <a:pt x="61246" y="132699"/>
                </a:lnTo>
                <a:lnTo>
                  <a:pt x="61246" y="91869"/>
                </a:lnTo>
                <a:lnTo>
                  <a:pt x="20415" y="91869"/>
                </a:lnTo>
                <a:close/>
                <a:moveTo>
                  <a:pt x="61246" y="71453"/>
                </a:moveTo>
                <a:lnTo>
                  <a:pt x="61246" y="30623"/>
                </a:lnTo>
                <a:lnTo>
                  <a:pt x="20415" y="30623"/>
                </a:lnTo>
                <a:lnTo>
                  <a:pt x="20415" y="71453"/>
                </a:lnTo>
                <a:lnTo>
                  <a:pt x="61246" y="71453"/>
                </a:lnTo>
                <a:close/>
                <a:moveTo>
                  <a:pt x="81661" y="91869"/>
                </a:moveTo>
                <a:lnTo>
                  <a:pt x="81661" y="132699"/>
                </a:lnTo>
                <a:lnTo>
                  <a:pt x="122492" y="132699"/>
                </a:lnTo>
                <a:lnTo>
                  <a:pt x="122492" y="91869"/>
                </a:lnTo>
                <a:lnTo>
                  <a:pt x="81661" y="91869"/>
                </a:lnTo>
                <a:close/>
              </a:path>
            </a:pathLst>
          </a:custGeom>
          <a:solidFill>
            <a:srgbClr val="E6B450"/>
          </a:solidFill>
        </p:spPr>
      </p:sp>
      <p:sp>
        <p:nvSpPr>
          <p:cNvPr id="25" name="Text 23"/>
          <p:cNvSpPr/>
          <p:nvPr/>
        </p:nvSpPr>
        <p:spPr>
          <a:xfrm>
            <a:off x="7211974" y="1851253"/>
            <a:ext cx="2020926" cy="228651"/>
          </a:xfrm>
          <a:prstGeom prst="rect">
            <a:avLst/>
          </a:prstGeom>
          <a:noFill/>
        </p:spPr>
        <p:txBody>
          <a:bodyPr wrap="square" lIns="0" tIns="0" rIns="0" bIns="0" rtlCol="0" anchor="ctr"/>
          <a:lstStyle/>
          <a:p>
            <a:pPr>
              <a:lnSpc>
                <a:spcPct val="12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占用栅格地图示意</a:t>
            </a:r>
            <a:endParaRPr lang="en-US" sz="1600" dirty="0"/>
          </a:p>
        </p:txBody>
      </p:sp>
      <p:sp>
        <p:nvSpPr>
          <p:cNvPr id="26" name="Shape 24"/>
          <p:cNvSpPr/>
          <p:nvPr/>
        </p:nvSpPr>
        <p:spPr>
          <a:xfrm>
            <a:off x="8031264" y="2251393"/>
            <a:ext cx="3184782" cy="3478762"/>
          </a:xfrm>
          <a:custGeom>
            <a:avLst/>
            <a:gdLst/>
            <a:ahLst/>
            <a:cxnLst/>
            <a:rect l="l" t="t" r="r" b="b"/>
            <a:pathLst>
              <a:path w="3184782" h="3478762">
                <a:moveTo>
                  <a:pt x="97996" y="0"/>
                </a:moveTo>
                <a:lnTo>
                  <a:pt x="3086787" y="0"/>
                </a:lnTo>
                <a:cubicBezTo>
                  <a:pt x="3140908" y="0"/>
                  <a:pt x="3184782" y="43874"/>
                  <a:pt x="3184782" y="97996"/>
                </a:cubicBezTo>
                <a:lnTo>
                  <a:pt x="3184782" y="3380766"/>
                </a:lnTo>
                <a:cubicBezTo>
                  <a:pt x="3184782" y="3434888"/>
                  <a:pt x="3140908" y="3478762"/>
                  <a:pt x="3086787" y="3478762"/>
                </a:cubicBezTo>
                <a:lnTo>
                  <a:pt x="97996" y="3478762"/>
                </a:lnTo>
                <a:cubicBezTo>
                  <a:pt x="43874" y="3478762"/>
                  <a:pt x="0" y="3434888"/>
                  <a:pt x="0" y="3380766"/>
                </a:cubicBezTo>
                <a:lnTo>
                  <a:pt x="0" y="97996"/>
                </a:lnTo>
                <a:cubicBezTo>
                  <a:pt x="0" y="43874"/>
                  <a:pt x="43874" y="0"/>
                  <a:pt x="97996" y="0"/>
                </a:cubicBezTo>
                <a:close/>
              </a:path>
            </a:pathLst>
          </a:custGeom>
          <a:solidFill>
            <a:srgbClr val="5F87A7">
              <a:alpha val="10196"/>
            </a:srgbClr>
          </a:solidFill>
          <a:ln w="25400">
            <a:solidFill>
              <a:srgbClr val="5F87A7">
                <a:alpha val="30196"/>
              </a:srgbClr>
            </a:solidFill>
            <a:prstDash val="solid"/>
          </a:ln>
        </p:spPr>
      </p:sp>
      <p:sp>
        <p:nvSpPr>
          <p:cNvPr id="27" name="Shape 25"/>
          <p:cNvSpPr/>
          <p:nvPr/>
        </p:nvSpPr>
        <p:spPr>
          <a:xfrm>
            <a:off x="8174171" y="239430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28" name="Shape 26"/>
          <p:cNvSpPr/>
          <p:nvPr/>
        </p:nvSpPr>
        <p:spPr>
          <a:xfrm>
            <a:off x="8468151" y="239430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29" name="Shape 27"/>
          <p:cNvSpPr/>
          <p:nvPr/>
        </p:nvSpPr>
        <p:spPr>
          <a:xfrm>
            <a:off x="8762131" y="239430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30" name="Shape 28"/>
          <p:cNvSpPr/>
          <p:nvPr/>
        </p:nvSpPr>
        <p:spPr>
          <a:xfrm>
            <a:off x="9056111" y="239430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31" name="Shape 29"/>
          <p:cNvSpPr/>
          <p:nvPr/>
        </p:nvSpPr>
        <p:spPr>
          <a:xfrm>
            <a:off x="9350091" y="239430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32" name="Shape 30"/>
          <p:cNvSpPr/>
          <p:nvPr/>
        </p:nvSpPr>
        <p:spPr>
          <a:xfrm>
            <a:off x="9644071" y="239430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33" name="Shape 31"/>
          <p:cNvSpPr/>
          <p:nvPr/>
        </p:nvSpPr>
        <p:spPr>
          <a:xfrm>
            <a:off x="9938051" y="239430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34" name="Shape 32"/>
          <p:cNvSpPr/>
          <p:nvPr/>
        </p:nvSpPr>
        <p:spPr>
          <a:xfrm>
            <a:off x="10232031" y="239430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35" name="Shape 33"/>
          <p:cNvSpPr/>
          <p:nvPr/>
        </p:nvSpPr>
        <p:spPr>
          <a:xfrm>
            <a:off x="10526011" y="239430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36" name="Shape 34"/>
          <p:cNvSpPr/>
          <p:nvPr/>
        </p:nvSpPr>
        <p:spPr>
          <a:xfrm>
            <a:off x="10819991" y="239430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37" name="Shape 35"/>
          <p:cNvSpPr/>
          <p:nvPr/>
        </p:nvSpPr>
        <p:spPr>
          <a:xfrm>
            <a:off x="8174171" y="268828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38" name="Shape 36"/>
          <p:cNvSpPr/>
          <p:nvPr/>
        </p:nvSpPr>
        <p:spPr>
          <a:xfrm>
            <a:off x="8468151" y="268828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39" name="Shape 37"/>
          <p:cNvSpPr/>
          <p:nvPr/>
        </p:nvSpPr>
        <p:spPr>
          <a:xfrm>
            <a:off x="8762131" y="268828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E6B450"/>
          </a:solidFill>
          <a:ln w="12700">
            <a:solidFill>
              <a:srgbClr val="E6B450"/>
            </a:solidFill>
            <a:prstDash val="solid"/>
          </a:ln>
        </p:spPr>
      </p:sp>
      <p:sp>
        <p:nvSpPr>
          <p:cNvPr id="40" name="Shape 38"/>
          <p:cNvSpPr/>
          <p:nvPr/>
        </p:nvSpPr>
        <p:spPr>
          <a:xfrm>
            <a:off x="9056111" y="268828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E6B450"/>
          </a:solidFill>
          <a:ln w="12700">
            <a:solidFill>
              <a:srgbClr val="E6B450"/>
            </a:solidFill>
            <a:prstDash val="solid"/>
          </a:ln>
        </p:spPr>
      </p:sp>
      <p:sp>
        <p:nvSpPr>
          <p:cNvPr id="41" name="Shape 39"/>
          <p:cNvSpPr/>
          <p:nvPr/>
        </p:nvSpPr>
        <p:spPr>
          <a:xfrm>
            <a:off x="9350091" y="268828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E6B450"/>
          </a:solidFill>
          <a:ln w="12700">
            <a:solidFill>
              <a:srgbClr val="E6B450"/>
            </a:solidFill>
            <a:prstDash val="solid"/>
          </a:ln>
        </p:spPr>
      </p:sp>
      <p:sp>
        <p:nvSpPr>
          <p:cNvPr id="42" name="Shape 40"/>
          <p:cNvSpPr/>
          <p:nvPr/>
        </p:nvSpPr>
        <p:spPr>
          <a:xfrm>
            <a:off x="9644071" y="268828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E6B450"/>
          </a:solidFill>
          <a:ln w="12700">
            <a:solidFill>
              <a:srgbClr val="E6B450"/>
            </a:solidFill>
            <a:prstDash val="solid"/>
          </a:ln>
        </p:spPr>
      </p:sp>
      <p:sp>
        <p:nvSpPr>
          <p:cNvPr id="43" name="Shape 41"/>
          <p:cNvSpPr/>
          <p:nvPr/>
        </p:nvSpPr>
        <p:spPr>
          <a:xfrm>
            <a:off x="9938051" y="268828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E6B450"/>
          </a:solidFill>
          <a:ln w="12700">
            <a:solidFill>
              <a:srgbClr val="E6B450"/>
            </a:solidFill>
            <a:prstDash val="solid"/>
          </a:ln>
        </p:spPr>
      </p:sp>
      <p:sp>
        <p:nvSpPr>
          <p:cNvPr id="44" name="Shape 42"/>
          <p:cNvSpPr/>
          <p:nvPr/>
        </p:nvSpPr>
        <p:spPr>
          <a:xfrm>
            <a:off x="10232031" y="268828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45" name="Shape 43"/>
          <p:cNvSpPr/>
          <p:nvPr/>
        </p:nvSpPr>
        <p:spPr>
          <a:xfrm>
            <a:off x="10526011" y="268828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46" name="Shape 44"/>
          <p:cNvSpPr/>
          <p:nvPr/>
        </p:nvSpPr>
        <p:spPr>
          <a:xfrm>
            <a:off x="10819991" y="2688280"/>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47" name="Shape 45"/>
          <p:cNvSpPr/>
          <p:nvPr/>
        </p:nvSpPr>
        <p:spPr>
          <a:xfrm>
            <a:off x="8174171" y="29822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48" name="Shape 46"/>
          <p:cNvSpPr/>
          <p:nvPr/>
        </p:nvSpPr>
        <p:spPr>
          <a:xfrm>
            <a:off x="8468151" y="29822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49" name="Shape 47"/>
          <p:cNvSpPr/>
          <p:nvPr/>
        </p:nvSpPr>
        <p:spPr>
          <a:xfrm>
            <a:off x="8762131" y="29822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E6B450"/>
          </a:solidFill>
          <a:ln w="12700">
            <a:solidFill>
              <a:srgbClr val="E6B450"/>
            </a:solidFill>
            <a:prstDash val="solid"/>
          </a:ln>
        </p:spPr>
      </p:sp>
      <p:sp>
        <p:nvSpPr>
          <p:cNvPr id="50" name="Shape 48"/>
          <p:cNvSpPr/>
          <p:nvPr/>
        </p:nvSpPr>
        <p:spPr>
          <a:xfrm>
            <a:off x="9056111" y="29822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51" name="Shape 49"/>
          <p:cNvSpPr/>
          <p:nvPr/>
        </p:nvSpPr>
        <p:spPr>
          <a:xfrm>
            <a:off x="9350091" y="29822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52" name="Shape 50"/>
          <p:cNvSpPr/>
          <p:nvPr/>
        </p:nvSpPr>
        <p:spPr>
          <a:xfrm>
            <a:off x="9644071" y="29822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53" name="Shape 51"/>
          <p:cNvSpPr/>
          <p:nvPr/>
        </p:nvSpPr>
        <p:spPr>
          <a:xfrm>
            <a:off x="9938051" y="29822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E6B450"/>
          </a:solidFill>
          <a:ln w="12700">
            <a:solidFill>
              <a:srgbClr val="E6B450"/>
            </a:solidFill>
            <a:prstDash val="solid"/>
          </a:ln>
        </p:spPr>
      </p:sp>
      <p:sp>
        <p:nvSpPr>
          <p:cNvPr id="54" name="Shape 52"/>
          <p:cNvSpPr/>
          <p:nvPr/>
        </p:nvSpPr>
        <p:spPr>
          <a:xfrm>
            <a:off x="10232031" y="29822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55" name="Shape 53"/>
          <p:cNvSpPr/>
          <p:nvPr/>
        </p:nvSpPr>
        <p:spPr>
          <a:xfrm>
            <a:off x="10526011" y="29822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56" name="Shape 54"/>
          <p:cNvSpPr/>
          <p:nvPr/>
        </p:nvSpPr>
        <p:spPr>
          <a:xfrm>
            <a:off x="10819991" y="29822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57" name="Shape 55"/>
          <p:cNvSpPr/>
          <p:nvPr/>
        </p:nvSpPr>
        <p:spPr>
          <a:xfrm>
            <a:off x="8174171" y="32762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58" name="Shape 56"/>
          <p:cNvSpPr/>
          <p:nvPr/>
        </p:nvSpPr>
        <p:spPr>
          <a:xfrm>
            <a:off x="8468151" y="32762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59" name="Shape 57"/>
          <p:cNvSpPr/>
          <p:nvPr/>
        </p:nvSpPr>
        <p:spPr>
          <a:xfrm>
            <a:off x="8762131" y="32762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E6B450"/>
          </a:solidFill>
          <a:ln w="12700">
            <a:solidFill>
              <a:srgbClr val="E6B450"/>
            </a:solidFill>
            <a:prstDash val="solid"/>
          </a:ln>
        </p:spPr>
      </p:sp>
      <p:sp>
        <p:nvSpPr>
          <p:cNvPr id="60" name="Shape 58"/>
          <p:cNvSpPr/>
          <p:nvPr/>
        </p:nvSpPr>
        <p:spPr>
          <a:xfrm>
            <a:off x="9056111" y="32762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61" name="Shape 59"/>
          <p:cNvSpPr/>
          <p:nvPr/>
        </p:nvSpPr>
        <p:spPr>
          <a:xfrm>
            <a:off x="9354174" y="3280322"/>
            <a:ext cx="244983" cy="244983"/>
          </a:xfrm>
          <a:custGeom>
            <a:avLst/>
            <a:gdLst/>
            <a:ahLst/>
            <a:cxnLst/>
            <a:rect l="l" t="t" r="r" b="b"/>
            <a:pathLst>
              <a:path w="244983" h="244983">
                <a:moveTo>
                  <a:pt x="0" y="0"/>
                </a:moveTo>
                <a:lnTo>
                  <a:pt x="244983" y="0"/>
                </a:lnTo>
                <a:lnTo>
                  <a:pt x="244983" y="244983"/>
                </a:lnTo>
                <a:lnTo>
                  <a:pt x="0" y="244983"/>
                </a:lnTo>
                <a:lnTo>
                  <a:pt x="0" y="0"/>
                </a:lnTo>
                <a:close/>
              </a:path>
            </a:pathLst>
          </a:custGeom>
          <a:solidFill>
            <a:srgbClr val="5F87A7"/>
          </a:solidFill>
          <a:ln w="25400">
            <a:solidFill>
              <a:srgbClr val="E6B450"/>
            </a:solidFill>
            <a:prstDash val="solid"/>
          </a:ln>
        </p:spPr>
      </p:sp>
      <p:sp>
        <p:nvSpPr>
          <p:cNvPr id="62" name="Shape 60"/>
          <p:cNvSpPr/>
          <p:nvPr/>
        </p:nvSpPr>
        <p:spPr>
          <a:xfrm>
            <a:off x="9644071" y="32762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63" name="Shape 61"/>
          <p:cNvSpPr/>
          <p:nvPr/>
        </p:nvSpPr>
        <p:spPr>
          <a:xfrm>
            <a:off x="9938051" y="32762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E6B450"/>
          </a:solidFill>
          <a:ln w="12700">
            <a:solidFill>
              <a:srgbClr val="E6B450"/>
            </a:solidFill>
            <a:prstDash val="solid"/>
          </a:ln>
        </p:spPr>
      </p:sp>
      <p:sp>
        <p:nvSpPr>
          <p:cNvPr id="64" name="Shape 62"/>
          <p:cNvSpPr/>
          <p:nvPr/>
        </p:nvSpPr>
        <p:spPr>
          <a:xfrm>
            <a:off x="10232031" y="32762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65" name="Shape 63"/>
          <p:cNvSpPr/>
          <p:nvPr/>
        </p:nvSpPr>
        <p:spPr>
          <a:xfrm>
            <a:off x="10526011" y="32762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66" name="Shape 64"/>
          <p:cNvSpPr/>
          <p:nvPr/>
        </p:nvSpPr>
        <p:spPr>
          <a:xfrm>
            <a:off x="10819991" y="32762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67" name="Shape 65"/>
          <p:cNvSpPr/>
          <p:nvPr/>
        </p:nvSpPr>
        <p:spPr>
          <a:xfrm>
            <a:off x="8174171" y="35702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68" name="Shape 66"/>
          <p:cNvSpPr/>
          <p:nvPr/>
        </p:nvSpPr>
        <p:spPr>
          <a:xfrm>
            <a:off x="8468151" y="35702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69" name="Shape 67"/>
          <p:cNvSpPr/>
          <p:nvPr/>
        </p:nvSpPr>
        <p:spPr>
          <a:xfrm>
            <a:off x="8762131" y="35702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E6B450"/>
          </a:solidFill>
          <a:ln w="12700">
            <a:solidFill>
              <a:srgbClr val="E6B450"/>
            </a:solidFill>
            <a:prstDash val="solid"/>
          </a:ln>
        </p:spPr>
      </p:sp>
      <p:sp>
        <p:nvSpPr>
          <p:cNvPr id="70" name="Shape 68"/>
          <p:cNvSpPr/>
          <p:nvPr/>
        </p:nvSpPr>
        <p:spPr>
          <a:xfrm>
            <a:off x="9056111" y="35702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E6B450"/>
          </a:solidFill>
          <a:ln w="12700">
            <a:solidFill>
              <a:srgbClr val="E6B450"/>
            </a:solidFill>
            <a:prstDash val="solid"/>
          </a:ln>
        </p:spPr>
      </p:sp>
      <p:sp>
        <p:nvSpPr>
          <p:cNvPr id="71" name="Shape 69"/>
          <p:cNvSpPr/>
          <p:nvPr/>
        </p:nvSpPr>
        <p:spPr>
          <a:xfrm>
            <a:off x="9350091" y="35702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E6B450"/>
          </a:solidFill>
          <a:ln w="12700">
            <a:solidFill>
              <a:srgbClr val="E6B450"/>
            </a:solidFill>
            <a:prstDash val="solid"/>
          </a:ln>
        </p:spPr>
      </p:sp>
      <p:sp>
        <p:nvSpPr>
          <p:cNvPr id="72" name="Shape 70"/>
          <p:cNvSpPr/>
          <p:nvPr/>
        </p:nvSpPr>
        <p:spPr>
          <a:xfrm>
            <a:off x="9644071" y="35702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E6B450"/>
          </a:solidFill>
          <a:ln w="12700">
            <a:solidFill>
              <a:srgbClr val="E6B450"/>
            </a:solidFill>
            <a:prstDash val="solid"/>
          </a:ln>
        </p:spPr>
      </p:sp>
      <p:sp>
        <p:nvSpPr>
          <p:cNvPr id="73" name="Shape 71"/>
          <p:cNvSpPr/>
          <p:nvPr/>
        </p:nvSpPr>
        <p:spPr>
          <a:xfrm>
            <a:off x="9938051" y="35702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E6B450"/>
          </a:solidFill>
          <a:ln w="12700">
            <a:solidFill>
              <a:srgbClr val="E6B450"/>
            </a:solidFill>
            <a:prstDash val="solid"/>
          </a:ln>
        </p:spPr>
      </p:sp>
      <p:sp>
        <p:nvSpPr>
          <p:cNvPr id="74" name="Shape 72"/>
          <p:cNvSpPr/>
          <p:nvPr/>
        </p:nvSpPr>
        <p:spPr>
          <a:xfrm>
            <a:off x="10232031" y="35702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75" name="Shape 73"/>
          <p:cNvSpPr/>
          <p:nvPr/>
        </p:nvSpPr>
        <p:spPr>
          <a:xfrm>
            <a:off x="10526011" y="35702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76" name="Shape 74"/>
          <p:cNvSpPr/>
          <p:nvPr/>
        </p:nvSpPr>
        <p:spPr>
          <a:xfrm>
            <a:off x="10819991" y="35702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77" name="Shape 75"/>
          <p:cNvSpPr/>
          <p:nvPr/>
        </p:nvSpPr>
        <p:spPr>
          <a:xfrm>
            <a:off x="8174171" y="38641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78" name="Shape 76"/>
          <p:cNvSpPr/>
          <p:nvPr/>
        </p:nvSpPr>
        <p:spPr>
          <a:xfrm>
            <a:off x="8468151" y="38641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79" name="Shape 77"/>
          <p:cNvSpPr/>
          <p:nvPr/>
        </p:nvSpPr>
        <p:spPr>
          <a:xfrm>
            <a:off x="8762131" y="38641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80" name="Shape 78"/>
          <p:cNvSpPr/>
          <p:nvPr/>
        </p:nvSpPr>
        <p:spPr>
          <a:xfrm>
            <a:off x="9056111" y="38641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81" name="Shape 79"/>
          <p:cNvSpPr/>
          <p:nvPr/>
        </p:nvSpPr>
        <p:spPr>
          <a:xfrm>
            <a:off x="9350091" y="38641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82" name="Shape 80"/>
          <p:cNvSpPr/>
          <p:nvPr/>
        </p:nvSpPr>
        <p:spPr>
          <a:xfrm>
            <a:off x="9644071" y="38641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83" name="Shape 81"/>
          <p:cNvSpPr/>
          <p:nvPr/>
        </p:nvSpPr>
        <p:spPr>
          <a:xfrm>
            <a:off x="9938051" y="38641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84" name="Shape 82"/>
          <p:cNvSpPr/>
          <p:nvPr/>
        </p:nvSpPr>
        <p:spPr>
          <a:xfrm>
            <a:off x="10232031" y="38641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85" name="Shape 83"/>
          <p:cNvSpPr/>
          <p:nvPr/>
        </p:nvSpPr>
        <p:spPr>
          <a:xfrm>
            <a:off x="10526011" y="38641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86" name="Shape 84"/>
          <p:cNvSpPr/>
          <p:nvPr/>
        </p:nvSpPr>
        <p:spPr>
          <a:xfrm>
            <a:off x="10819991" y="38641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87" name="Shape 85"/>
          <p:cNvSpPr/>
          <p:nvPr/>
        </p:nvSpPr>
        <p:spPr>
          <a:xfrm>
            <a:off x="8174171" y="415817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88" name="Shape 86"/>
          <p:cNvSpPr/>
          <p:nvPr/>
        </p:nvSpPr>
        <p:spPr>
          <a:xfrm>
            <a:off x="8468151" y="415817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89" name="Shape 87"/>
          <p:cNvSpPr/>
          <p:nvPr/>
        </p:nvSpPr>
        <p:spPr>
          <a:xfrm>
            <a:off x="8762131" y="415817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90" name="Shape 88"/>
          <p:cNvSpPr/>
          <p:nvPr/>
        </p:nvSpPr>
        <p:spPr>
          <a:xfrm>
            <a:off x="9056111" y="415817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91" name="Shape 89"/>
          <p:cNvSpPr/>
          <p:nvPr/>
        </p:nvSpPr>
        <p:spPr>
          <a:xfrm>
            <a:off x="9350091" y="415817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92" name="Shape 90"/>
          <p:cNvSpPr/>
          <p:nvPr/>
        </p:nvSpPr>
        <p:spPr>
          <a:xfrm>
            <a:off x="9644071" y="415817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93" name="Shape 91"/>
          <p:cNvSpPr/>
          <p:nvPr/>
        </p:nvSpPr>
        <p:spPr>
          <a:xfrm>
            <a:off x="9938051" y="415817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94" name="Shape 92"/>
          <p:cNvSpPr/>
          <p:nvPr/>
        </p:nvSpPr>
        <p:spPr>
          <a:xfrm>
            <a:off x="10232031" y="415817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95" name="Shape 93"/>
          <p:cNvSpPr/>
          <p:nvPr/>
        </p:nvSpPr>
        <p:spPr>
          <a:xfrm>
            <a:off x="10526011" y="415817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96" name="Shape 94"/>
          <p:cNvSpPr/>
          <p:nvPr/>
        </p:nvSpPr>
        <p:spPr>
          <a:xfrm>
            <a:off x="10819991" y="415817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97" name="Shape 95"/>
          <p:cNvSpPr/>
          <p:nvPr/>
        </p:nvSpPr>
        <p:spPr>
          <a:xfrm>
            <a:off x="8174171" y="44521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98" name="Shape 96"/>
          <p:cNvSpPr/>
          <p:nvPr/>
        </p:nvSpPr>
        <p:spPr>
          <a:xfrm>
            <a:off x="8468151" y="44521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99" name="Shape 97"/>
          <p:cNvSpPr/>
          <p:nvPr/>
        </p:nvSpPr>
        <p:spPr>
          <a:xfrm>
            <a:off x="8762131" y="44521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00" name="Shape 98"/>
          <p:cNvSpPr/>
          <p:nvPr/>
        </p:nvSpPr>
        <p:spPr>
          <a:xfrm>
            <a:off x="9056111" y="44521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01" name="Shape 99"/>
          <p:cNvSpPr/>
          <p:nvPr/>
        </p:nvSpPr>
        <p:spPr>
          <a:xfrm>
            <a:off x="9350091" y="44521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02" name="Shape 100"/>
          <p:cNvSpPr/>
          <p:nvPr/>
        </p:nvSpPr>
        <p:spPr>
          <a:xfrm>
            <a:off x="9644071" y="44521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03" name="Shape 101"/>
          <p:cNvSpPr/>
          <p:nvPr/>
        </p:nvSpPr>
        <p:spPr>
          <a:xfrm>
            <a:off x="9938051" y="44521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04" name="Shape 102"/>
          <p:cNvSpPr/>
          <p:nvPr/>
        </p:nvSpPr>
        <p:spPr>
          <a:xfrm>
            <a:off x="10232031" y="44521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05" name="Shape 103"/>
          <p:cNvSpPr/>
          <p:nvPr/>
        </p:nvSpPr>
        <p:spPr>
          <a:xfrm>
            <a:off x="10526011" y="44521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06" name="Shape 104"/>
          <p:cNvSpPr/>
          <p:nvPr/>
        </p:nvSpPr>
        <p:spPr>
          <a:xfrm>
            <a:off x="10819991" y="445215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07" name="Shape 105"/>
          <p:cNvSpPr/>
          <p:nvPr/>
        </p:nvSpPr>
        <p:spPr>
          <a:xfrm>
            <a:off x="8174171" y="47461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08" name="Shape 106"/>
          <p:cNvSpPr/>
          <p:nvPr/>
        </p:nvSpPr>
        <p:spPr>
          <a:xfrm>
            <a:off x="8468151" y="47461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09" name="Shape 107"/>
          <p:cNvSpPr/>
          <p:nvPr/>
        </p:nvSpPr>
        <p:spPr>
          <a:xfrm>
            <a:off x="8762131" y="47461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10" name="Shape 108"/>
          <p:cNvSpPr/>
          <p:nvPr/>
        </p:nvSpPr>
        <p:spPr>
          <a:xfrm>
            <a:off x="9056111" y="47461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11" name="Shape 109"/>
          <p:cNvSpPr/>
          <p:nvPr/>
        </p:nvSpPr>
        <p:spPr>
          <a:xfrm>
            <a:off x="9350091" y="47461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12" name="Shape 110"/>
          <p:cNvSpPr/>
          <p:nvPr/>
        </p:nvSpPr>
        <p:spPr>
          <a:xfrm>
            <a:off x="9644071" y="47461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13" name="Shape 111"/>
          <p:cNvSpPr/>
          <p:nvPr/>
        </p:nvSpPr>
        <p:spPr>
          <a:xfrm>
            <a:off x="9938051" y="47461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14" name="Shape 112"/>
          <p:cNvSpPr/>
          <p:nvPr/>
        </p:nvSpPr>
        <p:spPr>
          <a:xfrm>
            <a:off x="10232031" y="47461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15" name="Shape 113"/>
          <p:cNvSpPr/>
          <p:nvPr/>
        </p:nvSpPr>
        <p:spPr>
          <a:xfrm>
            <a:off x="10526011" y="47461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16" name="Shape 114"/>
          <p:cNvSpPr/>
          <p:nvPr/>
        </p:nvSpPr>
        <p:spPr>
          <a:xfrm>
            <a:off x="10819991" y="474613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17" name="Shape 115"/>
          <p:cNvSpPr/>
          <p:nvPr/>
        </p:nvSpPr>
        <p:spPr>
          <a:xfrm>
            <a:off x="8174171" y="50401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18" name="Shape 116"/>
          <p:cNvSpPr/>
          <p:nvPr/>
        </p:nvSpPr>
        <p:spPr>
          <a:xfrm>
            <a:off x="8468151" y="50401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19" name="Shape 117"/>
          <p:cNvSpPr/>
          <p:nvPr/>
        </p:nvSpPr>
        <p:spPr>
          <a:xfrm>
            <a:off x="8762131" y="50401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20" name="Shape 118"/>
          <p:cNvSpPr/>
          <p:nvPr/>
        </p:nvSpPr>
        <p:spPr>
          <a:xfrm>
            <a:off x="9056111" y="50401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21" name="Shape 119"/>
          <p:cNvSpPr/>
          <p:nvPr/>
        </p:nvSpPr>
        <p:spPr>
          <a:xfrm>
            <a:off x="9350091" y="50401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22" name="Shape 120"/>
          <p:cNvSpPr/>
          <p:nvPr/>
        </p:nvSpPr>
        <p:spPr>
          <a:xfrm>
            <a:off x="9644071" y="50401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23" name="Shape 121"/>
          <p:cNvSpPr/>
          <p:nvPr/>
        </p:nvSpPr>
        <p:spPr>
          <a:xfrm>
            <a:off x="9938051" y="50401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24" name="Shape 122"/>
          <p:cNvSpPr/>
          <p:nvPr/>
        </p:nvSpPr>
        <p:spPr>
          <a:xfrm>
            <a:off x="10232031" y="50401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25" name="Shape 123"/>
          <p:cNvSpPr/>
          <p:nvPr/>
        </p:nvSpPr>
        <p:spPr>
          <a:xfrm>
            <a:off x="10526011" y="50401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26" name="Shape 124"/>
          <p:cNvSpPr/>
          <p:nvPr/>
        </p:nvSpPr>
        <p:spPr>
          <a:xfrm>
            <a:off x="10819991" y="504011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27" name="Shape 125"/>
          <p:cNvSpPr/>
          <p:nvPr/>
        </p:nvSpPr>
        <p:spPr>
          <a:xfrm>
            <a:off x="8174171" y="53340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28" name="Shape 126"/>
          <p:cNvSpPr/>
          <p:nvPr/>
        </p:nvSpPr>
        <p:spPr>
          <a:xfrm>
            <a:off x="8468151" y="53340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29" name="Shape 127"/>
          <p:cNvSpPr/>
          <p:nvPr/>
        </p:nvSpPr>
        <p:spPr>
          <a:xfrm>
            <a:off x="8762131" y="53340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30" name="Shape 128"/>
          <p:cNvSpPr/>
          <p:nvPr/>
        </p:nvSpPr>
        <p:spPr>
          <a:xfrm>
            <a:off x="9056111" y="53340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31" name="Shape 129"/>
          <p:cNvSpPr/>
          <p:nvPr/>
        </p:nvSpPr>
        <p:spPr>
          <a:xfrm>
            <a:off x="9350091" y="53340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32" name="Shape 130"/>
          <p:cNvSpPr/>
          <p:nvPr/>
        </p:nvSpPr>
        <p:spPr>
          <a:xfrm>
            <a:off x="9644071" y="53340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33" name="Shape 131"/>
          <p:cNvSpPr/>
          <p:nvPr/>
        </p:nvSpPr>
        <p:spPr>
          <a:xfrm>
            <a:off x="9938051" y="53340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34" name="Shape 132"/>
          <p:cNvSpPr/>
          <p:nvPr/>
        </p:nvSpPr>
        <p:spPr>
          <a:xfrm>
            <a:off x="10232031" y="53340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35" name="Shape 133"/>
          <p:cNvSpPr/>
          <p:nvPr/>
        </p:nvSpPr>
        <p:spPr>
          <a:xfrm>
            <a:off x="10526011" y="53340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36" name="Shape 134"/>
          <p:cNvSpPr/>
          <p:nvPr/>
        </p:nvSpPr>
        <p:spPr>
          <a:xfrm>
            <a:off x="10819991" y="5334099"/>
            <a:ext cx="253149" cy="253149"/>
          </a:xfrm>
          <a:custGeom>
            <a:avLst/>
            <a:gdLst/>
            <a:ahLst/>
            <a:cxnLst/>
            <a:rect l="l" t="t" r="r" b="b"/>
            <a:pathLst>
              <a:path w="253149" h="253149">
                <a:moveTo>
                  <a:pt x="0" y="0"/>
                </a:moveTo>
                <a:lnTo>
                  <a:pt x="253149" y="0"/>
                </a:lnTo>
                <a:lnTo>
                  <a:pt x="253149" y="253149"/>
                </a:lnTo>
                <a:lnTo>
                  <a:pt x="0" y="253149"/>
                </a:lnTo>
                <a:lnTo>
                  <a:pt x="0" y="0"/>
                </a:lnTo>
                <a:close/>
              </a:path>
            </a:pathLst>
          </a:custGeom>
          <a:solidFill>
            <a:srgbClr val="000000">
              <a:alpha val="0"/>
            </a:srgbClr>
          </a:solidFill>
          <a:ln w="12700">
            <a:solidFill>
              <a:srgbClr val="5F87A7">
                <a:alpha val="30196"/>
              </a:srgbClr>
            </a:solidFill>
            <a:prstDash val="solid"/>
          </a:ln>
        </p:spPr>
      </p:sp>
      <p:sp>
        <p:nvSpPr>
          <p:cNvPr id="137" name="Shape 135"/>
          <p:cNvSpPr/>
          <p:nvPr/>
        </p:nvSpPr>
        <p:spPr>
          <a:xfrm>
            <a:off x="7007821" y="5907101"/>
            <a:ext cx="130658" cy="130658"/>
          </a:xfrm>
          <a:custGeom>
            <a:avLst/>
            <a:gdLst/>
            <a:ahLst/>
            <a:cxnLst/>
            <a:rect l="l" t="t" r="r" b="b"/>
            <a:pathLst>
              <a:path w="130658" h="130658">
                <a:moveTo>
                  <a:pt x="32664" y="0"/>
                </a:moveTo>
                <a:lnTo>
                  <a:pt x="97993" y="0"/>
                </a:lnTo>
                <a:cubicBezTo>
                  <a:pt x="116033" y="0"/>
                  <a:pt x="130658" y="14624"/>
                  <a:pt x="130658" y="32664"/>
                </a:cubicBezTo>
                <a:lnTo>
                  <a:pt x="130658" y="97993"/>
                </a:lnTo>
                <a:cubicBezTo>
                  <a:pt x="130658" y="116033"/>
                  <a:pt x="116033" y="130658"/>
                  <a:pt x="97993" y="130658"/>
                </a:cubicBezTo>
                <a:lnTo>
                  <a:pt x="32664" y="130658"/>
                </a:lnTo>
                <a:cubicBezTo>
                  <a:pt x="14624" y="130658"/>
                  <a:pt x="0" y="116033"/>
                  <a:pt x="0" y="97993"/>
                </a:cubicBezTo>
                <a:lnTo>
                  <a:pt x="0" y="32664"/>
                </a:lnTo>
                <a:cubicBezTo>
                  <a:pt x="0" y="14636"/>
                  <a:pt x="14636" y="0"/>
                  <a:pt x="32664" y="0"/>
                </a:cubicBezTo>
                <a:close/>
              </a:path>
            </a:pathLst>
          </a:custGeom>
          <a:solidFill>
            <a:srgbClr val="E6B450"/>
          </a:solidFill>
        </p:spPr>
      </p:sp>
      <p:sp>
        <p:nvSpPr>
          <p:cNvPr id="138" name="Text 136"/>
          <p:cNvSpPr/>
          <p:nvPr/>
        </p:nvSpPr>
        <p:spPr>
          <a:xfrm>
            <a:off x="7236472" y="5858105"/>
            <a:ext cx="1819639" cy="228651"/>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已占用（障碍物）</a:t>
            </a:r>
            <a:endParaRPr lang="en-US" sz="1600" dirty="0"/>
          </a:p>
        </p:txBody>
      </p:sp>
      <p:sp>
        <p:nvSpPr>
          <p:cNvPr id="139" name="Shape 137"/>
          <p:cNvSpPr/>
          <p:nvPr/>
        </p:nvSpPr>
        <p:spPr>
          <a:xfrm>
            <a:off x="7015988" y="6241912"/>
            <a:ext cx="114326" cy="114326"/>
          </a:xfrm>
          <a:custGeom>
            <a:avLst/>
            <a:gdLst/>
            <a:ahLst/>
            <a:cxnLst/>
            <a:rect l="l" t="t" r="r" b="b"/>
            <a:pathLst>
              <a:path w="114326" h="114326">
                <a:moveTo>
                  <a:pt x="32664" y="0"/>
                </a:moveTo>
                <a:lnTo>
                  <a:pt x="81662" y="0"/>
                </a:lnTo>
                <a:cubicBezTo>
                  <a:pt x="99689" y="0"/>
                  <a:pt x="114326" y="14636"/>
                  <a:pt x="114326" y="32664"/>
                </a:cubicBezTo>
                <a:lnTo>
                  <a:pt x="114326" y="81662"/>
                </a:lnTo>
                <a:cubicBezTo>
                  <a:pt x="114326" y="99701"/>
                  <a:pt x="99701" y="114326"/>
                  <a:pt x="81662" y="114326"/>
                </a:cubicBezTo>
                <a:lnTo>
                  <a:pt x="32664" y="114326"/>
                </a:lnTo>
                <a:cubicBezTo>
                  <a:pt x="14636" y="114326"/>
                  <a:pt x="0" y="99689"/>
                  <a:pt x="0" y="81662"/>
                </a:cubicBezTo>
                <a:lnTo>
                  <a:pt x="0" y="32664"/>
                </a:lnTo>
                <a:cubicBezTo>
                  <a:pt x="0" y="14624"/>
                  <a:pt x="14624" y="0"/>
                  <a:pt x="32664" y="0"/>
                </a:cubicBezTo>
                <a:close/>
              </a:path>
            </a:pathLst>
          </a:custGeom>
          <a:solidFill>
            <a:srgbClr val="000000">
              <a:alpha val="0"/>
            </a:srgbClr>
          </a:solidFill>
          <a:ln w="25400">
            <a:solidFill>
              <a:schemeClr val="accent5">
                <a:lumMod val="60000"/>
                <a:lumOff val="40000"/>
              </a:schemeClr>
            </a:solidFill>
            <a:prstDash val="solid"/>
          </a:ln>
        </p:spPr>
      </p:sp>
      <p:sp>
        <p:nvSpPr>
          <p:cNvPr id="140" name="Text 138"/>
          <p:cNvSpPr/>
          <p:nvPr/>
        </p:nvSpPr>
        <p:spPr>
          <a:xfrm>
            <a:off x="7236472" y="6184749"/>
            <a:ext cx="1819639" cy="228651"/>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未占用（可通行）</a:t>
            </a:r>
            <a:endParaRPr lang="en-US" sz="1600" dirty="0"/>
          </a:p>
        </p:txBody>
      </p:sp>
      <p:sp>
        <p:nvSpPr>
          <p:cNvPr id="141" name="Shape 139"/>
          <p:cNvSpPr/>
          <p:nvPr/>
        </p:nvSpPr>
        <p:spPr>
          <a:xfrm>
            <a:off x="7015988" y="6568556"/>
            <a:ext cx="114326" cy="114326"/>
          </a:xfrm>
          <a:custGeom>
            <a:avLst/>
            <a:gdLst/>
            <a:ahLst/>
            <a:cxnLst/>
            <a:rect l="l" t="t" r="r" b="b"/>
            <a:pathLst>
              <a:path w="114326" h="114326">
                <a:moveTo>
                  <a:pt x="32664" y="0"/>
                </a:moveTo>
                <a:lnTo>
                  <a:pt x="81662" y="0"/>
                </a:lnTo>
                <a:cubicBezTo>
                  <a:pt x="99689" y="0"/>
                  <a:pt x="114326" y="14636"/>
                  <a:pt x="114326" y="32664"/>
                </a:cubicBezTo>
                <a:lnTo>
                  <a:pt x="114326" y="81662"/>
                </a:lnTo>
                <a:cubicBezTo>
                  <a:pt x="114326" y="99701"/>
                  <a:pt x="99701" y="114326"/>
                  <a:pt x="81662" y="114326"/>
                </a:cubicBezTo>
                <a:lnTo>
                  <a:pt x="32664" y="114326"/>
                </a:lnTo>
                <a:cubicBezTo>
                  <a:pt x="14636" y="114326"/>
                  <a:pt x="0" y="99689"/>
                  <a:pt x="0" y="81662"/>
                </a:cubicBezTo>
                <a:lnTo>
                  <a:pt x="0" y="32664"/>
                </a:lnTo>
                <a:cubicBezTo>
                  <a:pt x="0" y="14624"/>
                  <a:pt x="14624" y="0"/>
                  <a:pt x="32664" y="0"/>
                </a:cubicBezTo>
                <a:close/>
              </a:path>
            </a:pathLst>
          </a:custGeom>
          <a:solidFill>
            <a:srgbClr val="5F87A7"/>
          </a:solidFill>
          <a:ln w="25400">
            <a:solidFill>
              <a:srgbClr val="E6B450"/>
            </a:solidFill>
            <a:prstDash val="solid"/>
          </a:ln>
        </p:spPr>
      </p:sp>
      <p:sp>
        <p:nvSpPr>
          <p:cNvPr id="142" name="Text 140"/>
          <p:cNvSpPr/>
          <p:nvPr/>
        </p:nvSpPr>
        <p:spPr>
          <a:xfrm>
            <a:off x="7236472" y="6511393"/>
            <a:ext cx="1721263" cy="228651"/>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机器人位置</a:t>
            </a:r>
            <a:endParaRPr lang="en-US" sz="1600" dirty="0"/>
          </a:p>
        </p:txBody>
      </p:sp>
      <p:grpSp>
        <p:nvGrpSpPr>
          <p:cNvPr id="143" name="组合 142">
            <a:extLst>
              <a:ext uri="{FF2B5EF4-FFF2-40B4-BE49-F238E27FC236}">
                <a16:creationId xmlns:a16="http://schemas.microsoft.com/office/drawing/2014/main" id="{69A38520-AC91-F3A9-FA95-C31EABA86480}"/>
              </a:ext>
            </a:extLst>
          </p:cNvPr>
          <p:cNvGrpSpPr/>
          <p:nvPr/>
        </p:nvGrpSpPr>
        <p:grpSpPr>
          <a:xfrm>
            <a:off x="0" y="939798"/>
            <a:ext cx="5022850" cy="625474"/>
            <a:chOff x="0" y="1075267"/>
            <a:chExt cx="5022850" cy="625474"/>
          </a:xfrm>
        </p:grpSpPr>
        <p:sp>
          <p:nvSpPr>
            <p:cNvPr id="144" name="矩形 143">
              <a:extLst>
                <a:ext uri="{FF2B5EF4-FFF2-40B4-BE49-F238E27FC236}">
                  <a16:creationId xmlns:a16="http://schemas.microsoft.com/office/drawing/2014/main" id="{A9937771-EB0E-7391-7344-5BAA352D31F2}"/>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文本框 144">
              <a:extLst>
                <a:ext uri="{FF2B5EF4-FFF2-40B4-BE49-F238E27FC236}">
                  <a16:creationId xmlns:a16="http://schemas.microsoft.com/office/drawing/2014/main" id="{75A77538-F7F2-8869-F089-21534CB5E3DB}"/>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7.1.1 </a:t>
              </a:r>
              <a:r>
                <a:rPr lang="zh-CN" altLang="en-US" sz="2400" b="1" dirty="0">
                  <a:solidFill>
                    <a:schemeClr val="accent1"/>
                  </a:solidFill>
                  <a:latin typeface="+mj-lt"/>
                </a:rPr>
                <a:t>度量地图</a:t>
              </a:r>
            </a:p>
          </p:txBody>
        </p:sp>
      </p:grpSp>
    </p:spTree>
    <p:extLst>
      <p:ext uri="{BB962C8B-B14F-4D97-AF65-F5344CB8AC3E}">
        <p14:creationId xmlns:p14="http://schemas.microsoft.com/office/powerpoint/2010/main" val="4280991385"/>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组合 46">
            <a:extLst>
              <a:ext uri="{FF2B5EF4-FFF2-40B4-BE49-F238E27FC236}">
                <a16:creationId xmlns:a16="http://schemas.microsoft.com/office/drawing/2014/main" id="{4D690A96-3EA7-04C3-F56F-4C264FB9022E}"/>
              </a:ext>
            </a:extLst>
          </p:cNvPr>
          <p:cNvGrpSpPr/>
          <p:nvPr/>
        </p:nvGrpSpPr>
        <p:grpSpPr>
          <a:xfrm>
            <a:off x="380434" y="1648547"/>
            <a:ext cx="7885846" cy="4269655"/>
            <a:chOff x="380434" y="1648547"/>
            <a:chExt cx="5954223" cy="3223811"/>
          </a:xfrm>
        </p:grpSpPr>
        <p:sp>
          <p:nvSpPr>
            <p:cNvPr id="5" name="Shape 3"/>
            <p:cNvSpPr/>
            <p:nvPr/>
          </p:nvSpPr>
          <p:spPr>
            <a:xfrm>
              <a:off x="380434" y="1648547"/>
              <a:ext cx="5954223" cy="1367750"/>
            </a:xfrm>
            <a:custGeom>
              <a:avLst/>
              <a:gdLst/>
              <a:ahLst/>
              <a:cxnLst/>
              <a:rect l="l" t="t" r="r" b="b"/>
              <a:pathLst>
                <a:path w="7681141" h="1367750">
                  <a:moveTo>
                    <a:pt x="36232" y="0"/>
                  </a:moveTo>
                  <a:lnTo>
                    <a:pt x="7572446" y="0"/>
                  </a:lnTo>
                  <a:cubicBezTo>
                    <a:pt x="7632477" y="0"/>
                    <a:pt x="7681141" y="48664"/>
                    <a:pt x="7681141" y="108695"/>
                  </a:cubicBezTo>
                  <a:lnTo>
                    <a:pt x="7681141" y="1259055"/>
                  </a:lnTo>
                  <a:cubicBezTo>
                    <a:pt x="7681141" y="1319086"/>
                    <a:pt x="7632477" y="1367750"/>
                    <a:pt x="7572446" y="1367750"/>
                  </a:cubicBezTo>
                  <a:lnTo>
                    <a:pt x="36232" y="1367750"/>
                  </a:lnTo>
                  <a:cubicBezTo>
                    <a:pt x="16222" y="1367750"/>
                    <a:pt x="0" y="1351529"/>
                    <a:pt x="0" y="1331519"/>
                  </a:cubicBezTo>
                  <a:lnTo>
                    <a:pt x="0" y="36232"/>
                  </a:lnTo>
                  <a:cubicBezTo>
                    <a:pt x="0" y="16222"/>
                    <a:pt x="16222" y="0"/>
                    <a:pt x="36232" y="0"/>
                  </a:cubicBezTo>
                  <a:close/>
                </a:path>
              </a:pathLst>
            </a:custGeom>
            <a:solidFill>
              <a:srgbClr val="5F87A7">
                <a:alpha val="10196"/>
              </a:srgbClr>
            </a:solidFill>
          </p:spPr>
        </p:sp>
        <p:sp>
          <p:nvSpPr>
            <p:cNvPr id="6" name="Shape 4"/>
            <p:cNvSpPr/>
            <p:nvPr/>
          </p:nvSpPr>
          <p:spPr>
            <a:xfrm>
              <a:off x="380434" y="1648547"/>
              <a:ext cx="36232" cy="1367750"/>
            </a:xfrm>
            <a:custGeom>
              <a:avLst/>
              <a:gdLst/>
              <a:ahLst/>
              <a:cxnLst/>
              <a:rect l="l" t="t" r="r" b="b"/>
              <a:pathLst>
                <a:path w="36232" h="1367750">
                  <a:moveTo>
                    <a:pt x="36232" y="0"/>
                  </a:moveTo>
                  <a:lnTo>
                    <a:pt x="36232" y="0"/>
                  </a:lnTo>
                  <a:lnTo>
                    <a:pt x="36232" y="1367750"/>
                  </a:lnTo>
                  <a:lnTo>
                    <a:pt x="36232" y="1367750"/>
                  </a:lnTo>
                  <a:cubicBezTo>
                    <a:pt x="16222" y="1367750"/>
                    <a:pt x="0" y="1351529"/>
                    <a:pt x="0" y="1331519"/>
                  </a:cubicBezTo>
                  <a:lnTo>
                    <a:pt x="0" y="36232"/>
                  </a:lnTo>
                  <a:cubicBezTo>
                    <a:pt x="0" y="16222"/>
                    <a:pt x="16222" y="0"/>
                    <a:pt x="36232" y="0"/>
                  </a:cubicBezTo>
                  <a:close/>
                </a:path>
              </a:pathLst>
            </a:custGeom>
            <a:solidFill>
              <a:srgbClr val="E6B450"/>
            </a:solidFill>
          </p:spPr>
        </p:sp>
        <p:sp>
          <p:nvSpPr>
            <p:cNvPr id="7" name="Shape 5"/>
            <p:cNvSpPr/>
            <p:nvPr/>
          </p:nvSpPr>
          <p:spPr>
            <a:xfrm>
              <a:off x="588767" y="1902169"/>
              <a:ext cx="244565" cy="217391"/>
            </a:xfrm>
            <a:custGeom>
              <a:avLst/>
              <a:gdLst/>
              <a:ahLst/>
              <a:cxnLst/>
              <a:rect l="l" t="t" r="r" b="b"/>
              <a:pathLst>
                <a:path w="244565" h="217391">
                  <a:moveTo>
                    <a:pt x="122282" y="-6793"/>
                  </a:moveTo>
                  <a:cubicBezTo>
                    <a:pt x="129798" y="-6793"/>
                    <a:pt x="135869" y="-722"/>
                    <a:pt x="135869" y="6793"/>
                  </a:cubicBezTo>
                  <a:lnTo>
                    <a:pt x="135869" y="14563"/>
                  </a:lnTo>
                  <a:cubicBezTo>
                    <a:pt x="177522" y="20508"/>
                    <a:pt x="210470" y="53456"/>
                    <a:pt x="216414" y="95108"/>
                  </a:cubicBezTo>
                  <a:lnTo>
                    <a:pt x="224184" y="95108"/>
                  </a:lnTo>
                  <a:cubicBezTo>
                    <a:pt x="231700" y="95108"/>
                    <a:pt x="237771" y="101180"/>
                    <a:pt x="237771" y="108695"/>
                  </a:cubicBezTo>
                  <a:cubicBezTo>
                    <a:pt x="237771" y="116211"/>
                    <a:pt x="231700" y="122282"/>
                    <a:pt x="224184" y="122282"/>
                  </a:cubicBezTo>
                  <a:lnTo>
                    <a:pt x="216414" y="122282"/>
                  </a:lnTo>
                  <a:cubicBezTo>
                    <a:pt x="210470" y="163935"/>
                    <a:pt x="177522" y="196883"/>
                    <a:pt x="135869" y="202827"/>
                  </a:cubicBezTo>
                  <a:lnTo>
                    <a:pt x="135869" y="210597"/>
                  </a:lnTo>
                  <a:cubicBezTo>
                    <a:pt x="135869" y="218113"/>
                    <a:pt x="129798" y="224184"/>
                    <a:pt x="122282" y="224184"/>
                  </a:cubicBezTo>
                  <a:cubicBezTo>
                    <a:pt x="114767" y="224184"/>
                    <a:pt x="108695" y="218113"/>
                    <a:pt x="108695" y="210597"/>
                  </a:cubicBezTo>
                  <a:lnTo>
                    <a:pt x="108695" y="202827"/>
                  </a:lnTo>
                  <a:cubicBezTo>
                    <a:pt x="67043" y="196883"/>
                    <a:pt x="34095" y="163935"/>
                    <a:pt x="28150" y="122282"/>
                  </a:cubicBezTo>
                  <a:lnTo>
                    <a:pt x="20380" y="122282"/>
                  </a:lnTo>
                  <a:cubicBezTo>
                    <a:pt x="12865" y="122282"/>
                    <a:pt x="6793" y="116211"/>
                    <a:pt x="6793" y="108695"/>
                  </a:cubicBezTo>
                  <a:cubicBezTo>
                    <a:pt x="6793" y="101180"/>
                    <a:pt x="12865" y="95108"/>
                    <a:pt x="20380" y="95108"/>
                  </a:cubicBezTo>
                  <a:lnTo>
                    <a:pt x="28150" y="95108"/>
                  </a:lnTo>
                  <a:cubicBezTo>
                    <a:pt x="34095" y="53456"/>
                    <a:pt x="67043" y="20508"/>
                    <a:pt x="108695" y="14563"/>
                  </a:cubicBezTo>
                  <a:lnTo>
                    <a:pt x="108695" y="6793"/>
                  </a:lnTo>
                  <a:cubicBezTo>
                    <a:pt x="108695" y="-722"/>
                    <a:pt x="114767" y="-6793"/>
                    <a:pt x="122282" y="-6793"/>
                  </a:cubicBezTo>
                  <a:close/>
                  <a:moveTo>
                    <a:pt x="55706" y="122282"/>
                  </a:moveTo>
                  <a:cubicBezTo>
                    <a:pt x="61099" y="148904"/>
                    <a:pt x="82074" y="169879"/>
                    <a:pt x="108695" y="175271"/>
                  </a:cubicBezTo>
                  <a:lnTo>
                    <a:pt x="108695" y="169837"/>
                  </a:lnTo>
                  <a:cubicBezTo>
                    <a:pt x="108695" y="162321"/>
                    <a:pt x="114767" y="156250"/>
                    <a:pt x="122282" y="156250"/>
                  </a:cubicBezTo>
                  <a:cubicBezTo>
                    <a:pt x="129798" y="156250"/>
                    <a:pt x="135869" y="162321"/>
                    <a:pt x="135869" y="169837"/>
                  </a:cubicBezTo>
                  <a:lnTo>
                    <a:pt x="135869" y="175271"/>
                  </a:lnTo>
                  <a:cubicBezTo>
                    <a:pt x="162491" y="169879"/>
                    <a:pt x="183466" y="148904"/>
                    <a:pt x="188858" y="122282"/>
                  </a:cubicBezTo>
                  <a:lnTo>
                    <a:pt x="183423" y="122282"/>
                  </a:lnTo>
                  <a:cubicBezTo>
                    <a:pt x="175908" y="122282"/>
                    <a:pt x="169837" y="116211"/>
                    <a:pt x="169837" y="108695"/>
                  </a:cubicBezTo>
                  <a:cubicBezTo>
                    <a:pt x="169837" y="101180"/>
                    <a:pt x="175908" y="95108"/>
                    <a:pt x="183423" y="95108"/>
                  </a:cubicBezTo>
                  <a:lnTo>
                    <a:pt x="188858" y="95108"/>
                  </a:lnTo>
                  <a:cubicBezTo>
                    <a:pt x="183466" y="68487"/>
                    <a:pt x="162491" y="47512"/>
                    <a:pt x="135869" y="42119"/>
                  </a:cubicBezTo>
                  <a:lnTo>
                    <a:pt x="135869" y="47554"/>
                  </a:lnTo>
                  <a:cubicBezTo>
                    <a:pt x="135869" y="55070"/>
                    <a:pt x="129798" y="61141"/>
                    <a:pt x="122282" y="61141"/>
                  </a:cubicBezTo>
                  <a:cubicBezTo>
                    <a:pt x="114767" y="61141"/>
                    <a:pt x="108695" y="55070"/>
                    <a:pt x="108695" y="47554"/>
                  </a:cubicBezTo>
                  <a:lnTo>
                    <a:pt x="108695" y="42119"/>
                  </a:lnTo>
                  <a:cubicBezTo>
                    <a:pt x="82074" y="47512"/>
                    <a:pt x="61099" y="68487"/>
                    <a:pt x="55706" y="95108"/>
                  </a:cubicBezTo>
                  <a:lnTo>
                    <a:pt x="61141" y="95108"/>
                  </a:lnTo>
                  <a:cubicBezTo>
                    <a:pt x="68656" y="95108"/>
                    <a:pt x="74728" y="101180"/>
                    <a:pt x="74728" y="108695"/>
                  </a:cubicBezTo>
                  <a:cubicBezTo>
                    <a:pt x="74728" y="116211"/>
                    <a:pt x="68656" y="122282"/>
                    <a:pt x="61141" y="122282"/>
                  </a:cubicBezTo>
                  <a:lnTo>
                    <a:pt x="55706" y="122282"/>
                  </a:lnTo>
                  <a:close/>
                  <a:moveTo>
                    <a:pt x="122282" y="88315"/>
                  </a:moveTo>
                  <a:cubicBezTo>
                    <a:pt x="133531" y="88315"/>
                    <a:pt x="142663" y="97447"/>
                    <a:pt x="142663" y="108695"/>
                  </a:cubicBezTo>
                  <a:cubicBezTo>
                    <a:pt x="142663" y="119944"/>
                    <a:pt x="133531" y="129076"/>
                    <a:pt x="122282" y="129076"/>
                  </a:cubicBezTo>
                  <a:cubicBezTo>
                    <a:pt x="111034" y="129076"/>
                    <a:pt x="101902" y="119944"/>
                    <a:pt x="101902" y="108695"/>
                  </a:cubicBezTo>
                  <a:cubicBezTo>
                    <a:pt x="101902" y="97447"/>
                    <a:pt x="111034" y="88315"/>
                    <a:pt x="122282" y="88315"/>
                  </a:cubicBezTo>
                  <a:close/>
                </a:path>
              </a:pathLst>
            </a:custGeom>
            <a:solidFill>
              <a:srgbClr val="E6B450"/>
            </a:solidFill>
          </p:spPr>
        </p:sp>
        <p:sp>
          <p:nvSpPr>
            <p:cNvPr id="8" name="Text 6"/>
            <p:cNvSpPr/>
            <p:nvPr/>
          </p:nvSpPr>
          <p:spPr>
            <a:xfrm>
              <a:off x="952642" y="1865938"/>
              <a:ext cx="5382015" cy="289854"/>
            </a:xfrm>
            <a:prstGeom prst="rect">
              <a:avLst/>
            </a:prstGeom>
            <a:noFill/>
          </p:spPr>
          <p:txBody>
            <a:bodyPr wrap="square" lIns="0" tIns="0" rIns="0" bIns="0" rtlCol="0" anchor="ctr"/>
            <a:lstStyle/>
            <a:p>
              <a:pPr>
                <a:lnSpc>
                  <a:spcPct val="110000"/>
                </a:lnSpc>
              </a:pP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占用栅格地图</a:t>
              </a:r>
              <a:r>
                <a:rPr lang="en-US" b="1" dirty="0" err="1">
                  <a:latin typeface="微软雅黑" panose="020B0503020204020204" pitchFamily="34" charset="-122"/>
                  <a:ea typeface="微软雅黑" panose="020B0503020204020204" pitchFamily="34" charset="-122"/>
                  <a:cs typeface="微软雅黑" panose="020B0503020204020204" pitchFamily="34" charset="-122"/>
                </a:rPr>
                <a:t>精度特点</a:t>
              </a:r>
              <a:endParaRPr lang="en-US" dirty="0"/>
            </a:p>
          </p:txBody>
        </p:sp>
        <p:sp>
          <p:nvSpPr>
            <p:cNvPr id="9" name="Text 7"/>
            <p:cNvSpPr/>
            <p:nvPr/>
          </p:nvSpPr>
          <p:spPr>
            <a:xfrm>
              <a:off x="952642" y="2264487"/>
              <a:ext cx="5361127" cy="534419"/>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占用栅格地图常用来表示具有</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厘米级精度</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的地图，其精度取决于</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单元格的尺寸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，尺寸越小则精度越高，但这受限于任务和传感器精度。</a:t>
              </a:r>
              <a:endParaRPr lang="en-US" sz="1600" dirty="0"/>
            </a:p>
          </p:txBody>
        </p:sp>
        <p:sp>
          <p:nvSpPr>
            <p:cNvPr id="14" name="Shape 12"/>
            <p:cNvSpPr/>
            <p:nvPr/>
          </p:nvSpPr>
          <p:spPr>
            <a:xfrm>
              <a:off x="380434" y="3504608"/>
              <a:ext cx="5949273" cy="1367750"/>
            </a:xfrm>
            <a:custGeom>
              <a:avLst/>
              <a:gdLst/>
              <a:ahLst/>
              <a:cxnLst/>
              <a:rect l="l" t="t" r="r" b="b"/>
              <a:pathLst>
                <a:path w="7681141" h="1367750">
                  <a:moveTo>
                    <a:pt x="36232" y="0"/>
                  </a:moveTo>
                  <a:lnTo>
                    <a:pt x="7572446" y="0"/>
                  </a:lnTo>
                  <a:cubicBezTo>
                    <a:pt x="7632477" y="0"/>
                    <a:pt x="7681141" y="48664"/>
                    <a:pt x="7681141" y="108695"/>
                  </a:cubicBezTo>
                  <a:lnTo>
                    <a:pt x="7681141" y="1259055"/>
                  </a:lnTo>
                  <a:cubicBezTo>
                    <a:pt x="7681141" y="1319086"/>
                    <a:pt x="7632477" y="1367750"/>
                    <a:pt x="7572446" y="1367750"/>
                  </a:cubicBezTo>
                  <a:lnTo>
                    <a:pt x="36232" y="1367750"/>
                  </a:lnTo>
                  <a:cubicBezTo>
                    <a:pt x="16222" y="1367750"/>
                    <a:pt x="0" y="1351529"/>
                    <a:pt x="0" y="1331519"/>
                  </a:cubicBezTo>
                  <a:lnTo>
                    <a:pt x="0" y="36232"/>
                  </a:lnTo>
                  <a:cubicBezTo>
                    <a:pt x="0" y="16222"/>
                    <a:pt x="16222" y="0"/>
                    <a:pt x="36232" y="0"/>
                  </a:cubicBezTo>
                  <a:close/>
                </a:path>
              </a:pathLst>
            </a:custGeom>
            <a:solidFill>
              <a:srgbClr val="5F87A7">
                <a:alpha val="10196"/>
              </a:srgbClr>
            </a:solidFill>
          </p:spPr>
        </p:sp>
        <p:sp>
          <p:nvSpPr>
            <p:cNvPr id="15" name="Shape 13"/>
            <p:cNvSpPr/>
            <p:nvPr/>
          </p:nvSpPr>
          <p:spPr>
            <a:xfrm>
              <a:off x="380434" y="3504608"/>
              <a:ext cx="36232" cy="1367750"/>
            </a:xfrm>
            <a:custGeom>
              <a:avLst/>
              <a:gdLst/>
              <a:ahLst/>
              <a:cxnLst/>
              <a:rect l="l" t="t" r="r" b="b"/>
              <a:pathLst>
                <a:path w="36232" h="1367750">
                  <a:moveTo>
                    <a:pt x="36232" y="0"/>
                  </a:moveTo>
                  <a:lnTo>
                    <a:pt x="36232" y="0"/>
                  </a:lnTo>
                  <a:lnTo>
                    <a:pt x="36232" y="1367750"/>
                  </a:lnTo>
                  <a:lnTo>
                    <a:pt x="36232" y="1367750"/>
                  </a:lnTo>
                  <a:cubicBezTo>
                    <a:pt x="16222" y="1367750"/>
                    <a:pt x="0" y="1351529"/>
                    <a:pt x="0" y="1331519"/>
                  </a:cubicBezTo>
                  <a:lnTo>
                    <a:pt x="0" y="36232"/>
                  </a:lnTo>
                  <a:cubicBezTo>
                    <a:pt x="0" y="16222"/>
                    <a:pt x="16222" y="0"/>
                    <a:pt x="36232" y="0"/>
                  </a:cubicBezTo>
                  <a:close/>
                </a:path>
              </a:pathLst>
            </a:custGeom>
            <a:solidFill>
              <a:srgbClr val="E6B450"/>
            </a:solidFill>
          </p:spPr>
        </p:sp>
        <p:sp>
          <p:nvSpPr>
            <p:cNvPr id="16" name="Shape 14"/>
            <p:cNvSpPr/>
            <p:nvPr/>
          </p:nvSpPr>
          <p:spPr>
            <a:xfrm>
              <a:off x="570651" y="3758231"/>
              <a:ext cx="244565" cy="217391"/>
            </a:xfrm>
            <a:custGeom>
              <a:avLst/>
              <a:gdLst/>
              <a:ahLst/>
              <a:cxnLst/>
              <a:rect l="l" t="t" r="r" b="b"/>
              <a:pathLst>
                <a:path w="244565" h="217391">
                  <a:moveTo>
                    <a:pt x="37322" y="4883"/>
                  </a:moveTo>
                  <a:cubicBezTo>
                    <a:pt x="32524" y="1953"/>
                    <a:pt x="26240" y="3524"/>
                    <a:pt x="23310" y="8322"/>
                  </a:cubicBezTo>
                  <a:cubicBezTo>
                    <a:pt x="12780" y="25730"/>
                    <a:pt x="6751" y="46153"/>
                    <a:pt x="6751" y="67935"/>
                  </a:cubicBezTo>
                  <a:cubicBezTo>
                    <a:pt x="6751" y="89716"/>
                    <a:pt x="12780" y="110139"/>
                    <a:pt x="23310" y="127547"/>
                  </a:cubicBezTo>
                  <a:cubicBezTo>
                    <a:pt x="26240" y="132345"/>
                    <a:pt x="32481" y="133916"/>
                    <a:pt x="37322" y="130986"/>
                  </a:cubicBezTo>
                  <a:cubicBezTo>
                    <a:pt x="42162" y="128057"/>
                    <a:pt x="43690" y="121815"/>
                    <a:pt x="40761" y="116975"/>
                  </a:cubicBezTo>
                  <a:cubicBezTo>
                    <a:pt x="32142" y="102709"/>
                    <a:pt x="27174" y="85895"/>
                    <a:pt x="27174" y="67935"/>
                  </a:cubicBezTo>
                  <a:cubicBezTo>
                    <a:pt x="27174" y="49974"/>
                    <a:pt x="32142" y="33161"/>
                    <a:pt x="40803" y="18852"/>
                  </a:cubicBezTo>
                  <a:cubicBezTo>
                    <a:pt x="43733" y="14054"/>
                    <a:pt x="42162" y="7770"/>
                    <a:pt x="37364" y="4840"/>
                  </a:cubicBezTo>
                  <a:close/>
                  <a:moveTo>
                    <a:pt x="207201" y="4883"/>
                  </a:moveTo>
                  <a:cubicBezTo>
                    <a:pt x="202403" y="7812"/>
                    <a:pt x="200832" y="14054"/>
                    <a:pt x="203761" y="18894"/>
                  </a:cubicBezTo>
                  <a:cubicBezTo>
                    <a:pt x="212423" y="33203"/>
                    <a:pt x="217391" y="50017"/>
                    <a:pt x="217391" y="67977"/>
                  </a:cubicBezTo>
                  <a:cubicBezTo>
                    <a:pt x="217391" y="85937"/>
                    <a:pt x="212423" y="102751"/>
                    <a:pt x="203761" y="117060"/>
                  </a:cubicBezTo>
                  <a:cubicBezTo>
                    <a:pt x="200832" y="121858"/>
                    <a:pt x="202403" y="128142"/>
                    <a:pt x="207201" y="131071"/>
                  </a:cubicBezTo>
                  <a:cubicBezTo>
                    <a:pt x="211998" y="134001"/>
                    <a:pt x="218282" y="132430"/>
                    <a:pt x="221212" y="127632"/>
                  </a:cubicBezTo>
                  <a:cubicBezTo>
                    <a:pt x="231742" y="110224"/>
                    <a:pt x="237771" y="89801"/>
                    <a:pt x="237771" y="68020"/>
                  </a:cubicBezTo>
                  <a:cubicBezTo>
                    <a:pt x="237771" y="46238"/>
                    <a:pt x="231742" y="25730"/>
                    <a:pt x="221212" y="8322"/>
                  </a:cubicBezTo>
                  <a:cubicBezTo>
                    <a:pt x="218282" y="3524"/>
                    <a:pt x="212041" y="1953"/>
                    <a:pt x="207201" y="4883"/>
                  </a:cubicBezTo>
                  <a:close/>
                  <a:moveTo>
                    <a:pt x="135869" y="91457"/>
                  </a:moveTo>
                  <a:cubicBezTo>
                    <a:pt x="143979" y="86744"/>
                    <a:pt x="149456" y="77997"/>
                    <a:pt x="149456" y="67935"/>
                  </a:cubicBezTo>
                  <a:cubicBezTo>
                    <a:pt x="149456" y="52947"/>
                    <a:pt x="137270" y="40761"/>
                    <a:pt x="122282" y="40761"/>
                  </a:cubicBezTo>
                  <a:cubicBezTo>
                    <a:pt x="107294" y="40761"/>
                    <a:pt x="95108" y="52947"/>
                    <a:pt x="95108" y="67935"/>
                  </a:cubicBezTo>
                  <a:cubicBezTo>
                    <a:pt x="95108" y="77997"/>
                    <a:pt x="100586" y="86786"/>
                    <a:pt x="108695" y="91457"/>
                  </a:cubicBezTo>
                  <a:lnTo>
                    <a:pt x="108695" y="203804"/>
                  </a:lnTo>
                  <a:cubicBezTo>
                    <a:pt x="108695" y="211319"/>
                    <a:pt x="114767" y="217391"/>
                    <a:pt x="122282" y="217391"/>
                  </a:cubicBezTo>
                  <a:cubicBezTo>
                    <a:pt x="129798" y="217391"/>
                    <a:pt x="135869" y="211319"/>
                    <a:pt x="135869" y="203804"/>
                  </a:cubicBezTo>
                  <a:lnTo>
                    <a:pt x="135869" y="91457"/>
                  </a:lnTo>
                  <a:close/>
                  <a:moveTo>
                    <a:pt x="76511" y="38638"/>
                  </a:moveTo>
                  <a:cubicBezTo>
                    <a:pt x="79568" y="33882"/>
                    <a:pt x="78167" y="27598"/>
                    <a:pt x="73454" y="24541"/>
                  </a:cubicBezTo>
                  <a:cubicBezTo>
                    <a:pt x="68741" y="21484"/>
                    <a:pt x="62415" y="22885"/>
                    <a:pt x="59358" y="27598"/>
                  </a:cubicBezTo>
                  <a:cubicBezTo>
                    <a:pt x="51885" y="39232"/>
                    <a:pt x="47554" y="53074"/>
                    <a:pt x="47554" y="67935"/>
                  </a:cubicBezTo>
                  <a:cubicBezTo>
                    <a:pt x="47554" y="82795"/>
                    <a:pt x="51885" y="96637"/>
                    <a:pt x="59358" y="108271"/>
                  </a:cubicBezTo>
                  <a:cubicBezTo>
                    <a:pt x="62415" y="113026"/>
                    <a:pt x="68699" y="114385"/>
                    <a:pt x="73454" y="111328"/>
                  </a:cubicBezTo>
                  <a:cubicBezTo>
                    <a:pt x="78210" y="108271"/>
                    <a:pt x="79568" y="101987"/>
                    <a:pt x="76511" y="97231"/>
                  </a:cubicBezTo>
                  <a:cubicBezTo>
                    <a:pt x="71077" y="88782"/>
                    <a:pt x="67935" y="78719"/>
                    <a:pt x="67935" y="67935"/>
                  </a:cubicBezTo>
                  <a:cubicBezTo>
                    <a:pt x="67935" y="57150"/>
                    <a:pt x="71077" y="47087"/>
                    <a:pt x="76511" y="38638"/>
                  </a:cubicBezTo>
                  <a:close/>
                  <a:moveTo>
                    <a:pt x="185207" y="27598"/>
                  </a:moveTo>
                  <a:cubicBezTo>
                    <a:pt x="182150" y="22843"/>
                    <a:pt x="175866" y="21484"/>
                    <a:pt x="171110" y="24541"/>
                  </a:cubicBezTo>
                  <a:cubicBezTo>
                    <a:pt x="166355" y="27598"/>
                    <a:pt x="164996" y="33882"/>
                    <a:pt x="168053" y="38638"/>
                  </a:cubicBezTo>
                  <a:cubicBezTo>
                    <a:pt x="173488" y="47087"/>
                    <a:pt x="176630" y="57150"/>
                    <a:pt x="176630" y="67935"/>
                  </a:cubicBezTo>
                  <a:cubicBezTo>
                    <a:pt x="176630" y="78719"/>
                    <a:pt x="173488" y="88782"/>
                    <a:pt x="168053" y="97231"/>
                  </a:cubicBezTo>
                  <a:cubicBezTo>
                    <a:pt x="164996" y="101987"/>
                    <a:pt x="166397" y="108271"/>
                    <a:pt x="171110" y="111328"/>
                  </a:cubicBezTo>
                  <a:cubicBezTo>
                    <a:pt x="175823" y="114385"/>
                    <a:pt x="182150" y="112984"/>
                    <a:pt x="185207" y="108271"/>
                  </a:cubicBezTo>
                  <a:cubicBezTo>
                    <a:pt x="192680" y="96637"/>
                    <a:pt x="197010" y="82795"/>
                    <a:pt x="197010" y="67935"/>
                  </a:cubicBezTo>
                  <a:cubicBezTo>
                    <a:pt x="197010" y="53074"/>
                    <a:pt x="192680" y="39232"/>
                    <a:pt x="185207" y="27598"/>
                  </a:cubicBezTo>
                  <a:close/>
                </a:path>
              </a:pathLst>
            </a:custGeom>
            <a:solidFill>
              <a:srgbClr val="E6B450"/>
            </a:solidFill>
          </p:spPr>
        </p:sp>
        <p:sp>
          <p:nvSpPr>
            <p:cNvPr id="17" name="Text 15"/>
            <p:cNvSpPr/>
            <p:nvPr/>
          </p:nvSpPr>
          <p:spPr>
            <a:xfrm>
              <a:off x="912447" y="3721999"/>
              <a:ext cx="5409865" cy="289854"/>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传感器适配</a:t>
              </a:r>
              <a:endParaRPr lang="en-US" dirty="0"/>
            </a:p>
          </p:txBody>
        </p:sp>
        <p:sp>
          <p:nvSpPr>
            <p:cNvPr id="18" name="Text 16"/>
            <p:cNvSpPr/>
            <p:nvPr/>
          </p:nvSpPr>
          <p:spPr>
            <a:xfrm>
              <a:off x="912447" y="4120549"/>
              <a:ext cx="5388977" cy="534419"/>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基于占用栅格的地图表示方法特别适合用来处理来自</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超声波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激光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毫米波雷达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等传感器的距离测量数据，它可以直观地利用这些距离测量数据来"标记"出障碍物的位置。</a:t>
              </a:r>
              <a:endParaRPr lang="en-US" sz="1600" dirty="0"/>
            </a:p>
          </p:txBody>
        </p:sp>
      </p:grpSp>
      <p:grpSp>
        <p:nvGrpSpPr>
          <p:cNvPr id="43" name="组合 42">
            <a:extLst>
              <a:ext uri="{FF2B5EF4-FFF2-40B4-BE49-F238E27FC236}">
                <a16:creationId xmlns:a16="http://schemas.microsoft.com/office/drawing/2014/main" id="{7B4734BC-1485-82AD-B8F8-A0C5ECE758F2}"/>
              </a:ext>
            </a:extLst>
          </p:cNvPr>
          <p:cNvGrpSpPr/>
          <p:nvPr/>
        </p:nvGrpSpPr>
        <p:grpSpPr>
          <a:xfrm>
            <a:off x="0" y="939798"/>
            <a:ext cx="5022850" cy="625474"/>
            <a:chOff x="0" y="1075267"/>
            <a:chExt cx="5022850" cy="625474"/>
          </a:xfrm>
        </p:grpSpPr>
        <p:sp>
          <p:nvSpPr>
            <p:cNvPr id="44" name="矩形 43">
              <a:extLst>
                <a:ext uri="{FF2B5EF4-FFF2-40B4-BE49-F238E27FC236}">
                  <a16:creationId xmlns:a16="http://schemas.microsoft.com/office/drawing/2014/main" id="{64DB8E2D-C85C-D8EF-DDBE-A5D154D31813}"/>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19ED112C-42FB-6432-5A46-33565065496E}"/>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7.1.1 </a:t>
              </a:r>
              <a:r>
                <a:rPr lang="zh-CN" altLang="en-US" sz="2400" b="1" dirty="0">
                  <a:solidFill>
                    <a:schemeClr val="accent1"/>
                  </a:solidFill>
                  <a:latin typeface="+mj-lt"/>
                </a:rPr>
                <a:t>度量地图</a:t>
              </a:r>
            </a:p>
          </p:txBody>
        </p:sp>
      </p:grpSp>
      <p:pic>
        <p:nvPicPr>
          <p:cNvPr id="46" name="图片 45">
            <a:extLst>
              <a:ext uri="{FF2B5EF4-FFF2-40B4-BE49-F238E27FC236}">
                <a16:creationId xmlns:a16="http://schemas.microsoft.com/office/drawing/2014/main" id="{F607953E-AA49-EA0F-0C4E-C753AAEA312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8419081" y="1393779"/>
            <a:ext cx="3102610" cy="4895850"/>
          </a:xfrm>
          <a:prstGeom prst="rect">
            <a:avLst/>
          </a:prstGeom>
          <a:noFill/>
          <a:ln>
            <a:noFill/>
          </a:ln>
        </p:spPr>
      </p:pic>
    </p:spTree>
    <p:extLst>
      <p:ext uri="{BB962C8B-B14F-4D97-AF65-F5344CB8AC3E}">
        <p14:creationId xmlns:p14="http://schemas.microsoft.com/office/powerpoint/2010/main" val="3957249701"/>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52176" y="1712361"/>
            <a:ext cx="6353424" cy="2067159"/>
          </a:xfrm>
          <a:custGeom>
            <a:avLst/>
            <a:gdLst/>
            <a:ahLst/>
            <a:cxnLst/>
            <a:rect l="l" t="t" r="r" b="b"/>
            <a:pathLst>
              <a:path w="7487934" h="1509326">
                <a:moveTo>
                  <a:pt x="33541" y="0"/>
                </a:moveTo>
                <a:lnTo>
                  <a:pt x="7387307" y="0"/>
                </a:lnTo>
                <a:cubicBezTo>
                  <a:pt x="7442882" y="0"/>
                  <a:pt x="7487934" y="45052"/>
                  <a:pt x="7487934" y="100627"/>
                </a:cubicBezTo>
                <a:lnTo>
                  <a:pt x="7487934" y="1408699"/>
                </a:lnTo>
                <a:cubicBezTo>
                  <a:pt x="7487934" y="1464274"/>
                  <a:pt x="7442882" y="1509326"/>
                  <a:pt x="7387307" y="1509326"/>
                </a:cubicBezTo>
                <a:lnTo>
                  <a:pt x="33541" y="1509326"/>
                </a:lnTo>
                <a:cubicBezTo>
                  <a:pt x="15017" y="1509326"/>
                  <a:pt x="0" y="1494309"/>
                  <a:pt x="0" y="1475785"/>
                </a:cubicBezTo>
                <a:lnTo>
                  <a:pt x="0" y="33541"/>
                </a:lnTo>
                <a:cubicBezTo>
                  <a:pt x="0" y="15029"/>
                  <a:pt x="15029" y="0"/>
                  <a:pt x="33541" y="0"/>
                </a:cubicBezTo>
                <a:close/>
              </a:path>
            </a:pathLst>
          </a:custGeom>
          <a:solidFill>
            <a:srgbClr val="5F87A7">
              <a:alpha val="10196"/>
            </a:srgbClr>
          </a:solidFill>
        </p:spPr>
      </p:sp>
      <p:sp>
        <p:nvSpPr>
          <p:cNvPr id="6" name="Shape 4"/>
          <p:cNvSpPr/>
          <p:nvPr/>
        </p:nvSpPr>
        <p:spPr>
          <a:xfrm>
            <a:off x="352176" y="1712361"/>
            <a:ext cx="33541" cy="2067159"/>
          </a:xfrm>
          <a:custGeom>
            <a:avLst/>
            <a:gdLst/>
            <a:ahLst/>
            <a:cxnLst/>
            <a:rect l="l" t="t" r="r" b="b"/>
            <a:pathLst>
              <a:path w="33541" h="1509326">
                <a:moveTo>
                  <a:pt x="33541" y="0"/>
                </a:moveTo>
                <a:lnTo>
                  <a:pt x="33541" y="0"/>
                </a:lnTo>
                <a:lnTo>
                  <a:pt x="33541" y="1509326"/>
                </a:lnTo>
                <a:lnTo>
                  <a:pt x="33541" y="1509326"/>
                </a:lnTo>
                <a:cubicBezTo>
                  <a:pt x="15017" y="1509326"/>
                  <a:pt x="0" y="1494309"/>
                  <a:pt x="0" y="1475785"/>
                </a:cubicBezTo>
                <a:lnTo>
                  <a:pt x="0" y="33541"/>
                </a:lnTo>
                <a:cubicBezTo>
                  <a:pt x="0" y="15029"/>
                  <a:pt x="15029" y="0"/>
                  <a:pt x="33541" y="0"/>
                </a:cubicBezTo>
                <a:close/>
              </a:path>
            </a:pathLst>
          </a:custGeom>
          <a:solidFill>
            <a:srgbClr val="E6B450"/>
          </a:solidFill>
        </p:spPr>
      </p:sp>
      <p:sp>
        <p:nvSpPr>
          <p:cNvPr id="7" name="Shape 5"/>
          <p:cNvSpPr/>
          <p:nvPr/>
        </p:nvSpPr>
        <p:spPr>
          <a:xfrm>
            <a:off x="532457" y="1947146"/>
            <a:ext cx="201243" cy="201243"/>
          </a:xfrm>
          <a:custGeom>
            <a:avLst/>
            <a:gdLst/>
            <a:ahLst/>
            <a:cxnLst/>
            <a:rect l="l" t="t" r="r" b="b"/>
            <a:pathLst>
              <a:path w="201243" h="201243">
                <a:moveTo>
                  <a:pt x="84389" y="275"/>
                </a:moveTo>
                <a:cubicBezTo>
                  <a:pt x="91188" y="1729"/>
                  <a:pt x="95512" y="8411"/>
                  <a:pt x="94058" y="15211"/>
                </a:cubicBezTo>
                <a:lnTo>
                  <a:pt x="86550" y="50311"/>
                </a:lnTo>
                <a:lnTo>
                  <a:pt x="136272" y="50311"/>
                </a:lnTo>
                <a:lnTo>
                  <a:pt x="144919" y="9944"/>
                </a:lnTo>
                <a:cubicBezTo>
                  <a:pt x="146373" y="3144"/>
                  <a:pt x="153055" y="-1179"/>
                  <a:pt x="159855" y="275"/>
                </a:cubicBezTo>
                <a:cubicBezTo>
                  <a:pt x="166655" y="1729"/>
                  <a:pt x="170978" y="8411"/>
                  <a:pt x="169524" y="15211"/>
                </a:cubicBezTo>
                <a:lnTo>
                  <a:pt x="162017" y="50311"/>
                </a:lnTo>
                <a:lnTo>
                  <a:pt x="188666" y="50311"/>
                </a:lnTo>
                <a:cubicBezTo>
                  <a:pt x="195623" y="50311"/>
                  <a:pt x="201243" y="55932"/>
                  <a:pt x="201243" y="62889"/>
                </a:cubicBezTo>
                <a:cubicBezTo>
                  <a:pt x="201243" y="69846"/>
                  <a:pt x="195623" y="75466"/>
                  <a:pt x="188666" y="75466"/>
                </a:cubicBezTo>
                <a:lnTo>
                  <a:pt x="156593" y="75466"/>
                </a:lnTo>
                <a:lnTo>
                  <a:pt x="145823" y="125777"/>
                </a:lnTo>
                <a:lnTo>
                  <a:pt x="172472" y="125777"/>
                </a:lnTo>
                <a:cubicBezTo>
                  <a:pt x="179429" y="125777"/>
                  <a:pt x="185050" y="131398"/>
                  <a:pt x="185050" y="138355"/>
                </a:cubicBezTo>
                <a:cubicBezTo>
                  <a:pt x="185050" y="145312"/>
                  <a:pt x="179429" y="150933"/>
                  <a:pt x="172472" y="150933"/>
                </a:cubicBezTo>
                <a:lnTo>
                  <a:pt x="140399" y="150933"/>
                </a:lnTo>
                <a:lnTo>
                  <a:pt x="131752" y="191299"/>
                </a:lnTo>
                <a:cubicBezTo>
                  <a:pt x="130297" y="198099"/>
                  <a:pt x="123615" y="202423"/>
                  <a:pt x="116816" y="200968"/>
                </a:cubicBezTo>
                <a:cubicBezTo>
                  <a:pt x="110016" y="199514"/>
                  <a:pt x="105692" y="192832"/>
                  <a:pt x="107146" y="186032"/>
                </a:cubicBezTo>
                <a:lnTo>
                  <a:pt x="114654" y="150933"/>
                </a:lnTo>
                <a:lnTo>
                  <a:pt x="64932" y="150933"/>
                </a:lnTo>
                <a:lnTo>
                  <a:pt x="56285" y="191299"/>
                </a:lnTo>
                <a:cubicBezTo>
                  <a:pt x="54831" y="198099"/>
                  <a:pt x="48149" y="202423"/>
                  <a:pt x="41349" y="200968"/>
                </a:cubicBezTo>
                <a:cubicBezTo>
                  <a:pt x="34549" y="199514"/>
                  <a:pt x="30226" y="192832"/>
                  <a:pt x="31680" y="186032"/>
                </a:cubicBezTo>
                <a:lnTo>
                  <a:pt x="39227" y="150933"/>
                </a:lnTo>
                <a:lnTo>
                  <a:pt x="12578" y="150933"/>
                </a:lnTo>
                <a:cubicBezTo>
                  <a:pt x="5621" y="150933"/>
                  <a:pt x="0" y="145312"/>
                  <a:pt x="0" y="138355"/>
                </a:cubicBezTo>
                <a:cubicBezTo>
                  <a:pt x="0" y="131398"/>
                  <a:pt x="5621" y="125777"/>
                  <a:pt x="12578" y="125777"/>
                </a:cubicBezTo>
                <a:lnTo>
                  <a:pt x="44651" y="125777"/>
                </a:lnTo>
                <a:lnTo>
                  <a:pt x="55421" y="75466"/>
                </a:lnTo>
                <a:lnTo>
                  <a:pt x="28772" y="75466"/>
                </a:lnTo>
                <a:cubicBezTo>
                  <a:pt x="21814" y="75466"/>
                  <a:pt x="16194" y="69846"/>
                  <a:pt x="16194" y="62889"/>
                </a:cubicBezTo>
                <a:cubicBezTo>
                  <a:pt x="16194" y="55932"/>
                  <a:pt x="21814" y="50311"/>
                  <a:pt x="28772" y="50311"/>
                </a:cubicBezTo>
                <a:lnTo>
                  <a:pt x="60845" y="50311"/>
                </a:lnTo>
                <a:lnTo>
                  <a:pt x="69492" y="9944"/>
                </a:lnTo>
                <a:cubicBezTo>
                  <a:pt x="70907" y="3144"/>
                  <a:pt x="77589" y="-1179"/>
                  <a:pt x="84389" y="275"/>
                </a:cubicBezTo>
                <a:close/>
                <a:moveTo>
                  <a:pt x="81126" y="75466"/>
                </a:moveTo>
                <a:lnTo>
                  <a:pt x="70357" y="125777"/>
                </a:lnTo>
                <a:lnTo>
                  <a:pt x="120078" y="125777"/>
                </a:lnTo>
                <a:lnTo>
                  <a:pt x="130848" y="75466"/>
                </a:lnTo>
                <a:lnTo>
                  <a:pt x="81126" y="75466"/>
                </a:lnTo>
                <a:close/>
              </a:path>
            </a:pathLst>
          </a:custGeom>
          <a:solidFill>
            <a:srgbClr val="E6B450"/>
          </a:solidFill>
        </p:spPr>
      </p:sp>
      <p:sp>
        <p:nvSpPr>
          <p:cNvPr id="8" name="Text 6"/>
          <p:cNvSpPr/>
          <p:nvPr/>
        </p:nvSpPr>
        <p:spPr>
          <a:xfrm>
            <a:off x="833274" y="1913606"/>
            <a:ext cx="6900974" cy="268325"/>
          </a:xfrm>
          <a:prstGeom prst="rect">
            <a:avLst/>
          </a:prstGeom>
          <a:noFill/>
        </p:spPr>
        <p:txBody>
          <a:bodyPr wrap="square" lIns="0" tIns="0" rIns="0" bIns="0" rtlCol="0" anchor="ctr"/>
          <a:lstStyle/>
          <a:p>
            <a:pPr>
              <a:lnSpc>
                <a:spcPct val="110000"/>
              </a:lnSpc>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占用栅格的</a:t>
            </a:r>
            <a:r>
              <a:rPr lang="en-US" b="1" dirty="0" err="1">
                <a:latin typeface="微软雅黑" panose="020B0503020204020204" pitchFamily="34" charset="-122"/>
                <a:ea typeface="微软雅黑" panose="020B0503020204020204" pitchFamily="34" charset="-122"/>
                <a:cs typeface="微软雅黑" panose="020B0503020204020204" pitchFamily="34" charset="-122"/>
              </a:rPr>
              <a:t>计数器</a:t>
            </a:r>
            <a:endParaRPr lang="en-US" sz="2000" dirty="0"/>
          </a:p>
        </p:txBody>
      </p:sp>
      <p:sp>
        <p:nvSpPr>
          <p:cNvPr id="9" name="Text 7"/>
          <p:cNvSpPr/>
          <p:nvPr/>
        </p:nvSpPr>
        <p:spPr>
          <a:xfrm>
            <a:off x="833274" y="2282552"/>
            <a:ext cx="5662353" cy="1341181"/>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具体来说，占用栅格图中的</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每个单元格</a:t>
            </a:r>
            <a:r>
              <a:rPr lang="en-US" sz="1600" dirty="0">
                <a:latin typeface="微软雅黑" panose="020B0503020204020204" pitchFamily="34" charset="-122"/>
                <a:ea typeface="微软雅黑" panose="020B0503020204020204" pitchFamily="34" charset="-122"/>
                <a:cs typeface="微软雅黑" panose="020B0503020204020204" pitchFamily="34" charset="-122"/>
              </a:rPr>
              <a:t>都会关联一个</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计数器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，用以记录该方格被传感器检测到的次数。如果某单元格的计数器为</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零</a:t>
            </a:r>
            <a:r>
              <a:rPr lang="en-US" sz="1600" dirty="0">
                <a:latin typeface="微软雅黑" panose="020B0503020204020204" pitchFamily="34" charset="-122"/>
                <a:ea typeface="微软雅黑" panose="020B0503020204020204" pitchFamily="34" charset="-122"/>
                <a:cs typeface="微软雅黑" panose="020B0503020204020204" pitchFamily="34" charset="-122"/>
              </a:rPr>
              <a:t>，则认为该单元格是</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"未占用"</a:t>
            </a:r>
            <a:r>
              <a:rPr lang="en-US" sz="1600" dirty="0">
                <a:latin typeface="微软雅黑" panose="020B0503020204020204" pitchFamily="34" charset="-122"/>
                <a:ea typeface="微软雅黑" panose="020B0503020204020204" pitchFamily="34" charset="-122"/>
                <a:cs typeface="微软雅黑" panose="020B0503020204020204" pitchFamily="34" charset="-122"/>
              </a:rPr>
              <a:t>；相反，若计数器值超过预设的</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阈值</a:t>
            </a:r>
            <a:r>
              <a:rPr lang="en-US" sz="1600" dirty="0">
                <a:latin typeface="微软雅黑" panose="020B0503020204020204" pitchFamily="34" charset="-122"/>
                <a:ea typeface="微软雅黑" panose="020B0503020204020204" pitchFamily="34" charset="-122"/>
                <a:cs typeface="微软雅黑" panose="020B0503020204020204" pitchFamily="34" charset="-122"/>
              </a:rPr>
              <a:t>，则认为该单元格</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"已占用"</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400" dirty="0"/>
          </a:p>
        </p:txBody>
      </p:sp>
      <p:sp>
        <p:nvSpPr>
          <p:cNvPr id="23" name="Shape 21"/>
          <p:cNvSpPr/>
          <p:nvPr/>
        </p:nvSpPr>
        <p:spPr>
          <a:xfrm>
            <a:off x="339599" y="4099560"/>
            <a:ext cx="6366002" cy="1648132"/>
          </a:xfrm>
          <a:custGeom>
            <a:avLst/>
            <a:gdLst/>
            <a:ahLst/>
            <a:cxnLst/>
            <a:rect l="l" t="t" r="r" b="b"/>
            <a:pathLst>
              <a:path w="7496319" h="1115224">
                <a:moveTo>
                  <a:pt x="100627" y="0"/>
                </a:moveTo>
                <a:lnTo>
                  <a:pt x="7395692" y="0"/>
                </a:lnTo>
                <a:cubicBezTo>
                  <a:pt x="7451267" y="0"/>
                  <a:pt x="7496319" y="45052"/>
                  <a:pt x="7496319" y="100627"/>
                </a:cubicBezTo>
                <a:lnTo>
                  <a:pt x="7496319" y="1014598"/>
                </a:lnTo>
                <a:cubicBezTo>
                  <a:pt x="7496319" y="1070172"/>
                  <a:pt x="7451267" y="1115224"/>
                  <a:pt x="7395692" y="1115224"/>
                </a:cubicBezTo>
                <a:lnTo>
                  <a:pt x="100627" y="1115224"/>
                </a:lnTo>
                <a:cubicBezTo>
                  <a:pt x="45052" y="1115224"/>
                  <a:pt x="0" y="1070172"/>
                  <a:pt x="0" y="1014598"/>
                </a:cubicBezTo>
                <a:lnTo>
                  <a:pt x="0" y="100627"/>
                </a:lnTo>
                <a:cubicBezTo>
                  <a:pt x="0" y="45089"/>
                  <a:pt x="45089" y="0"/>
                  <a:pt x="100627" y="0"/>
                </a:cubicBezTo>
                <a:close/>
              </a:path>
            </a:pathLst>
          </a:custGeom>
          <a:solidFill>
            <a:srgbClr val="E6B450">
              <a:alpha val="10196"/>
            </a:srgbClr>
          </a:solidFill>
          <a:ln w="12700">
            <a:solidFill>
              <a:srgbClr val="E6B450">
                <a:alpha val="30196"/>
              </a:srgbClr>
            </a:solidFill>
            <a:prstDash val="solid"/>
          </a:ln>
        </p:spPr>
      </p:sp>
      <p:sp>
        <p:nvSpPr>
          <p:cNvPr id="24" name="Shape 22"/>
          <p:cNvSpPr/>
          <p:nvPr/>
        </p:nvSpPr>
        <p:spPr>
          <a:xfrm>
            <a:off x="532457" y="4299424"/>
            <a:ext cx="167703" cy="167703"/>
          </a:xfrm>
          <a:custGeom>
            <a:avLst/>
            <a:gdLst/>
            <a:ahLst/>
            <a:cxnLst/>
            <a:rect l="l" t="t" r="r" b="b"/>
            <a:pathLst>
              <a:path w="167703" h="167703">
                <a:moveTo>
                  <a:pt x="157254" y="62889"/>
                </a:moveTo>
                <a:lnTo>
                  <a:pt x="159842" y="62889"/>
                </a:lnTo>
                <a:cubicBezTo>
                  <a:pt x="164198" y="62889"/>
                  <a:pt x="167703" y="59384"/>
                  <a:pt x="167703" y="55028"/>
                </a:cubicBezTo>
                <a:lnTo>
                  <a:pt x="167703" y="7861"/>
                </a:lnTo>
                <a:cubicBezTo>
                  <a:pt x="167703" y="4684"/>
                  <a:pt x="165803" y="1801"/>
                  <a:pt x="162855" y="590"/>
                </a:cubicBezTo>
                <a:cubicBezTo>
                  <a:pt x="159907" y="-622"/>
                  <a:pt x="156534" y="66"/>
                  <a:pt x="154274" y="2293"/>
                </a:cubicBezTo>
                <a:lnTo>
                  <a:pt x="137339" y="19260"/>
                </a:lnTo>
                <a:cubicBezTo>
                  <a:pt x="122829" y="7239"/>
                  <a:pt x="104159" y="0"/>
                  <a:pt x="83851" y="0"/>
                </a:cubicBezTo>
                <a:cubicBezTo>
                  <a:pt x="41598" y="0"/>
                  <a:pt x="6649" y="31248"/>
                  <a:pt x="852" y="71896"/>
                </a:cubicBezTo>
                <a:cubicBezTo>
                  <a:pt x="33" y="77628"/>
                  <a:pt x="3996" y="82934"/>
                  <a:pt x="9728" y="83753"/>
                </a:cubicBezTo>
                <a:cubicBezTo>
                  <a:pt x="15460" y="84572"/>
                  <a:pt x="20766" y="80576"/>
                  <a:pt x="21585" y="74877"/>
                </a:cubicBezTo>
                <a:cubicBezTo>
                  <a:pt x="25942" y="44382"/>
                  <a:pt x="52178" y="20963"/>
                  <a:pt x="83851" y="20963"/>
                </a:cubicBezTo>
                <a:cubicBezTo>
                  <a:pt x="98394" y="20963"/>
                  <a:pt x="111758" y="25876"/>
                  <a:pt x="122403" y="34163"/>
                </a:cubicBezTo>
                <a:lnTo>
                  <a:pt x="107107" y="49459"/>
                </a:lnTo>
                <a:cubicBezTo>
                  <a:pt x="104847" y="51719"/>
                  <a:pt x="104192" y="55093"/>
                  <a:pt x="105404" y="58041"/>
                </a:cubicBezTo>
                <a:cubicBezTo>
                  <a:pt x="106616" y="60989"/>
                  <a:pt x="109498" y="62889"/>
                  <a:pt x="112675" y="62889"/>
                </a:cubicBezTo>
                <a:lnTo>
                  <a:pt x="157254" y="62889"/>
                </a:lnTo>
                <a:close/>
                <a:moveTo>
                  <a:pt x="166884" y="95807"/>
                </a:moveTo>
                <a:cubicBezTo>
                  <a:pt x="167703" y="90075"/>
                  <a:pt x="163707" y="84769"/>
                  <a:pt x="158008" y="83950"/>
                </a:cubicBezTo>
                <a:cubicBezTo>
                  <a:pt x="152308" y="83131"/>
                  <a:pt x="146969" y="87127"/>
                  <a:pt x="146150" y="92826"/>
                </a:cubicBezTo>
                <a:cubicBezTo>
                  <a:pt x="141794" y="123288"/>
                  <a:pt x="115558" y="146707"/>
                  <a:pt x="83884" y="146707"/>
                </a:cubicBezTo>
                <a:cubicBezTo>
                  <a:pt x="69341" y="146707"/>
                  <a:pt x="55977" y="141794"/>
                  <a:pt x="45332" y="133507"/>
                </a:cubicBezTo>
                <a:lnTo>
                  <a:pt x="60596" y="118244"/>
                </a:lnTo>
                <a:cubicBezTo>
                  <a:pt x="62856" y="115984"/>
                  <a:pt x="63511" y="112610"/>
                  <a:pt x="62299" y="109662"/>
                </a:cubicBezTo>
                <a:cubicBezTo>
                  <a:pt x="61087" y="106714"/>
                  <a:pt x="58205" y="104814"/>
                  <a:pt x="55028" y="104814"/>
                </a:cubicBezTo>
                <a:lnTo>
                  <a:pt x="7861" y="104814"/>
                </a:lnTo>
                <a:cubicBezTo>
                  <a:pt x="3505" y="104814"/>
                  <a:pt x="0" y="108319"/>
                  <a:pt x="0" y="112675"/>
                </a:cubicBezTo>
                <a:lnTo>
                  <a:pt x="0" y="159842"/>
                </a:lnTo>
                <a:cubicBezTo>
                  <a:pt x="0" y="163019"/>
                  <a:pt x="1900" y="165901"/>
                  <a:pt x="4848" y="167113"/>
                </a:cubicBezTo>
                <a:cubicBezTo>
                  <a:pt x="7796" y="168325"/>
                  <a:pt x="11169" y="167637"/>
                  <a:pt x="13429" y="165410"/>
                </a:cubicBezTo>
                <a:lnTo>
                  <a:pt x="30396" y="148443"/>
                </a:lnTo>
                <a:cubicBezTo>
                  <a:pt x="44874" y="160464"/>
                  <a:pt x="63544" y="167703"/>
                  <a:pt x="83851" y="167703"/>
                </a:cubicBezTo>
                <a:cubicBezTo>
                  <a:pt x="126105" y="167703"/>
                  <a:pt x="161054" y="136455"/>
                  <a:pt x="166851" y="95807"/>
                </a:cubicBezTo>
                <a:close/>
              </a:path>
            </a:pathLst>
          </a:custGeom>
          <a:solidFill>
            <a:srgbClr val="E6B450"/>
          </a:solidFill>
        </p:spPr>
      </p:sp>
      <p:sp>
        <p:nvSpPr>
          <p:cNvPr id="25" name="Text 23"/>
          <p:cNvSpPr/>
          <p:nvPr/>
        </p:nvSpPr>
        <p:spPr>
          <a:xfrm>
            <a:off x="821744" y="4265883"/>
            <a:ext cx="1057856" cy="234784"/>
          </a:xfrm>
          <a:prstGeom prst="rect">
            <a:avLst/>
          </a:prstGeom>
          <a:noFill/>
        </p:spPr>
        <p:txBody>
          <a:bodyPr wrap="square" lIns="0" tIns="0" rIns="0" bIns="0" rtlCol="0" anchor="ctr"/>
          <a:lstStyle/>
          <a:p>
            <a:pPr>
              <a:lnSpc>
                <a:spcPct val="13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动态适应</a:t>
            </a:r>
            <a:endParaRPr lang="en-US" dirty="0"/>
          </a:p>
        </p:txBody>
      </p:sp>
      <p:sp>
        <p:nvSpPr>
          <p:cNvPr id="26" name="Text 24"/>
          <p:cNvSpPr/>
          <p:nvPr/>
        </p:nvSpPr>
        <p:spPr>
          <a:xfrm>
            <a:off x="511494" y="4700531"/>
            <a:ext cx="5984133" cy="875266"/>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为适应环境的动态变化（如移动障碍物的出现或消失），即使被标记为"已占用"的单元格，其计数器值也会随着时间的推移逐渐减少，以反映实际环境的最新状态。</a:t>
            </a:r>
            <a:endParaRPr lang="en-US" sz="1600" dirty="0"/>
          </a:p>
        </p:txBody>
      </p:sp>
      <p:grpSp>
        <p:nvGrpSpPr>
          <p:cNvPr id="54" name="组合 53">
            <a:extLst>
              <a:ext uri="{FF2B5EF4-FFF2-40B4-BE49-F238E27FC236}">
                <a16:creationId xmlns:a16="http://schemas.microsoft.com/office/drawing/2014/main" id="{5EC9DF95-75BC-D286-AFFD-43CCE8F65507}"/>
              </a:ext>
            </a:extLst>
          </p:cNvPr>
          <p:cNvGrpSpPr/>
          <p:nvPr/>
        </p:nvGrpSpPr>
        <p:grpSpPr>
          <a:xfrm>
            <a:off x="0" y="939798"/>
            <a:ext cx="5022850" cy="625474"/>
            <a:chOff x="0" y="1075267"/>
            <a:chExt cx="5022850" cy="625474"/>
          </a:xfrm>
        </p:grpSpPr>
        <p:sp>
          <p:nvSpPr>
            <p:cNvPr id="55" name="矩形 54">
              <a:extLst>
                <a:ext uri="{FF2B5EF4-FFF2-40B4-BE49-F238E27FC236}">
                  <a16:creationId xmlns:a16="http://schemas.microsoft.com/office/drawing/2014/main" id="{389C46F3-BC2F-173E-BE10-45966D113433}"/>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643F67C2-3FB5-DCB8-A844-2CDA8DA1A81B}"/>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7.1.1 </a:t>
              </a:r>
              <a:r>
                <a:rPr lang="zh-CN" altLang="en-US" sz="2400" b="1" dirty="0">
                  <a:solidFill>
                    <a:schemeClr val="accent1"/>
                  </a:solidFill>
                  <a:latin typeface="+mj-lt"/>
                </a:rPr>
                <a:t>度量地图</a:t>
              </a:r>
            </a:p>
          </p:txBody>
        </p:sp>
      </p:grpSp>
      <p:pic>
        <p:nvPicPr>
          <p:cNvPr id="57" name="图片 56">
            <a:extLst>
              <a:ext uri="{FF2B5EF4-FFF2-40B4-BE49-F238E27FC236}">
                <a16:creationId xmlns:a16="http://schemas.microsoft.com/office/drawing/2014/main" id="{E058168B-1A6B-9AB2-015C-E39E6916B61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7150100" y="1712361"/>
            <a:ext cx="4600893" cy="4032893"/>
          </a:xfrm>
          <a:prstGeom prst="rect">
            <a:avLst/>
          </a:prstGeom>
          <a:noFill/>
          <a:ln>
            <a:noFill/>
          </a:ln>
        </p:spPr>
      </p:pic>
    </p:spTree>
    <p:extLst>
      <p:ext uri="{BB962C8B-B14F-4D97-AF65-F5344CB8AC3E}">
        <p14:creationId xmlns:p14="http://schemas.microsoft.com/office/powerpoint/2010/main" val="3097215591"/>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52176" y="1712362"/>
            <a:ext cx="6353424" cy="1547306"/>
          </a:xfrm>
          <a:custGeom>
            <a:avLst/>
            <a:gdLst/>
            <a:ahLst/>
            <a:cxnLst/>
            <a:rect l="l" t="t" r="r" b="b"/>
            <a:pathLst>
              <a:path w="7487934" h="1509326">
                <a:moveTo>
                  <a:pt x="33541" y="0"/>
                </a:moveTo>
                <a:lnTo>
                  <a:pt x="7387307" y="0"/>
                </a:lnTo>
                <a:cubicBezTo>
                  <a:pt x="7442882" y="0"/>
                  <a:pt x="7487934" y="45052"/>
                  <a:pt x="7487934" y="100627"/>
                </a:cubicBezTo>
                <a:lnTo>
                  <a:pt x="7487934" y="1408699"/>
                </a:lnTo>
                <a:cubicBezTo>
                  <a:pt x="7487934" y="1464274"/>
                  <a:pt x="7442882" y="1509326"/>
                  <a:pt x="7387307" y="1509326"/>
                </a:cubicBezTo>
                <a:lnTo>
                  <a:pt x="33541" y="1509326"/>
                </a:lnTo>
                <a:cubicBezTo>
                  <a:pt x="15017" y="1509326"/>
                  <a:pt x="0" y="1494309"/>
                  <a:pt x="0" y="1475785"/>
                </a:cubicBezTo>
                <a:lnTo>
                  <a:pt x="0" y="33541"/>
                </a:lnTo>
                <a:cubicBezTo>
                  <a:pt x="0" y="15029"/>
                  <a:pt x="15029" y="0"/>
                  <a:pt x="33541" y="0"/>
                </a:cubicBezTo>
                <a:close/>
              </a:path>
            </a:pathLst>
          </a:custGeom>
          <a:solidFill>
            <a:srgbClr val="5F87A7">
              <a:alpha val="10196"/>
            </a:srgbClr>
          </a:solidFill>
        </p:spPr>
      </p:sp>
      <p:sp>
        <p:nvSpPr>
          <p:cNvPr id="6" name="Shape 4"/>
          <p:cNvSpPr/>
          <p:nvPr/>
        </p:nvSpPr>
        <p:spPr>
          <a:xfrm>
            <a:off x="352176" y="1712362"/>
            <a:ext cx="33541" cy="1547306"/>
          </a:xfrm>
          <a:custGeom>
            <a:avLst/>
            <a:gdLst/>
            <a:ahLst/>
            <a:cxnLst/>
            <a:rect l="l" t="t" r="r" b="b"/>
            <a:pathLst>
              <a:path w="33541" h="1509326">
                <a:moveTo>
                  <a:pt x="33541" y="0"/>
                </a:moveTo>
                <a:lnTo>
                  <a:pt x="33541" y="0"/>
                </a:lnTo>
                <a:lnTo>
                  <a:pt x="33541" y="1509326"/>
                </a:lnTo>
                <a:lnTo>
                  <a:pt x="33541" y="1509326"/>
                </a:lnTo>
                <a:cubicBezTo>
                  <a:pt x="15017" y="1509326"/>
                  <a:pt x="0" y="1494309"/>
                  <a:pt x="0" y="1475785"/>
                </a:cubicBezTo>
                <a:lnTo>
                  <a:pt x="0" y="33541"/>
                </a:lnTo>
                <a:cubicBezTo>
                  <a:pt x="0" y="15029"/>
                  <a:pt x="15029" y="0"/>
                  <a:pt x="33541" y="0"/>
                </a:cubicBezTo>
                <a:close/>
              </a:path>
            </a:pathLst>
          </a:custGeom>
          <a:solidFill>
            <a:srgbClr val="E6B450"/>
          </a:solidFill>
        </p:spPr>
      </p:sp>
      <p:sp>
        <p:nvSpPr>
          <p:cNvPr id="8" name="Text 6"/>
          <p:cNvSpPr/>
          <p:nvPr/>
        </p:nvSpPr>
        <p:spPr>
          <a:xfrm>
            <a:off x="833274" y="1913606"/>
            <a:ext cx="6900974" cy="268325"/>
          </a:xfrm>
          <a:prstGeom prst="rect">
            <a:avLst/>
          </a:prstGeom>
          <a:noFill/>
        </p:spPr>
        <p:txBody>
          <a:bodyPr wrap="square" lIns="0" tIns="0" rIns="0" bIns="0" rtlCol="0" anchor="ctr"/>
          <a:lstStyle/>
          <a:p>
            <a:pPr>
              <a:lnSpc>
                <a:spcPct val="110000"/>
              </a:lnSpc>
            </a:pP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实时更新优势</a:t>
            </a:r>
            <a:endParaRPr lang="en-US" altLang="zh-CN" dirty="0"/>
          </a:p>
        </p:txBody>
      </p:sp>
      <p:sp>
        <p:nvSpPr>
          <p:cNvPr id="9" name="Text 7"/>
          <p:cNvSpPr/>
          <p:nvPr/>
        </p:nvSpPr>
        <p:spPr>
          <a:xfrm>
            <a:off x="833274" y="2282552"/>
            <a:ext cx="5662353" cy="807781"/>
          </a:xfrm>
          <a:prstGeom prst="rect">
            <a:avLst/>
          </a:prstGeom>
          <a:noFill/>
        </p:spPr>
        <p:txBody>
          <a:bodyPr wrap="square" lIns="0" tIns="0" rIns="0" bIns="0" rtlCol="0" anchor="ctr"/>
          <a:lstStyle/>
          <a:p>
            <a:pPr>
              <a:lnSpc>
                <a:spcPct val="140000"/>
              </a:lnSpc>
            </a:pP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这种机制确保了占用栅格图能够</a:t>
            </a:r>
            <a:r>
              <a:rPr lang="en-US" altLang="zh-CN" sz="1600" b="1" dirty="0" err="1">
                <a:latin typeface="微软雅黑" panose="020B0503020204020204" pitchFamily="34" charset="-122"/>
                <a:ea typeface="微软雅黑" panose="020B0503020204020204" pitchFamily="34" charset="-122"/>
                <a:cs typeface="微软雅黑" panose="020B0503020204020204" pitchFamily="34" charset="-122"/>
              </a:rPr>
              <a:t>准确、实时</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地反映机器人所处的环境</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p>
        </p:txBody>
      </p:sp>
      <p:sp>
        <p:nvSpPr>
          <p:cNvPr id="23" name="Shape 21"/>
          <p:cNvSpPr/>
          <p:nvPr/>
        </p:nvSpPr>
        <p:spPr>
          <a:xfrm>
            <a:off x="339599" y="3598333"/>
            <a:ext cx="6366002" cy="2149359"/>
          </a:xfrm>
          <a:custGeom>
            <a:avLst/>
            <a:gdLst/>
            <a:ahLst/>
            <a:cxnLst/>
            <a:rect l="l" t="t" r="r" b="b"/>
            <a:pathLst>
              <a:path w="7496319" h="1115224">
                <a:moveTo>
                  <a:pt x="100627" y="0"/>
                </a:moveTo>
                <a:lnTo>
                  <a:pt x="7395692" y="0"/>
                </a:lnTo>
                <a:cubicBezTo>
                  <a:pt x="7451267" y="0"/>
                  <a:pt x="7496319" y="45052"/>
                  <a:pt x="7496319" y="100627"/>
                </a:cubicBezTo>
                <a:lnTo>
                  <a:pt x="7496319" y="1014598"/>
                </a:lnTo>
                <a:cubicBezTo>
                  <a:pt x="7496319" y="1070172"/>
                  <a:pt x="7451267" y="1115224"/>
                  <a:pt x="7395692" y="1115224"/>
                </a:cubicBezTo>
                <a:lnTo>
                  <a:pt x="100627" y="1115224"/>
                </a:lnTo>
                <a:cubicBezTo>
                  <a:pt x="45052" y="1115224"/>
                  <a:pt x="0" y="1070172"/>
                  <a:pt x="0" y="1014598"/>
                </a:cubicBezTo>
                <a:lnTo>
                  <a:pt x="0" y="100627"/>
                </a:lnTo>
                <a:cubicBezTo>
                  <a:pt x="0" y="45089"/>
                  <a:pt x="45089" y="0"/>
                  <a:pt x="100627" y="0"/>
                </a:cubicBezTo>
                <a:close/>
              </a:path>
            </a:pathLst>
          </a:custGeom>
          <a:solidFill>
            <a:srgbClr val="E6B450">
              <a:alpha val="10196"/>
            </a:srgbClr>
          </a:solidFill>
          <a:ln w="12700">
            <a:solidFill>
              <a:srgbClr val="E6B450">
                <a:alpha val="30196"/>
              </a:srgbClr>
            </a:solidFill>
            <a:prstDash val="solid"/>
          </a:ln>
        </p:spPr>
      </p:sp>
      <p:sp>
        <p:nvSpPr>
          <p:cNvPr id="25" name="Text 23"/>
          <p:cNvSpPr/>
          <p:nvPr/>
        </p:nvSpPr>
        <p:spPr>
          <a:xfrm>
            <a:off x="821744" y="3740948"/>
            <a:ext cx="1057856" cy="234784"/>
          </a:xfrm>
          <a:prstGeom prst="rect">
            <a:avLst/>
          </a:prstGeom>
          <a:noFill/>
        </p:spPr>
        <p:txBody>
          <a:bodyPr wrap="square" lIns="0" tIns="0" rIns="0" bIns="0" rtlCol="0" anchor="ctr"/>
          <a:lstStyle/>
          <a:p>
            <a:pPr>
              <a:lnSpc>
                <a:spcPct val="110000"/>
              </a:lnSpc>
            </a:pP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局限性</a:t>
            </a:r>
            <a:endParaRPr lang="en-US" altLang="zh-CN" dirty="0"/>
          </a:p>
        </p:txBody>
      </p:sp>
      <p:sp>
        <p:nvSpPr>
          <p:cNvPr id="26" name="Text 24"/>
          <p:cNvSpPr/>
          <p:nvPr/>
        </p:nvSpPr>
        <p:spPr>
          <a:xfrm>
            <a:off x="511494" y="4214992"/>
            <a:ext cx="5984133" cy="1360805"/>
          </a:xfrm>
          <a:prstGeom prst="rect">
            <a:avLst/>
          </a:prstGeom>
          <a:noFill/>
        </p:spPr>
        <p:txBody>
          <a:bodyPr wrap="square" lIns="0" tIns="0" rIns="0" bIns="0" rtlCol="0" anchor="ctr"/>
          <a:lstStyle/>
          <a:p>
            <a:pPr>
              <a:lnSpc>
                <a:spcPct val="140000"/>
              </a:lnSpc>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占用栅格地图因其直观和易更新的特性被广泛用于表示环境结构。然而，在大范围场景中栅格地图需要处理和更新</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大量栅格信息</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，这导致计算资源的大量消耗，影响了机器人的响应速度和路径规划效率。为了解决这个问题，</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拓扑地图</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应运而生。</a:t>
            </a:r>
            <a:endParaRPr lang="en-US" altLang="zh-CN" sz="2000" dirty="0"/>
          </a:p>
        </p:txBody>
      </p:sp>
      <p:grpSp>
        <p:nvGrpSpPr>
          <p:cNvPr id="54" name="组合 53">
            <a:extLst>
              <a:ext uri="{FF2B5EF4-FFF2-40B4-BE49-F238E27FC236}">
                <a16:creationId xmlns:a16="http://schemas.microsoft.com/office/drawing/2014/main" id="{5EC9DF95-75BC-D286-AFFD-43CCE8F65507}"/>
              </a:ext>
            </a:extLst>
          </p:cNvPr>
          <p:cNvGrpSpPr/>
          <p:nvPr/>
        </p:nvGrpSpPr>
        <p:grpSpPr>
          <a:xfrm>
            <a:off x="0" y="939798"/>
            <a:ext cx="5022850" cy="625474"/>
            <a:chOff x="0" y="1075267"/>
            <a:chExt cx="5022850" cy="625474"/>
          </a:xfrm>
        </p:grpSpPr>
        <p:sp>
          <p:nvSpPr>
            <p:cNvPr id="55" name="矩形 54">
              <a:extLst>
                <a:ext uri="{FF2B5EF4-FFF2-40B4-BE49-F238E27FC236}">
                  <a16:creationId xmlns:a16="http://schemas.microsoft.com/office/drawing/2014/main" id="{389C46F3-BC2F-173E-BE10-45966D113433}"/>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643F67C2-3FB5-DCB8-A844-2CDA8DA1A81B}"/>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7.1.1 </a:t>
              </a:r>
              <a:r>
                <a:rPr lang="zh-CN" altLang="en-US" sz="2400" b="1" dirty="0">
                  <a:solidFill>
                    <a:schemeClr val="accent1"/>
                  </a:solidFill>
                  <a:latin typeface="+mj-lt"/>
                </a:rPr>
                <a:t>度量地图</a:t>
              </a:r>
            </a:p>
          </p:txBody>
        </p:sp>
      </p:grpSp>
      <p:pic>
        <p:nvPicPr>
          <p:cNvPr id="57" name="图片 56">
            <a:extLst>
              <a:ext uri="{FF2B5EF4-FFF2-40B4-BE49-F238E27FC236}">
                <a16:creationId xmlns:a16="http://schemas.microsoft.com/office/drawing/2014/main" id="{E058168B-1A6B-9AB2-015C-E39E6916B61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7150100" y="1712361"/>
            <a:ext cx="4600893" cy="4032893"/>
          </a:xfrm>
          <a:prstGeom prst="rect">
            <a:avLst/>
          </a:prstGeom>
          <a:noFill/>
          <a:ln>
            <a:noFill/>
          </a:ln>
        </p:spPr>
      </p:pic>
      <p:sp>
        <p:nvSpPr>
          <p:cNvPr id="2" name="Shape 14">
            <a:extLst>
              <a:ext uri="{FF2B5EF4-FFF2-40B4-BE49-F238E27FC236}">
                <a16:creationId xmlns:a16="http://schemas.microsoft.com/office/drawing/2014/main" id="{ECC2DDEB-3F5C-24BE-D26C-F51F323E75CA}"/>
              </a:ext>
            </a:extLst>
          </p:cNvPr>
          <p:cNvSpPr/>
          <p:nvPr/>
        </p:nvSpPr>
        <p:spPr>
          <a:xfrm>
            <a:off x="488156" y="3750732"/>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E6B450"/>
          </a:solidFill>
        </p:spPr>
      </p:sp>
      <p:sp>
        <p:nvSpPr>
          <p:cNvPr id="3" name="Shape 10">
            <a:extLst>
              <a:ext uri="{FF2B5EF4-FFF2-40B4-BE49-F238E27FC236}">
                <a16:creationId xmlns:a16="http://schemas.microsoft.com/office/drawing/2014/main" id="{308CC8B5-3FF9-2354-B298-C473CA98D99D}"/>
              </a:ext>
            </a:extLst>
          </p:cNvPr>
          <p:cNvSpPr/>
          <p:nvPr/>
        </p:nvSpPr>
        <p:spPr>
          <a:xfrm>
            <a:off x="547688" y="1951297"/>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E6B450"/>
          </a:solidFill>
        </p:spPr>
      </p:sp>
      <p:sp>
        <p:nvSpPr>
          <p:cNvPr id="4" name="Shape 26">
            <a:extLst>
              <a:ext uri="{FF2B5EF4-FFF2-40B4-BE49-F238E27FC236}">
                <a16:creationId xmlns:a16="http://schemas.microsoft.com/office/drawing/2014/main" id="{DAB2A7F2-ECB9-82F1-1C00-1D6DC324F176}"/>
              </a:ext>
            </a:extLst>
          </p:cNvPr>
          <p:cNvSpPr/>
          <p:nvPr/>
        </p:nvSpPr>
        <p:spPr>
          <a:xfrm>
            <a:off x="725224" y="6322210"/>
            <a:ext cx="158750" cy="158750"/>
          </a:xfrm>
          <a:custGeom>
            <a:avLst/>
            <a:gdLst/>
            <a:ahLst/>
            <a:cxnLst/>
            <a:rect l="l" t="t" r="r" b="b"/>
            <a:pathLst>
              <a:path w="158750" h="158750">
                <a:moveTo>
                  <a:pt x="14883" y="44648"/>
                </a:moveTo>
                <a:cubicBezTo>
                  <a:pt x="23097" y="44648"/>
                  <a:pt x="29766" y="37980"/>
                  <a:pt x="29766" y="29766"/>
                </a:cubicBezTo>
                <a:cubicBezTo>
                  <a:pt x="29766" y="21552"/>
                  <a:pt x="23097" y="14883"/>
                  <a:pt x="14883" y="14883"/>
                </a:cubicBezTo>
                <a:cubicBezTo>
                  <a:pt x="6669" y="14883"/>
                  <a:pt x="0" y="21552"/>
                  <a:pt x="0" y="29766"/>
                </a:cubicBezTo>
                <a:cubicBezTo>
                  <a:pt x="0" y="37980"/>
                  <a:pt x="6669" y="44648"/>
                  <a:pt x="14883" y="44648"/>
                </a:cubicBezTo>
                <a:close/>
                <a:moveTo>
                  <a:pt x="59531" y="19844"/>
                </a:moveTo>
                <a:cubicBezTo>
                  <a:pt x="54043" y="19844"/>
                  <a:pt x="49609" y="24278"/>
                  <a:pt x="49609" y="29766"/>
                </a:cubicBezTo>
                <a:cubicBezTo>
                  <a:pt x="49609" y="35254"/>
                  <a:pt x="54043" y="39688"/>
                  <a:pt x="59531" y="39688"/>
                </a:cubicBezTo>
                <a:lnTo>
                  <a:pt x="148828" y="39688"/>
                </a:lnTo>
                <a:cubicBezTo>
                  <a:pt x="154316" y="39688"/>
                  <a:pt x="158750" y="35254"/>
                  <a:pt x="158750" y="29766"/>
                </a:cubicBezTo>
                <a:cubicBezTo>
                  <a:pt x="158750" y="24278"/>
                  <a:pt x="154316" y="19844"/>
                  <a:pt x="148828" y="19844"/>
                </a:cubicBezTo>
                <a:lnTo>
                  <a:pt x="59531" y="19844"/>
                </a:lnTo>
                <a:close/>
                <a:moveTo>
                  <a:pt x="59531" y="69453"/>
                </a:moveTo>
                <a:cubicBezTo>
                  <a:pt x="54043" y="69453"/>
                  <a:pt x="49609" y="73887"/>
                  <a:pt x="49609" y="79375"/>
                </a:cubicBezTo>
                <a:cubicBezTo>
                  <a:pt x="49609" y="84863"/>
                  <a:pt x="54043" y="89297"/>
                  <a:pt x="59531" y="89297"/>
                </a:cubicBezTo>
                <a:lnTo>
                  <a:pt x="148828" y="89297"/>
                </a:lnTo>
                <a:cubicBezTo>
                  <a:pt x="154316" y="89297"/>
                  <a:pt x="158750" y="84863"/>
                  <a:pt x="158750" y="79375"/>
                </a:cubicBezTo>
                <a:cubicBezTo>
                  <a:pt x="158750" y="73887"/>
                  <a:pt x="154316" y="69453"/>
                  <a:pt x="148828" y="69453"/>
                </a:cubicBezTo>
                <a:lnTo>
                  <a:pt x="59531" y="69453"/>
                </a:lnTo>
                <a:close/>
                <a:moveTo>
                  <a:pt x="59531" y="119062"/>
                </a:moveTo>
                <a:cubicBezTo>
                  <a:pt x="54043" y="119062"/>
                  <a:pt x="49609" y="123496"/>
                  <a:pt x="49609" y="128984"/>
                </a:cubicBezTo>
                <a:cubicBezTo>
                  <a:pt x="49609" y="134472"/>
                  <a:pt x="54043" y="138906"/>
                  <a:pt x="59531" y="138906"/>
                </a:cubicBezTo>
                <a:lnTo>
                  <a:pt x="148828" y="138906"/>
                </a:lnTo>
                <a:cubicBezTo>
                  <a:pt x="154316" y="138906"/>
                  <a:pt x="158750" y="134472"/>
                  <a:pt x="158750" y="128984"/>
                </a:cubicBezTo>
                <a:cubicBezTo>
                  <a:pt x="158750" y="123496"/>
                  <a:pt x="154316" y="119062"/>
                  <a:pt x="148828" y="119062"/>
                </a:cubicBezTo>
                <a:lnTo>
                  <a:pt x="59531" y="119062"/>
                </a:lnTo>
                <a:close/>
                <a:moveTo>
                  <a:pt x="14883" y="143867"/>
                </a:moveTo>
                <a:cubicBezTo>
                  <a:pt x="23097" y="143867"/>
                  <a:pt x="29766" y="137198"/>
                  <a:pt x="29766" y="128984"/>
                </a:cubicBezTo>
                <a:cubicBezTo>
                  <a:pt x="29766" y="120770"/>
                  <a:pt x="23097" y="114102"/>
                  <a:pt x="14883" y="114102"/>
                </a:cubicBezTo>
                <a:cubicBezTo>
                  <a:pt x="6669" y="114102"/>
                  <a:pt x="0" y="120770"/>
                  <a:pt x="0" y="128984"/>
                </a:cubicBezTo>
                <a:cubicBezTo>
                  <a:pt x="0" y="137198"/>
                  <a:pt x="6669" y="143867"/>
                  <a:pt x="14883" y="143867"/>
                </a:cubicBezTo>
                <a:close/>
                <a:moveTo>
                  <a:pt x="29766" y="79375"/>
                </a:moveTo>
                <a:cubicBezTo>
                  <a:pt x="29766" y="71161"/>
                  <a:pt x="23097" y="64492"/>
                  <a:pt x="14883" y="64492"/>
                </a:cubicBezTo>
                <a:cubicBezTo>
                  <a:pt x="6669" y="64492"/>
                  <a:pt x="0" y="71161"/>
                  <a:pt x="0" y="79375"/>
                </a:cubicBezTo>
                <a:cubicBezTo>
                  <a:pt x="0" y="87589"/>
                  <a:pt x="6669" y="94258"/>
                  <a:pt x="14883" y="94258"/>
                </a:cubicBezTo>
                <a:cubicBezTo>
                  <a:pt x="23097" y="94258"/>
                  <a:pt x="29766" y="87589"/>
                  <a:pt x="29766" y="79375"/>
                </a:cubicBezTo>
                <a:close/>
              </a:path>
            </a:pathLst>
          </a:custGeom>
          <a:solidFill>
            <a:srgbClr val="E6B450"/>
          </a:solidFill>
        </p:spPr>
      </p:sp>
      <p:sp>
        <p:nvSpPr>
          <p:cNvPr id="10" name="Shape 28">
            <a:extLst>
              <a:ext uri="{FF2B5EF4-FFF2-40B4-BE49-F238E27FC236}">
                <a16:creationId xmlns:a16="http://schemas.microsoft.com/office/drawing/2014/main" id="{BCCCBC02-C765-F38F-7F1A-80928B0DDFFE}"/>
              </a:ext>
            </a:extLst>
          </p:cNvPr>
          <p:cNvSpPr/>
          <p:nvPr/>
        </p:nvSpPr>
        <p:spPr>
          <a:xfrm>
            <a:off x="2794643" y="6192901"/>
            <a:ext cx="142875" cy="142875"/>
          </a:xfrm>
          <a:custGeom>
            <a:avLst/>
            <a:gdLst/>
            <a:ahLst/>
            <a:cxnLst/>
            <a:rect l="l" t="t" r="r" b="b"/>
            <a:pathLst>
              <a:path w="142875" h="142875">
                <a:moveTo>
                  <a:pt x="37728" y="32761"/>
                </a:moveTo>
                <a:lnTo>
                  <a:pt x="30445" y="53578"/>
                </a:lnTo>
                <a:lnTo>
                  <a:pt x="112430" y="53578"/>
                </a:lnTo>
                <a:lnTo>
                  <a:pt x="105147" y="32761"/>
                </a:lnTo>
                <a:cubicBezTo>
                  <a:pt x="103891" y="29189"/>
                  <a:pt x="100515" y="26789"/>
                  <a:pt x="96720" y="26789"/>
                </a:cubicBezTo>
                <a:lnTo>
                  <a:pt x="46155" y="26789"/>
                </a:lnTo>
                <a:cubicBezTo>
                  <a:pt x="42360" y="26789"/>
                  <a:pt x="38984" y="29189"/>
                  <a:pt x="37728" y="32761"/>
                </a:cubicBezTo>
                <a:close/>
                <a:moveTo>
                  <a:pt x="11050" y="54918"/>
                </a:moveTo>
                <a:lnTo>
                  <a:pt x="20873" y="26873"/>
                </a:lnTo>
                <a:cubicBezTo>
                  <a:pt x="24640" y="16129"/>
                  <a:pt x="34770" y="8930"/>
                  <a:pt x="46155" y="8930"/>
                </a:cubicBezTo>
                <a:lnTo>
                  <a:pt x="96720" y="8930"/>
                </a:lnTo>
                <a:cubicBezTo>
                  <a:pt x="108105" y="8930"/>
                  <a:pt x="118235" y="16129"/>
                  <a:pt x="122002" y="26873"/>
                </a:cubicBezTo>
                <a:lnTo>
                  <a:pt x="131825" y="54918"/>
                </a:lnTo>
                <a:cubicBezTo>
                  <a:pt x="138299" y="57596"/>
                  <a:pt x="142875" y="63987"/>
                  <a:pt x="142875" y="71438"/>
                </a:cubicBezTo>
                <a:lnTo>
                  <a:pt x="142875" y="125016"/>
                </a:lnTo>
                <a:cubicBezTo>
                  <a:pt x="142875" y="129955"/>
                  <a:pt x="138885" y="133945"/>
                  <a:pt x="133945" y="133945"/>
                </a:cubicBezTo>
                <a:lnTo>
                  <a:pt x="125016" y="133945"/>
                </a:lnTo>
                <a:cubicBezTo>
                  <a:pt x="120076" y="133945"/>
                  <a:pt x="116086" y="129955"/>
                  <a:pt x="116086" y="125016"/>
                </a:cubicBezTo>
                <a:lnTo>
                  <a:pt x="116086" y="116086"/>
                </a:lnTo>
                <a:lnTo>
                  <a:pt x="26789" y="116086"/>
                </a:lnTo>
                <a:lnTo>
                  <a:pt x="26789" y="125016"/>
                </a:lnTo>
                <a:cubicBezTo>
                  <a:pt x="26789" y="129955"/>
                  <a:pt x="22799" y="133945"/>
                  <a:pt x="17859" y="133945"/>
                </a:cubicBezTo>
                <a:lnTo>
                  <a:pt x="8930" y="133945"/>
                </a:lnTo>
                <a:cubicBezTo>
                  <a:pt x="3990" y="133945"/>
                  <a:pt x="0" y="129955"/>
                  <a:pt x="0" y="125016"/>
                </a:cubicBezTo>
                <a:lnTo>
                  <a:pt x="0" y="71438"/>
                </a:lnTo>
                <a:cubicBezTo>
                  <a:pt x="0" y="63987"/>
                  <a:pt x="4576" y="57596"/>
                  <a:pt x="11050" y="54918"/>
                </a:cubicBezTo>
                <a:close/>
                <a:moveTo>
                  <a:pt x="35719" y="84832"/>
                </a:moveTo>
                <a:cubicBezTo>
                  <a:pt x="35719" y="79904"/>
                  <a:pt x="31717" y="75902"/>
                  <a:pt x="26789" y="75902"/>
                </a:cubicBezTo>
                <a:cubicBezTo>
                  <a:pt x="21861" y="75902"/>
                  <a:pt x="17859" y="79904"/>
                  <a:pt x="17859" y="84832"/>
                </a:cubicBezTo>
                <a:cubicBezTo>
                  <a:pt x="17859" y="89760"/>
                  <a:pt x="21861" y="93762"/>
                  <a:pt x="26789" y="93762"/>
                </a:cubicBezTo>
                <a:cubicBezTo>
                  <a:pt x="31717" y="93762"/>
                  <a:pt x="35719" y="89760"/>
                  <a:pt x="35719" y="84832"/>
                </a:cubicBezTo>
                <a:close/>
                <a:moveTo>
                  <a:pt x="116086" y="93762"/>
                </a:moveTo>
                <a:cubicBezTo>
                  <a:pt x="121014" y="93762"/>
                  <a:pt x="125016" y="89760"/>
                  <a:pt x="125016" y="84832"/>
                </a:cubicBezTo>
                <a:cubicBezTo>
                  <a:pt x="125016" y="79904"/>
                  <a:pt x="121014" y="75902"/>
                  <a:pt x="116086" y="75902"/>
                </a:cubicBezTo>
                <a:cubicBezTo>
                  <a:pt x="111158" y="75902"/>
                  <a:pt x="107156" y="79904"/>
                  <a:pt x="107156" y="84832"/>
                </a:cubicBezTo>
                <a:cubicBezTo>
                  <a:pt x="107156" y="89760"/>
                  <a:pt x="111158" y="93762"/>
                  <a:pt x="116086" y="93762"/>
                </a:cubicBezTo>
                <a:close/>
              </a:path>
            </a:pathLst>
          </a:custGeom>
          <a:solidFill>
            <a:srgbClr val="E6B450"/>
          </a:solidFill>
        </p:spPr>
      </p:sp>
      <p:sp>
        <p:nvSpPr>
          <p:cNvPr id="11" name="Text 29">
            <a:extLst>
              <a:ext uri="{FF2B5EF4-FFF2-40B4-BE49-F238E27FC236}">
                <a16:creationId xmlns:a16="http://schemas.microsoft.com/office/drawing/2014/main" id="{A1B9EF45-6F39-CBF6-6D6F-5B9857347FD7}"/>
              </a:ext>
            </a:extLst>
          </p:cNvPr>
          <p:cNvSpPr/>
          <p:nvPr/>
        </p:nvSpPr>
        <p:spPr>
          <a:xfrm>
            <a:off x="3048643" y="6142101"/>
            <a:ext cx="1214438" cy="222250"/>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移动车辆</a:t>
            </a:r>
            <a:endParaRPr lang="en-US" sz="1600" dirty="0"/>
          </a:p>
        </p:txBody>
      </p:sp>
      <p:sp>
        <p:nvSpPr>
          <p:cNvPr id="12" name="Text 30">
            <a:extLst>
              <a:ext uri="{FF2B5EF4-FFF2-40B4-BE49-F238E27FC236}">
                <a16:creationId xmlns:a16="http://schemas.microsoft.com/office/drawing/2014/main" id="{451F68E4-5D5B-EE53-91A3-3E55F52B1B57}"/>
              </a:ext>
            </a:extLst>
          </p:cNvPr>
          <p:cNvSpPr/>
          <p:nvPr/>
        </p:nvSpPr>
        <p:spPr>
          <a:xfrm>
            <a:off x="2919350" y="6514782"/>
            <a:ext cx="2314470" cy="1905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停车场中的车辆移动</a:t>
            </a:r>
            <a:endParaRPr lang="en-US" sz="1600" dirty="0"/>
          </a:p>
        </p:txBody>
      </p:sp>
      <p:sp>
        <p:nvSpPr>
          <p:cNvPr id="13" name="Shape 31">
            <a:extLst>
              <a:ext uri="{FF2B5EF4-FFF2-40B4-BE49-F238E27FC236}">
                <a16:creationId xmlns:a16="http://schemas.microsoft.com/office/drawing/2014/main" id="{525ECFAC-3D1A-4C99-6FC2-3F1D5647BC8A}"/>
              </a:ext>
            </a:extLst>
          </p:cNvPr>
          <p:cNvSpPr/>
          <p:nvPr/>
        </p:nvSpPr>
        <p:spPr>
          <a:xfrm>
            <a:off x="5068493" y="6187821"/>
            <a:ext cx="107156" cy="142875"/>
          </a:xfrm>
          <a:custGeom>
            <a:avLst/>
            <a:gdLst/>
            <a:ahLst/>
            <a:cxnLst/>
            <a:rect l="l" t="t" r="r" b="b"/>
            <a:pathLst>
              <a:path w="107156" h="142875">
                <a:moveTo>
                  <a:pt x="53578" y="22324"/>
                </a:moveTo>
                <a:cubicBezTo>
                  <a:pt x="62203" y="22324"/>
                  <a:pt x="69205" y="15322"/>
                  <a:pt x="69205" y="6697"/>
                </a:cubicBezTo>
                <a:cubicBezTo>
                  <a:pt x="69205" y="-1927"/>
                  <a:pt x="62203" y="-8930"/>
                  <a:pt x="53578" y="-8930"/>
                </a:cubicBezTo>
                <a:cubicBezTo>
                  <a:pt x="44953" y="-8930"/>
                  <a:pt x="37951" y="-1927"/>
                  <a:pt x="37951" y="6697"/>
                </a:cubicBezTo>
                <a:cubicBezTo>
                  <a:pt x="37951" y="15322"/>
                  <a:pt x="44953" y="22324"/>
                  <a:pt x="53578" y="22324"/>
                </a:cubicBezTo>
                <a:close/>
                <a:moveTo>
                  <a:pt x="29412" y="63596"/>
                </a:moveTo>
                <a:lnTo>
                  <a:pt x="35719" y="57290"/>
                </a:lnTo>
                <a:lnTo>
                  <a:pt x="35719" y="76628"/>
                </a:lnTo>
                <a:cubicBezTo>
                  <a:pt x="35719" y="84441"/>
                  <a:pt x="39123" y="91892"/>
                  <a:pt x="45067" y="96971"/>
                </a:cubicBezTo>
                <a:lnTo>
                  <a:pt x="64991" y="114049"/>
                </a:lnTo>
                <a:cubicBezTo>
                  <a:pt x="66638" y="115472"/>
                  <a:pt x="67726" y="117425"/>
                  <a:pt x="68033" y="119574"/>
                </a:cubicBezTo>
                <a:lnTo>
                  <a:pt x="71549" y="144159"/>
                </a:lnTo>
                <a:cubicBezTo>
                  <a:pt x="72247" y="149042"/>
                  <a:pt x="76767" y="152447"/>
                  <a:pt x="81651" y="151749"/>
                </a:cubicBezTo>
                <a:cubicBezTo>
                  <a:pt x="86534" y="151051"/>
                  <a:pt x="89939" y="146531"/>
                  <a:pt x="89241" y="141647"/>
                </a:cubicBezTo>
                <a:lnTo>
                  <a:pt x="85725" y="117063"/>
                </a:lnTo>
                <a:cubicBezTo>
                  <a:pt x="84804" y="110617"/>
                  <a:pt x="81567" y="104756"/>
                  <a:pt x="76628" y="100515"/>
                </a:cubicBezTo>
                <a:lnTo>
                  <a:pt x="67001" y="92255"/>
                </a:lnTo>
                <a:lnTo>
                  <a:pt x="67001" y="60108"/>
                </a:lnTo>
                <a:lnTo>
                  <a:pt x="68061" y="61420"/>
                </a:lnTo>
                <a:cubicBezTo>
                  <a:pt x="73140" y="67782"/>
                  <a:pt x="80842" y="71465"/>
                  <a:pt x="88990" y="71465"/>
                </a:cubicBezTo>
                <a:lnTo>
                  <a:pt x="98254" y="71465"/>
                </a:lnTo>
                <a:cubicBezTo>
                  <a:pt x="103194" y="71465"/>
                  <a:pt x="107184" y="67475"/>
                  <a:pt x="107184" y="62536"/>
                </a:cubicBezTo>
                <a:cubicBezTo>
                  <a:pt x="107184" y="57596"/>
                  <a:pt x="103194" y="53606"/>
                  <a:pt x="98254" y="53606"/>
                </a:cubicBezTo>
                <a:lnTo>
                  <a:pt x="88990" y="53606"/>
                </a:lnTo>
                <a:cubicBezTo>
                  <a:pt x="86283" y="53606"/>
                  <a:pt x="83716" y="52378"/>
                  <a:pt x="82014" y="50257"/>
                </a:cubicBezTo>
                <a:lnTo>
                  <a:pt x="77019" y="44007"/>
                </a:lnTo>
                <a:cubicBezTo>
                  <a:pt x="70600" y="35970"/>
                  <a:pt x="60861" y="31282"/>
                  <a:pt x="50564" y="31282"/>
                </a:cubicBezTo>
                <a:cubicBezTo>
                  <a:pt x="41579" y="31282"/>
                  <a:pt x="32956" y="34854"/>
                  <a:pt x="26622" y="41216"/>
                </a:cubicBezTo>
                <a:lnTo>
                  <a:pt x="16771" y="50955"/>
                </a:lnTo>
                <a:cubicBezTo>
                  <a:pt x="11748" y="55978"/>
                  <a:pt x="8930" y="62787"/>
                  <a:pt x="8930" y="69903"/>
                </a:cubicBezTo>
                <a:lnTo>
                  <a:pt x="8930" y="80367"/>
                </a:lnTo>
                <a:cubicBezTo>
                  <a:pt x="8930" y="85306"/>
                  <a:pt x="12920" y="89297"/>
                  <a:pt x="17859" y="89297"/>
                </a:cubicBezTo>
                <a:cubicBezTo>
                  <a:pt x="22799" y="89297"/>
                  <a:pt x="26789" y="85306"/>
                  <a:pt x="26789" y="80367"/>
                </a:cubicBezTo>
                <a:lnTo>
                  <a:pt x="26789" y="69903"/>
                </a:lnTo>
                <a:cubicBezTo>
                  <a:pt x="26789" y="67531"/>
                  <a:pt x="27738" y="65270"/>
                  <a:pt x="29412" y="63596"/>
                </a:cubicBezTo>
                <a:close/>
                <a:moveTo>
                  <a:pt x="32872" y="113658"/>
                </a:moveTo>
                <a:cubicBezTo>
                  <a:pt x="32454" y="115109"/>
                  <a:pt x="31672" y="116449"/>
                  <a:pt x="30612" y="117509"/>
                </a:cubicBezTo>
                <a:lnTo>
                  <a:pt x="11553" y="136568"/>
                </a:lnTo>
                <a:cubicBezTo>
                  <a:pt x="8065" y="140057"/>
                  <a:pt x="8065" y="145721"/>
                  <a:pt x="11553" y="149209"/>
                </a:cubicBezTo>
                <a:cubicBezTo>
                  <a:pt x="15041" y="152698"/>
                  <a:pt x="20706" y="152698"/>
                  <a:pt x="24194" y="149209"/>
                </a:cubicBezTo>
                <a:lnTo>
                  <a:pt x="43253" y="130150"/>
                </a:lnTo>
                <a:cubicBezTo>
                  <a:pt x="46462" y="126941"/>
                  <a:pt x="48806" y="122951"/>
                  <a:pt x="50062" y="118570"/>
                </a:cubicBezTo>
                <a:lnTo>
                  <a:pt x="50676" y="116449"/>
                </a:lnTo>
                <a:lnTo>
                  <a:pt x="37840" y="105454"/>
                </a:lnTo>
                <a:cubicBezTo>
                  <a:pt x="37142" y="104840"/>
                  <a:pt x="36444" y="104226"/>
                  <a:pt x="35775" y="103556"/>
                </a:cubicBezTo>
                <a:lnTo>
                  <a:pt x="32872" y="113658"/>
                </a:lnTo>
                <a:close/>
              </a:path>
            </a:pathLst>
          </a:custGeom>
          <a:solidFill>
            <a:srgbClr val="E6B450"/>
          </a:solidFill>
        </p:spPr>
      </p:sp>
      <p:sp>
        <p:nvSpPr>
          <p:cNvPr id="14" name="Text 32">
            <a:extLst>
              <a:ext uri="{FF2B5EF4-FFF2-40B4-BE49-F238E27FC236}">
                <a16:creationId xmlns:a16="http://schemas.microsoft.com/office/drawing/2014/main" id="{2FFA35BD-0469-23BF-9729-E105591F44B5}"/>
              </a:ext>
            </a:extLst>
          </p:cNvPr>
          <p:cNvSpPr/>
          <p:nvPr/>
        </p:nvSpPr>
        <p:spPr>
          <a:xfrm>
            <a:off x="5304633" y="6142101"/>
            <a:ext cx="960438" cy="222250"/>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行人走动</a:t>
            </a:r>
            <a:endParaRPr lang="en-US" sz="1600" dirty="0"/>
          </a:p>
        </p:txBody>
      </p:sp>
      <p:sp>
        <p:nvSpPr>
          <p:cNvPr id="15" name="Text 33">
            <a:extLst>
              <a:ext uri="{FF2B5EF4-FFF2-40B4-BE49-F238E27FC236}">
                <a16:creationId xmlns:a16="http://schemas.microsoft.com/office/drawing/2014/main" id="{AA675187-3C8C-D892-95B3-DC6F8E4D6683}"/>
              </a:ext>
            </a:extLst>
          </p:cNvPr>
          <p:cNvSpPr/>
          <p:nvPr/>
        </p:nvSpPr>
        <p:spPr>
          <a:xfrm>
            <a:off x="5304632" y="6514782"/>
            <a:ext cx="1827213" cy="1905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人群中动态避障</a:t>
            </a:r>
            <a:endParaRPr lang="en-US" sz="1600" dirty="0"/>
          </a:p>
        </p:txBody>
      </p:sp>
      <p:sp>
        <p:nvSpPr>
          <p:cNvPr id="16" name="Shape 34">
            <a:extLst>
              <a:ext uri="{FF2B5EF4-FFF2-40B4-BE49-F238E27FC236}">
                <a16:creationId xmlns:a16="http://schemas.microsoft.com/office/drawing/2014/main" id="{88C8563A-0CD9-078D-1C10-C0BAC533F15B}"/>
              </a:ext>
            </a:extLst>
          </p:cNvPr>
          <p:cNvSpPr/>
          <p:nvPr/>
        </p:nvSpPr>
        <p:spPr>
          <a:xfrm>
            <a:off x="7293716" y="6192901"/>
            <a:ext cx="125016" cy="142875"/>
          </a:xfrm>
          <a:custGeom>
            <a:avLst/>
            <a:gdLst/>
            <a:ahLst/>
            <a:cxnLst/>
            <a:rect l="l" t="t" r="r" b="b"/>
            <a:pathLst>
              <a:path w="125016" h="142875">
                <a:moveTo>
                  <a:pt x="103082" y="35719"/>
                </a:moveTo>
                <a:lnTo>
                  <a:pt x="93511" y="22324"/>
                </a:lnTo>
                <a:lnTo>
                  <a:pt x="31533" y="22324"/>
                </a:lnTo>
                <a:lnTo>
                  <a:pt x="21961" y="35719"/>
                </a:lnTo>
                <a:lnTo>
                  <a:pt x="103082" y="35719"/>
                </a:lnTo>
                <a:close/>
                <a:moveTo>
                  <a:pt x="0" y="41439"/>
                </a:moveTo>
                <a:cubicBezTo>
                  <a:pt x="0" y="37728"/>
                  <a:pt x="1172" y="34100"/>
                  <a:pt x="3321" y="31059"/>
                </a:cubicBezTo>
                <a:lnTo>
                  <a:pt x="16994" y="11943"/>
                </a:lnTo>
                <a:cubicBezTo>
                  <a:pt x="20343" y="7255"/>
                  <a:pt x="25757" y="4465"/>
                  <a:pt x="31505" y="4465"/>
                </a:cubicBezTo>
                <a:lnTo>
                  <a:pt x="93483" y="4465"/>
                </a:lnTo>
                <a:cubicBezTo>
                  <a:pt x="99259" y="4465"/>
                  <a:pt x="104673" y="7255"/>
                  <a:pt x="108021" y="11943"/>
                </a:cubicBezTo>
                <a:lnTo>
                  <a:pt x="121667" y="31059"/>
                </a:lnTo>
                <a:cubicBezTo>
                  <a:pt x="123844" y="34100"/>
                  <a:pt x="124988" y="37728"/>
                  <a:pt x="124988" y="41439"/>
                </a:cubicBezTo>
                <a:lnTo>
                  <a:pt x="125016" y="116086"/>
                </a:lnTo>
                <a:cubicBezTo>
                  <a:pt x="125016" y="125936"/>
                  <a:pt x="117007" y="133945"/>
                  <a:pt x="107156" y="133945"/>
                </a:cubicBezTo>
                <a:lnTo>
                  <a:pt x="17859" y="133945"/>
                </a:lnTo>
                <a:cubicBezTo>
                  <a:pt x="8009" y="133945"/>
                  <a:pt x="0" y="125936"/>
                  <a:pt x="0" y="116086"/>
                </a:cubicBezTo>
                <a:lnTo>
                  <a:pt x="0" y="41439"/>
                </a:lnTo>
                <a:close/>
              </a:path>
            </a:pathLst>
          </a:custGeom>
          <a:solidFill>
            <a:srgbClr val="E6B450"/>
          </a:solidFill>
        </p:spPr>
      </p:sp>
      <p:sp>
        <p:nvSpPr>
          <p:cNvPr id="17" name="Text 35">
            <a:extLst>
              <a:ext uri="{FF2B5EF4-FFF2-40B4-BE49-F238E27FC236}">
                <a16:creationId xmlns:a16="http://schemas.microsoft.com/office/drawing/2014/main" id="{EE40C6FF-2A6A-5B98-F63E-E2D9A21622F0}"/>
              </a:ext>
            </a:extLst>
          </p:cNvPr>
          <p:cNvSpPr/>
          <p:nvPr/>
        </p:nvSpPr>
        <p:spPr>
          <a:xfrm>
            <a:off x="7538786" y="6142101"/>
            <a:ext cx="960438" cy="222250"/>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物品移动</a:t>
            </a:r>
            <a:endParaRPr lang="en-US" sz="1600" dirty="0"/>
          </a:p>
        </p:txBody>
      </p:sp>
      <p:sp>
        <p:nvSpPr>
          <p:cNvPr id="18" name="Text 36">
            <a:extLst>
              <a:ext uri="{FF2B5EF4-FFF2-40B4-BE49-F238E27FC236}">
                <a16:creationId xmlns:a16="http://schemas.microsoft.com/office/drawing/2014/main" id="{7DDA1B9B-FAE4-8544-69F1-2954041D7E72}"/>
              </a:ext>
            </a:extLst>
          </p:cNvPr>
          <p:cNvSpPr/>
          <p:nvPr/>
        </p:nvSpPr>
        <p:spPr>
          <a:xfrm>
            <a:off x="7538785" y="6514782"/>
            <a:ext cx="1827213" cy="1905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仓库中货物搬运</a:t>
            </a:r>
            <a:endParaRPr lang="en-US" sz="1600" dirty="0"/>
          </a:p>
        </p:txBody>
      </p:sp>
      <p:sp>
        <p:nvSpPr>
          <p:cNvPr id="19" name="Text 27">
            <a:extLst>
              <a:ext uri="{FF2B5EF4-FFF2-40B4-BE49-F238E27FC236}">
                <a16:creationId xmlns:a16="http://schemas.microsoft.com/office/drawing/2014/main" id="{E6BD5325-CF93-3BE4-BA5F-529EC06C9A6D}"/>
              </a:ext>
            </a:extLst>
          </p:cNvPr>
          <p:cNvSpPr/>
          <p:nvPr/>
        </p:nvSpPr>
        <p:spPr>
          <a:xfrm>
            <a:off x="1000339" y="6301429"/>
            <a:ext cx="1463462" cy="222250"/>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动态适应场景</a:t>
            </a:r>
            <a:endParaRPr lang="en-US" dirty="0"/>
          </a:p>
        </p:txBody>
      </p:sp>
    </p:spTree>
    <p:extLst>
      <p:ext uri="{BB962C8B-B14F-4D97-AF65-F5344CB8AC3E}">
        <p14:creationId xmlns:p14="http://schemas.microsoft.com/office/powerpoint/2010/main" val="509774319"/>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89105" y="1686128"/>
            <a:ext cx="11093833" cy="1667599"/>
          </a:xfrm>
          <a:custGeom>
            <a:avLst/>
            <a:gdLst/>
            <a:ahLst/>
            <a:cxnLst/>
            <a:rect l="l" t="t" r="r" b="b"/>
            <a:pathLst>
              <a:path w="7411550" h="1667599">
                <a:moveTo>
                  <a:pt x="37058" y="0"/>
                </a:moveTo>
                <a:lnTo>
                  <a:pt x="7300371" y="0"/>
                </a:lnTo>
                <a:cubicBezTo>
                  <a:pt x="7361774" y="0"/>
                  <a:pt x="7411550" y="49776"/>
                  <a:pt x="7411550" y="111179"/>
                </a:cubicBezTo>
                <a:lnTo>
                  <a:pt x="7411550" y="1556420"/>
                </a:lnTo>
                <a:cubicBezTo>
                  <a:pt x="7411550" y="1617822"/>
                  <a:pt x="7361774" y="1667599"/>
                  <a:pt x="7300371" y="1667599"/>
                </a:cubicBezTo>
                <a:lnTo>
                  <a:pt x="37058" y="1667599"/>
                </a:lnTo>
                <a:cubicBezTo>
                  <a:pt x="16591" y="1667599"/>
                  <a:pt x="0" y="1651007"/>
                  <a:pt x="0" y="1630541"/>
                </a:cubicBezTo>
                <a:lnTo>
                  <a:pt x="0" y="37058"/>
                </a:lnTo>
                <a:cubicBezTo>
                  <a:pt x="0" y="16591"/>
                  <a:pt x="16591" y="0"/>
                  <a:pt x="37058" y="0"/>
                </a:cubicBezTo>
                <a:close/>
              </a:path>
            </a:pathLst>
          </a:custGeom>
          <a:solidFill>
            <a:srgbClr val="5F87A7">
              <a:alpha val="10196"/>
            </a:srgbClr>
          </a:solidFill>
        </p:spPr>
      </p:sp>
      <p:sp>
        <p:nvSpPr>
          <p:cNvPr id="6" name="Shape 4"/>
          <p:cNvSpPr/>
          <p:nvPr/>
        </p:nvSpPr>
        <p:spPr>
          <a:xfrm>
            <a:off x="389106" y="1686128"/>
            <a:ext cx="37058" cy="1667599"/>
          </a:xfrm>
          <a:custGeom>
            <a:avLst/>
            <a:gdLst/>
            <a:ahLst/>
            <a:cxnLst/>
            <a:rect l="l" t="t" r="r" b="b"/>
            <a:pathLst>
              <a:path w="37058" h="1667599">
                <a:moveTo>
                  <a:pt x="37058" y="0"/>
                </a:moveTo>
                <a:lnTo>
                  <a:pt x="37058" y="0"/>
                </a:lnTo>
                <a:lnTo>
                  <a:pt x="37058" y="1667599"/>
                </a:lnTo>
                <a:lnTo>
                  <a:pt x="37058" y="1667599"/>
                </a:lnTo>
                <a:cubicBezTo>
                  <a:pt x="16591" y="1667599"/>
                  <a:pt x="0" y="1651007"/>
                  <a:pt x="0" y="1630541"/>
                </a:cubicBezTo>
                <a:lnTo>
                  <a:pt x="0" y="37058"/>
                </a:lnTo>
                <a:cubicBezTo>
                  <a:pt x="0" y="16591"/>
                  <a:pt x="16591" y="0"/>
                  <a:pt x="37058" y="0"/>
                </a:cubicBezTo>
                <a:close/>
              </a:path>
            </a:pathLst>
          </a:custGeom>
          <a:solidFill>
            <a:srgbClr val="E6B450"/>
          </a:solidFill>
        </p:spPr>
      </p:sp>
      <p:sp>
        <p:nvSpPr>
          <p:cNvPr id="7" name="Shape 5"/>
          <p:cNvSpPr/>
          <p:nvPr/>
        </p:nvSpPr>
        <p:spPr>
          <a:xfrm>
            <a:off x="611453" y="1945532"/>
            <a:ext cx="194553" cy="222347"/>
          </a:xfrm>
          <a:custGeom>
            <a:avLst/>
            <a:gdLst/>
            <a:ahLst/>
            <a:cxnLst/>
            <a:rect l="l" t="t" r="r" b="b"/>
            <a:pathLst>
              <a:path w="194553" h="222347">
                <a:moveTo>
                  <a:pt x="166760" y="222347"/>
                </a:moveTo>
                <a:lnTo>
                  <a:pt x="41690" y="222347"/>
                </a:lnTo>
                <a:cubicBezTo>
                  <a:pt x="18674" y="222347"/>
                  <a:pt x="0" y="203673"/>
                  <a:pt x="0" y="180657"/>
                </a:cubicBezTo>
                <a:lnTo>
                  <a:pt x="0" y="41690"/>
                </a:lnTo>
                <a:cubicBezTo>
                  <a:pt x="0" y="18674"/>
                  <a:pt x="18674" y="0"/>
                  <a:pt x="41690" y="0"/>
                </a:cubicBezTo>
                <a:lnTo>
                  <a:pt x="173708" y="0"/>
                </a:lnTo>
                <a:cubicBezTo>
                  <a:pt x="185216" y="0"/>
                  <a:pt x="194553" y="9337"/>
                  <a:pt x="194553" y="20845"/>
                </a:cubicBezTo>
                <a:lnTo>
                  <a:pt x="194553" y="145915"/>
                </a:lnTo>
                <a:cubicBezTo>
                  <a:pt x="194553" y="154991"/>
                  <a:pt x="188734" y="162721"/>
                  <a:pt x="180657" y="165587"/>
                </a:cubicBezTo>
                <a:lnTo>
                  <a:pt x="180657" y="194553"/>
                </a:lnTo>
                <a:cubicBezTo>
                  <a:pt x="188343" y="194553"/>
                  <a:pt x="194553" y="200763"/>
                  <a:pt x="194553" y="208450"/>
                </a:cubicBezTo>
                <a:cubicBezTo>
                  <a:pt x="194553" y="216136"/>
                  <a:pt x="188343" y="222347"/>
                  <a:pt x="180657" y="222347"/>
                </a:cubicBezTo>
                <a:lnTo>
                  <a:pt x="166760" y="222347"/>
                </a:lnTo>
                <a:close/>
                <a:moveTo>
                  <a:pt x="41690" y="166760"/>
                </a:moveTo>
                <a:cubicBezTo>
                  <a:pt x="34003" y="166760"/>
                  <a:pt x="27793" y="172970"/>
                  <a:pt x="27793" y="180657"/>
                </a:cubicBezTo>
                <a:cubicBezTo>
                  <a:pt x="27793" y="188343"/>
                  <a:pt x="34003" y="194553"/>
                  <a:pt x="41690" y="194553"/>
                </a:cubicBezTo>
                <a:lnTo>
                  <a:pt x="152863" y="194553"/>
                </a:lnTo>
                <a:lnTo>
                  <a:pt x="152863" y="166760"/>
                </a:lnTo>
                <a:lnTo>
                  <a:pt x="41690" y="166760"/>
                </a:lnTo>
                <a:close/>
                <a:moveTo>
                  <a:pt x="55587" y="66009"/>
                </a:moveTo>
                <a:cubicBezTo>
                  <a:pt x="55587" y="71785"/>
                  <a:pt x="60233" y="76432"/>
                  <a:pt x="66009" y="76432"/>
                </a:cubicBezTo>
                <a:lnTo>
                  <a:pt x="142441" y="76432"/>
                </a:lnTo>
                <a:cubicBezTo>
                  <a:pt x="148217" y="76432"/>
                  <a:pt x="152863" y="71785"/>
                  <a:pt x="152863" y="66009"/>
                </a:cubicBezTo>
                <a:cubicBezTo>
                  <a:pt x="152863" y="60233"/>
                  <a:pt x="148217" y="55587"/>
                  <a:pt x="142441" y="55587"/>
                </a:cubicBezTo>
                <a:lnTo>
                  <a:pt x="66009" y="55587"/>
                </a:lnTo>
                <a:cubicBezTo>
                  <a:pt x="60233" y="55587"/>
                  <a:pt x="55587" y="60233"/>
                  <a:pt x="55587" y="66009"/>
                </a:cubicBezTo>
                <a:close/>
                <a:moveTo>
                  <a:pt x="66009" y="97277"/>
                </a:moveTo>
                <a:cubicBezTo>
                  <a:pt x="60233" y="97277"/>
                  <a:pt x="55587" y="101923"/>
                  <a:pt x="55587" y="107699"/>
                </a:cubicBezTo>
                <a:cubicBezTo>
                  <a:pt x="55587" y="113475"/>
                  <a:pt x="60233" y="118122"/>
                  <a:pt x="66009" y="118122"/>
                </a:cubicBezTo>
                <a:lnTo>
                  <a:pt x="142441" y="118122"/>
                </a:lnTo>
                <a:cubicBezTo>
                  <a:pt x="148217" y="118122"/>
                  <a:pt x="152863" y="113475"/>
                  <a:pt x="152863" y="107699"/>
                </a:cubicBezTo>
                <a:cubicBezTo>
                  <a:pt x="152863" y="101923"/>
                  <a:pt x="148217" y="97277"/>
                  <a:pt x="142441" y="97277"/>
                </a:cubicBezTo>
                <a:lnTo>
                  <a:pt x="66009" y="97277"/>
                </a:lnTo>
                <a:close/>
              </a:path>
            </a:pathLst>
          </a:custGeom>
          <a:solidFill>
            <a:srgbClr val="E6B450"/>
          </a:solidFill>
        </p:spPr>
      </p:sp>
      <p:sp>
        <p:nvSpPr>
          <p:cNvPr id="8" name="Text 6"/>
          <p:cNvSpPr/>
          <p:nvPr/>
        </p:nvSpPr>
        <p:spPr>
          <a:xfrm>
            <a:off x="933247" y="1908474"/>
            <a:ext cx="6763040" cy="296462"/>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定义</a:t>
            </a:r>
            <a:endParaRPr lang="en-US" dirty="0"/>
          </a:p>
        </p:txBody>
      </p:sp>
      <p:sp>
        <p:nvSpPr>
          <p:cNvPr id="9" name="Text 7"/>
          <p:cNvSpPr/>
          <p:nvPr/>
        </p:nvSpPr>
        <p:spPr>
          <a:xfrm>
            <a:off x="933247" y="2316109"/>
            <a:ext cx="10217136" cy="815271"/>
          </a:xfrm>
          <a:prstGeom prst="rect">
            <a:avLst/>
          </a:prstGeom>
          <a:noFill/>
        </p:spPr>
        <p:txBody>
          <a:bodyPr wrap="square" lIns="0" tIns="0" rIns="0" bIns="0" rtlCol="0" anchor="ctr"/>
          <a:lstStyle/>
          <a:p>
            <a:pPr>
              <a:lnSpc>
                <a:spcPct val="14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拓扑地图（topological map）</a:t>
            </a:r>
            <a:r>
              <a:rPr lang="en-US" dirty="0">
                <a:latin typeface="微软雅黑" panose="020B0503020204020204" pitchFamily="34" charset="-122"/>
                <a:ea typeface="微软雅黑" panose="020B0503020204020204" pitchFamily="34" charset="-122"/>
                <a:cs typeface="微软雅黑" panose="020B0503020204020204" pitchFamily="34" charset="-122"/>
              </a:rPr>
              <a:t>不像度量地图那样详尽地考虑环境中的每一个物体，而是只考虑机器人能够识别的</a:t>
            </a:r>
            <a:r>
              <a:rPr lang="en-US"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特征 </a:t>
            </a:r>
            <a:r>
              <a:rPr lang="en-US" dirty="0">
                <a:latin typeface="微软雅黑" panose="020B0503020204020204" pitchFamily="34" charset="-122"/>
                <a:ea typeface="微软雅黑" panose="020B0503020204020204" pitchFamily="34" charset="-122"/>
                <a:cs typeface="微软雅黑" panose="020B0503020204020204" pitchFamily="34" charset="-122"/>
              </a:rPr>
              <a:t>或者</a:t>
            </a:r>
            <a:r>
              <a:rPr lang="en-US"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感兴趣的地点 </a:t>
            </a:r>
            <a:r>
              <a:rPr lang="en-US" dirty="0">
                <a:latin typeface="微软雅黑" panose="020B0503020204020204" pitchFamily="34" charset="-122"/>
                <a:ea typeface="微软雅黑" panose="020B0503020204020204" pitchFamily="34" charset="-122"/>
                <a:cs typeface="微软雅黑" panose="020B0503020204020204" pitchFamily="34" charset="-122"/>
              </a:rPr>
              <a:t>。这些物体或地点在拓扑地图里被称为</a:t>
            </a:r>
            <a:r>
              <a:rPr lang="en-US" b="1" dirty="0">
                <a:latin typeface="微软雅黑" panose="020B0503020204020204" pitchFamily="34" charset="-122"/>
                <a:ea typeface="微软雅黑" panose="020B0503020204020204" pitchFamily="34" charset="-122"/>
                <a:cs typeface="微软雅黑" panose="020B0503020204020204" pitchFamily="34" charset="-122"/>
              </a:rPr>
              <a:t>地标</a:t>
            </a:r>
            <a:r>
              <a:rPr 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US" dirty="0"/>
          </a:p>
        </p:txBody>
      </p:sp>
      <p:sp>
        <p:nvSpPr>
          <p:cNvPr id="10" name="Shape 8"/>
          <p:cNvSpPr/>
          <p:nvPr/>
        </p:nvSpPr>
        <p:spPr>
          <a:xfrm>
            <a:off x="389106" y="3525632"/>
            <a:ext cx="11093832" cy="1667599"/>
          </a:xfrm>
          <a:custGeom>
            <a:avLst/>
            <a:gdLst/>
            <a:ahLst/>
            <a:cxnLst/>
            <a:rect l="l" t="t" r="r" b="b"/>
            <a:pathLst>
              <a:path w="7411550" h="1667599">
                <a:moveTo>
                  <a:pt x="37058" y="0"/>
                </a:moveTo>
                <a:lnTo>
                  <a:pt x="7300371" y="0"/>
                </a:lnTo>
                <a:cubicBezTo>
                  <a:pt x="7361774" y="0"/>
                  <a:pt x="7411550" y="49776"/>
                  <a:pt x="7411550" y="111179"/>
                </a:cubicBezTo>
                <a:lnTo>
                  <a:pt x="7411550" y="1556420"/>
                </a:lnTo>
                <a:cubicBezTo>
                  <a:pt x="7411550" y="1617822"/>
                  <a:pt x="7361774" y="1667599"/>
                  <a:pt x="7300371" y="1667599"/>
                </a:cubicBezTo>
                <a:lnTo>
                  <a:pt x="37058" y="1667599"/>
                </a:lnTo>
                <a:cubicBezTo>
                  <a:pt x="16591" y="1667599"/>
                  <a:pt x="0" y="1651007"/>
                  <a:pt x="0" y="1630541"/>
                </a:cubicBezTo>
                <a:lnTo>
                  <a:pt x="0" y="37058"/>
                </a:lnTo>
                <a:cubicBezTo>
                  <a:pt x="0" y="16591"/>
                  <a:pt x="16591" y="0"/>
                  <a:pt x="37058" y="0"/>
                </a:cubicBezTo>
                <a:close/>
              </a:path>
            </a:pathLst>
          </a:custGeom>
          <a:solidFill>
            <a:srgbClr val="5F87A7">
              <a:alpha val="10196"/>
            </a:srgbClr>
          </a:solidFill>
        </p:spPr>
      </p:sp>
      <p:sp>
        <p:nvSpPr>
          <p:cNvPr id="11" name="Shape 9"/>
          <p:cNvSpPr/>
          <p:nvPr/>
        </p:nvSpPr>
        <p:spPr>
          <a:xfrm>
            <a:off x="389106" y="3525632"/>
            <a:ext cx="37058" cy="1667599"/>
          </a:xfrm>
          <a:custGeom>
            <a:avLst/>
            <a:gdLst/>
            <a:ahLst/>
            <a:cxnLst/>
            <a:rect l="l" t="t" r="r" b="b"/>
            <a:pathLst>
              <a:path w="37058" h="1667599">
                <a:moveTo>
                  <a:pt x="37058" y="0"/>
                </a:moveTo>
                <a:lnTo>
                  <a:pt x="37058" y="0"/>
                </a:lnTo>
                <a:lnTo>
                  <a:pt x="37058" y="1667599"/>
                </a:lnTo>
                <a:lnTo>
                  <a:pt x="37058" y="1667599"/>
                </a:lnTo>
                <a:cubicBezTo>
                  <a:pt x="16591" y="1667599"/>
                  <a:pt x="0" y="1651007"/>
                  <a:pt x="0" y="1630541"/>
                </a:cubicBezTo>
                <a:lnTo>
                  <a:pt x="0" y="37058"/>
                </a:lnTo>
                <a:cubicBezTo>
                  <a:pt x="0" y="16591"/>
                  <a:pt x="16591" y="0"/>
                  <a:pt x="37058" y="0"/>
                </a:cubicBezTo>
                <a:close/>
              </a:path>
            </a:pathLst>
          </a:custGeom>
          <a:solidFill>
            <a:srgbClr val="E6B450"/>
          </a:solidFill>
        </p:spPr>
      </p:sp>
      <p:sp>
        <p:nvSpPr>
          <p:cNvPr id="12" name="Shape 10"/>
          <p:cNvSpPr/>
          <p:nvPr/>
        </p:nvSpPr>
        <p:spPr>
          <a:xfrm>
            <a:off x="597556" y="3785036"/>
            <a:ext cx="222347" cy="222347"/>
          </a:xfrm>
          <a:custGeom>
            <a:avLst/>
            <a:gdLst/>
            <a:ahLst/>
            <a:cxnLst/>
            <a:rect l="l" t="t" r="r" b="b"/>
            <a:pathLst>
              <a:path w="222347" h="222347">
                <a:moveTo>
                  <a:pt x="0" y="34742"/>
                </a:moveTo>
                <a:cubicBezTo>
                  <a:pt x="0" y="23233"/>
                  <a:pt x="9337" y="13897"/>
                  <a:pt x="20845" y="13897"/>
                </a:cubicBezTo>
                <a:lnTo>
                  <a:pt x="62535" y="13897"/>
                </a:lnTo>
                <a:cubicBezTo>
                  <a:pt x="74043" y="13897"/>
                  <a:pt x="83380" y="23233"/>
                  <a:pt x="83380" y="34742"/>
                </a:cubicBezTo>
                <a:lnTo>
                  <a:pt x="83380" y="41690"/>
                </a:lnTo>
                <a:lnTo>
                  <a:pt x="138967" y="41690"/>
                </a:lnTo>
                <a:lnTo>
                  <a:pt x="138967" y="34742"/>
                </a:lnTo>
                <a:cubicBezTo>
                  <a:pt x="138967" y="23233"/>
                  <a:pt x="148303" y="13897"/>
                  <a:pt x="159812" y="13897"/>
                </a:cubicBezTo>
                <a:lnTo>
                  <a:pt x="201502" y="13897"/>
                </a:lnTo>
                <a:cubicBezTo>
                  <a:pt x="213010" y="13897"/>
                  <a:pt x="222347" y="23233"/>
                  <a:pt x="222347" y="34742"/>
                </a:cubicBezTo>
                <a:lnTo>
                  <a:pt x="222347" y="76432"/>
                </a:lnTo>
                <a:cubicBezTo>
                  <a:pt x="222347" y="87940"/>
                  <a:pt x="213010" y="97277"/>
                  <a:pt x="201502" y="97277"/>
                </a:cubicBezTo>
                <a:lnTo>
                  <a:pt x="159812" y="97277"/>
                </a:lnTo>
                <a:cubicBezTo>
                  <a:pt x="148303" y="97277"/>
                  <a:pt x="138967" y="87940"/>
                  <a:pt x="138967" y="76432"/>
                </a:cubicBezTo>
                <a:lnTo>
                  <a:pt x="138967" y="69483"/>
                </a:lnTo>
                <a:lnTo>
                  <a:pt x="83380" y="69483"/>
                </a:lnTo>
                <a:lnTo>
                  <a:pt x="83380" y="76432"/>
                </a:lnTo>
                <a:cubicBezTo>
                  <a:pt x="83380" y="79602"/>
                  <a:pt x="82642" y="82642"/>
                  <a:pt x="81382" y="85334"/>
                </a:cubicBezTo>
                <a:lnTo>
                  <a:pt x="111173" y="125070"/>
                </a:lnTo>
                <a:lnTo>
                  <a:pt x="145915" y="125070"/>
                </a:lnTo>
                <a:cubicBezTo>
                  <a:pt x="157423" y="125070"/>
                  <a:pt x="166760" y="134407"/>
                  <a:pt x="166760" y="145915"/>
                </a:cubicBezTo>
                <a:lnTo>
                  <a:pt x="166760" y="187605"/>
                </a:lnTo>
                <a:cubicBezTo>
                  <a:pt x="166760" y="199113"/>
                  <a:pt x="157423" y="208450"/>
                  <a:pt x="145915" y="208450"/>
                </a:cubicBezTo>
                <a:lnTo>
                  <a:pt x="104225" y="208450"/>
                </a:lnTo>
                <a:cubicBezTo>
                  <a:pt x="92717" y="208450"/>
                  <a:pt x="83380" y="199113"/>
                  <a:pt x="83380" y="187605"/>
                </a:cubicBezTo>
                <a:lnTo>
                  <a:pt x="83380" y="145915"/>
                </a:lnTo>
                <a:cubicBezTo>
                  <a:pt x="83380" y="142745"/>
                  <a:pt x="84118" y="139705"/>
                  <a:pt x="85378" y="137012"/>
                </a:cubicBezTo>
                <a:lnTo>
                  <a:pt x="55587" y="97277"/>
                </a:lnTo>
                <a:lnTo>
                  <a:pt x="20845" y="97277"/>
                </a:lnTo>
                <a:cubicBezTo>
                  <a:pt x="9337" y="97277"/>
                  <a:pt x="0" y="87940"/>
                  <a:pt x="0" y="76432"/>
                </a:cubicBezTo>
                <a:lnTo>
                  <a:pt x="0" y="34742"/>
                </a:lnTo>
                <a:close/>
              </a:path>
            </a:pathLst>
          </a:custGeom>
          <a:solidFill>
            <a:srgbClr val="E6B450"/>
          </a:solidFill>
        </p:spPr>
      </p:sp>
      <p:sp>
        <p:nvSpPr>
          <p:cNvPr id="13" name="Text 11"/>
          <p:cNvSpPr/>
          <p:nvPr/>
        </p:nvSpPr>
        <p:spPr>
          <a:xfrm>
            <a:off x="933247" y="3747978"/>
            <a:ext cx="6763040" cy="296462"/>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抽象表示</a:t>
            </a:r>
            <a:endParaRPr lang="en-US" dirty="0"/>
          </a:p>
        </p:txBody>
      </p:sp>
      <p:sp>
        <p:nvSpPr>
          <p:cNvPr id="14" name="Text 12"/>
          <p:cNvSpPr/>
          <p:nvPr/>
        </p:nvSpPr>
        <p:spPr>
          <a:xfrm>
            <a:off x="933247" y="4155614"/>
            <a:ext cx="10222432" cy="815271"/>
          </a:xfrm>
          <a:prstGeom prst="rect">
            <a:avLst/>
          </a:prstGeom>
          <a:noFill/>
        </p:spPr>
        <p:txBody>
          <a:bodyPr wrap="square" lIns="0" tIns="0" rIns="0" bIns="0" rtlCol="0" anchor="ctr"/>
          <a:lstStyle/>
          <a:p>
            <a:pPr>
              <a:lnSpc>
                <a:spcPct val="140000"/>
              </a:lnSpc>
            </a:pPr>
            <a:r>
              <a:rPr lang="en-US" dirty="0">
                <a:latin typeface="微软雅黑" panose="020B0503020204020204" pitchFamily="34" charset="-122"/>
                <a:ea typeface="微软雅黑" panose="020B0503020204020204" pitchFamily="34" charset="-122"/>
                <a:cs typeface="微软雅黑" panose="020B0503020204020204" pitchFamily="34" charset="-122"/>
              </a:rPr>
              <a:t>拓扑地图作为一种</a:t>
            </a:r>
            <a:r>
              <a:rPr lang="en-US" b="1" dirty="0">
                <a:latin typeface="微软雅黑" panose="020B0503020204020204" pitchFamily="34" charset="-122"/>
                <a:ea typeface="微软雅黑" panose="020B0503020204020204" pitchFamily="34" charset="-122"/>
                <a:cs typeface="微软雅黑" panose="020B0503020204020204" pitchFamily="34" charset="-122"/>
              </a:rPr>
              <a:t>抽象的地图表示方法</a:t>
            </a:r>
            <a:r>
              <a:rPr lang="en-US" dirty="0">
                <a:latin typeface="微软雅黑" panose="020B0503020204020204" pitchFamily="34" charset="-122"/>
                <a:ea typeface="微软雅黑" panose="020B0503020204020204" pitchFamily="34" charset="-122"/>
                <a:cs typeface="微软雅黑" panose="020B0503020204020204" pitchFamily="34" charset="-122"/>
              </a:rPr>
              <a:t>，它强调的是</a:t>
            </a:r>
            <a:r>
              <a:rPr lang="en-US"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地点之间的连通性 </a:t>
            </a:r>
            <a:r>
              <a:rPr lang="en-US" dirty="0">
                <a:latin typeface="微软雅黑" panose="020B0503020204020204" pitchFamily="34" charset="-122"/>
                <a:ea typeface="微软雅黑" panose="020B0503020204020204" pitchFamily="34" charset="-122"/>
                <a:cs typeface="微软雅黑" panose="020B0503020204020204" pitchFamily="34" charset="-122"/>
              </a:rPr>
              <a:t>而非具体的地理位置。在这种表示中，每个地标是一个代表现实世界中特定区域的</a:t>
            </a:r>
            <a:r>
              <a:rPr lang="en-US"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节点 </a:t>
            </a:r>
            <a:r>
              <a:rPr lang="en-US" dirty="0">
                <a:latin typeface="微软雅黑" panose="020B0503020204020204" pitchFamily="34" charset="-122"/>
                <a:ea typeface="微软雅黑" panose="020B0503020204020204" pitchFamily="34" charset="-122"/>
                <a:cs typeface="微软雅黑" panose="020B0503020204020204" pitchFamily="34" charset="-122"/>
              </a:rPr>
              <a:t>，而连线则表示这些节点间的邻接关系（称为</a:t>
            </a:r>
            <a:r>
              <a:rPr lang="en-US"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边 </a:t>
            </a:r>
            <a:r>
              <a:rPr 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US" dirty="0"/>
          </a:p>
        </p:txBody>
      </p:sp>
      <p:sp>
        <p:nvSpPr>
          <p:cNvPr id="15" name="Shape 13"/>
          <p:cNvSpPr/>
          <p:nvPr/>
        </p:nvSpPr>
        <p:spPr>
          <a:xfrm>
            <a:off x="389106" y="5365136"/>
            <a:ext cx="11093832" cy="1398930"/>
          </a:xfrm>
          <a:custGeom>
            <a:avLst/>
            <a:gdLst/>
            <a:ahLst/>
            <a:cxnLst/>
            <a:rect l="l" t="t" r="r" b="b"/>
            <a:pathLst>
              <a:path w="7411550" h="1398930">
                <a:moveTo>
                  <a:pt x="37058" y="0"/>
                </a:moveTo>
                <a:lnTo>
                  <a:pt x="7300377" y="0"/>
                </a:lnTo>
                <a:cubicBezTo>
                  <a:pt x="7361735" y="0"/>
                  <a:pt x="7411550" y="49815"/>
                  <a:pt x="7411550" y="111173"/>
                </a:cubicBezTo>
                <a:lnTo>
                  <a:pt x="7411550" y="1287757"/>
                </a:lnTo>
                <a:cubicBezTo>
                  <a:pt x="7411550" y="1349115"/>
                  <a:pt x="7361735" y="1398930"/>
                  <a:pt x="7300377" y="1398930"/>
                </a:cubicBezTo>
                <a:lnTo>
                  <a:pt x="37058" y="1398930"/>
                </a:lnTo>
                <a:cubicBezTo>
                  <a:pt x="16591" y="1398930"/>
                  <a:pt x="0" y="1382339"/>
                  <a:pt x="0" y="1361872"/>
                </a:cubicBezTo>
                <a:lnTo>
                  <a:pt x="0" y="37058"/>
                </a:lnTo>
                <a:cubicBezTo>
                  <a:pt x="0" y="16605"/>
                  <a:pt x="16605" y="0"/>
                  <a:pt x="37058" y="0"/>
                </a:cubicBezTo>
                <a:close/>
              </a:path>
            </a:pathLst>
          </a:custGeom>
          <a:solidFill>
            <a:srgbClr val="5F87A7">
              <a:alpha val="10196"/>
            </a:srgbClr>
          </a:solidFill>
        </p:spPr>
      </p:sp>
      <p:sp>
        <p:nvSpPr>
          <p:cNvPr id="16" name="Shape 14"/>
          <p:cNvSpPr/>
          <p:nvPr/>
        </p:nvSpPr>
        <p:spPr>
          <a:xfrm>
            <a:off x="389106" y="5365136"/>
            <a:ext cx="37058" cy="1398930"/>
          </a:xfrm>
          <a:custGeom>
            <a:avLst/>
            <a:gdLst/>
            <a:ahLst/>
            <a:cxnLst/>
            <a:rect l="l" t="t" r="r" b="b"/>
            <a:pathLst>
              <a:path w="37058" h="1398930">
                <a:moveTo>
                  <a:pt x="37058" y="0"/>
                </a:moveTo>
                <a:lnTo>
                  <a:pt x="37058" y="0"/>
                </a:lnTo>
                <a:lnTo>
                  <a:pt x="37058" y="1398930"/>
                </a:lnTo>
                <a:lnTo>
                  <a:pt x="37058" y="1398930"/>
                </a:lnTo>
                <a:cubicBezTo>
                  <a:pt x="16591" y="1398930"/>
                  <a:pt x="0" y="1382339"/>
                  <a:pt x="0" y="1361872"/>
                </a:cubicBezTo>
                <a:lnTo>
                  <a:pt x="0" y="37058"/>
                </a:lnTo>
                <a:cubicBezTo>
                  <a:pt x="0" y="16591"/>
                  <a:pt x="16591" y="0"/>
                  <a:pt x="37058" y="0"/>
                </a:cubicBezTo>
                <a:close/>
              </a:path>
            </a:pathLst>
          </a:custGeom>
          <a:solidFill>
            <a:srgbClr val="E6B450"/>
          </a:solidFill>
        </p:spPr>
      </p:sp>
      <p:sp>
        <p:nvSpPr>
          <p:cNvPr id="17" name="Shape 15"/>
          <p:cNvSpPr/>
          <p:nvPr/>
        </p:nvSpPr>
        <p:spPr>
          <a:xfrm>
            <a:off x="597556" y="5624540"/>
            <a:ext cx="222347" cy="222347"/>
          </a:xfrm>
          <a:custGeom>
            <a:avLst/>
            <a:gdLst/>
            <a:ahLst/>
            <a:cxnLst/>
            <a:rect l="l" t="t" r="r" b="b"/>
            <a:pathLst>
              <a:path w="222347" h="222347">
                <a:moveTo>
                  <a:pt x="190862" y="3040"/>
                </a:moveTo>
                <a:cubicBezTo>
                  <a:pt x="194944" y="-1042"/>
                  <a:pt x="201545" y="-1042"/>
                  <a:pt x="205584" y="3040"/>
                </a:cubicBezTo>
                <a:lnTo>
                  <a:pt x="219480" y="16937"/>
                </a:lnTo>
                <a:cubicBezTo>
                  <a:pt x="223562" y="21019"/>
                  <a:pt x="223562" y="27620"/>
                  <a:pt x="219480" y="31658"/>
                </a:cubicBezTo>
                <a:lnTo>
                  <a:pt x="181699" y="69440"/>
                </a:lnTo>
                <a:lnTo>
                  <a:pt x="198635" y="86376"/>
                </a:lnTo>
                <a:cubicBezTo>
                  <a:pt x="201632" y="89373"/>
                  <a:pt x="202500" y="93846"/>
                  <a:pt x="200894" y="97754"/>
                </a:cubicBezTo>
                <a:cubicBezTo>
                  <a:pt x="199287" y="101663"/>
                  <a:pt x="195509" y="104225"/>
                  <a:pt x="191296" y="104225"/>
                </a:cubicBezTo>
                <a:lnTo>
                  <a:pt x="128761" y="104225"/>
                </a:lnTo>
                <a:cubicBezTo>
                  <a:pt x="122985" y="104225"/>
                  <a:pt x="118339" y="99578"/>
                  <a:pt x="118339" y="93802"/>
                </a:cubicBezTo>
                <a:lnTo>
                  <a:pt x="118339" y="31267"/>
                </a:lnTo>
                <a:cubicBezTo>
                  <a:pt x="118339" y="27055"/>
                  <a:pt x="120857" y="23233"/>
                  <a:pt x="124766" y="21627"/>
                </a:cubicBezTo>
                <a:cubicBezTo>
                  <a:pt x="128674" y="20020"/>
                  <a:pt x="133147" y="20888"/>
                  <a:pt x="136144" y="23885"/>
                </a:cubicBezTo>
                <a:lnTo>
                  <a:pt x="153080" y="40821"/>
                </a:lnTo>
                <a:lnTo>
                  <a:pt x="190862" y="3040"/>
                </a:lnTo>
                <a:close/>
                <a:moveTo>
                  <a:pt x="31485" y="118122"/>
                </a:moveTo>
                <a:lnTo>
                  <a:pt x="94020" y="118122"/>
                </a:lnTo>
                <a:cubicBezTo>
                  <a:pt x="99795" y="118122"/>
                  <a:pt x="104442" y="122768"/>
                  <a:pt x="104442" y="128544"/>
                </a:cubicBezTo>
                <a:lnTo>
                  <a:pt x="104442" y="191079"/>
                </a:lnTo>
                <a:cubicBezTo>
                  <a:pt x="104442" y="195291"/>
                  <a:pt x="101923" y="199113"/>
                  <a:pt x="98015" y="200720"/>
                </a:cubicBezTo>
                <a:cubicBezTo>
                  <a:pt x="94106" y="202327"/>
                  <a:pt x="89633" y="201458"/>
                  <a:pt x="86637" y="198462"/>
                </a:cubicBezTo>
                <a:lnTo>
                  <a:pt x="69700" y="181525"/>
                </a:lnTo>
                <a:lnTo>
                  <a:pt x="31919" y="219307"/>
                </a:lnTo>
                <a:cubicBezTo>
                  <a:pt x="27837" y="223389"/>
                  <a:pt x="21236" y="223389"/>
                  <a:pt x="17197" y="219307"/>
                </a:cubicBezTo>
                <a:lnTo>
                  <a:pt x="3300" y="205410"/>
                </a:lnTo>
                <a:cubicBezTo>
                  <a:pt x="-782" y="201328"/>
                  <a:pt x="-782" y="194727"/>
                  <a:pt x="3300" y="190688"/>
                </a:cubicBezTo>
                <a:lnTo>
                  <a:pt x="41082" y="152907"/>
                </a:lnTo>
                <a:lnTo>
                  <a:pt x="24145" y="135970"/>
                </a:lnTo>
                <a:cubicBezTo>
                  <a:pt x="21149" y="132974"/>
                  <a:pt x="20280" y="128501"/>
                  <a:pt x="21887" y="124592"/>
                </a:cubicBezTo>
                <a:cubicBezTo>
                  <a:pt x="23494" y="120684"/>
                  <a:pt x="27272" y="118122"/>
                  <a:pt x="31485" y="118122"/>
                </a:cubicBezTo>
                <a:close/>
              </a:path>
            </a:pathLst>
          </a:custGeom>
          <a:solidFill>
            <a:srgbClr val="E6B450"/>
          </a:solidFill>
        </p:spPr>
      </p:sp>
      <p:sp>
        <p:nvSpPr>
          <p:cNvPr id="18" name="Text 16"/>
          <p:cNvSpPr/>
          <p:nvPr/>
        </p:nvSpPr>
        <p:spPr>
          <a:xfrm>
            <a:off x="933247" y="5587483"/>
            <a:ext cx="6763040" cy="296462"/>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简化优势</a:t>
            </a:r>
            <a:endParaRPr lang="en-US" dirty="0"/>
          </a:p>
        </p:txBody>
      </p:sp>
      <p:sp>
        <p:nvSpPr>
          <p:cNvPr id="19" name="Text 17"/>
          <p:cNvSpPr/>
          <p:nvPr/>
        </p:nvSpPr>
        <p:spPr>
          <a:xfrm>
            <a:off x="933246" y="5995118"/>
            <a:ext cx="10222433" cy="546602"/>
          </a:xfrm>
          <a:prstGeom prst="rect">
            <a:avLst/>
          </a:prstGeom>
          <a:noFill/>
        </p:spPr>
        <p:txBody>
          <a:bodyPr wrap="square" lIns="0" tIns="0" rIns="0" bIns="0" rtlCol="0" anchor="ctr"/>
          <a:lstStyle/>
          <a:p>
            <a:pPr>
              <a:lnSpc>
                <a:spcPct val="140000"/>
              </a:lnSpc>
            </a:pPr>
            <a:r>
              <a:rPr lang="en-US" dirty="0">
                <a:latin typeface="微软雅黑" panose="020B0503020204020204" pitchFamily="34" charset="-122"/>
                <a:ea typeface="微软雅黑" panose="020B0503020204020204" pitchFamily="34" charset="-122"/>
                <a:cs typeface="微软雅黑" panose="020B0503020204020204" pitchFamily="34" charset="-122"/>
              </a:rPr>
              <a:t>当两个节点通过连线相连时，意味着机器人可以直接从一个节点移动到另一个节点。这种</a:t>
            </a:r>
            <a:r>
              <a:rPr lang="en-US" b="1" dirty="0">
                <a:latin typeface="微软雅黑" panose="020B0503020204020204" pitchFamily="34" charset="-122"/>
                <a:ea typeface="微软雅黑" panose="020B0503020204020204" pitchFamily="34" charset="-122"/>
                <a:cs typeface="微软雅黑" panose="020B0503020204020204" pitchFamily="34" charset="-122"/>
              </a:rPr>
              <a:t>简化的表示方式</a:t>
            </a:r>
            <a:r>
              <a:rPr lang="en-US" dirty="0">
                <a:latin typeface="微软雅黑" panose="020B0503020204020204" pitchFamily="34" charset="-122"/>
                <a:ea typeface="微软雅黑" panose="020B0503020204020204" pitchFamily="34" charset="-122"/>
                <a:cs typeface="微软雅黑" panose="020B0503020204020204" pitchFamily="34" charset="-122"/>
              </a:rPr>
              <a:t>大幅减少了环境信息的复杂度，从而降低了路径规划时的计算负担。</a:t>
            </a:r>
            <a:endParaRPr lang="en-US" dirty="0"/>
          </a:p>
        </p:txBody>
      </p:sp>
      <p:grpSp>
        <p:nvGrpSpPr>
          <p:cNvPr id="50" name="组合 49">
            <a:extLst>
              <a:ext uri="{FF2B5EF4-FFF2-40B4-BE49-F238E27FC236}">
                <a16:creationId xmlns:a16="http://schemas.microsoft.com/office/drawing/2014/main" id="{9D074250-900B-EFE1-C0D4-3D5EF088C093}"/>
              </a:ext>
            </a:extLst>
          </p:cNvPr>
          <p:cNvGrpSpPr/>
          <p:nvPr/>
        </p:nvGrpSpPr>
        <p:grpSpPr>
          <a:xfrm>
            <a:off x="0" y="939798"/>
            <a:ext cx="5022850" cy="625474"/>
            <a:chOff x="0" y="1075267"/>
            <a:chExt cx="5022850" cy="625474"/>
          </a:xfrm>
        </p:grpSpPr>
        <p:sp>
          <p:nvSpPr>
            <p:cNvPr id="51" name="矩形 50">
              <a:extLst>
                <a:ext uri="{FF2B5EF4-FFF2-40B4-BE49-F238E27FC236}">
                  <a16:creationId xmlns:a16="http://schemas.microsoft.com/office/drawing/2014/main" id="{7D658600-30A9-E33A-173C-2439554B09E6}"/>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01957B94-80AB-1C99-DE68-3C1F15887086}"/>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7.1.2 </a:t>
              </a:r>
              <a:r>
                <a:rPr lang="zh-CN" altLang="en-US" sz="2400" b="1" dirty="0">
                  <a:solidFill>
                    <a:schemeClr val="accent1"/>
                  </a:solidFill>
                  <a:latin typeface="+mj-lt"/>
                </a:rPr>
                <a:t>拓扑地图</a:t>
              </a:r>
            </a:p>
          </p:txBody>
        </p:sp>
      </p:grpSp>
    </p:spTree>
    <p:extLst>
      <p:ext uri="{BB962C8B-B14F-4D97-AF65-F5344CB8AC3E}">
        <p14:creationId xmlns:p14="http://schemas.microsoft.com/office/powerpoint/2010/main" val="122837802"/>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60863" y="1910248"/>
            <a:ext cx="5593370" cy="1546554"/>
          </a:xfrm>
          <a:custGeom>
            <a:avLst/>
            <a:gdLst/>
            <a:ahLst/>
            <a:cxnLst/>
            <a:rect l="l" t="t" r="r" b="b"/>
            <a:pathLst>
              <a:path w="5593370" h="1546554">
                <a:moveTo>
                  <a:pt x="34368" y="0"/>
                </a:moveTo>
                <a:lnTo>
                  <a:pt x="5490261" y="0"/>
                </a:lnTo>
                <a:cubicBezTo>
                  <a:pt x="5547207" y="0"/>
                  <a:pt x="5593370" y="46163"/>
                  <a:pt x="5593370" y="103109"/>
                </a:cubicBezTo>
                <a:lnTo>
                  <a:pt x="5593370" y="1443445"/>
                </a:lnTo>
                <a:cubicBezTo>
                  <a:pt x="5593370" y="1500391"/>
                  <a:pt x="5547207" y="1546554"/>
                  <a:pt x="5490261" y="1546554"/>
                </a:cubicBezTo>
                <a:lnTo>
                  <a:pt x="34368" y="1546554"/>
                </a:lnTo>
                <a:cubicBezTo>
                  <a:pt x="15387" y="1546554"/>
                  <a:pt x="0" y="1531167"/>
                  <a:pt x="0" y="1512186"/>
                </a:cubicBezTo>
                <a:lnTo>
                  <a:pt x="0" y="34368"/>
                </a:lnTo>
                <a:cubicBezTo>
                  <a:pt x="0" y="15400"/>
                  <a:pt x="15400" y="0"/>
                  <a:pt x="34368" y="0"/>
                </a:cubicBezTo>
                <a:close/>
              </a:path>
            </a:pathLst>
          </a:custGeom>
          <a:solidFill>
            <a:srgbClr val="5F87A7">
              <a:alpha val="10196"/>
            </a:srgbClr>
          </a:solidFill>
        </p:spPr>
      </p:sp>
      <p:sp>
        <p:nvSpPr>
          <p:cNvPr id="6" name="Shape 4"/>
          <p:cNvSpPr/>
          <p:nvPr/>
        </p:nvSpPr>
        <p:spPr>
          <a:xfrm>
            <a:off x="360863" y="1910248"/>
            <a:ext cx="34368" cy="1546554"/>
          </a:xfrm>
          <a:custGeom>
            <a:avLst/>
            <a:gdLst/>
            <a:ahLst/>
            <a:cxnLst/>
            <a:rect l="l" t="t" r="r" b="b"/>
            <a:pathLst>
              <a:path w="34368" h="1546554">
                <a:moveTo>
                  <a:pt x="34368" y="0"/>
                </a:moveTo>
                <a:lnTo>
                  <a:pt x="34368" y="0"/>
                </a:lnTo>
                <a:lnTo>
                  <a:pt x="34368" y="1546554"/>
                </a:lnTo>
                <a:lnTo>
                  <a:pt x="34368" y="1546554"/>
                </a:lnTo>
                <a:cubicBezTo>
                  <a:pt x="15387" y="1546554"/>
                  <a:pt x="0" y="1531167"/>
                  <a:pt x="0" y="1512186"/>
                </a:cubicBezTo>
                <a:lnTo>
                  <a:pt x="0" y="34368"/>
                </a:lnTo>
                <a:cubicBezTo>
                  <a:pt x="0" y="15400"/>
                  <a:pt x="15400" y="0"/>
                  <a:pt x="34368" y="0"/>
                </a:cubicBezTo>
                <a:close/>
              </a:path>
            </a:pathLst>
          </a:custGeom>
          <a:solidFill>
            <a:srgbClr val="E6B450"/>
          </a:solidFill>
        </p:spPr>
      </p:sp>
      <p:sp>
        <p:nvSpPr>
          <p:cNvPr id="7" name="Shape 5"/>
          <p:cNvSpPr/>
          <p:nvPr/>
        </p:nvSpPr>
        <p:spPr>
          <a:xfrm>
            <a:off x="554182" y="2150823"/>
            <a:ext cx="206207" cy="206207"/>
          </a:xfrm>
          <a:custGeom>
            <a:avLst/>
            <a:gdLst/>
            <a:ahLst/>
            <a:cxnLst/>
            <a:rect l="l" t="t" r="r" b="b"/>
            <a:pathLst>
              <a:path w="206207" h="206207">
                <a:moveTo>
                  <a:pt x="111884" y="3464"/>
                </a:moveTo>
                <a:cubicBezTo>
                  <a:pt x="106930" y="-1128"/>
                  <a:pt x="99277" y="-1128"/>
                  <a:pt x="94364" y="3464"/>
                </a:cubicBezTo>
                <a:lnTo>
                  <a:pt x="4148" y="87235"/>
                </a:lnTo>
                <a:cubicBezTo>
                  <a:pt x="282" y="90860"/>
                  <a:pt x="-1007" y="96458"/>
                  <a:pt x="926" y="101372"/>
                </a:cubicBezTo>
                <a:cubicBezTo>
                  <a:pt x="2860" y="106285"/>
                  <a:pt x="7572" y="109548"/>
                  <a:pt x="12888" y="109548"/>
                </a:cubicBezTo>
                <a:lnTo>
                  <a:pt x="19332" y="109548"/>
                </a:lnTo>
                <a:lnTo>
                  <a:pt x="19332" y="180431"/>
                </a:lnTo>
                <a:cubicBezTo>
                  <a:pt x="19332" y="194648"/>
                  <a:pt x="30891" y="206207"/>
                  <a:pt x="45108" y="206207"/>
                </a:cubicBezTo>
                <a:lnTo>
                  <a:pt x="161099" y="206207"/>
                </a:lnTo>
                <a:cubicBezTo>
                  <a:pt x="175316" y="206207"/>
                  <a:pt x="186875" y="194648"/>
                  <a:pt x="186875" y="180431"/>
                </a:cubicBezTo>
                <a:lnTo>
                  <a:pt x="186875" y="109548"/>
                </a:lnTo>
                <a:lnTo>
                  <a:pt x="193319" y="109548"/>
                </a:lnTo>
                <a:cubicBezTo>
                  <a:pt x="198636" y="109548"/>
                  <a:pt x="203388" y="106285"/>
                  <a:pt x="205321" y="101372"/>
                </a:cubicBezTo>
                <a:cubicBezTo>
                  <a:pt x="207254" y="96458"/>
                  <a:pt x="205966" y="90820"/>
                  <a:pt x="202099" y="87235"/>
                </a:cubicBezTo>
                <a:lnTo>
                  <a:pt x="111884" y="3464"/>
                </a:lnTo>
                <a:close/>
                <a:moveTo>
                  <a:pt x="96660" y="128879"/>
                </a:moveTo>
                <a:lnTo>
                  <a:pt x="109548" y="128879"/>
                </a:lnTo>
                <a:cubicBezTo>
                  <a:pt x="120220" y="128879"/>
                  <a:pt x="128879" y="137539"/>
                  <a:pt x="128879" y="148211"/>
                </a:cubicBezTo>
                <a:lnTo>
                  <a:pt x="128879" y="186875"/>
                </a:lnTo>
                <a:lnTo>
                  <a:pt x="77328" y="186875"/>
                </a:lnTo>
                <a:lnTo>
                  <a:pt x="77328" y="148211"/>
                </a:lnTo>
                <a:cubicBezTo>
                  <a:pt x="77328" y="137539"/>
                  <a:pt x="85987" y="128879"/>
                  <a:pt x="96660" y="128879"/>
                </a:cubicBezTo>
                <a:close/>
              </a:path>
            </a:pathLst>
          </a:custGeom>
          <a:solidFill>
            <a:srgbClr val="E6B450"/>
          </a:solidFill>
        </p:spPr>
      </p:sp>
      <p:sp>
        <p:nvSpPr>
          <p:cNvPr id="8" name="Text 6"/>
          <p:cNvSpPr/>
          <p:nvPr/>
        </p:nvSpPr>
        <p:spPr>
          <a:xfrm>
            <a:off x="865506" y="2116455"/>
            <a:ext cx="4991932" cy="274943"/>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室内环境示例</a:t>
            </a:r>
            <a:endParaRPr lang="en-US" dirty="0"/>
          </a:p>
        </p:txBody>
      </p:sp>
      <p:sp>
        <p:nvSpPr>
          <p:cNvPr id="9" name="Text 7"/>
          <p:cNvSpPr/>
          <p:nvPr/>
        </p:nvSpPr>
        <p:spPr>
          <a:xfrm>
            <a:off x="865506" y="2494502"/>
            <a:ext cx="4966156" cy="756093"/>
          </a:xfrm>
          <a:prstGeom prst="rect">
            <a:avLst/>
          </a:prstGeom>
          <a:noFill/>
        </p:spPr>
        <p:txBody>
          <a:bodyPr wrap="square" lIns="0" tIns="0" rIns="0" bIns="0" rtlCol="0" anchor="ctr"/>
          <a:lstStyle/>
          <a:p>
            <a:pPr>
              <a:lnSpc>
                <a:spcPct val="140000"/>
              </a:lnSpc>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其中各个</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房间 </a:t>
            </a:r>
            <a:r>
              <a:rPr lang="en-US" sz="1600" dirty="0">
                <a:latin typeface="微软雅黑" panose="020B0503020204020204" pitchFamily="34" charset="-122"/>
                <a:ea typeface="微软雅黑" panose="020B0503020204020204" pitchFamily="34" charset="-122"/>
                <a:cs typeface="微软雅黑" panose="020B0503020204020204" pitchFamily="34" charset="-122"/>
              </a:rPr>
              <a:t>以及房间在</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走廊的入口 </a:t>
            </a:r>
            <a:r>
              <a:rPr lang="en-US" sz="1600" dirty="0">
                <a:latin typeface="微软雅黑" panose="020B0503020204020204" pitchFamily="34" charset="-122"/>
                <a:ea typeface="微软雅黑" panose="020B0503020204020204" pitchFamily="34" charset="-122"/>
                <a:cs typeface="微软雅黑" panose="020B0503020204020204" pitchFamily="34" charset="-122"/>
              </a:rPr>
              <a:t>被设置为地标（也即拓扑图的节点），同时使用直线代表节点之间的</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连通性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（称为拓扑图的边）。</a:t>
            </a:r>
            <a:endParaRPr lang="en-US" sz="1600" dirty="0"/>
          </a:p>
        </p:txBody>
      </p:sp>
      <p:sp>
        <p:nvSpPr>
          <p:cNvPr id="10" name="Shape 8"/>
          <p:cNvSpPr/>
          <p:nvPr/>
        </p:nvSpPr>
        <p:spPr>
          <a:xfrm>
            <a:off x="360863" y="3660861"/>
            <a:ext cx="5593370" cy="1546554"/>
          </a:xfrm>
          <a:custGeom>
            <a:avLst/>
            <a:gdLst/>
            <a:ahLst/>
            <a:cxnLst/>
            <a:rect l="l" t="t" r="r" b="b"/>
            <a:pathLst>
              <a:path w="5593370" h="1546554">
                <a:moveTo>
                  <a:pt x="34368" y="0"/>
                </a:moveTo>
                <a:lnTo>
                  <a:pt x="5490261" y="0"/>
                </a:lnTo>
                <a:cubicBezTo>
                  <a:pt x="5547207" y="0"/>
                  <a:pt x="5593370" y="46163"/>
                  <a:pt x="5593370" y="103109"/>
                </a:cubicBezTo>
                <a:lnTo>
                  <a:pt x="5593370" y="1443445"/>
                </a:lnTo>
                <a:cubicBezTo>
                  <a:pt x="5593370" y="1500391"/>
                  <a:pt x="5547207" y="1546554"/>
                  <a:pt x="5490261" y="1546554"/>
                </a:cubicBezTo>
                <a:lnTo>
                  <a:pt x="34368" y="1546554"/>
                </a:lnTo>
                <a:cubicBezTo>
                  <a:pt x="15387" y="1546554"/>
                  <a:pt x="0" y="1531167"/>
                  <a:pt x="0" y="1512186"/>
                </a:cubicBezTo>
                <a:lnTo>
                  <a:pt x="0" y="34368"/>
                </a:lnTo>
                <a:cubicBezTo>
                  <a:pt x="0" y="15400"/>
                  <a:pt x="15400" y="0"/>
                  <a:pt x="34368" y="0"/>
                </a:cubicBezTo>
                <a:close/>
              </a:path>
            </a:pathLst>
          </a:custGeom>
          <a:solidFill>
            <a:srgbClr val="5F87A7">
              <a:alpha val="10196"/>
            </a:srgbClr>
          </a:solidFill>
        </p:spPr>
      </p:sp>
      <p:sp>
        <p:nvSpPr>
          <p:cNvPr id="11" name="Shape 9"/>
          <p:cNvSpPr/>
          <p:nvPr/>
        </p:nvSpPr>
        <p:spPr>
          <a:xfrm>
            <a:off x="360863" y="3660861"/>
            <a:ext cx="34368" cy="1546554"/>
          </a:xfrm>
          <a:custGeom>
            <a:avLst/>
            <a:gdLst/>
            <a:ahLst/>
            <a:cxnLst/>
            <a:rect l="l" t="t" r="r" b="b"/>
            <a:pathLst>
              <a:path w="34368" h="1546554">
                <a:moveTo>
                  <a:pt x="34368" y="0"/>
                </a:moveTo>
                <a:lnTo>
                  <a:pt x="34368" y="0"/>
                </a:lnTo>
                <a:lnTo>
                  <a:pt x="34368" y="1546554"/>
                </a:lnTo>
                <a:lnTo>
                  <a:pt x="34368" y="1546554"/>
                </a:lnTo>
                <a:cubicBezTo>
                  <a:pt x="15387" y="1546554"/>
                  <a:pt x="0" y="1531167"/>
                  <a:pt x="0" y="1512186"/>
                </a:cubicBezTo>
                <a:lnTo>
                  <a:pt x="0" y="34368"/>
                </a:lnTo>
                <a:cubicBezTo>
                  <a:pt x="0" y="15400"/>
                  <a:pt x="15400" y="0"/>
                  <a:pt x="34368" y="0"/>
                </a:cubicBezTo>
                <a:close/>
              </a:path>
            </a:pathLst>
          </a:custGeom>
          <a:solidFill>
            <a:srgbClr val="E6B450"/>
          </a:solidFill>
        </p:spPr>
      </p:sp>
      <p:sp>
        <p:nvSpPr>
          <p:cNvPr id="12" name="Shape 10"/>
          <p:cNvSpPr/>
          <p:nvPr/>
        </p:nvSpPr>
        <p:spPr>
          <a:xfrm>
            <a:off x="554182" y="3808299"/>
            <a:ext cx="206207" cy="206207"/>
          </a:xfrm>
          <a:custGeom>
            <a:avLst/>
            <a:gdLst/>
            <a:ahLst/>
            <a:cxnLst/>
            <a:rect l="l" t="t" r="r" b="b"/>
            <a:pathLst>
              <a:path w="206207" h="206207">
                <a:moveTo>
                  <a:pt x="206207" y="38664"/>
                </a:moveTo>
                <a:cubicBezTo>
                  <a:pt x="206207" y="58882"/>
                  <a:pt x="182405" y="89048"/>
                  <a:pt x="172135" y="101090"/>
                </a:cubicBezTo>
                <a:cubicBezTo>
                  <a:pt x="170604" y="102862"/>
                  <a:pt x="168349" y="103547"/>
                  <a:pt x="166295" y="103104"/>
                </a:cubicBezTo>
                <a:lnTo>
                  <a:pt x="128879" y="103104"/>
                </a:lnTo>
                <a:cubicBezTo>
                  <a:pt x="121751" y="103104"/>
                  <a:pt x="115992" y="108863"/>
                  <a:pt x="115992" y="115992"/>
                </a:cubicBezTo>
                <a:cubicBezTo>
                  <a:pt x="115992" y="123120"/>
                  <a:pt x="121751" y="128879"/>
                  <a:pt x="128879" y="128879"/>
                </a:cubicBezTo>
                <a:lnTo>
                  <a:pt x="167543" y="128879"/>
                </a:lnTo>
                <a:cubicBezTo>
                  <a:pt x="188889" y="128879"/>
                  <a:pt x="206207" y="146198"/>
                  <a:pt x="206207" y="167543"/>
                </a:cubicBezTo>
                <a:cubicBezTo>
                  <a:pt x="206207" y="188889"/>
                  <a:pt x="188889" y="206207"/>
                  <a:pt x="167543" y="206207"/>
                </a:cubicBezTo>
                <a:lnTo>
                  <a:pt x="56224" y="206207"/>
                </a:lnTo>
                <a:cubicBezTo>
                  <a:pt x="59728" y="202220"/>
                  <a:pt x="63997" y="197105"/>
                  <a:pt x="68306" y="191386"/>
                </a:cubicBezTo>
                <a:cubicBezTo>
                  <a:pt x="70843" y="188003"/>
                  <a:pt x="73461" y="184298"/>
                  <a:pt x="75958" y="180431"/>
                </a:cubicBezTo>
                <a:lnTo>
                  <a:pt x="167543" y="180431"/>
                </a:lnTo>
                <a:cubicBezTo>
                  <a:pt x="174672" y="180431"/>
                  <a:pt x="180431" y="174672"/>
                  <a:pt x="180431" y="167543"/>
                </a:cubicBezTo>
                <a:cubicBezTo>
                  <a:pt x="180431" y="160415"/>
                  <a:pt x="174672" y="154655"/>
                  <a:pt x="167543" y="154655"/>
                </a:cubicBezTo>
                <a:lnTo>
                  <a:pt x="128879" y="154655"/>
                </a:lnTo>
                <a:cubicBezTo>
                  <a:pt x="107534" y="154655"/>
                  <a:pt x="90216" y="137337"/>
                  <a:pt x="90216" y="115992"/>
                </a:cubicBezTo>
                <a:cubicBezTo>
                  <a:pt x="90216" y="94646"/>
                  <a:pt x="107534" y="77328"/>
                  <a:pt x="128879" y="77328"/>
                </a:cubicBezTo>
                <a:lnTo>
                  <a:pt x="144909" y="77328"/>
                </a:lnTo>
                <a:cubicBezTo>
                  <a:pt x="136451" y="64641"/>
                  <a:pt x="128879" y="50062"/>
                  <a:pt x="128879" y="38664"/>
                </a:cubicBezTo>
                <a:cubicBezTo>
                  <a:pt x="128879" y="17318"/>
                  <a:pt x="146198" y="0"/>
                  <a:pt x="167543" y="0"/>
                </a:cubicBezTo>
                <a:cubicBezTo>
                  <a:pt x="188889" y="0"/>
                  <a:pt x="206207" y="17318"/>
                  <a:pt x="206207" y="38664"/>
                </a:cubicBezTo>
                <a:close/>
                <a:moveTo>
                  <a:pt x="47162" y="196984"/>
                </a:moveTo>
                <a:cubicBezTo>
                  <a:pt x="45631" y="198716"/>
                  <a:pt x="44262" y="200247"/>
                  <a:pt x="43094" y="201535"/>
                </a:cubicBezTo>
                <a:lnTo>
                  <a:pt x="42369" y="202341"/>
                </a:lnTo>
                <a:lnTo>
                  <a:pt x="42289" y="202260"/>
                </a:lnTo>
                <a:cubicBezTo>
                  <a:pt x="39872" y="204113"/>
                  <a:pt x="36408" y="203871"/>
                  <a:pt x="34234" y="201535"/>
                </a:cubicBezTo>
                <a:cubicBezTo>
                  <a:pt x="24084" y="190500"/>
                  <a:pt x="0" y="162106"/>
                  <a:pt x="0" y="141767"/>
                </a:cubicBezTo>
                <a:cubicBezTo>
                  <a:pt x="0" y="120422"/>
                  <a:pt x="17318" y="103104"/>
                  <a:pt x="38664" y="103104"/>
                </a:cubicBezTo>
                <a:cubicBezTo>
                  <a:pt x="60010" y="103104"/>
                  <a:pt x="77328" y="120422"/>
                  <a:pt x="77328" y="141767"/>
                </a:cubicBezTo>
                <a:cubicBezTo>
                  <a:pt x="77328" y="153850"/>
                  <a:pt x="68830" y="168752"/>
                  <a:pt x="59808" y="181197"/>
                </a:cubicBezTo>
                <a:cubicBezTo>
                  <a:pt x="55499" y="187117"/>
                  <a:pt x="51068" y="192473"/>
                  <a:pt x="47403" y="196702"/>
                </a:cubicBezTo>
                <a:lnTo>
                  <a:pt x="47162" y="196984"/>
                </a:lnTo>
                <a:close/>
                <a:moveTo>
                  <a:pt x="51552" y="141767"/>
                </a:moveTo>
                <a:cubicBezTo>
                  <a:pt x="51552" y="134654"/>
                  <a:pt x="45777" y="128879"/>
                  <a:pt x="38664" y="128879"/>
                </a:cubicBezTo>
                <a:cubicBezTo>
                  <a:pt x="31551" y="128879"/>
                  <a:pt x="25776" y="134654"/>
                  <a:pt x="25776" y="141767"/>
                </a:cubicBezTo>
                <a:cubicBezTo>
                  <a:pt x="25776" y="148880"/>
                  <a:pt x="31551" y="154655"/>
                  <a:pt x="38664" y="154655"/>
                </a:cubicBezTo>
                <a:cubicBezTo>
                  <a:pt x="45777" y="154655"/>
                  <a:pt x="51552" y="148880"/>
                  <a:pt x="51552" y="141767"/>
                </a:cubicBezTo>
                <a:close/>
                <a:moveTo>
                  <a:pt x="167543" y="51552"/>
                </a:moveTo>
                <a:cubicBezTo>
                  <a:pt x="174656" y="51552"/>
                  <a:pt x="180431" y="45777"/>
                  <a:pt x="180431" y="38664"/>
                </a:cubicBezTo>
                <a:cubicBezTo>
                  <a:pt x="180431" y="31551"/>
                  <a:pt x="174656" y="25776"/>
                  <a:pt x="167543" y="25776"/>
                </a:cubicBezTo>
                <a:cubicBezTo>
                  <a:pt x="160430" y="25776"/>
                  <a:pt x="154655" y="31551"/>
                  <a:pt x="154655" y="38664"/>
                </a:cubicBezTo>
                <a:cubicBezTo>
                  <a:pt x="154655" y="45777"/>
                  <a:pt x="160430" y="51552"/>
                  <a:pt x="167543" y="51552"/>
                </a:cubicBezTo>
                <a:close/>
              </a:path>
            </a:pathLst>
          </a:custGeom>
          <a:solidFill>
            <a:srgbClr val="E6B450"/>
          </a:solidFill>
        </p:spPr>
      </p:sp>
      <p:sp>
        <p:nvSpPr>
          <p:cNvPr id="13" name="Text 11"/>
          <p:cNvSpPr/>
          <p:nvPr/>
        </p:nvSpPr>
        <p:spPr>
          <a:xfrm>
            <a:off x="865506" y="3773931"/>
            <a:ext cx="4991932" cy="274943"/>
          </a:xfrm>
          <a:prstGeom prst="rect">
            <a:avLst/>
          </a:prstGeom>
          <a:noFill/>
        </p:spPr>
        <p:txBody>
          <a:bodyPr wrap="square" lIns="0" tIns="0" rIns="0" bIns="0" rtlCol="0" anchor="ctr"/>
          <a:lstStyle/>
          <a:p>
            <a:pPr>
              <a:lnSpc>
                <a:spcPct val="11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路径规划示例</a:t>
            </a:r>
            <a:endParaRPr lang="en-US" sz="1600" dirty="0"/>
          </a:p>
        </p:txBody>
      </p:sp>
      <p:sp>
        <p:nvSpPr>
          <p:cNvPr id="14" name="Text 12"/>
          <p:cNvSpPr/>
          <p:nvPr/>
        </p:nvSpPr>
        <p:spPr>
          <a:xfrm>
            <a:off x="865506" y="4041056"/>
            <a:ext cx="4966156" cy="1164212"/>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例如，当机器人要从</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走廊入口（节点1）</a:t>
            </a:r>
            <a:r>
              <a:rPr lang="en-US" sz="1600" dirty="0">
                <a:latin typeface="微软雅黑" panose="020B0503020204020204" pitchFamily="34" charset="-122"/>
                <a:ea typeface="微软雅黑" panose="020B0503020204020204" pitchFamily="34" charset="-122"/>
                <a:cs typeface="微软雅黑" panose="020B0503020204020204" pitchFamily="34" charset="-122"/>
              </a:rPr>
              <a:t>走到</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最左下角的房间（节点9）</a:t>
            </a:r>
            <a:r>
              <a:rPr lang="en-US" sz="1600" dirty="0">
                <a:latin typeface="微软雅黑" panose="020B0503020204020204" pitchFamily="34" charset="-122"/>
                <a:ea typeface="微软雅黑" panose="020B0503020204020204" pitchFamily="34" charset="-122"/>
                <a:cs typeface="微软雅黑" panose="020B0503020204020204" pitchFamily="34" charset="-122"/>
              </a:rPr>
              <a:t>，那么它可以沿着图中的边，按照</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1-2-4-6-8-9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的路线进行移动。</a:t>
            </a:r>
            <a:endParaRPr lang="en-US" sz="1600" dirty="0"/>
          </a:p>
        </p:txBody>
      </p:sp>
      <p:sp>
        <p:nvSpPr>
          <p:cNvPr id="15" name="Shape 13"/>
          <p:cNvSpPr/>
          <p:nvPr/>
        </p:nvSpPr>
        <p:spPr>
          <a:xfrm>
            <a:off x="347975" y="5415770"/>
            <a:ext cx="5601962" cy="1280203"/>
          </a:xfrm>
          <a:custGeom>
            <a:avLst/>
            <a:gdLst/>
            <a:ahLst/>
            <a:cxnLst/>
            <a:rect l="l" t="t" r="r" b="b"/>
            <a:pathLst>
              <a:path w="5601962" h="1280203">
                <a:moveTo>
                  <a:pt x="103108" y="0"/>
                </a:moveTo>
                <a:lnTo>
                  <a:pt x="5498854" y="0"/>
                </a:lnTo>
                <a:cubicBezTo>
                  <a:pt x="5555799" y="0"/>
                  <a:pt x="5601962" y="46163"/>
                  <a:pt x="5601962" y="103108"/>
                </a:cubicBezTo>
                <a:lnTo>
                  <a:pt x="5601962" y="1177095"/>
                </a:lnTo>
                <a:cubicBezTo>
                  <a:pt x="5601962" y="1234040"/>
                  <a:pt x="5555799" y="1280203"/>
                  <a:pt x="5498854" y="1280203"/>
                </a:cubicBezTo>
                <a:lnTo>
                  <a:pt x="103108" y="1280203"/>
                </a:lnTo>
                <a:cubicBezTo>
                  <a:pt x="46163" y="1280203"/>
                  <a:pt x="0" y="1234040"/>
                  <a:pt x="0" y="1177095"/>
                </a:cubicBezTo>
                <a:lnTo>
                  <a:pt x="0" y="103108"/>
                </a:lnTo>
                <a:cubicBezTo>
                  <a:pt x="0" y="46201"/>
                  <a:pt x="46201" y="0"/>
                  <a:pt x="103108" y="0"/>
                </a:cubicBezTo>
                <a:close/>
              </a:path>
            </a:pathLst>
          </a:custGeom>
          <a:solidFill>
            <a:srgbClr val="E6B450">
              <a:alpha val="10196"/>
            </a:srgbClr>
          </a:solidFill>
          <a:ln w="12700">
            <a:solidFill>
              <a:srgbClr val="E6B450">
                <a:alpha val="30196"/>
              </a:srgbClr>
            </a:solidFill>
            <a:prstDash val="solid"/>
          </a:ln>
        </p:spPr>
      </p:sp>
      <p:sp>
        <p:nvSpPr>
          <p:cNvPr id="16" name="Shape 14"/>
          <p:cNvSpPr/>
          <p:nvPr/>
        </p:nvSpPr>
        <p:spPr>
          <a:xfrm>
            <a:off x="601438" y="5660641"/>
            <a:ext cx="128879" cy="171839"/>
          </a:xfrm>
          <a:custGeom>
            <a:avLst/>
            <a:gdLst/>
            <a:ahLst/>
            <a:cxnLst/>
            <a:rect l="l" t="t" r="r" b="b"/>
            <a:pathLst>
              <a:path w="128879" h="171839">
                <a:moveTo>
                  <a:pt x="98304" y="128879"/>
                </a:moveTo>
                <a:cubicBezTo>
                  <a:pt x="100754" y="121395"/>
                  <a:pt x="105654" y="114615"/>
                  <a:pt x="111192" y="108776"/>
                </a:cubicBezTo>
                <a:cubicBezTo>
                  <a:pt x="122167" y="97230"/>
                  <a:pt x="128879" y="81624"/>
                  <a:pt x="128879" y="64440"/>
                </a:cubicBezTo>
                <a:cubicBezTo>
                  <a:pt x="128879" y="28864"/>
                  <a:pt x="100016" y="0"/>
                  <a:pt x="64440" y="0"/>
                </a:cubicBezTo>
                <a:cubicBezTo>
                  <a:pt x="28864" y="0"/>
                  <a:pt x="0" y="28864"/>
                  <a:pt x="0" y="64440"/>
                </a:cubicBezTo>
                <a:cubicBezTo>
                  <a:pt x="0" y="81624"/>
                  <a:pt x="6712" y="97230"/>
                  <a:pt x="17687" y="108776"/>
                </a:cubicBezTo>
                <a:cubicBezTo>
                  <a:pt x="23225" y="114615"/>
                  <a:pt x="28159" y="121395"/>
                  <a:pt x="30575" y="128879"/>
                </a:cubicBezTo>
                <a:lnTo>
                  <a:pt x="98271" y="128879"/>
                </a:lnTo>
                <a:close/>
                <a:moveTo>
                  <a:pt x="96660" y="144989"/>
                </a:moveTo>
                <a:lnTo>
                  <a:pt x="32220" y="144989"/>
                </a:lnTo>
                <a:lnTo>
                  <a:pt x="32220" y="150359"/>
                </a:lnTo>
                <a:cubicBezTo>
                  <a:pt x="32220" y="165194"/>
                  <a:pt x="44235" y="177209"/>
                  <a:pt x="59070" y="177209"/>
                </a:cubicBezTo>
                <a:lnTo>
                  <a:pt x="69810" y="177209"/>
                </a:lnTo>
                <a:cubicBezTo>
                  <a:pt x="84644" y="177209"/>
                  <a:pt x="96660" y="165194"/>
                  <a:pt x="96660" y="150359"/>
                </a:cubicBezTo>
                <a:lnTo>
                  <a:pt x="96660" y="144989"/>
                </a:lnTo>
                <a:close/>
                <a:moveTo>
                  <a:pt x="61755" y="37590"/>
                </a:moveTo>
                <a:cubicBezTo>
                  <a:pt x="48397" y="37590"/>
                  <a:pt x="37590" y="48397"/>
                  <a:pt x="37590" y="61755"/>
                </a:cubicBezTo>
                <a:cubicBezTo>
                  <a:pt x="37590" y="66219"/>
                  <a:pt x="33999" y="69810"/>
                  <a:pt x="29535" y="69810"/>
                </a:cubicBezTo>
                <a:cubicBezTo>
                  <a:pt x="25071" y="69810"/>
                  <a:pt x="21480" y="66219"/>
                  <a:pt x="21480" y="61755"/>
                </a:cubicBezTo>
                <a:cubicBezTo>
                  <a:pt x="21480" y="39503"/>
                  <a:pt x="39503" y="21480"/>
                  <a:pt x="61755" y="21480"/>
                </a:cubicBezTo>
                <a:cubicBezTo>
                  <a:pt x="66219" y="21480"/>
                  <a:pt x="69810" y="25071"/>
                  <a:pt x="69810" y="29535"/>
                </a:cubicBezTo>
                <a:cubicBezTo>
                  <a:pt x="69810" y="33999"/>
                  <a:pt x="66219" y="37590"/>
                  <a:pt x="61755" y="37590"/>
                </a:cubicBezTo>
                <a:close/>
              </a:path>
            </a:pathLst>
          </a:custGeom>
          <a:solidFill>
            <a:srgbClr val="E6B450"/>
          </a:solidFill>
        </p:spPr>
      </p:sp>
      <p:sp>
        <p:nvSpPr>
          <p:cNvPr id="17" name="Text 15"/>
          <p:cNvSpPr/>
          <p:nvPr/>
        </p:nvSpPr>
        <p:spPr>
          <a:xfrm>
            <a:off x="876381" y="5626273"/>
            <a:ext cx="1413852" cy="240575"/>
          </a:xfrm>
          <a:prstGeom prst="rect">
            <a:avLst/>
          </a:prstGeom>
          <a:noFill/>
        </p:spPr>
        <p:txBody>
          <a:bodyPr wrap="square" lIns="0" tIns="0" rIns="0" bIns="0" rtlCol="0" anchor="ctr"/>
          <a:lstStyle/>
          <a:p>
            <a:pPr>
              <a:lnSpc>
                <a:spcPct val="13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拓扑地图优势</a:t>
            </a:r>
            <a:endParaRPr lang="en-US" dirty="0"/>
          </a:p>
        </p:txBody>
      </p:sp>
      <p:sp>
        <p:nvSpPr>
          <p:cNvPr id="18" name="Shape 16"/>
          <p:cNvSpPr/>
          <p:nvPr/>
        </p:nvSpPr>
        <p:spPr>
          <a:xfrm>
            <a:off x="584254" y="6004320"/>
            <a:ext cx="120288" cy="137471"/>
          </a:xfrm>
          <a:custGeom>
            <a:avLst/>
            <a:gdLst/>
            <a:ahLst/>
            <a:cxnLst/>
            <a:rect l="l" t="t" r="r" b="b"/>
            <a:pathLst>
              <a:path w="120288" h="137471">
                <a:moveTo>
                  <a:pt x="116743" y="18822"/>
                </a:moveTo>
                <a:cubicBezTo>
                  <a:pt x="120583" y="21614"/>
                  <a:pt x="121442" y="26984"/>
                  <a:pt x="118650" y="30824"/>
                </a:cubicBezTo>
                <a:lnTo>
                  <a:pt x="49914" y="125335"/>
                </a:lnTo>
                <a:cubicBezTo>
                  <a:pt x="48437" y="127376"/>
                  <a:pt x="46155" y="128638"/>
                  <a:pt x="43631" y="128853"/>
                </a:cubicBezTo>
                <a:cubicBezTo>
                  <a:pt x="41107" y="129067"/>
                  <a:pt x="38664" y="128128"/>
                  <a:pt x="36892" y="126356"/>
                </a:cubicBezTo>
                <a:lnTo>
                  <a:pt x="2524" y="91988"/>
                </a:lnTo>
                <a:cubicBezTo>
                  <a:pt x="-832" y="88632"/>
                  <a:pt x="-832" y="83181"/>
                  <a:pt x="2524" y="79825"/>
                </a:cubicBezTo>
                <a:cubicBezTo>
                  <a:pt x="5880" y="76468"/>
                  <a:pt x="11331" y="76468"/>
                  <a:pt x="14687" y="79825"/>
                </a:cubicBezTo>
                <a:lnTo>
                  <a:pt x="41940" y="107077"/>
                </a:lnTo>
                <a:lnTo>
                  <a:pt x="104768" y="20701"/>
                </a:lnTo>
                <a:cubicBezTo>
                  <a:pt x="107561" y="16862"/>
                  <a:pt x="112931" y="16003"/>
                  <a:pt x="116770" y="18795"/>
                </a:cubicBezTo>
                <a:close/>
              </a:path>
            </a:pathLst>
          </a:custGeom>
          <a:solidFill>
            <a:srgbClr val="E6B450"/>
          </a:solidFill>
        </p:spPr>
      </p:sp>
      <p:sp>
        <p:nvSpPr>
          <p:cNvPr id="19" name="Text 17"/>
          <p:cNvSpPr/>
          <p:nvPr/>
        </p:nvSpPr>
        <p:spPr>
          <a:xfrm>
            <a:off x="799052" y="5969952"/>
            <a:ext cx="1657709" cy="206207"/>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简化环境表示</a:t>
            </a:r>
            <a:endParaRPr lang="en-US" sz="1600" dirty="0"/>
          </a:p>
        </p:txBody>
      </p:sp>
      <p:sp>
        <p:nvSpPr>
          <p:cNvPr id="20" name="Shape 18"/>
          <p:cNvSpPr/>
          <p:nvPr/>
        </p:nvSpPr>
        <p:spPr>
          <a:xfrm>
            <a:off x="3227626" y="6004320"/>
            <a:ext cx="120288" cy="137471"/>
          </a:xfrm>
          <a:custGeom>
            <a:avLst/>
            <a:gdLst/>
            <a:ahLst/>
            <a:cxnLst/>
            <a:rect l="l" t="t" r="r" b="b"/>
            <a:pathLst>
              <a:path w="120288" h="137471">
                <a:moveTo>
                  <a:pt x="116743" y="18822"/>
                </a:moveTo>
                <a:cubicBezTo>
                  <a:pt x="120583" y="21614"/>
                  <a:pt x="121442" y="26984"/>
                  <a:pt x="118650" y="30824"/>
                </a:cubicBezTo>
                <a:lnTo>
                  <a:pt x="49914" y="125335"/>
                </a:lnTo>
                <a:cubicBezTo>
                  <a:pt x="48437" y="127376"/>
                  <a:pt x="46155" y="128638"/>
                  <a:pt x="43631" y="128853"/>
                </a:cubicBezTo>
                <a:cubicBezTo>
                  <a:pt x="41107" y="129067"/>
                  <a:pt x="38664" y="128128"/>
                  <a:pt x="36892" y="126356"/>
                </a:cubicBezTo>
                <a:lnTo>
                  <a:pt x="2524" y="91988"/>
                </a:lnTo>
                <a:cubicBezTo>
                  <a:pt x="-832" y="88632"/>
                  <a:pt x="-832" y="83181"/>
                  <a:pt x="2524" y="79825"/>
                </a:cubicBezTo>
                <a:cubicBezTo>
                  <a:pt x="5880" y="76468"/>
                  <a:pt x="11331" y="76468"/>
                  <a:pt x="14687" y="79825"/>
                </a:cubicBezTo>
                <a:lnTo>
                  <a:pt x="41940" y="107077"/>
                </a:lnTo>
                <a:lnTo>
                  <a:pt x="104768" y="20701"/>
                </a:lnTo>
                <a:cubicBezTo>
                  <a:pt x="107561" y="16862"/>
                  <a:pt x="112931" y="16003"/>
                  <a:pt x="116770" y="18795"/>
                </a:cubicBezTo>
                <a:close/>
              </a:path>
            </a:pathLst>
          </a:custGeom>
          <a:solidFill>
            <a:srgbClr val="E6B450"/>
          </a:solidFill>
        </p:spPr>
      </p:sp>
      <p:sp>
        <p:nvSpPr>
          <p:cNvPr id="21" name="Text 19"/>
          <p:cNvSpPr/>
          <p:nvPr/>
        </p:nvSpPr>
        <p:spPr>
          <a:xfrm>
            <a:off x="3442425" y="5969952"/>
            <a:ext cx="1912742" cy="206207"/>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降低计算复杂度</a:t>
            </a:r>
            <a:endParaRPr lang="en-US" sz="1600" dirty="0"/>
          </a:p>
        </p:txBody>
      </p:sp>
      <p:sp>
        <p:nvSpPr>
          <p:cNvPr id="22" name="Shape 20"/>
          <p:cNvSpPr/>
          <p:nvPr/>
        </p:nvSpPr>
        <p:spPr>
          <a:xfrm>
            <a:off x="584254" y="6313631"/>
            <a:ext cx="120288" cy="137471"/>
          </a:xfrm>
          <a:custGeom>
            <a:avLst/>
            <a:gdLst/>
            <a:ahLst/>
            <a:cxnLst/>
            <a:rect l="l" t="t" r="r" b="b"/>
            <a:pathLst>
              <a:path w="120288" h="137471">
                <a:moveTo>
                  <a:pt x="116743" y="18822"/>
                </a:moveTo>
                <a:cubicBezTo>
                  <a:pt x="120583" y="21614"/>
                  <a:pt x="121442" y="26984"/>
                  <a:pt x="118650" y="30824"/>
                </a:cubicBezTo>
                <a:lnTo>
                  <a:pt x="49914" y="125335"/>
                </a:lnTo>
                <a:cubicBezTo>
                  <a:pt x="48437" y="127376"/>
                  <a:pt x="46155" y="128638"/>
                  <a:pt x="43631" y="128853"/>
                </a:cubicBezTo>
                <a:cubicBezTo>
                  <a:pt x="41107" y="129067"/>
                  <a:pt x="38664" y="128128"/>
                  <a:pt x="36892" y="126356"/>
                </a:cubicBezTo>
                <a:lnTo>
                  <a:pt x="2524" y="91988"/>
                </a:lnTo>
                <a:cubicBezTo>
                  <a:pt x="-832" y="88632"/>
                  <a:pt x="-832" y="83181"/>
                  <a:pt x="2524" y="79825"/>
                </a:cubicBezTo>
                <a:cubicBezTo>
                  <a:pt x="5880" y="76468"/>
                  <a:pt x="11331" y="76468"/>
                  <a:pt x="14687" y="79825"/>
                </a:cubicBezTo>
                <a:lnTo>
                  <a:pt x="41940" y="107077"/>
                </a:lnTo>
                <a:lnTo>
                  <a:pt x="104768" y="20701"/>
                </a:lnTo>
                <a:cubicBezTo>
                  <a:pt x="107561" y="16862"/>
                  <a:pt x="112931" y="16003"/>
                  <a:pt x="116770" y="18795"/>
                </a:cubicBezTo>
                <a:close/>
              </a:path>
            </a:pathLst>
          </a:custGeom>
          <a:solidFill>
            <a:srgbClr val="E6B450"/>
          </a:solidFill>
        </p:spPr>
      </p:sp>
      <p:sp>
        <p:nvSpPr>
          <p:cNvPr id="23" name="Text 21"/>
          <p:cNvSpPr/>
          <p:nvPr/>
        </p:nvSpPr>
        <p:spPr>
          <a:xfrm>
            <a:off x="799052" y="6279263"/>
            <a:ext cx="1657709" cy="206207"/>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快速路径规划</a:t>
            </a:r>
            <a:endParaRPr lang="en-US" sz="1600" dirty="0"/>
          </a:p>
        </p:txBody>
      </p:sp>
      <p:sp>
        <p:nvSpPr>
          <p:cNvPr id="24" name="Shape 22"/>
          <p:cNvSpPr/>
          <p:nvPr/>
        </p:nvSpPr>
        <p:spPr>
          <a:xfrm>
            <a:off x="3227626" y="6313631"/>
            <a:ext cx="120288" cy="137471"/>
          </a:xfrm>
          <a:custGeom>
            <a:avLst/>
            <a:gdLst/>
            <a:ahLst/>
            <a:cxnLst/>
            <a:rect l="l" t="t" r="r" b="b"/>
            <a:pathLst>
              <a:path w="120288" h="137471">
                <a:moveTo>
                  <a:pt x="116743" y="18822"/>
                </a:moveTo>
                <a:cubicBezTo>
                  <a:pt x="120583" y="21614"/>
                  <a:pt x="121442" y="26984"/>
                  <a:pt x="118650" y="30824"/>
                </a:cubicBezTo>
                <a:lnTo>
                  <a:pt x="49914" y="125335"/>
                </a:lnTo>
                <a:cubicBezTo>
                  <a:pt x="48437" y="127376"/>
                  <a:pt x="46155" y="128638"/>
                  <a:pt x="43631" y="128853"/>
                </a:cubicBezTo>
                <a:cubicBezTo>
                  <a:pt x="41107" y="129067"/>
                  <a:pt x="38664" y="128128"/>
                  <a:pt x="36892" y="126356"/>
                </a:cubicBezTo>
                <a:lnTo>
                  <a:pt x="2524" y="91988"/>
                </a:lnTo>
                <a:cubicBezTo>
                  <a:pt x="-832" y="88632"/>
                  <a:pt x="-832" y="83181"/>
                  <a:pt x="2524" y="79825"/>
                </a:cubicBezTo>
                <a:cubicBezTo>
                  <a:pt x="5880" y="76468"/>
                  <a:pt x="11331" y="76468"/>
                  <a:pt x="14687" y="79825"/>
                </a:cubicBezTo>
                <a:lnTo>
                  <a:pt x="41940" y="107077"/>
                </a:lnTo>
                <a:lnTo>
                  <a:pt x="104768" y="20701"/>
                </a:lnTo>
                <a:cubicBezTo>
                  <a:pt x="107561" y="16862"/>
                  <a:pt x="112931" y="16003"/>
                  <a:pt x="116770" y="18795"/>
                </a:cubicBezTo>
                <a:close/>
              </a:path>
            </a:pathLst>
          </a:custGeom>
          <a:solidFill>
            <a:srgbClr val="E6B450"/>
          </a:solidFill>
        </p:spPr>
      </p:sp>
      <p:sp>
        <p:nvSpPr>
          <p:cNvPr id="25" name="Text 23"/>
          <p:cNvSpPr/>
          <p:nvPr/>
        </p:nvSpPr>
        <p:spPr>
          <a:xfrm>
            <a:off x="3442425" y="6279263"/>
            <a:ext cx="1912742" cy="206207"/>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层次化导航策略</a:t>
            </a:r>
            <a:endParaRPr lang="en-US" sz="1600" dirty="0"/>
          </a:p>
        </p:txBody>
      </p:sp>
      <p:pic>
        <p:nvPicPr>
          <p:cNvPr id="68" name="图片 67">
            <a:extLst>
              <a:ext uri="{FF2B5EF4-FFF2-40B4-BE49-F238E27FC236}">
                <a16:creationId xmlns:a16="http://schemas.microsoft.com/office/drawing/2014/main" id="{6C382C4C-C3F1-8F37-FAF6-EB8A1167F03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6186216" y="1910248"/>
            <a:ext cx="5588699" cy="4733476"/>
          </a:xfrm>
          <a:prstGeom prst="rect">
            <a:avLst/>
          </a:prstGeom>
          <a:noFill/>
          <a:ln>
            <a:noFill/>
          </a:ln>
        </p:spPr>
      </p:pic>
      <p:grpSp>
        <p:nvGrpSpPr>
          <p:cNvPr id="69" name="组合 68">
            <a:extLst>
              <a:ext uri="{FF2B5EF4-FFF2-40B4-BE49-F238E27FC236}">
                <a16:creationId xmlns:a16="http://schemas.microsoft.com/office/drawing/2014/main" id="{4577E510-8672-0F24-A118-DB89FECED58E}"/>
              </a:ext>
            </a:extLst>
          </p:cNvPr>
          <p:cNvGrpSpPr/>
          <p:nvPr/>
        </p:nvGrpSpPr>
        <p:grpSpPr>
          <a:xfrm>
            <a:off x="0" y="939798"/>
            <a:ext cx="5022850" cy="625474"/>
            <a:chOff x="0" y="1075267"/>
            <a:chExt cx="5022850" cy="625474"/>
          </a:xfrm>
        </p:grpSpPr>
        <p:sp>
          <p:nvSpPr>
            <p:cNvPr id="70" name="矩形 69">
              <a:extLst>
                <a:ext uri="{FF2B5EF4-FFF2-40B4-BE49-F238E27FC236}">
                  <a16:creationId xmlns:a16="http://schemas.microsoft.com/office/drawing/2014/main" id="{3B6E82CD-7808-7125-8F6A-546AA454D6BF}"/>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a:extLst>
                <a:ext uri="{FF2B5EF4-FFF2-40B4-BE49-F238E27FC236}">
                  <a16:creationId xmlns:a16="http://schemas.microsoft.com/office/drawing/2014/main" id="{387F9E08-8AE8-4685-738B-DEA7BABFC94C}"/>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7.1.2 </a:t>
              </a:r>
              <a:r>
                <a:rPr lang="zh-CN" altLang="en-US" sz="2400" b="1" dirty="0">
                  <a:solidFill>
                    <a:schemeClr val="accent1"/>
                  </a:solidFill>
                  <a:latin typeface="+mj-lt"/>
                </a:rPr>
                <a:t>拓扑地图</a:t>
              </a:r>
            </a:p>
          </p:txBody>
        </p:sp>
      </p:grpSp>
    </p:spTree>
    <p:extLst>
      <p:ext uri="{BB962C8B-B14F-4D97-AF65-F5344CB8AC3E}">
        <p14:creationId xmlns:p14="http://schemas.microsoft.com/office/powerpoint/2010/main" val="1926328192"/>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33376" y="1758950"/>
            <a:ext cx="5390092" cy="1441450"/>
          </a:xfrm>
          <a:custGeom>
            <a:avLst/>
            <a:gdLst/>
            <a:ahLst/>
            <a:cxnLst/>
            <a:rect l="l" t="t" r="r" b="b"/>
            <a:pathLst>
              <a:path w="8239125" h="1198563">
                <a:moveTo>
                  <a:pt x="31750" y="0"/>
                </a:moveTo>
                <a:lnTo>
                  <a:pt x="8143875" y="0"/>
                </a:lnTo>
                <a:cubicBezTo>
                  <a:pt x="8196480" y="0"/>
                  <a:pt x="8239125" y="42645"/>
                  <a:pt x="8239125" y="95250"/>
                </a:cubicBezTo>
                <a:lnTo>
                  <a:pt x="8239125" y="1103313"/>
                </a:lnTo>
                <a:cubicBezTo>
                  <a:pt x="8239125" y="1155918"/>
                  <a:pt x="8196480" y="1198563"/>
                  <a:pt x="8143875" y="1198563"/>
                </a:cubicBezTo>
                <a:lnTo>
                  <a:pt x="31750" y="1198563"/>
                </a:lnTo>
                <a:cubicBezTo>
                  <a:pt x="14215" y="1198563"/>
                  <a:pt x="0" y="1184348"/>
                  <a:pt x="0" y="1166813"/>
                </a:cubicBezTo>
                <a:lnTo>
                  <a:pt x="0" y="31750"/>
                </a:lnTo>
                <a:cubicBezTo>
                  <a:pt x="0" y="14227"/>
                  <a:pt x="14227" y="0"/>
                  <a:pt x="31750" y="0"/>
                </a:cubicBezTo>
                <a:close/>
              </a:path>
            </a:pathLst>
          </a:custGeom>
          <a:solidFill>
            <a:srgbClr val="5F87A7">
              <a:alpha val="10196"/>
            </a:srgbClr>
          </a:solidFill>
        </p:spPr>
      </p:sp>
      <p:sp>
        <p:nvSpPr>
          <p:cNvPr id="6" name="Shape 4"/>
          <p:cNvSpPr/>
          <p:nvPr/>
        </p:nvSpPr>
        <p:spPr>
          <a:xfrm>
            <a:off x="333375" y="1758950"/>
            <a:ext cx="31750" cy="1441450"/>
          </a:xfrm>
          <a:custGeom>
            <a:avLst/>
            <a:gdLst/>
            <a:ahLst/>
            <a:cxnLst/>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a:srgbClr val="E6B450"/>
          </a:solidFill>
        </p:spPr>
      </p:sp>
      <p:sp>
        <p:nvSpPr>
          <p:cNvPr id="7" name="Shape 5"/>
          <p:cNvSpPr/>
          <p:nvPr/>
        </p:nvSpPr>
        <p:spPr>
          <a:xfrm>
            <a:off x="559594" y="1897592"/>
            <a:ext cx="142875" cy="190500"/>
          </a:xfrm>
          <a:custGeom>
            <a:avLst/>
            <a:gdLst/>
            <a:ahLst/>
            <a:cxnLst/>
            <a:rect l="l" t="t" r="r" b="b"/>
            <a:pathLst>
              <a:path w="142875" h="190500">
                <a:moveTo>
                  <a:pt x="0" y="71438"/>
                </a:moveTo>
                <a:lnTo>
                  <a:pt x="62508" y="71438"/>
                </a:lnTo>
                <a:lnTo>
                  <a:pt x="62508" y="0"/>
                </a:lnTo>
                <a:lnTo>
                  <a:pt x="59531" y="0"/>
                </a:lnTo>
                <a:cubicBezTo>
                  <a:pt x="26640" y="0"/>
                  <a:pt x="0" y="26640"/>
                  <a:pt x="0" y="59531"/>
                </a:cubicBezTo>
                <a:lnTo>
                  <a:pt x="0" y="71438"/>
                </a:lnTo>
                <a:close/>
                <a:moveTo>
                  <a:pt x="0" y="89297"/>
                </a:moveTo>
                <a:lnTo>
                  <a:pt x="0" y="130969"/>
                </a:lnTo>
                <a:cubicBezTo>
                  <a:pt x="0" y="163860"/>
                  <a:pt x="26640" y="190500"/>
                  <a:pt x="59531" y="190500"/>
                </a:cubicBezTo>
                <a:lnTo>
                  <a:pt x="83344" y="190500"/>
                </a:lnTo>
                <a:cubicBezTo>
                  <a:pt x="116235" y="190500"/>
                  <a:pt x="142875" y="163860"/>
                  <a:pt x="142875" y="130969"/>
                </a:cubicBezTo>
                <a:lnTo>
                  <a:pt x="142875" y="89297"/>
                </a:lnTo>
                <a:lnTo>
                  <a:pt x="0" y="89297"/>
                </a:lnTo>
                <a:close/>
                <a:moveTo>
                  <a:pt x="142875" y="71438"/>
                </a:moveTo>
                <a:lnTo>
                  <a:pt x="142875" y="59531"/>
                </a:lnTo>
                <a:cubicBezTo>
                  <a:pt x="142875" y="26640"/>
                  <a:pt x="116235" y="0"/>
                  <a:pt x="83344" y="0"/>
                </a:cubicBezTo>
                <a:lnTo>
                  <a:pt x="80367" y="0"/>
                </a:lnTo>
                <a:lnTo>
                  <a:pt x="80367" y="71438"/>
                </a:lnTo>
                <a:lnTo>
                  <a:pt x="142875" y="71438"/>
                </a:lnTo>
                <a:close/>
              </a:path>
            </a:pathLst>
          </a:custGeom>
          <a:solidFill>
            <a:srgbClr val="E6B450"/>
          </a:solidFill>
        </p:spPr>
      </p:sp>
      <p:sp>
        <p:nvSpPr>
          <p:cNvPr id="8" name="Text 6"/>
          <p:cNvSpPr/>
          <p:nvPr/>
        </p:nvSpPr>
        <p:spPr>
          <a:xfrm>
            <a:off x="849809" y="1865842"/>
            <a:ext cx="3578258"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微型老鼠机器人案例</a:t>
            </a:r>
            <a:endParaRPr lang="en-US" dirty="0"/>
          </a:p>
        </p:txBody>
      </p:sp>
      <p:sp>
        <p:nvSpPr>
          <p:cNvPr id="9" name="Text 7"/>
          <p:cNvSpPr/>
          <p:nvPr/>
        </p:nvSpPr>
        <p:spPr>
          <a:xfrm>
            <a:off x="849809" y="2367492"/>
            <a:ext cx="4761507" cy="468313"/>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一个小型机器人利用拓扑地图进行</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迷宫探索</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的真实案例。一款搭载少量红外传感器和电机的微型老鼠机器人必须在迷宫中找到到达指定地点的路径。</a:t>
            </a:r>
            <a:endParaRPr lang="en-US" sz="1600" dirty="0"/>
          </a:p>
        </p:txBody>
      </p:sp>
      <p:sp>
        <p:nvSpPr>
          <p:cNvPr id="15" name="Shape 13"/>
          <p:cNvSpPr/>
          <p:nvPr/>
        </p:nvSpPr>
        <p:spPr>
          <a:xfrm>
            <a:off x="6096001" y="1758950"/>
            <a:ext cx="5762624" cy="1441450"/>
          </a:xfrm>
          <a:custGeom>
            <a:avLst/>
            <a:gdLst/>
            <a:ahLst/>
            <a:cxnLst/>
            <a:rect l="l" t="t" r="r" b="b"/>
            <a:pathLst>
              <a:path w="8239125" h="1198563">
                <a:moveTo>
                  <a:pt x="31750" y="0"/>
                </a:moveTo>
                <a:lnTo>
                  <a:pt x="8143875" y="0"/>
                </a:lnTo>
                <a:cubicBezTo>
                  <a:pt x="8196480" y="0"/>
                  <a:pt x="8239125" y="42645"/>
                  <a:pt x="8239125" y="95250"/>
                </a:cubicBezTo>
                <a:lnTo>
                  <a:pt x="8239125" y="1103313"/>
                </a:lnTo>
                <a:cubicBezTo>
                  <a:pt x="8239125" y="1155918"/>
                  <a:pt x="8196480" y="1198563"/>
                  <a:pt x="8143875" y="1198563"/>
                </a:cubicBezTo>
                <a:lnTo>
                  <a:pt x="31750" y="1198563"/>
                </a:lnTo>
                <a:cubicBezTo>
                  <a:pt x="14215" y="1198563"/>
                  <a:pt x="0" y="1184348"/>
                  <a:pt x="0" y="1166813"/>
                </a:cubicBezTo>
                <a:lnTo>
                  <a:pt x="0" y="31750"/>
                </a:lnTo>
                <a:cubicBezTo>
                  <a:pt x="0" y="14227"/>
                  <a:pt x="14227" y="0"/>
                  <a:pt x="31750" y="0"/>
                </a:cubicBezTo>
                <a:close/>
              </a:path>
            </a:pathLst>
          </a:custGeom>
          <a:solidFill>
            <a:srgbClr val="5F87A7">
              <a:alpha val="10196"/>
            </a:srgbClr>
          </a:solidFill>
        </p:spPr>
      </p:sp>
      <p:sp>
        <p:nvSpPr>
          <p:cNvPr id="16" name="Shape 14"/>
          <p:cNvSpPr/>
          <p:nvPr/>
        </p:nvSpPr>
        <p:spPr>
          <a:xfrm>
            <a:off x="6096000" y="1758950"/>
            <a:ext cx="31750" cy="1441450"/>
          </a:xfrm>
          <a:custGeom>
            <a:avLst/>
            <a:gdLst/>
            <a:ahLst/>
            <a:cxnLst/>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a:srgbClr val="E6B450"/>
          </a:solidFill>
        </p:spPr>
      </p:sp>
      <p:sp>
        <p:nvSpPr>
          <p:cNvPr id="17" name="Shape 15"/>
          <p:cNvSpPr/>
          <p:nvPr/>
        </p:nvSpPr>
        <p:spPr>
          <a:xfrm>
            <a:off x="6282531" y="1897592"/>
            <a:ext cx="238125" cy="190500"/>
          </a:xfrm>
          <a:custGeom>
            <a:avLst/>
            <a:gdLst/>
            <a:ahLst/>
            <a:cxnLst/>
            <a:rect l="l" t="t" r="r" b="b"/>
            <a:pathLst>
              <a:path w="238125" h="190500">
                <a:moveTo>
                  <a:pt x="214313" y="17859"/>
                </a:moveTo>
                <a:cubicBezTo>
                  <a:pt x="214313" y="13729"/>
                  <a:pt x="212192" y="9897"/>
                  <a:pt x="208657" y="7739"/>
                </a:cubicBezTo>
                <a:cubicBezTo>
                  <a:pt x="205122" y="5581"/>
                  <a:pt x="200769" y="5358"/>
                  <a:pt x="197086" y="7218"/>
                </a:cubicBezTo>
                <a:lnTo>
                  <a:pt x="153851" y="28835"/>
                </a:lnTo>
                <a:lnTo>
                  <a:pt x="87102" y="6548"/>
                </a:lnTo>
                <a:cubicBezTo>
                  <a:pt x="84088" y="5544"/>
                  <a:pt x="80851" y="5767"/>
                  <a:pt x="78023" y="7181"/>
                </a:cubicBezTo>
                <a:lnTo>
                  <a:pt x="30398" y="30993"/>
                </a:lnTo>
                <a:cubicBezTo>
                  <a:pt x="26343" y="33040"/>
                  <a:pt x="23812" y="37170"/>
                  <a:pt x="23812" y="41672"/>
                </a:cubicBezTo>
                <a:lnTo>
                  <a:pt x="23812" y="172641"/>
                </a:lnTo>
                <a:cubicBezTo>
                  <a:pt x="23812" y="176771"/>
                  <a:pt x="25933" y="180603"/>
                  <a:pt x="29468" y="182761"/>
                </a:cubicBezTo>
                <a:cubicBezTo>
                  <a:pt x="33003" y="184919"/>
                  <a:pt x="37356" y="185142"/>
                  <a:pt x="41039" y="183282"/>
                </a:cubicBezTo>
                <a:lnTo>
                  <a:pt x="84237" y="161665"/>
                </a:lnTo>
                <a:lnTo>
                  <a:pt x="148717" y="183170"/>
                </a:lnTo>
                <a:cubicBezTo>
                  <a:pt x="147117" y="180789"/>
                  <a:pt x="145554" y="178296"/>
                  <a:pt x="144028" y="175766"/>
                </a:cubicBezTo>
                <a:cubicBezTo>
                  <a:pt x="139936" y="168957"/>
                  <a:pt x="135880" y="161144"/>
                  <a:pt x="132866" y="152772"/>
                </a:cubicBezTo>
                <a:lnTo>
                  <a:pt x="95213" y="140233"/>
                </a:lnTo>
                <a:lnTo>
                  <a:pt x="95213" y="34379"/>
                </a:lnTo>
                <a:lnTo>
                  <a:pt x="142838" y="50267"/>
                </a:lnTo>
                <a:lnTo>
                  <a:pt x="142838" y="87213"/>
                </a:lnTo>
                <a:cubicBezTo>
                  <a:pt x="154372" y="73893"/>
                  <a:pt x="171487" y="65484"/>
                  <a:pt x="190463" y="65484"/>
                </a:cubicBezTo>
                <a:cubicBezTo>
                  <a:pt x="198872" y="65484"/>
                  <a:pt x="206908" y="67121"/>
                  <a:pt x="214275" y="70135"/>
                </a:cubicBezTo>
                <a:lnTo>
                  <a:pt x="214313" y="17859"/>
                </a:lnTo>
                <a:close/>
                <a:moveTo>
                  <a:pt x="145852" y="127211"/>
                </a:moveTo>
                <a:cubicBezTo>
                  <a:pt x="145852" y="152846"/>
                  <a:pt x="169701" y="183170"/>
                  <a:pt x="182538" y="197644"/>
                </a:cubicBezTo>
                <a:cubicBezTo>
                  <a:pt x="186854" y="202481"/>
                  <a:pt x="194183" y="202481"/>
                  <a:pt x="198500" y="197644"/>
                </a:cubicBezTo>
                <a:cubicBezTo>
                  <a:pt x="211336" y="183170"/>
                  <a:pt x="235186" y="152846"/>
                  <a:pt x="235186" y="127211"/>
                </a:cubicBezTo>
                <a:cubicBezTo>
                  <a:pt x="235186" y="102989"/>
                  <a:pt x="215205" y="83344"/>
                  <a:pt x="190537" y="83344"/>
                </a:cubicBezTo>
                <a:cubicBezTo>
                  <a:pt x="165869" y="83344"/>
                  <a:pt x="145852" y="102989"/>
                  <a:pt x="145852" y="127211"/>
                </a:cubicBezTo>
                <a:close/>
              </a:path>
            </a:pathLst>
          </a:custGeom>
          <a:solidFill>
            <a:srgbClr val="E6B450"/>
          </a:solidFill>
        </p:spPr>
      </p:sp>
      <p:sp>
        <p:nvSpPr>
          <p:cNvPr id="18" name="Text 16"/>
          <p:cNvSpPr/>
          <p:nvPr/>
        </p:nvSpPr>
        <p:spPr>
          <a:xfrm>
            <a:off x="6631657" y="1865842"/>
            <a:ext cx="1657633"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节点生成策略</a:t>
            </a:r>
            <a:endParaRPr lang="en-US" dirty="0"/>
          </a:p>
        </p:txBody>
      </p:sp>
      <p:sp>
        <p:nvSpPr>
          <p:cNvPr id="19" name="Text 17"/>
          <p:cNvSpPr/>
          <p:nvPr/>
        </p:nvSpPr>
        <p:spPr>
          <a:xfrm>
            <a:off x="6631657" y="2367492"/>
            <a:ext cx="4868193" cy="468313"/>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在前进的过程中，当它的传感器探测到当前移动方向之外有</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其他开放空间</a:t>
            </a:r>
            <a:r>
              <a:rPr lang="en-US" sz="1600" dirty="0">
                <a:latin typeface="微软雅黑" panose="020B0503020204020204" pitchFamily="34" charset="-122"/>
                <a:ea typeface="微软雅黑" panose="020B0503020204020204" pitchFamily="34" charset="-122"/>
                <a:cs typeface="微软雅黑" panose="020B0503020204020204" pitchFamily="34" charset="-122"/>
              </a:rPr>
              <a:t>时，这个位置将被标记为一个</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地图节点 </a:t>
            </a:r>
            <a:r>
              <a:rPr lang="en-US" sz="1600" dirty="0">
                <a:latin typeface="微软雅黑" panose="020B0503020204020204" pitchFamily="34" charset="-122"/>
                <a:ea typeface="微软雅黑" panose="020B0503020204020204" pitchFamily="34" charset="-122"/>
                <a:cs typeface="微软雅黑" panose="020B0503020204020204" pitchFamily="34" charset="-122"/>
              </a:rPr>
              <a:t>且形成一个新的探索方向。</a:t>
            </a:r>
            <a:endParaRPr lang="en-US" sz="1600" dirty="0"/>
          </a:p>
        </p:txBody>
      </p:sp>
      <p:grpSp>
        <p:nvGrpSpPr>
          <p:cNvPr id="61" name="组合 60">
            <a:extLst>
              <a:ext uri="{FF2B5EF4-FFF2-40B4-BE49-F238E27FC236}">
                <a16:creationId xmlns:a16="http://schemas.microsoft.com/office/drawing/2014/main" id="{B0BD930C-8443-988D-F787-ACA59A2CD359}"/>
              </a:ext>
            </a:extLst>
          </p:cNvPr>
          <p:cNvGrpSpPr/>
          <p:nvPr/>
        </p:nvGrpSpPr>
        <p:grpSpPr>
          <a:xfrm>
            <a:off x="0" y="939798"/>
            <a:ext cx="5022850" cy="625474"/>
            <a:chOff x="0" y="1075267"/>
            <a:chExt cx="5022850" cy="625474"/>
          </a:xfrm>
        </p:grpSpPr>
        <p:sp>
          <p:nvSpPr>
            <p:cNvPr id="62" name="矩形 61">
              <a:extLst>
                <a:ext uri="{FF2B5EF4-FFF2-40B4-BE49-F238E27FC236}">
                  <a16:creationId xmlns:a16="http://schemas.microsoft.com/office/drawing/2014/main" id="{F858AD85-DFF1-491C-CA53-E0196BEC9A84}"/>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42029B94-CC08-023C-6403-A6D9FF44FF9E}"/>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7.1.2 </a:t>
              </a:r>
              <a:r>
                <a:rPr lang="zh-CN" altLang="en-US" sz="2400" b="1" dirty="0">
                  <a:solidFill>
                    <a:schemeClr val="accent1"/>
                  </a:solidFill>
                  <a:latin typeface="+mj-lt"/>
                </a:rPr>
                <a:t>拓扑地图</a:t>
              </a:r>
            </a:p>
          </p:txBody>
        </p:sp>
      </p:grpSp>
      <p:pic>
        <p:nvPicPr>
          <p:cNvPr id="64" name="图片 63">
            <a:extLst>
              <a:ext uri="{FF2B5EF4-FFF2-40B4-BE49-F238E27FC236}">
                <a16:creationId xmlns:a16="http://schemas.microsoft.com/office/drawing/2014/main" id="{9F95EFFF-8A78-F4FC-389C-7A2408CFF04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429933" y="3301475"/>
            <a:ext cx="7136223" cy="3422588"/>
          </a:xfrm>
          <a:prstGeom prst="rect">
            <a:avLst/>
          </a:prstGeom>
          <a:noFill/>
          <a:ln>
            <a:noFill/>
          </a:ln>
        </p:spPr>
      </p:pic>
    </p:spTree>
    <p:extLst>
      <p:ext uri="{BB962C8B-B14F-4D97-AF65-F5344CB8AC3E}">
        <p14:creationId xmlns:p14="http://schemas.microsoft.com/office/powerpoint/2010/main" val="3304242486"/>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组合 68">
            <a:extLst>
              <a:ext uri="{FF2B5EF4-FFF2-40B4-BE49-F238E27FC236}">
                <a16:creationId xmlns:a16="http://schemas.microsoft.com/office/drawing/2014/main" id="{BAAE7F65-3F0C-0E95-322B-A5EF58B000BA}"/>
              </a:ext>
            </a:extLst>
          </p:cNvPr>
          <p:cNvGrpSpPr/>
          <p:nvPr/>
        </p:nvGrpSpPr>
        <p:grpSpPr>
          <a:xfrm>
            <a:off x="321469" y="1704505"/>
            <a:ext cx="10837598" cy="5192280"/>
            <a:chOff x="321469" y="1704505"/>
            <a:chExt cx="7529959" cy="3607594"/>
          </a:xfrm>
        </p:grpSpPr>
        <p:sp>
          <p:nvSpPr>
            <p:cNvPr id="5" name="Shape 3"/>
            <p:cNvSpPr/>
            <p:nvPr/>
          </p:nvSpPr>
          <p:spPr>
            <a:xfrm>
              <a:off x="333375" y="1704505"/>
              <a:ext cx="7516813" cy="1198563"/>
            </a:xfrm>
            <a:custGeom>
              <a:avLst/>
              <a:gdLst/>
              <a:ahLst/>
              <a:cxnLst/>
              <a:rect l="l" t="t" r="r" b="b"/>
              <a:pathLst>
                <a:path w="7516813" h="1198563">
                  <a:moveTo>
                    <a:pt x="31750" y="0"/>
                  </a:moveTo>
                  <a:lnTo>
                    <a:pt x="7421563" y="0"/>
                  </a:lnTo>
                  <a:cubicBezTo>
                    <a:pt x="7474168" y="0"/>
                    <a:pt x="7516813" y="42645"/>
                    <a:pt x="7516813" y="95250"/>
                  </a:cubicBezTo>
                  <a:lnTo>
                    <a:pt x="7516813" y="1103313"/>
                  </a:lnTo>
                  <a:cubicBezTo>
                    <a:pt x="7516813" y="1155918"/>
                    <a:pt x="7474168" y="1198563"/>
                    <a:pt x="7421563" y="1198563"/>
                  </a:cubicBezTo>
                  <a:lnTo>
                    <a:pt x="31750" y="1198563"/>
                  </a:lnTo>
                  <a:cubicBezTo>
                    <a:pt x="14215" y="1198563"/>
                    <a:pt x="0" y="1184348"/>
                    <a:pt x="0" y="1166813"/>
                  </a:cubicBezTo>
                  <a:lnTo>
                    <a:pt x="0" y="31750"/>
                  </a:lnTo>
                  <a:cubicBezTo>
                    <a:pt x="0" y="14227"/>
                    <a:pt x="14227" y="0"/>
                    <a:pt x="31750" y="0"/>
                  </a:cubicBezTo>
                  <a:close/>
                </a:path>
              </a:pathLst>
            </a:custGeom>
            <a:solidFill>
              <a:srgbClr val="5F87A7">
                <a:alpha val="10196"/>
              </a:srgbClr>
            </a:solidFill>
          </p:spPr>
        </p:sp>
        <p:sp>
          <p:nvSpPr>
            <p:cNvPr id="6" name="Shape 4"/>
            <p:cNvSpPr/>
            <p:nvPr/>
          </p:nvSpPr>
          <p:spPr>
            <a:xfrm>
              <a:off x="333375" y="1704505"/>
              <a:ext cx="31750" cy="1198563"/>
            </a:xfrm>
            <a:custGeom>
              <a:avLst/>
              <a:gdLst/>
              <a:ahLst/>
              <a:cxnLst/>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a:srgbClr val="E6B450"/>
            </a:solidFill>
          </p:spPr>
        </p:sp>
        <p:sp>
          <p:nvSpPr>
            <p:cNvPr id="7" name="Shape 5"/>
            <p:cNvSpPr/>
            <p:nvPr/>
          </p:nvSpPr>
          <p:spPr>
            <a:xfrm>
              <a:off x="527844" y="1926755"/>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E6B450"/>
            </a:solidFill>
          </p:spPr>
        </p:sp>
        <p:sp>
          <p:nvSpPr>
            <p:cNvPr id="8" name="Text 6"/>
            <p:cNvSpPr/>
            <p:nvPr/>
          </p:nvSpPr>
          <p:spPr>
            <a:xfrm>
              <a:off x="836786" y="1895005"/>
              <a:ext cx="6921500"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层次化路径规划</a:t>
              </a:r>
              <a:endParaRPr lang="en-US" dirty="0"/>
            </a:p>
          </p:txBody>
        </p:sp>
        <p:sp>
          <p:nvSpPr>
            <p:cNvPr id="9" name="Text 7"/>
            <p:cNvSpPr/>
            <p:nvPr/>
          </p:nvSpPr>
          <p:spPr>
            <a:xfrm>
              <a:off x="836786" y="2244255"/>
              <a:ext cx="6897688" cy="468313"/>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拓扑地图的简化特性使其特别适合于</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层次化的路径规划策略</a:t>
              </a:r>
              <a:r>
                <a:rPr lang="en-US" sz="1600" dirty="0">
                  <a:latin typeface="微软雅黑" panose="020B0503020204020204" pitchFamily="34" charset="-122"/>
                  <a:ea typeface="微软雅黑" panose="020B0503020204020204" pitchFamily="34" charset="-122"/>
                  <a:cs typeface="微软雅黑" panose="020B0503020204020204" pitchFamily="34" charset="-122"/>
                </a:rPr>
                <a:t>。在这种策略中，机器人首先在</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高层次的拓扑地图 </a:t>
              </a:r>
              <a:r>
                <a:rPr lang="en-US" sz="1600" dirty="0">
                  <a:latin typeface="微软雅黑" panose="020B0503020204020204" pitchFamily="34" charset="-122"/>
                  <a:ea typeface="微软雅黑" panose="020B0503020204020204" pitchFamily="34" charset="-122"/>
                  <a:cs typeface="微软雅黑" panose="020B0503020204020204" pitchFamily="34" charset="-122"/>
                </a:rPr>
                <a:t>上进行快速导航，确定大致的行进路线。</a:t>
              </a:r>
              <a:endParaRPr lang="en-US" sz="1600" dirty="0"/>
            </a:p>
          </p:txBody>
        </p:sp>
        <p:sp>
          <p:nvSpPr>
            <p:cNvPr id="10" name="Shape 8"/>
            <p:cNvSpPr/>
            <p:nvPr/>
          </p:nvSpPr>
          <p:spPr>
            <a:xfrm>
              <a:off x="333375" y="3089599"/>
              <a:ext cx="7516813" cy="1198563"/>
            </a:xfrm>
            <a:custGeom>
              <a:avLst/>
              <a:gdLst/>
              <a:ahLst/>
              <a:cxnLst/>
              <a:rect l="l" t="t" r="r" b="b"/>
              <a:pathLst>
                <a:path w="7516813" h="1198563">
                  <a:moveTo>
                    <a:pt x="31750" y="0"/>
                  </a:moveTo>
                  <a:lnTo>
                    <a:pt x="7421563" y="0"/>
                  </a:lnTo>
                  <a:cubicBezTo>
                    <a:pt x="7474168" y="0"/>
                    <a:pt x="7516813" y="42645"/>
                    <a:pt x="7516813" y="95250"/>
                  </a:cubicBezTo>
                  <a:lnTo>
                    <a:pt x="7516813" y="1103313"/>
                  </a:lnTo>
                  <a:cubicBezTo>
                    <a:pt x="7516813" y="1155918"/>
                    <a:pt x="7474168" y="1198563"/>
                    <a:pt x="7421563" y="1198563"/>
                  </a:cubicBezTo>
                  <a:lnTo>
                    <a:pt x="31750" y="1198563"/>
                  </a:lnTo>
                  <a:cubicBezTo>
                    <a:pt x="14215" y="1198563"/>
                    <a:pt x="0" y="1184348"/>
                    <a:pt x="0" y="1166813"/>
                  </a:cubicBezTo>
                  <a:lnTo>
                    <a:pt x="0" y="31750"/>
                  </a:lnTo>
                  <a:cubicBezTo>
                    <a:pt x="0" y="14227"/>
                    <a:pt x="14227" y="0"/>
                    <a:pt x="31750" y="0"/>
                  </a:cubicBezTo>
                  <a:close/>
                </a:path>
              </a:pathLst>
            </a:custGeom>
            <a:solidFill>
              <a:srgbClr val="5F87A7">
                <a:alpha val="10196"/>
              </a:srgbClr>
            </a:solidFill>
          </p:spPr>
        </p:sp>
        <p:sp>
          <p:nvSpPr>
            <p:cNvPr id="11" name="Shape 9"/>
            <p:cNvSpPr/>
            <p:nvPr/>
          </p:nvSpPr>
          <p:spPr>
            <a:xfrm>
              <a:off x="333375" y="3089599"/>
              <a:ext cx="31750" cy="1198563"/>
            </a:xfrm>
            <a:custGeom>
              <a:avLst/>
              <a:gdLst/>
              <a:ahLst/>
              <a:cxnLst/>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a:srgbClr val="E6B450"/>
            </a:solidFill>
          </p:spPr>
        </p:sp>
        <p:sp>
          <p:nvSpPr>
            <p:cNvPr id="12" name="Shape 10"/>
            <p:cNvSpPr/>
            <p:nvPr/>
          </p:nvSpPr>
          <p:spPr>
            <a:xfrm>
              <a:off x="523875" y="3311849"/>
              <a:ext cx="190500" cy="190500"/>
            </a:xfrm>
            <a:custGeom>
              <a:avLst/>
              <a:gdLst/>
              <a:ahLst/>
              <a:cxnLst/>
              <a:rect l="l" t="t" r="r" b="b"/>
              <a:pathLst>
                <a:path w="190500" h="190500">
                  <a:moveTo>
                    <a:pt x="187003" y="56034"/>
                  </a:moveTo>
                  <a:lnTo>
                    <a:pt x="151284" y="91753"/>
                  </a:lnTo>
                  <a:cubicBezTo>
                    <a:pt x="147861" y="95176"/>
                    <a:pt x="142763" y="96180"/>
                    <a:pt x="138299" y="94320"/>
                  </a:cubicBezTo>
                  <a:cubicBezTo>
                    <a:pt x="133834" y="92459"/>
                    <a:pt x="130969" y="88143"/>
                    <a:pt x="130969" y="83344"/>
                  </a:cubicBezTo>
                  <a:lnTo>
                    <a:pt x="130969" y="59531"/>
                  </a:lnTo>
                  <a:lnTo>
                    <a:pt x="11906" y="59531"/>
                  </a:lnTo>
                  <a:cubicBezTo>
                    <a:pt x="5321" y="59531"/>
                    <a:pt x="0" y="54211"/>
                    <a:pt x="0" y="47625"/>
                  </a:cubicBezTo>
                  <a:cubicBezTo>
                    <a:pt x="0" y="41039"/>
                    <a:pt x="5321" y="35719"/>
                    <a:pt x="11906" y="35719"/>
                  </a:cubicBezTo>
                  <a:lnTo>
                    <a:pt x="130969" y="35719"/>
                  </a:lnTo>
                  <a:lnTo>
                    <a:pt x="130969" y="11906"/>
                  </a:lnTo>
                  <a:cubicBezTo>
                    <a:pt x="130969" y="7107"/>
                    <a:pt x="133871" y="2753"/>
                    <a:pt x="138336" y="893"/>
                  </a:cubicBezTo>
                  <a:cubicBezTo>
                    <a:pt x="142801" y="-967"/>
                    <a:pt x="147898" y="74"/>
                    <a:pt x="151321" y="3460"/>
                  </a:cubicBezTo>
                  <a:lnTo>
                    <a:pt x="187040" y="39179"/>
                  </a:lnTo>
                  <a:cubicBezTo>
                    <a:pt x="191691" y="43830"/>
                    <a:pt x="191691" y="51383"/>
                    <a:pt x="187040" y="56034"/>
                  </a:cubicBezTo>
                  <a:close/>
                  <a:moveTo>
                    <a:pt x="39179" y="187003"/>
                  </a:moveTo>
                  <a:lnTo>
                    <a:pt x="3460" y="151284"/>
                  </a:lnTo>
                  <a:cubicBezTo>
                    <a:pt x="-1191" y="146633"/>
                    <a:pt x="-1191" y="139080"/>
                    <a:pt x="3460" y="134429"/>
                  </a:cubicBezTo>
                  <a:lnTo>
                    <a:pt x="39179" y="98710"/>
                  </a:lnTo>
                  <a:cubicBezTo>
                    <a:pt x="42602" y="95287"/>
                    <a:pt x="47699" y="94283"/>
                    <a:pt x="52164" y="96143"/>
                  </a:cubicBezTo>
                  <a:cubicBezTo>
                    <a:pt x="56629" y="98003"/>
                    <a:pt x="59531" y="102357"/>
                    <a:pt x="59531" y="107156"/>
                  </a:cubicBezTo>
                  <a:lnTo>
                    <a:pt x="59531" y="130969"/>
                  </a:lnTo>
                  <a:lnTo>
                    <a:pt x="178594" y="130969"/>
                  </a:lnTo>
                  <a:cubicBezTo>
                    <a:pt x="185179" y="130969"/>
                    <a:pt x="190500" y="136289"/>
                    <a:pt x="190500" y="142875"/>
                  </a:cubicBezTo>
                  <a:cubicBezTo>
                    <a:pt x="190500" y="149461"/>
                    <a:pt x="185179" y="154781"/>
                    <a:pt x="178594" y="154781"/>
                  </a:cubicBezTo>
                  <a:lnTo>
                    <a:pt x="59531" y="154781"/>
                  </a:lnTo>
                  <a:lnTo>
                    <a:pt x="59531" y="178594"/>
                  </a:lnTo>
                  <a:cubicBezTo>
                    <a:pt x="59531" y="183393"/>
                    <a:pt x="56629" y="187747"/>
                    <a:pt x="52164" y="189607"/>
                  </a:cubicBezTo>
                  <a:cubicBezTo>
                    <a:pt x="47699" y="191467"/>
                    <a:pt x="42602" y="190426"/>
                    <a:pt x="39179" y="187040"/>
                  </a:cubicBezTo>
                  <a:close/>
                </a:path>
              </a:pathLst>
            </a:custGeom>
            <a:solidFill>
              <a:srgbClr val="E6B450"/>
            </a:solidFill>
          </p:spPr>
        </p:sp>
        <p:sp>
          <p:nvSpPr>
            <p:cNvPr id="13" name="Text 11"/>
            <p:cNvSpPr/>
            <p:nvPr/>
          </p:nvSpPr>
          <p:spPr>
            <a:xfrm>
              <a:off x="822896" y="3280099"/>
              <a:ext cx="6937375"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地图切换策略</a:t>
              </a:r>
              <a:endParaRPr lang="en-US" dirty="0"/>
            </a:p>
          </p:txBody>
        </p:sp>
        <p:sp>
          <p:nvSpPr>
            <p:cNvPr id="14" name="Text 12"/>
            <p:cNvSpPr/>
            <p:nvPr/>
          </p:nvSpPr>
          <p:spPr>
            <a:xfrm>
              <a:off x="822896" y="3629349"/>
              <a:ext cx="6913563" cy="468313"/>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当遇到需要精确操作的情况时，机器人可以</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切换到更详细的地图</a:t>
              </a:r>
              <a:r>
                <a:rPr lang="en-US" sz="1600" dirty="0">
                  <a:latin typeface="微软雅黑" panose="020B0503020204020204" pitchFamily="34" charset="-122"/>
                  <a:ea typeface="微软雅黑" panose="020B0503020204020204" pitchFamily="34" charset="-122"/>
                  <a:cs typeface="微软雅黑" panose="020B0503020204020204" pitchFamily="34" charset="-122"/>
                </a:rPr>
                <a:t>以处理复杂的局部规划问题。这种方法不仅提高了导航的效率，还增加了机器人应对复杂环境的能力。</a:t>
              </a:r>
              <a:endParaRPr lang="en-US" sz="1600" dirty="0"/>
            </a:p>
          </p:txBody>
        </p:sp>
        <p:sp>
          <p:nvSpPr>
            <p:cNvPr id="15" name="Shape 13"/>
            <p:cNvSpPr/>
            <p:nvPr/>
          </p:nvSpPr>
          <p:spPr>
            <a:xfrm>
              <a:off x="321469" y="4478661"/>
              <a:ext cx="3698875" cy="833438"/>
            </a:xfrm>
            <a:custGeom>
              <a:avLst/>
              <a:gdLst/>
              <a:ahLst/>
              <a:cxnLst/>
              <a:rect l="l" t="t" r="r" b="b"/>
              <a:pathLst>
                <a:path w="3698875" h="833438">
                  <a:moveTo>
                    <a:pt x="95254" y="0"/>
                  </a:moveTo>
                  <a:lnTo>
                    <a:pt x="3603621" y="0"/>
                  </a:lnTo>
                  <a:cubicBezTo>
                    <a:pt x="3656193" y="0"/>
                    <a:pt x="3698875" y="42682"/>
                    <a:pt x="3698875" y="95254"/>
                  </a:cubicBezTo>
                  <a:lnTo>
                    <a:pt x="3698875" y="738184"/>
                  </a:lnTo>
                  <a:cubicBezTo>
                    <a:pt x="3698875" y="790791"/>
                    <a:pt x="3656229" y="833438"/>
                    <a:pt x="3603621" y="833438"/>
                  </a:cubicBezTo>
                  <a:lnTo>
                    <a:pt x="95254" y="833438"/>
                  </a:lnTo>
                  <a:cubicBezTo>
                    <a:pt x="42682" y="833438"/>
                    <a:pt x="0" y="790756"/>
                    <a:pt x="0" y="738184"/>
                  </a:cubicBezTo>
                  <a:lnTo>
                    <a:pt x="0" y="95254"/>
                  </a:lnTo>
                  <a:cubicBezTo>
                    <a:pt x="0" y="42682"/>
                    <a:pt x="42682" y="0"/>
                    <a:pt x="95254" y="0"/>
                  </a:cubicBezTo>
                  <a:close/>
                </a:path>
              </a:pathLst>
            </a:custGeom>
            <a:solidFill>
              <a:srgbClr val="E6B450">
                <a:alpha val="10196"/>
              </a:srgbClr>
            </a:solidFill>
            <a:ln w="12700">
              <a:solidFill>
                <a:srgbClr val="E6B450">
                  <a:alpha val="30196"/>
                </a:srgbClr>
              </a:solidFill>
              <a:prstDash val="solid"/>
            </a:ln>
          </p:spPr>
        </p:sp>
        <p:sp>
          <p:nvSpPr>
            <p:cNvPr id="16" name="Shape 14"/>
            <p:cNvSpPr/>
            <p:nvPr/>
          </p:nvSpPr>
          <p:spPr>
            <a:xfrm>
              <a:off x="504031" y="4673130"/>
              <a:ext cx="158750" cy="158750"/>
            </a:xfrm>
            <a:custGeom>
              <a:avLst/>
              <a:gdLst/>
              <a:ahLst/>
              <a:cxnLst/>
              <a:rect l="l" t="t" r="r" b="b"/>
              <a:pathLst>
                <a:path w="158750" h="158750">
                  <a:moveTo>
                    <a:pt x="109110" y="86816"/>
                  </a:moveTo>
                  <a:lnTo>
                    <a:pt x="49919" y="86816"/>
                  </a:lnTo>
                  <a:cubicBezTo>
                    <a:pt x="50819" y="106815"/>
                    <a:pt x="55252" y="125233"/>
                    <a:pt x="61547" y="138720"/>
                  </a:cubicBezTo>
                  <a:cubicBezTo>
                    <a:pt x="65081" y="146317"/>
                    <a:pt x="68895" y="151681"/>
                    <a:pt x="72430" y="154967"/>
                  </a:cubicBezTo>
                  <a:cubicBezTo>
                    <a:pt x="75902" y="158223"/>
                    <a:pt x="78290" y="158750"/>
                    <a:pt x="79530" y="158750"/>
                  </a:cubicBezTo>
                  <a:cubicBezTo>
                    <a:pt x="80770" y="158750"/>
                    <a:pt x="83158" y="158223"/>
                    <a:pt x="86630" y="154967"/>
                  </a:cubicBezTo>
                  <a:cubicBezTo>
                    <a:pt x="90165" y="151681"/>
                    <a:pt x="93979" y="146286"/>
                    <a:pt x="97513" y="138720"/>
                  </a:cubicBezTo>
                  <a:cubicBezTo>
                    <a:pt x="103808" y="125233"/>
                    <a:pt x="108241" y="106815"/>
                    <a:pt x="109141" y="86816"/>
                  </a:cubicBezTo>
                  <a:close/>
                  <a:moveTo>
                    <a:pt x="49888" y="71934"/>
                  </a:moveTo>
                  <a:lnTo>
                    <a:pt x="109079" y="71934"/>
                  </a:lnTo>
                  <a:cubicBezTo>
                    <a:pt x="108210" y="51935"/>
                    <a:pt x="103777" y="33517"/>
                    <a:pt x="97482" y="20030"/>
                  </a:cubicBezTo>
                  <a:cubicBezTo>
                    <a:pt x="93948" y="12464"/>
                    <a:pt x="90134" y="7069"/>
                    <a:pt x="86599" y="3783"/>
                  </a:cubicBezTo>
                  <a:cubicBezTo>
                    <a:pt x="83127" y="527"/>
                    <a:pt x="80739" y="0"/>
                    <a:pt x="79499" y="0"/>
                  </a:cubicBezTo>
                  <a:cubicBezTo>
                    <a:pt x="78259" y="0"/>
                    <a:pt x="75871" y="527"/>
                    <a:pt x="72399" y="3783"/>
                  </a:cubicBezTo>
                  <a:cubicBezTo>
                    <a:pt x="68864" y="7069"/>
                    <a:pt x="65050" y="12464"/>
                    <a:pt x="61516" y="20030"/>
                  </a:cubicBezTo>
                  <a:cubicBezTo>
                    <a:pt x="55221" y="33517"/>
                    <a:pt x="50788" y="51935"/>
                    <a:pt x="49888" y="71934"/>
                  </a:cubicBezTo>
                  <a:close/>
                  <a:moveTo>
                    <a:pt x="35006" y="71934"/>
                  </a:moveTo>
                  <a:cubicBezTo>
                    <a:pt x="36091" y="45393"/>
                    <a:pt x="42943" y="20743"/>
                    <a:pt x="52958" y="4558"/>
                  </a:cubicBezTo>
                  <a:cubicBezTo>
                    <a:pt x="24402" y="14666"/>
                    <a:pt x="3380" y="40680"/>
                    <a:pt x="465" y="71934"/>
                  </a:cubicBezTo>
                  <a:lnTo>
                    <a:pt x="35006" y="71934"/>
                  </a:lnTo>
                  <a:close/>
                  <a:moveTo>
                    <a:pt x="465" y="86816"/>
                  </a:moveTo>
                  <a:cubicBezTo>
                    <a:pt x="3380" y="118070"/>
                    <a:pt x="24402" y="144084"/>
                    <a:pt x="52958" y="154192"/>
                  </a:cubicBezTo>
                  <a:cubicBezTo>
                    <a:pt x="42943" y="138007"/>
                    <a:pt x="36091" y="113357"/>
                    <a:pt x="35006" y="86816"/>
                  </a:cubicBezTo>
                  <a:lnTo>
                    <a:pt x="465" y="86816"/>
                  </a:lnTo>
                  <a:close/>
                  <a:moveTo>
                    <a:pt x="123992" y="86816"/>
                  </a:moveTo>
                  <a:cubicBezTo>
                    <a:pt x="122907" y="113357"/>
                    <a:pt x="116055" y="138007"/>
                    <a:pt x="106040" y="154192"/>
                  </a:cubicBezTo>
                  <a:cubicBezTo>
                    <a:pt x="134596" y="144053"/>
                    <a:pt x="155618" y="118070"/>
                    <a:pt x="158533" y="86816"/>
                  </a:cubicBezTo>
                  <a:lnTo>
                    <a:pt x="123992" y="86816"/>
                  </a:lnTo>
                  <a:close/>
                  <a:moveTo>
                    <a:pt x="158533" y="71934"/>
                  </a:moveTo>
                  <a:cubicBezTo>
                    <a:pt x="155618" y="40680"/>
                    <a:pt x="134596" y="14666"/>
                    <a:pt x="106040" y="4558"/>
                  </a:cubicBezTo>
                  <a:cubicBezTo>
                    <a:pt x="116055" y="20743"/>
                    <a:pt x="122907" y="45393"/>
                    <a:pt x="123992" y="71934"/>
                  </a:cubicBezTo>
                  <a:lnTo>
                    <a:pt x="158533" y="71934"/>
                  </a:lnTo>
                  <a:close/>
                </a:path>
              </a:pathLst>
            </a:custGeom>
            <a:solidFill>
              <a:srgbClr val="E6B450"/>
            </a:solidFill>
          </p:spPr>
        </p:sp>
        <p:sp>
          <p:nvSpPr>
            <p:cNvPr id="17" name="Text 15"/>
            <p:cNvSpPr/>
            <p:nvPr/>
          </p:nvSpPr>
          <p:spPr>
            <a:xfrm>
              <a:off x="777875" y="4641380"/>
              <a:ext cx="642938" cy="222250"/>
            </a:xfrm>
            <a:prstGeom prst="rect">
              <a:avLst/>
            </a:prstGeom>
            <a:noFill/>
          </p:spPr>
          <p:txBody>
            <a:bodyPr wrap="square" lIns="0" tIns="0" rIns="0" bIns="0" rtlCol="0" anchor="ctr"/>
            <a:lstStyle/>
            <a:p>
              <a:pPr>
                <a:lnSpc>
                  <a:spcPct val="13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全局规划</a:t>
              </a:r>
              <a:endParaRPr lang="en-US" dirty="0"/>
            </a:p>
          </p:txBody>
        </p:sp>
        <p:sp>
          <p:nvSpPr>
            <p:cNvPr id="18" name="Text 16"/>
            <p:cNvSpPr/>
            <p:nvPr/>
          </p:nvSpPr>
          <p:spPr>
            <a:xfrm>
              <a:off x="484187" y="4958880"/>
              <a:ext cx="3436938" cy="1905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在拓扑地图上快速确定大致路线</a:t>
              </a:r>
              <a:endParaRPr lang="en-US" sz="1600" dirty="0"/>
            </a:p>
          </p:txBody>
        </p:sp>
        <p:sp>
          <p:nvSpPr>
            <p:cNvPr id="19" name="Shape 17"/>
            <p:cNvSpPr/>
            <p:nvPr/>
          </p:nvSpPr>
          <p:spPr>
            <a:xfrm>
              <a:off x="4152553" y="4478661"/>
              <a:ext cx="3698875" cy="833438"/>
            </a:xfrm>
            <a:custGeom>
              <a:avLst/>
              <a:gdLst/>
              <a:ahLst/>
              <a:cxnLst/>
              <a:rect l="l" t="t" r="r" b="b"/>
              <a:pathLst>
                <a:path w="3698875" h="833438">
                  <a:moveTo>
                    <a:pt x="95254" y="0"/>
                  </a:moveTo>
                  <a:lnTo>
                    <a:pt x="3603621" y="0"/>
                  </a:lnTo>
                  <a:cubicBezTo>
                    <a:pt x="3656193" y="0"/>
                    <a:pt x="3698875" y="42682"/>
                    <a:pt x="3698875" y="95254"/>
                  </a:cubicBezTo>
                  <a:lnTo>
                    <a:pt x="3698875" y="738184"/>
                  </a:lnTo>
                  <a:cubicBezTo>
                    <a:pt x="3698875" y="790791"/>
                    <a:pt x="3656229" y="833438"/>
                    <a:pt x="3603621" y="833438"/>
                  </a:cubicBezTo>
                  <a:lnTo>
                    <a:pt x="95254" y="833438"/>
                  </a:lnTo>
                  <a:cubicBezTo>
                    <a:pt x="42682" y="833438"/>
                    <a:pt x="0" y="790756"/>
                    <a:pt x="0" y="738184"/>
                  </a:cubicBezTo>
                  <a:lnTo>
                    <a:pt x="0" y="95254"/>
                  </a:lnTo>
                  <a:cubicBezTo>
                    <a:pt x="0" y="42682"/>
                    <a:pt x="42682" y="0"/>
                    <a:pt x="95254" y="0"/>
                  </a:cubicBezTo>
                  <a:close/>
                </a:path>
              </a:pathLst>
            </a:custGeom>
            <a:solidFill>
              <a:srgbClr val="E6B450">
                <a:alpha val="10196"/>
              </a:srgbClr>
            </a:solidFill>
            <a:ln w="12700">
              <a:solidFill>
                <a:srgbClr val="E6B450">
                  <a:alpha val="30196"/>
                </a:srgbClr>
              </a:solidFill>
              <a:prstDash val="solid"/>
            </a:ln>
          </p:spPr>
        </p:sp>
        <p:sp>
          <p:nvSpPr>
            <p:cNvPr id="20" name="Shape 18"/>
            <p:cNvSpPr/>
            <p:nvPr/>
          </p:nvSpPr>
          <p:spPr>
            <a:xfrm>
              <a:off x="4335115" y="4673130"/>
              <a:ext cx="158750" cy="158750"/>
            </a:xfrm>
            <a:custGeom>
              <a:avLst/>
              <a:gdLst/>
              <a:ahLst/>
              <a:cxnLst/>
              <a:rect l="l" t="t" r="r" b="b"/>
              <a:pathLst>
                <a:path w="158750" h="158750">
                  <a:moveTo>
                    <a:pt x="128984" y="64492"/>
                  </a:moveTo>
                  <a:cubicBezTo>
                    <a:pt x="128984" y="78724"/>
                    <a:pt x="124365" y="91870"/>
                    <a:pt x="116582" y="102536"/>
                  </a:cubicBezTo>
                  <a:lnTo>
                    <a:pt x="155835" y="141821"/>
                  </a:lnTo>
                  <a:cubicBezTo>
                    <a:pt x="159711" y="145697"/>
                    <a:pt x="159711" y="151991"/>
                    <a:pt x="155835" y="155866"/>
                  </a:cubicBezTo>
                  <a:cubicBezTo>
                    <a:pt x="151960" y="159742"/>
                    <a:pt x="145666" y="159742"/>
                    <a:pt x="141790" y="155866"/>
                  </a:cubicBezTo>
                  <a:lnTo>
                    <a:pt x="102536" y="116582"/>
                  </a:lnTo>
                  <a:cubicBezTo>
                    <a:pt x="91870" y="124365"/>
                    <a:pt x="78724" y="128984"/>
                    <a:pt x="64492" y="128984"/>
                  </a:cubicBezTo>
                  <a:cubicBezTo>
                    <a:pt x="28866" y="128984"/>
                    <a:pt x="0" y="100118"/>
                    <a:pt x="0" y="64492"/>
                  </a:cubicBezTo>
                  <a:cubicBezTo>
                    <a:pt x="0" y="28866"/>
                    <a:pt x="28866" y="0"/>
                    <a:pt x="64492" y="0"/>
                  </a:cubicBezTo>
                  <a:cubicBezTo>
                    <a:pt x="100118" y="0"/>
                    <a:pt x="128984" y="28866"/>
                    <a:pt x="128984" y="64492"/>
                  </a:cubicBezTo>
                  <a:close/>
                  <a:moveTo>
                    <a:pt x="64492" y="34727"/>
                  </a:moveTo>
                  <a:cubicBezTo>
                    <a:pt x="60368" y="34727"/>
                    <a:pt x="57051" y="38044"/>
                    <a:pt x="57051" y="42168"/>
                  </a:cubicBezTo>
                  <a:lnTo>
                    <a:pt x="57051" y="57051"/>
                  </a:lnTo>
                  <a:lnTo>
                    <a:pt x="42168" y="57051"/>
                  </a:lnTo>
                  <a:cubicBezTo>
                    <a:pt x="38044" y="57051"/>
                    <a:pt x="34727" y="60368"/>
                    <a:pt x="34727" y="64492"/>
                  </a:cubicBezTo>
                  <a:cubicBezTo>
                    <a:pt x="34727" y="68616"/>
                    <a:pt x="38044" y="71934"/>
                    <a:pt x="42168" y="71934"/>
                  </a:cubicBezTo>
                  <a:lnTo>
                    <a:pt x="57051" y="71934"/>
                  </a:lnTo>
                  <a:lnTo>
                    <a:pt x="57051" y="86816"/>
                  </a:lnTo>
                  <a:cubicBezTo>
                    <a:pt x="57051" y="90940"/>
                    <a:pt x="60368" y="94258"/>
                    <a:pt x="64492" y="94258"/>
                  </a:cubicBezTo>
                  <a:cubicBezTo>
                    <a:pt x="68616" y="94258"/>
                    <a:pt x="71934" y="90940"/>
                    <a:pt x="71934" y="86816"/>
                  </a:cubicBezTo>
                  <a:lnTo>
                    <a:pt x="71934" y="71934"/>
                  </a:lnTo>
                  <a:lnTo>
                    <a:pt x="86816" y="71934"/>
                  </a:lnTo>
                  <a:cubicBezTo>
                    <a:pt x="90940" y="71934"/>
                    <a:pt x="94258" y="68616"/>
                    <a:pt x="94258" y="64492"/>
                  </a:cubicBezTo>
                  <a:cubicBezTo>
                    <a:pt x="94258" y="60368"/>
                    <a:pt x="90940" y="57051"/>
                    <a:pt x="86816" y="57051"/>
                  </a:cubicBezTo>
                  <a:lnTo>
                    <a:pt x="71934" y="57051"/>
                  </a:lnTo>
                  <a:lnTo>
                    <a:pt x="71934" y="42168"/>
                  </a:lnTo>
                  <a:cubicBezTo>
                    <a:pt x="71934" y="38044"/>
                    <a:pt x="68616" y="34727"/>
                    <a:pt x="64492" y="34727"/>
                  </a:cubicBezTo>
                  <a:close/>
                </a:path>
              </a:pathLst>
            </a:custGeom>
            <a:solidFill>
              <a:srgbClr val="E6B450"/>
            </a:solidFill>
          </p:spPr>
        </p:sp>
        <p:sp>
          <p:nvSpPr>
            <p:cNvPr id="21" name="Text 19"/>
            <p:cNvSpPr/>
            <p:nvPr/>
          </p:nvSpPr>
          <p:spPr>
            <a:xfrm>
              <a:off x="4608959" y="4641380"/>
              <a:ext cx="642938" cy="222250"/>
            </a:xfrm>
            <a:prstGeom prst="rect">
              <a:avLst/>
            </a:prstGeom>
            <a:noFill/>
          </p:spPr>
          <p:txBody>
            <a:bodyPr wrap="square" lIns="0" tIns="0" rIns="0" bIns="0" rtlCol="0" anchor="ctr"/>
            <a:lstStyle/>
            <a:p>
              <a:pPr>
                <a:lnSpc>
                  <a:spcPct val="13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局部规划</a:t>
              </a:r>
              <a:endParaRPr lang="en-US" dirty="0"/>
            </a:p>
          </p:txBody>
        </p:sp>
        <p:sp>
          <p:nvSpPr>
            <p:cNvPr id="22" name="Text 20"/>
            <p:cNvSpPr/>
            <p:nvPr/>
          </p:nvSpPr>
          <p:spPr>
            <a:xfrm>
              <a:off x="4315271" y="4958880"/>
              <a:ext cx="3436938" cy="1905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切换到度量地图进行精确操作</a:t>
              </a:r>
              <a:endParaRPr lang="en-US" sz="1600" dirty="0"/>
            </a:p>
          </p:txBody>
        </p:sp>
      </p:grpSp>
      <p:grpSp>
        <p:nvGrpSpPr>
          <p:cNvPr id="66" name="组合 65">
            <a:extLst>
              <a:ext uri="{FF2B5EF4-FFF2-40B4-BE49-F238E27FC236}">
                <a16:creationId xmlns:a16="http://schemas.microsoft.com/office/drawing/2014/main" id="{F9675735-159A-96A6-F893-379FAC7B84F5}"/>
              </a:ext>
            </a:extLst>
          </p:cNvPr>
          <p:cNvGrpSpPr/>
          <p:nvPr/>
        </p:nvGrpSpPr>
        <p:grpSpPr>
          <a:xfrm>
            <a:off x="0" y="939798"/>
            <a:ext cx="5022850" cy="625474"/>
            <a:chOff x="0" y="1075267"/>
            <a:chExt cx="5022850" cy="625474"/>
          </a:xfrm>
        </p:grpSpPr>
        <p:sp>
          <p:nvSpPr>
            <p:cNvPr id="67" name="矩形 66">
              <a:extLst>
                <a:ext uri="{FF2B5EF4-FFF2-40B4-BE49-F238E27FC236}">
                  <a16:creationId xmlns:a16="http://schemas.microsoft.com/office/drawing/2014/main" id="{29C4169A-C6A2-4FD5-EE37-C8939C17CE5F}"/>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E76B6F82-7935-A4C7-338F-DDFB803B43EC}"/>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7.1.2 </a:t>
              </a:r>
              <a:r>
                <a:rPr lang="zh-CN" altLang="en-US" sz="2400" b="1" dirty="0">
                  <a:solidFill>
                    <a:schemeClr val="accent1"/>
                  </a:solidFill>
                  <a:latin typeface="+mj-lt"/>
                </a:rPr>
                <a:t>拓扑地图</a:t>
              </a:r>
            </a:p>
          </p:txBody>
        </p:sp>
      </p:grpSp>
    </p:spTree>
    <p:extLst>
      <p:ext uri="{BB962C8B-B14F-4D97-AF65-F5344CB8AC3E}">
        <p14:creationId xmlns:p14="http://schemas.microsoft.com/office/powerpoint/2010/main" val="1159268715"/>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4724400" y="1295400"/>
            <a:ext cx="7467600" cy="3581400"/>
          </a:xfrm>
        </p:spPr>
        <p:txBody>
          <a:bodyPr>
            <a:normAutofit/>
          </a:bodyPr>
          <a:lstStyle/>
          <a:p>
            <a:pPr marL="0" indent="0">
              <a:lnSpc>
                <a:spcPct val="150000"/>
              </a:lnSpc>
              <a:buNone/>
            </a:pPr>
            <a:r>
              <a:rPr lang="en-US" altLang="zh-CN" sz="3600" dirty="0"/>
              <a:t>7.1 </a:t>
            </a:r>
            <a:r>
              <a:rPr lang="zh-CN" altLang="en-US" sz="3600" dirty="0"/>
              <a:t>地图表示</a:t>
            </a:r>
            <a:endParaRPr lang="en-US" altLang="zh-CN" sz="3600" dirty="0"/>
          </a:p>
          <a:p>
            <a:pPr marL="0" indent="0">
              <a:lnSpc>
                <a:spcPct val="150000"/>
              </a:lnSpc>
              <a:buNone/>
            </a:pPr>
            <a:r>
              <a:rPr lang="en-US" altLang="zh-CN" sz="3600" dirty="0">
                <a:solidFill>
                  <a:srgbClr val="FF0000"/>
                </a:solidFill>
              </a:rPr>
              <a:t>7.2 </a:t>
            </a:r>
            <a:r>
              <a:rPr lang="zh-CN" altLang="en-US" sz="3600" dirty="0">
                <a:solidFill>
                  <a:srgbClr val="FF0000"/>
                </a:solidFill>
              </a:rPr>
              <a:t>全局路径规划</a:t>
            </a:r>
            <a:endParaRPr lang="en-US" altLang="zh-CN" sz="3600" dirty="0">
              <a:solidFill>
                <a:srgbClr val="FF0000"/>
              </a:solidFill>
            </a:endParaRPr>
          </a:p>
          <a:p>
            <a:pPr marL="0" indent="0">
              <a:lnSpc>
                <a:spcPct val="150000"/>
              </a:lnSpc>
              <a:buNone/>
            </a:pPr>
            <a:r>
              <a:rPr lang="en-US" altLang="zh-CN" sz="3600" dirty="0"/>
              <a:t>7.3 </a:t>
            </a:r>
            <a:r>
              <a:rPr lang="zh-CN" altLang="en-US" sz="3600" dirty="0"/>
              <a:t>局部路径规划</a:t>
            </a:r>
            <a:endParaRPr lang="en-US" altLang="zh-CN" sz="3600" dirty="0"/>
          </a:p>
        </p:txBody>
      </p:sp>
    </p:spTree>
    <p:extLst>
      <p:ext uri="{BB962C8B-B14F-4D97-AF65-F5344CB8AC3E}">
        <p14:creationId xmlns:p14="http://schemas.microsoft.com/office/powerpoint/2010/main" val="2024855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2">
                                            <p:txEl>
                                              <p:pRg st="0" end="0"/>
                                            </p:txEl>
                                          </p:spTgt>
                                        </p:tgtEl>
                                        <p:attrNameLst>
                                          <p:attrName>style.color</p:attrName>
                                        </p:attrNameLst>
                                      </p:cBhvr>
                                      <p:to>
                                        <p:clrVal>
                                          <a:srgbClr val="FF0F0F"/>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400050" y="1733550"/>
            <a:ext cx="7448550" cy="1438275"/>
          </a:xfrm>
          <a:custGeom>
            <a:avLst/>
            <a:gdLst/>
            <a:ahLst/>
            <a:cxnLst/>
            <a:rect l="l" t="t" r="r" b="b"/>
            <a:pathLst>
              <a:path w="7448550" h="1438275">
                <a:moveTo>
                  <a:pt x="38100" y="0"/>
                </a:moveTo>
                <a:lnTo>
                  <a:pt x="7334250" y="0"/>
                </a:lnTo>
                <a:cubicBezTo>
                  <a:pt x="7397376" y="0"/>
                  <a:pt x="7448550" y="51174"/>
                  <a:pt x="7448550" y="114300"/>
                </a:cubicBezTo>
                <a:lnTo>
                  <a:pt x="7448550" y="1323975"/>
                </a:lnTo>
                <a:cubicBezTo>
                  <a:pt x="7448550" y="1387101"/>
                  <a:pt x="7397376" y="1438275"/>
                  <a:pt x="7334250" y="1438275"/>
                </a:cubicBezTo>
                <a:lnTo>
                  <a:pt x="38100" y="1438275"/>
                </a:lnTo>
                <a:cubicBezTo>
                  <a:pt x="17072" y="1438275"/>
                  <a:pt x="0" y="1421203"/>
                  <a:pt x="0" y="1400175"/>
                </a:cubicBezTo>
                <a:lnTo>
                  <a:pt x="0" y="38100"/>
                </a:lnTo>
                <a:cubicBezTo>
                  <a:pt x="0" y="17072"/>
                  <a:pt x="17072" y="0"/>
                  <a:pt x="38100" y="0"/>
                </a:cubicBezTo>
                <a:close/>
              </a:path>
            </a:pathLst>
          </a:custGeom>
          <a:solidFill>
            <a:srgbClr val="5F87A7">
              <a:alpha val="10196"/>
            </a:srgbClr>
          </a:solidFill>
        </p:spPr>
      </p:sp>
      <p:sp>
        <p:nvSpPr>
          <p:cNvPr id="6" name="Shape 4"/>
          <p:cNvSpPr/>
          <p:nvPr/>
        </p:nvSpPr>
        <p:spPr>
          <a:xfrm>
            <a:off x="400050" y="1733550"/>
            <a:ext cx="38100" cy="1438275"/>
          </a:xfrm>
          <a:custGeom>
            <a:avLst/>
            <a:gdLst/>
            <a:ahLst/>
            <a:cxnLst/>
            <a:rect l="l" t="t" r="r" b="b"/>
            <a:pathLst>
              <a:path w="38100" h="1438275">
                <a:moveTo>
                  <a:pt x="38100" y="0"/>
                </a:moveTo>
                <a:lnTo>
                  <a:pt x="38100" y="0"/>
                </a:lnTo>
                <a:lnTo>
                  <a:pt x="38100" y="1438275"/>
                </a:lnTo>
                <a:lnTo>
                  <a:pt x="38100" y="1438275"/>
                </a:lnTo>
                <a:cubicBezTo>
                  <a:pt x="17072" y="1438275"/>
                  <a:pt x="0" y="1421203"/>
                  <a:pt x="0" y="1400175"/>
                </a:cubicBezTo>
                <a:lnTo>
                  <a:pt x="0" y="38100"/>
                </a:lnTo>
                <a:cubicBezTo>
                  <a:pt x="0" y="17072"/>
                  <a:pt x="17072" y="0"/>
                  <a:pt x="38100" y="0"/>
                </a:cubicBezTo>
                <a:close/>
              </a:path>
            </a:pathLst>
          </a:custGeom>
          <a:solidFill>
            <a:srgbClr val="E6B450"/>
          </a:solidFill>
        </p:spPr>
      </p:sp>
      <p:sp>
        <p:nvSpPr>
          <p:cNvPr id="7" name="Shape 5"/>
          <p:cNvSpPr/>
          <p:nvPr/>
        </p:nvSpPr>
        <p:spPr>
          <a:xfrm>
            <a:off x="652463" y="2000250"/>
            <a:ext cx="200025" cy="228600"/>
          </a:xfrm>
          <a:custGeom>
            <a:avLst/>
            <a:gdLst/>
            <a:ahLst/>
            <a:cxnLst/>
            <a:rect l="l" t="t" r="r" b="b"/>
            <a:pathLst>
              <a:path w="200025" h="228600">
                <a:moveTo>
                  <a:pt x="171450" y="228600"/>
                </a:moveTo>
                <a:lnTo>
                  <a:pt x="42863" y="228600"/>
                </a:lnTo>
                <a:cubicBezTo>
                  <a:pt x="19199" y="228600"/>
                  <a:pt x="0" y="209401"/>
                  <a:pt x="0" y="185738"/>
                </a:cubicBezTo>
                <a:lnTo>
                  <a:pt x="0" y="42863"/>
                </a:lnTo>
                <a:cubicBezTo>
                  <a:pt x="0" y="19199"/>
                  <a:pt x="19199" y="0"/>
                  <a:pt x="42863" y="0"/>
                </a:cubicBezTo>
                <a:lnTo>
                  <a:pt x="178594" y="0"/>
                </a:lnTo>
                <a:cubicBezTo>
                  <a:pt x="190426" y="0"/>
                  <a:pt x="200025" y="9599"/>
                  <a:pt x="200025" y="21431"/>
                </a:cubicBezTo>
                <a:lnTo>
                  <a:pt x="200025" y="150019"/>
                </a:lnTo>
                <a:cubicBezTo>
                  <a:pt x="200025" y="159350"/>
                  <a:pt x="194042" y="167298"/>
                  <a:pt x="185738" y="170244"/>
                </a:cubicBezTo>
                <a:lnTo>
                  <a:pt x="185738" y="200025"/>
                </a:lnTo>
                <a:cubicBezTo>
                  <a:pt x="193640" y="200025"/>
                  <a:pt x="200025" y="206410"/>
                  <a:pt x="200025" y="214313"/>
                </a:cubicBezTo>
                <a:cubicBezTo>
                  <a:pt x="200025" y="222215"/>
                  <a:pt x="193640" y="228600"/>
                  <a:pt x="185738" y="228600"/>
                </a:cubicBezTo>
                <a:lnTo>
                  <a:pt x="171450" y="228600"/>
                </a:lnTo>
                <a:close/>
                <a:moveTo>
                  <a:pt x="42863" y="171450"/>
                </a:moveTo>
                <a:cubicBezTo>
                  <a:pt x="34960" y="171450"/>
                  <a:pt x="28575" y="177835"/>
                  <a:pt x="28575" y="185738"/>
                </a:cubicBezTo>
                <a:cubicBezTo>
                  <a:pt x="28575" y="193640"/>
                  <a:pt x="34960" y="200025"/>
                  <a:pt x="42863" y="200025"/>
                </a:cubicBezTo>
                <a:lnTo>
                  <a:pt x="157163" y="200025"/>
                </a:lnTo>
                <a:lnTo>
                  <a:pt x="157163" y="171450"/>
                </a:lnTo>
                <a:lnTo>
                  <a:pt x="42863" y="171450"/>
                </a:lnTo>
                <a:close/>
                <a:moveTo>
                  <a:pt x="57150" y="67866"/>
                </a:moveTo>
                <a:cubicBezTo>
                  <a:pt x="57150" y="73804"/>
                  <a:pt x="61927" y="78581"/>
                  <a:pt x="67866" y="78581"/>
                </a:cubicBezTo>
                <a:lnTo>
                  <a:pt x="146447" y="78581"/>
                </a:lnTo>
                <a:cubicBezTo>
                  <a:pt x="152385" y="78581"/>
                  <a:pt x="157163" y="73804"/>
                  <a:pt x="157163" y="67866"/>
                </a:cubicBezTo>
                <a:cubicBezTo>
                  <a:pt x="157163" y="61927"/>
                  <a:pt x="152385" y="57150"/>
                  <a:pt x="146447" y="57150"/>
                </a:cubicBezTo>
                <a:lnTo>
                  <a:pt x="67866" y="57150"/>
                </a:lnTo>
                <a:cubicBezTo>
                  <a:pt x="61927" y="57150"/>
                  <a:pt x="57150" y="61927"/>
                  <a:pt x="57150" y="67866"/>
                </a:cubicBezTo>
                <a:close/>
                <a:moveTo>
                  <a:pt x="67866" y="100013"/>
                </a:moveTo>
                <a:cubicBezTo>
                  <a:pt x="61927" y="100013"/>
                  <a:pt x="57150" y="104790"/>
                  <a:pt x="57150" y="110728"/>
                </a:cubicBezTo>
                <a:cubicBezTo>
                  <a:pt x="57150" y="116666"/>
                  <a:pt x="61927" y="121444"/>
                  <a:pt x="67866" y="121444"/>
                </a:cubicBezTo>
                <a:lnTo>
                  <a:pt x="146447" y="121444"/>
                </a:lnTo>
                <a:cubicBezTo>
                  <a:pt x="152385" y="121444"/>
                  <a:pt x="157163" y="116666"/>
                  <a:pt x="157163" y="110728"/>
                </a:cubicBezTo>
                <a:cubicBezTo>
                  <a:pt x="157163" y="104790"/>
                  <a:pt x="152385" y="100013"/>
                  <a:pt x="146447" y="100013"/>
                </a:cubicBezTo>
                <a:lnTo>
                  <a:pt x="67866" y="100013"/>
                </a:lnTo>
                <a:close/>
              </a:path>
            </a:pathLst>
          </a:custGeom>
          <a:solidFill>
            <a:srgbClr val="E6B450"/>
          </a:solidFill>
        </p:spPr>
      </p:sp>
      <p:sp>
        <p:nvSpPr>
          <p:cNvPr id="8" name="Text 6"/>
          <p:cNvSpPr/>
          <p:nvPr/>
        </p:nvSpPr>
        <p:spPr>
          <a:xfrm>
            <a:off x="1005036" y="1962150"/>
            <a:ext cx="6724650" cy="304800"/>
          </a:xfrm>
          <a:prstGeom prst="rect">
            <a:avLst/>
          </a:prstGeom>
          <a:noFill/>
        </p:spPr>
        <p:txBody>
          <a:bodyPr wrap="square" lIns="0" tIns="0" rIns="0" bIns="0" rtlCol="0" anchor="ctr"/>
          <a:lstStyle/>
          <a:p>
            <a:pPr>
              <a:lnSpc>
                <a:spcPct val="110000"/>
              </a:lnSpc>
            </a:pPr>
            <a:r>
              <a:rPr lang="en-US" sz="1800" b="1" dirty="0">
                <a:latin typeface="微软雅黑" panose="020B0503020204020204" pitchFamily="34" charset="-122"/>
                <a:ea typeface="微软雅黑" panose="020B0503020204020204" pitchFamily="34" charset="-122"/>
                <a:cs typeface="微软雅黑" panose="020B0503020204020204" pitchFamily="34" charset="-122"/>
              </a:rPr>
              <a:t>定义</a:t>
            </a:r>
            <a:endParaRPr lang="en-US" sz="1600" dirty="0"/>
          </a:p>
        </p:txBody>
      </p:sp>
      <p:sp>
        <p:nvSpPr>
          <p:cNvPr id="9" name="Text 7"/>
          <p:cNvSpPr/>
          <p:nvPr/>
        </p:nvSpPr>
        <p:spPr>
          <a:xfrm>
            <a:off x="1005036" y="2381250"/>
            <a:ext cx="6696075" cy="561975"/>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根据对</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环境信息的把握程度</a:t>
            </a:r>
            <a:r>
              <a:rPr lang="en-US" sz="1600" dirty="0">
                <a:latin typeface="微软雅黑" panose="020B0503020204020204" pitchFamily="34" charset="-122"/>
                <a:ea typeface="微软雅黑" panose="020B0503020204020204" pitchFamily="34" charset="-122"/>
                <a:cs typeface="微软雅黑" panose="020B0503020204020204" pitchFamily="34" charset="-122"/>
              </a:rPr>
              <a:t>可把路径规划划分为基于先验完全信息的</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全局路径规划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和基于传感器信息的</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局部路径规划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000" dirty="0"/>
          </a:p>
        </p:txBody>
      </p:sp>
      <p:sp>
        <p:nvSpPr>
          <p:cNvPr id="10" name="Shape 8"/>
          <p:cNvSpPr/>
          <p:nvPr/>
        </p:nvSpPr>
        <p:spPr>
          <a:xfrm>
            <a:off x="385763" y="3400425"/>
            <a:ext cx="3609975" cy="1800225"/>
          </a:xfrm>
          <a:custGeom>
            <a:avLst/>
            <a:gdLst/>
            <a:ahLst/>
            <a:cxnLst/>
            <a:rect l="l" t="t" r="r" b="b"/>
            <a:pathLst>
              <a:path w="3609975" h="1800225">
                <a:moveTo>
                  <a:pt x="114296" y="0"/>
                </a:moveTo>
                <a:lnTo>
                  <a:pt x="3495679" y="0"/>
                </a:lnTo>
                <a:cubicBezTo>
                  <a:pt x="3558761" y="0"/>
                  <a:pt x="3609975" y="51214"/>
                  <a:pt x="3609975" y="114296"/>
                </a:cubicBezTo>
                <a:lnTo>
                  <a:pt x="3609975" y="1685929"/>
                </a:lnTo>
                <a:cubicBezTo>
                  <a:pt x="3609975" y="1749011"/>
                  <a:pt x="3558761" y="1800225"/>
                  <a:pt x="3495679" y="1800225"/>
                </a:cubicBezTo>
                <a:lnTo>
                  <a:pt x="114296" y="1800225"/>
                </a:lnTo>
                <a:cubicBezTo>
                  <a:pt x="51214" y="1800225"/>
                  <a:pt x="0" y="1749011"/>
                  <a:pt x="0" y="1685929"/>
                </a:cubicBezTo>
                <a:lnTo>
                  <a:pt x="0" y="114296"/>
                </a:lnTo>
                <a:cubicBezTo>
                  <a:pt x="0" y="51214"/>
                  <a:pt x="51214" y="0"/>
                  <a:pt x="114296" y="0"/>
                </a:cubicBezTo>
                <a:close/>
              </a:path>
            </a:pathLst>
          </a:custGeom>
          <a:solidFill>
            <a:srgbClr val="E6B450">
              <a:alpha val="10196"/>
            </a:srgbClr>
          </a:solidFill>
          <a:ln w="12700">
            <a:solidFill>
              <a:srgbClr val="E6B450">
                <a:alpha val="30196"/>
              </a:srgbClr>
            </a:solidFill>
            <a:prstDash val="solid"/>
          </a:ln>
        </p:spPr>
      </p:sp>
      <p:sp>
        <p:nvSpPr>
          <p:cNvPr id="11" name="Shape 9"/>
          <p:cNvSpPr/>
          <p:nvPr/>
        </p:nvSpPr>
        <p:spPr>
          <a:xfrm>
            <a:off x="647700" y="3652838"/>
            <a:ext cx="228600" cy="228600"/>
          </a:xfrm>
          <a:custGeom>
            <a:avLst/>
            <a:gdLst/>
            <a:ahLst/>
            <a:cxnLst/>
            <a:rect l="l" t="t" r="r" b="b"/>
            <a:pathLst>
              <a:path w="228600" h="228600">
                <a:moveTo>
                  <a:pt x="157118" y="125016"/>
                </a:moveTo>
                <a:lnTo>
                  <a:pt x="71884" y="125016"/>
                </a:lnTo>
                <a:cubicBezTo>
                  <a:pt x="73179" y="153814"/>
                  <a:pt x="79564" y="180335"/>
                  <a:pt x="88627" y="199757"/>
                </a:cubicBezTo>
                <a:cubicBezTo>
                  <a:pt x="93717" y="210696"/>
                  <a:pt x="99209" y="218420"/>
                  <a:pt x="104299" y="223153"/>
                </a:cubicBezTo>
                <a:cubicBezTo>
                  <a:pt x="109299" y="227841"/>
                  <a:pt x="112737" y="228600"/>
                  <a:pt x="114523" y="228600"/>
                </a:cubicBezTo>
                <a:cubicBezTo>
                  <a:pt x="116309" y="228600"/>
                  <a:pt x="119747" y="227841"/>
                  <a:pt x="124748" y="223153"/>
                </a:cubicBezTo>
                <a:cubicBezTo>
                  <a:pt x="129838" y="218420"/>
                  <a:pt x="135329" y="210651"/>
                  <a:pt x="140419" y="199757"/>
                </a:cubicBezTo>
                <a:cubicBezTo>
                  <a:pt x="149483" y="180335"/>
                  <a:pt x="155868" y="153814"/>
                  <a:pt x="157162" y="125016"/>
                </a:cubicBezTo>
                <a:close/>
                <a:moveTo>
                  <a:pt x="71839" y="103584"/>
                </a:moveTo>
                <a:lnTo>
                  <a:pt x="157073" y="103584"/>
                </a:lnTo>
                <a:cubicBezTo>
                  <a:pt x="155823" y="74786"/>
                  <a:pt x="149438" y="48265"/>
                  <a:pt x="140375" y="28843"/>
                </a:cubicBezTo>
                <a:cubicBezTo>
                  <a:pt x="135285" y="17949"/>
                  <a:pt x="129793" y="10180"/>
                  <a:pt x="124703" y="5447"/>
                </a:cubicBezTo>
                <a:cubicBezTo>
                  <a:pt x="119702" y="759"/>
                  <a:pt x="116265" y="0"/>
                  <a:pt x="114479" y="0"/>
                </a:cubicBezTo>
                <a:cubicBezTo>
                  <a:pt x="112693" y="0"/>
                  <a:pt x="109255" y="759"/>
                  <a:pt x="104254" y="5447"/>
                </a:cubicBezTo>
                <a:cubicBezTo>
                  <a:pt x="99164" y="10180"/>
                  <a:pt x="93672" y="17949"/>
                  <a:pt x="88582" y="28843"/>
                </a:cubicBezTo>
                <a:cubicBezTo>
                  <a:pt x="79519" y="48265"/>
                  <a:pt x="73134" y="74786"/>
                  <a:pt x="71839" y="103584"/>
                </a:cubicBezTo>
                <a:close/>
                <a:moveTo>
                  <a:pt x="50408" y="103584"/>
                </a:moveTo>
                <a:cubicBezTo>
                  <a:pt x="51971" y="65365"/>
                  <a:pt x="61838" y="29870"/>
                  <a:pt x="76260" y="6563"/>
                </a:cubicBezTo>
                <a:cubicBezTo>
                  <a:pt x="35138" y="21119"/>
                  <a:pt x="4867" y="58579"/>
                  <a:pt x="670" y="103584"/>
                </a:cubicBezTo>
                <a:lnTo>
                  <a:pt x="50408" y="103584"/>
                </a:lnTo>
                <a:close/>
                <a:moveTo>
                  <a:pt x="670" y="125016"/>
                </a:moveTo>
                <a:cubicBezTo>
                  <a:pt x="4867" y="170021"/>
                  <a:pt x="35138" y="207481"/>
                  <a:pt x="76260" y="222037"/>
                </a:cubicBezTo>
                <a:cubicBezTo>
                  <a:pt x="61838" y="198730"/>
                  <a:pt x="51971" y="163235"/>
                  <a:pt x="50408" y="125016"/>
                </a:cubicBezTo>
                <a:lnTo>
                  <a:pt x="670" y="125016"/>
                </a:lnTo>
                <a:close/>
                <a:moveTo>
                  <a:pt x="178549" y="125016"/>
                </a:moveTo>
                <a:cubicBezTo>
                  <a:pt x="176986" y="163235"/>
                  <a:pt x="167119" y="198730"/>
                  <a:pt x="152698" y="222037"/>
                </a:cubicBezTo>
                <a:cubicBezTo>
                  <a:pt x="193819" y="207437"/>
                  <a:pt x="224091" y="170021"/>
                  <a:pt x="228287" y="125016"/>
                </a:cubicBezTo>
                <a:lnTo>
                  <a:pt x="178549" y="125016"/>
                </a:lnTo>
                <a:close/>
                <a:moveTo>
                  <a:pt x="228287" y="103584"/>
                </a:moveTo>
                <a:cubicBezTo>
                  <a:pt x="224091" y="58579"/>
                  <a:pt x="193819" y="21119"/>
                  <a:pt x="152698" y="6563"/>
                </a:cubicBezTo>
                <a:cubicBezTo>
                  <a:pt x="167119" y="29870"/>
                  <a:pt x="176986" y="65365"/>
                  <a:pt x="178549" y="103584"/>
                </a:cubicBezTo>
                <a:lnTo>
                  <a:pt x="228287" y="103584"/>
                </a:lnTo>
                <a:close/>
              </a:path>
            </a:pathLst>
          </a:custGeom>
          <a:solidFill>
            <a:srgbClr val="E6B450"/>
          </a:solidFill>
        </p:spPr>
      </p:sp>
      <p:sp>
        <p:nvSpPr>
          <p:cNvPr id="12" name="Text 10"/>
          <p:cNvSpPr/>
          <p:nvPr/>
        </p:nvSpPr>
        <p:spPr>
          <a:xfrm>
            <a:off x="1019175" y="3633788"/>
            <a:ext cx="1738312" cy="266700"/>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全局路径规划</a:t>
            </a:r>
            <a:endParaRPr lang="en-US" sz="2000" dirty="0"/>
          </a:p>
        </p:txBody>
      </p:sp>
      <p:sp>
        <p:nvSpPr>
          <p:cNvPr id="13" name="Shape 11"/>
          <p:cNvSpPr/>
          <p:nvPr/>
        </p:nvSpPr>
        <p:spPr>
          <a:xfrm>
            <a:off x="647700" y="4090987"/>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E6B450"/>
          </a:solidFill>
        </p:spPr>
      </p:sp>
      <p:sp>
        <p:nvSpPr>
          <p:cNvPr id="14" name="Text 12"/>
          <p:cNvSpPr/>
          <p:nvPr/>
        </p:nvSpPr>
        <p:spPr>
          <a:xfrm>
            <a:off x="885824" y="4052888"/>
            <a:ext cx="1388281" cy="2286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属于</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静态规划</a:t>
            </a:r>
            <a:endParaRPr lang="en-US" sz="2000" dirty="0"/>
          </a:p>
        </p:txBody>
      </p:sp>
      <p:sp>
        <p:nvSpPr>
          <p:cNvPr id="15" name="Shape 13"/>
          <p:cNvSpPr/>
          <p:nvPr/>
        </p:nvSpPr>
        <p:spPr>
          <a:xfrm>
            <a:off x="647700" y="4433888"/>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E6B450"/>
          </a:solidFill>
        </p:spPr>
      </p:sp>
      <p:sp>
        <p:nvSpPr>
          <p:cNvPr id="16" name="Text 14"/>
          <p:cNvSpPr/>
          <p:nvPr/>
        </p:nvSpPr>
        <p:spPr>
          <a:xfrm>
            <a:off x="885824" y="4395788"/>
            <a:ext cx="1815445" cy="2286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掌握</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所有环境信息</a:t>
            </a:r>
            <a:endParaRPr lang="en-US" sz="2000" dirty="0"/>
          </a:p>
        </p:txBody>
      </p:sp>
      <p:sp>
        <p:nvSpPr>
          <p:cNvPr id="17" name="Shape 15"/>
          <p:cNvSpPr/>
          <p:nvPr/>
        </p:nvSpPr>
        <p:spPr>
          <a:xfrm>
            <a:off x="647700" y="4776788"/>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E6B450"/>
          </a:solidFill>
        </p:spPr>
      </p:sp>
      <p:sp>
        <p:nvSpPr>
          <p:cNvPr id="18" name="Text 16"/>
          <p:cNvSpPr/>
          <p:nvPr/>
        </p:nvSpPr>
        <p:spPr>
          <a:xfrm>
            <a:off x="885825" y="4738688"/>
            <a:ext cx="2242608" cy="2286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根据</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完整地图</a:t>
            </a:r>
            <a:r>
              <a:rPr lang="en-US" sz="1600" dirty="0">
                <a:latin typeface="微软雅黑" panose="020B0503020204020204" pitchFamily="34" charset="-122"/>
                <a:ea typeface="微软雅黑" panose="020B0503020204020204" pitchFamily="34" charset="-122"/>
                <a:cs typeface="微软雅黑" panose="020B0503020204020204" pitchFamily="34" charset="-122"/>
              </a:rPr>
              <a:t>进行规划</a:t>
            </a:r>
            <a:endParaRPr lang="en-US" sz="2000" dirty="0"/>
          </a:p>
        </p:txBody>
      </p:sp>
      <p:sp>
        <p:nvSpPr>
          <p:cNvPr id="19" name="Shape 17"/>
          <p:cNvSpPr/>
          <p:nvPr/>
        </p:nvSpPr>
        <p:spPr>
          <a:xfrm>
            <a:off x="4233863" y="3400425"/>
            <a:ext cx="3609975" cy="1800225"/>
          </a:xfrm>
          <a:custGeom>
            <a:avLst/>
            <a:gdLst/>
            <a:ahLst/>
            <a:cxnLst/>
            <a:rect l="l" t="t" r="r" b="b"/>
            <a:pathLst>
              <a:path w="3609975" h="1800225">
                <a:moveTo>
                  <a:pt x="114296" y="0"/>
                </a:moveTo>
                <a:lnTo>
                  <a:pt x="3495679" y="0"/>
                </a:lnTo>
                <a:cubicBezTo>
                  <a:pt x="3558761" y="0"/>
                  <a:pt x="3609975" y="51214"/>
                  <a:pt x="3609975" y="114296"/>
                </a:cubicBezTo>
                <a:lnTo>
                  <a:pt x="3609975" y="1685929"/>
                </a:lnTo>
                <a:cubicBezTo>
                  <a:pt x="3609975" y="1749011"/>
                  <a:pt x="3558761" y="1800225"/>
                  <a:pt x="3495679" y="1800225"/>
                </a:cubicBezTo>
                <a:lnTo>
                  <a:pt x="114296" y="1800225"/>
                </a:lnTo>
                <a:cubicBezTo>
                  <a:pt x="51214" y="1800225"/>
                  <a:pt x="0" y="1749011"/>
                  <a:pt x="0" y="1685929"/>
                </a:cubicBezTo>
                <a:lnTo>
                  <a:pt x="0" y="114296"/>
                </a:lnTo>
                <a:cubicBezTo>
                  <a:pt x="0" y="51214"/>
                  <a:pt x="51214" y="0"/>
                  <a:pt x="114296" y="0"/>
                </a:cubicBezTo>
                <a:close/>
              </a:path>
            </a:pathLst>
          </a:custGeom>
          <a:solidFill>
            <a:srgbClr val="E6B450">
              <a:alpha val="10196"/>
            </a:srgbClr>
          </a:solidFill>
          <a:ln w="12700">
            <a:solidFill>
              <a:srgbClr val="E6B450">
                <a:alpha val="30196"/>
              </a:srgbClr>
            </a:solidFill>
            <a:prstDash val="solid"/>
          </a:ln>
        </p:spPr>
      </p:sp>
      <p:sp>
        <p:nvSpPr>
          <p:cNvPr id="20" name="Shape 18"/>
          <p:cNvSpPr/>
          <p:nvPr/>
        </p:nvSpPr>
        <p:spPr>
          <a:xfrm>
            <a:off x="4495800" y="3652838"/>
            <a:ext cx="228600" cy="228600"/>
          </a:xfrm>
          <a:custGeom>
            <a:avLst/>
            <a:gdLst/>
            <a:ahLst/>
            <a:cxnLst/>
            <a:rect l="l" t="t" r="r" b="b"/>
            <a:pathLst>
              <a:path w="228600" h="228600">
                <a:moveTo>
                  <a:pt x="29423" y="102022"/>
                </a:moveTo>
                <a:cubicBezTo>
                  <a:pt x="35362" y="60499"/>
                  <a:pt x="71125" y="28575"/>
                  <a:pt x="114300" y="28575"/>
                </a:cubicBezTo>
                <a:cubicBezTo>
                  <a:pt x="137964" y="28575"/>
                  <a:pt x="159395" y="38174"/>
                  <a:pt x="174933" y="53667"/>
                </a:cubicBezTo>
                <a:cubicBezTo>
                  <a:pt x="175022" y="53757"/>
                  <a:pt x="175111" y="53846"/>
                  <a:pt x="175200" y="53935"/>
                </a:cubicBezTo>
                <a:lnTo>
                  <a:pt x="178594" y="57150"/>
                </a:lnTo>
                <a:lnTo>
                  <a:pt x="157207" y="57150"/>
                </a:lnTo>
                <a:cubicBezTo>
                  <a:pt x="149304" y="57150"/>
                  <a:pt x="142920" y="63535"/>
                  <a:pt x="142920" y="71438"/>
                </a:cubicBezTo>
                <a:cubicBezTo>
                  <a:pt x="142920" y="79340"/>
                  <a:pt x="149304" y="85725"/>
                  <a:pt x="157207" y="85725"/>
                </a:cubicBezTo>
                <a:lnTo>
                  <a:pt x="214357" y="85725"/>
                </a:lnTo>
                <a:cubicBezTo>
                  <a:pt x="222260" y="85725"/>
                  <a:pt x="228645" y="79340"/>
                  <a:pt x="228645" y="71438"/>
                </a:cubicBezTo>
                <a:lnTo>
                  <a:pt x="228645" y="14288"/>
                </a:lnTo>
                <a:cubicBezTo>
                  <a:pt x="228645" y="6385"/>
                  <a:pt x="222260" y="0"/>
                  <a:pt x="214357" y="0"/>
                </a:cubicBezTo>
                <a:cubicBezTo>
                  <a:pt x="206454" y="0"/>
                  <a:pt x="200070" y="6385"/>
                  <a:pt x="200070" y="14288"/>
                </a:cubicBezTo>
                <a:lnTo>
                  <a:pt x="200070" y="38130"/>
                </a:lnTo>
                <a:lnTo>
                  <a:pt x="195024" y="33352"/>
                </a:lnTo>
                <a:cubicBezTo>
                  <a:pt x="174352" y="12769"/>
                  <a:pt x="145777" y="0"/>
                  <a:pt x="114300" y="0"/>
                </a:cubicBezTo>
                <a:cubicBezTo>
                  <a:pt x="56704" y="0"/>
                  <a:pt x="9064" y="42595"/>
                  <a:pt x="1161" y="98003"/>
                </a:cubicBezTo>
                <a:cubicBezTo>
                  <a:pt x="45" y="105817"/>
                  <a:pt x="5447" y="113050"/>
                  <a:pt x="13261" y="114166"/>
                </a:cubicBezTo>
                <a:cubicBezTo>
                  <a:pt x="21074" y="115282"/>
                  <a:pt x="28307" y="109835"/>
                  <a:pt x="29423" y="102066"/>
                </a:cubicBezTo>
                <a:close/>
                <a:moveTo>
                  <a:pt x="227439" y="130597"/>
                </a:moveTo>
                <a:cubicBezTo>
                  <a:pt x="228555" y="122783"/>
                  <a:pt x="223108" y="115550"/>
                  <a:pt x="215339" y="114434"/>
                </a:cubicBezTo>
                <a:cubicBezTo>
                  <a:pt x="207571" y="113318"/>
                  <a:pt x="200293" y="118765"/>
                  <a:pt x="199177" y="126534"/>
                </a:cubicBezTo>
                <a:cubicBezTo>
                  <a:pt x="193238" y="168057"/>
                  <a:pt x="157475" y="199980"/>
                  <a:pt x="114300" y="199980"/>
                </a:cubicBezTo>
                <a:cubicBezTo>
                  <a:pt x="90636" y="199980"/>
                  <a:pt x="69205" y="190381"/>
                  <a:pt x="53667" y="174888"/>
                </a:cubicBezTo>
                <a:cubicBezTo>
                  <a:pt x="53578" y="174799"/>
                  <a:pt x="53489" y="174709"/>
                  <a:pt x="53400" y="174620"/>
                </a:cubicBezTo>
                <a:lnTo>
                  <a:pt x="50006" y="171405"/>
                </a:lnTo>
                <a:lnTo>
                  <a:pt x="71393" y="171405"/>
                </a:lnTo>
                <a:cubicBezTo>
                  <a:pt x="79296" y="171405"/>
                  <a:pt x="85680" y="165021"/>
                  <a:pt x="85680" y="157118"/>
                </a:cubicBezTo>
                <a:cubicBezTo>
                  <a:pt x="85680" y="149215"/>
                  <a:pt x="79296" y="142830"/>
                  <a:pt x="71393" y="142830"/>
                </a:cubicBezTo>
                <a:lnTo>
                  <a:pt x="14288" y="142875"/>
                </a:lnTo>
                <a:cubicBezTo>
                  <a:pt x="10492" y="142875"/>
                  <a:pt x="6831" y="144393"/>
                  <a:pt x="4152" y="147117"/>
                </a:cubicBezTo>
                <a:cubicBezTo>
                  <a:pt x="1473" y="149840"/>
                  <a:pt x="-45" y="153457"/>
                  <a:pt x="0" y="157296"/>
                </a:cubicBezTo>
                <a:lnTo>
                  <a:pt x="446" y="214000"/>
                </a:lnTo>
                <a:cubicBezTo>
                  <a:pt x="491" y="221903"/>
                  <a:pt x="6965" y="228243"/>
                  <a:pt x="14868" y="228154"/>
                </a:cubicBezTo>
                <a:cubicBezTo>
                  <a:pt x="22771" y="228064"/>
                  <a:pt x="29111" y="221635"/>
                  <a:pt x="29021" y="213732"/>
                </a:cubicBezTo>
                <a:lnTo>
                  <a:pt x="28843" y="190738"/>
                </a:lnTo>
                <a:lnTo>
                  <a:pt x="33620" y="195248"/>
                </a:lnTo>
                <a:cubicBezTo>
                  <a:pt x="54293" y="215831"/>
                  <a:pt x="82823" y="228600"/>
                  <a:pt x="114300" y="228600"/>
                </a:cubicBezTo>
                <a:cubicBezTo>
                  <a:pt x="171896" y="228600"/>
                  <a:pt x="219536" y="186005"/>
                  <a:pt x="227439" y="130597"/>
                </a:cubicBezTo>
                <a:close/>
              </a:path>
            </a:pathLst>
          </a:custGeom>
          <a:solidFill>
            <a:srgbClr val="E6B450"/>
          </a:solidFill>
        </p:spPr>
      </p:sp>
      <p:sp>
        <p:nvSpPr>
          <p:cNvPr id="21" name="Text 19"/>
          <p:cNvSpPr/>
          <p:nvPr/>
        </p:nvSpPr>
        <p:spPr>
          <a:xfrm>
            <a:off x="4867274" y="3633788"/>
            <a:ext cx="1508125" cy="266700"/>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局部路径规划</a:t>
            </a:r>
            <a:endParaRPr lang="en-US" sz="2000" dirty="0"/>
          </a:p>
        </p:txBody>
      </p:sp>
      <p:sp>
        <p:nvSpPr>
          <p:cNvPr id="22" name="Shape 20"/>
          <p:cNvSpPr/>
          <p:nvPr/>
        </p:nvSpPr>
        <p:spPr>
          <a:xfrm>
            <a:off x="4495800" y="4090987"/>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E6B450"/>
          </a:solidFill>
        </p:spPr>
      </p:sp>
      <p:sp>
        <p:nvSpPr>
          <p:cNvPr id="23" name="Text 21"/>
          <p:cNvSpPr/>
          <p:nvPr/>
        </p:nvSpPr>
        <p:spPr>
          <a:xfrm>
            <a:off x="4733924" y="4052888"/>
            <a:ext cx="1378005" cy="2286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属于</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动态规划</a:t>
            </a:r>
            <a:endParaRPr lang="en-US" sz="2000" dirty="0"/>
          </a:p>
        </p:txBody>
      </p:sp>
      <p:sp>
        <p:nvSpPr>
          <p:cNvPr id="24" name="Shape 22"/>
          <p:cNvSpPr/>
          <p:nvPr/>
        </p:nvSpPr>
        <p:spPr>
          <a:xfrm>
            <a:off x="4495800" y="4433888"/>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E6B450"/>
          </a:solidFill>
        </p:spPr>
      </p:sp>
      <p:sp>
        <p:nvSpPr>
          <p:cNvPr id="25" name="Text 23"/>
          <p:cNvSpPr/>
          <p:nvPr/>
        </p:nvSpPr>
        <p:spPr>
          <a:xfrm>
            <a:off x="4733925" y="4395788"/>
            <a:ext cx="2014008" cy="2286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基于</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传感器实时信息</a:t>
            </a:r>
            <a:endParaRPr lang="en-US" sz="2000" dirty="0"/>
          </a:p>
        </p:txBody>
      </p:sp>
      <p:sp>
        <p:nvSpPr>
          <p:cNvPr id="26" name="Shape 24"/>
          <p:cNvSpPr/>
          <p:nvPr/>
        </p:nvSpPr>
        <p:spPr>
          <a:xfrm>
            <a:off x="4495800" y="4776788"/>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E6B450"/>
          </a:solidFill>
        </p:spPr>
      </p:sp>
      <p:sp>
        <p:nvSpPr>
          <p:cNvPr id="27" name="Text 25"/>
          <p:cNvSpPr/>
          <p:nvPr/>
        </p:nvSpPr>
        <p:spPr>
          <a:xfrm>
            <a:off x="4733925" y="4738688"/>
            <a:ext cx="2014008" cy="2286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了解</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局部障碍物分布</a:t>
            </a:r>
            <a:endParaRPr lang="en-US" sz="2000" dirty="0"/>
          </a:p>
        </p:txBody>
      </p:sp>
      <p:sp>
        <p:nvSpPr>
          <p:cNvPr id="28" name="Shape 26"/>
          <p:cNvSpPr/>
          <p:nvPr/>
        </p:nvSpPr>
        <p:spPr>
          <a:xfrm>
            <a:off x="8158163" y="1738313"/>
            <a:ext cx="3648075" cy="4543425"/>
          </a:xfrm>
          <a:custGeom>
            <a:avLst/>
            <a:gdLst/>
            <a:ahLst/>
            <a:cxnLst/>
            <a:rect l="l" t="t" r="r" b="b"/>
            <a:pathLst>
              <a:path w="3648075" h="4543425">
                <a:moveTo>
                  <a:pt x="114294" y="0"/>
                </a:moveTo>
                <a:lnTo>
                  <a:pt x="3533781" y="0"/>
                </a:lnTo>
                <a:cubicBezTo>
                  <a:pt x="3596904" y="0"/>
                  <a:pt x="3648075" y="51171"/>
                  <a:pt x="3648075" y="114294"/>
                </a:cubicBezTo>
                <a:lnTo>
                  <a:pt x="3648075" y="4429131"/>
                </a:lnTo>
                <a:cubicBezTo>
                  <a:pt x="3648075" y="4492254"/>
                  <a:pt x="3596904" y="4543425"/>
                  <a:pt x="3533781" y="4543425"/>
                </a:cubicBezTo>
                <a:lnTo>
                  <a:pt x="114294" y="4543425"/>
                </a:lnTo>
                <a:cubicBezTo>
                  <a:pt x="51171" y="4543425"/>
                  <a:pt x="0" y="4492254"/>
                  <a:pt x="0" y="4429131"/>
                </a:cubicBezTo>
                <a:lnTo>
                  <a:pt x="0" y="114294"/>
                </a:lnTo>
                <a:cubicBezTo>
                  <a:pt x="0" y="51214"/>
                  <a:pt x="51214" y="0"/>
                  <a:pt x="114294" y="0"/>
                </a:cubicBezTo>
                <a:close/>
              </a:path>
            </a:pathLst>
          </a:custGeom>
          <a:solidFill>
            <a:srgbClr val="E6B450">
              <a:alpha val="10196"/>
            </a:srgbClr>
          </a:solidFill>
          <a:ln w="12700">
            <a:solidFill>
              <a:srgbClr val="E6B450">
                <a:alpha val="30196"/>
              </a:srgbClr>
            </a:solidFill>
            <a:prstDash val="solid"/>
          </a:ln>
        </p:spPr>
      </p:sp>
      <p:sp>
        <p:nvSpPr>
          <p:cNvPr id="29" name="Shape 27"/>
          <p:cNvSpPr/>
          <p:nvPr/>
        </p:nvSpPr>
        <p:spPr>
          <a:xfrm>
            <a:off x="8391525" y="2009775"/>
            <a:ext cx="238125" cy="190500"/>
          </a:xfrm>
          <a:custGeom>
            <a:avLst/>
            <a:gdLst/>
            <a:ahLst/>
            <a:cxnLst/>
            <a:rect l="l" t="t" r="r" b="b"/>
            <a:pathLst>
              <a:path w="238125" h="190500">
                <a:moveTo>
                  <a:pt x="142875" y="11906"/>
                </a:moveTo>
                <a:lnTo>
                  <a:pt x="190500" y="11906"/>
                </a:lnTo>
                <a:cubicBezTo>
                  <a:pt x="197086" y="11906"/>
                  <a:pt x="202406" y="17227"/>
                  <a:pt x="202406" y="23812"/>
                </a:cubicBezTo>
                <a:cubicBezTo>
                  <a:pt x="202406" y="30398"/>
                  <a:pt x="197086" y="35719"/>
                  <a:pt x="190500" y="35719"/>
                </a:cubicBezTo>
                <a:lnTo>
                  <a:pt x="148233" y="35719"/>
                </a:lnTo>
                <a:cubicBezTo>
                  <a:pt x="146298" y="45318"/>
                  <a:pt x="139712" y="53243"/>
                  <a:pt x="130969" y="57038"/>
                </a:cubicBezTo>
                <a:lnTo>
                  <a:pt x="130969" y="166688"/>
                </a:lnTo>
                <a:lnTo>
                  <a:pt x="190500" y="166688"/>
                </a:lnTo>
                <a:cubicBezTo>
                  <a:pt x="197086" y="166688"/>
                  <a:pt x="202406" y="172008"/>
                  <a:pt x="202406" y="178594"/>
                </a:cubicBezTo>
                <a:cubicBezTo>
                  <a:pt x="202406" y="185179"/>
                  <a:pt x="197086" y="190500"/>
                  <a:pt x="190500" y="190500"/>
                </a:cubicBezTo>
                <a:lnTo>
                  <a:pt x="47625" y="190500"/>
                </a:lnTo>
                <a:cubicBezTo>
                  <a:pt x="41039" y="190500"/>
                  <a:pt x="35719" y="185179"/>
                  <a:pt x="35719" y="178594"/>
                </a:cubicBezTo>
                <a:cubicBezTo>
                  <a:pt x="35719" y="172008"/>
                  <a:pt x="41039" y="166688"/>
                  <a:pt x="47625" y="166688"/>
                </a:cubicBezTo>
                <a:lnTo>
                  <a:pt x="107156" y="166688"/>
                </a:lnTo>
                <a:lnTo>
                  <a:pt x="107156" y="57038"/>
                </a:lnTo>
                <a:cubicBezTo>
                  <a:pt x="98413" y="53206"/>
                  <a:pt x="91827" y="45281"/>
                  <a:pt x="89892" y="35719"/>
                </a:cubicBezTo>
                <a:lnTo>
                  <a:pt x="47625" y="35719"/>
                </a:lnTo>
                <a:cubicBezTo>
                  <a:pt x="41039" y="35719"/>
                  <a:pt x="35719" y="30398"/>
                  <a:pt x="35719" y="23812"/>
                </a:cubicBezTo>
                <a:cubicBezTo>
                  <a:pt x="35719" y="17227"/>
                  <a:pt x="41039" y="11906"/>
                  <a:pt x="47625" y="11906"/>
                </a:cubicBezTo>
                <a:lnTo>
                  <a:pt x="95250" y="11906"/>
                </a:lnTo>
                <a:cubicBezTo>
                  <a:pt x="100682" y="4688"/>
                  <a:pt x="109314" y="0"/>
                  <a:pt x="119063" y="0"/>
                </a:cubicBezTo>
                <a:cubicBezTo>
                  <a:pt x="128811" y="0"/>
                  <a:pt x="137443" y="4688"/>
                  <a:pt x="142875" y="11906"/>
                </a:cubicBezTo>
                <a:close/>
                <a:moveTo>
                  <a:pt x="163562" y="119063"/>
                </a:moveTo>
                <a:lnTo>
                  <a:pt x="217438" y="119063"/>
                </a:lnTo>
                <a:lnTo>
                  <a:pt x="190500" y="72851"/>
                </a:lnTo>
                <a:lnTo>
                  <a:pt x="163562" y="119063"/>
                </a:lnTo>
                <a:close/>
                <a:moveTo>
                  <a:pt x="190500" y="154781"/>
                </a:moveTo>
                <a:cubicBezTo>
                  <a:pt x="167097" y="154781"/>
                  <a:pt x="147638" y="142131"/>
                  <a:pt x="143619" y="125425"/>
                </a:cubicBezTo>
                <a:cubicBezTo>
                  <a:pt x="142652" y="121332"/>
                  <a:pt x="143991" y="117128"/>
                  <a:pt x="146112" y="113481"/>
                </a:cubicBezTo>
                <a:lnTo>
                  <a:pt x="181533" y="52760"/>
                </a:lnTo>
                <a:cubicBezTo>
                  <a:pt x="183393" y="49560"/>
                  <a:pt x="186817" y="47625"/>
                  <a:pt x="190500" y="47625"/>
                </a:cubicBezTo>
                <a:cubicBezTo>
                  <a:pt x="194183" y="47625"/>
                  <a:pt x="197607" y="49597"/>
                  <a:pt x="199467" y="52760"/>
                </a:cubicBezTo>
                <a:lnTo>
                  <a:pt x="234888" y="113481"/>
                </a:lnTo>
                <a:cubicBezTo>
                  <a:pt x="237009" y="117128"/>
                  <a:pt x="238348" y="121332"/>
                  <a:pt x="237381" y="125425"/>
                </a:cubicBezTo>
                <a:cubicBezTo>
                  <a:pt x="233363" y="142094"/>
                  <a:pt x="213903" y="154781"/>
                  <a:pt x="190500" y="154781"/>
                </a:cubicBezTo>
                <a:close/>
                <a:moveTo>
                  <a:pt x="47179" y="72851"/>
                </a:moveTo>
                <a:lnTo>
                  <a:pt x="20241" y="119063"/>
                </a:lnTo>
                <a:lnTo>
                  <a:pt x="74154" y="119063"/>
                </a:lnTo>
                <a:lnTo>
                  <a:pt x="47179" y="72851"/>
                </a:lnTo>
                <a:close/>
                <a:moveTo>
                  <a:pt x="335" y="125425"/>
                </a:moveTo>
                <a:cubicBezTo>
                  <a:pt x="-633" y="121332"/>
                  <a:pt x="707" y="117128"/>
                  <a:pt x="2828" y="113481"/>
                </a:cubicBezTo>
                <a:lnTo>
                  <a:pt x="38249" y="52760"/>
                </a:lnTo>
                <a:cubicBezTo>
                  <a:pt x="40109" y="49560"/>
                  <a:pt x="43532" y="47625"/>
                  <a:pt x="47216" y="47625"/>
                </a:cubicBezTo>
                <a:cubicBezTo>
                  <a:pt x="50899" y="47625"/>
                  <a:pt x="54322" y="49597"/>
                  <a:pt x="56183" y="52760"/>
                </a:cubicBezTo>
                <a:lnTo>
                  <a:pt x="91604" y="113481"/>
                </a:lnTo>
                <a:cubicBezTo>
                  <a:pt x="93725" y="117128"/>
                  <a:pt x="95064" y="121332"/>
                  <a:pt x="94097" y="125425"/>
                </a:cubicBezTo>
                <a:cubicBezTo>
                  <a:pt x="90078" y="142094"/>
                  <a:pt x="70619" y="154781"/>
                  <a:pt x="47216" y="154781"/>
                </a:cubicBezTo>
                <a:cubicBezTo>
                  <a:pt x="23812" y="154781"/>
                  <a:pt x="4353" y="142131"/>
                  <a:pt x="335" y="125425"/>
                </a:cubicBezTo>
                <a:close/>
              </a:path>
            </a:pathLst>
          </a:custGeom>
          <a:solidFill>
            <a:srgbClr val="E6B450"/>
          </a:solidFill>
        </p:spPr>
      </p:sp>
      <p:sp>
        <p:nvSpPr>
          <p:cNvPr id="30" name="Text 28"/>
          <p:cNvSpPr/>
          <p:nvPr/>
        </p:nvSpPr>
        <p:spPr>
          <a:xfrm>
            <a:off x="8629650" y="1971675"/>
            <a:ext cx="3038475" cy="266700"/>
          </a:xfrm>
          <a:prstGeom prst="rect">
            <a:avLst/>
          </a:prstGeom>
          <a:noFill/>
        </p:spPr>
        <p:txBody>
          <a:bodyPr wrap="square" lIns="0" tIns="0" rIns="0" bIns="0" rtlCol="0" anchor="ctr"/>
          <a:lstStyle/>
          <a:p>
            <a:pPr>
              <a:lnSpc>
                <a:spcPct val="120000"/>
              </a:lnSpc>
            </a:pPr>
            <a:r>
              <a:rPr lang="en-US" sz="1500" b="1" dirty="0">
                <a:latin typeface="微软雅黑" panose="020B0503020204020204" pitchFamily="34" charset="-122"/>
                <a:ea typeface="微软雅黑" panose="020B0503020204020204" pitchFamily="34" charset="-122"/>
                <a:cs typeface="微软雅黑" panose="020B0503020204020204" pitchFamily="34" charset="-122"/>
              </a:rPr>
              <a:t>对比总结</a:t>
            </a:r>
            <a:endParaRPr lang="en-US" sz="1600" dirty="0"/>
          </a:p>
        </p:txBody>
      </p:sp>
      <p:sp>
        <p:nvSpPr>
          <p:cNvPr id="31" name="Shape 29"/>
          <p:cNvSpPr/>
          <p:nvPr/>
        </p:nvSpPr>
        <p:spPr>
          <a:xfrm>
            <a:off x="8415338" y="2514600"/>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75009" y="53578"/>
                </a:moveTo>
                <a:cubicBezTo>
                  <a:pt x="75009" y="47664"/>
                  <a:pt x="79811" y="42863"/>
                  <a:pt x="85725" y="42863"/>
                </a:cubicBezTo>
                <a:cubicBezTo>
                  <a:pt x="91639" y="42863"/>
                  <a:pt x="96441" y="47664"/>
                  <a:pt x="96441" y="53578"/>
                </a:cubicBezTo>
                <a:cubicBezTo>
                  <a:pt x="96441" y="59492"/>
                  <a:pt x="91639" y="64294"/>
                  <a:pt x="85725" y="64294"/>
                </a:cubicBezTo>
                <a:cubicBezTo>
                  <a:pt x="79811" y="64294"/>
                  <a:pt x="75009" y="59492"/>
                  <a:pt x="75009" y="53578"/>
                </a:cubicBezTo>
                <a:close/>
                <a:moveTo>
                  <a:pt x="72330" y="75009"/>
                </a:moveTo>
                <a:lnTo>
                  <a:pt x="88404" y="75009"/>
                </a:lnTo>
                <a:cubicBezTo>
                  <a:pt x="92858" y="75009"/>
                  <a:pt x="96441" y="78592"/>
                  <a:pt x="96441" y="83046"/>
                </a:cubicBezTo>
                <a:lnTo>
                  <a:pt x="96441" y="112514"/>
                </a:lnTo>
                <a:lnTo>
                  <a:pt x="99120" y="112514"/>
                </a:lnTo>
                <a:cubicBezTo>
                  <a:pt x="103573" y="112514"/>
                  <a:pt x="107156" y="116097"/>
                  <a:pt x="107156" y="120551"/>
                </a:cubicBezTo>
                <a:cubicBezTo>
                  <a:pt x="107156" y="125004"/>
                  <a:pt x="103573" y="128588"/>
                  <a:pt x="99120" y="128588"/>
                </a:cubicBezTo>
                <a:lnTo>
                  <a:pt x="72330" y="128588"/>
                </a:lnTo>
                <a:cubicBezTo>
                  <a:pt x="67877" y="128588"/>
                  <a:pt x="64294" y="125004"/>
                  <a:pt x="64294" y="120551"/>
                </a:cubicBezTo>
                <a:cubicBezTo>
                  <a:pt x="64294" y="116097"/>
                  <a:pt x="67877" y="112514"/>
                  <a:pt x="72330" y="112514"/>
                </a:cubicBezTo>
                <a:lnTo>
                  <a:pt x="80367" y="112514"/>
                </a:lnTo>
                <a:lnTo>
                  <a:pt x="80367" y="91083"/>
                </a:lnTo>
                <a:lnTo>
                  <a:pt x="72330" y="91083"/>
                </a:lnTo>
                <a:cubicBezTo>
                  <a:pt x="67877" y="91083"/>
                  <a:pt x="64294" y="87500"/>
                  <a:pt x="64294" y="83046"/>
                </a:cubicBezTo>
                <a:cubicBezTo>
                  <a:pt x="64294" y="78592"/>
                  <a:pt x="67877" y="75009"/>
                  <a:pt x="72330" y="75009"/>
                </a:cubicBezTo>
                <a:close/>
              </a:path>
            </a:pathLst>
          </a:custGeom>
          <a:solidFill>
            <a:srgbClr val="E6B450"/>
          </a:solidFill>
        </p:spPr>
      </p:sp>
      <p:sp>
        <p:nvSpPr>
          <p:cNvPr id="32" name="Text 30"/>
          <p:cNvSpPr/>
          <p:nvPr/>
        </p:nvSpPr>
        <p:spPr>
          <a:xfrm>
            <a:off x="8610600" y="2466975"/>
            <a:ext cx="3048000" cy="266700"/>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信息来源</a:t>
            </a:r>
            <a:endParaRPr lang="en-US" sz="1600" dirty="0"/>
          </a:p>
        </p:txBody>
      </p:sp>
      <p:sp>
        <p:nvSpPr>
          <p:cNvPr id="33" name="Shape 31"/>
          <p:cNvSpPr/>
          <p:nvPr/>
        </p:nvSpPr>
        <p:spPr>
          <a:xfrm>
            <a:off x="8391525" y="2847975"/>
            <a:ext cx="1533525" cy="685800"/>
          </a:xfrm>
          <a:custGeom>
            <a:avLst/>
            <a:gdLst/>
            <a:ahLst/>
            <a:cxnLst/>
            <a:rect l="l" t="t" r="r" b="b"/>
            <a:pathLst>
              <a:path w="1533525" h="685800">
                <a:moveTo>
                  <a:pt x="76199" y="0"/>
                </a:moveTo>
                <a:lnTo>
                  <a:pt x="1457326" y="0"/>
                </a:lnTo>
                <a:cubicBezTo>
                  <a:pt x="1499409" y="0"/>
                  <a:pt x="1533525" y="34116"/>
                  <a:pt x="1533525" y="76199"/>
                </a:cubicBezTo>
                <a:lnTo>
                  <a:pt x="1533525" y="609601"/>
                </a:lnTo>
                <a:cubicBezTo>
                  <a:pt x="1533525" y="651656"/>
                  <a:pt x="1499381" y="685800"/>
                  <a:pt x="1457326" y="685800"/>
                </a:cubicBezTo>
                <a:lnTo>
                  <a:pt x="76199" y="685800"/>
                </a:lnTo>
                <a:cubicBezTo>
                  <a:pt x="34116" y="685800"/>
                  <a:pt x="0" y="651684"/>
                  <a:pt x="0" y="609601"/>
                </a:cubicBezTo>
                <a:lnTo>
                  <a:pt x="0" y="76199"/>
                </a:lnTo>
                <a:cubicBezTo>
                  <a:pt x="0" y="34144"/>
                  <a:pt x="34144" y="0"/>
                  <a:pt x="76199" y="0"/>
                </a:cubicBezTo>
                <a:close/>
              </a:path>
            </a:pathLst>
          </a:custGeom>
          <a:solidFill>
            <a:srgbClr val="5F87A7">
              <a:alpha val="20000"/>
            </a:srgbClr>
          </a:solidFill>
        </p:spPr>
      </p:sp>
      <p:sp>
        <p:nvSpPr>
          <p:cNvPr id="34" name="Text 32"/>
          <p:cNvSpPr/>
          <p:nvPr/>
        </p:nvSpPr>
        <p:spPr>
          <a:xfrm>
            <a:off x="8505825" y="2962275"/>
            <a:ext cx="1381125" cy="228600"/>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全局规划</a:t>
            </a:r>
            <a:endParaRPr lang="en-US" sz="1600" dirty="0"/>
          </a:p>
        </p:txBody>
      </p:sp>
      <p:sp>
        <p:nvSpPr>
          <p:cNvPr id="35" name="Text 33"/>
          <p:cNvSpPr/>
          <p:nvPr/>
        </p:nvSpPr>
        <p:spPr>
          <a:xfrm>
            <a:off x="8505825" y="3228975"/>
            <a:ext cx="1371600" cy="190500"/>
          </a:xfrm>
          <a:prstGeom prst="rect">
            <a:avLst/>
          </a:prstGeom>
          <a:noFill/>
        </p:spPr>
        <p:txBody>
          <a:bodyPr wrap="square" lIns="0" tIns="0" rIns="0" bIns="0" rtlCol="0" anchor="ctr"/>
          <a:lstStyle/>
          <a:p>
            <a:pPr>
              <a:lnSpc>
                <a:spcPct val="12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先验完全信息</a:t>
            </a:r>
            <a:endParaRPr lang="en-US" sz="1600" dirty="0"/>
          </a:p>
        </p:txBody>
      </p:sp>
      <p:sp>
        <p:nvSpPr>
          <p:cNvPr id="36" name="Shape 34"/>
          <p:cNvSpPr/>
          <p:nvPr/>
        </p:nvSpPr>
        <p:spPr>
          <a:xfrm>
            <a:off x="10039350" y="2847975"/>
            <a:ext cx="1533525" cy="685800"/>
          </a:xfrm>
          <a:custGeom>
            <a:avLst/>
            <a:gdLst/>
            <a:ahLst/>
            <a:cxnLst/>
            <a:rect l="l" t="t" r="r" b="b"/>
            <a:pathLst>
              <a:path w="1533525" h="685800">
                <a:moveTo>
                  <a:pt x="76199" y="0"/>
                </a:moveTo>
                <a:lnTo>
                  <a:pt x="1457326" y="0"/>
                </a:lnTo>
                <a:cubicBezTo>
                  <a:pt x="1499409" y="0"/>
                  <a:pt x="1533525" y="34116"/>
                  <a:pt x="1533525" y="76199"/>
                </a:cubicBezTo>
                <a:lnTo>
                  <a:pt x="1533525" y="609601"/>
                </a:lnTo>
                <a:cubicBezTo>
                  <a:pt x="1533525" y="651656"/>
                  <a:pt x="1499381" y="685800"/>
                  <a:pt x="1457326" y="685800"/>
                </a:cubicBezTo>
                <a:lnTo>
                  <a:pt x="76199" y="685800"/>
                </a:lnTo>
                <a:cubicBezTo>
                  <a:pt x="34116" y="685800"/>
                  <a:pt x="0" y="651684"/>
                  <a:pt x="0" y="609601"/>
                </a:cubicBezTo>
                <a:lnTo>
                  <a:pt x="0" y="76199"/>
                </a:lnTo>
                <a:cubicBezTo>
                  <a:pt x="0" y="34144"/>
                  <a:pt x="34144" y="0"/>
                  <a:pt x="76199" y="0"/>
                </a:cubicBezTo>
                <a:close/>
              </a:path>
            </a:pathLst>
          </a:custGeom>
          <a:solidFill>
            <a:srgbClr val="5F87A7">
              <a:alpha val="20000"/>
            </a:srgbClr>
          </a:solidFill>
        </p:spPr>
      </p:sp>
      <p:sp>
        <p:nvSpPr>
          <p:cNvPr id="37" name="Text 35"/>
          <p:cNvSpPr/>
          <p:nvPr/>
        </p:nvSpPr>
        <p:spPr>
          <a:xfrm>
            <a:off x="10153650" y="2962275"/>
            <a:ext cx="1381125" cy="228600"/>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局部规划</a:t>
            </a:r>
            <a:endParaRPr lang="en-US" sz="1600" dirty="0"/>
          </a:p>
        </p:txBody>
      </p:sp>
      <p:sp>
        <p:nvSpPr>
          <p:cNvPr id="38" name="Text 36"/>
          <p:cNvSpPr/>
          <p:nvPr/>
        </p:nvSpPr>
        <p:spPr>
          <a:xfrm>
            <a:off x="10153650" y="3228975"/>
            <a:ext cx="1371600" cy="190500"/>
          </a:xfrm>
          <a:prstGeom prst="rect">
            <a:avLst/>
          </a:prstGeom>
          <a:noFill/>
        </p:spPr>
        <p:txBody>
          <a:bodyPr wrap="square" lIns="0" tIns="0" rIns="0" bIns="0" rtlCol="0" anchor="ctr"/>
          <a:lstStyle/>
          <a:p>
            <a:pPr>
              <a:lnSpc>
                <a:spcPct val="12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传感器实时采集</a:t>
            </a:r>
            <a:endParaRPr lang="en-US" sz="1600" dirty="0"/>
          </a:p>
        </p:txBody>
      </p:sp>
      <p:sp>
        <p:nvSpPr>
          <p:cNvPr id="39" name="Shape 37"/>
          <p:cNvSpPr/>
          <p:nvPr/>
        </p:nvSpPr>
        <p:spPr>
          <a:xfrm>
            <a:off x="8404622" y="3771900"/>
            <a:ext cx="192881" cy="171450"/>
          </a:xfrm>
          <a:custGeom>
            <a:avLst/>
            <a:gdLst/>
            <a:ahLst/>
            <a:cxnLst/>
            <a:rect l="l" t="t" r="r" b="b"/>
            <a:pathLst>
              <a:path w="192881" h="171450">
                <a:moveTo>
                  <a:pt x="96441" y="10716"/>
                </a:moveTo>
                <a:cubicBezTo>
                  <a:pt x="69384" y="10716"/>
                  <a:pt x="47718" y="23039"/>
                  <a:pt x="31946" y="37706"/>
                </a:cubicBezTo>
                <a:cubicBezTo>
                  <a:pt x="16274" y="52272"/>
                  <a:pt x="5793" y="69652"/>
                  <a:pt x="804" y="81606"/>
                </a:cubicBezTo>
                <a:cubicBezTo>
                  <a:pt x="-301" y="84252"/>
                  <a:pt x="-301" y="87198"/>
                  <a:pt x="804" y="89844"/>
                </a:cubicBezTo>
                <a:cubicBezTo>
                  <a:pt x="5793" y="101798"/>
                  <a:pt x="16274" y="119211"/>
                  <a:pt x="31946" y="133744"/>
                </a:cubicBezTo>
                <a:cubicBezTo>
                  <a:pt x="47718" y="148378"/>
                  <a:pt x="69384" y="160734"/>
                  <a:pt x="96441" y="160734"/>
                </a:cubicBezTo>
                <a:cubicBezTo>
                  <a:pt x="123498" y="160734"/>
                  <a:pt x="145163" y="148411"/>
                  <a:pt x="160935" y="133744"/>
                </a:cubicBezTo>
                <a:cubicBezTo>
                  <a:pt x="176607" y="119178"/>
                  <a:pt x="187088" y="101798"/>
                  <a:pt x="192078" y="89844"/>
                </a:cubicBezTo>
                <a:cubicBezTo>
                  <a:pt x="193183" y="87198"/>
                  <a:pt x="193183" y="84252"/>
                  <a:pt x="192078" y="81606"/>
                </a:cubicBezTo>
                <a:cubicBezTo>
                  <a:pt x="187088" y="69652"/>
                  <a:pt x="176607" y="52239"/>
                  <a:pt x="160935" y="37706"/>
                </a:cubicBezTo>
                <a:cubicBezTo>
                  <a:pt x="145163" y="23072"/>
                  <a:pt x="123498" y="10716"/>
                  <a:pt x="96441" y="10716"/>
                </a:cubicBezTo>
                <a:close/>
                <a:moveTo>
                  <a:pt x="48220" y="85725"/>
                </a:moveTo>
                <a:cubicBezTo>
                  <a:pt x="48220" y="59111"/>
                  <a:pt x="69827" y="37505"/>
                  <a:pt x="96441" y="37505"/>
                </a:cubicBezTo>
                <a:cubicBezTo>
                  <a:pt x="123054" y="37505"/>
                  <a:pt x="144661" y="59111"/>
                  <a:pt x="144661" y="85725"/>
                </a:cubicBezTo>
                <a:cubicBezTo>
                  <a:pt x="144661" y="112339"/>
                  <a:pt x="123054" y="133945"/>
                  <a:pt x="96441" y="133945"/>
                </a:cubicBezTo>
                <a:cubicBezTo>
                  <a:pt x="69827" y="133945"/>
                  <a:pt x="48220" y="112339"/>
                  <a:pt x="48220" y="85725"/>
                </a:cubicBezTo>
                <a:close/>
                <a:moveTo>
                  <a:pt x="96441" y="64294"/>
                </a:moveTo>
                <a:cubicBezTo>
                  <a:pt x="96441" y="76114"/>
                  <a:pt x="86830" y="85725"/>
                  <a:pt x="75009" y="85725"/>
                </a:cubicBezTo>
                <a:cubicBezTo>
                  <a:pt x="71158" y="85725"/>
                  <a:pt x="67542" y="84720"/>
                  <a:pt x="64394" y="82912"/>
                </a:cubicBezTo>
                <a:cubicBezTo>
                  <a:pt x="64059" y="86562"/>
                  <a:pt x="64361" y="90313"/>
                  <a:pt x="65365" y="94030"/>
                </a:cubicBezTo>
                <a:cubicBezTo>
                  <a:pt x="69953" y="111175"/>
                  <a:pt x="87600" y="121354"/>
                  <a:pt x="104745" y="116767"/>
                </a:cubicBezTo>
                <a:cubicBezTo>
                  <a:pt x="121890" y="112179"/>
                  <a:pt x="132070" y="94532"/>
                  <a:pt x="127482" y="77387"/>
                </a:cubicBezTo>
                <a:cubicBezTo>
                  <a:pt x="123397" y="62084"/>
                  <a:pt x="108898" y="52339"/>
                  <a:pt x="93628" y="53679"/>
                </a:cubicBezTo>
                <a:cubicBezTo>
                  <a:pt x="95403" y="56793"/>
                  <a:pt x="96441" y="60409"/>
                  <a:pt x="96441" y="64294"/>
                </a:cubicBezTo>
                <a:close/>
              </a:path>
            </a:pathLst>
          </a:custGeom>
          <a:solidFill>
            <a:srgbClr val="E6B450"/>
          </a:solidFill>
        </p:spPr>
      </p:sp>
      <p:sp>
        <p:nvSpPr>
          <p:cNvPr id="40" name="Text 38"/>
          <p:cNvSpPr/>
          <p:nvPr/>
        </p:nvSpPr>
        <p:spPr>
          <a:xfrm>
            <a:off x="8610600" y="3724275"/>
            <a:ext cx="3048000" cy="266700"/>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障碍物信息</a:t>
            </a:r>
            <a:endParaRPr lang="en-US" sz="1600" dirty="0"/>
          </a:p>
        </p:txBody>
      </p:sp>
      <p:sp>
        <p:nvSpPr>
          <p:cNvPr id="41" name="Shape 39"/>
          <p:cNvSpPr/>
          <p:nvPr/>
        </p:nvSpPr>
        <p:spPr>
          <a:xfrm>
            <a:off x="8391525" y="4105275"/>
            <a:ext cx="1533525" cy="685800"/>
          </a:xfrm>
          <a:custGeom>
            <a:avLst/>
            <a:gdLst/>
            <a:ahLst/>
            <a:cxnLst/>
            <a:rect l="l" t="t" r="r" b="b"/>
            <a:pathLst>
              <a:path w="1533525" h="685800">
                <a:moveTo>
                  <a:pt x="76199" y="0"/>
                </a:moveTo>
                <a:lnTo>
                  <a:pt x="1457326" y="0"/>
                </a:lnTo>
                <a:cubicBezTo>
                  <a:pt x="1499409" y="0"/>
                  <a:pt x="1533525" y="34116"/>
                  <a:pt x="1533525" y="76199"/>
                </a:cubicBezTo>
                <a:lnTo>
                  <a:pt x="1533525" y="609601"/>
                </a:lnTo>
                <a:cubicBezTo>
                  <a:pt x="1533525" y="651656"/>
                  <a:pt x="1499381" y="685800"/>
                  <a:pt x="1457326" y="685800"/>
                </a:cubicBezTo>
                <a:lnTo>
                  <a:pt x="76199" y="685800"/>
                </a:lnTo>
                <a:cubicBezTo>
                  <a:pt x="34116" y="685800"/>
                  <a:pt x="0" y="651684"/>
                  <a:pt x="0" y="609601"/>
                </a:cubicBezTo>
                <a:lnTo>
                  <a:pt x="0" y="76199"/>
                </a:lnTo>
                <a:cubicBezTo>
                  <a:pt x="0" y="34144"/>
                  <a:pt x="34144" y="0"/>
                  <a:pt x="76199" y="0"/>
                </a:cubicBezTo>
                <a:close/>
              </a:path>
            </a:pathLst>
          </a:custGeom>
          <a:solidFill>
            <a:srgbClr val="5F87A7">
              <a:alpha val="20000"/>
            </a:srgbClr>
          </a:solidFill>
        </p:spPr>
      </p:sp>
      <p:sp>
        <p:nvSpPr>
          <p:cNvPr id="42" name="Text 40"/>
          <p:cNvSpPr/>
          <p:nvPr/>
        </p:nvSpPr>
        <p:spPr>
          <a:xfrm>
            <a:off x="8505825" y="4219575"/>
            <a:ext cx="1381125" cy="228600"/>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全局规划</a:t>
            </a:r>
            <a:endParaRPr lang="en-US" sz="1600" dirty="0"/>
          </a:p>
        </p:txBody>
      </p:sp>
      <p:sp>
        <p:nvSpPr>
          <p:cNvPr id="43" name="Text 41"/>
          <p:cNvSpPr/>
          <p:nvPr/>
        </p:nvSpPr>
        <p:spPr>
          <a:xfrm>
            <a:off x="8505825" y="4486275"/>
            <a:ext cx="1371600" cy="190500"/>
          </a:xfrm>
          <a:prstGeom prst="rect">
            <a:avLst/>
          </a:prstGeom>
          <a:noFill/>
        </p:spPr>
        <p:txBody>
          <a:bodyPr wrap="square" lIns="0" tIns="0" rIns="0" bIns="0" rtlCol="0" anchor="ctr"/>
          <a:lstStyle/>
          <a:p>
            <a:pPr>
              <a:lnSpc>
                <a:spcPct val="12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静态环境</a:t>
            </a:r>
            <a:endParaRPr lang="en-US" sz="1600" dirty="0"/>
          </a:p>
        </p:txBody>
      </p:sp>
      <p:sp>
        <p:nvSpPr>
          <p:cNvPr id="44" name="Shape 42"/>
          <p:cNvSpPr/>
          <p:nvPr/>
        </p:nvSpPr>
        <p:spPr>
          <a:xfrm>
            <a:off x="10039350" y="4105275"/>
            <a:ext cx="1533525" cy="685800"/>
          </a:xfrm>
          <a:custGeom>
            <a:avLst/>
            <a:gdLst/>
            <a:ahLst/>
            <a:cxnLst/>
            <a:rect l="l" t="t" r="r" b="b"/>
            <a:pathLst>
              <a:path w="1533525" h="685800">
                <a:moveTo>
                  <a:pt x="76199" y="0"/>
                </a:moveTo>
                <a:lnTo>
                  <a:pt x="1457326" y="0"/>
                </a:lnTo>
                <a:cubicBezTo>
                  <a:pt x="1499409" y="0"/>
                  <a:pt x="1533525" y="34116"/>
                  <a:pt x="1533525" y="76199"/>
                </a:cubicBezTo>
                <a:lnTo>
                  <a:pt x="1533525" y="609601"/>
                </a:lnTo>
                <a:cubicBezTo>
                  <a:pt x="1533525" y="651656"/>
                  <a:pt x="1499381" y="685800"/>
                  <a:pt x="1457326" y="685800"/>
                </a:cubicBezTo>
                <a:lnTo>
                  <a:pt x="76199" y="685800"/>
                </a:lnTo>
                <a:cubicBezTo>
                  <a:pt x="34116" y="685800"/>
                  <a:pt x="0" y="651684"/>
                  <a:pt x="0" y="609601"/>
                </a:cubicBezTo>
                <a:lnTo>
                  <a:pt x="0" y="76199"/>
                </a:lnTo>
                <a:cubicBezTo>
                  <a:pt x="0" y="34144"/>
                  <a:pt x="34144" y="0"/>
                  <a:pt x="76199" y="0"/>
                </a:cubicBezTo>
                <a:close/>
              </a:path>
            </a:pathLst>
          </a:custGeom>
          <a:solidFill>
            <a:srgbClr val="5F87A7">
              <a:alpha val="20000"/>
            </a:srgbClr>
          </a:solidFill>
        </p:spPr>
      </p:sp>
      <p:sp>
        <p:nvSpPr>
          <p:cNvPr id="45" name="Text 43"/>
          <p:cNvSpPr/>
          <p:nvPr/>
        </p:nvSpPr>
        <p:spPr>
          <a:xfrm>
            <a:off x="10153650" y="4219575"/>
            <a:ext cx="1381125" cy="228600"/>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局部规划</a:t>
            </a:r>
            <a:endParaRPr lang="en-US" sz="1600" dirty="0"/>
          </a:p>
        </p:txBody>
      </p:sp>
      <p:sp>
        <p:nvSpPr>
          <p:cNvPr id="46" name="Text 44"/>
          <p:cNvSpPr/>
          <p:nvPr/>
        </p:nvSpPr>
        <p:spPr>
          <a:xfrm>
            <a:off x="10153650" y="4486275"/>
            <a:ext cx="1371600" cy="190500"/>
          </a:xfrm>
          <a:prstGeom prst="rect">
            <a:avLst/>
          </a:prstGeom>
          <a:noFill/>
        </p:spPr>
        <p:txBody>
          <a:bodyPr wrap="square" lIns="0" tIns="0" rIns="0" bIns="0" rtlCol="0" anchor="ctr"/>
          <a:lstStyle/>
          <a:p>
            <a:pPr>
              <a:lnSpc>
                <a:spcPct val="12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动态环境</a:t>
            </a:r>
            <a:endParaRPr lang="en-US" sz="1600" dirty="0"/>
          </a:p>
        </p:txBody>
      </p:sp>
      <p:sp>
        <p:nvSpPr>
          <p:cNvPr id="47" name="Shape 45"/>
          <p:cNvSpPr/>
          <p:nvPr/>
        </p:nvSpPr>
        <p:spPr>
          <a:xfrm>
            <a:off x="8415338" y="5029200"/>
            <a:ext cx="171450" cy="171450"/>
          </a:xfrm>
          <a:custGeom>
            <a:avLst/>
            <a:gdLst/>
            <a:ahLst/>
            <a:cxnLst/>
            <a:rect l="l" t="t" r="r" b="b"/>
            <a:pathLst>
              <a:path w="171450" h="171450">
                <a:moveTo>
                  <a:pt x="171450" y="16073"/>
                </a:moveTo>
                <a:cubicBezTo>
                  <a:pt x="171450" y="12356"/>
                  <a:pt x="169541" y="8907"/>
                  <a:pt x="166360" y="6965"/>
                </a:cubicBezTo>
                <a:cubicBezTo>
                  <a:pt x="163179" y="5023"/>
                  <a:pt x="159261" y="4822"/>
                  <a:pt x="155946" y="6496"/>
                </a:cubicBezTo>
                <a:lnTo>
                  <a:pt x="117035" y="25952"/>
                </a:lnTo>
                <a:lnTo>
                  <a:pt x="56960" y="5894"/>
                </a:lnTo>
                <a:cubicBezTo>
                  <a:pt x="54248" y="4989"/>
                  <a:pt x="51335" y="5190"/>
                  <a:pt x="48790" y="6463"/>
                </a:cubicBezTo>
                <a:lnTo>
                  <a:pt x="5927" y="27894"/>
                </a:lnTo>
                <a:cubicBezTo>
                  <a:pt x="2277" y="29736"/>
                  <a:pt x="0" y="33453"/>
                  <a:pt x="0" y="37505"/>
                </a:cubicBezTo>
                <a:lnTo>
                  <a:pt x="0" y="155377"/>
                </a:lnTo>
                <a:cubicBezTo>
                  <a:pt x="0" y="159094"/>
                  <a:pt x="1909" y="162543"/>
                  <a:pt x="5090" y="164485"/>
                </a:cubicBezTo>
                <a:cubicBezTo>
                  <a:pt x="8271" y="166427"/>
                  <a:pt x="12189" y="166628"/>
                  <a:pt x="15504" y="164954"/>
                </a:cubicBezTo>
                <a:lnTo>
                  <a:pt x="54382" y="145498"/>
                </a:lnTo>
                <a:lnTo>
                  <a:pt x="114456" y="165523"/>
                </a:lnTo>
                <a:cubicBezTo>
                  <a:pt x="117169" y="166427"/>
                  <a:pt x="120082" y="166226"/>
                  <a:pt x="122627" y="164954"/>
                </a:cubicBezTo>
                <a:lnTo>
                  <a:pt x="165489" y="143522"/>
                </a:lnTo>
                <a:cubicBezTo>
                  <a:pt x="169106" y="141714"/>
                  <a:pt x="171417" y="137997"/>
                  <a:pt x="171417" y="133945"/>
                </a:cubicBezTo>
                <a:lnTo>
                  <a:pt x="171417" y="16073"/>
                </a:lnTo>
                <a:close/>
                <a:moveTo>
                  <a:pt x="64294" y="126210"/>
                </a:moveTo>
                <a:lnTo>
                  <a:pt x="64294" y="30941"/>
                </a:lnTo>
                <a:lnTo>
                  <a:pt x="107156" y="45240"/>
                </a:lnTo>
                <a:lnTo>
                  <a:pt x="107156" y="140509"/>
                </a:lnTo>
                <a:lnTo>
                  <a:pt x="64294" y="126210"/>
                </a:lnTo>
                <a:close/>
              </a:path>
            </a:pathLst>
          </a:custGeom>
          <a:solidFill>
            <a:srgbClr val="E6B450"/>
          </a:solidFill>
        </p:spPr>
      </p:sp>
      <p:sp>
        <p:nvSpPr>
          <p:cNvPr id="48" name="Text 46"/>
          <p:cNvSpPr/>
          <p:nvPr/>
        </p:nvSpPr>
        <p:spPr>
          <a:xfrm>
            <a:off x="8610600" y="4981575"/>
            <a:ext cx="3048000" cy="266700"/>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规划范围</a:t>
            </a:r>
            <a:endParaRPr lang="en-US" sz="1600" dirty="0"/>
          </a:p>
        </p:txBody>
      </p:sp>
      <p:sp>
        <p:nvSpPr>
          <p:cNvPr id="49" name="Shape 47"/>
          <p:cNvSpPr/>
          <p:nvPr/>
        </p:nvSpPr>
        <p:spPr>
          <a:xfrm>
            <a:off x="8391525" y="5362575"/>
            <a:ext cx="1533525" cy="685800"/>
          </a:xfrm>
          <a:custGeom>
            <a:avLst/>
            <a:gdLst/>
            <a:ahLst/>
            <a:cxnLst/>
            <a:rect l="l" t="t" r="r" b="b"/>
            <a:pathLst>
              <a:path w="1533525" h="685800">
                <a:moveTo>
                  <a:pt x="76199" y="0"/>
                </a:moveTo>
                <a:lnTo>
                  <a:pt x="1457326" y="0"/>
                </a:lnTo>
                <a:cubicBezTo>
                  <a:pt x="1499409" y="0"/>
                  <a:pt x="1533525" y="34116"/>
                  <a:pt x="1533525" y="76199"/>
                </a:cubicBezTo>
                <a:lnTo>
                  <a:pt x="1533525" y="609601"/>
                </a:lnTo>
                <a:cubicBezTo>
                  <a:pt x="1533525" y="651656"/>
                  <a:pt x="1499381" y="685800"/>
                  <a:pt x="1457326" y="685800"/>
                </a:cubicBezTo>
                <a:lnTo>
                  <a:pt x="76199" y="685800"/>
                </a:lnTo>
                <a:cubicBezTo>
                  <a:pt x="34116" y="685800"/>
                  <a:pt x="0" y="651684"/>
                  <a:pt x="0" y="609601"/>
                </a:cubicBezTo>
                <a:lnTo>
                  <a:pt x="0" y="76199"/>
                </a:lnTo>
                <a:cubicBezTo>
                  <a:pt x="0" y="34144"/>
                  <a:pt x="34144" y="0"/>
                  <a:pt x="76199" y="0"/>
                </a:cubicBezTo>
                <a:close/>
              </a:path>
            </a:pathLst>
          </a:custGeom>
          <a:solidFill>
            <a:srgbClr val="5F87A7">
              <a:alpha val="20000"/>
            </a:srgbClr>
          </a:solidFill>
        </p:spPr>
      </p:sp>
      <p:sp>
        <p:nvSpPr>
          <p:cNvPr id="50" name="Text 48"/>
          <p:cNvSpPr/>
          <p:nvPr/>
        </p:nvSpPr>
        <p:spPr>
          <a:xfrm>
            <a:off x="8505825" y="5476875"/>
            <a:ext cx="1381125" cy="228600"/>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全局规划</a:t>
            </a:r>
            <a:endParaRPr lang="en-US" sz="1600" dirty="0"/>
          </a:p>
        </p:txBody>
      </p:sp>
      <p:sp>
        <p:nvSpPr>
          <p:cNvPr id="51" name="Text 49"/>
          <p:cNvSpPr/>
          <p:nvPr/>
        </p:nvSpPr>
        <p:spPr>
          <a:xfrm>
            <a:off x="8505825" y="5743575"/>
            <a:ext cx="1371600" cy="190500"/>
          </a:xfrm>
          <a:prstGeom prst="rect">
            <a:avLst/>
          </a:prstGeom>
          <a:noFill/>
        </p:spPr>
        <p:txBody>
          <a:bodyPr wrap="square" lIns="0" tIns="0" rIns="0" bIns="0" rtlCol="0" anchor="ctr"/>
          <a:lstStyle/>
          <a:p>
            <a:pPr>
              <a:lnSpc>
                <a:spcPct val="12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起点到终点</a:t>
            </a:r>
            <a:endParaRPr lang="en-US" sz="1600" dirty="0"/>
          </a:p>
        </p:txBody>
      </p:sp>
      <p:sp>
        <p:nvSpPr>
          <p:cNvPr id="52" name="Shape 50"/>
          <p:cNvSpPr/>
          <p:nvPr/>
        </p:nvSpPr>
        <p:spPr>
          <a:xfrm>
            <a:off x="10039350" y="5362575"/>
            <a:ext cx="1533525" cy="685800"/>
          </a:xfrm>
          <a:custGeom>
            <a:avLst/>
            <a:gdLst/>
            <a:ahLst/>
            <a:cxnLst/>
            <a:rect l="l" t="t" r="r" b="b"/>
            <a:pathLst>
              <a:path w="1533525" h="685800">
                <a:moveTo>
                  <a:pt x="76199" y="0"/>
                </a:moveTo>
                <a:lnTo>
                  <a:pt x="1457326" y="0"/>
                </a:lnTo>
                <a:cubicBezTo>
                  <a:pt x="1499409" y="0"/>
                  <a:pt x="1533525" y="34116"/>
                  <a:pt x="1533525" y="76199"/>
                </a:cubicBezTo>
                <a:lnTo>
                  <a:pt x="1533525" y="609601"/>
                </a:lnTo>
                <a:cubicBezTo>
                  <a:pt x="1533525" y="651656"/>
                  <a:pt x="1499381" y="685800"/>
                  <a:pt x="1457326" y="685800"/>
                </a:cubicBezTo>
                <a:lnTo>
                  <a:pt x="76199" y="685800"/>
                </a:lnTo>
                <a:cubicBezTo>
                  <a:pt x="34116" y="685800"/>
                  <a:pt x="0" y="651684"/>
                  <a:pt x="0" y="609601"/>
                </a:cubicBezTo>
                <a:lnTo>
                  <a:pt x="0" y="76199"/>
                </a:lnTo>
                <a:cubicBezTo>
                  <a:pt x="0" y="34144"/>
                  <a:pt x="34144" y="0"/>
                  <a:pt x="76199" y="0"/>
                </a:cubicBezTo>
                <a:close/>
              </a:path>
            </a:pathLst>
          </a:custGeom>
          <a:solidFill>
            <a:srgbClr val="5F87A7">
              <a:alpha val="20000"/>
            </a:srgbClr>
          </a:solidFill>
        </p:spPr>
      </p:sp>
      <p:sp>
        <p:nvSpPr>
          <p:cNvPr id="53" name="Text 51"/>
          <p:cNvSpPr/>
          <p:nvPr/>
        </p:nvSpPr>
        <p:spPr>
          <a:xfrm>
            <a:off x="10153650" y="5476875"/>
            <a:ext cx="1381125" cy="228600"/>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局部规划</a:t>
            </a:r>
            <a:endParaRPr lang="en-US" sz="1600" dirty="0"/>
          </a:p>
        </p:txBody>
      </p:sp>
      <p:sp>
        <p:nvSpPr>
          <p:cNvPr id="54" name="Text 52"/>
          <p:cNvSpPr/>
          <p:nvPr/>
        </p:nvSpPr>
        <p:spPr>
          <a:xfrm>
            <a:off x="10153650" y="5743575"/>
            <a:ext cx="1371600" cy="190500"/>
          </a:xfrm>
          <a:prstGeom prst="rect">
            <a:avLst/>
          </a:prstGeom>
          <a:noFill/>
        </p:spPr>
        <p:txBody>
          <a:bodyPr wrap="square" lIns="0" tIns="0" rIns="0" bIns="0" rtlCol="0" anchor="ctr"/>
          <a:lstStyle/>
          <a:p>
            <a:pPr>
              <a:lnSpc>
                <a:spcPct val="12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当前到子目标</a:t>
            </a:r>
            <a:endParaRPr lang="en-US" sz="1600" dirty="0"/>
          </a:p>
        </p:txBody>
      </p:sp>
    </p:spTree>
    <p:extLst>
      <p:ext uri="{BB962C8B-B14F-4D97-AF65-F5344CB8AC3E}">
        <p14:creationId xmlns:p14="http://schemas.microsoft.com/office/powerpoint/2010/main" val="3422490873"/>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8"/>
          <p:cNvSpPr/>
          <p:nvPr/>
        </p:nvSpPr>
        <p:spPr>
          <a:xfrm>
            <a:off x="321468" y="4274344"/>
            <a:ext cx="8251032" cy="1289844"/>
          </a:xfrm>
          <a:custGeom>
            <a:avLst/>
            <a:gdLst/>
            <a:ahLst/>
            <a:cxnLst/>
            <a:rect l="l" t="t" r="r" b="b"/>
            <a:pathLst>
              <a:path w="3040063" h="3214688">
                <a:moveTo>
                  <a:pt x="95245" y="0"/>
                </a:moveTo>
                <a:lnTo>
                  <a:pt x="2944817" y="0"/>
                </a:lnTo>
                <a:cubicBezTo>
                  <a:pt x="2997420" y="0"/>
                  <a:pt x="3040063" y="42643"/>
                  <a:pt x="3040063" y="95245"/>
                </a:cubicBezTo>
                <a:lnTo>
                  <a:pt x="3040063" y="3119442"/>
                </a:lnTo>
                <a:cubicBezTo>
                  <a:pt x="3040062" y="3172045"/>
                  <a:pt x="2997420" y="3214688"/>
                  <a:pt x="2944817" y="3214688"/>
                </a:cubicBezTo>
                <a:lnTo>
                  <a:pt x="95245" y="3214688"/>
                </a:lnTo>
                <a:cubicBezTo>
                  <a:pt x="42643" y="3214688"/>
                  <a:pt x="0" y="3172045"/>
                  <a:pt x="0" y="3119442"/>
                </a:cubicBezTo>
                <a:lnTo>
                  <a:pt x="0" y="95245"/>
                </a:lnTo>
                <a:cubicBezTo>
                  <a:pt x="0" y="42678"/>
                  <a:pt x="42678" y="0"/>
                  <a:pt x="95245" y="0"/>
                </a:cubicBezTo>
                <a:close/>
              </a:path>
            </a:pathLst>
          </a:custGeom>
          <a:solidFill>
            <a:srgbClr val="E6B450">
              <a:alpha val="10196"/>
            </a:srgbClr>
          </a:solidFill>
          <a:ln w="12700">
            <a:solidFill>
              <a:srgbClr val="E6B450">
                <a:alpha val="30196"/>
              </a:srgbClr>
            </a:solidFill>
            <a:prstDash val="solid"/>
          </a:ln>
        </p:spPr>
      </p:sp>
      <p:sp>
        <p:nvSpPr>
          <p:cNvPr id="5" name="Shape 3"/>
          <p:cNvSpPr/>
          <p:nvPr/>
        </p:nvSpPr>
        <p:spPr>
          <a:xfrm>
            <a:off x="333375" y="1444625"/>
            <a:ext cx="8239125" cy="1198563"/>
          </a:xfrm>
          <a:custGeom>
            <a:avLst/>
            <a:gdLst/>
            <a:ahLst/>
            <a:cxnLst/>
            <a:rect l="l" t="t" r="r" b="b"/>
            <a:pathLst>
              <a:path w="8239125" h="1198563">
                <a:moveTo>
                  <a:pt x="31750" y="0"/>
                </a:moveTo>
                <a:lnTo>
                  <a:pt x="8143875" y="0"/>
                </a:lnTo>
                <a:cubicBezTo>
                  <a:pt x="8196480" y="0"/>
                  <a:pt x="8239125" y="42645"/>
                  <a:pt x="8239125" y="95250"/>
                </a:cubicBezTo>
                <a:lnTo>
                  <a:pt x="8239125" y="1103313"/>
                </a:lnTo>
                <a:cubicBezTo>
                  <a:pt x="8239125" y="1155918"/>
                  <a:pt x="8196480" y="1198563"/>
                  <a:pt x="8143875" y="1198563"/>
                </a:cubicBezTo>
                <a:lnTo>
                  <a:pt x="31750" y="1198563"/>
                </a:lnTo>
                <a:cubicBezTo>
                  <a:pt x="14215" y="1198563"/>
                  <a:pt x="0" y="1184348"/>
                  <a:pt x="0" y="1166813"/>
                </a:cubicBezTo>
                <a:lnTo>
                  <a:pt x="0" y="31750"/>
                </a:lnTo>
                <a:cubicBezTo>
                  <a:pt x="0" y="14227"/>
                  <a:pt x="14227" y="0"/>
                  <a:pt x="31750" y="0"/>
                </a:cubicBezTo>
                <a:close/>
              </a:path>
            </a:pathLst>
          </a:custGeom>
          <a:solidFill>
            <a:srgbClr val="5F87A7">
              <a:alpha val="10196"/>
            </a:srgbClr>
          </a:solidFill>
        </p:spPr>
      </p:sp>
      <p:sp>
        <p:nvSpPr>
          <p:cNvPr id="6" name="Shape 4"/>
          <p:cNvSpPr/>
          <p:nvPr/>
        </p:nvSpPr>
        <p:spPr>
          <a:xfrm>
            <a:off x="333375" y="1444625"/>
            <a:ext cx="31750" cy="1198563"/>
          </a:xfrm>
          <a:custGeom>
            <a:avLst/>
            <a:gdLst/>
            <a:ahLst/>
            <a:cxnLst/>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a:srgbClr val="E6B450"/>
          </a:solidFill>
        </p:spPr>
      </p:sp>
      <p:sp>
        <p:nvSpPr>
          <p:cNvPr id="7" name="Shape 5"/>
          <p:cNvSpPr/>
          <p:nvPr/>
        </p:nvSpPr>
        <p:spPr>
          <a:xfrm>
            <a:off x="563563" y="1666875"/>
            <a:ext cx="190500" cy="190500"/>
          </a:xfrm>
          <a:custGeom>
            <a:avLst/>
            <a:gdLst/>
            <a:ahLst/>
            <a:cxnLst/>
            <a:rect l="l" t="t" r="r" b="b"/>
            <a:pathLst>
              <a:path w="190500" h="190500">
                <a:moveTo>
                  <a:pt x="154781" y="77391"/>
                </a:moveTo>
                <a:cubicBezTo>
                  <a:pt x="154781" y="94469"/>
                  <a:pt x="149237" y="110244"/>
                  <a:pt x="139898" y="123044"/>
                </a:cubicBezTo>
                <a:lnTo>
                  <a:pt x="187003" y="170185"/>
                </a:lnTo>
                <a:cubicBezTo>
                  <a:pt x="191653" y="174836"/>
                  <a:pt x="191653" y="182389"/>
                  <a:pt x="187003" y="187040"/>
                </a:cubicBezTo>
                <a:cubicBezTo>
                  <a:pt x="182352" y="191691"/>
                  <a:pt x="174799" y="191691"/>
                  <a:pt x="170148" y="187040"/>
                </a:cubicBezTo>
                <a:lnTo>
                  <a:pt x="123044" y="139898"/>
                </a:lnTo>
                <a:cubicBezTo>
                  <a:pt x="110244" y="149237"/>
                  <a:pt x="94469" y="154781"/>
                  <a:pt x="77391" y="154781"/>
                </a:cubicBezTo>
                <a:cubicBezTo>
                  <a:pt x="34640" y="154781"/>
                  <a:pt x="0" y="120142"/>
                  <a:pt x="0" y="77391"/>
                </a:cubicBezTo>
                <a:cubicBezTo>
                  <a:pt x="0" y="34640"/>
                  <a:pt x="34640" y="0"/>
                  <a:pt x="77391" y="0"/>
                </a:cubicBezTo>
                <a:cubicBezTo>
                  <a:pt x="120142" y="0"/>
                  <a:pt x="154781" y="34640"/>
                  <a:pt x="154781" y="77391"/>
                </a:cubicBezTo>
                <a:close/>
                <a:moveTo>
                  <a:pt x="77391" y="130969"/>
                </a:moveTo>
                <a:cubicBezTo>
                  <a:pt x="106961" y="130969"/>
                  <a:pt x="130969" y="106961"/>
                  <a:pt x="130969" y="77391"/>
                </a:cubicBezTo>
                <a:cubicBezTo>
                  <a:pt x="130969" y="47820"/>
                  <a:pt x="106961" y="23812"/>
                  <a:pt x="77391" y="23812"/>
                </a:cubicBezTo>
                <a:cubicBezTo>
                  <a:pt x="47820" y="23812"/>
                  <a:pt x="23813" y="47820"/>
                  <a:pt x="23812" y="77391"/>
                </a:cubicBezTo>
                <a:cubicBezTo>
                  <a:pt x="23812" y="106961"/>
                  <a:pt x="47820" y="130969"/>
                  <a:pt x="77391" y="130969"/>
                </a:cubicBezTo>
                <a:close/>
              </a:path>
            </a:pathLst>
          </a:custGeom>
          <a:solidFill>
            <a:srgbClr val="E6B450"/>
          </a:solidFill>
        </p:spPr>
      </p:sp>
      <p:sp>
        <p:nvSpPr>
          <p:cNvPr id="8" name="Text 6"/>
          <p:cNvSpPr/>
          <p:nvPr/>
        </p:nvSpPr>
        <p:spPr>
          <a:xfrm>
            <a:off x="902395" y="1635125"/>
            <a:ext cx="7572375"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图搜索方法</a:t>
            </a:r>
            <a:endParaRPr lang="en-US" sz="2000" dirty="0"/>
          </a:p>
        </p:txBody>
      </p:sp>
      <p:sp>
        <p:nvSpPr>
          <p:cNvPr id="9" name="Text 7"/>
          <p:cNvSpPr/>
          <p:nvPr/>
        </p:nvSpPr>
        <p:spPr>
          <a:xfrm>
            <a:off x="902395" y="1984375"/>
            <a:ext cx="7548563" cy="468313"/>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多种基于</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图搜索</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的路径规划方法，如</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Dijkstra算法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和</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A算法 </a:t>
            </a:r>
            <a:r>
              <a:rPr lang="en-US" sz="1600" dirty="0">
                <a:latin typeface="微软雅黑" panose="020B0503020204020204" pitchFamily="34" charset="-122"/>
                <a:ea typeface="微软雅黑" panose="020B0503020204020204" pitchFamily="34" charset="-122"/>
                <a:cs typeface="微软雅黑" panose="020B0503020204020204" pitchFamily="34" charset="-122"/>
              </a:rPr>
              <a:t>。这些方法能够在给定的地图中快速有效地找到最优路径。</a:t>
            </a:r>
            <a:endParaRPr lang="en-US" sz="2400" dirty="0"/>
          </a:p>
        </p:txBody>
      </p:sp>
      <p:sp>
        <p:nvSpPr>
          <p:cNvPr id="10" name="Shape 8"/>
          <p:cNvSpPr/>
          <p:nvPr/>
        </p:nvSpPr>
        <p:spPr>
          <a:xfrm>
            <a:off x="333375" y="2829719"/>
            <a:ext cx="8239125" cy="1198563"/>
          </a:xfrm>
          <a:custGeom>
            <a:avLst/>
            <a:gdLst/>
            <a:ahLst/>
            <a:cxnLst/>
            <a:rect l="l" t="t" r="r" b="b"/>
            <a:pathLst>
              <a:path w="8239125" h="1198563">
                <a:moveTo>
                  <a:pt x="31750" y="0"/>
                </a:moveTo>
                <a:lnTo>
                  <a:pt x="8143875" y="0"/>
                </a:lnTo>
                <a:cubicBezTo>
                  <a:pt x="8196480" y="0"/>
                  <a:pt x="8239125" y="42645"/>
                  <a:pt x="8239125" y="95250"/>
                </a:cubicBezTo>
                <a:lnTo>
                  <a:pt x="8239125" y="1103313"/>
                </a:lnTo>
                <a:cubicBezTo>
                  <a:pt x="8239125" y="1155918"/>
                  <a:pt x="8196480" y="1198563"/>
                  <a:pt x="8143875" y="1198563"/>
                </a:cubicBezTo>
                <a:lnTo>
                  <a:pt x="31750" y="1198563"/>
                </a:lnTo>
                <a:cubicBezTo>
                  <a:pt x="14215" y="1198563"/>
                  <a:pt x="0" y="1184348"/>
                  <a:pt x="0" y="1166813"/>
                </a:cubicBezTo>
                <a:lnTo>
                  <a:pt x="0" y="31750"/>
                </a:lnTo>
                <a:cubicBezTo>
                  <a:pt x="0" y="14227"/>
                  <a:pt x="14227" y="0"/>
                  <a:pt x="31750" y="0"/>
                </a:cubicBezTo>
                <a:close/>
              </a:path>
            </a:pathLst>
          </a:custGeom>
          <a:solidFill>
            <a:srgbClr val="5F87A7">
              <a:alpha val="10196"/>
            </a:srgbClr>
          </a:solidFill>
        </p:spPr>
      </p:sp>
      <p:sp>
        <p:nvSpPr>
          <p:cNvPr id="11" name="Shape 9"/>
          <p:cNvSpPr/>
          <p:nvPr/>
        </p:nvSpPr>
        <p:spPr>
          <a:xfrm>
            <a:off x="333375" y="2829719"/>
            <a:ext cx="31750" cy="1198563"/>
          </a:xfrm>
          <a:custGeom>
            <a:avLst/>
            <a:gdLst/>
            <a:ahLst/>
            <a:cxnLst/>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a:srgbClr val="E6B450"/>
          </a:solidFill>
        </p:spPr>
      </p:sp>
      <p:sp>
        <p:nvSpPr>
          <p:cNvPr id="12" name="Shape 10"/>
          <p:cNvSpPr/>
          <p:nvPr/>
        </p:nvSpPr>
        <p:spPr>
          <a:xfrm>
            <a:off x="539750" y="3051969"/>
            <a:ext cx="214313" cy="190500"/>
          </a:xfrm>
          <a:custGeom>
            <a:avLst/>
            <a:gdLst/>
            <a:ahLst/>
            <a:cxnLst/>
            <a:rect l="l" t="t" r="r" b="b"/>
            <a:pathLst>
              <a:path w="214313" h="190500">
                <a:moveTo>
                  <a:pt x="115156" y="-7032"/>
                </a:moveTo>
                <a:cubicBezTo>
                  <a:pt x="113630" y="-10009"/>
                  <a:pt x="110542" y="-11906"/>
                  <a:pt x="107193" y="-11906"/>
                </a:cubicBezTo>
                <a:cubicBezTo>
                  <a:pt x="103845" y="-11906"/>
                  <a:pt x="100757" y="-10009"/>
                  <a:pt x="99231" y="-7032"/>
                </a:cubicBezTo>
                <a:lnTo>
                  <a:pt x="71847" y="46620"/>
                </a:lnTo>
                <a:lnTo>
                  <a:pt x="12353" y="56071"/>
                </a:lnTo>
                <a:cubicBezTo>
                  <a:pt x="9041" y="56592"/>
                  <a:pt x="6288" y="58936"/>
                  <a:pt x="5246" y="62136"/>
                </a:cubicBezTo>
                <a:cubicBezTo>
                  <a:pt x="4204" y="65336"/>
                  <a:pt x="5060" y="68833"/>
                  <a:pt x="7404" y="71214"/>
                </a:cubicBezTo>
                <a:lnTo>
                  <a:pt x="49969" y="113816"/>
                </a:lnTo>
                <a:lnTo>
                  <a:pt x="40593" y="173310"/>
                </a:lnTo>
                <a:cubicBezTo>
                  <a:pt x="40072" y="176622"/>
                  <a:pt x="41449" y="179970"/>
                  <a:pt x="44165" y="181942"/>
                </a:cubicBezTo>
                <a:cubicBezTo>
                  <a:pt x="46881" y="183914"/>
                  <a:pt x="50453" y="184212"/>
                  <a:pt x="53467" y="182687"/>
                </a:cubicBezTo>
                <a:lnTo>
                  <a:pt x="107193" y="155377"/>
                </a:lnTo>
                <a:lnTo>
                  <a:pt x="160883" y="182687"/>
                </a:lnTo>
                <a:cubicBezTo>
                  <a:pt x="163860" y="184212"/>
                  <a:pt x="167469" y="183914"/>
                  <a:pt x="170185" y="181942"/>
                </a:cubicBezTo>
                <a:cubicBezTo>
                  <a:pt x="172901" y="179970"/>
                  <a:pt x="174278" y="176659"/>
                  <a:pt x="173757" y="173310"/>
                </a:cubicBezTo>
                <a:lnTo>
                  <a:pt x="164343" y="113816"/>
                </a:lnTo>
                <a:lnTo>
                  <a:pt x="206908" y="71214"/>
                </a:lnTo>
                <a:cubicBezTo>
                  <a:pt x="209290" y="68833"/>
                  <a:pt x="210108" y="65336"/>
                  <a:pt x="209066" y="62136"/>
                </a:cubicBezTo>
                <a:cubicBezTo>
                  <a:pt x="208025" y="58936"/>
                  <a:pt x="205308" y="56592"/>
                  <a:pt x="201960" y="56071"/>
                </a:cubicBezTo>
                <a:lnTo>
                  <a:pt x="142503" y="46620"/>
                </a:lnTo>
                <a:lnTo>
                  <a:pt x="115156" y="-7032"/>
                </a:lnTo>
                <a:close/>
              </a:path>
            </a:pathLst>
          </a:custGeom>
          <a:solidFill>
            <a:srgbClr val="E6B450"/>
          </a:solidFill>
        </p:spPr>
      </p:sp>
      <p:sp>
        <p:nvSpPr>
          <p:cNvPr id="13" name="Text 11"/>
          <p:cNvSpPr/>
          <p:nvPr/>
        </p:nvSpPr>
        <p:spPr>
          <a:xfrm>
            <a:off x="881063" y="3020219"/>
            <a:ext cx="7596187"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A*算法优势</a:t>
            </a:r>
            <a:endParaRPr lang="en-US" sz="2000" dirty="0"/>
          </a:p>
        </p:txBody>
      </p:sp>
      <p:sp>
        <p:nvSpPr>
          <p:cNvPr id="14" name="Text 12"/>
          <p:cNvSpPr/>
          <p:nvPr/>
        </p:nvSpPr>
        <p:spPr>
          <a:xfrm>
            <a:off x="881063" y="3369469"/>
            <a:ext cx="7572375" cy="468313"/>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其中</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A算法</a:t>
            </a:r>
            <a:r>
              <a:rPr lang="en-US" sz="1600" dirty="0">
                <a:latin typeface="微软雅黑" panose="020B0503020204020204" pitchFamily="34" charset="-122"/>
                <a:ea typeface="微软雅黑" panose="020B0503020204020204" pitchFamily="34" charset="-122"/>
                <a:cs typeface="微软雅黑" panose="020B0503020204020204" pitchFamily="34" charset="-122"/>
              </a:rPr>
              <a:t>通过</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启发式搜索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在保证找到最优路径的同时，降低了搜索过程的</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时间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和</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空间复杂度 </a:t>
            </a:r>
            <a:r>
              <a:rPr lang="en-US" sz="1600" dirty="0">
                <a:latin typeface="微软雅黑" panose="020B0503020204020204" pitchFamily="34" charset="-122"/>
                <a:ea typeface="微软雅黑" panose="020B0503020204020204" pitchFamily="34" charset="-122"/>
                <a:cs typeface="微软雅黑" panose="020B0503020204020204" pitchFamily="34" charset="-122"/>
              </a:rPr>
              <a:t>，被广泛应用于实际导航系统中。</a:t>
            </a:r>
            <a:endParaRPr lang="en-US" sz="2400" dirty="0"/>
          </a:p>
        </p:txBody>
      </p:sp>
      <p:sp>
        <p:nvSpPr>
          <p:cNvPr id="19" name="Text 17"/>
          <p:cNvSpPr/>
          <p:nvPr/>
        </p:nvSpPr>
        <p:spPr>
          <a:xfrm>
            <a:off x="883047" y="4541837"/>
            <a:ext cx="7572375" cy="681039"/>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路径规划算法是一种用于在</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网格或图</a:t>
            </a:r>
            <a:r>
              <a:rPr lang="en-US" sz="1600" dirty="0">
                <a:latin typeface="微软雅黑" panose="020B0503020204020204" pitchFamily="34" charset="-122"/>
                <a:ea typeface="微软雅黑" panose="020B0503020204020204" pitchFamily="34" charset="-122"/>
                <a:cs typeface="微软雅黑" panose="020B0503020204020204" pitchFamily="34" charset="-122"/>
              </a:rPr>
              <a:t>中找到最优路径的算法。它将通过搜索所有可能的路径来找到</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最短距离 </a:t>
            </a:r>
            <a:r>
              <a:rPr lang="en-US" sz="1600" dirty="0">
                <a:latin typeface="微软雅黑" panose="020B0503020204020204" pitchFamily="34" charset="-122"/>
                <a:ea typeface="微软雅黑" panose="020B0503020204020204" pitchFamily="34" charset="-122"/>
                <a:cs typeface="微软雅黑" panose="020B0503020204020204" pitchFamily="34" charset="-122"/>
              </a:rPr>
              <a:t>或</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最少代价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的路径。</a:t>
            </a:r>
            <a:endParaRPr lang="en-US" sz="2400" dirty="0"/>
          </a:p>
        </p:txBody>
      </p:sp>
      <p:sp>
        <p:nvSpPr>
          <p:cNvPr id="33" name="Shape 31"/>
          <p:cNvSpPr/>
          <p:nvPr/>
        </p:nvSpPr>
        <p:spPr>
          <a:xfrm>
            <a:off x="8830469" y="2838954"/>
            <a:ext cx="3040063" cy="2155610"/>
          </a:xfrm>
          <a:custGeom>
            <a:avLst/>
            <a:gdLst/>
            <a:ahLst/>
            <a:cxnLst/>
            <a:rect l="l" t="t" r="r" b="b"/>
            <a:pathLst>
              <a:path w="3040063" h="1785938">
                <a:moveTo>
                  <a:pt x="95244" y="0"/>
                </a:moveTo>
                <a:lnTo>
                  <a:pt x="2944818" y="0"/>
                </a:lnTo>
                <a:cubicBezTo>
                  <a:pt x="2997420" y="0"/>
                  <a:pt x="3040062" y="42642"/>
                  <a:pt x="3040062" y="95244"/>
                </a:cubicBezTo>
                <a:lnTo>
                  <a:pt x="3040063" y="1690693"/>
                </a:lnTo>
                <a:cubicBezTo>
                  <a:pt x="3040062" y="1743295"/>
                  <a:pt x="2997420" y="1785938"/>
                  <a:pt x="2944818" y="1785937"/>
                </a:cubicBezTo>
                <a:lnTo>
                  <a:pt x="95244" y="1785938"/>
                </a:lnTo>
                <a:cubicBezTo>
                  <a:pt x="42642" y="1785937"/>
                  <a:pt x="0" y="1743295"/>
                  <a:pt x="0" y="1690693"/>
                </a:cubicBezTo>
                <a:lnTo>
                  <a:pt x="0" y="95244"/>
                </a:lnTo>
                <a:cubicBezTo>
                  <a:pt x="0" y="42677"/>
                  <a:pt x="42677" y="0"/>
                  <a:pt x="95244" y="0"/>
                </a:cubicBezTo>
                <a:close/>
              </a:path>
            </a:pathLst>
          </a:custGeom>
          <a:solidFill>
            <a:srgbClr val="E6B450">
              <a:alpha val="10196"/>
            </a:srgbClr>
          </a:solidFill>
          <a:ln w="12700">
            <a:solidFill>
              <a:srgbClr val="E6B450">
                <a:alpha val="30196"/>
              </a:srgbClr>
            </a:solidFill>
            <a:prstDash val="solid"/>
          </a:ln>
        </p:spPr>
      </p:sp>
      <p:sp>
        <p:nvSpPr>
          <p:cNvPr id="34" name="Shape 32"/>
          <p:cNvSpPr/>
          <p:nvPr/>
        </p:nvSpPr>
        <p:spPr>
          <a:xfrm>
            <a:off x="9034859" y="3065173"/>
            <a:ext cx="178594" cy="158750"/>
          </a:xfrm>
          <a:custGeom>
            <a:avLst/>
            <a:gdLst/>
            <a:ahLst/>
            <a:cxnLst/>
            <a:rect l="l" t="t" r="r" b="b"/>
            <a:pathLst>
              <a:path w="178594" h="158750">
                <a:moveTo>
                  <a:pt x="95963" y="-5860"/>
                </a:moveTo>
                <a:cubicBezTo>
                  <a:pt x="94692" y="-8341"/>
                  <a:pt x="92118" y="-9922"/>
                  <a:pt x="89328" y="-9922"/>
                </a:cubicBezTo>
                <a:cubicBezTo>
                  <a:pt x="86537" y="-9922"/>
                  <a:pt x="83964" y="-8341"/>
                  <a:pt x="82693" y="-5860"/>
                </a:cubicBezTo>
                <a:lnTo>
                  <a:pt x="59872" y="38850"/>
                </a:lnTo>
                <a:lnTo>
                  <a:pt x="10294" y="46726"/>
                </a:lnTo>
                <a:cubicBezTo>
                  <a:pt x="7534" y="47160"/>
                  <a:pt x="5240" y="49113"/>
                  <a:pt x="4372" y="51780"/>
                </a:cubicBezTo>
                <a:cubicBezTo>
                  <a:pt x="3504" y="54446"/>
                  <a:pt x="4217" y="57361"/>
                  <a:pt x="6170" y="59345"/>
                </a:cubicBezTo>
                <a:lnTo>
                  <a:pt x="41641" y="94847"/>
                </a:lnTo>
                <a:lnTo>
                  <a:pt x="33827" y="144425"/>
                </a:lnTo>
                <a:cubicBezTo>
                  <a:pt x="33393" y="147185"/>
                  <a:pt x="34541" y="149975"/>
                  <a:pt x="36804" y="151619"/>
                </a:cubicBezTo>
                <a:cubicBezTo>
                  <a:pt x="39067" y="153262"/>
                  <a:pt x="42044" y="153510"/>
                  <a:pt x="44555" y="152239"/>
                </a:cubicBezTo>
                <a:lnTo>
                  <a:pt x="89328" y="129480"/>
                </a:lnTo>
                <a:lnTo>
                  <a:pt x="134069" y="152239"/>
                </a:lnTo>
                <a:cubicBezTo>
                  <a:pt x="136550" y="153510"/>
                  <a:pt x="139557" y="153262"/>
                  <a:pt x="141821" y="151619"/>
                </a:cubicBezTo>
                <a:cubicBezTo>
                  <a:pt x="144084" y="149975"/>
                  <a:pt x="145231" y="147216"/>
                  <a:pt x="144797" y="144425"/>
                </a:cubicBezTo>
                <a:lnTo>
                  <a:pt x="136953" y="94847"/>
                </a:lnTo>
                <a:lnTo>
                  <a:pt x="172424" y="59345"/>
                </a:lnTo>
                <a:cubicBezTo>
                  <a:pt x="174408" y="57361"/>
                  <a:pt x="175090" y="54446"/>
                  <a:pt x="174222" y="51780"/>
                </a:cubicBezTo>
                <a:cubicBezTo>
                  <a:pt x="173354" y="49113"/>
                  <a:pt x="171090" y="47160"/>
                  <a:pt x="168300" y="46726"/>
                </a:cubicBezTo>
                <a:lnTo>
                  <a:pt x="118752" y="38850"/>
                </a:lnTo>
                <a:lnTo>
                  <a:pt x="95963" y="-5860"/>
                </a:lnTo>
                <a:close/>
              </a:path>
            </a:pathLst>
          </a:custGeom>
          <a:solidFill>
            <a:srgbClr val="E6B450"/>
          </a:solidFill>
        </p:spPr>
      </p:sp>
      <p:sp>
        <p:nvSpPr>
          <p:cNvPr id="35" name="Text 33"/>
          <p:cNvSpPr/>
          <p:nvPr/>
        </p:nvSpPr>
        <p:spPr>
          <a:xfrm>
            <a:off x="9223375" y="3033423"/>
            <a:ext cx="2532063" cy="222250"/>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A*算法特点</a:t>
            </a:r>
            <a:endParaRPr lang="en-US" dirty="0"/>
          </a:p>
        </p:txBody>
      </p:sp>
      <p:sp>
        <p:nvSpPr>
          <p:cNvPr id="36" name="Shape 34"/>
          <p:cNvSpPr/>
          <p:nvPr/>
        </p:nvSpPr>
        <p:spPr>
          <a:xfrm>
            <a:off x="9048750" y="3458152"/>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E6B450"/>
          </a:solidFill>
        </p:spPr>
      </p:sp>
      <p:sp>
        <p:nvSpPr>
          <p:cNvPr id="37" name="Text 35"/>
          <p:cNvSpPr/>
          <p:nvPr/>
        </p:nvSpPr>
        <p:spPr>
          <a:xfrm>
            <a:off x="9247187" y="3426402"/>
            <a:ext cx="1862137" cy="1905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保证找到最优路径</a:t>
            </a:r>
            <a:endParaRPr lang="en-US" sz="1600" dirty="0"/>
          </a:p>
        </p:txBody>
      </p:sp>
      <p:sp>
        <p:nvSpPr>
          <p:cNvPr id="38" name="Shape 36"/>
          <p:cNvSpPr/>
          <p:nvPr/>
        </p:nvSpPr>
        <p:spPr>
          <a:xfrm>
            <a:off x="9048750" y="3819381"/>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E6B450"/>
          </a:solidFill>
        </p:spPr>
      </p:sp>
      <p:sp>
        <p:nvSpPr>
          <p:cNvPr id="39" name="Text 37"/>
          <p:cNvSpPr/>
          <p:nvPr/>
        </p:nvSpPr>
        <p:spPr>
          <a:xfrm>
            <a:off x="9247188" y="3787631"/>
            <a:ext cx="1573212" cy="1905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降低时间复杂度</a:t>
            </a:r>
            <a:endParaRPr lang="en-US" sz="1600" dirty="0"/>
          </a:p>
        </p:txBody>
      </p:sp>
      <p:sp>
        <p:nvSpPr>
          <p:cNvPr id="40" name="Shape 38"/>
          <p:cNvSpPr/>
          <p:nvPr/>
        </p:nvSpPr>
        <p:spPr>
          <a:xfrm>
            <a:off x="9048750" y="418061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E6B450"/>
          </a:solidFill>
        </p:spPr>
      </p:sp>
      <p:sp>
        <p:nvSpPr>
          <p:cNvPr id="41" name="Text 39"/>
          <p:cNvSpPr/>
          <p:nvPr/>
        </p:nvSpPr>
        <p:spPr>
          <a:xfrm>
            <a:off x="9247188" y="4148860"/>
            <a:ext cx="1862136" cy="1905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降低空间复杂度</a:t>
            </a:r>
            <a:endParaRPr lang="en-US" sz="1600" dirty="0"/>
          </a:p>
        </p:txBody>
      </p:sp>
      <p:sp>
        <p:nvSpPr>
          <p:cNvPr id="42" name="Shape 40"/>
          <p:cNvSpPr/>
          <p:nvPr/>
        </p:nvSpPr>
        <p:spPr>
          <a:xfrm>
            <a:off x="9048750" y="4541837"/>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E6B450"/>
          </a:solidFill>
        </p:spPr>
      </p:sp>
      <p:sp>
        <p:nvSpPr>
          <p:cNvPr id="43" name="Text 41"/>
          <p:cNvSpPr/>
          <p:nvPr/>
        </p:nvSpPr>
        <p:spPr>
          <a:xfrm>
            <a:off x="9247187" y="4510087"/>
            <a:ext cx="1963737" cy="1905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广泛应用于导航系统</a:t>
            </a:r>
            <a:endParaRPr lang="en-US" sz="1600" dirty="0"/>
          </a:p>
        </p:txBody>
      </p:sp>
    </p:spTree>
    <p:extLst>
      <p:ext uri="{BB962C8B-B14F-4D97-AF65-F5344CB8AC3E}">
        <p14:creationId xmlns:p14="http://schemas.microsoft.com/office/powerpoint/2010/main" val="1959212153"/>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组合 54">
            <a:extLst>
              <a:ext uri="{FF2B5EF4-FFF2-40B4-BE49-F238E27FC236}">
                <a16:creationId xmlns:a16="http://schemas.microsoft.com/office/drawing/2014/main" id="{C53EF135-C583-360E-0D19-05E88CA1729C}"/>
              </a:ext>
            </a:extLst>
          </p:cNvPr>
          <p:cNvGrpSpPr/>
          <p:nvPr/>
        </p:nvGrpSpPr>
        <p:grpSpPr>
          <a:xfrm>
            <a:off x="356094" y="1830943"/>
            <a:ext cx="11382889" cy="4578323"/>
            <a:chOff x="356095" y="1830944"/>
            <a:chExt cx="7477986" cy="3007728"/>
          </a:xfrm>
        </p:grpSpPr>
        <p:sp>
          <p:nvSpPr>
            <p:cNvPr id="5" name="Shape 3"/>
            <p:cNvSpPr/>
            <p:nvPr/>
          </p:nvSpPr>
          <p:spPr>
            <a:xfrm>
              <a:off x="356095" y="1830944"/>
              <a:ext cx="7477986" cy="1526120"/>
            </a:xfrm>
            <a:custGeom>
              <a:avLst/>
              <a:gdLst/>
              <a:ahLst/>
              <a:cxnLst/>
              <a:rect l="l" t="t" r="r" b="b"/>
              <a:pathLst>
                <a:path w="7477986" h="1526120">
                  <a:moveTo>
                    <a:pt x="33914" y="0"/>
                  </a:moveTo>
                  <a:lnTo>
                    <a:pt x="7376240" y="0"/>
                  </a:lnTo>
                  <a:cubicBezTo>
                    <a:pt x="7432433" y="0"/>
                    <a:pt x="7477986" y="45553"/>
                    <a:pt x="7477986" y="101746"/>
                  </a:cubicBezTo>
                  <a:lnTo>
                    <a:pt x="7477986" y="1424373"/>
                  </a:lnTo>
                  <a:cubicBezTo>
                    <a:pt x="7477986" y="1480566"/>
                    <a:pt x="7432433" y="1526120"/>
                    <a:pt x="7376240" y="1526120"/>
                  </a:cubicBezTo>
                  <a:lnTo>
                    <a:pt x="33914" y="1526120"/>
                  </a:lnTo>
                  <a:cubicBezTo>
                    <a:pt x="15184" y="1526120"/>
                    <a:pt x="0" y="1510936"/>
                    <a:pt x="0" y="1492206"/>
                  </a:cubicBezTo>
                  <a:lnTo>
                    <a:pt x="0" y="33914"/>
                  </a:lnTo>
                  <a:cubicBezTo>
                    <a:pt x="0" y="15196"/>
                    <a:pt x="15196" y="0"/>
                    <a:pt x="33914" y="0"/>
                  </a:cubicBezTo>
                  <a:close/>
                </a:path>
              </a:pathLst>
            </a:custGeom>
            <a:solidFill>
              <a:srgbClr val="5F87A7">
                <a:alpha val="10196"/>
              </a:srgbClr>
            </a:solidFill>
          </p:spPr>
        </p:sp>
        <p:sp>
          <p:nvSpPr>
            <p:cNvPr id="6" name="Shape 4"/>
            <p:cNvSpPr/>
            <p:nvPr/>
          </p:nvSpPr>
          <p:spPr>
            <a:xfrm>
              <a:off x="356095" y="1830944"/>
              <a:ext cx="33914" cy="1526120"/>
            </a:xfrm>
            <a:custGeom>
              <a:avLst/>
              <a:gdLst/>
              <a:ahLst/>
              <a:cxnLst/>
              <a:rect l="l" t="t" r="r" b="b"/>
              <a:pathLst>
                <a:path w="33914" h="1526120">
                  <a:moveTo>
                    <a:pt x="33914" y="0"/>
                  </a:moveTo>
                  <a:lnTo>
                    <a:pt x="33914" y="0"/>
                  </a:lnTo>
                  <a:lnTo>
                    <a:pt x="33914" y="1526120"/>
                  </a:lnTo>
                  <a:lnTo>
                    <a:pt x="33914" y="1526120"/>
                  </a:lnTo>
                  <a:cubicBezTo>
                    <a:pt x="15184" y="1526120"/>
                    <a:pt x="0" y="1510936"/>
                    <a:pt x="0" y="1492206"/>
                  </a:cubicBezTo>
                  <a:lnTo>
                    <a:pt x="0" y="33914"/>
                  </a:lnTo>
                  <a:cubicBezTo>
                    <a:pt x="0" y="15184"/>
                    <a:pt x="15184" y="0"/>
                    <a:pt x="33914" y="0"/>
                  </a:cubicBezTo>
                  <a:close/>
                </a:path>
              </a:pathLst>
            </a:custGeom>
            <a:solidFill>
              <a:srgbClr val="E6B450"/>
            </a:solidFill>
          </p:spPr>
        </p:sp>
        <p:sp>
          <p:nvSpPr>
            <p:cNvPr id="7" name="Shape 5"/>
            <p:cNvSpPr/>
            <p:nvPr/>
          </p:nvSpPr>
          <p:spPr>
            <a:xfrm>
              <a:off x="546860" y="2068341"/>
              <a:ext cx="203483" cy="203483"/>
            </a:xfrm>
            <a:custGeom>
              <a:avLst/>
              <a:gdLst/>
              <a:ahLst/>
              <a:cxnLst/>
              <a:rect l="l" t="t" r="r" b="b"/>
              <a:pathLst>
                <a:path w="203483" h="203483">
                  <a:moveTo>
                    <a:pt x="0" y="31794"/>
                  </a:moveTo>
                  <a:cubicBezTo>
                    <a:pt x="0" y="21262"/>
                    <a:pt x="8545" y="12718"/>
                    <a:pt x="19076" y="12718"/>
                  </a:cubicBezTo>
                  <a:lnTo>
                    <a:pt x="57229" y="12718"/>
                  </a:lnTo>
                  <a:cubicBezTo>
                    <a:pt x="67761" y="12718"/>
                    <a:pt x="76306" y="21262"/>
                    <a:pt x="76306" y="31794"/>
                  </a:cubicBezTo>
                  <a:lnTo>
                    <a:pt x="76306" y="38153"/>
                  </a:lnTo>
                  <a:lnTo>
                    <a:pt x="127177" y="38153"/>
                  </a:lnTo>
                  <a:lnTo>
                    <a:pt x="127177" y="31794"/>
                  </a:lnTo>
                  <a:cubicBezTo>
                    <a:pt x="127177" y="21262"/>
                    <a:pt x="135721" y="12718"/>
                    <a:pt x="146253" y="12718"/>
                  </a:cubicBezTo>
                  <a:lnTo>
                    <a:pt x="184406" y="12718"/>
                  </a:lnTo>
                  <a:cubicBezTo>
                    <a:pt x="194938" y="12718"/>
                    <a:pt x="203483" y="21262"/>
                    <a:pt x="203483" y="31794"/>
                  </a:cubicBezTo>
                  <a:lnTo>
                    <a:pt x="203483" y="69947"/>
                  </a:lnTo>
                  <a:cubicBezTo>
                    <a:pt x="203483" y="80479"/>
                    <a:pt x="194938" y="89024"/>
                    <a:pt x="184406" y="89024"/>
                  </a:cubicBezTo>
                  <a:lnTo>
                    <a:pt x="146253" y="89024"/>
                  </a:lnTo>
                  <a:cubicBezTo>
                    <a:pt x="135721" y="89024"/>
                    <a:pt x="127177" y="80479"/>
                    <a:pt x="127177" y="69947"/>
                  </a:cubicBezTo>
                  <a:lnTo>
                    <a:pt x="127177" y="63588"/>
                  </a:lnTo>
                  <a:lnTo>
                    <a:pt x="76306" y="63588"/>
                  </a:lnTo>
                  <a:lnTo>
                    <a:pt x="76306" y="69947"/>
                  </a:lnTo>
                  <a:cubicBezTo>
                    <a:pt x="76306" y="72848"/>
                    <a:pt x="75630" y="75630"/>
                    <a:pt x="74478" y="78094"/>
                  </a:cubicBezTo>
                  <a:lnTo>
                    <a:pt x="101741" y="114459"/>
                  </a:lnTo>
                  <a:lnTo>
                    <a:pt x="133535" y="114459"/>
                  </a:lnTo>
                  <a:cubicBezTo>
                    <a:pt x="144067" y="114459"/>
                    <a:pt x="152612" y="123004"/>
                    <a:pt x="152612" y="133535"/>
                  </a:cubicBezTo>
                  <a:lnTo>
                    <a:pt x="152612" y="171688"/>
                  </a:lnTo>
                  <a:cubicBezTo>
                    <a:pt x="152612" y="182220"/>
                    <a:pt x="144067" y="190765"/>
                    <a:pt x="133535" y="190765"/>
                  </a:cubicBezTo>
                  <a:lnTo>
                    <a:pt x="95382" y="190765"/>
                  </a:lnTo>
                  <a:cubicBezTo>
                    <a:pt x="84851" y="190765"/>
                    <a:pt x="76306" y="182220"/>
                    <a:pt x="76306" y="171688"/>
                  </a:cubicBezTo>
                  <a:lnTo>
                    <a:pt x="76306" y="133535"/>
                  </a:lnTo>
                  <a:cubicBezTo>
                    <a:pt x="76306" y="130634"/>
                    <a:pt x="76982" y="127852"/>
                    <a:pt x="78134" y="125388"/>
                  </a:cubicBezTo>
                  <a:lnTo>
                    <a:pt x="50871" y="89024"/>
                  </a:lnTo>
                  <a:lnTo>
                    <a:pt x="19076" y="89024"/>
                  </a:lnTo>
                  <a:cubicBezTo>
                    <a:pt x="8545" y="89024"/>
                    <a:pt x="0" y="80479"/>
                    <a:pt x="0" y="69947"/>
                  </a:cubicBezTo>
                  <a:lnTo>
                    <a:pt x="0" y="31794"/>
                  </a:lnTo>
                  <a:close/>
                </a:path>
              </a:pathLst>
            </a:custGeom>
            <a:solidFill>
              <a:srgbClr val="E6B450"/>
            </a:solidFill>
          </p:spPr>
        </p:sp>
        <p:sp>
          <p:nvSpPr>
            <p:cNvPr id="8" name="Text 6"/>
            <p:cNvSpPr/>
            <p:nvPr/>
          </p:nvSpPr>
          <p:spPr>
            <a:xfrm>
              <a:off x="854071" y="2034427"/>
              <a:ext cx="6876017" cy="27131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拓扑图路径规划</a:t>
              </a:r>
              <a:endParaRPr lang="en-US" dirty="0"/>
            </a:p>
          </p:txBody>
        </p:sp>
        <p:sp>
          <p:nvSpPr>
            <p:cNvPr id="9" name="Text 7"/>
            <p:cNvSpPr/>
            <p:nvPr/>
          </p:nvSpPr>
          <p:spPr>
            <a:xfrm>
              <a:off x="854071" y="2407479"/>
              <a:ext cx="6850581" cy="746103"/>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拓扑图忽略环境中不必要的细节，仅仅包含其中的</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重要信息（陆标）</a:t>
              </a:r>
              <a:r>
                <a:rPr lang="en-US" sz="1600" dirty="0">
                  <a:latin typeface="微软雅黑" panose="020B0503020204020204" pitchFamily="34" charset="-122"/>
                  <a:ea typeface="微软雅黑" panose="020B0503020204020204" pitchFamily="34" charset="-122"/>
                  <a:cs typeface="微软雅黑" panose="020B0503020204020204" pitchFamily="34" charset="-122"/>
                </a:rPr>
                <a:t>。拓扑图使用</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图结构 </a:t>
              </a:r>
              <a:r>
                <a:rPr lang="en-US" sz="1600" dirty="0">
                  <a:latin typeface="微软雅黑" panose="020B0503020204020204" pitchFamily="34" charset="-122"/>
                  <a:ea typeface="微软雅黑" panose="020B0503020204020204" pitchFamily="34" charset="-122"/>
                  <a:cs typeface="微软雅黑" panose="020B0503020204020204" pitchFamily="34" charset="-122"/>
                </a:rPr>
                <a:t>表示环境，图的节点对应环境中的陆标等物体，比如房间和房门。因为不必关注太多细节，使用拓扑图可以大大降低</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处理时间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和</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存储空间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1600" dirty="0"/>
            </a:p>
          </p:txBody>
        </p:sp>
        <p:sp>
          <p:nvSpPr>
            <p:cNvPr id="10" name="Shape 8"/>
            <p:cNvSpPr/>
            <p:nvPr/>
          </p:nvSpPr>
          <p:spPr>
            <a:xfrm>
              <a:off x="356095" y="3558427"/>
              <a:ext cx="7477986" cy="1280245"/>
            </a:xfrm>
            <a:custGeom>
              <a:avLst/>
              <a:gdLst/>
              <a:ahLst/>
              <a:cxnLst/>
              <a:rect l="l" t="t" r="r" b="b"/>
              <a:pathLst>
                <a:path w="7477986" h="1280245">
                  <a:moveTo>
                    <a:pt x="33914" y="0"/>
                  </a:moveTo>
                  <a:lnTo>
                    <a:pt x="7376245" y="0"/>
                  </a:lnTo>
                  <a:cubicBezTo>
                    <a:pt x="7432435" y="0"/>
                    <a:pt x="7477986" y="45551"/>
                    <a:pt x="7477986" y="101741"/>
                  </a:cubicBezTo>
                  <a:lnTo>
                    <a:pt x="7477986" y="1178504"/>
                  </a:lnTo>
                  <a:cubicBezTo>
                    <a:pt x="7477986" y="1234694"/>
                    <a:pt x="7432435" y="1280245"/>
                    <a:pt x="7376245" y="1280245"/>
                  </a:cubicBezTo>
                  <a:lnTo>
                    <a:pt x="33914" y="1280245"/>
                  </a:lnTo>
                  <a:cubicBezTo>
                    <a:pt x="15184" y="1280245"/>
                    <a:pt x="0" y="1265061"/>
                    <a:pt x="0" y="1246331"/>
                  </a:cubicBezTo>
                  <a:lnTo>
                    <a:pt x="0" y="33914"/>
                  </a:lnTo>
                  <a:cubicBezTo>
                    <a:pt x="0" y="15184"/>
                    <a:pt x="15184" y="0"/>
                    <a:pt x="33914" y="0"/>
                  </a:cubicBezTo>
                  <a:close/>
                </a:path>
              </a:pathLst>
            </a:custGeom>
            <a:solidFill>
              <a:srgbClr val="5F87A7">
                <a:alpha val="10196"/>
              </a:srgbClr>
            </a:solidFill>
          </p:spPr>
        </p:sp>
        <p:sp>
          <p:nvSpPr>
            <p:cNvPr id="11" name="Shape 9"/>
            <p:cNvSpPr/>
            <p:nvPr/>
          </p:nvSpPr>
          <p:spPr>
            <a:xfrm>
              <a:off x="356095" y="3558427"/>
              <a:ext cx="33914" cy="1280245"/>
            </a:xfrm>
            <a:custGeom>
              <a:avLst/>
              <a:gdLst/>
              <a:ahLst/>
              <a:cxnLst/>
              <a:rect l="l" t="t" r="r" b="b"/>
              <a:pathLst>
                <a:path w="33914" h="1280245">
                  <a:moveTo>
                    <a:pt x="33914" y="0"/>
                  </a:moveTo>
                  <a:lnTo>
                    <a:pt x="33914" y="0"/>
                  </a:lnTo>
                  <a:lnTo>
                    <a:pt x="33914" y="1280245"/>
                  </a:lnTo>
                  <a:lnTo>
                    <a:pt x="33914" y="1280245"/>
                  </a:lnTo>
                  <a:cubicBezTo>
                    <a:pt x="15184" y="1280245"/>
                    <a:pt x="0" y="1265061"/>
                    <a:pt x="0" y="1246331"/>
                  </a:cubicBezTo>
                  <a:lnTo>
                    <a:pt x="0" y="33914"/>
                  </a:lnTo>
                  <a:cubicBezTo>
                    <a:pt x="0" y="15184"/>
                    <a:pt x="15184" y="0"/>
                    <a:pt x="33914" y="0"/>
                  </a:cubicBezTo>
                  <a:close/>
                </a:path>
              </a:pathLst>
            </a:custGeom>
            <a:solidFill>
              <a:srgbClr val="E6B450"/>
            </a:solidFill>
          </p:spPr>
        </p:sp>
        <p:sp>
          <p:nvSpPr>
            <p:cNvPr id="12" name="Shape 10"/>
            <p:cNvSpPr/>
            <p:nvPr/>
          </p:nvSpPr>
          <p:spPr>
            <a:xfrm>
              <a:off x="555338" y="3795823"/>
              <a:ext cx="203483" cy="203483"/>
            </a:xfrm>
            <a:custGeom>
              <a:avLst/>
              <a:gdLst/>
              <a:ahLst/>
              <a:cxnLst/>
              <a:rect l="l" t="t" r="r" b="b"/>
              <a:pathLst>
                <a:path w="203483" h="203483">
                  <a:moveTo>
                    <a:pt x="203483" y="38153"/>
                  </a:moveTo>
                  <a:cubicBezTo>
                    <a:pt x="203483" y="58104"/>
                    <a:pt x="179995" y="87871"/>
                    <a:pt x="169860" y="99754"/>
                  </a:cubicBezTo>
                  <a:cubicBezTo>
                    <a:pt x="168350" y="101503"/>
                    <a:pt x="166124" y="102178"/>
                    <a:pt x="164098" y="101741"/>
                  </a:cubicBezTo>
                  <a:lnTo>
                    <a:pt x="127177" y="101741"/>
                  </a:lnTo>
                  <a:cubicBezTo>
                    <a:pt x="120142" y="101741"/>
                    <a:pt x="114459" y="107425"/>
                    <a:pt x="114459" y="114459"/>
                  </a:cubicBezTo>
                  <a:cubicBezTo>
                    <a:pt x="114459" y="121493"/>
                    <a:pt x="120142" y="127177"/>
                    <a:pt x="127177" y="127177"/>
                  </a:cubicBezTo>
                  <a:lnTo>
                    <a:pt x="165330" y="127177"/>
                  </a:lnTo>
                  <a:cubicBezTo>
                    <a:pt x="186393" y="127177"/>
                    <a:pt x="203483" y="144266"/>
                    <a:pt x="203483" y="165330"/>
                  </a:cubicBezTo>
                  <a:cubicBezTo>
                    <a:pt x="203483" y="186393"/>
                    <a:pt x="186393" y="203483"/>
                    <a:pt x="165330" y="203483"/>
                  </a:cubicBezTo>
                  <a:lnTo>
                    <a:pt x="55481" y="203483"/>
                  </a:lnTo>
                  <a:cubicBezTo>
                    <a:pt x="58938" y="199548"/>
                    <a:pt x="63151" y="194501"/>
                    <a:pt x="67404" y="188857"/>
                  </a:cubicBezTo>
                  <a:cubicBezTo>
                    <a:pt x="69907" y="185519"/>
                    <a:pt x="72491" y="181863"/>
                    <a:pt x="74955" y="178047"/>
                  </a:cubicBezTo>
                  <a:lnTo>
                    <a:pt x="165330" y="178047"/>
                  </a:lnTo>
                  <a:cubicBezTo>
                    <a:pt x="172364" y="178047"/>
                    <a:pt x="178047" y="172364"/>
                    <a:pt x="178047" y="165330"/>
                  </a:cubicBezTo>
                  <a:cubicBezTo>
                    <a:pt x="178047" y="158295"/>
                    <a:pt x="172364" y="152612"/>
                    <a:pt x="165330" y="152612"/>
                  </a:cubicBezTo>
                  <a:lnTo>
                    <a:pt x="127177" y="152612"/>
                  </a:lnTo>
                  <a:cubicBezTo>
                    <a:pt x="106113" y="152612"/>
                    <a:pt x="89024" y="135523"/>
                    <a:pt x="89024" y="114459"/>
                  </a:cubicBezTo>
                  <a:cubicBezTo>
                    <a:pt x="89024" y="93395"/>
                    <a:pt x="106113" y="76306"/>
                    <a:pt x="127177" y="76306"/>
                  </a:cubicBezTo>
                  <a:lnTo>
                    <a:pt x="142994" y="76306"/>
                  </a:lnTo>
                  <a:cubicBezTo>
                    <a:pt x="134648" y="63787"/>
                    <a:pt x="127177" y="49400"/>
                    <a:pt x="127177" y="38153"/>
                  </a:cubicBezTo>
                  <a:cubicBezTo>
                    <a:pt x="127177" y="17089"/>
                    <a:pt x="144266" y="0"/>
                    <a:pt x="165330" y="0"/>
                  </a:cubicBezTo>
                  <a:cubicBezTo>
                    <a:pt x="186393" y="0"/>
                    <a:pt x="203483" y="17089"/>
                    <a:pt x="203483" y="38153"/>
                  </a:cubicBezTo>
                  <a:close/>
                  <a:moveTo>
                    <a:pt x="46539" y="194382"/>
                  </a:moveTo>
                  <a:cubicBezTo>
                    <a:pt x="45028" y="196090"/>
                    <a:pt x="43677" y="197601"/>
                    <a:pt x="42525" y="198872"/>
                  </a:cubicBezTo>
                  <a:lnTo>
                    <a:pt x="41809" y="199667"/>
                  </a:lnTo>
                  <a:lnTo>
                    <a:pt x="41730" y="199588"/>
                  </a:lnTo>
                  <a:cubicBezTo>
                    <a:pt x="39345" y="201416"/>
                    <a:pt x="35927" y="201178"/>
                    <a:pt x="33781" y="198872"/>
                  </a:cubicBezTo>
                  <a:cubicBezTo>
                    <a:pt x="23766" y="187983"/>
                    <a:pt x="0" y="159964"/>
                    <a:pt x="0" y="139894"/>
                  </a:cubicBezTo>
                  <a:cubicBezTo>
                    <a:pt x="0" y="118831"/>
                    <a:pt x="17089" y="101741"/>
                    <a:pt x="38153" y="101741"/>
                  </a:cubicBezTo>
                  <a:cubicBezTo>
                    <a:pt x="59217" y="101741"/>
                    <a:pt x="76306" y="118831"/>
                    <a:pt x="76306" y="139894"/>
                  </a:cubicBezTo>
                  <a:cubicBezTo>
                    <a:pt x="76306" y="151817"/>
                    <a:pt x="67920" y="166522"/>
                    <a:pt x="59018" y="178802"/>
                  </a:cubicBezTo>
                  <a:cubicBezTo>
                    <a:pt x="54765" y="184645"/>
                    <a:pt x="50394" y="189930"/>
                    <a:pt x="46777" y="194103"/>
                  </a:cubicBezTo>
                  <a:lnTo>
                    <a:pt x="46539" y="194382"/>
                  </a:lnTo>
                  <a:close/>
                  <a:moveTo>
                    <a:pt x="50871" y="139894"/>
                  </a:moveTo>
                  <a:cubicBezTo>
                    <a:pt x="50871" y="132875"/>
                    <a:pt x="45172" y="127177"/>
                    <a:pt x="38153" y="127177"/>
                  </a:cubicBezTo>
                  <a:cubicBezTo>
                    <a:pt x="31134" y="127177"/>
                    <a:pt x="25435" y="132875"/>
                    <a:pt x="25435" y="139894"/>
                  </a:cubicBezTo>
                  <a:cubicBezTo>
                    <a:pt x="25435" y="146913"/>
                    <a:pt x="31134" y="152612"/>
                    <a:pt x="38153" y="152612"/>
                  </a:cubicBezTo>
                  <a:cubicBezTo>
                    <a:pt x="45172" y="152612"/>
                    <a:pt x="50871" y="146913"/>
                    <a:pt x="50871" y="139894"/>
                  </a:cubicBezTo>
                  <a:close/>
                  <a:moveTo>
                    <a:pt x="165330" y="50871"/>
                  </a:moveTo>
                  <a:cubicBezTo>
                    <a:pt x="172349" y="50871"/>
                    <a:pt x="178047" y="45172"/>
                    <a:pt x="178047" y="38153"/>
                  </a:cubicBezTo>
                  <a:cubicBezTo>
                    <a:pt x="178047" y="31134"/>
                    <a:pt x="172349" y="25435"/>
                    <a:pt x="165330" y="25435"/>
                  </a:cubicBezTo>
                  <a:cubicBezTo>
                    <a:pt x="158311" y="25435"/>
                    <a:pt x="152612" y="31134"/>
                    <a:pt x="152612" y="38153"/>
                  </a:cubicBezTo>
                  <a:cubicBezTo>
                    <a:pt x="152612" y="45172"/>
                    <a:pt x="158311" y="50871"/>
                    <a:pt x="165330" y="50871"/>
                  </a:cubicBezTo>
                  <a:close/>
                </a:path>
              </a:pathLst>
            </a:custGeom>
            <a:solidFill>
              <a:srgbClr val="E6B450"/>
            </a:solidFill>
          </p:spPr>
        </p:sp>
        <p:sp>
          <p:nvSpPr>
            <p:cNvPr id="13" name="Text 11"/>
            <p:cNvSpPr/>
            <p:nvPr/>
          </p:nvSpPr>
          <p:spPr>
            <a:xfrm>
              <a:off x="870630" y="3761910"/>
              <a:ext cx="6859060" cy="27131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最短路径搜索</a:t>
              </a:r>
              <a:endParaRPr lang="en-US" dirty="0"/>
            </a:p>
          </p:txBody>
        </p:sp>
        <p:sp>
          <p:nvSpPr>
            <p:cNvPr id="14" name="Text 12"/>
            <p:cNvSpPr/>
            <p:nvPr/>
          </p:nvSpPr>
          <p:spPr>
            <a:xfrm>
              <a:off x="870630" y="4134961"/>
              <a:ext cx="6833624" cy="50022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拓扑图路径规划将</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出发节点</a:t>
              </a:r>
              <a:r>
                <a:rPr lang="en-US" sz="1600" dirty="0">
                  <a:latin typeface="微软雅黑" panose="020B0503020204020204" pitchFamily="34" charset="-122"/>
                  <a:ea typeface="微软雅黑" panose="020B0503020204020204" pitchFamily="34" charset="-122"/>
                  <a:cs typeface="微软雅黑" panose="020B0503020204020204" pitchFamily="34" charset="-122"/>
                </a:rPr>
                <a:t>和</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目标节点</a:t>
              </a:r>
              <a:r>
                <a:rPr lang="en-US" sz="1600" dirty="0">
                  <a:latin typeface="微软雅黑" panose="020B0503020204020204" pitchFamily="34" charset="-122"/>
                  <a:ea typeface="微软雅黑" panose="020B0503020204020204" pitchFamily="34" charset="-122"/>
                  <a:cs typeface="微软雅黑" panose="020B0503020204020204" pitchFamily="34" charset="-122"/>
                </a:rPr>
                <a:t>作为输入。使用例如</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Dijkstra </a:t>
              </a:r>
              <a:r>
                <a:rPr lang="en-US" sz="1600" dirty="0">
                  <a:latin typeface="微软雅黑" panose="020B0503020204020204" pitchFamily="34" charset="-122"/>
                  <a:ea typeface="微软雅黑" panose="020B0503020204020204" pitchFamily="34" charset="-122"/>
                  <a:cs typeface="微软雅黑" panose="020B0503020204020204" pitchFamily="34" charset="-122"/>
                </a:rPr>
                <a:t>或者</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Floyd-Warshall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等最短路径搜索算法，很容易找到拓扑图中两个节点之间的最短路径。</a:t>
              </a:r>
              <a:endParaRPr lang="en-US" sz="1600" dirty="0"/>
            </a:p>
          </p:txBody>
        </p:sp>
      </p:grpSp>
      <p:grpSp>
        <p:nvGrpSpPr>
          <p:cNvPr id="52" name="组合 51">
            <a:extLst>
              <a:ext uri="{FF2B5EF4-FFF2-40B4-BE49-F238E27FC236}">
                <a16:creationId xmlns:a16="http://schemas.microsoft.com/office/drawing/2014/main" id="{5C1FB60D-EB0E-0431-4598-14A69EB6C345}"/>
              </a:ext>
            </a:extLst>
          </p:cNvPr>
          <p:cNvGrpSpPr/>
          <p:nvPr/>
        </p:nvGrpSpPr>
        <p:grpSpPr>
          <a:xfrm>
            <a:off x="0" y="939798"/>
            <a:ext cx="5022850" cy="625474"/>
            <a:chOff x="0" y="1075267"/>
            <a:chExt cx="5022850" cy="625474"/>
          </a:xfrm>
        </p:grpSpPr>
        <p:sp>
          <p:nvSpPr>
            <p:cNvPr id="53" name="矩形 52">
              <a:extLst>
                <a:ext uri="{FF2B5EF4-FFF2-40B4-BE49-F238E27FC236}">
                  <a16:creationId xmlns:a16="http://schemas.microsoft.com/office/drawing/2014/main" id="{B15310DE-575D-10DC-D081-017631259B00}"/>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a:extLst>
                <a:ext uri="{FF2B5EF4-FFF2-40B4-BE49-F238E27FC236}">
                  <a16:creationId xmlns:a16="http://schemas.microsoft.com/office/drawing/2014/main" id="{3E57A7B2-42FE-E42E-1B22-85E608499B24}"/>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7.2.1 A*</a:t>
              </a:r>
              <a:r>
                <a:rPr lang="zh-CN" altLang="en-US" sz="2400" b="1" dirty="0">
                  <a:solidFill>
                    <a:schemeClr val="accent1"/>
                  </a:solidFill>
                  <a:latin typeface="+mj-lt"/>
                </a:rPr>
                <a:t>规划方法</a:t>
              </a:r>
            </a:p>
          </p:txBody>
        </p:sp>
      </p:grpSp>
    </p:spTree>
    <p:extLst>
      <p:ext uri="{BB962C8B-B14F-4D97-AF65-F5344CB8AC3E}">
        <p14:creationId xmlns:p14="http://schemas.microsoft.com/office/powerpoint/2010/main" val="2999552508"/>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1">
            <a:extLst>
              <a:ext uri="{FF2B5EF4-FFF2-40B4-BE49-F238E27FC236}">
                <a16:creationId xmlns:a16="http://schemas.microsoft.com/office/drawing/2014/main" id="{6BD4D055-A69D-10C5-FC36-1CBC562BC321}"/>
              </a:ext>
            </a:extLst>
          </p:cNvPr>
          <p:cNvSpPr/>
          <p:nvPr/>
        </p:nvSpPr>
        <p:spPr>
          <a:xfrm>
            <a:off x="420000" y="2070392"/>
            <a:ext cx="5022850" cy="2747141"/>
          </a:xfrm>
          <a:custGeom>
            <a:avLst/>
            <a:gdLst/>
            <a:ahLst/>
            <a:cxnLst/>
            <a:rect l="l" t="t" r="r" b="b"/>
            <a:pathLst>
              <a:path w="3040063" h="1785938">
                <a:moveTo>
                  <a:pt x="95244" y="0"/>
                </a:moveTo>
                <a:lnTo>
                  <a:pt x="2944818" y="0"/>
                </a:lnTo>
                <a:cubicBezTo>
                  <a:pt x="2997420" y="0"/>
                  <a:pt x="3040062" y="42642"/>
                  <a:pt x="3040062" y="95244"/>
                </a:cubicBezTo>
                <a:lnTo>
                  <a:pt x="3040063" y="1690693"/>
                </a:lnTo>
                <a:cubicBezTo>
                  <a:pt x="3040062" y="1743295"/>
                  <a:pt x="2997420" y="1785938"/>
                  <a:pt x="2944818" y="1785937"/>
                </a:cubicBezTo>
                <a:lnTo>
                  <a:pt x="95244" y="1785938"/>
                </a:lnTo>
                <a:cubicBezTo>
                  <a:pt x="42642" y="1785937"/>
                  <a:pt x="0" y="1743295"/>
                  <a:pt x="0" y="1690693"/>
                </a:cubicBezTo>
                <a:lnTo>
                  <a:pt x="0" y="95244"/>
                </a:lnTo>
                <a:cubicBezTo>
                  <a:pt x="0" y="42677"/>
                  <a:pt x="42677" y="0"/>
                  <a:pt x="95244" y="0"/>
                </a:cubicBezTo>
                <a:close/>
              </a:path>
            </a:pathLst>
          </a:custGeom>
          <a:solidFill>
            <a:srgbClr val="E6B450">
              <a:alpha val="10196"/>
            </a:srgbClr>
          </a:solidFill>
          <a:ln w="12700">
            <a:solidFill>
              <a:srgbClr val="E6B450">
                <a:alpha val="30196"/>
              </a:srgbClr>
            </a:solidFill>
            <a:prstDash val="solid"/>
          </a:ln>
        </p:spPr>
      </p:sp>
      <p:sp>
        <p:nvSpPr>
          <p:cNvPr id="17" name="Shape 15"/>
          <p:cNvSpPr/>
          <p:nvPr/>
        </p:nvSpPr>
        <p:spPr>
          <a:xfrm>
            <a:off x="521424" y="2182862"/>
            <a:ext cx="254353" cy="203483"/>
          </a:xfrm>
          <a:custGeom>
            <a:avLst/>
            <a:gdLst/>
            <a:ahLst/>
            <a:cxnLst/>
            <a:rect l="l" t="t" r="r" b="b"/>
            <a:pathLst>
              <a:path w="254353" h="203483">
                <a:moveTo>
                  <a:pt x="165290" y="83658"/>
                </a:moveTo>
                <a:cubicBezTo>
                  <a:pt x="170138" y="82347"/>
                  <a:pt x="175226" y="84652"/>
                  <a:pt x="177411" y="89143"/>
                </a:cubicBezTo>
                <a:lnTo>
                  <a:pt x="184804" y="104086"/>
                </a:lnTo>
                <a:cubicBezTo>
                  <a:pt x="188897" y="104643"/>
                  <a:pt x="192911" y="105755"/>
                  <a:pt x="196687" y="107305"/>
                </a:cubicBezTo>
                <a:lnTo>
                  <a:pt x="210597" y="98045"/>
                </a:lnTo>
                <a:cubicBezTo>
                  <a:pt x="214770" y="95263"/>
                  <a:pt x="220294" y="95820"/>
                  <a:pt x="223831" y="99357"/>
                </a:cubicBezTo>
                <a:lnTo>
                  <a:pt x="231461" y="106987"/>
                </a:lnTo>
                <a:cubicBezTo>
                  <a:pt x="234999" y="110524"/>
                  <a:pt x="235555" y="116088"/>
                  <a:pt x="232773" y="120222"/>
                </a:cubicBezTo>
                <a:lnTo>
                  <a:pt x="223513" y="134092"/>
                </a:lnTo>
                <a:cubicBezTo>
                  <a:pt x="224268" y="135960"/>
                  <a:pt x="224944" y="137907"/>
                  <a:pt x="225500" y="139934"/>
                </a:cubicBezTo>
                <a:cubicBezTo>
                  <a:pt x="226056" y="141961"/>
                  <a:pt x="226414" y="143948"/>
                  <a:pt x="226692" y="145975"/>
                </a:cubicBezTo>
                <a:lnTo>
                  <a:pt x="241675" y="153367"/>
                </a:lnTo>
                <a:cubicBezTo>
                  <a:pt x="246166" y="155593"/>
                  <a:pt x="248471" y="160680"/>
                  <a:pt x="247160" y="165489"/>
                </a:cubicBezTo>
                <a:lnTo>
                  <a:pt x="244378" y="175901"/>
                </a:lnTo>
                <a:cubicBezTo>
                  <a:pt x="243066" y="180710"/>
                  <a:pt x="238575" y="183969"/>
                  <a:pt x="233568" y="183651"/>
                </a:cubicBezTo>
                <a:lnTo>
                  <a:pt x="216876" y="182578"/>
                </a:lnTo>
                <a:cubicBezTo>
                  <a:pt x="214372" y="185797"/>
                  <a:pt x="211471" y="188778"/>
                  <a:pt x="208172" y="191321"/>
                </a:cubicBezTo>
                <a:lnTo>
                  <a:pt x="209245" y="207974"/>
                </a:lnTo>
                <a:cubicBezTo>
                  <a:pt x="209563" y="212981"/>
                  <a:pt x="206304" y="217512"/>
                  <a:pt x="201495" y="218784"/>
                </a:cubicBezTo>
                <a:lnTo>
                  <a:pt x="191083" y="221566"/>
                </a:lnTo>
                <a:cubicBezTo>
                  <a:pt x="186234" y="222877"/>
                  <a:pt x="181187" y="220572"/>
                  <a:pt x="178961" y="216081"/>
                </a:cubicBezTo>
                <a:lnTo>
                  <a:pt x="171569" y="201138"/>
                </a:lnTo>
                <a:cubicBezTo>
                  <a:pt x="167476" y="200581"/>
                  <a:pt x="163462" y="199469"/>
                  <a:pt x="159686" y="197919"/>
                </a:cubicBezTo>
                <a:lnTo>
                  <a:pt x="145776" y="207179"/>
                </a:lnTo>
                <a:cubicBezTo>
                  <a:pt x="141603" y="209961"/>
                  <a:pt x="136079" y="209404"/>
                  <a:pt x="132542" y="205867"/>
                </a:cubicBezTo>
                <a:lnTo>
                  <a:pt x="124911" y="198237"/>
                </a:lnTo>
                <a:cubicBezTo>
                  <a:pt x="121374" y="194699"/>
                  <a:pt x="120818" y="189175"/>
                  <a:pt x="123600" y="185002"/>
                </a:cubicBezTo>
                <a:lnTo>
                  <a:pt x="132860" y="171092"/>
                </a:lnTo>
                <a:cubicBezTo>
                  <a:pt x="132105" y="169224"/>
                  <a:pt x="131429" y="167277"/>
                  <a:pt x="130873" y="165250"/>
                </a:cubicBezTo>
                <a:cubicBezTo>
                  <a:pt x="130316" y="163223"/>
                  <a:pt x="129959" y="161196"/>
                  <a:pt x="129680" y="159209"/>
                </a:cubicBezTo>
                <a:lnTo>
                  <a:pt x="114697" y="151817"/>
                </a:lnTo>
                <a:cubicBezTo>
                  <a:pt x="110207" y="149592"/>
                  <a:pt x="107941" y="144504"/>
                  <a:pt x="109213" y="139696"/>
                </a:cubicBezTo>
                <a:lnTo>
                  <a:pt x="111995" y="129283"/>
                </a:lnTo>
                <a:cubicBezTo>
                  <a:pt x="113306" y="124474"/>
                  <a:pt x="117797" y="121215"/>
                  <a:pt x="122805" y="121533"/>
                </a:cubicBezTo>
                <a:lnTo>
                  <a:pt x="139457" y="122606"/>
                </a:lnTo>
                <a:cubicBezTo>
                  <a:pt x="141961" y="119387"/>
                  <a:pt x="144862" y="116406"/>
                  <a:pt x="148161" y="113863"/>
                </a:cubicBezTo>
                <a:lnTo>
                  <a:pt x="147088" y="97250"/>
                </a:lnTo>
                <a:cubicBezTo>
                  <a:pt x="146770" y="92243"/>
                  <a:pt x="150029" y="87712"/>
                  <a:pt x="154838" y="86440"/>
                </a:cubicBezTo>
                <a:lnTo>
                  <a:pt x="165250" y="83658"/>
                </a:lnTo>
                <a:close/>
                <a:moveTo>
                  <a:pt x="178206" y="135125"/>
                </a:moveTo>
                <a:cubicBezTo>
                  <a:pt x="168555" y="135136"/>
                  <a:pt x="160728" y="142981"/>
                  <a:pt x="160739" y="152632"/>
                </a:cubicBezTo>
                <a:cubicBezTo>
                  <a:pt x="160750" y="162283"/>
                  <a:pt x="168595" y="170110"/>
                  <a:pt x="178246" y="170099"/>
                </a:cubicBezTo>
                <a:cubicBezTo>
                  <a:pt x="187897" y="170088"/>
                  <a:pt x="195724" y="162243"/>
                  <a:pt x="195713" y="152592"/>
                </a:cubicBezTo>
                <a:cubicBezTo>
                  <a:pt x="195702" y="142941"/>
                  <a:pt x="187857" y="135114"/>
                  <a:pt x="178206" y="135125"/>
                </a:cubicBezTo>
                <a:close/>
                <a:moveTo>
                  <a:pt x="89381" y="-18083"/>
                </a:moveTo>
                <a:lnTo>
                  <a:pt x="99794" y="-15301"/>
                </a:lnTo>
                <a:cubicBezTo>
                  <a:pt x="104603" y="-13989"/>
                  <a:pt x="107862" y="-9459"/>
                  <a:pt x="107544" y="-4491"/>
                </a:cubicBezTo>
                <a:lnTo>
                  <a:pt x="106471" y="12122"/>
                </a:lnTo>
                <a:cubicBezTo>
                  <a:pt x="109769" y="14665"/>
                  <a:pt x="112671" y="17606"/>
                  <a:pt x="115174" y="20865"/>
                </a:cubicBezTo>
                <a:lnTo>
                  <a:pt x="131866" y="19792"/>
                </a:lnTo>
                <a:cubicBezTo>
                  <a:pt x="136834" y="19474"/>
                  <a:pt x="141365" y="22733"/>
                  <a:pt x="142676" y="27542"/>
                </a:cubicBezTo>
                <a:lnTo>
                  <a:pt x="145458" y="37954"/>
                </a:lnTo>
                <a:cubicBezTo>
                  <a:pt x="146730" y="42763"/>
                  <a:pt x="144465" y="47850"/>
                  <a:pt x="139974" y="50076"/>
                </a:cubicBezTo>
                <a:lnTo>
                  <a:pt x="124991" y="57468"/>
                </a:lnTo>
                <a:cubicBezTo>
                  <a:pt x="124713" y="59495"/>
                  <a:pt x="124315" y="61522"/>
                  <a:pt x="123799" y="63509"/>
                </a:cubicBezTo>
                <a:cubicBezTo>
                  <a:pt x="123282" y="65496"/>
                  <a:pt x="122566" y="67483"/>
                  <a:pt x="121811" y="69351"/>
                </a:cubicBezTo>
                <a:lnTo>
                  <a:pt x="131071" y="83261"/>
                </a:lnTo>
                <a:cubicBezTo>
                  <a:pt x="133853" y="87434"/>
                  <a:pt x="133297" y="92958"/>
                  <a:pt x="129760" y="96495"/>
                </a:cubicBezTo>
                <a:lnTo>
                  <a:pt x="122129" y="104126"/>
                </a:lnTo>
                <a:cubicBezTo>
                  <a:pt x="118592" y="107663"/>
                  <a:pt x="113068" y="108219"/>
                  <a:pt x="108895" y="105437"/>
                </a:cubicBezTo>
                <a:lnTo>
                  <a:pt x="94985" y="96177"/>
                </a:lnTo>
                <a:cubicBezTo>
                  <a:pt x="91209" y="97727"/>
                  <a:pt x="87195" y="98840"/>
                  <a:pt x="83102" y="99396"/>
                </a:cubicBezTo>
                <a:lnTo>
                  <a:pt x="75710" y="114340"/>
                </a:lnTo>
                <a:cubicBezTo>
                  <a:pt x="73484" y="118831"/>
                  <a:pt x="68397" y="121096"/>
                  <a:pt x="63588" y="119824"/>
                </a:cubicBezTo>
                <a:lnTo>
                  <a:pt x="53176" y="117042"/>
                </a:lnTo>
                <a:cubicBezTo>
                  <a:pt x="48327" y="115731"/>
                  <a:pt x="45108" y="111200"/>
                  <a:pt x="45426" y="106232"/>
                </a:cubicBezTo>
                <a:lnTo>
                  <a:pt x="46499" y="89580"/>
                </a:lnTo>
                <a:cubicBezTo>
                  <a:pt x="43200" y="87037"/>
                  <a:pt x="40299" y="84096"/>
                  <a:pt x="37795" y="80837"/>
                </a:cubicBezTo>
                <a:lnTo>
                  <a:pt x="21103" y="81910"/>
                </a:lnTo>
                <a:cubicBezTo>
                  <a:pt x="16136" y="82228"/>
                  <a:pt x="11605" y="78969"/>
                  <a:pt x="10293" y="74160"/>
                </a:cubicBezTo>
                <a:lnTo>
                  <a:pt x="7511" y="63747"/>
                </a:lnTo>
                <a:cubicBezTo>
                  <a:pt x="6240" y="58938"/>
                  <a:pt x="8505" y="53851"/>
                  <a:pt x="12996" y="51626"/>
                </a:cubicBezTo>
                <a:lnTo>
                  <a:pt x="27979" y="44234"/>
                </a:lnTo>
                <a:cubicBezTo>
                  <a:pt x="28257" y="42207"/>
                  <a:pt x="28654" y="40220"/>
                  <a:pt x="29171" y="38193"/>
                </a:cubicBezTo>
                <a:cubicBezTo>
                  <a:pt x="29728" y="36166"/>
                  <a:pt x="30363" y="34218"/>
                  <a:pt x="31158" y="32351"/>
                </a:cubicBezTo>
                <a:lnTo>
                  <a:pt x="21898" y="18480"/>
                </a:lnTo>
                <a:cubicBezTo>
                  <a:pt x="19116" y="14307"/>
                  <a:pt x="19673" y="8783"/>
                  <a:pt x="23210" y="5246"/>
                </a:cubicBezTo>
                <a:lnTo>
                  <a:pt x="30840" y="-2385"/>
                </a:lnTo>
                <a:cubicBezTo>
                  <a:pt x="34377" y="-5922"/>
                  <a:pt x="39902" y="-6478"/>
                  <a:pt x="44075" y="-3696"/>
                </a:cubicBezTo>
                <a:lnTo>
                  <a:pt x="57985" y="5564"/>
                </a:lnTo>
                <a:cubicBezTo>
                  <a:pt x="61760" y="4014"/>
                  <a:pt x="65774" y="2901"/>
                  <a:pt x="69868" y="2345"/>
                </a:cubicBezTo>
                <a:lnTo>
                  <a:pt x="77260" y="-12598"/>
                </a:lnTo>
                <a:cubicBezTo>
                  <a:pt x="79485" y="-17089"/>
                  <a:pt x="84533" y="-19355"/>
                  <a:pt x="89381" y="-18083"/>
                </a:cubicBezTo>
                <a:close/>
                <a:moveTo>
                  <a:pt x="76465" y="33384"/>
                </a:moveTo>
                <a:cubicBezTo>
                  <a:pt x="66814" y="33384"/>
                  <a:pt x="58978" y="41219"/>
                  <a:pt x="58978" y="50871"/>
                </a:cubicBezTo>
                <a:cubicBezTo>
                  <a:pt x="58978" y="60522"/>
                  <a:pt x="66814" y="68357"/>
                  <a:pt x="76465" y="68357"/>
                </a:cubicBezTo>
                <a:cubicBezTo>
                  <a:pt x="86116" y="68357"/>
                  <a:pt x="93952" y="60522"/>
                  <a:pt x="93952" y="50871"/>
                </a:cubicBezTo>
                <a:cubicBezTo>
                  <a:pt x="93952" y="41219"/>
                  <a:pt x="86116" y="33384"/>
                  <a:pt x="76465" y="33384"/>
                </a:cubicBezTo>
                <a:close/>
              </a:path>
            </a:pathLst>
          </a:custGeom>
          <a:solidFill>
            <a:srgbClr val="E6B450"/>
          </a:solidFill>
        </p:spPr>
      </p:sp>
      <p:sp>
        <p:nvSpPr>
          <p:cNvPr id="18" name="Text 16"/>
          <p:cNvSpPr/>
          <p:nvPr/>
        </p:nvSpPr>
        <p:spPr>
          <a:xfrm>
            <a:off x="854071" y="2148948"/>
            <a:ext cx="1774829" cy="271310"/>
          </a:xfrm>
          <a:prstGeom prst="rect">
            <a:avLst/>
          </a:prstGeom>
          <a:noFill/>
        </p:spPr>
        <p:txBody>
          <a:bodyPr wrap="square" lIns="0" tIns="0" rIns="0" bIns="0" rtlCol="0" anchor="ctr"/>
          <a:lstStyle/>
          <a:p>
            <a:pPr>
              <a:lnSpc>
                <a:spcPct val="11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Dijkstra算法过程</a:t>
            </a:r>
            <a:endParaRPr lang="en-US" sz="1600" dirty="0"/>
          </a:p>
        </p:txBody>
      </p:sp>
      <p:sp>
        <p:nvSpPr>
          <p:cNvPr id="19" name="Text 17"/>
          <p:cNvSpPr/>
          <p:nvPr/>
        </p:nvSpPr>
        <p:spPr>
          <a:xfrm>
            <a:off x="854072" y="2590801"/>
            <a:ext cx="4395262" cy="2006600"/>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从初始节点开始，这个算法计算每个节点和它直接相邻节点之间的距离。然后，它从里面选取距离最短的节点并且用计算出的距离来标记它们。一旦拓展完所有相邻节点，这个算法将转向下一个距离最短的节点，算法一直持续到目标节点时结束。机器人按照搜索到的最短路径进行导航。</a:t>
            </a:r>
            <a:endParaRPr lang="en-US" sz="1600" dirty="0"/>
          </a:p>
        </p:txBody>
      </p:sp>
      <p:grpSp>
        <p:nvGrpSpPr>
          <p:cNvPr id="52" name="组合 51">
            <a:extLst>
              <a:ext uri="{FF2B5EF4-FFF2-40B4-BE49-F238E27FC236}">
                <a16:creationId xmlns:a16="http://schemas.microsoft.com/office/drawing/2014/main" id="{5C1FB60D-EB0E-0431-4598-14A69EB6C345}"/>
              </a:ext>
            </a:extLst>
          </p:cNvPr>
          <p:cNvGrpSpPr/>
          <p:nvPr/>
        </p:nvGrpSpPr>
        <p:grpSpPr>
          <a:xfrm>
            <a:off x="0" y="939798"/>
            <a:ext cx="5022850" cy="625474"/>
            <a:chOff x="0" y="1075267"/>
            <a:chExt cx="5022850" cy="625474"/>
          </a:xfrm>
        </p:grpSpPr>
        <p:sp>
          <p:nvSpPr>
            <p:cNvPr id="53" name="矩形 52">
              <a:extLst>
                <a:ext uri="{FF2B5EF4-FFF2-40B4-BE49-F238E27FC236}">
                  <a16:creationId xmlns:a16="http://schemas.microsoft.com/office/drawing/2014/main" id="{B15310DE-575D-10DC-D081-017631259B00}"/>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a:extLst>
                <a:ext uri="{FF2B5EF4-FFF2-40B4-BE49-F238E27FC236}">
                  <a16:creationId xmlns:a16="http://schemas.microsoft.com/office/drawing/2014/main" id="{3E57A7B2-42FE-E42E-1B22-85E608499B24}"/>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7.2.1 A*</a:t>
              </a:r>
              <a:r>
                <a:rPr lang="zh-CN" altLang="en-US" sz="2400" b="1" dirty="0">
                  <a:solidFill>
                    <a:schemeClr val="accent1"/>
                  </a:solidFill>
                  <a:latin typeface="+mj-lt"/>
                </a:rPr>
                <a:t>规划方法</a:t>
              </a:r>
            </a:p>
          </p:txBody>
        </p:sp>
      </p:grpSp>
      <p:pic>
        <p:nvPicPr>
          <p:cNvPr id="2" name="图片 1">
            <a:extLst>
              <a:ext uri="{FF2B5EF4-FFF2-40B4-BE49-F238E27FC236}">
                <a16:creationId xmlns:a16="http://schemas.microsoft.com/office/drawing/2014/main" id="{291C413F-F5F9-7E7E-55B1-80FB86B73D3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748867" y="1905079"/>
            <a:ext cx="5946650" cy="4827672"/>
          </a:xfrm>
          <a:prstGeom prst="rect">
            <a:avLst/>
          </a:prstGeom>
          <a:noFill/>
          <a:ln>
            <a:noFill/>
          </a:ln>
          <a:effectLst/>
        </p:spPr>
      </p:pic>
    </p:spTree>
    <p:extLst>
      <p:ext uri="{BB962C8B-B14F-4D97-AF65-F5344CB8AC3E}">
        <p14:creationId xmlns:p14="http://schemas.microsoft.com/office/powerpoint/2010/main" val="1670179630"/>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92386" y="1700340"/>
            <a:ext cx="11088414" cy="1410722"/>
          </a:xfrm>
          <a:custGeom>
            <a:avLst/>
            <a:gdLst/>
            <a:ahLst/>
            <a:cxnLst/>
            <a:rect l="l" t="t" r="r" b="b"/>
            <a:pathLst>
              <a:path w="7408625" h="1410722">
                <a:moveTo>
                  <a:pt x="37370" y="0"/>
                </a:moveTo>
                <a:lnTo>
                  <a:pt x="7296515" y="0"/>
                </a:lnTo>
                <a:cubicBezTo>
                  <a:pt x="7358432" y="0"/>
                  <a:pt x="7408625" y="50193"/>
                  <a:pt x="7408625" y="112110"/>
                </a:cubicBezTo>
                <a:lnTo>
                  <a:pt x="7408625" y="1298612"/>
                </a:lnTo>
                <a:cubicBezTo>
                  <a:pt x="7408625" y="1360528"/>
                  <a:pt x="7358432" y="1410722"/>
                  <a:pt x="7296515" y="1410722"/>
                </a:cubicBezTo>
                <a:lnTo>
                  <a:pt x="37370" y="1410722"/>
                </a:lnTo>
                <a:cubicBezTo>
                  <a:pt x="16731" y="1410722"/>
                  <a:pt x="0" y="1393991"/>
                  <a:pt x="0" y="1373352"/>
                </a:cubicBezTo>
                <a:lnTo>
                  <a:pt x="0" y="37370"/>
                </a:lnTo>
                <a:cubicBezTo>
                  <a:pt x="0" y="16745"/>
                  <a:pt x="16745" y="0"/>
                  <a:pt x="37370" y="0"/>
                </a:cubicBezTo>
                <a:close/>
              </a:path>
            </a:pathLst>
          </a:custGeom>
          <a:solidFill>
            <a:srgbClr val="5F87A7">
              <a:alpha val="10196"/>
            </a:srgbClr>
          </a:solidFill>
        </p:spPr>
      </p:sp>
      <p:sp>
        <p:nvSpPr>
          <p:cNvPr id="6" name="Shape 4"/>
          <p:cNvSpPr/>
          <p:nvPr/>
        </p:nvSpPr>
        <p:spPr>
          <a:xfrm>
            <a:off x="392386" y="1700340"/>
            <a:ext cx="37370" cy="1410722"/>
          </a:xfrm>
          <a:custGeom>
            <a:avLst/>
            <a:gdLst/>
            <a:ahLst/>
            <a:cxnLst/>
            <a:rect l="l" t="t" r="r" b="b"/>
            <a:pathLst>
              <a:path w="37370" h="1410722">
                <a:moveTo>
                  <a:pt x="37370" y="0"/>
                </a:moveTo>
                <a:lnTo>
                  <a:pt x="37370" y="0"/>
                </a:lnTo>
                <a:lnTo>
                  <a:pt x="37370" y="1410722"/>
                </a:lnTo>
                <a:lnTo>
                  <a:pt x="37370" y="1410722"/>
                </a:lnTo>
                <a:cubicBezTo>
                  <a:pt x="16731" y="1410722"/>
                  <a:pt x="0" y="1393991"/>
                  <a:pt x="0" y="1373352"/>
                </a:cubicBezTo>
                <a:lnTo>
                  <a:pt x="0" y="37370"/>
                </a:lnTo>
                <a:cubicBezTo>
                  <a:pt x="0" y="16745"/>
                  <a:pt x="16745" y="0"/>
                  <a:pt x="37370" y="0"/>
                </a:cubicBezTo>
                <a:close/>
              </a:path>
            </a:pathLst>
          </a:custGeom>
          <a:solidFill>
            <a:srgbClr val="E6B450"/>
          </a:solidFill>
        </p:spPr>
      </p:sp>
      <p:sp>
        <p:nvSpPr>
          <p:cNvPr id="7" name="Shape 5"/>
          <p:cNvSpPr/>
          <p:nvPr/>
        </p:nvSpPr>
        <p:spPr>
          <a:xfrm>
            <a:off x="597922" y="1961931"/>
            <a:ext cx="252248" cy="224221"/>
          </a:xfrm>
          <a:custGeom>
            <a:avLst/>
            <a:gdLst/>
            <a:ahLst/>
            <a:cxnLst/>
            <a:rect l="l" t="t" r="r" b="b"/>
            <a:pathLst>
              <a:path w="252248" h="224221">
                <a:moveTo>
                  <a:pt x="135540" y="-8277"/>
                </a:moveTo>
                <a:cubicBezTo>
                  <a:pt x="133744" y="-11780"/>
                  <a:pt x="130109" y="-14014"/>
                  <a:pt x="126168" y="-14014"/>
                </a:cubicBezTo>
                <a:cubicBezTo>
                  <a:pt x="122227" y="-14014"/>
                  <a:pt x="118592" y="-11780"/>
                  <a:pt x="116796" y="-8277"/>
                </a:cubicBezTo>
                <a:lnTo>
                  <a:pt x="84564" y="54873"/>
                </a:lnTo>
                <a:lnTo>
                  <a:pt x="14539" y="65996"/>
                </a:lnTo>
                <a:cubicBezTo>
                  <a:pt x="10642" y="66609"/>
                  <a:pt x="7401" y="69368"/>
                  <a:pt x="6175" y="73134"/>
                </a:cubicBezTo>
                <a:cubicBezTo>
                  <a:pt x="4949" y="76901"/>
                  <a:pt x="5956" y="81017"/>
                  <a:pt x="8715" y="83820"/>
                </a:cubicBezTo>
                <a:lnTo>
                  <a:pt x="58814" y="133963"/>
                </a:lnTo>
                <a:lnTo>
                  <a:pt x="47778" y="203988"/>
                </a:lnTo>
                <a:cubicBezTo>
                  <a:pt x="47165" y="207886"/>
                  <a:pt x="48786" y="211827"/>
                  <a:pt x="51982" y="214148"/>
                </a:cubicBezTo>
                <a:cubicBezTo>
                  <a:pt x="55179" y="216469"/>
                  <a:pt x="59383" y="216820"/>
                  <a:pt x="62931" y="215024"/>
                </a:cubicBezTo>
                <a:lnTo>
                  <a:pt x="126168" y="182880"/>
                </a:lnTo>
                <a:lnTo>
                  <a:pt x="189361" y="215024"/>
                </a:lnTo>
                <a:cubicBezTo>
                  <a:pt x="192865" y="216820"/>
                  <a:pt x="197113" y="216469"/>
                  <a:pt x="200310" y="214148"/>
                </a:cubicBezTo>
                <a:cubicBezTo>
                  <a:pt x="203507" y="211827"/>
                  <a:pt x="205127" y="207930"/>
                  <a:pt x="204514" y="203988"/>
                </a:cubicBezTo>
                <a:lnTo>
                  <a:pt x="193434" y="133963"/>
                </a:lnTo>
                <a:lnTo>
                  <a:pt x="243533" y="83820"/>
                </a:lnTo>
                <a:cubicBezTo>
                  <a:pt x="246336" y="81017"/>
                  <a:pt x="247300" y="76901"/>
                  <a:pt x="246073" y="73134"/>
                </a:cubicBezTo>
                <a:cubicBezTo>
                  <a:pt x="244847" y="69368"/>
                  <a:pt x="241650" y="66609"/>
                  <a:pt x="237709" y="65996"/>
                </a:cubicBezTo>
                <a:lnTo>
                  <a:pt x="167728" y="54873"/>
                </a:lnTo>
                <a:lnTo>
                  <a:pt x="135540" y="-8277"/>
                </a:lnTo>
                <a:close/>
              </a:path>
            </a:pathLst>
          </a:custGeom>
          <a:solidFill>
            <a:srgbClr val="E6B450"/>
          </a:solidFill>
        </p:spPr>
      </p:sp>
      <p:sp>
        <p:nvSpPr>
          <p:cNvPr id="8" name="Text 6"/>
          <p:cNvSpPr/>
          <p:nvPr/>
        </p:nvSpPr>
        <p:spPr>
          <a:xfrm>
            <a:off x="960237" y="1924561"/>
            <a:ext cx="6726621" cy="298961"/>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A*算法概述</a:t>
            </a:r>
            <a:endParaRPr lang="en-US" dirty="0"/>
          </a:p>
        </p:txBody>
      </p:sp>
      <p:sp>
        <p:nvSpPr>
          <p:cNvPr id="9" name="Text 7"/>
          <p:cNvSpPr/>
          <p:nvPr/>
        </p:nvSpPr>
        <p:spPr>
          <a:xfrm>
            <a:off x="960237" y="2335632"/>
            <a:ext cx="10085260" cy="551209"/>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A*算法是</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传统路径规划算法</a:t>
            </a:r>
            <a:r>
              <a:rPr lang="en-US" sz="1600" dirty="0">
                <a:latin typeface="微软雅黑" panose="020B0503020204020204" pitchFamily="34" charset="-122"/>
                <a:ea typeface="微软雅黑" panose="020B0503020204020204" pitchFamily="34" charset="-122"/>
                <a:cs typeface="微软雅黑" panose="020B0503020204020204" pitchFamily="34" charset="-122"/>
              </a:rPr>
              <a:t>中基于图搜索的典型算法，该算法采用</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启发式搜索策略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，尤其适用于</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静态且已知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的地图环境下的路径规划问题。</a:t>
            </a:r>
            <a:endParaRPr lang="en-US" sz="1600" dirty="0"/>
          </a:p>
        </p:txBody>
      </p:sp>
      <p:sp>
        <p:nvSpPr>
          <p:cNvPr id="10" name="Shape 8"/>
          <p:cNvSpPr/>
          <p:nvPr/>
        </p:nvSpPr>
        <p:spPr>
          <a:xfrm>
            <a:off x="378372" y="3335283"/>
            <a:ext cx="11102398" cy="1924561"/>
          </a:xfrm>
          <a:custGeom>
            <a:avLst/>
            <a:gdLst/>
            <a:ahLst/>
            <a:cxnLst/>
            <a:rect l="l" t="t" r="r" b="b"/>
            <a:pathLst>
              <a:path w="7417968" h="1924561">
                <a:moveTo>
                  <a:pt x="112106" y="0"/>
                </a:moveTo>
                <a:lnTo>
                  <a:pt x="7305862" y="0"/>
                </a:lnTo>
                <a:cubicBezTo>
                  <a:pt x="7367776" y="0"/>
                  <a:pt x="7417968" y="50191"/>
                  <a:pt x="7417968" y="112106"/>
                </a:cubicBezTo>
                <a:lnTo>
                  <a:pt x="7417968" y="1812455"/>
                </a:lnTo>
                <a:cubicBezTo>
                  <a:pt x="7417968" y="1874369"/>
                  <a:pt x="7367776" y="1924561"/>
                  <a:pt x="7305862" y="1924561"/>
                </a:cubicBezTo>
                <a:lnTo>
                  <a:pt x="112106" y="1924561"/>
                </a:lnTo>
                <a:cubicBezTo>
                  <a:pt x="50191" y="1924561"/>
                  <a:pt x="0" y="1874369"/>
                  <a:pt x="0" y="1812455"/>
                </a:cubicBezTo>
                <a:lnTo>
                  <a:pt x="0" y="112106"/>
                </a:lnTo>
                <a:cubicBezTo>
                  <a:pt x="0" y="50191"/>
                  <a:pt x="50191" y="0"/>
                  <a:pt x="112106" y="0"/>
                </a:cubicBezTo>
                <a:close/>
              </a:path>
            </a:pathLst>
          </a:custGeom>
          <a:solidFill>
            <a:srgbClr val="E6B450">
              <a:alpha val="10196"/>
            </a:srgbClr>
          </a:solidFill>
          <a:ln w="12700">
            <a:solidFill>
              <a:srgbClr val="E6B450">
                <a:alpha val="30196"/>
              </a:srgbClr>
            </a:solidFill>
            <a:prstDash val="solid"/>
          </a:ln>
        </p:spPr>
      </p:sp>
      <p:sp>
        <p:nvSpPr>
          <p:cNvPr id="11" name="Shape 9"/>
          <p:cNvSpPr/>
          <p:nvPr/>
        </p:nvSpPr>
        <p:spPr>
          <a:xfrm>
            <a:off x="663320" y="3601545"/>
            <a:ext cx="168166" cy="224221"/>
          </a:xfrm>
          <a:custGeom>
            <a:avLst/>
            <a:gdLst/>
            <a:ahLst/>
            <a:cxnLst/>
            <a:rect l="l" t="t" r="r" b="b"/>
            <a:pathLst>
              <a:path w="168166" h="224221">
                <a:moveTo>
                  <a:pt x="28028" y="0"/>
                </a:moveTo>
                <a:cubicBezTo>
                  <a:pt x="12569" y="0"/>
                  <a:pt x="0" y="12569"/>
                  <a:pt x="0" y="28028"/>
                </a:cubicBezTo>
                <a:lnTo>
                  <a:pt x="0" y="196193"/>
                </a:lnTo>
                <a:cubicBezTo>
                  <a:pt x="0" y="211652"/>
                  <a:pt x="12569" y="224221"/>
                  <a:pt x="28028" y="224221"/>
                </a:cubicBezTo>
                <a:lnTo>
                  <a:pt x="140138" y="224221"/>
                </a:lnTo>
                <a:cubicBezTo>
                  <a:pt x="155597" y="224221"/>
                  <a:pt x="168166" y="211652"/>
                  <a:pt x="168166" y="196193"/>
                </a:cubicBezTo>
                <a:lnTo>
                  <a:pt x="168166" y="28028"/>
                </a:lnTo>
                <a:cubicBezTo>
                  <a:pt x="168166" y="12569"/>
                  <a:pt x="155597" y="0"/>
                  <a:pt x="140138" y="0"/>
                </a:cubicBezTo>
                <a:lnTo>
                  <a:pt x="28028" y="0"/>
                </a:lnTo>
                <a:close/>
                <a:moveTo>
                  <a:pt x="42041" y="28028"/>
                </a:moveTo>
                <a:lnTo>
                  <a:pt x="126124" y="28028"/>
                </a:lnTo>
                <a:cubicBezTo>
                  <a:pt x="133876" y="28028"/>
                  <a:pt x="140138" y="34290"/>
                  <a:pt x="140138" y="42041"/>
                </a:cubicBezTo>
                <a:lnTo>
                  <a:pt x="140138" y="56055"/>
                </a:lnTo>
                <a:cubicBezTo>
                  <a:pt x="140138" y="63807"/>
                  <a:pt x="133876" y="70069"/>
                  <a:pt x="126124" y="70069"/>
                </a:cubicBezTo>
                <a:lnTo>
                  <a:pt x="42041" y="70069"/>
                </a:lnTo>
                <a:cubicBezTo>
                  <a:pt x="34290" y="70069"/>
                  <a:pt x="28028" y="63807"/>
                  <a:pt x="28028" y="56055"/>
                </a:cubicBezTo>
                <a:lnTo>
                  <a:pt x="28028" y="42041"/>
                </a:lnTo>
                <a:cubicBezTo>
                  <a:pt x="28028" y="34290"/>
                  <a:pt x="34290" y="28028"/>
                  <a:pt x="42041" y="28028"/>
                </a:cubicBezTo>
                <a:close/>
                <a:moveTo>
                  <a:pt x="49048" y="101600"/>
                </a:moveTo>
                <a:cubicBezTo>
                  <a:pt x="49048" y="107401"/>
                  <a:pt x="44339" y="112110"/>
                  <a:pt x="38538" y="112110"/>
                </a:cubicBezTo>
                <a:cubicBezTo>
                  <a:pt x="32737" y="112110"/>
                  <a:pt x="28028" y="107401"/>
                  <a:pt x="28028" y="101600"/>
                </a:cubicBezTo>
                <a:cubicBezTo>
                  <a:pt x="28028" y="95799"/>
                  <a:pt x="32737" y="91090"/>
                  <a:pt x="38538" y="91090"/>
                </a:cubicBezTo>
                <a:cubicBezTo>
                  <a:pt x="44339" y="91090"/>
                  <a:pt x="49048" y="95799"/>
                  <a:pt x="49048" y="101600"/>
                </a:cubicBezTo>
                <a:close/>
                <a:moveTo>
                  <a:pt x="84083" y="112110"/>
                </a:moveTo>
                <a:cubicBezTo>
                  <a:pt x="78282" y="112110"/>
                  <a:pt x="73572" y="107401"/>
                  <a:pt x="73572" y="101600"/>
                </a:cubicBezTo>
                <a:cubicBezTo>
                  <a:pt x="73572" y="95799"/>
                  <a:pt x="78282" y="91090"/>
                  <a:pt x="84083" y="91090"/>
                </a:cubicBezTo>
                <a:cubicBezTo>
                  <a:pt x="89884" y="91090"/>
                  <a:pt x="94593" y="95799"/>
                  <a:pt x="94593" y="101600"/>
                </a:cubicBezTo>
                <a:cubicBezTo>
                  <a:pt x="94593" y="107401"/>
                  <a:pt x="89884" y="112110"/>
                  <a:pt x="84083" y="112110"/>
                </a:cubicBezTo>
                <a:close/>
                <a:moveTo>
                  <a:pt x="140138" y="101600"/>
                </a:moveTo>
                <a:cubicBezTo>
                  <a:pt x="140138" y="107401"/>
                  <a:pt x="135428" y="112110"/>
                  <a:pt x="129628" y="112110"/>
                </a:cubicBezTo>
                <a:cubicBezTo>
                  <a:pt x="123827" y="112110"/>
                  <a:pt x="119117" y="107401"/>
                  <a:pt x="119117" y="101600"/>
                </a:cubicBezTo>
                <a:cubicBezTo>
                  <a:pt x="119117" y="95799"/>
                  <a:pt x="123827" y="91090"/>
                  <a:pt x="129628" y="91090"/>
                </a:cubicBezTo>
                <a:cubicBezTo>
                  <a:pt x="135428" y="91090"/>
                  <a:pt x="140138" y="95799"/>
                  <a:pt x="140138" y="101600"/>
                </a:cubicBezTo>
                <a:close/>
                <a:moveTo>
                  <a:pt x="38538" y="154152"/>
                </a:moveTo>
                <a:cubicBezTo>
                  <a:pt x="32737" y="154152"/>
                  <a:pt x="28028" y="149442"/>
                  <a:pt x="28028" y="143641"/>
                </a:cubicBezTo>
                <a:cubicBezTo>
                  <a:pt x="28028" y="137841"/>
                  <a:pt x="32737" y="133131"/>
                  <a:pt x="38538" y="133131"/>
                </a:cubicBezTo>
                <a:cubicBezTo>
                  <a:pt x="44339" y="133131"/>
                  <a:pt x="49048" y="137841"/>
                  <a:pt x="49048" y="143641"/>
                </a:cubicBezTo>
                <a:cubicBezTo>
                  <a:pt x="49048" y="149442"/>
                  <a:pt x="44339" y="154152"/>
                  <a:pt x="38538" y="154152"/>
                </a:cubicBezTo>
                <a:close/>
                <a:moveTo>
                  <a:pt x="94593" y="143641"/>
                </a:moveTo>
                <a:cubicBezTo>
                  <a:pt x="94593" y="149442"/>
                  <a:pt x="89884" y="154152"/>
                  <a:pt x="84083" y="154152"/>
                </a:cubicBezTo>
                <a:cubicBezTo>
                  <a:pt x="78282" y="154152"/>
                  <a:pt x="73572" y="149442"/>
                  <a:pt x="73572" y="143641"/>
                </a:cubicBezTo>
                <a:cubicBezTo>
                  <a:pt x="73572" y="137841"/>
                  <a:pt x="78282" y="133131"/>
                  <a:pt x="84083" y="133131"/>
                </a:cubicBezTo>
                <a:cubicBezTo>
                  <a:pt x="89884" y="133131"/>
                  <a:pt x="94593" y="137841"/>
                  <a:pt x="94593" y="143641"/>
                </a:cubicBezTo>
                <a:close/>
                <a:moveTo>
                  <a:pt x="129628" y="154152"/>
                </a:moveTo>
                <a:cubicBezTo>
                  <a:pt x="123827" y="154152"/>
                  <a:pt x="119117" y="149442"/>
                  <a:pt x="119117" y="143641"/>
                </a:cubicBezTo>
                <a:cubicBezTo>
                  <a:pt x="119117" y="137841"/>
                  <a:pt x="123827" y="133131"/>
                  <a:pt x="129628" y="133131"/>
                </a:cubicBezTo>
                <a:cubicBezTo>
                  <a:pt x="135428" y="133131"/>
                  <a:pt x="140138" y="137841"/>
                  <a:pt x="140138" y="143641"/>
                </a:cubicBezTo>
                <a:cubicBezTo>
                  <a:pt x="140138" y="149442"/>
                  <a:pt x="135428" y="154152"/>
                  <a:pt x="129628" y="154152"/>
                </a:cubicBezTo>
                <a:close/>
                <a:moveTo>
                  <a:pt x="28028" y="185683"/>
                </a:moveTo>
                <a:cubicBezTo>
                  <a:pt x="28028" y="179858"/>
                  <a:pt x="32713" y="175172"/>
                  <a:pt x="38538" y="175172"/>
                </a:cubicBezTo>
                <a:lnTo>
                  <a:pt x="87586" y="175172"/>
                </a:lnTo>
                <a:cubicBezTo>
                  <a:pt x="93411" y="175172"/>
                  <a:pt x="98097" y="179858"/>
                  <a:pt x="98097" y="185683"/>
                </a:cubicBezTo>
                <a:cubicBezTo>
                  <a:pt x="98097" y="191507"/>
                  <a:pt x="93411" y="196193"/>
                  <a:pt x="87586" y="196193"/>
                </a:cubicBezTo>
                <a:lnTo>
                  <a:pt x="38538" y="196193"/>
                </a:lnTo>
                <a:cubicBezTo>
                  <a:pt x="32713" y="196193"/>
                  <a:pt x="28028" y="191507"/>
                  <a:pt x="28028" y="185683"/>
                </a:cubicBezTo>
                <a:close/>
                <a:moveTo>
                  <a:pt x="129628" y="175172"/>
                </a:moveTo>
                <a:cubicBezTo>
                  <a:pt x="135452" y="175172"/>
                  <a:pt x="140138" y="179858"/>
                  <a:pt x="140138" y="185683"/>
                </a:cubicBezTo>
                <a:cubicBezTo>
                  <a:pt x="140138" y="191507"/>
                  <a:pt x="135452" y="196193"/>
                  <a:pt x="129628" y="196193"/>
                </a:cubicBezTo>
                <a:cubicBezTo>
                  <a:pt x="123803" y="196193"/>
                  <a:pt x="119117" y="191507"/>
                  <a:pt x="119117" y="185683"/>
                </a:cubicBezTo>
                <a:cubicBezTo>
                  <a:pt x="119117" y="179858"/>
                  <a:pt x="123803" y="175172"/>
                  <a:pt x="129628" y="175172"/>
                </a:cubicBezTo>
                <a:close/>
              </a:path>
            </a:pathLst>
          </a:custGeom>
          <a:solidFill>
            <a:srgbClr val="E6B450"/>
          </a:solidFill>
        </p:spPr>
      </p:sp>
      <p:sp>
        <p:nvSpPr>
          <p:cNvPr id="12" name="Text 10"/>
          <p:cNvSpPr/>
          <p:nvPr/>
        </p:nvSpPr>
        <p:spPr>
          <a:xfrm>
            <a:off x="1037021" y="3564175"/>
            <a:ext cx="5072993" cy="298961"/>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代价函数</a:t>
            </a:r>
            <a:endParaRPr lang="en-US" dirty="0"/>
          </a:p>
        </p:txBody>
      </p:sp>
      <p:sp>
        <p:nvSpPr>
          <p:cNvPr id="13" name="Text 11"/>
          <p:cNvSpPr/>
          <p:nvPr/>
        </p:nvSpPr>
        <p:spPr>
          <a:xfrm>
            <a:off x="1037021" y="3975246"/>
            <a:ext cx="5044966" cy="270933"/>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A*算法节点的扩展基于代价函数</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f(n)</a:t>
            </a:r>
            <a:r>
              <a:rPr lang="en-US" sz="1600" dirty="0">
                <a:latin typeface="微软雅黑" panose="020B0503020204020204" pitchFamily="34" charset="-122"/>
                <a:ea typeface="微软雅黑" panose="020B0503020204020204" pitchFamily="34" charset="-122"/>
                <a:cs typeface="微软雅黑" panose="020B0503020204020204" pitchFamily="34" charset="-122"/>
              </a:rPr>
              <a:t>进行，f(n)</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的定义为</a:t>
            </a:r>
            <a:endParaRPr lang="en-US" sz="2000" dirty="0"/>
          </a:p>
        </p:txBody>
      </p:sp>
      <p:sp>
        <p:nvSpPr>
          <p:cNvPr id="14" name="Shape 12"/>
          <p:cNvSpPr/>
          <p:nvPr/>
        </p:nvSpPr>
        <p:spPr>
          <a:xfrm>
            <a:off x="2442489" y="4397995"/>
            <a:ext cx="4960883" cy="635292"/>
          </a:xfrm>
          <a:custGeom>
            <a:avLst/>
            <a:gdLst/>
            <a:ahLst/>
            <a:cxnLst/>
            <a:rect l="l" t="t" r="r" b="b"/>
            <a:pathLst>
              <a:path w="4960883" h="635292">
                <a:moveTo>
                  <a:pt x="74742" y="0"/>
                </a:moveTo>
                <a:lnTo>
                  <a:pt x="4886141" y="0"/>
                </a:lnTo>
                <a:cubicBezTo>
                  <a:pt x="4927420" y="0"/>
                  <a:pt x="4960883" y="33463"/>
                  <a:pt x="4960883" y="74742"/>
                </a:cubicBezTo>
                <a:lnTo>
                  <a:pt x="4960883" y="560550"/>
                </a:lnTo>
                <a:cubicBezTo>
                  <a:pt x="4960883" y="601829"/>
                  <a:pt x="4927420" y="635292"/>
                  <a:pt x="4886141" y="635292"/>
                </a:cubicBezTo>
                <a:lnTo>
                  <a:pt x="74742" y="635292"/>
                </a:lnTo>
                <a:cubicBezTo>
                  <a:pt x="33463" y="635292"/>
                  <a:pt x="0" y="601829"/>
                  <a:pt x="0" y="560550"/>
                </a:cubicBezTo>
                <a:lnTo>
                  <a:pt x="0" y="74742"/>
                </a:lnTo>
                <a:cubicBezTo>
                  <a:pt x="0" y="33463"/>
                  <a:pt x="33463" y="0"/>
                  <a:pt x="74742" y="0"/>
                </a:cubicBezTo>
                <a:close/>
              </a:path>
            </a:pathLst>
          </a:custGeom>
          <a:solidFill>
            <a:srgbClr val="5F87A7">
              <a:alpha val="20000"/>
            </a:srgbClr>
          </a:solidFill>
        </p:spPr>
      </p:sp>
      <p:sp>
        <p:nvSpPr>
          <p:cNvPr id="15" name="Text 13"/>
          <p:cNvSpPr/>
          <p:nvPr/>
        </p:nvSpPr>
        <p:spPr>
          <a:xfrm>
            <a:off x="2521900" y="4547476"/>
            <a:ext cx="4802060" cy="336331"/>
          </a:xfrm>
          <a:prstGeom prst="rect">
            <a:avLst/>
          </a:prstGeom>
          <a:noFill/>
        </p:spPr>
        <p:txBody>
          <a:bodyPr wrap="square" lIns="0" tIns="0" rIns="0" bIns="0" rtlCol="0" anchor="ctr"/>
          <a:lstStyle/>
          <a:p>
            <a:pPr algn="ctr">
              <a:lnSpc>
                <a:spcPct val="100000"/>
              </a:lnSpc>
            </a:pPr>
            <a:r>
              <a:rPr lang="en-US" sz="2205" b="1" dirty="0">
                <a:latin typeface="微软雅黑" panose="020B0503020204020204" pitchFamily="34" charset="-122"/>
                <a:ea typeface="微软雅黑" panose="020B0503020204020204" pitchFamily="34" charset="-122"/>
                <a:cs typeface="微软雅黑" panose="020B0503020204020204" pitchFamily="34" charset="-122"/>
              </a:rPr>
              <a:t>f(n) = g(n) + h(n)</a:t>
            </a:r>
            <a:endParaRPr lang="en-US" sz="1600" dirty="0"/>
          </a:p>
        </p:txBody>
      </p:sp>
      <p:sp>
        <p:nvSpPr>
          <p:cNvPr id="16" name="Shape 14"/>
          <p:cNvSpPr/>
          <p:nvPr/>
        </p:nvSpPr>
        <p:spPr>
          <a:xfrm>
            <a:off x="392386" y="5491070"/>
            <a:ext cx="5402284" cy="1220879"/>
          </a:xfrm>
          <a:custGeom>
            <a:avLst/>
            <a:gdLst/>
            <a:ahLst/>
            <a:cxnLst/>
            <a:rect l="l" t="t" r="r" b="b"/>
            <a:pathLst>
              <a:path w="3624901" h="990308">
                <a:moveTo>
                  <a:pt x="37370" y="0"/>
                </a:moveTo>
                <a:lnTo>
                  <a:pt x="3512788" y="0"/>
                </a:lnTo>
                <a:cubicBezTo>
                  <a:pt x="3574707" y="0"/>
                  <a:pt x="3624901" y="50195"/>
                  <a:pt x="3624901" y="112113"/>
                </a:cubicBezTo>
                <a:lnTo>
                  <a:pt x="3624901" y="878195"/>
                </a:lnTo>
                <a:cubicBezTo>
                  <a:pt x="3624901" y="940113"/>
                  <a:pt x="3574707" y="990308"/>
                  <a:pt x="3512788" y="990308"/>
                </a:cubicBezTo>
                <a:lnTo>
                  <a:pt x="37370" y="990308"/>
                </a:lnTo>
                <a:cubicBezTo>
                  <a:pt x="16731" y="990308"/>
                  <a:pt x="0" y="973577"/>
                  <a:pt x="0" y="952938"/>
                </a:cubicBezTo>
                <a:lnTo>
                  <a:pt x="0" y="37370"/>
                </a:lnTo>
                <a:cubicBezTo>
                  <a:pt x="0" y="16745"/>
                  <a:pt x="16745" y="0"/>
                  <a:pt x="37370" y="0"/>
                </a:cubicBezTo>
                <a:close/>
              </a:path>
            </a:pathLst>
          </a:custGeom>
          <a:solidFill>
            <a:srgbClr val="5F87A7">
              <a:alpha val="10196"/>
            </a:srgbClr>
          </a:solidFill>
        </p:spPr>
      </p:sp>
      <p:sp>
        <p:nvSpPr>
          <p:cNvPr id="17" name="Shape 15"/>
          <p:cNvSpPr/>
          <p:nvPr/>
        </p:nvSpPr>
        <p:spPr>
          <a:xfrm>
            <a:off x="392386" y="5491070"/>
            <a:ext cx="37370" cy="1220879"/>
          </a:xfrm>
          <a:custGeom>
            <a:avLst/>
            <a:gdLst/>
            <a:ahLst/>
            <a:cxnLst/>
            <a:rect l="l" t="t" r="r" b="b"/>
            <a:pathLst>
              <a:path w="37370" h="990308">
                <a:moveTo>
                  <a:pt x="37370" y="0"/>
                </a:moveTo>
                <a:lnTo>
                  <a:pt x="37370" y="0"/>
                </a:lnTo>
                <a:lnTo>
                  <a:pt x="37370" y="990308"/>
                </a:lnTo>
                <a:lnTo>
                  <a:pt x="37370" y="990308"/>
                </a:lnTo>
                <a:cubicBezTo>
                  <a:pt x="16731" y="990308"/>
                  <a:pt x="0" y="973577"/>
                  <a:pt x="0" y="952938"/>
                </a:cubicBezTo>
                <a:lnTo>
                  <a:pt x="0" y="37370"/>
                </a:lnTo>
                <a:cubicBezTo>
                  <a:pt x="0" y="16745"/>
                  <a:pt x="16745" y="0"/>
                  <a:pt x="37370" y="0"/>
                </a:cubicBezTo>
                <a:close/>
              </a:path>
            </a:pathLst>
          </a:custGeom>
          <a:solidFill>
            <a:srgbClr val="E6B450"/>
          </a:solidFill>
        </p:spPr>
      </p:sp>
      <p:sp>
        <p:nvSpPr>
          <p:cNvPr id="18" name="Shape 16"/>
          <p:cNvSpPr/>
          <p:nvPr/>
        </p:nvSpPr>
        <p:spPr>
          <a:xfrm>
            <a:off x="621278" y="5715292"/>
            <a:ext cx="186851" cy="186851"/>
          </a:xfrm>
          <a:custGeom>
            <a:avLst/>
            <a:gdLst/>
            <a:ahLst/>
            <a:cxnLst/>
            <a:rect l="l" t="t" r="r" b="b"/>
            <a:pathLst>
              <a:path w="186851" h="186851">
                <a:moveTo>
                  <a:pt x="186851" y="35034"/>
                </a:moveTo>
                <a:cubicBezTo>
                  <a:pt x="186851" y="53355"/>
                  <a:pt x="165282" y="80689"/>
                  <a:pt x="155976" y="91601"/>
                </a:cubicBezTo>
                <a:cubicBezTo>
                  <a:pt x="154590" y="93206"/>
                  <a:pt x="152546" y="93827"/>
                  <a:pt x="150685" y="93425"/>
                </a:cubicBezTo>
                <a:lnTo>
                  <a:pt x="116782" y="93425"/>
                </a:lnTo>
                <a:cubicBezTo>
                  <a:pt x="110322" y="93425"/>
                  <a:pt x="105103" y="98644"/>
                  <a:pt x="105103" y="105103"/>
                </a:cubicBezTo>
                <a:cubicBezTo>
                  <a:pt x="105103" y="111563"/>
                  <a:pt x="110322" y="116782"/>
                  <a:pt x="116782" y="116782"/>
                </a:cubicBezTo>
                <a:lnTo>
                  <a:pt x="151816" y="116782"/>
                </a:lnTo>
                <a:cubicBezTo>
                  <a:pt x="171158" y="116782"/>
                  <a:pt x="186851" y="132474"/>
                  <a:pt x="186851" y="151816"/>
                </a:cubicBezTo>
                <a:cubicBezTo>
                  <a:pt x="186851" y="171158"/>
                  <a:pt x="171158" y="186851"/>
                  <a:pt x="151816" y="186851"/>
                </a:cubicBezTo>
                <a:lnTo>
                  <a:pt x="50946" y="186851"/>
                </a:lnTo>
                <a:cubicBezTo>
                  <a:pt x="54121" y="183238"/>
                  <a:pt x="57989" y="178603"/>
                  <a:pt x="61894" y="173421"/>
                </a:cubicBezTo>
                <a:cubicBezTo>
                  <a:pt x="64193" y="170355"/>
                  <a:pt x="66566" y="166998"/>
                  <a:pt x="68828" y="163494"/>
                </a:cubicBezTo>
                <a:lnTo>
                  <a:pt x="151816" y="163494"/>
                </a:lnTo>
                <a:cubicBezTo>
                  <a:pt x="158276" y="163494"/>
                  <a:pt x="163494" y="158276"/>
                  <a:pt x="163494" y="151816"/>
                </a:cubicBezTo>
                <a:cubicBezTo>
                  <a:pt x="163494" y="145357"/>
                  <a:pt x="158276" y="140138"/>
                  <a:pt x="151816" y="140138"/>
                </a:cubicBezTo>
                <a:lnTo>
                  <a:pt x="116782" y="140138"/>
                </a:lnTo>
                <a:cubicBezTo>
                  <a:pt x="97440" y="140138"/>
                  <a:pt x="81747" y="124445"/>
                  <a:pt x="81747" y="105103"/>
                </a:cubicBezTo>
                <a:cubicBezTo>
                  <a:pt x="81747" y="85761"/>
                  <a:pt x="97440" y="70069"/>
                  <a:pt x="116782" y="70069"/>
                </a:cubicBezTo>
                <a:lnTo>
                  <a:pt x="131306" y="70069"/>
                </a:lnTo>
                <a:cubicBezTo>
                  <a:pt x="123643" y="58573"/>
                  <a:pt x="116782" y="45362"/>
                  <a:pt x="116782" y="35034"/>
                </a:cubicBezTo>
                <a:cubicBezTo>
                  <a:pt x="116782" y="15693"/>
                  <a:pt x="132474" y="0"/>
                  <a:pt x="151816" y="0"/>
                </a:cubicBezTo>
                <a:cubicBezTo>
                  <a:pt x="171158" y="0"/>
                  <a:pt x="186851" y="15693"/>
                  <a:pt x="186851" y="35034"/>
                </a:cubicBezTo>
                <a:close/>
                <a:moveTo>
                  <a:pt x="42735" y="178493"/>
                </a:moveTo>
                <a:cubicBezTo>
                  <a:pt x="41348" y="180063"/>
                  <a:pt x="40107" y="181449"/>
                  <a:pt x="39049" y="182617"/>
                </a:cubicBezTo>
                <a:lnTo>
                  <a:pt x="38392" y="183347"/>
                </a:lnTo>
                <a:lnTo>
                  <a:pt x="38319" y="183274"/>
                </a:lnTo>
                <a:cubicBezTo>
                  <a:pt x="36129" y="184953"/>
                  <a:pt x="32991" y="184734"/>
                  <a:pt x="31020" y="182617"/>
                </a:cubicBezTo>
                <a:cubicBezTo>
                  <a:pt x="21824" y="172618"/>
                  <a:pt x="0" y="146889"/>
                  <a:pt x="0" y="128460"/>
                </a:cubicBezTo>
                <a:cubicBezTo>
                  <a:pt x="0" y="109118"/>
                  <a:pt x="15693" y="93425"/>
                  <a:pt x="35034" y="93425"/>
                </a:cubicBezTo>
                <a:cubicBezTo>
                  <a:pt x="54376" y="93425"/>
                  <a:pt x="70069" y="109118"/>
                  <a:pt x="70069" y="128460"/>
                </a:cubicBezTo>
                <a:cubicBezTo>
                  <a:pt x="70069" y="139408"/>
                  <a:pt x="62369" y="152911"/>
                  <a:pt x="54194" y="164188"/>
                </a:cubicBezTo>
                <a:cubicBezTo>
                  <a:pt x="50289" y="169552"/>
                  <a:pt x="46275" y="174406"/>
                  <a:pt x="42954" y="178238"/>
                </a:cubicBezTo>
                <a:lnTo>
                  <a:pt x="42735" y="178493"/>
                </a:lnTo>
                <a:close/>
                <a:moveTo>
                  <a:pt x="46713" y="128460"/>
                </a:moveTo>
                <a:cubicBezTo>
                  <a:pt x="46713" y="122014"/>
                  <a:pt x="41480" y="116782"/>
                  <a:pt x="35034" y="116782"/>
                </a:cubicBezTo>
                <a:cubicBezTo>
                  <a:pt x="28589" y="116782"/>
                  <a:pt x="23356" y="122014"/>
                  <a:pt x="23356" y="128460"/>
                </a:cubicBezTo>
                <a:cubicBezTo>
                  <a:pt x="23356" y="134905"/>
                  <a:pt x="28589" y="140138"/>
                  <a:pt x="35034" y="140138"/>
                </a:cubicBezTo>
                <a:cubicBezTo>
                  <a:pt x="41480" y="140138"/>
                  <a:pt x="46713" y="134905"/>
                  <a:pt x="46713" y="128460"/>
                </a:cubicBezTo>
                <a:close/>
                <a:moveTo>
                  <a:pt x="151816" y="46713"/>
                </a:moveTo>
                <a:cubicBezTo>
                  <a:pt x="158261" y="46713"/>
                  <a:pt x="163494" y="41480"/>
                  <a:pt x="163494" y="35034"/>
                </a:cubicBezTo>
                <a:cubicBezTo>
                  <a:pt x="163494" y="28589"/>
                  <a:pt x="158261" y="23356"/>
                  <a:pt x="151816" y="23356"/>
                </a:cubicBezTo>
                <a:cubicBezTo>
                  <a:pt x="145371" y="23356"/>
                  <a:pt x="140138" y="28589"/>
                  <a:pt x="140138" y="35034"/>
                </a:cubicBezTo>
                <a:cubicBezTo>
                  <a:pt x="140138" y="41480"/>
                  <a:pt x="145371" y="46713"/>
                  <a:pt x="151816" y="46713"/>
                </a:cubicBezTo>
                <a:close/>
              </a:path>
            </a:pathLst>
          </a:custGeom>
          <a:solidFill>
            <a:srgbClr val="E6B450"/>
          </a:solidFill>
        </p:spPr>
      </p:sp>
      <p:sp>
        <p:nvSpPr>
          <p:cNvPr id="19" name="Text 17"/>
          <p:cNvSpPr/>
          <p:nvPr/>
        </p:nvSpPr>
        <p:spPr>
          <a:xfrm>
            <a:off x="943594" y="5677922"/>
            <a:ext cx="1545605" cy="261591"/>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g(n) 实际代价</a:t>
            </a:r>
            <a:endParaRPr lang="en-US" sz="2000" dirty="0"/>
          </a:p>
        </p:txBody>
      </p:sp>
      <p:sp>
        <p:nvSpPr>
          <p:cNvPr id="20" name="Text 18"/>
          <p:cNvSpPr/>
          <p:nvPr/>
        </p:nvSpPr>
        <p:spPr>
          <a:xfrm>
            <a:off x="597922" y="6051622"/>
            <a:ext cx="4168811" cy="533327"/>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从</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起始节点</a:t>
            </a:r>
            <a:r>
              <a:rPr lang="en-US" sz="1600" dirty="0">
                <a:latin typeface="微软雅黑" panose="020B0503020204020204" pitchFamily="34" charset="-122"/>
                <a:ea typeface="微软雅黑" panose="020B0503020204020204" pitchFamily="34" charset="-122"/>
                <a:cs typeface="微软雅黑" panose="020B0503020204020204" pitchFamily="34" charset="-122"/>
              </a:rPr>
              <a:t>到当前节点的实际路径长度代价</a:t>
            </a:r>
            <a:endParaRPr lang="en-US" sz="2400" dirty="0"/>
          </a:p>
        </p:txBody>
      </p:sp>
      <p:sp>
        <p:nvSpPr>
          <p:cNvPr id="21" name="Shape 19"/>
          <p:cNvSpPr/>
          <p:nvPr/>
        </p:nvSpPr>
        <p:spPr>
          <a:xfrm>
            <a:off x="6078486" y="5491070"/>
            <a:ext cx="5402284" cy="1220879"/>
          </a:xfrm>
          <a:custGeom>
            <a:avLst/>
            <a:gdLst/>
            <a:ahLst/>
            <a:cxnLst/>
            <a:rect l="l" t="t" r="r" b="b"/>
            <a:pathLst>
              <a:path w="3624901" h="990308">
                <a:moveTo>
                  <a:pt x="37370" y="0"/>
                </a:moveTo>
                <a:lnTo>
                  <a:pt x="3512788" y="0"/>
                </a:lnTo>
                <a:cubicBezTo>
                  <a:pt x="3574707" y="0"/>
                  <a:pt x="3624901" y="50195"/>
                  <a:pt x="3624901" y="112113"/>
                </a:cubicBezTo>
                <a:lnTo>
                  <a:pt x="3624901" y="878195"/>
                </a:lnTo>
                <a:cubicBezTo>
                  <a:pt x="3624901" y="940113"/>
                  <a:pt x="3574707" y="990308"/>
                  <a:pt x="3512788" y="990308"/>
                </a:cubicBezTo>
                <a:lnTo>
                  <a:pt x="37370" y="990308"/>
                </a:lnTo>
                <a:cubicBezTo>
                  <a:pt x="16731" y="990308"/>
                  <a:pt x="0" y="973577"/>
                  <a:pt x="0" y="952938"/>
                </a:cubicBezTo>
                <a:lnTo>
                  <a:pt x="0" y="37370"/>
                </a:lnTo>
                <a:cubicBezTo>
                  <a:pt x="0" y="16745"/>
                  <a:pt x="16745" y="0"/>
                  <a:pt x="37370" y="0"/>
                </a:cubicBezTo>
                <a:close/>
              </a:path>
            </a:pathLst>
          </a:custGeom>
          <a:solidFill>
            <a:srgbClr val="5F87A7">
              <a:alpha val="10196"/>
            </a:srgbClr>
          </a:solidFill>
        </p:spPr>
      </p:sp>
      <p:sp>
        <p:nvSpPr>
          <p:cNvPr id="22" name="Shape 20"/>
          <p:cNvSpPr/>
          <p:nvPr/>
        </p:nvSpPr>
        <p:spPr>
          <a:xfrm>
            <a:off x="6078486" y="5491070"/>
            <a:ext cx="37370" cy="1220879"/>
          </a:xfrm>
          <a:custGeom>
            <a:avLst/>
            <a:gdLst/>
            <a:ahLst/>
            <a:cxnLst/>
            <a:rect l="l" t="t" r="r" b="b"/>
            <a:pathLst>
              <a:path w="37370" h="990308">
                <a:moveTo>
                  <a:pt x="37370" y="0"/>
                </a:moveTo>
                <a:lnTo>
                  <a:pt x="37370" y="0"/>
                </a:lnTo>
                <a:lnTo>
                  <a:pt x="37370" y="990308"/>
                </a:lnTo>
                <a:lnTo>
                  <a:pt x="37370" y="990308"/>
                </a:lnTo>
                <a:cubicBezTo>
                  <a:pt x="16731" y="990308"/>
                  <a:pt x="0" y="973577"/>
                  <a:pt x="0" y="952938"/>
                </a:cubicBezTo>
                <a:lnTo>
                  <a:pt x="0" y="37370"/>
                </a:lnTo>
                <a:cubicBezTo>
                  <a:pt x="0" y="16745"/>
                  <a:pt x="16745" y="0"/>
                  <a:pt x="37370" y="0"/>
                </a:cubicBezTo>
                <a:close/>
              </a:path>
            </a:pathLst>
          </a:custGeom>
          <a:solidFill>
            <a:srgbClr val="E6B450"/>
          </a:solidFill>
        </p:spPr>
      </p:sp>
      <p:sp>
        <p:nvSpPr>
          <p:cNvPr id="23" name="Shape 21"/>
          <p:cNvSpPr/>
          <p:nvPr/>
        </p:nvSpPr>
        <p:spPr>
          <a:xfrm>
            <a:off x="6330735" y="5715292"/>
            <a:ext cx="140138" cy="186851"/>
          </a:xfrm>
          <a:custGeom>
            <a:avLst/>
            <a:gdLst/>
            <a:ahLst/>
            <a:cxnLst/>
            <a:rect l="l" t="t" r="r" b="b"/>
            <a:pathLst>
              <a:path w="140138" h="186851">
                <a:moveTo>
                  <a:pt x="106892" y="140138"/>
                </a:moveTo>
                <a:cubicBezTo>
                  <a:pt x="109556" y="132000"/>
                  <a:pt x="114884" y="124628"/>
                  <a:pt x="120905" y="118278"/>
                </a:cubicBezTo>
                <a:cubicBezTo>
                  <a:pt x="132839" y="105724"/>
                  <a:pt x="140138" y="88754"/>
                  <a:pt x="140138" y="70069"/>
                </a:cubicBezTo>
                <a:cubicBezTo>
                  <a:pt x="140138" y="31385"/>
                  <a:pt x="108753" y="0"/>
                  <a:pt x="70069" y="0"/>
                </a:cubicBezTo>
                <a:cubicBezTo>
                  <a:pt x="31385" y="0"/>
                  <a:pt x="0" y="31385"/>
                  <a:pt x="0" y="70069"/>
                </a:cubicBezTo>
                <a:cubicBezTo>
                  <a:pt x="0" y="88754"/>
                  <a:pt x="7299" y="105724"/>
                  <a:pt x="19232" y="118278"/>
                </a:cubicBezTo>
                <a:cubicBezTo>
                  <a:pt x="25254" y="124628"/>
                  <a:pt x="30619" y="132000"/>
                  <a:pt x="33246" y="140138"/>
                </a:cubicBezTo>
                <a:lnTo>
                  <a:pt x="106855" y="140138"/>
                </a:lnTo>
                <a:close/>
                <a:moveTo>
                  <a:pt x="105103" y="157655"/>
                </a:moveTo>
                <a:lnTo>
                  <a:pt x="35034" y="157655"/>
                </a:lnTo>
                <a:lnTo>
                  <a:pt x="35034" y="163494"/>
                </a:lnTo>
                <a:cubicBezTo>
                  <a:pt x="35034" y="179625"/>
                  <a:pt x="48099" y="192690"/>
                  <a:pt x="64230" y="192690"/>
                </a:cubicBezTo>
                <a:lnTo>
                  <a:pt x="75908" y="192690"/>
                </a:lnTo>
                <a:cubicBezTo>
                  <a:pt x="92039" y="192690"/>
                  <a:pt x="105103" y="179625"/>
                  <a:pt x="105103" y="163494"/>
                </a:cubicBezTo>
                <a:lnTo>
                  <a:pt x="105103" y="157655"/>
                </a:lnTo>
                <a:close/>
                <a:moveTo>
                  <a:pt x="67149" y="40874"/>
                </a:moveTo>
                <a:cubicBezTo>
                  <a:pt x="52625" y="40874"/>
                  <a:pt x="40874" y="52625"/>
                  <a:pt x="40874" y="67149"/>
                </a:cubicBezTo>
                <a:cubicBezTo>
                  <a:pt x="40874" y="72003"/>
                  <a:pt x="36969" y="75908"/>
                  <a:pt x="32115" y="75908"/>
                </a:cubicBezTo>
                <a:cubicBezTo>
                  <a:pt x="27261" y="75908"/>
                  <a:pt x="23356" y="72003"/>
                  <a:pt x="23356" y="67149"/>
                </a:cubicBezTo>
                <a:cubicBezTo>
                  <a:pt x="23356" y="42954"/>
                  <a:pt x="42954" y="23356"/>
                  <a:pt x="67149" y="23356"/>
                </a:cubicBezTo>
                <a:cubicBezTo>
                  <a:pt x="72003" y="23356"/>
                  <a:pt x="75908" y="27261"/>
                  <a:pt x="75908" y="32115"/>
                </a:cubicBezTo>
                <a:cubicBezTo>
                  <a:pt x="75908" y="36969"/>
                  <a:pt x="72003" y="40874"/>
                  <a:pt x="67149" y="40874"/>
                </a:cubicBezTo>
                <a:close/>
              </a:path>
            </a:pathLst>
          </a:custGeom>
          <a:solidFill>
            <a:srgbClr val="E6B450"/>
          </a:solidFill>
        </p:spPr>
      </p:sp>
      <p:sp>
        <p:nvSpPr>
          <p:cNvPr id="24" name="Text 22"/>
          <p:cNvSpPr/>
          <p:nvPr/>
        </p:nvSpPr>
        <p:spPr>
          <a:xfrm>
            <a:off x="6629696" y="5677922"/>
            <a:ext cx="1606330" cy="261591"/>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h(n) 启发式函数</a:t>
            </a:r>
            <a:endParaRPr lang="en-US" sz="2000" dirty="0"/>
          </a:p>
        </p:txBody>
      </p:sp>
      <p:sp>
        <p:nvSpPr>
          <p:cNvPr id="25" name="Text 23"/>
          <p:cNvSpPr/>
          <p:nvPr/>
        </p:nvSpPr>
        <p:spPr>
          <a:xfrm>
            <a:off x="6284022" y="6051623"/>
            <a:ext cx="3307255" cy="242906"/>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当前节点到</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目标节点</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的预估代价</a:t>
            </a:r>
            <a:endParaRPr lang="en-US" sz="2400" dirty="0"/>
          </a:p>
        </p:txBody>
      </p:sp>
      <p:grpSp>
        <p:nvGrpSpPr>
          <p:cNvPr id="44" name="组合 43">
            <a:extLst>
              <a:ext uri="{FF2B5EF4-FFF2-40B4-BE49-F238E27FC236}">
                <a16:creationId xmlns:a16="http://schemas.microsoft.com/office/drawing/2014/main" id="{B587F327-A3DD-1988-DD84-34DC69128928}"/>
              </a:ext>
            </a:extLst>
          </p:cNvPr>
          <p:cNvGrpSpPr/>
          <p:nvPr/>
        </p:nvGrpSpPr>
        <p:grpSpPr>
          <a:xfrm>
            <a:off x="0" y="939798"/>
            <a:ext cx="5022850" cy="625474"/>
            <a:chOff x="0" y="1075267"/>
            <a:chExt cx="5022850" cy="625474"/>
          </a:xfrm>
        </p:grpSpPr>
        <p:sp>
          <p:nvSpPr>
            <p:cNvPr id="45" name="矩形 44">
              <a:extLst>
                <a:ext uri="{FF2B5EF4-FFF2-40B4-BE49-F238E27FC236}">
                  <a16:creationId xmlns:a16="http://schemas.microsoft.com/office/drawing/2014/main" id="{64A52AED-868F-D123-86D7-1AFB52DA2479}"/>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0E33481C-B021-A1A9-6C9E-1713C909444A}"/>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7.2.1 A*</a:t>
              </a:r>
              <a:r>
                <a:rPr lang="zh-CN" altLang="en-US" sz="2400" b="1" dirty="0">
                  <a:solidFill>
                    <a:schemeClr val="accent1"/>
                  </a:solidFill>
                  <a:latin typeface="+mj-lt"/>
                </a:rPr>
                <a:t>规划方法</a:t>
              </a:r>
            </a:p>
          </p:txBody>
        </p:sp>
      </p:grpSp>
    </p:spTree>
    <p:extLst>
      <p:ext uri="{BB962C8B-B14F-4D97-AF65-F5344CB8AC3E}">
        <p14:creationId xmlns:p14="http://schemas.microsoft.com/office/powerpoint/2010/main" val="92771696"/>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hape 24"/>
          <p:cNvSpPr/>
          <p:nvPr/>
        </p:nvSpPr>
        <p:spPr>
          <a:xfrm>
            <a:off x="859488" y="1705011"/>
            <a:ext cx="3708984" cy="5006938"/>
          </a:xfrm>
          <a:custGeom>
            <a:avLst/>
            <a:gdLst/>
            <a:ahLst/>
            <a:cxnLst/>
            <a:rect l="l" t="t" r="r" b="b"/>
            <a:pathLst>
              <a:path w="3708984" h="4456386">
                <a:moveTo>
                  <a:pt x="112123" y="0"/>
                </a:moveTo>
                <a:lnTo>
                  <a:pt x="3596861" y="0"/>
                </a:lnTo>
                <a:cubicBezTo>
                  <a:pt x="3658785" y="0"/>
                  <a:pt x="3708984" y="50199"/>
                  <a:pt x="3708984" y="112123"/>
                </a:cubicBezTo>
                <a:lnTo>
                  <a:pt x="3708984" y="4344264"/>
                </a:lnTo>
                <a:cubicBezTo>
                  <a:pt x="3708984" y="4406187"/>
                  <a:pt x="3658785" y="4456386"/>
                  <a:pt x="3596861" y="4456386"/>
                </a:cubicBezTo>
                <a:lnTo>
                  <a:pt x="112123" y="4456386"/>
                </a:lnTo>
                <a:cubicBezTo>
                  <a:pt x="50199" y="4456386"/>
                  <a:pt x="0" y="4406187"/>
                  <a:pt x="0" y="4344264"/>
                </a:cubicBezTo>
                <a:lnTo>
                  <a:pt x="0" y="112123"/>
                </a:lnTo>
                <a:cubicBezTo>
                  <a:pt x="0" y="50240"/>
                  <a:pt x="50240" y="0"/>
                  <a:pt x="112123" y="0"/>
                </a:cubicBezTo>
                <a:close/>
              </a:path>
            </a:pathLst>
          </a:custGeom>
          <a:solidFill>
            <a:srgbClr val="E6B450">
              <a:alpha val="10196"/>
            </a:srgbClr>
          </a:solidFill>
          <a:ln w="12700">
            <a:solidFill>
              <a:srgbClr val="E6B450">
                <a:alpha val="30196"/>
              </a:srgbClr>
            </a:solidFill>
            <a:prstDash val="solid"/>
          </a:ln>
        </p:spPr>
      </p:sp>
      <p:sp>
        <p:nvSpPr>
          <p:cNvPr id="27" name="Shape 25"/>
          <p:cNvSpPr/>
          <p:nvPr/>
        </p:nvSpPr>
        <p:spPr>
          <a:xfrm>
            <a:off x="1111737" y="1902569"/>
            <a:ext cx="186851" cy="209935"/>
          </a:xfrm>
          <a:custGeom>
            <a:avLst/>
            <a:gdLst/>
            <a:ahLst/>
            <a:cxnLst/>
            <a:rect l="l" t="t" r="r" b="b"/>
            <a:pathLst>
              <a:path w="186851" h="186851">
                <a:moveTo>
                  <a:pt x="17517" y="52552"/>
                </a:moveTo>
                <a:cubicBezTo>
                  <a:pt x="27185" y="52552"/>
                  <a:pt x="35034" y="44703"/>
                  <a:pt x="35034" y="35034"/>
                </a:cubicBezTo>
                <a:cubicBezTo>
                  <a:pt x="35034" y="25366"/>
                  <a:pt x="27185" y="17517"/>
                  <a:pt x="17517" y="17517"/>
                </a:cubicBezTo>
                <a:cubicBezTo>
                  <a:pt x="7849" y="17517"/>
                  <a:pt x="0" y="25366"/>
                  <a:pt x="0" y="35034"/>
                </a:cubicBezTo>
                <a:cubicBezTo>
                  <a:pt x="0" y="44703"/>
                  <a:pt x="7849" y="52552"/>
                  <a:pt x="17517" y="52552"/>
                </a:cubicBezTo>
                <a:close/>
                <a:moveTo>
                  <a:pt x="70069" y="23356"/>
                </a:moveTo>
                <a:cubicBezTo>
                  <a:pt x="63609" y="23356"/>
                  <a:pt x="58391" y="28575"/>
                  <a:pt x="58391" y="35034"/>
                </a:cubicBezTo>
                <a:cubicBezTo>
                  <a:pt x="58391" y="41494"/>
                  <a:pt x="63609" y="46713"/>
                  <a:pt x="70069" y="46713"/>
                </a:cubicBezTo>
                <a:lnTo>
                  <a:pt x="175172" y="46713"/>
                </a:lnTo>
                <a:cubicBezTo>
                  <a:pt x="181632" y="46713"/>
                  <a:pt x="186851" y="41494"/>
                  <a:pt x="186851" y="35034"/>
                </a:cubicBezTo>
                <a:cubicBezTo>
                  <a:pt x="186851" y="28575"/>
                  <a:pt x="181632" y="23356"/>
                  <a:pt x="175172" y="23356"/>
                </a:cubicBezTo>
                <a:lnTo>
                  <a:pt x="70069" y="23356"/>
                </a:lnTo>
                <a:close/>
                <a:moveTo>
                  <a:pt x="70069" y="81747"/>
                </a:moveTo>
                <a:cubicBezTo>
                  <a:pt x="63609" y="81747"/>
                  <a:pt x="58391" y="86966"/>
                  <a:pt x="58391" y="93425"/>
                </a:cubicBezTo>
                <a:cubicBezTo>
                  <a:pt x="58391" y="99885"/>
                  <a:pt x="63609" y="105103"/>
                  <a:pt x="70069" y="105103"/>
                </a:cubicBezTo>
                <a:lnTo>
                  <a:pt x="175172" y="105103"/>
                </a:lnTo>
                <a:cubicBezTo>
                  <a:pt x="181632" y="105103"/>
                  <a:pt x="186851" y="99885"/>
                  <a:pt x="186851" y="93425"/>
                </a:cubicBezTo>
                <a:cubicBezTo>
                  <a:pt x="186851" y="86966"/>
                  <a:pt x="181632" y="81747"/>
                  <a:pt x="175172" y="81747"/>
                </a:cubicBezTo>
                <a:lnTo>
                  <a:pt x="70069" y="81747"/>
                </a:lnTo>
                <a:close/>
                <a:moveTo>
                  <a:pt x="70069" y="140138"/>
                </a:moveTo>
                <a:cubicBezTo>
                  <a:pt x="63609" y="140138"/>
                  <a:pt x="58391" y="145357"/>
                  <a:pt x="58391" y="151816"/>
                </a:cubicBezTo>
                <a:cubicBezTo>
                  <a:pt x="58391" y="158276"/>
                  <a:pt x="63609" y="163494"/>
                  <a:pt x="70069" y="163494"/>
                </a:cubicBezTo>
                <a:lnTo>
                  <a:pt x="175172" y="163494"/>
                </a:lnTo>
                <a:cubicBezTo>
                  <a:pt x="181632" y="163494"/>
                  <a:pt x="186851" y="158276"/>
                  <a:pt x="186851" y="151816"/>
                </a:cubicBezTo>
                <a:cubicBezTo>
                  <a:pt x="186851" y="145357"/>
                  <a:pt x="181632" y="140138"/>
                  <a:pt x="175172" y="140138"/>
                </a:cubicBezTo>
                <a:lnTo>
                  <a:pt x="70069" y="140138"/>
                </a:lnTo>
                <a:close/>
                <a:moveTo>
                  <a:pt x="17517" y="169333"/>
                </a:moveTo>
                <a:cubicBezTo>
                  <a:pt x="27185" y="169333"/>
                  <a:pt x="35034" y="161484"/>
                  <a:pt x="35034" y="151816"/>
                </a:cubicBezTo>
                <a:cubicBezTo>
                  <a:pt x="35034" y="142148"/>
                  <a:pt x="27185" y="134299"/>
                  <a:pt x="17517" y="134299"/>
                </a:cubicBezTo>
                <a:cubicBezTo>
                  <a:pt x="7849" y="134299"/>
                  <a:pt x="0" y="142148"/>
                  <a:pt x="0" y="151816"/>
                </a:cubicBezTo>
                <a:cubicBezTo>
                  <a:pt x="0" y="161484"/>
                  <a:pt x="7849" y="169333"/>
                  <a:pt x="17517" y="169333"/>
                </a:cubicBezTo>
                <a:close/>
                <a:moveTo>
                  <a:pt x="35034" y="93425"/>
                </a:moveTo>
                <a:cubicBezTo>
                  <a:pt x="35034" y="83757"/>
                  <a:pt x="27185" y="75908"/>
                  <a:pt x="17517" y="75908"/>
                </a:cubicBezTo>
                <a:cubicBezTo>
                  <a:pt x="7849" y="75908"/>
                  <a:pt x="0" y="83757"/>
                  <a:pt x="0" y="93425"/>
                </a:cubicBezTo>
                <a:cubicBezTo>
                  <a:pt x="0" y="103093"/>
                  <a:pt x="7849" y="110943"/>
                  <a:pt x="17517" y="110943"/>
                </a:cubicBezTo>
                <a:cubicBezTo>
                  <a:pt x="27185" y="110943"/>
                  <a:pt x="35034" y="103093"/>
                  <a:pt x="35034" y="93425"/>
                </a:cubicBezTo>
                <a:close/>
              </a:path>
            </a:pathLst>
          </a:custGeom>
          <a:solidFill>
            <a:srgbClr val="E6B450"/>
          </a:solidFill>
        </p:spPr>
      </p:sp>
      <p:sp>
        <p:nvSpPr>
          <p:cNvPr id="28" name="Text 26"/>
          <p:cNvSpPr/>
          <p:nvPr/>
        </p:nvSpPr>
        <p:spPr>
          <a:xfrm>
            <a:off x="1321943" y="1860581"/>
            <a:ext cx="3111062" cy="293909"/>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常用启发式函数</a:t>
            </a:r>
            <a:endParaRPr lang="en-US" dirty="0"/>
          </a:p>
        </p:txBody>
      </p:sp>
      <p:sp>
        <p:nvSpPr>
          <p:cNvPr id="29" name="Shape 27"/>
          <p:cNvSpPr/>
          <p:nvPr/>
        </p:nvSpPr>
        <p:spPr>
          <a:xfrm>
            <a:off x="1088380" y="2466024"/>
            <a:ext cx="3251200" cy="1217620"/>
          </a:xfrm>
          <a:custGeom>
            <a:avLst/>
            <a:gdLst/>
            <a:ahLst/>
            <a:cxnLst/>
            <a:rect l="l" t="t" r="r" b="b"/>
            <a:pathLst>
              <a:path w="3251200" h="1083733">
                <a:moveTo>
                  <a:pt x="74745" y="0"/>
                </a:moveTo>
                <a:lnTo>
                  <a:pt x="3176455" y="0"/>
                </a:lnTo>
                <a:cubicBezTo>
                  <a:pt x="3217735" y="0"/>
                  <a:pt x="3251200" y="33465"/>
                  <a:pt x="3251200" y="74745"/>
                </a:cubicBezTo>
                <a:lnTo>
                  <a:pt x="3251200" y="1008988"/>
                </a:lnTo>
                <a:cubicBezTo>
                  <a:pt x="3251200" y="1050269"/>
                  <a:pt x="3217735" y="1083733"/>
                  <a:pt x="3176455" y="1083733"/>
                </a:cubicBezTo>
                <a:lnTo>
                  <a:pt x="74745" y="1083733"/>
                </a:lnTo>
                <a:cubicBezTo>
                  <a:pt x="33465" y="1083733"/>
                  <a:pt x="0" y="1050269"/>
                  <a:pt x="0" y="1008988"/>
                </a:cubicBezTo>
                <a:lnTo>
                  <a:pt x="0" y="74745"/>
                </a:lnTo>
                <a:cubicBezTo>
                  <a:pt x="0" y="33492"/>
                  <a:pt x="33492" y="0"/>
                  <a:pt x="74745" y="0"/>
                </a:cubicBezTo>
                <a:close/>
              </a:path>
            </a:pathLst>
          </a:custGeom>
          <a:solidFill>
            <a:srgbClr val="5F87A7">
              <a:alpha val="20000"/>
            </a:srgbClr>
          </a:solidFill>
        </p:spPr>
      </p:sp>
      <p:sp>
        <p:nvSpPr>
          <p:cNvPr id="30" name="Shape 28"/>
          <p:cNvSpPr/>
          <p:nvPr/>
        </p:nvSpPr>
        <p:spPr>
          <a:xfrm>
            <a:off x="1265888" y="2550902"/>
            <a:ext cx="130795" cy="167947"/>
          </a:xfrm>
          <a:custGeom>
            <a:avLst/>
            <a:gdLst/>
            <a:ahLst/>
            <a:cxnLst/>
            <a:rect l="l" t="t" r="r" b="b"/>
            <a:pathLst>
              <a:path w="130795" h="149480">
                <a:moveTo>
                  <a:pt x="74740" y="18685"/>
                </a:moveTo>
                <a:cubicBezTo>
                  <a:pt x="74740" y="13517"/>
                  <a:pt x="70565" y="9343"/>
                  <a:pt x="65398" y="9343"/>
                </a:cubicBezTo>
                <a:cubicBezTo>
                  <a:pt x="60230" y="9343"/>
                  <a:pt x="56055" y="13517"/>
                  <a:pt x="56055" y="18685"/>
                </a:cubicBezTo>
                <a:lnTo>
                  <a:pt x="56055" y="65398"/>
                </a:lnTo>
                <a:lnTo>
                  <a:pt x="9343" y="65398"/>
                </a:lnTo>
                <a:cubicBezTo>
                  <a:pt x="4175" y="65398"/>
                  <a:pt x="0" y="69573"/>
                  <a:pt x="0" y="74740"/>
                </a:cubicBezTo>
                <a:cubicBezTo>
                  <a:pt x="0" y="79908"/>
                  <a:pt x="4175" y="84083"/>
                  <a:pt x="9343" y="84083"/>
                </a:cubicBezTo>
                <a:lnTo>
                  <a:pt x="56055" y="84083"/>
                </a:lnTo>
                <a:lnTo>
                  <a:pt x="56055" y="130795"/>
                </a:lnTo>
                <a:cubicBezTo>
                  <a:pt x="56055" y="135963"/>
                  <a:pt x="60230" y="140138"/>
                  <a:pt x="65398" y="140138"/>
                </a:cubicBezTo>
                <a:cubicBezTo>
                  <a:pt x="70565" y="140138"/>
                  <a:pt x="74740" y="135963"/>
                  <a:pt x="74740" y="130795"/>
                </a:cubicBezTo>
                <a:lnTo>
                  <a:pt x="74740" y="84083"/>
                </a:lnTo>
                <a:lnTo>
                  <a:pt x="121453" y="84083"/>
                </a:lnTo>
                <a:cubicBezTo>
                  <a:pt x="126620" y="84083"/>
                  <a:pt x="130795" y="79908"/>
                  <a:pt x="130795" y="74740"/>
                </a:cubicBezTo>
                <a:cubicBezTo>
                  <a:pt x="130795" y="69573"/>
                  <a:pt x="126620" y="65398"/>
                  <a:pt x="121453" y="65398"/>
                </a:cubicBezTo>
                <a:lnTo>
                  <a:pt x="74740" y="65398"/>
                </a:lnTo>
                <a:lnTo>
                  <a:pt x="74740" y="18685"/>
                </a:lnTo>
                <a:close/>
              </a:path>
            </a:pathLst>
          </a:custGeom>
          <a:solidFill>
            <a:srgbClr val="E6B450"/>
          </a:solidFill>
        </p:spPr>
      </p:sp>
      <p:sp>
        <p:nvSpPr>
          <p:cNvPr id="31" name="Text 29"/>
          <p:cNvSpPr/>
          <p:nvPr/>
        </p:nvSpPr>
        <p:spPr>
          <a:xfrm>
            <a:off x="1536821" y="2487921"/>
            <a:ext cx="1261387" cy="293909"/>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曼哈顿距离</a:t>
            </a:r>
            <a:endParaRPr lang="en-US" sz="1600" dirty="0"/>
          </a:p>
        </p:txBody>
      </p:sp>
      <p:sp>
        <p:nvSpPr>
          <p:cNvPr id="33" name="Text 31"/>
          <p:cNvSpPr/>
          <p:nvPr/>
        </p:nvSpPr>
        <p:spPr>
          <a:xfrm>
            <a:off x="1237861" y="3362838"/>
            <a:ext cx="3017637" cy="209935"/>
          </a:xfrm>
          <a:prstGeom prst="rect">
            <a:avLst/>
          </a:prstGeom>
          <a:noFill/>
        </p:spPr>
        <p:txBody>
          <a:bodyPr wrap="square" lIns="0" tIns="0" rIns="0" bIns="0" rtlCol="0" anchor="ctr"/>
          <a:lstStyle/>
          <a:p>
            <a:pPr>
              <a:lnSpc>
                <a:spcPct val="12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网格地图，四方向移动</a:t>
            </a:r>
            <a:endParaRPr lang="en-US" sz="1600" dirty="0"/>
          </a:p>
        </p:txBody>
      </p:sp>
      <p:sp>
        <p:nvSpPr>
          <p:cNvPr id="34" name="Shape 32"/>
          <p:cNvSpPr/>
          <p:nvPr/>
        </p:nvSpPr>
        <p:spPr>
          <a:xfrm>
            <a:off x="1088380" y="3851592"/>
            <a:ext cx="3251200" cy="1217620"/>
          </a:xfrm>
          <a:custGeom>
            <a:avLst/>
            <a:gdLst/>
            <a:ahLst/>
            <a:cxnLst/>
            <a:rect l="l" t="t" r="r" b="b"/>
            <a:pathLst>
              <a:path w="3251200" h="1083733">
                <a:moveTo>
                  <a:pt x="74745" y="0"/>
                </a:moveTo>
                <a:lnTo>
                  <a:pt x="3176455" y="0"/>
                </a:lnTo>
                <a:cubicBezTo>
                  <a:pt x="3217735" y="0"/>
                  <a:pt x="3251200" y="33465"/>
                  <a:pt x="3251200" y="74745"/>
                </a:cubicBezTo>
                <a:lnTo>
                  <a:pt x="3251200" y="1008988"/>
                </a:lnTo>
                <a:cubicBezTo>
                  <a:pt x="3251200" y="1050269"/>
                  <a:pt x="3217735" y="1083733"/>
                  <a:pt x="3176455" y="1083733"/>
                </a:cubicBezTo>
                <a:lnTo>
                  <a:pt x="74745" y="1083733"/>
                </a:lnTo>
                <a:cubicBezTo>
                  <a:pt x="33465" y="1083733"/>
                  <a:pt x="0" y="1050269"/>
                  <a:pt x="0" y="1008988"/>
                </a:cubicBezTo>
                <a:lnTo>
                  <a:pt x="0" y="74745"/>
                </a:lnTo>
                <a:cubicBezTo>
                  <a:pt x="0" y="33492"/>
                  <a:pt x="33492" y="0"/>
                  <a:pt x="74745" y="0"/>
                </a:cubicBezTo>
                <a:close/>
              </a:path>
            </a:pathLst>
          </a:custGeom>
          <a:solidFill>
            <a:srgbClr val="5F87A7">
              <a:alpha val="20000"/>
            </a:srgbClr>
          </a:solidFill>
        </p:spPr>
      </p:sp>
      <p:sp>
        <p:nvSpPr>
          <p:cNvPr id="35" name="Shape 33"/>
          <p:cNvSpPr/>
          <p:nvPr/>
        </p:nvSpPr>
        <p:spPr>
          <a:xfrm>
            <a:off x="1256546" y="3936470"/>
            <a:ext cx="149480" cy="167947"/>
          </a:xfrm>
          <a:custGeom>
            <a:avLst/>
            <a:gdLst/>
            <a:ahLst/>
            <a:cxnLst/>
            <a:rect l="l" t="t" r="r" b="b"/>
            <a:pathLst>
              <a:path w="149480" h="149480">
                <a:moveTo>
                  <a:pt x="0" y="74740"/>
                </a:moveTo>
                <a:cubicBezTo>
                  <a:pt x="0" y="33490"/>
                  <a:pt x="33490" y="0"/>
                  <a:pt x="74740" y="0"/>
                </a:cubicBezTo>
                <a:cubicBezTo>
                  <a:pt x="115990" y="0"/>
                  <a:pt x="149480" y="33490"/>
                  <a:pt x="149480" y="74740"/>
                </a:cubicBezTo>
                <a:cubicBezTo>
                  <a:pt x="149480" y="115990"/>
                  <a:pt x="115990" y="149480"/>
                  <a:pt x="74740" y="149480"/>
                </a:cubicBezTo>
                <a:cubicBezTo>
                  <a:pt x="33490" y="149480"/>
                  <a:pt x="0" y="115990"/>
                  <a:pt x="0" y="74740"/>
                </a:cubicBezTo>
                <a:close/>
              </a:path>
            </a:pathLst>
          </a:custGeom>
          <a:solidFill>
            <a:srgbClr val="E6B450"/>
          </a:solidFill>
        </p:spPr>
      </p:sp>
      <p:sp>
        <p:nvSpPr>
          <p:cNvPr id="36" name="Text 34"/>
          <p:cNvSpPr/>
          <p:nvPr/>
        </p:nvSpPr>
        <p:spPr>
          <a:xfrm>
            <a:off x="1536821" y="3873490"/>
            <a:ext cx="1415393" cy="293909"/>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欧几里得距离</a:t>
            </a:r>
            <a:endParaRPr lang="en-US" sz="1600" dirty="0"/>
          </a:p>
        </p:txBody>
      </p:sp>
      <p:sp>
        <p:nvSpPr>
          <p:cNvPr id="38" name="Text 36"/>
          <p:cNvSpPr/>
          <p:nvPr/>
        </p:nvSpPr>
        <p:spPr>
          <a:xfrm>
            <a:off x="1237861" y="4748406"/>
            <a:ext cx="3017637" cy="209935"/>
          </a:xfrm>
          <a:prstGeom prst="rect">
            <a:avLst/>
          </a:prstGeom>
          <a:noFill/>
        </p:spPr>
        <p:txBody>
          <a:bodyPr wrap="square" lIns="0" tIns="0" rIns="0" bIns="0" rtlCol="0" anchor="ctr"/>
          <a:lstStyle/>
          <a:p>
            <a:pPr>
              <a:lnSpc>
                <a:spcPct val="12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连续空间，直线距离</a:t>
            </a:r>
            <a:endParaRPr lang="en-US" sz="1600" dirty="0"/>
          </a:p>
        </p:txBody>
      </p:sp>
      <p:sp>
        <p:nvSpPr>
          <p:cNvPr id="39" name="Shape 37"/>
          <p:cNvSpPr/>
          <p:nvPr/>
        </p:nvSpPr>
        <p:spPr>
          <a:xfrm>
            <a:off x="1088380" y="5237159"/>
            <a:ext cx="3251200" cy="1217620"/>
          </a:xfrm>
          <a:custGeom>
            <a:avLst/>
            <a:gdLst/>
            <a:ahLst/>
            <a:cxnLst/>
            <a:rect l="l" t="t" r="r" b="b"/>
            <a:pathLst>
              <a:path w="3251200" h="1083733">
                <a:moveTo>
                  <a:pt x="74745" y="0"/>
                </a:moveTo>
                <a:lnTo>
                  <a:pt x="3176455" y="0"/>
                </a:lnTo>
                <a:cubicBezTo>
                  <a:pt x="3217735" y="0"/>
                  <a:pt x="3251200" y="33465"/>
                  <a:pt x="3251200" y="74745"/>
                </a:cubicBezTo>
                <a:lnTo>
                  <a:pt x="3251200" y="1008988"/>
                </a:lnTo>
                <a:cubicBezTo>
                  <a:pt x="3251200" y="1050269"/>
                  <a:pt x="3217735" y="1083733"/>
                  <a:pt x="3176455" y="1083733"/>
                </a:cubicBezTo>
                <a:lnTo>
                  <a:pt x="74745" y="1083733"/>
                </a:lnTo>
                <a:cubicBezTo>
                  <a:pt x="33465" y="1083733"/>
                  <a:pt x="0" y="1050269"/>
                  <a:pt x="0" y="1008988"/>
                </a:cubicBezTo>
                <a:lnTo>
                  <a:pt x="0" y="74745"/>
                </a:lnTo>
                <a:cubicBezTo>
                  <a:pt x="0" y="33492"/>
                  <a:pt x="33492" y="0"/>
                  <a:pt x="74745" y="0"/>
                </a:cubicBezTo>
                <a:close/>
              </a:path>
            </a:pathLst>
          </a:custGeom>
          <a:solidFill>
            <a:srgbClr val="5F87A7">
              <a:alpha val="20000"/>
            </a:srgbClr>
          </a:solidFill>
        </p:spPr>
      </p:sp>
      <p:sp>
        <p:nvSpPr>
          <p:cNvPr id="40" name="Shape 38"/>
          <p:cNvSpPr/>
          <p:nvPr/>
        </p:nvSpPr>
        <p:spPr>
          <a:xfrm>
            <a:off x="1265888" y="5347438"/>
            <a:ext cx="130795" cy="167947"/>
          </a:xfrm>
          <a:custGeom>
            <a:avLst/>
            <a:gdLst/>
            <a:ahLst/>
            <a:cxnLst/>
            <a:rect l="l" t="t" r="r" b="b"/>
            <a:pathLst>
              <a:path w="130795" h="149480">
                <a:moveTo>
                  <a:pt x="18685" y="9343"/>
                </a:moveTo>
                <a:lnTo>
                  <a:pt x="112110" y="9343"/>
                </a:lnTo>
                <a:cubicBezTo>
                  <a:pt x="122416" y="9343"/>
                  <a:pt x="130795" y="17722"/>
                  <a:pt x="130795" y="28028"/>
                </a:cubicBezTo>
                <a:lnTo>
                  <a:pt x="130795" y="121453"/>
                </a:lnTo>
                <a:cubicBezTo>
                  <a:pt x="130795" y="131759"/>
                  <a:pt x="122416" y="140138"/>
                  <a:pt x="112110" y="140138"/>
                </a:cubicBezTo>
                <a:lnTo>
                  <a:pt x="18685" y="140138"/>
                </a:lnTo>
                <a:cubicBezTo>
                  <a:pt x="8379" y="140138"/>
                  <a:pt x="0" y="131759"/>
                  <a:pt x="0" y="121453"/>
                </a:cubicBezTo>
                <a:lnTo>
                  <a:pt x="0" y="28028"/>
                </a:lnTo>
                <a:cubicBezTo>
                  <a:pt x="0" y="17722"/>
                  <a:pt x="8379" y="9343"/>
                  <a:pt x="18685" y="9343"/>
                </a:cubicBezTo>
                <a:close/>
              </a:path>
            </a:pathLst>
          </a:custGeom>
          <a:solidFill>
            <a:srgbClr val="E6B450"/>
          </a:solidFill>
        </p:spPr>
      </p:sp>
      <p:sp>
        <p:nvSpPr>
          <p:cNvPr id="41" name="Text 39"/>
          <p:cNvSpPr/>
          <p:nvPr/>
        </p:nvSpPr>
        <p:spPr>
          <a:xfrm>
            <a:off x="1536821" y="5284458"/>
            <a:ext cx="1578887" cy="293909"/>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切比雪夫距离</a:t>
            </a:r>
            <a:endParaRPr lang="en-US" sz="1600" dirty="0"/>
          </a:p>
        </p:txBody>
      </p:sp>
      <p:sp>
        <p:nvSpPr>
          <p:cNvPr id="43" name="Text 41"/>
          <p:cNvSpPr/>
          <p:nvPr/>
        </p:nvSpPr>
        <p:spPr>
          <a:xfrm>
            <a:off x="1237861" y="6133974"/>
            <a:ext cx="3017637" cy="209935"/>
          </a:xfrm>
          <a:prstGeom prst="rect">
            <a:avLst/>
          </a:prstGeom>
          <a:noFill/>
        </p:spPr>
        <p:txBody>
          <a:bodyPr wrap="square" lIns="0" tIns="0" rIns="0" bIns="0" rtlCol="0" anchor="ctr"/>
          <a:lstStyle/>
          <a:p>
            <a:pPr>
              <a:lnSpc>
                <a:spcPct val="12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八方向移动</a:t>
            </a:r>
            <a:endParaRPr lang="en-US" sz="1600" dirty="0"/>
          </a:p>
        </p:txBody>
      </p:sp>
      <p:grpSp>
        <p:nvGrpSpPr>
          <p:cNvPr id="44" name="组合 43">
            <a:extLst>
              <a:ext uri="{FF2B5EF4-FFF2-40B4-BE49-F238E27FC236}">
                <a16:creationId xmlns:a16="http://schemas.microsoft.com/office/drawing/2014/main" id="{B587F327-A3DD-1988-DD84-34DC69128928}"/>
              </a:ext>
            </a:extLst>
          </p:cNvPr>
          <p:cNvGrpSpPr/>
          <p:nvPr/>
        </p:nvGrpSpPr>
        <p:grpSpPr>
          <a:xfrm>
            <a:off x="0" y="939798"/>
            <a:ext cx="5022850" cy="625474"/>
            <a:chOff x="0" y="1075267"/>
            <a:chExt cx="5022850" cy="625474"/>
          </a:xfrm>
        </p:grpSpPr>
        <p:sp>
          <p:nvSpPr>
            <p:cNvPr id="45" name="矩形 44">
              <a:extLst>
                <a:ext uri="{FF2B5EF4-FFF2-40B4-BE49-F238E27FC236}">
                  <a16:creationId xmlns:a16="http://schemas.microsoft.com/office/drawing/2014/main" id="{64A52AED-868F-D123-86D7-1AFB52DA2479}"/>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0E33481C-B021-A1A9-6C9E-1713C909444A}"/>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7.2.1 A*</a:t>
              </a:r>
              <a:r>
                <a:rPr lang="zh-CN" altLang="en-US" sz="2400" b="1" dirty="0">
                  <a:solidFill>
                    <a:schemeClr val="accent1"/>
                  </a:solidFill>
                  <a:latin typeface="+mj-lt"/>
                </a:rPr>
                <a:t>规划方法</a:t>
              </a:r>
            </a:p>
          </p:txBody>
        </p:sp>
      </p:grpSp>
      <p:graphicFrame>
        <p:nvGraphicFramePr>
          <p:cNvPr id="48" name="对象 47">
            <a:extLst>
              <a:ext uri="{FF2B5EF4-FFF2-40B4-BE49-F238E27FC236}">
                <a16:creationId xmlns:a16="http://schemas.microsoft.com/office/drawing/2014/main" id="{B2F622CC-5C59-7680-EC0F-7B9B1006AF4A}"/>
              </a:ext>
            </a:extLst>
          </p:cNvPr>
          <p:cNvGraphicFramePr>
            <a:graphicFrameLocks noChangeAspect="1"/>
          </p:cNvGraphicFramePr>
          <p:nvPr>
            <p:extLst>
              <p:ext uri="{D42A27DB-BD31-4B8C-83A1-F6EECF244321}">
                <p14:modId xmlns:p14="http://schemas.microsoft.com/office/powerpoint/2010/main" val="3546624148"/>
              </p:ext>
            </p:extLst>
          </p:nvPr>
        </p:nvGraphicFramePr>
        <p:xfrm>
          <a:off x="1471719" y="2845311"/>
          <a:ext cx="1988205" cy="397641"/>
        </p:xfrm>
        <a:graphic>
          <a:graphicData uri="http://schemas.openxmlformats.org/presentationml/2006/ole">
            <mc:AlternateContent xmlns:mc="http://schemas.openxmlformats.org/markup-compatibility/2006">
              <mc:Choice xmlns:v="urn:schemas-microsoft-com:vml" Requires="v">
                <p:oleObj name="Equation" r:id="rId3" imgW="1269720" imgH="253800" progId="Equation.DSMT4">
                  <p:embed/>
                </p:oleObj>
              </mc:Choice>
              <mc:Fallback>
                <p:oleObj name="Equation" r:id="rId3" imgW="1269720" imgH="253800" progId="Equation.DSMT4">
                  <p:embed/>
                  <p:pic>
                    <p:nvPicPr>
                      <p:cNvPr id="48" name="对象 47">
                        <a:extLst>
                          <a:ext uri="{FF2B5EF4-FFF2-40B4-BE49-F238E27FC236}">
                            <a16:creationId xmlns:a16="http://schemas.microsoft.com/office/drawing/2014/main" id="{B2F622CC-5C59-7680-EC0F-7B9B1006AF4A}"/>
                          </a:ext>
                        </a:extLst>
                      </p:cNvPr>
                      <p:cNvPicPr/>
                      <p:nvPr/>
                    </p:nvPicPr>
                    <p:blipFill>
                      <a:blip r:embed="rId4"/>
                      <a:stretch>
                        <a:fillRect/>
                      </a:stretch>
                    </p:blipFill>
                    <p:spPr>
                      <a:xfrm>
                        <a:off x="1471719" y="2845311"/>
                        <a:ext cx="1988205" cy="397641"/>
                      </a:xfrm>
                      <a:prstGeom prst="rect">
                        <a:avLst/>
                      </a:prstGeom>
                    </p:spPr>
                  </p:pic>
                </p:oleObj>
              </mc:Fallback>
            </mc:AlternateContent>
          </a:graphicData>
        </a:graphic>
      </p:graphicFrame>
      <p:graphicFrame>
        <p:nvGraphicFramePr>
          <p:cNvPr id="49" name="对象 48">
            <a:extLst>
              <a:ext uri="{FF2B5EF4-FFF2-40B4-BE49-F238E27FC236}">
                <a16:creationId xmlns:a16="http://schemas.microsoft.com/office/drawing/2014/main" id="{26EE42AF-D7A8-E130-09BE-76D7D527F9E6}"/>
              </a:ext>
            </a:extLst>
          </p:cNvPr>
          <p:cNvGraphicFramePr>
            <a:graphicFrameLocks noChangeAspect="1"/>
          </p:cNvGraphicFramePr>
          <p:nvPr>
            <p:extLst>
              <p:ext uri="{D42A27DB-BD31-4B8C-83A1-F6EECF244321}">
                <p14:modId xmlns:p14="http://schemas.microsoft.com/office/powerpoint/2010/main" val="844052857"/>
              </p:ext>
            </p:extLst>
          </p:nvPr>
        </p:nvGraphicFramePr>
        <p:xfrm>
          <a:off x="1591708" y="4210926"/>
          <a:ext cx="2182920" cy="472966"/>
        </p:xfrm>
        <a:graphic>
          <a:graphicData uri="http://schemas.openxmlformats.org/presentationml/2006/ole">
            <mc:AlternateContent xmlns:mc="http://schemas.openxmlformats.org/markup-compatibility/2006">
              <mc:Choice xmlns:v="urn:schemas-microsoft-com:vml" Requires="v">
                <p:oleObj name="Equation" r:id="rId5" imgW="1523880" imgH="330120" progId="Equation.DSMT4">
                  <p:embed/>
                </p:oleObj>
              </mc:Choice>
              <mc:Fallback>
                <p:oleObj name="Equation" r:id="rId5" imgW="1523880" imgH="330120" progId="Equation.DSMT4">
                  <p:embed/>
                  <p:pic>
                    <p:nvPicPr>
                      <p:cNvPr id="49" name="对象 48">
                        <a:extLst>
                          <a:ext uri="{FF2B5EF4-FFF2-40B4-BE49-F238E27FC236}">
                            <a16:creationId xmlns:a16="http://schemas.microsoft.com/office/drawing/2014/main" id="{26EE42AF-D7A8-E130-09BE-76D7D527F9E6}"/>
                          </a:ext>
                        </a:extLst>
                      </p:cNvPr>
                      <p:cNvPicPr/>
                      <p:nvPr/>
                    </p:nvPicPr>
                    <p:blipFill>
                      <a:blip r:embed="rId6"/>
                      <a:stretch>
                        <a:fillRect/>
                      </a:stretch>
                    </p:blipFill>
                    <p:spPr>
                      <a:xfrm>
                        <a:off x="1591708" y="4210926"/>
                        <a:ext cx="2182920" cy="472966"/>
                      </a:xfrm>
                      <a:prstGeom prst="rect">
                        <a:avLst/>
                      </a:prstGeom>
                    </p:spPr>
                  </p:pic>
                </p:oleObj>
              </mc:Fallback>
            </mc:AlternateContent>
          </a:graphicData>
        </a:graphic>
      </p:graphicFrame>
      <p:graphicFrame>
        <p:nvGraphicFramePr>
          <p:cNvPr id="50" name="对象 49">
            <a:extLst>
              <a:ext uri="{FF2B5EF4-FFF2-40B4-BE49-F238E27FC236}">
                <a16:creationId xmlns:a16="http://schemas.microsoft.com/office/drawing/2014/main" id="{2A7943F7-71EB-744F-01CD-C58E4F67B232}"/>
              </a:ext>
            </a:extLst>
          </p:cNvPr>
          <p:cNvGraphicFramePr>
            <a:graphicFrameLocks noChangeAspect="1"/>
          </p:cNvGraphicFramePr>
          <p:nvPr>
            <p:extLst>
              <p:ext uri="{D42A27DB-BD31-4B8C-83A1-F6EECF244321}">
                <p14:modId xmlns:p14="http://schemas.microsoft.com/office/powerpoint/2010/main" val="1656884707"/>
              </p:ext>
            </p:extLst>
          </p:nvPr>
        </p:nvGraphicFramePr>
        <p:xfrm>
          <a:off x="1471718" y="5637196"/>
          <a:ext cx="2342603" cy="409026"/>
        </p:xfrm>
        <a:graphic>
          <a:graphicData uri="http://schemas.openxmlformats.org/presentationml/2006/ole">
            <mc:AlternateContent xmlns:mc="http://schemas.openxmlformats.org/markup-compatibility/2006">
              <mc:Choice xmlns:v="urn:schemas-microsoft-com:vml" Requires="v">
                <p:oleObj name="Equation" r:id="rId7" imgW="1600200" imgH="279360" progId="Equation.DSMT4">
                  <p:embed/>
                </p:oleObj>
              </mc:Choice>
              <mc:Fallback>
                <p:oleObj name="Equation" r:id="rId7" imgW="1600200" imgH="279360" progId="Equation.DSMT4">
                  <p:embed/>
                  <p:pic>
                    <p:nvPicPr>
                      <p:cNvPr id="50" name="对象 49">
                        <a:extLst>
                          <a:ext uri="{FF2B5EF4-FFF2-40B4-BE49-F238E27FC236}">
                            <a16:creationId xmlns:a16="http://schemas.microsoft.com/office/drawing/2014/main" id="{2A7943F7-71EB-744F-01CD-C58E4F67B232}"/>
                          </a:ext>
                        </a:extLst>
                      </p:cNvPr>
                      <p:cNvPicPr/>
                      <p:nvPr/>
                    </p:nvPicPr>
                    <p:blipFill>
                      <a:blip r:embed="rId8"/>
                      <a:stretch>
                        <a:fillRect/>
                      </a:stretch>
                    </p:blipFill>
                    <p:spPr>
                      <a:xfrm>
                        <a:off x="1471718" y="5637196"/>
                        <a:ext cx="2342603" cy="409026"/>
                      </a:xfrm>
                      <a:prstGeom prst="rect">
                        <a:avLst/>
                      </a:prstGeom>
                    </p:spPr>
                  </p:pic>
                </p:oleObj>
              </mc:Fallback>
            </mc:AlternateContent>
          </a:graphicData>
        </a:graphic>
      </p:graphicFrame>
      <p:pic>
        <p:nvPicPr>
          <p:cNvPr id="2" name="图片 1">
            <a:extLst>
              <a:ext uri="{FF2B5EF4-FFF2-40B4-BE49-F238E27FC236}">
                <a16:creationId xmlns:a16="http://schemas.microsoft.com/office/drawing/2014/main" id="{9160C4B5-35D4-7DAB-E77A-68C9FE690469}"/>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a:xfrm>
            <a:off x="5626628" y="1703953"/>
            <a:ext cx="4728105" cy="4926892"/>
          </a:xfrm>
          <a:prstGeom prst="rect">
            <a:avLst/>
          </a:prstGeom>
          <a:noFill/>
          <a:ln>
            <a:noFill/>
          </a:ln>
        </p:spPr>
      </p:pic>
    </p:spTree>
    <p:extLst>
      <p:ext uri="{BB962C8B-B14F-4D97-AF65-F5344CB8AC3E}">
        <p14:creationId xmlns:p14="http://schemas.microsoft.com/office/powerpoint/2010/main" val="701867359"/>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68390" y="1867298"/>
            <a:ext cx="11192081" cy="1578820"/>
          </a:xfrm>
          <a:custGeom>
            <a:avLst/>
            <a:gdLst/>
            <a:ahLst/>
            <a:cxnLst/>
            <a:rect l="l" t="t" r="r" b="b"/>
            <a:pathLst>
              <a:path w="7455540" h="1578820">
                <a:moveTo>
                  <a:pt x="35085" y="0"/>
                </a:moveTo>
                <a:lnTo>
                  <a:pt x="7350280" y="0"/>
                </a:lnTo>
                <a:cubicBezTo>
                  <a:pt x="7408413" y="0"/>
                  <a:pt x="7455540" y="47126"/>
                  <a:pt x="7455540" y="105260"/>
                </a:cubicBezTo>
                <a:lnTo>
                  <a:pt x="7455540" y="1473560"/>
                </a:lnTo>
                <a:cubicBezTo>
                  <a:pt x="7455540" y="1531694"/>
                  <a:pt x="7408413" y="1578820"/>
                  <a:pt x="7350280" y="1578820"/>
                </a:cubicBezTo>
                <a:lnTo>
                  <a:pt x="35085" y="1578820"/>
                </a:lnTo>
                <a:cubicBezTo>
                  <a:pt x="15708" y="1578820"/>
                  <a:pt x="0" y="1563112"/>
                  <a:pt x="0" y="1543735"/>
                </a:cubicBezTo>
                <a:lnTo>
                  <a:pt x="0" y="35085"/>
                </a:lnTo>
                <a:cubicBezTo>
                  <a:pt x="0" y="15721"/>
                  <a:pt x="15721" y="0"/>
                  <a:pt x="35085" y="0"/>
                </a:cubicBezTo>
                <a:close/>
              </a:path>
            </a:pathLst>
          </a:custGeom>
          <a:solidFill>
            <a:srgbClr val="5F87A7">
              <a:alpha val="10196"/>
            </a:srgbClr>
          </a:solidFill>
        </p:spPr>
      </p:sp>
      <p:sp>
        <p:nvSpPr>
          <p:cNvPr id="6" name="Shape 4"/>
          <p:cNvSpPr/>
          <p:nvPr/>
        </p:nvSpPr>
        <p:spPr>
          <a:xfrm>
            <a:off x="368391" y="1867298"/>
            <a:ext cx="35085" cy="1578820"/>
          </a:xfrm>
          <a:custGeom>
            <a:avLst/>
            <a:gdLst/>
            <a:ahLst/>
            <a:cxnLst/>
            <a:rect l="l" t="t" r="r" b="b"/>
            <a:pathLst>
              <a:path w="35085" h="1578820">
                <a:moveTo>
                  <a:pt x="35085" y="0"/>
                </a:moveTo>
                <a:lnTo>
                  <a:pt x="35085" y="0"/>
                </a:lnTo>
                <a:lnTo>
                  <a:pt x="35085" y="1578820"/>
                </a:lnTo>
                <a:lnTo>
                  <a:pt x="35085" y="1578820"/>
                </a:lnTo>
                <a:cubicBezTo>
                  <a:pt x="15708" y="1578820"/>
                  <a:pt x="0" y="1563112"/>
                  <a:pt x="0" y="1543735"/>
                </a:cubicBezTo>
                <a:lnTo>
                  <a:pt x="0" y="35085"/>
                </a:lnTo>
                <a:cubicBezTo>
                  <a:pt x="0" y="15721"/>
                  <a:pt x="15721" y="0"/>
                  <a:pt x="35085" y="0"/>
                </a:cubicBezTo>
                <a:close/>
              </a:path>
            </a:pathLst>
          </a:custGeom>
          <a:solidFill>
            <a:srgbClr val="E6B450"/>
          </a:solidFill>
        </p:spPr>
      </p:sp>
      <p:sp>
        <p:nvSpPr>
          <p:cNvPr id="7" name="Shape 5"/>
          <p:cNvSpPr/>
          <p:nvPr/>
        </p:nvSpPr>
        <p:spPr>
          <a:xfrm>
            <a:off x="565744" y="2112892"/>
            <a:ext cx="210509" cy="210509"/>
          </a:xfrm>
          <a:custGeom>
            <a:avLst/>
            <a:gdLst/>
            <a:ahLst/>
            <a:cxnLst/>
            <a:rect l="l" t="t" r="r" b="b"/>
            <a:pathLst>
              <a:path w="210509" h="210509">
                <a:moveTo>
                  <a:pt x="168819" y="51024"/>
                </a:moveTo>
                <a:cubicBezTo>
                  <a:pt x="177329" y="57438"/>
                  <a:pt x="187732" y="63646"/>
                  <a:pt x="199326" y="65209"/>
                </a:cubicBezTo>
                <a:cubicBezTo>
                  <a:pt x="204712" y="65949"/>
                  <a:pt x="209687" y="62125"/>
                  <a:pt x="210427" y="56739"/>
                </a:cubicBezTo>
                <a:cubicBezTo>
                  <a:pt x="211167" y="51353"/>
                  <a:pt x="207343" y="46378"/>
                  <a:pt x="201957" y="45638"/>
                </a:cubicBezTo>
                <a:cubicBezTo>
                  <a:pt x="195420" y="44774"/>
                  <a:pt x="188307" y="40992"/>
                  <a:pt x="180701" y="35277"/>
                </a:cubicBezTo>
                <a:cubicBezTo>
                  <a:pt x="164913" y="23353"/>
                  <a:pt x="143492" y="23353"/>
                  <a:pt x="127662" y="35277"/>
                </a:cubicBezTo>
                <a:cubicBezTo>
                  <a:pt x="117795" y="42719"/>
                  <a:pt x="110929" y="46090"/>
                  <a:pt x="105255" y="46090"/>
                </a:cubicBezTo>
                <a:cubicBezTo>
                  <a:pt x="99581" y="46090"/>
                  <a:pt x="92715" y="42719"/>
                  <a:pt x="82847" y="35277"/>
                </a:cubicBezTo>
                <a:cubicBezTo>
                  <a:pt x="67059" y="23353"/>
                  <a:pt x="45638" y="23353"/>
                  <a:pt x="29808" y="35277"/>
                </a:cubicBezTo>
                <a:cubicBezTo>
                  <a:pt x="22202" y="40992"/>
                  <a:pt x="15089" y="44774"/>
                  <a:pt x="8552" y="45638"/>
                </a:cubicBezTo>
                <a:cubicBezTo>
                  <a:pt x="3166" y="46378"/>
                  <a:pt x="-658" y="51312"/>
                  <a:pt x="82" y="56739"/>
                </a:cubicBezTo>
                <a:cubicBezTo>
                  <a:pt x="822" y="62166"/>
                  <a:pt x="5756" y="65949"/>
                  <a:pt x="11183" y="65209"/>
                </a:cubicBezTo>
                <a:cubicBezTo>
                  <a:pt x="22778" y="63646"/>
                  <a:pt x="33221" y="57438"/>
                  <a:pt x="41691" y="51024"/>
                </a:cubicBezTo>
                <a:cubicBezTo>
                  <a:pt x="50448" y="44404"/>
                  <a:pt x="62207" y="44404"/>
                  <a:pt x="70965" y="51024"/>
                </a:cubicBezTo>
                <a:cubicBezTo>
                  <a:pt x="80915" y="58548"/>
                  <a:pt x="92468" y="65784"/>
                  <a:pt x="105255" y="65784"/>
                </a:cubicBezTo>
                <a:cubicBezTo>
                  <a:pt x="118041" y="65784"/>
                  <a:pt x="129554" y="58507"/>
                  <a:pt x="139545" y="51024"/>
                </a:cubicBezTo>
                <a:cubicBezTo>
                  <a:pt x="148302" y="44404"/>
                  <a:pt x="160061" y="44404"/>
                  <a:pt x="168819" y="51024"/>
                </a:cubicBezTo>
                <a:close/>
                <a:moveTo>
                  <a:pt x="168819" y="110230"/>
                </a:moveTo>
                <a:cubicBezTo>
                  <a:pt x="177329" y="116644"/>
                  <a:pt x="187732" y="122852"/>
                  <a:pt x="199326" y="124414"/>
                </a:cubicBezTo>
                <a:cubicBezTo>
                  <a:pt x="204712" y="125154"/>
                  <a:pt x="209687" y="121331"/>
                  <a:pt x="210427" y="115945"/>
                </a:cubicBezTo>
                <a:cubicBezTo>
                  <a:pt x="211167" y="110559"/>
                  <a:pt x="207343" y="105584"/>
                  <a:pt x="201957" y="104844"/>
                </a:cubicBezTo>
                <a:cubicBezTo>
                  <a:pt x="195420" y="103980"/>
                  <a:pt x="188307" y="100198"/>
                  <a:pt x="180701" y="94483"/>
                </a:cubicBezTo>
                <a:cubicBezTo>
                  <a:pt x="164913" y="82559"/>
                  <a:pt x="143492" y="82559"/>
                  <a:pt x="127662" y="94483"/>
                </a:cubicBezTo>
                <a:cubicBezTo>
                  <a:pt x="117795" y="101924"/>
                  <a:pt x="110929" y="105296"/>
                  <a:pt x="105255" y="105296"/>
                </a:cubicBezTo>
                <a:cubicBezTo>
                  <a:pt x="99581" y="105296"/>
                  <a:pt x="92715" y="101924"/>
                  <a:pt x="82847" y="94483"/>
                </a:cubicBezTo>
                <a:cubicBezTo>
                  <a:pt x="67059" y="82559"/>
                  <a:pt x="45638" y="82559"/>
                  <a:pt x="29808" y="94483"/>
                </a:cubicBezTo>
                <a:cubicBezTo>
                  <a:pt x="22202" y="100198"/>
                  <a:pt x="15089" y="103980"/>
                  <a:pt x="8552" y="104844"/>
                </a:cubicBezTo>
                <a:cubicBezTo>
                  <a:pt x="3166" y="105542"/>
                  <a:pt x="-658" y="110517"/>
                  <a:pt x="82" y="115945"/>
                </a:cubicBezTo>
                <a:cubicBezTo>
                  <a:pt x="822" y="121372"/>
                  <a:pt x="5756" y="125154"/>
                  <a:pt x="11183" y="124414"/>
                </a:cubicBezTo>
                <a:cubicBezTo>
                  <a:pt x="22778" y="122852"/>
                  <a:pt x="33221" y="116644"/>
                  <a:pt x="41691" y="110230"/>
                </a:cubicBezTo>
                <a:cubicBezTo>
                  <a:pt x="50448" y="103610"/>
                  <a:pt x="62207" y="103610"/>
                  <a:pt x="70965" y="110230"/>
                </a:cubicBezTo>
                <a:cubicBezTo>
                  <a:pt x="80915" y="117754"/>
                  <a:pt x="92468" y="124990"/>
                  <a:pt x="105255" y="124990"/>
                </a:cubicBezTo>
                <a:cubicBezTo>
                  <a:pt x="118041" y="124990"/>
                  <a:pt x="129554" y="117713"/>
                  <a:pt x="139545" y="110230"/>
                </a:cubicBezTo>
                <a:cubicBezTo>
                  <a:pt x="148302" y="103610"/>
                  <a:pt x="160061" y="103610"/>
                  <a:pt x="168819" y="110230"/>
                </a:cubicBezTo>
                <a:close/>
                <a:moveTo>
                  <a:pt x="139545" y="169435"/>
                </a:moveTo>
                <a:cubicBezTo>
                  <a:pt x="148302" y="162816"/>
                  <a:pt x="160061" y="162816"/>
                  <a:pt x="168819" y="169435"/>
                </a:cubicBezTo>
                <a:cubicBezTo>
                  <a:pt x="177329" y="175849"/>
                  <a:pt x="187732" y="182058"/>
                  <a:pt x="199326" y="183620"/>
                </a:cubicBezTo>
                <a:cubicBezTo>
                  <a:pt x="204712" y="184360"/>
                  <a:pt x="209687" y="180536"/>
                  <a:pt x="210427" y="175150"/>
                </a:cubicBezTo>
                <a:cubicBezTo>
                  <a:pt x="211167" y="169764"/>
                  <a:pt x="207343" y="164789"/>
                  <a:pt x="201957" y="164049"/>
                </a:cubicBezTo>
                <a:cubicBezTo>
                  <a:pt x="195420" y="163186"/>
                  <a:pt x="188307" y="159403"/>
                  <a:pt x="180701" y="153688"/>
                </a:cubicBezTo>
                <a:cubicBezTo>
                  <a:pt x="164913" y="141765"/>
                  <a:pt x="143492" y="141765"/>
                  <a:pt x="127662" y="153688"/>
                </a:cubicBezTo>
                <a:cubicBezTo>
                  <a:pt x="117795" y="161130"/>
                  <a:pt x="110929" y="164502"/>
                  <a:pt x="105255" y="164502"/>
                </a:cubicBezTo>
                <a:cubicBezTo>
                  <a:pt x="99581" y="164502"/>
                  <a:pt x="92715" y="161130"/>
                  <a:pt x="82847" y="153688"/>
                </a:cubicBezTo>
                <a:cubicBezTo>
                  <a:pt x="67059" y="141765"/>
                  <a:pt x="45638" y="141765"/>
                  <a:pt x="29808" y="153688"/>
                </a:cubicBezTo>
                <a:cubicBezTo>
                  <a:pt x="22202" y="159403"/>
                  <a:pt x="15089" y="163186"/>
                  <a:pt x="8552" y="164049"/>
                </a:cubicBezTo>
                <a:cubicBezTo>
                  <a:pt x="3166" y="164789"/>
                  <a:pt x="-658" y="169723"/>
                  <a:pt x="82" y="175150"/>
                </a:cubicBezTo>
                <a:cubicBezTo>
                  <a:pt x="822" y="180578"/>
                  <a:pt x="5756" y="184360"/>
                  <a:pt x="11183" y="183620"/>
                </a:cubicBezTo>
                <a:cubicBezTo>
                  <a:pt x="22778" y="182058"/>
                  <a:pt x="33221" y="175849"/>
                  <a:pt x="41691" y="169435"/>
                </a:cubicBezTo>
                <a:cubicBezTo>
                  <a:pt x="50448" y="162816"/>
                  <a:pt x="62207" y="162816"/>
                  <a:pt x="70965" y="169435"/>
                </a:cubicBezTo>
                <a:cubicBezTo>
                  <a:pt x="80915" y="176959"/>
                  <a:pt x="92468" y="184196"/>
                  <a:pt x="105255" y="184196"/>
                </a:cubicBezTo>
                <a:cubicBezTo>
                  <a:pt x="118041" y="184196"/>
                  <a:pt x="129554" y="176918"/>
                  <a:pt x="139545" y="169435"/>
                </a:cubicBezTo>
                <a:close/>
              </a:path>
            </a:pathLst>
          </a:custGeom>
          <a:solidFill>
            <a:srgbClr val="E6B450"/>
          </a:solidFill>
        </p:spPr>
      </p:sp>
      <p:sp>
        <p:nvSpPr>
          <p:cNvPr id="8" name="Text 6"/>
          <p:cNvSpPr/>
          <p:nvPr/>
        </p:nvSpPr>
        <p:spPr>
          <a:xfrm>
            <a:off x="883564" y="2077807"/>
            <a:ext cx="6832783" cy="280679"/>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波前规划算法</a:t>
            </a:r>
            <a:endParaRPr lang="en-US" dirty="0"/>
          </a:p>
        </p:txBody>
      </p:sp>
      <p:sp>
        <p:nvSpPr>
          <p:cNvPr id="9" name="Text 7"/>
          <p:cNvSpPr/>
          <p:nvPr/>
        </p:nvSpPr>
        <p:spPr>
          <a:xfrm>
            <a:off x="883564" y="2463741"/>
            <a:ext cx="10310436" cy="771868"/>
          </a:xfrm>
          <a:prstGeom prst="rect">
            <a:avLst/>
          </a:prstGeom>
          <a:noFill/>
        </p:spPr>
        <p:txBody>
          <a:bodyPr wrap="square" lIns="0" tIns="0" rIns="0" bIns="0" rtlCol="0" anchor="ctr"/>
          <a:lstStyle/>
          <a:p>
            <a:pPr>
              <a:lnSpc>
                <a:spcPct val="14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波前(wavefront)规划算法</a:t>
            </a:r>
            <a:r>
              <a:rPr lang="en-US" sz="1600" dirty="0">
                <a:latin typeface="微软雅黑" panose="020B0503020204020204" pitchFamily="34" charset="-122"/>
                <a:ea typeface="微软雅黑" panose="020B0503020204020204" pitchFamily="34" charset="-122"/>
                <a:cs typeface="微软雅黑" panose="020B0503020204020204" pitchFamily="34" charset="-122"/>
              </a:rPr>
              <a:t>是一种在占用栅格地图上两点之间确定最短路径的常用算法。按照波前理论，可将位形空间视为具有</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导热性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的材料，而热量会从初始节点辐射至目标节点。在存在可行路径的情况下，热量最终将扩散到目标处。</a:t>
            </a:r>
            <a:endParaRPr lang="en-US" sz="1600" dirty="0"/>
          </a:p>
        </p:txBody>
      </p:sp>
      <p:sp>
        <p:nvSpPr>
          <p:cNvPr id="10" name="Shape 8"/>
          <p:cNvSpPr/>
          <p:nvPr/>
        </p:nvSpPr>
        <p:spPr>
          <a:xfrm>
            <a:off x="368390" y="3654434"/>
            <a:ext cx="11192081" cy="1324455"/>
          </a:xfrm>
          <a:custGeom>
            <a:avLst/>
            <a:gdLst/>
            <a:ahLst/>
            <a:cxnLst/>
            <a:rect l="l" t="t" r="r" b="b"/>
            <a:pathLst>
              <a:path w="7455540" h="1324455">
                <a:moveTo>
                  <a:pt x="35085" y="0"/>
                </a:moveTo>
                <a:lnTo>
                  <a:pt x="7350285" y="0"/>
                </a:lnTo>
                <a:cubicBezTo>
                  <a:pt x="7408416" y="0"/>
                  <a:pt x="7455540" y="47124"/>
                  <a:pt x="7455540" y="105254"/>
                </a:cubicBezTo>
                <a:lnTo>
                  <a:pt x="7455540" y="1219200"/>
                </a:lnTo>
                <a:cubicBezTo>
                  <a:pt x="7455540" y="1277331"/>
                  <a:pt x="7408416" y="1324455"/>
                  <a:pt x="7350285" y="1324455"/>
                </a:cubicBezTo>
                <a:lnTo>
                  <a:pt x="35085" y="1324455"/>
                </a:lnTo>
                <a:cubicBezTo>
                  <a:pt x="15708" y="1324455"/>
                  <a:pt x="0" y="1308747"/>
                  <a:pt x="0" y="1289370"/>
                </a:cubicBezTo>
                <a:lnTo>
                  <a:pt x="0" y="35085"/>
                </a:lnTo>
                <a:cubicBezTo>
                  <a:pt x="0" y="15721"/>
                  <a:pt x="15721" y="0"/>
                  <a:pt x="35085" y="0"/>
                </a:cubicBezTo>
                <a:close/>
              </a:path>
            </a:pathLst>
          </a:custGeom>
          <a:solidFill>
            <a:srgbClr val="5F87A7">
              <a:alpha val="10196"/>
            </a:srgbClr>
          </a:solidFill>
        </p:spPr>
      </p:sp>
      <p:sp>
        <p:nvSpPr>
          <p:cNvPr id="11" name="Shape 9"/>
          <p:cNvSpPr/>
          <p:nvPr/>
        </p:nvSpPr>
        <p:spPr>
          <a:xfrm>
            <a:off x="368391" y="3654434"/>
            <a:ext cx="35085" cy="1324455"/>
          </a:xfrm>
          <a:custGeom>
            <a:avLst/>
            <a:gdLst/>
            <a:ahLst/>
            <a:cxnLst/>
            <a:rect l="l" t="t" r="r" b="b"/>
            <a:pathLst>
              <a:path w="35085" h="1324455">
                <a:moveTo>
                  <a:pt x="35085" y="0"/>
                </a:moveTo>
                <a:lnTo>
                  <a:pt x="35085" y="0"/>
                </a:lnTo>
                <a:lnTo>
                  <a:pt x="35085" y="1324455"/>
                </a:lnTo>
                <a:lnTo>
                  <a:pt x="35085" y="1324455"/>
                </a:lnTo>
                <a:cubicBezTo>
                  <a:pt x="15708" y="1324455"/>
                  <a:pt x="0" y="1308747"/>
                  <a:pt x="0" y="1289370"/>
                </a:cubicBezTo>
                <a:lnTo>
                  <a:pt x="0" y="35085"/>
                </a:lnTo>
                <a:cubicBezTo>
                  <a:pt x="0" y="15721"/>
                  <a:pt x="15721" y="0"/>
                  <a:pt x="35085" y="0"/>
                </a:cubicBezTo>
                <a:close/>
              </a:path>
            </a:pathLst>
          </a:custGeom>
          <a:solidFill>
            <a:srgbClr val="E6B450"/>
          </a:solidFill>
        </p:spPr>
      </p:sp>
      <p:sp>
        <p:nvSpPr>
          <p:cNvPr id="12" name="Shape 10"/>
          <p:cNvSpPr/>
          <p:nvPr/>
        </p:nvSpPr>
        <p:spPr>
          <a:xfrm>
            <a:off x="596443" y="3900029"/>
            <a:ext cx="157882" cy="210509"/>
          </a:xfrm>
          <a:custGeom>
            <a:avLst/>
            <a:gdLst/>
            <a:ahLst/>
            <a:cxnLst/>
            <a:rect l="l" t="t" r="r" b="b"/>
            <a:pathLst>
              <a:path w="157882" h="210509">
                <a:moveTo>
                  <a:pt x="120426" y="157882"/>
                </a:moveTo>
                <a:cubicBezTo>
                  <a:pt x="123428" y="148713"/>
                  <a:pt x="129430" y="140408"/>
                  <a:pt x="136214" y="133254"/>
                </a:cubicBezTo>
                <a:cubicBezTo>
                  <a:pt x="149659" y="119110"/>
                  <a:pt x="157882" y="99992"/>
                  <a:pt x="157882" y="78941"/>
                </a:cubicBezTo>
                <a:cubicBezTo>
                  <a:pt x="157882" y="35359"/>
                  <a:pt x="122523" y="0"/>
                  <a:pt x="78941" y="0"/>
                </a:cubicBezTo>
                <a:cubicBezTo>
                  <a:pt x="35359" y="0"/>
                  <a:pt x="0" y="35359"/>
                  <a:pt x="0" y="78941"/>
                </a:cubicBezTo>
                <a:cubicBezTo>
                  <a:pt x="0" y="99992"/>
                  <a:pt x="8223" y="119110"/>
                  <a:pt x="21668" y="133254"/>
                </a:cubicBezTo>
                <a:cubicBezTo>
                  <a:pt x="28452" y="140408"/>
                  <a:pt x="34496" y="148713"/>
                  <a:pt x="37456" y="157882"/>
                </a:cubicBezTo>
                <a:lnTo>
                  <a:pt x="120385" y="157882"/>
                </a:lnTo>
                <a:close/>
                <a:moveTo>
                  <a:pt x="118412" y="177617"/>
                </a:moveTo>
                <a:lnTo>
                  <a:pt x="39471" y="177617"/>
                </a:lnTo>
                <a:lnTo>
                  <a:pt x="39471" y="184196"/>
                </a:lnTo>
                <a:cubicBezTo>
                  <a:pt x="39471" y="202369"/>
                  <a:pt x="54190" y="217088"/>
                  <a:pt x="72363" y="217088"/>
                </a:cubicBezTo>
                <a:lnTo>
                  <a:pt x="85519" y="217088"/>
                </a:lnTo>
                <a:cubicBezTo>
                  <a:pt x="103692" y="217088"/>
                  <a:pt x="118412" y="202369"/>
                  <a:pt x="118412" y="184196"/>
                </a:cubicBezTo>
                <a:lnTo>
                  <a:pt x="118412" y="177617"/>
                </a:lnTo>
                <a:close/>
                <a:moveTo>
                  <a:pt x="75652" y="46049"/>
                </a:moveTo>
                <a:cubicBezTo>
                  <a:pt x="59288" y="46049"/>
                  <a:pt x="46049" y="59288"/>
                  <a:pt x="46049" y="75652"/>
                </a:cubicBezTo>
                <a:cubicBezTo>
                  <a:pt x="46049" y="81120"/>
                  <a:pt x="41650" y="85519"/>
                  <a:pt x="36181" y="85519"/>
                </a:cubicBezTo>
                <a:cubicBezTo>
                  <a:pt x="30713" y="85519"/>
                  <a:pt x="26314" y="81120"/>
                  <a:pt x="26314" y="75652"/>
                </a:cubicBezTo>
                <a:cubicBezTo>
                  <a:pt x="26314" y="48392"/>
                  <a:pt x="48392" y="26314"/>
                  <a:pt x="75652" y="26314"/>
                </a:cubicBezTo>
                <a:cubicBezTo>
                  <a:pt x="81120" y="26314"/>
                  <a:pt x="85519" y="30713"/>
                  <a:pt x="85519" y="36181"/>
                </a:cubicBezTo>
                <a:cubicBezTo>
                  <a:pt x="85519" y="41650"/>
                  <a:pt x="81120" y="46049"/>
                  <a:pt x="75652" y="46049"/>
                </a:cubicBezTo>
                <a:close/>
              </a:path>
            </a:pathLst>
          </a:custGeom>
          <a:solidFill>
            <a:srgbClr val="E6B450"/>
          </a:solidFill>
        </p:spPr>
      </p:sp>
      <p:sp>
        <p:nvSpPr>
          <p:cNvPr id="13" name="Text 11"/>
          <p:cNvSpPr/>
          <p:nvPr/>
        </p:nvSpPr>
        <p:spPr>
          <a:xfrm>
            <a:off x="890964" y="3864944"/>
            <a:ext cx="6832783" cy="280679"/>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波前传播特点</a:t>
            </a:r>
            <a:endParaRPr lang="en-US" dirty="0"/>
          </a:p>
        </p:txBody>
      </p:sp>
      <p:sp>
        <p:nvSpPr>
          <p:cNvPr id="14" name="Text 12"/>
          <p:cNvSpPr/>
          <p:nvPr/>
        </p:nvSpPr>
        <p:spPr>
          <a:xfrm>
            <a:off x="890964" y="4250877"/>
            <a:ext cx="10310436" cy="517502"/>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波前传播具有两个有趣的特点：第一，从所有栅格单元到目标节点的</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最佳路径</a:t>
            </a:r>
            <a:r>
              <a:rPr lang="en-US" sz="1600" dirty="0">
                <a:latin typeface="微软雅黑" panose="020B0503020204020204" pitchFamily="34" charset="-122"/>
                <a:ea typeface="微软雅黑" panose="020B0503020204020204" pitchFamily="34" charset="-122"/>
                <a:cs typeface="微软雅黑" panose="020B0503020204020204" pitchFamily="34" charset="-122"/>
              </a:rPr>
              <a:t>将作为路径规划的"副产品"；第二，可以利用不同的</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热传导率</a:t>
            </a:r>
            <a:r>
              <a:rPr lang="en-US" sz="1600" dirty="0">
                <a:latin typeface="微软雅黑" panose="020B0503020204020204" pitchFamily="34" charset="-122"/>
                <a:ea typeface="微软雅黑" panose="020B0503020204020204" pitchFamily="34" charset="-122"/>
                <a:cs typeface="微软雅黑" panose="020B0503020204020204" pitchFamily="34" charset="-122"/>
              </a:rPr>
              <a:t>表达穿越任意地形的成本。</a:t>
            </a:r>
            <a:endParaRPr lang="en-US" sz="1600" dirty="0"/>
          </a:p>
        </p:txBody>
      </p:sp>
      <p:sp>
        <p:nvSpPr>
          <p:cNvPr id="15" name="Shape 13"/>
          <p:cNvSpPr/>
          <p:nvPr/>
        </p:nvSpPr>
        <p:spPr>
          <a:xfrm>
            <a:off x="355235" y="5189398"/>
            <a:ext cx="11205248" cy="1587591"/>
          </a:xfrm>
          <a:custGeom>
            <a:avLst/>
            <a:gdLst/>
            <a:ahLst/>
            <a:cxnLst/>
            <a:rect l="l" t="t" r="r" b="b"/>
            <a:pathLst>
              <a:path w="7464311" h="1587591">
                <a:moveTo>
                  <a:pt x="105257" y="0"/>
                </a:moveTo>
                <a:lnTo>
                  <a:pt x="7359053" y="0"/>
                </a:lnTo>
                <a:cubicBezTo>
                  <a:pt x="7417185" y="0"/>
                  <a:pt x="7464311" y="47125"/>
                  <a:pt x="7464311" y="105257"/>
                </a:cubicBezTo>
                <a:lnTo>
                  <a:pt x="7464311" y="1482334"/>
                </a:lnTo>
                <a:cubicBezTo>
                  <a:pt x="7464311" y="1540466"/>
                  <a:pt x="7417185" y="1587591"/>
                  <a:pt x="7359053" y="1587591"/>
                </a:cubicBezTo>
                <a:lnTo>
                  <a:pt x="105257" y="1587591"/>
                </a:lnTo>
                <a:cubicBezTo>
                  <a:pt x="47125" y="1587591"/>
                  <a:pt x="0" y="1540466"/>
                  <a:pt x="0" y="1482334"/>
                </a:cubicBezTo>
                <a:lnTo>
                  <a:pt x="0" y="105257"/>
                </a:lnTo>
                <a:cubicBezTo>
                  <a:pt x="0" y="47164"/>
                  <a:pt x="47164" y="0"/>
                  <a:pt x="105257" y="0"/>
                </a:cubicBezTo>
                <a:close/>
              </a:path>
            </a:pathLst>
          </a:custGeom>
          <a:solidFill>
            <a:srgbClr val="E6B450">
              <a:alpha val="10196"/>
            </a:srgbClr>
          </a:solidFill>
          <a:ln w="12700">
            <a:solidFill>
              <a:srgbClr val="E6B450">
                <a:alpha val="30196"/>
              </a:srgbClr>
            </a:solidFill>
            <a:prstDash val="solid"/>
          </a:ln>
        </p:spPr>
      </p:sp>
      <p:sp>
        <p:nvSpPr>
          <p:cNvPr id="16" name="Shape 14"/>
          <p:cNvSpPr/>
          <p:nvPr/>
        </p:nvSpPr>
        <p:spPr>
          <a:xfrm>
            <a:off x="539430" y="5439378"/>
            <a:ext cx="210509" cy="210509"/>
          </a:xfrm>
          <a:custGeom>
            <a:avLst/>
            <a:gdLst/>
            <a:ahLst/>
            <a:cxnLst/>
            <a:rect l="l" t="t" r="r" b="b"/>
            <a:pathLst>
              <a:path w="210509" h="210509">
                <a:moveTo>
                  <a:pt x="80216" y="3906"/>
                </a:moveTo>
                <a:cubicBezTo>
                  <a:pt x="81449" y="-2179"/>
                  <a:pt x="86835" y="-6578"/>
                  <a:pt x="93085" y="-6578"/>
                </a:cubicBezTo>
                <a:lnTo>
                  <a:pt x="117671" y="-6578"/>
                </a:lnTo>
                <a:cubicBezTo>
                  <a:pt x="123921" y="-6578"/>
                  <a:pt x="129307" y="-2179"/>
                  <a:pt x="130540" y="3906"/>
                </a:cubicBezTo>
                <a:lnTo>
                  <a:pt x="136502" y="32687"/>
                </a:lnTo>
                <a:cubicBezTo>
                  <a:pt x="142299" y="35153"/>
                  <a:pt x="147727" y="38319"/>
                  <a:pt x="152660" y="42061"/>
                </a:cubicBezTo>
                <a:lnTo>
                  <a:pt x="180536" y="32810"/>
                </a:lnTo>
                <a:cubicBezTo>
                  <a:pt x="186457" y="30836"/>
                  <a:pt x="192953" y="33303"/>
                  <a:pt x="196078" y="38730"/>
                </a:cubicBezTo>
                <a:lnTo>
                  <a:pt x="208371" y="60028"/>
                </a:lnTo>
                <a:cubicBezTo>
                  <a:pt x="211496" y="65455"/>
                  <a:pt x="210386" y="72280"/>
                  <a:pt x="205699" y="76433"/>
                </a:cubicBezTo>
                <a:lnTo>
                  <a:pt x="183785" y="95922"/>
                </a:lnTo>
                <a:cubicBezTo>
                  <a:pt x="184155" y="98964"/>
                  <a:pt x="184319" y="102089"/>
                  <a:pt x="184319" y="105255"/>
                </a:cubicBezTo>
                <a:cubicBezTo>
                  <a:pt x="184319" y="108421"/>
                  <a:pt x="184113" y="111545"/>
                  <a:pt x="183785" y="114588"/>
                </a:cubicBezTo>
                <a:lnTo>
                  <a:pt x="205740" y="134117"/>
                </a:lnTo>
                <a:cubicBezTo>
                  <a:pt x="210427" y="138270"/>
                  <a:pt x="211496" y="145136"/>
                  <a:pt x="208412" y="150522"/>
                </a:cubicBezTo>
                <a:lnTo>
                  <a:pt x="196119" y="171820"/>
                </a:lnTo>
                <a:cubicBezTo>
                  <a:pt x="192994" y="177206"/>
                  <a:pt x="186498" y="179714"/>
                  <a:pt x="180578" y="177741"/>
                </a:cubicBezTo>
                <a:lnTo>
                  <a:pt x="152702" y="168490"/>
                </a:lnTo>
                <a:cubicBezTo>
                  <a:pt x="147727" y="172231"/>
                  <a:pt x="142299" y="175356"/>
                  <a:pt x="136543" y="177864"/>
                </a:cubicBezTo>
                <a:lnTo>
                  <a:pt x="130623" y="206603"/>
                </a:lnTo>
                <a:cubicBezTo>
                  <a:pt x="129348" y="212730"/>
                  <a:pt x="123962" y="217088"/>
                  <a:pt x="117754" y="217088"/>
                </a:cubicBezTo>
                <a:lnTo>
                  <a:pt x="93167" y="217088"/>
                </a:lnTo>
                <a:cubicBezTo>
                  <a:pt x="86917" y="217088"/>
                  <a:pt x="81531" y="212688"/>
                  <a:pt x="80298" y="206603"/>
                </a:cubicBezTo>
                <a:lnTo>
                  <a:pt x="74377" y="177864"/>
                </a:lnTo>
                <a:cubicBezTo>
                  <a:pt x="68580" y="175397"/>
                  <a:pt x="63194" y="172231"/>
                  <a:pt x="58219" y="168490"/>
                </a:cubicBezTo>
                <a:lnTo>
                  <a:pt x="30220" y="177741"/>
                </a:lnTo>
                <a:cubicBezTo>
                  <a:pt x="24299" y="179714"/>
                  <a:pt x="17803" y="177247"/>
                  <a:pt x="14678" y="171820"/>
                </a:cubicBezTo>
                <a:lnTo>
                  <a:pt x="2385" y="150522"/>
                </a:lnTo>
                <a:cubicBezTo>
                  <a:pt x="-740" y="145095"/>
                  <a:pt x="370" y="138270"/>
                  <a:pt x="5057" y="134117"/>
                </a:cubicBezTo>
                <a:lnTo>
                  <a:pt x="27013" y="114588"/>
                </a:lnTo>
                <a:cubicBezTo>
                  <a:pt x="26643" y="111545"/>
                  <a:pt x="26478" y="108421"/>
                  <a:pt x="26478" y="105255"/>
                </a:cubicBezTo>
                <a:cubicBezTo>
                  <a:pt x="26478" y="102089"/>
                  <a:pt x="26684" y="98964"/>
                  <a:pt x="27013" y="95922"/>
                </a:cubicBezTo>
                <a:lnTo>
                  <a:pt x="5057" y="76392"/>
                </a:lnTo>
                <a:cubicBezTo>
                  <a:pt x="370" y="72239"/>
                  <a:pt x="-699" y="65373"/>
                  <a:pt x="2385" y="59987"/>
                </a:cubicBezTo>
                <a:lnTo>
                  <a:pt x="14678" y="38689"/>
                </a:lnTo>
                <a:cubicBezTo>
                  <a:pt x="17803" y="33262"/>
                  <a:pt x="24299" y="30795"/>
                  <a:pt x="30220" y="32769"/>
                </a:cubicBezTo>
                <a:lnTo>
                  <a:pt x="58096" y="42020"/>
                </a:lnTo>
                <a:cubicBezTo>
                  <a:pt x="63071" y="38278"/>
                  <a:pt x="68498" y="35153"/>
                  <a:pt x="74254" y="32645"/>
                </a:cubicBezTo>
                <a:lnTo>
                  <a:pt x="80216" y="3906"/>
                </a:lnTo>
                <a:close/>
                <a:moveTo>
                  <a:pt x="105378" y="138147"/>
                </a:moveTo>
                <a:cubicBezTo>
                  <a:pt x="117129" y="138103"/>
                  <a:pt x="127964" y="131793"/>
                  <a:pt x="133802" y="121594"/>
                </a:cubicBezTo>
                <a:cubicBezTo>
                  <a:pt x="139639" y="111395"/>
                  <a:pt x="139592" y="98857"/>
                  <a:pt x="133678" y="88702"/>
                </a:cubicBezTo>
                <a:cubicBezTo>
                  <a:pt x="127765" y="78547"/>
                  <a:pt x="116883" y="72319"/>
                  <a:pt x="105131" y="72363"/>
                </a:cubicBezTo>
                <a:cubicBezTo>
                  <a:pt x="93380" y="72407"/>
                  <a:pt x="82545" y="78717"/>
                  <a:pt x="76708" y="88915"/>
                </a:cubicBezTo>
                <a:cubicBezTo>
                  <a:pt x="70870" y="99114"/>
                  <a:pt x="70917" y="111653"/>
                  <a:pt x="76831" y="121808"/>
                </a:cubicBezTo>
                <a:cubicBezTo>
                  <a:pt x="82745" y="131962"/>
                  <a:pt x="93627" y="138191"/>
                  <a:pt x="105378" y="138147"/>
                </a:cubicBezTo>
                <a:close/>
              </a:path>
            </a:pathLst>
          </a:custGeom>
          <a:solidFill>
            <a:srgbClr val="E6B450"/>
          </a:solidFill>
        </p:spPr>
      </p:sp>
      <p:sp>
        <p:nvSpPr>
          <p:cNvPr id="17" name="Text 15"/>
          <p:cNvSpPr/>
          <p:nvPr/>
        </p:nvSpPr>
        <p:spPr>
          <a:xfrm>
            <a:off x="857250" y="5404293"/>
            <a:ext cx="6850325" cy="280679"/>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算法假设</a:t>
            </a:r>
            <a:endParaRPr lang="en-US" dirty="0"/>
          </a:p>
        </p:txBody>
      </p:sp>
      <p:sp>
        <p:nvSpPr>
          <p:cNvPr id="18" name="Text 16"/>
          <p:cNvSpPr/>
          <p:nvPr/>
        </p:nvSpPr>
        <p:spPr>
          <a:xfrm>
            <a:off x="857250" y="5790227"/>
            <a:ext cx="10337010" cy="77186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这种方法中，全局路径规划器假设地图中每个单元格的大小都能够容纳机器人。假设机器人建立了一个二维的占用栅格地图来表示它所处的环境，并且机器人的当前位置以及期望位置在地图中是已知的。</a:t>
            </a:r>
            <a:endParaRPr lang="en-US" sz="1600" dirty="0"/>
          </a:p>
        </p:txBody>
      </p:sp>
      <p:grpSp>
        <p:nvGrpSpPr>
          <p:cNvPr id="39" name="组合 38">
            <a:extLst>
              <a:ext uri="{FF2B5EF4-FFF2-40B4-BE49-F238E27FC236}">
                <a16:creationId xmlns:a16="http://schemas.microsoft.com/office/drawing/2014/main" id="{FF78FF76-DFED-3785-007A-F98285B54B1D}"/>
              </a:ext>
            </a:extLst>
          </p:cNvPr>
          <p:cNvGrpSpPr/>
          <p:nvPr/>
        </p:nvGrpSpPr>
        <p:grpSpPr>
          <a:xfrm>
            <a:off x="0" y="939798"/>
            <a:ext cx="5022850" cy="625474"/>
            <a:chOff x="0" y="1075267"/>
            <a:chExt cx="5022850" cy="625474"/>
          </a:xfrm>
        </p:grpSpPr>
        <p:sp>
          <p:nvSpPr>
            <p:cNvPr id="40" name="矩形 39">
              <a:extLst>
                <a:ext uri="{FF2B5EF4-FFF2-40B4-BE49-F238E27FC236}">
                  <a16:creationId xmlns:a16="http://schemas.microsoft.com/office/drawing/2014/main" id="{E1C74BBA-976F-84DA-8C47-0D10EF8C2FDF}"/>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C19FAC2D-0C92-4018-8E4E-B5F950177D66}"/>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7.2.1</a:t>
              </a:r>
              <a:r>
                <a:rPr lang="zh-CN" altLang="en-US" sz="2400" b="1" dirty="0">
                  <a:solidFill>
                    <a:schemeClr val="accent1"/>
                  </a:solidFill>
                  <a:latin typeface="+mj-lt"/>
                </a:rPr>
                <a:t>波前传播规划方法</a:t>
              </a:r>
            </a:p>
          </p:txBody>
        </p:sp>
      </p:grpSp>
    </p:spTree>
    <p:extLst>
      <p:ext uri="{BB962C8B-B14F-4D97-AF65-F5344CB8AC3E}">
        <p14:creationId xmlns:p14="http://schemas.microsoft.com/office/powerpoint/2010/main" val="3090116919"/>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91486" y="1945822"/>
            <a:ext cx="7550092" cy="1677798"/>
          </a:xfrm>
          <a:custGeom>
            <a:avLst/>
            <a:gdLst/>
            <a:ahLst/>
            <a:cxnLst/>
            <a:rect l="l" t="t" r="r" b="b"/>
            <a:pathLst>
              <a:path w="7550092" h="1677798">
                <a:moveTo>
                  <a:pt x="37284" y="0"/>
                </a:moveTo>
                <a:lnTo>
                  <a:pt x="7438233" y="0"/>
                </a:lnTo>
                <a:cubicBezTo>
                  <a:pt x="7500011" y="0"/>
                  <a:pt x="7550092" y="50081"/>
                  <a:pt x="7550092" y="111859"/>
                </a:cubicBezTo>
                <a:lnTo>
                  <a:pt x="7550092" y="1565939"/>
                </a:lnTo>
                <a:cubicBezTo>
                  <a:pt x="7550092" y="1627717"/>
                  <a:pt x="7500011" y="1677798"/>
                  <a:pt x="7438233" y="1677798"/>
                </a:cubicBezTo>
                <a:lnTo>
                  <a:pt x="37284" y="1677798"/>
                </a:lnTo>
                <a:cubicBezTo>
                  <a:pt x="16693" y="1677798"/>
                  <a:pt x="0" y="1661105"/>
                  <a:pt x="0" y="1640514"/>
                </a:cubicBezTo>
                <a:lnTo>
                  <a:pt x="0" y="37284"/>
                </a:lnTo>
                <a:cubicBezTo>
                  <a:pt x="0" y="16693"/>
                  <a:pt x="16693" y="0"/>
                  <a:pt x="37284" y="0"/>
                </a:cubicBezTo>
                <a:close/>
              </a:path>
            </a:pathLst>
          </a:custGeom>
          <a:solidFill>
            <a:srgbClr val="5F87A7">
              <a:alpha val="10196"/>
            </a:srgbClr>
          </a:solidFill>
        </p:spPr>
      </p:sp>
      <p:sp>
        <p:nvSpPr>
          <p:cNvPr id="6" name="Shape 4"/>
          <p:cNvSpPr/>
          <p:nvPr/>
        </p:nvSpPr>
        <p:spPr>
          <a:xfrm>
            <a:off x="391486" y="1945822"/>
            <a:ext cx="37284" cy="1677798"/>
          </a:xfrm>
          <a:custGeom>
            <a:avLst/>
            <a:gdLst/>
            <a:ahLst/>
            <a:cxnLst/>
            <a:rect l="l" t="t" r="r" b="b"/>
            <a:pathLst>
              <a:path w="37284" h="1677798">
                <a:moveTo>
                  <a:pt x="37284" y="0"/>
                </a:moveTo>
                <a:lnTo>
                  <a:pt x="37284" y="0"/>
                </a:lnTo>
                <a:lnTo>
                  <a:pt x="37284" y="1677798"/>
                </a:lnTo>
                <a:lnTo>
                  <a:pt x="37284" y="1677798"/>
                </a:lnTo>
                <a:cubicBezTo>
                  <a:pt x="16693" y="1677798"/>
                  <a:pt x="0" y="1661105"/>
                  <a:pt x="0" y="1640514"/>
                </a:cubicBezTo>
                <a:lnTo>
                  <a:pt x="0" y="37284"/>
                </a:lnTo>
                <a:cubicBezTo>
                  <a:pt x="0" y="16693"/>
                  <a:pt x="16693" y="0"/>
                  <a:pt x="37284" y="0"/>
                </a:cubicBezTo>
                <a:close/>
              </a:path>
            </a:pathLst>
          </a:custGeom>
          <a:solidFill>
            <a:srgbClr val="E6B450"/>
          </a:solidFill>
        </p:spPr>
      </p:sp>
      <p:sp>
        <p:nvSpPr>
          <p:cNvPr id="7" name="Shape 5"/>
          <p:cNvSpPr/>
          <p:nvPr/>
        </p:nvSpPr>
        <p:spPr>
          <a:xfrm>
            <a:off x="601211" y="2206813"/>
            <a:ext cx="223706" cy="223706"/>
          </a:xfrm>
          <a:custGeom>
            <a:avLst/>
            <a:gdLst/>
            <a:ahLst/>
            <a:cxnLst/>
            <a:rect l="l" t="t" r="r" b="b"/>
            <a:pathLst>
              <a:path w="223706" h="223706">
                <a:moveTo>
                  <a:pt x="85244" y="4151"/>
                </a:moveTo>
                <a:cubicBezTo>
                  <a:pt x="86555" y="-2316"/>
                  <a:pt x="92279" y="-6991"/>
                  <a:pt x="98920" y="-6991"/>
                </a:cubicBezTo>
                <a:lnTo>
                  <a:pt x="125048" y="-6991"/>
                </a:lnTo>
                <a:cubicBezTo>
                  <a:pt x="131690" y="-6991"/>
                  <a:pt x="137413" y="-2316"/>
                  <a:pt x="138724" y="4151"/>
                </a:cubicBezTo>
                <a:lnTo>
                  <a:pt x="145060" y="34736"/>
                </a:lnTo>
                <a:cubicBezTo>
                  <a:pt x="151220" y="37357"/>
                  <a:pt x="156988" y="40722"/>
                  <a:pt x="162231" y="44698"/>
                </a:cubicBezTo>
                <a:lnTo>
                  <a:pt x="191854" y="34867"/>
                </a:lnTo>
                <a:cubicBezTo>
                  <a:pt x="198146" y="32769"/>
                  <a:pt x="205050" y="35391"/>
                  <a:pt x="208370" y="41158"/>
                </a:cubicBezTo>
                <a:lnTo>
                  <a:pt x="221434" y="63791"/>
                </a:lnTo>
                <a:cubicBezTo>
                  <a:pt x="224755" y="69559"/>
                  <a:pt x="223575" y="76812"/>
                  <a:pt x="218594" y="81225"/>
                </a:cubicBezTo>
                <a:lnTo>
                  <a:pt x="195306" y="101935"/>
                </a:lnTo>
                <a:cubicBezTo>
                  <a:pt x="195699" y="105168"/>
                  <a:pt x="195874" y="108489"/>
                  <a:pt x="195874" y="111853"/>
                </a:cubicBezTo>
                <a:cubicBezTo>
                  <a:pt x="195874" y="115218"/>
                  <a:pt x="195656" y="118538"/>
                  <a:pt x="195306" y="121771"/>
                </a:cubicBezTo>
                <a:lnTo>
                  <a:pt x="218638" y="142525"/>
                </a:lnTo>
                <a:cubicBezTo>
                  <a:pt x="223619" y="146938"/>
                  <a:pt x="224755" y="154235"/>
                  <a:pt x="221478" y="159959"/>
                </a:cubicBezTo>
                <a:lnTo>
                  <a:pt x="208414" y="182592"/>
                </a:lnTo>
                <a:cubicBezTo>
                  <a:pt x="205093" y="188315"/>
                  <a:pt x="198190" y="190981"/>
                  <a:pt x="191898" y="188883"/>
                </a:cubicBezTo>
                <a:lnTo>
                  <a:pt x="162275" y="179053"/>
                </a:lnTo>
                <a:cubicBezTo>
                  <a:pt x="156988" y="183029"/>
                  <a:pt x="151220" y="186349"/>
                  <a:pt x="145103" y="189014"/>
                </a:cubicBezTo>
                <a:lnTo>
                  <a:pt x="138812" y="219556"/>
                </a:lnTo>
                <a:cubicBezTo>
                  <a:pt x="137457" y="226066"/>
                  <a:pt x="131733" y="230697"/>
                  <a:pt x="125136" y="230697"/>
                </a:cubicBezTo>
                <a:lnTo>
                  <a:pt x="99008" y="230697"/>
                </a:lnTo>
                <a:cubicBezTo>
                  <a:pt x="92366" y="230697"/>
                  <a:pt x="86643" y="226022"/>
                  <a:pt x="85332" y="219556"/>
                </a:cubicBezTo>
                <a:lnTo>
                  <a:pt x="79040" y="189014"/>
                </a:lnTo>
                <a:cubicBezTo>
                  <a:pt x="72879" y="186393"/>
                  <a:pt x="67156" y="183029"/>
                  <a:pt x="61869" y="179053"/>
                </a:cubicBezTo>
                <a:lnTo>
                  <a:pt x="32114" y="188883"/>
                </a:lnTo>
                <a:cubicBezTo>
                  <a:pt x="25822" y="190981"/>
                  <a:pt x="18919" y="188359"/>
                  <a:pt x="15598" y="182592"/>
                </a:cubicBezTo>
                <a:lnTo>
                  <a:pt x="2534" y="159959"/>
                </a:lnTo>
                <a:cubicBezTo>
                  <a:pt x="-786" y="154191"/>
                  <a:pt x="393" y="146938"/>
                  <a:pt x="5374" y="142525"/>
                </a:cubicBezTo>
                <a:lnTo>
                  <a:pt x="28706" y="121771"/>
                </a:lnTo>
                <a:cubicBezTo>
                  <a:pt x="28313" y="118538"/>
                  <a:pt x="28138" y="115218"/>
                  <a:pt x="28138" y="111853"/>
                </a:cubicBezTo>
                <a:cubicBezTo>
                  <a:pt x="28138" y="108489"/>
                  <a:pt x="28357" y="105168"/>
                  <a:pt x="28706" y="101935"/>
                </a:cubicBezTo>
                <a:lnTo>
                  <a:pt x="5374" y="81181"/>
                </a:lnTo>
                <a:cubicBezTo>
                  <a:pt x="393" y="76768"/>
                  <a:pt x="-743" y="69471"/>
                  <a:pt x="2534" y="63748"/>
                </a:cubicBezTo>
                <a:lnTo>
                  <a:pt x="15598" y="41115"/>
                </a:lnTo>
                <a:cubicBezTo>
                  <a:pt x="18919" y="35347"/>
                  <a:pt x="25822" y="32726"/>
                  <a:pt x="32114" y="34823"/>
                </a:cubicBezTo>
                <a:lnTo>
                  <a:pt x="61738" y="44654"/>
                </a:lnTo>
                <a:cubicBezTo>
                  <a:pt x="67025" y="40678"/>
                  <a:pt x="72792" y="37357"/>
                  <a:pt x="78909" y="34692"/>
                </a:cubicBezTo>
                <a:lnTo>
                  <a:pt x="85244" y="4151"/>
                </a:lnTo>
                <a:close/>
                <a:moveTo>
                  <a:pt x="111984" y="146807"/>
                </a:moveTo>
                <a:cubicBezTo>
                  <a:pt x="124472" y="146761"/>
                  <a:pt x="135987" y="140055"/>
                  <a:pt x="142190" y="129217"/>
                </a:cubicBezTo>
                <a:cubicBezTo>
                  <a:pt x="148393" y="118378"/>
                  <a:pt x="148343" y="105054"/>
                  <a:pt x="142059" y="94263"/>
                </a:cubicBezTo>
                <a:cubicBezTo>
                  <a:pt x="135774" y="83471"/>
                  <a:pt x="124210" y="76852"/>
                  <a:pt x="111722" y="76899"/>
                </a:cubicBezTo>
                <a:cubicBezTo>
                  <a:pt x="99234" y="76946"/>
                  <a:pt x="87720" y="83651"/>
                  <a:pt x="81517" y="94490"/>
                </a:cubicBezTo>
                <a:cubicBezTo>
                  <a:pt x="75313" y="105328"/>
                  <a:pt x="75363" y="118652"/>
                  <a:pt x="81648" y="129444"/>
                </a:cubicBezTo>
                <a:cubicBezTo>
                  <a:pt x="87932" y="140235"/>
                  <a:pt x="99496" y="146854"/>
                  <a:pt x="111984" y="146807"/>
                </a:cubicBezTo>
                <a:close/>
              </a:path>
            </a:pathLst>
          </a:custGeom>
          <a:solidFill>
            <a:srgbClr val="E6B450"/>
          </a:solidFill>
        </p:spPr>
      </p:sp>
      <p:sp>
        <p:nvSpPr>
          <p:cNvPr id="8" name="Text 6"/>
          <p:cNvSpPr/>
          <p:nvPr/>
        </p:nvSpPr>
        <p:spPr>
          <a:xfrm>
            <a:off x="938955" y="2169529"/>
            <a:ext cx="6897615" cy="298275"/>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算法前提</a:t>
            </a:r>
            <a:endParaRPr lang="en-US" dirty="0"/>
          </a:p>
        </p:txBody>
      </p:sp>
      <p:sp>
        <p:nvSpPr>
          <p:cNvPr id="9" name="Text 7"/>
          <p:cNvSpPr/>
          <p:nvPr/>
        </p:nvSpPr>
        <p:spPr>
          <a:xfrm>
            <a:off x="938955" y="2579657"/>
            <a:ext cx="6869651" cy="820257"/>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波前规划器需要另外一个地图更新每个单元格的值。算法的第一步将原地图的信息导入到用于路径规划的地图中。单元格中的值通过</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邻域连通性</a:t>
            </a:r>
            <a:r>
              <a:rPr lang="en-US" sz="1600" dirty="0">
                <a:latin typeface="微软雅黑" panose="020B0503020204020204" pitchFamily="34" charset="-122"/>
                <a:ea typeface="微软雅黑" panose="020B0503020204020204" pitchFamily="34" charset="-122"/>
                <a:cs typeface="微软雅黑" panose="020B0503020204020204" pitchFamily="34" charset="-122"/>
              </a:rPr>
              <a:t>来更新。单元格之间的连通性可以使用</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四邻域 </a:t>
            </a:r>
            <a:r>
              <a:rPr lang="en-US" sz="1600" dirty="0">
                <a:latin typeface="微软雅黑" panose="020B0503020204020204" pitchFamily="34" charset="-122"/>
                <a:ea typeface="微软雅黑" panose="020B0503020204020204" pitchFamily="34" charset="-122"/>
                <a:cs typeface="微软雅黑" panose="020B0503020204020204" pitchFamily="34" charset="-122"/>
              </a:rPr>
              <a:t>或</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八邻域 </a:t>
            </a:r>
            <a:r>
              <a:rPr lang="en-US" sz="1600" dirty="0">
                <a:latin typeface="微软雅黑" panose="020B0503020204020204" pitchFamily="34" charset="-122"/>
                <a:ea typeface="微软雅黑" panose="020B0503020204020204" pitchFamily="34" charset="-122"/>
                <a:cs typeface="微软雅黑" panose="020B0503020204020204" pitchFamily="34" charset="-122"/>
              </a:rPr>
              <a:t>连通性。</a:t>
            </a:r>
            <a:endParaRPr lang="en-US" sz="2000" dirty="0"/>
          </a:p>
        </p:txBody>
      </p:sp>
      <p:sp>
        <p:nvSpPr>
          <p:cNvPr id="10" name="Shape 8"/>
          <p:cNvSpPr/>
          <p:nvPr/>
        </p:nvSpPr>
        <p:spPr>
          <a:xfrm>
            <a:off x="391486" y="3844997"/>
            <a:ext cx="7550092" cy="1677798"/>
          </a:xfrm>
          <a:custGeom>
            <a:avLst/>
            <a:gdLst/>
            <a:ahLst/>
            <a:cxnLst/>
            <a:rect l="l" t="t" r="r" b="b"/>
            <a:pathLst>
              <a:path w="7550092" h="1677798">
                <a:moveTo>
                  <a:pt x="37284" y="0"/>
                </a:moveTo>
                <a:lnTo>
                  <a:pt x="7438233" y="0"/>
                </a:lnTo>
                <a:cubicBezTo>
                  <a:pt x="7500011" y="0"/>
                  <a:pt x="7550092" y="50081"/>
                  <a:pt x="7550092" y="111859"/>
                </a:cubicBezTo>
                <a:lnTo>
                  <a:pt x="7550092" y="1565939"/>
                </a:lnTo>
                <a:cubicBezTo>
                  <a:pt x="7550092" y="1627717"/>
                  <a:pt x="7500011" y="1677798"/>
                  <a:pt x="7438233" y="1677798"/>
                </a:cubicBezTo>
                <a:lnTo>
                  <a:pt x="37284" y="1677798"/>
                </a:lnTo>
                <a:cubicBezTo>
                  <a:pt x="16693" y="1677798"/>
                  <a:pt x="0" y="1661105"/>
                  <a:pt x="0" y="1640514"/>
                </a:cubicBezTo>
                <a:lnTo>
                  <a:pt x="0" y="37284"/>
                </a:lnTo>
                <a:cubicBezTo>
                  <a:pt x="0" y="16693"/>
                  <a:pt x="16693" y="0"/>
                  <a:pt x="37284" y="0"/>
                </a:cubicBezTo>
                <a:close/>
              </a:path>
            </a:pathLst>
          </a:custGeom>
          <a:solidFill>
            <a:srgbClr val="5F87A7">
              <a:alpha val="10196"/>
            </a:srgbClr>
          </a:solidFill>
        </p:spPr>
      </p:sp>
      <p:sp>
        <p:nvSpPr>
          <p:cNvPr id="11" name="Shape 9"/>
          <p:cNvSpPr/>
          <p:nvPr/>
        </p:nvSpPr>
        <p:spPr>
          <a:xfrm>
            <a:off x="391486" y="3844997"/>
            <a:ext cx="37284" cy="1677798"/>
          </a:xfrm>
          <a:custGeom>
            <a:avLst/>
            <a:gdLst/>
            <a:ahLst/>
            <a:cxnLst/>
            <a:rect l="l" t="t" r="r" b="b"/>
            <a:pathLst>
              <a:path w="37284" h="1677798">
                <a:moveTo>
                  <a:pt x="37284" y="0"/>
                </a:moveTo>
                <a:lnTo>
                  <a:pt x="37284" y="0"/>
                </a:lnTo>
                <a:lnTo>
                  <a:pt x="37284" y="1677798"/>
                </a:lnTo>
                <a:lnTo>
                  <a:pt x="37284" y="1677798"/>
                </a:lnTo>
                <a:cubicBezTo>
                  <a:pt x="16693" y="1677798"/>
                  <a:pt x="0" y="1661105"/>
                  <a:pt x="0" y="1640514"/>
                </a:cubicBezTo>
                <a:lnTo>
                  <a:pt x="0" y="37284"/>
                </a:lnTo>
                <a:cubicBezTo>
                  <a:pt x="0" y="16693"/>
                  <a:pt x="16693" y="0"/>
                  <a:pt x="37284" y="0"/>
                </a:cubicBezTo>
                <a:close/>
              </a:path>
            </a:pathLst>
          </a:custGeom>
          <a:solidFill>
            <a:srgbClr val="E6B450"/>
          </a:solidFill>
        </p:spPr>
      </p:sp>
      <p:sp>
        <p:nvSpPr>
          <p:cNvPr id="12" name="Shape 10"/>
          <p:cNvSpPr/>
          <p:nvPr/>
        </p:nvSpPr>
        <p:spPr>
          <a:xfrm>
            <a:off x="601211" y="4105988"/>
            <a:ext cx="223706" cy="223706"/>
          </a:xfrm>
          <a:custGeom>
            <a:avLst/>
            <a:gdLst/>
            <a:ahLst/>
            <a:cxnLst/>
            <a:rect l="l" t="t" r="r" b="b"/>
            <a:pathLst>
              <a:path w="223706" h="223706">
                <a:moveTo>
                  <a:pt x="111853" y="0"/>
                </a:moveTo>
                <a:cubicBezTo>
                  <a:pt x="118276" y="0"/>
                  <a:pt x="124175" y="3539"/>
                  <a:pt x="127233" y="9175"/>
                </a:cubicBezTo>
                <a:lnTo>
                  <a:pt x="221609" y="183946"/>
                </a:lnTo>
                <a:cubicBezTo>
                  <a:pt x="224537" y="189364"/>
                  <a:pt x="224406" y="195918"/>
                  <a:pt x="221260" y="201205"/>
                </a:cubicBezTo>
                <a:cubicBezTo>
                  <a:pt x="218114" y="206492"/>
                  <a:pt x="212390" y="209725"/>
                  <a:pt x="206229" y="209725"/>
                </a:cubicBezTo>
                <a:lnTo>
                  <a:pt x="17477" y="209725"/>
                </a:lnTo>
                <a:cubicBezTo>
                  <a:pt x="11316" y="209725"/>
                  <a:pt x="5636" y="206492"/>
                  <a:pt x="2447" y="201205"/>
                </a:cubicBezTo>
                <a:cubicBezTo>
                  <a:pt x="-743" y="195918"/>
                  <a:pt x="-830" y="189364"/>
                  <a:pt x="2097" y="183946"/>
                </a:cubicBezTo>
                <a:lnTo>
                  <a:pt x="96473" y="9175"/>
                </a:lnTo>
                <a:cubicBezTo>
                  <a:pt x="99532" y="3539"/>
                  <a:pt x="105430" y="0"/>
                  <a:pt x="111853" y="0"/>
                </a:cubicBezTo>
                <a:close/>
                <a:moveTo>
                  <a:pt x="111853" y="73404"/>
                </a:moveTo>
                <a:cubicBezTo>
                  <a:pt x="106042" y="73404"/>
                  <a:pt x="101367" y="78079"/>
                  <a:pt x="101367" y="83890"/>
                </a:cubicBezTo>
                <a:lnTo>
                  <a:pt x="101367" y="132826"/>
                </a:lnTo>
                <a:cubicBezTo>
                  <a:pt x="101367" y="138637"/>
                  <a:pt x="106042" y="143312"/>
                  <a:pt x="111853" y="143312"/>
                </a:cubicBezTo>
                <a:cubicBezTo>
                  <a:pt x="117664" y="143312"/>
                  <a:pt x="122339" y="138637"/>
                  <a:pt x="122339" y="132826"/>
                </a:cubicBezTo>
                <a:lnTo>
                  <a:pt x="122339" y="83890"/>
                </a:lnTo>
                <a:cubicBezTo>
                  <a:pt x="122339" y="78079"/>
                  <a:pt x="117664" y="73404"/>
                  <a:pt x="111853" y="73404"/>
                </a:cubicBezTo>
                <a:close/>
                <a:moveTo>
                  <a:pt x="123519" y="167780"/>
                </a:moveTo>
                <a:cubicBezTo>
                  <a:pt x="123785" y="163450"/>
                  <a:pt x="121625" y="159330"/>
                  <a:pt x="117913" y="157084"/>
                </a:cubicBezTo>
                <a:cubicBezTo>
                  <a:pt x="114201" y="154839"/>
                  <a:pt x="109549" y="154839"/>
                  <a:pt x="105837" y="157084"/>
                </a:cubicBezTo>
                <a:cubicBezTo>
                  <a:pt x="102125" y="159330"/>
                  <a:pt x="99966" y="163450"/>
                  <a:pt x="100231" y="167780"/>
                </a:cubicBezTo>
                <a:cubicBezTo>
                  <a:pt x="99966" y="172110"/>
                  <a:pt x="102125" y="176230"/>
                  <a:pt x="105837" y="178475"/>
                </a:cubicBezTo>
                <a:cubicBezTo>
                  <a:pt x="109549" y="180721"/>
                  <a:pt x="114201" y="180721"/>
                  <a:pt x="117913" y="178475"/>
                </a:cubicBezTo>
                <a:cubicBezTo>
                  <a:pt x="121625" y="176230"/>
                  <a:pt x="123785" y="172110"/>
                  <a:pt x="123519" y="167780"/>
                </a:cubicBezTo>
                <a:close/>
              </a:path>
            </a:pathLst>
          </a:custGeom>
          <a:solidFill>
            <a:srgbClr val="E6B450"/>
          </a:solidFill>
        </p:spPr>
      </p:sp>
      <p:sp>
        <p:nvSpPr>
          <p:cNvPr id="13" name="Text 11"/>
          <p:cNvSpPr/>
          <p:nvPr/>
        </p:nvSpPr>
        <p:spPr>
          <a:xfrm>
            <a:off x="938955" y="4068703"/>
            <a:ext cx="6897615" cy="298275"/>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连通性选择</a:t>
            </a:r>
            <a:endParaRPr lang="en-US" dirty="0"/>
          </a:p>
        </p:txBody>
      </p:sp>
      <p:sp>
        <p:nvSpPr>
          <p:cNvPr id="14" name="Text 12"/>
          <p:cNvSpPr/>
          <p:nvPr/>
        </p:nvSpPr>
        <p:spPr>
          <a:xfrm>
            <a:off x="938955" y="4478832"/>
            <a:ext cx="6869651" cy="820257"/>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选择四邻域或者八邻域取决于每个单元格在地图中代表的尺寸以及机器人在单元格之间运动的能力。</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确定连通性很重要</a:t>
            </a:r>
            <a:r>
              <a:rPr lang="en-US" sz="1600" dirty="0">
                <a:latin typeface="微软雅黑" panose="020B0503020204020204" pitchFamily="34" charset="-122"/>
                <a:ea typeface="微软雅黑" panose="020B0503020204020204" pitchFamily="34" charset="-122"/>
                <a:cs typeface="微软雅黑" panose="020B0503020204020204" pitchFamily="34" charset="-122"/>
              </a:rPr>
              <a:t>，因为这将不仅影响地图中单元格值的更新方式，而且影响规划器如何搜索最短路径。</a:t>
            </a:r>
            <a:endParaRPr lang="en-US" sz="2000" dirty="0"/>
          </a:p>
        </p:txBody>
      </p:sp>
      <p:sp>
        <p:nvSpPr>
          <p:cNvPr id="23" name="Shape 21"/>
          <p:cNvSpPr/>
          <p:nvPr/>
        </p:nvSpPr>
        <p:spPr>
          <a:xfrm>
            <a:off x="8248592" y="1950484"/>
            <a:ext cx="3569982" cy="3572312"/>
          </a:xfrm>
          <a:custGeom>
            <a:avLst/>
            <a:gdLst/>
            <a:ahLst/>
            <a:cxnLst/>
            <a:rect l="l" t="t" r="r" b="b"/>
            <a:pathLst>
              <a:path w="3569982" h="4781725">
                <a:moveTo>
                  <a:pt x="111848" y="0"/>
                </a:moveTo>
                <a:lnTo>
                  <a:pt x="3458134" y="0"/>
                </a:lnTo>
                <a:cubicBezTo>
                  <a:pt x="3519906" y="0"/>
                  <a:pt x="3569982" y="50076"/>
                  <a:pt x="3569982" y="111848"/>
                </a:cubicBezTo>
                <a:lnTo>
                  <a:pt x="3569982" y="4669877"/>
                </a:lnTo>
                <a:cubicBezTo>
                  <a:pt x="3569982" y="4731649"/>
                  <a:pt x="3519906" y="4781725"/>
                  <a:pt x="3458134" y="4781725"/>
                </a:cubicBezTo>
                <a:lnTo>
                  <a:pt x="111848" y="4781725"/>
                </a:lnTo>
                <a:cubicBezTo>
                  <a:pt x="50076" y="4781725"/>
                  <a:pt x="0" y="4731649"/>
                  <a:pt x="0" y="4669877"/>
                </a:cubicBezTo>
                <a:lnTo>
                  <a:pt x="0" y="111848"/>
                </a:lnTo>
                <a:cubicBezTo>
                  <a:pt x="0" y="50076"/>
                  <a:pt x="50076" y="0"/>
                  <a:pt x="111848" y="0"/>
                </a:cubicBezTo>
                <a:close/>
              </a:path>
            </a:pathLst>
          </a:custGeom>
          <a:solidFill>
            <a:srgbClr val="E6B450">
              <a:alpha val="10196"/>
            </a:srgbClr>
          </a:solidFill>
          <a:ln w="12700">
            <a:solidFill>
              <a:srgbClr val="E6B450">
                <a:alpha val="30196"/>
              </a:srgbClr>
            </a:solidFill>
            <a:prstDash val="solid"/>
          </a:ln>
        </p:spPr>
      </p:sp>
      <p:sp>
        <p:nvSpPr>
          <p:cNvPr id="24" name="Shape 22"/>
          <p:cNvSpPr/>
          <p:nvPr/>
        </p:nvSpPr>
        <p:spPr>
          <a:xfrm>
            <a:off x="8511913" y="2216134"/>
            <a:ext cx="163119" cy="186422"/>
          </a:xfrm>
          <a:custGeom>
            <a:avLst/>
            <a:gdLst/>
            <a:ahLst/>
            <a:cxnLst/>
            <a:rect l="l" t="t" r="r" b="b"/>
            <a:pathLst>
              <a:path w="163119" h="186422">
                <a:moveTo>
                  <a:pt x="139817" y="34954"/>
                </a:moveTo>
                <a:lnTo>
                  <a:pt x="139817" y="58257"/>
                </a:lnTo>
                <a:lnTo>
                  <a:pt x="116514" y="58257"/>
                </a:lnTo>
                <a:lnTo>
                  <a:pt x="116514" y="34954"/>
                </a:lnTo>
                <a:lnTo>
                  <a:pt x="139817" y="34954"/>
                </a:lnTo>
                <a:close/>
                <a:moveTo>
                  <a:pt x="139817" y="81560"/>
                </a:moveTo>
                <a:lnTo>
                  <a:pt x="139817" y="104862"/>
                </a:lnTo>
                <a:lnTo>
                  <a:pt x="116514" y="104862"/>
                </a:lnTo>
                <a:lnTo>
                  <a:pt x="116514" y="81560"/>
                </a:lnTo>
                <a:lnTo>
                  <a:pt x="139817" y="81560"/>
                </a:lnTo>
                <a:close/>
                <a:moveTo>
                  <a:pt x="139817" y="128165"/>
                </a:moveTo>
                <a:lnTo>
                  <a:pt x="139817" y="151468"/>
                </a:lnTo>
                <a:lnTo>
                  <a:pt x="116514" y="151468"/>
                </a:lnTo>
                <a:lnTo>
                  <a:pt x="116514" y="128165"/>
                </a:lnTo>
                <a:lnTo>
                  <a:pt x="139817" y="128165"/>
                </a:lnTo>
                <a:close/>
                <a:moveTo>
                  <a:pt x="93211" y="104862"/>
                </a:moveTo>
                <a:lnTo>
                  <a:pt x="69908" y="104862"/>
                </a:lnTo>
                <a:lnTo>
                  <a:pt x="69908" y="81560"/>
                </a:lnTo>
                <a:lnTo>
                  <a:pt x="93211" y="81560"/>
                </a:lnTo>
                <a:lnTo>
                  <a:pt x="93211" y="104862"/>
                </a:lnTo>
                <a:close/>
                <a:moveTo>
                  <a:pt x="69908" y="128165"/>
                </a:moveTo>
                <a:lnTo>
                  <a:pt x="93211" y="128165"/>
                </a:lnTo>
                <a:lnTo>
                  <a:pt x="93211" y="151468"/>
                </a:lnTo>
                <a:lnTo>
                  <a:pt x="69908" y="151468"/>
                </a:lnTo>
                <a:lnTo>
                  <a:pt x="69908" y="128165"/>
                </a:lnTo>
                <a:close/>
                <a:moveTo>
                  <a:pt x="46606" y="104862"/>
                </a:moveTo>
                <a:lnTo>
                  <a:pt x="23303" y="104862"/>
                </a:lnTo>
                <a:lnTo>
                  <a:pt x="23303" y="81560"/>
                </a:lnTo>
                <a:lnTo>
                  <a:pt x="46606" y="81560"/>
                </a:lnTo>
                <a:lnTo>
                  <a:pt x="46606" y="104862"/>
                </a:lnTo>
                <a:close/>
                <a:moveTo>
                  <a:pt x="23303" y="128165"/>
                </a:moveTo>
                <a:lnTo>
                  <a:pt x="46606" y="128165"/>
                </a:lnTo>
                <a:lnTo>
                  <a:pt x="46606" y="151468"/>
                </a:lnTo>
                <a:lnTo>
                  <a:pt x="23303" y="151468"/>
                </a:lnTo>
                <a:lnTo>
                  <a:pt x="23303" y="128165"/>
                </a:lnTo>
                <a:close/>
                <a:moveTo>
                  <a:pt x="23303" y="58257"/>
                </a:moveTo>
                <a:lnTo>
                  <a:pt x="23303" y="34954"/>
                </a:lnTo>
                <a:lnTo>
                  <a:pt x="46606" y="34954"/>
                </a:lnTo>
                <a:lnTo>
                  <a:pt x="46606" y="58257"/>
                </a:lnTo>
                <a:lnTo>
                  <a:pt x="23303" y="58257"/>
                </a:lnTo>
                <a:close/>
                <a:moveTo>
                  <a:pt x="69908" y="58257"/>
                </a:moveTo>
                <a:lnTo>
                  <a:pt x="69908" y="34954"/>
                </a:lnTo>
                <a:lnTo>
                  <a:pt x="93211" y="34954"/>
                </a:lnTo>
                <a:lnTo>
                  <a:pt x="93211" y="58257"/>
                </a:lnTo>
                <a:lnTo>
                  <a:pt x="69908" y="58257"/>
                </a:lnTo>
                <a:close/>
                <a:moveTo>
                  <a:pt x="23303" y="11651"/>
                </a:moveTo>
                <a:cubicBezTo>
                  <a:pt x="10450" y="11651"/>
                  <a:pt x="0" y="22101"/>
                  <a:pt x="0" y="34954"/>
                </a:cubicBezTo>
                <a:lnTo>
                  <a:pt x="0" y="151468"/>
                </a:lnTo>
                <a:cubicBezTo>
                  <a:pt x="0" y="164321"/>
                  <a:pt x="10450" y="174771"/>
                  <a:pt x="23303" y="174771"/>
                </a:cubicBezTo>
                <a:lnTo>
                  <a:pt x="139817" y="174771"/>
                </a:lnTo>
                <a:cubicBezTo>
                  <a:pt x="152669" y="174771"/>
                  <a:pt x="163119" y="164321"/>
                  <a:pt x="163119" y="151468"/>
                </a:cubicBezTo>
                <a:lnTo>
                  <a:pt x="163119" y="34954"/>
                </a:lnTo>
                <a:cubicBezTo>
                  <a:pt x="163119" y="22101"/>
                  <a:pt x="152669" y="11651"/>
                  <a:pt x="139817" y="11651"/>
                </a:cubicBezTo>
                <a:lnTo>
                  <a:pt x="23303" y="11651"/>
                </a:lnTo>
                <a:close/>
              </a:path>
            </a:pathLst>
          </a:custGeom>
          <a:solidFill>
            <a:srgbClr val="E6B450"/>
          </a:solidFill>
        </p:spPr>
      </p:sp>
      <p:sp>
        <p:nvSpPr>
          <p:cNvPr id="25" name="Text 23"/>
          <p:cNvSpPr/>
          <p:nvPr/>
        </p:nvSpPr>
        <p:spPr>
          <a:xfrm>
            <a:off x="8709986" y="2178850"/>
            <a:ext cx="2973431" cy="260991"/>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邻域连通性示意</a:t>
            </a:r>
            <a:endParaRPr lang="en-US" sz="2000" dirty="0"/>
          </a:p>
        </p:txBody>
      </p:sp>
      <p:sp>
        <p:nvSpPr>
          <p:cNvPr id="26" name="Text 24"/>
          <p:cNvSpPr/>
          <p:nvPr/>
        </p:nvSpPr>
        <p:spPr>
          <a:xfrm>
            <a:off x="8947674" y="3444189"/>
            <a:ext cx="978716" cy="260991"/>
          </a:xfrm>
          <a:prstGeom prst="rect">
            <a:avLst/>
          </a:prstGeom>
          <a:noFill/>
        </p:spPr>
        <p:txBody>
          <a:bodyPr wrap="square" lIns="0" tIns="0" rIns="0" bIns="0" rtlCol="0" anchor="ctr"/>
          <a:lstStyle/>
          <a:p>
            <a:pPr algn="ct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四邻域</a:t>
            </a:r>
            <a:endParaRPr lang="en-US" sz="2000" dirty="0"/>
          </a:p>
        </p:txBody>
      </p:sp>
      <p:sp>
        <p:nvSpPr>
          <p:cNvPr id="27" name="Shape 25"/>
          <p:cNvSpPr/>
          <p:nvPr/>
        </p:nvSpPr>
        <p:spPr>
          <a:xfrm>
            <a:off x="9325179" y="4189877"/>
            <a:ext cx="223706" cy="223706"/>
          </a:xfrm>
          <a:custGeom>
            <a:avLst/>
            <a:gdLst/>
            <a:ahLst/>
            <a:cxnLst/>
            <a:rect l="l" t="t" r="r" b="b"/>
            <a:pathLst>
              <a:path w="223706" h="223706">
                <a:moveTo>
                  <a:pt x="111853" y="0"/>
                </a:moveTo>
                <a:lnTo>
                  <a:pt x="111853" y="0"/>
                </a:lnTo>
                <a:cubicBezTo>
                  <a:pt x="173587" y="0"/>
                  <a:pt x="223706" y="50120"/>
                  <a:pt x="223706" y="111853"/>
                </a:cubicBezTo>
                <a:lnTo>
                  <a:pt x="223706" y="111853"/>
                </a:lnTo>
                <a:cubicBezTo>
                  <a:pt x="223706" y="173587"/>
                  <a:pt x="173587" y="223706"/>
                  <a:pt x="111853" y="223706"/>
                </a:cubicBezTo>
                <a:lnTo>
                  <a:pt x="111853" y="223706"/>
                </a:lnTo>
                <a:cubicBezTo>
                  <a:pt x="50120" y="223706"/>
                  <a:pt x="0" y="173587"/>
                  <a:pt x="0" y="111853"/>
                </a:cubicBezTo>
                <a:lnTo>
                  <a:pt x="0" y="111853"/>
                </a:lnTo>
                <a:cubicBezTo>
                  <a:pt x="0" y="50120"/>
                  <a:pt x="50120" y="0"/>
                  <a:pt x="111853" y="0"/>
                </a:cubicBezTo>
                <a:close/>
              </a:path>
            </a:pathLst>
          </a:custGeom>
          <a:solidFill>
            <a:srgbClr val="E6B450"/>
          </a:solidFill>
        </p:spPr>
      </p:sp>
      <p:sp>
        <p:nvSpPr>
          <p:cNvPr id="28" name="Shape 26"/>
          <p:cNvSpPr/>
          <p:nvPr/>
        </p:nvSpPr>
        <p:spPr>
          <a:xfrm>
            <a:off x="9334500" y="3863639"/>
            <a:ext cx="205064" cy="205064"/>
          </a:xfrm>
          <a:custGeom>
            <a:avLst/>
            <a:gdLst/>
            <a:ahLst/>
            <a:cxnLst/>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a:srgbClr val="000000">
              <a:alpha val="0"/>
            </a:srgbClr>
          </a:solidFill>
          <a:ln w="25400">
            <a:solidFill>
              <a:srgbClr val="E6B450"/>
            </a:solidFill>
            <a:prstDash val="solid"/>
          </a:ln>
        </p:spPr>
      </p:sp>
      <p:sp>
        <p:nvSpPr>
          <p:cNvPr id="29" name="Shape 27"/>
          <p:cNvSpPr/>
          <p:nvPr/>
        </p:nvSpPr>
        <p:spPr>
          <a:xfrm>
            <a:off x="9334500" y="4534758"/>
            <a:ext cx="205064" cy="205064"/>
          </a:xfrm>
          <a:custGeom>
            <a:avLst/>
            <a:gdLst/>
            <a:ahLst/>
            <a:cxnLst/>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a:srgbClr val="000000">
              <a:alpha val="0"/>
            </a:srgbClr>
          </a:solidFill>
          <a:ln w="25400">
            <a:solidFill>
              <a:srgbClr val="E6B450"/>
            </a:solidFill>
            <a:prstDash val="solid"/>
          </a:ln>
        </p:spPr>
      </p:sp>
      <p:sp>
        <p:nvSpPr>
          <p:cNvPr id="30" name="Shape 28"/>
          <p:cNvSpPr/>
          <p:nvPr/>
        </p:nvSpPr>
        <p:spPr>
          <a:xfrm>
            <a:off x="8998940" y="4199199"/>
            <a:ext cx="205064" cy="205064"/>
          </a:xfrm>
          <a:custGeom>
            <a:avLst/>
            <a:gdLst/>
            <a:ahLst/>
            <a:cxnLst/>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a:srgbClr val="000000">
              <a:alpha val="0"/>
            </a:srgbClr>
          </a:solidFill>
          <a:ln w="25400">
            <a:solidFill>
              <a:srgbClr val="E6B450"/>
            </a:solidFill>
            <a:prstDash val="solid"/>
          </a:ln>
        </p:spPr>
      </p:sp>
      <p:sp>
        <p:nvSpPr>
          <p:cNvPr id="31" name="Shape 29"/>
          <p:cNvSpPr/>
          <p:nvPr/>
        </p:nvSpPr>
        <p:spPr>
          <a:xfrm>
            <a:off x="9670060" y="4199199"/>
            <a:ext cx="205064" cy="205064"/>
          </a:xfrm>
          <a:custGeom>
            <a:avLst/>
            <a:gdLst/>
            <a:ahLst/>
            <a:cxnLst/>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a:srgbClr val="000000">
              <a:alpha val="0"/>
            </a:srgbClr>
          </a:solidFill>
          <a:ln w="25400">
            <a:solidFill>
              <a:srgbClr val="E6B450"/>
            </a:solidFill>
            <a:prstDash val="solid"/>
          </a:ln>
        </p:spPr>
      </p:sp>
      <p:sp>
        <p:nvSpPr>
          <p:cNvPr id="32" name="Text 30"/>
          <p:cNvSpPr/>
          <p:nvPr/>
        </p:nvSpPr>
        <p:spPr>
          <a:xfrm>
            <a:off x="10140775" y="3444189"/>
            <a:ext cx="978716" cy="260991"/>
          </a:xfrm>
          <a:prstGeom prst="rect">
            <a:avLst/>
          </a:prstGeom>
          <a:noFill/>
        </p:spPr>
        <p:txBody>
          <a:bodyPr wrap="square" lIns="0" tIns="0" rIns="0" bIns="0" rtlCol="0" anchor="ctr"/>
          <a:lstStyle/>
          <a:p>
            <a:pPr algn="ct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八邻域</a:t>
            </a:r>
            <a:endParaRPr lang="en-US" sz="2000" dirty="0"/>
          </a:p>
        </p:txBody>
      </p:sp>
      <p:sp>
        <p:nvSpPr>
          <p:cNvPr id="33" name="Shape 31"/>
          <p:cNvSpPr/>
          <p:nvPr/>
        </p:nvSpPr>
        <p:spPr>
          <a:xfrm>
            <a:off x="10518280" y="4189877"/>
            <a:ext cx="223706" cy="223706"/>
          </a:xfrm>
          <a:custGeom>
            <a:avLst/>
            <a:gdLst/>
            <a:ahLst/>
            <a:cxnLst/>
            <a:rect l="l" t="t" r="r" b="b"/>
            <a:pathLst>
              <a:path w="223706" h="223706">
                <a:moveTo>
                  <a:pt x="111853" y="0"/>
                </a:moveTo>
                <a:lnTo>
                  <a:pt x="111853" y="0"/>
                </a:lnTo>
                <a:cubicBezTo>
                  <a:pt x="173587" y="0"/>
                  <a:pt x="223706" y="50120"/>
                  <a:pt x="223706" y="111853"/>
                </a:cubicBezTo>
                <a:lnTo>
                  <a:pt x="223706" y="111853"/>
                </a:lnTo>
                <a:cubicBezTo>
                  <a:pt x="223706" y="173587"/>
                  <a:pt x="173587" y="223706"/>
                  <a:pt x="111853" y="223706"/>
                </a:cubicBezTo>
                <a:lnTo>
                  <a:pt x="111853" y="223706"/>
                </a:lnTo>
                <a:cubicBezTo>
                  <a:pt x="50120" y="223706"/>
                  <a:pt x="0" y="173587"/>
                  <a:pt x="0" y="111853"/>
                </a:cubicBezTo>
                <a:lnTo>
                  <a:pt x="0" y="111853"/>
                </a:lnTo>
                <a:cubicBezTo>
                  <a:pt x="0" y="50120"/>
                  <a:pt x="50120" y="0"/>
                  <a:pt x="111853" y="0"/>
                </a:cubicBezTo>
                <a:close/>
              </a:path>
            </a:pathLst>
          </a:custGeom>
          <a:solidFill>
            <a:srgbClr val="E6B450"/>
          </a:solidFill>
        </p:spPr>
      </p:sp>
      <p:sp>
        <p:nvSpPr>
          <p:cNvPr id="34" name="Shape 32"/>
          <p:cNvSpPr/>
          <p:nvPr/>
        </p:nvSpPr>
        <p:spPr>
          <a:xfrm>
            <a:off x="10527601" y="3863639"/>
            <a:ext cx="205064" cy="205064"/>
          </a:xfrm>
          <a:custGeom>
            <a:avLst/>
            <a:gdLst/>
            <a:ahLst/>
            <a:cxnLst/>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a:srgbClr val="000000">
              <a:alpha val="0"/>
            </a:srgbClr>
          </a:solidFill>
          <a:ln w="25400">
            <a:solidFill>
              <a:srgbClr val="E6B450"/>
            </a:solidFill>
            <a:prstDash val="solid"/>
          </a:ln>
        </p:spPr>
      </p:sp>
      <p:sp>
        <p:nvSpPr>
          <p:cNvPr id="35" name="Shape 33"/>
          <p:cNvSpPr/>
          <p:nvPr/>
        </p:nvSpPr>
        <p:spPr>
          <a:xfrm>
            <a:off x="10527601" y="4534758"/>
            <a:ext cx="205064" cy="205064"/>
          </a:xfrm>
          <a:custGeom>
            <a:avLst/>
            <a:gdLst/>
            <a:ahLst/>
            <a:cxnLst/>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a:srgbClr val="000000">
              <a:alpha val="0"/>
            </a:srgbClr>
          </a:solidFill>
          <a:ln w="25400">
            <a:solidFill>
              <a:srgbClr val="E6B450"/>
            </a:solidFill>
            <a:prstDash val="solid"/>
          </a:ln>
        </p:spPr>
      </p:sp>
      <p:sp>
        <p:nvSpPr>
          <p:cNvPr id="36" name="Shape 34"/>
          <p:cNvSpPr/>
          <p:nvPr/>
        </p:nvSpPr>
        <p:spPr>
          <a:xfrm>
            <a:off x="10192041" y="4199199"/>
            <a:ext cx="205064" cy="205064"/>
          </a:xfrm>
          <a:custGeom>
            <a:avLst/>
            <a:gdLst/>
            <a:ahLst/>
            <a:cxnLst/>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a:srgbClr val="000000">
              <a:alpha val="0"/>
            </a:srgbClr>
          </a:solidFill>
          <a:ln w="25400">
            <a:solidFill>
              <a:srgbClr val="E6B450"/>
            </a:solidFill>
            <a:prstDash val="solid"/>
          </a:ln>
        </p:spPr>
      </p:sp>
      <p:sp>
        <p:nvSpPr>
          <p:cNvPr id="37" name="Shape 35"/>
          <p:cNvSpPr/>
          <p:nvPr/>
        </p:nvSpPr>
        <p:spPr>
          <a:xfrm>
            <a:off x="10863161" y="4199199"/>
            <a:ext cx="205064" cy="205064"/>
          </a:xfrm>
          <a:custGeom>
            <a:avLst/>
            <a:gdLst/>
            <a:ahLst/>
            <a:cxnLst/>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a:srgbClr val="000000">
              <a:alpha val="0"/>
            </a:srgbClr>
          </a:solidFill>
          <a:ln w="25400">
            <a:solidFill>
              <a:srgbClr val="E6B450"/>
            </a:solidFill>
            <a:prstDash val="solid"/>
          </a:ln>
        </p:spPr>
      </p:sp>
      <p:sp>
        <p:nvSpPr>
          <p:cNvPr id="38" name="Shape 36"/>
          <p:cNvSpPr/>
          <p:nvPr/>
        </p:nvSpPr>
        <p:spPr>
          <a:xfrm>
            <a:off x="10192041" y="3863639"/>
            <a:ext cx="205064" cy="205064"/>
          </a:xfrm>
          <a:custGeom>
            <a:avLst/>
            <a:gdLst/>
            <a:ahLst/>
            <a:cxnLst/>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a:srgbClr val="000000">
              <a:alpha val="0"/>
            </a:srgbClr>
          </a:solidFill>
          <a:ln w="25400">
            <a:solidFill>
              <a:srgbClr val="E6B450"/>
            </a:solidFill>
            <a:prstDash val="solid"/>
          </a:ln>
        </p:spPr>
      </p:sp>
      <p:sp>
        <p:nvSpPr>
          <p:cNvPr id="39" name="Shape 37"/>
          <p:cNvSpPr/>
          <p:nvPr/>
        </p:nvSpPr>
        <p:spPr>
          <a:xfrm>
            <a:off x="10863161" y="3863639"/>
            <a:ext cx="205064" cy="205064"/>
          </a:xfrm>
          <a:custGeom>
            <a:avLst/>
            <a:gdLst/>
            <a:ahLst/>
            <a:cxnLst/>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a:srgbClr val="000000">
              <a:alpha val="0"/>
            </a:srgbClr>
          </a:solidFill>
          <a:ln w="25400">
            <a:solidFill>
              <a:srgbClr val="E6B450"/>
            </a:solidFill>
            <a:prstDash val="solid"/>
          </a:ln>
        </p:spPr>
      </p:sp>
      <p:sp>
        <p:nvSpPr>
          <p:cNvPr id="40" name="Shape 38"/>
          <p:cNvSpPr/>
          <p:nvPr/>
        </p:nvSpPr>
        <p:spPr>
          <a:xfrm>
            <a:off x="10192041" y="4534758"/>
            <a:ext cx="205064" cy="205064"/>
          </a:xfrm>
          <a:custGeom>
            <a:avLst/>
            <a:gdLst/>
            <a:ahLst/>
            <a:cxnLst/>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a:srgbClr val="000000">
              <a:alpha val="0"/>
            </a:srgbClr>
          </a:solidFill>
          <a:ln w="25400">
            <a:solidFill>
              <a:srgbClr val="E6B450"/>
            </a:solidFill>
            <a:prstDash val="solid"/>
          </a:ln>
        </p:spPr>
      </p:sp>
      <p:sp>
        <p:nvSpPr>
          <p:cNvPr id="41" name="Shape 39"/>
          <p:cNvSpPr/>
          <p:nvPr/>
        </p:nvSpPr>
        <p:spPr>
          <a:xfrm>
            <a:off x="10863161" y="4534758"/>
            <a:ext cx="205064" cy="205064"/>
          </a:xfrm>
          <a:custGeom>
            <a:avLst/>
            <a:gdLst/>
            <a:ahLst/>
            <a:cxnLst/>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a:srgbClr val="000000">
              <a:alpha val="0"/>
            </a:srgbClr>
          </a:solidFill>
          <a:ln w="25400">
            <a:solidFill>
              <a:srgbClr val="E6B450"/>
            </a:solidFill>
            <a:prstDash val="solid"/>
          </a:ln>
        </p:spPr>
      </p:sp>
      <p:grpSp>
        <p:nvGrpSpPr>
          <p:cNvPr id="48" name="组合 47">
            <a:extLst>
              <a:ext uri="{FF2B5EF4-FFF2-40B4-BE49-F238E27FC236}">
                <a16:creationId xmlns:a16="http://schemas.microsoft.com/office/drawing/2014/main" id="{8A3E9E38-0BAF-4AA1-2138-7BFF7E439B8A}"/>
              </a:ext>
            </a:extLst>
          </p:cNvPr>
          <p:cNvGrpSpPr/>
          <p:nvPr/>
        </p:nvGrpSpPr>
        <p:grpSpPr>
          <a:xfrm>
            <a:off x="0" y="939798"/>
            <a:ext cx="5022850" cy="625474"/>
            <a:chOff x="0" y="1075267"/>
            <a:chExt cx="5022850" cy="625474"/>
          </a:xfrm>
        </p:grpSpPr>
        <p:sp>
          <p:nvSpPr>
            <p:cNvPr id="49" name="矩形 48">
              <a:extLst>
                <a:ext uri="{FF2B5EF4-FFF2-40B4-BE49-F238E27FC236}">
                  <a16:creationId xmlns:a16="http://schemas.microsoft.com/office/drawing/2014/main" id="{BBF833E9-2519-3306-C5AE-DA544314AF6E}"/>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C02C755F-FACB-B978-23C9-19C8DF44E000}"/>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7.2.1</a:t>
              </a:r>
              <a:r>
                <a:rPr lang="zh-CN" altLang="en-US" sz="2400" b="1" dirty="0">
                  <a:solidFill>
                    <a:schemeClr val="accent1"/>
                  </a:solidFill>
                  <a:latin typeface="+mj-lt"/>
                </a:rPr>
                <a:t>波前传播规划方法</a:t>
              </a:r>
            </a:p>
          </p:txBody>
        </p:sp>
      </p:grpSp>
    </p:spTree>
    <p:extLst>
      <p:ext uri="{BB962C8B-B14F-4D97-AF65-F5344CB8AC3E}">
        <p14:creationId xmlns:p14="http://schemas.microsoft.com/office/powerpoint/2010/main" val="2163662028"/>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43667" y="1634697"/>
            <a:ext cx="4851788" cy="2965012"/>
          </a:xfrm>
          <a:custGeom>
            <a:avLst/>
            <a:gdLst/>
            <a:ahLst/>
            <a:cxnLst/>
            <a:rect l="l" t="t" r="r" b="b"/>
            <a:pathLst>
              <a:path w="8117090" h="1235565">
                <a:moveTo>
                  <a:pt x="32730" y="0"/>
                </a:moveTo>
                <a:lnTo>
                  <a:pt x="8018900" y="0"/>
                </a:lnTo>
                <a:cubicBezTo>
                  <a:pt x="8073129" y="0"/>
                  <a:pt x="8117090" y="43961"/>
                  <a:pt x="8117090" y="98190"/>
                </a:cubicBezTo>
                <a:lnTo>
                  <a:pt x="8117090" y="1137375"/>
                </a:lnTo>
                <a:cubicBezTo>
                  <a:pt x="8117090" y="1191604"/>
                  <a:pt x="8073129" y="1235565"/>
                  <a:pt x="8018900" y="1235565"/>
                </a:cubicBezTo>
                <a:lnTo>
                  <a:pt x="32730" y="1235565"/>
                </a:lnTo>
                <a:cubicBezTo>
                  <a:pt x="14654" y="1235565"/>
                  <a:pt x="0" y="1220911"/>
                  <a:pt x="0" y="1202835"/>
                </a:cubicBezTo>
                <a:lnTo>
                  <a:pt x="0" y="32730"/>
                </a:lnTo>
                <a:cubicBezTo>
                  <a:pt x="0" y="14666"/>
                  <a:pt x="14666" y="0"/>
                  <a:pt x="32730" y="0"/>
                </a:cubicBezTo>
                <a:close/>
              </a:path>
            </a:pathLst>
          </a:custGeom>
          <a:solidFill>
            <a:srgbClr val="5F87A7">
              <a:alpha val="10196"/>
            </a:srgbClr>
          </a:solidFill>
        </p:spPr>
      </p:sp>
      <p:sp>
        <p:nvSpPr>
          <p:cNvPr id="6" name="Shape 4"/>
          <p:cNvSpPr/>
          <p:nvPr/>
        </p:nvSpPr>
        <p:spPr>
          <a:xfrm>
            <a:off x="343667" y="1634697"/>
            <a:ext cx="32730" cy="2965012"/>
          </a:xfrm>
          <a:custGeom>
            <a:avLst/>
            <a:gdLst/>
            <a:ahLst/>
            <a:cxnLst/>
            <a:rect l="l" t="t" r="r" b="b"/>
            <a:pathLst>
              <a:path w="32730" h="1235565">
                <a:moveTo>
                  <a:pt x="32730" y="0"/>
                </a:moveTo>
                <a:lnTo>
                  <a:pt x="32730" y="0"/>
                </a:lnTo>
                <a:lnTo>
                  <a:pt x="32730" y="1235565"/>
                </a:lnTo>
                <a:lnTo>
                  <a:pt x="32730" y="1235565"/>
                </a:lnTo>
                <a:cubicBezTo>
                  <a:pt x="14654" y="1235565"/>
                  <a:pt x="0" y="1220911"/>
                  <a:pt x="0" y="1202835"/>
                </a:cubicBezTo>
                <a:lnTo>
                  <a:pt x="0" y="32730"/>
                </a:lnTo>
                <a:cubicBezTo>
                  <a:pt x="0" y="14666"/>
                  <a:pt x="14666" y="0"/>
                  <a:pt x="32730" y="0"/>
                </a:cubicBezTo>
                <a:close/>
              </a:path>
            </a:pathLst>
          </a:custGeom>
          <a:solidFill>
            <a:srgbClr val="E6B450"/>
          </a:solidFill>
        </p:spPr>
      </p:sp>
      <p:sp>
        <p:nvSpPr>
          <p:cNvPr id="7" name="Shape 5"/>
          <p:cNvSpPr/>
          <p:nvPr/>
        </p:nvSpPr>
        <p:spPr>
          <a:xfrm>
            <a:off x="556413" y="1831078"/>
            <a:ext cx="327302" cy="327302"/>
          </a:xfrm>
          <a:custGeom>
            <a:avLst/>
            <a:gdLst/>
            <a:ahLst/>
            <a:cxnLst/>
            <a:rect l="l" t="t" r="r" b="b"/>
            <a:pathLst>
              <a:path w="327302" h="327302">
                <a:moveTo>
                  <a:pt x="163651" y="0"/>
                </a:moveTo>
                <a:lnTo>
                  <a:pt x="163651" y="0"/>
                </a:lnTo>
                <a:cubicBezTo>
                  <a:pt x="254033" y="0"/>
                  <a:pt x="327302" y="73269"/>
                  <a:pt x="327302" y="163651"/>
                </a:cubicBezTo>
                <a:lnTo>
                  <a:pt x="327302" y="163651"/>
                </a:lnTo>
                <a:cubicBezTo>
                  <a:pt x="327302" y="254033"/>
                  <a:pt x="254033" y="327302"/>
                  <a:pt x="163651" y="327302"/>
                </a:cubicBezTo>
                <a:lnTo>
                  <a:pt x="163651" y="327302"/>
                </a:lnTo>
                <a:cubicBezTo>
                  <a:pt x="73269" y="327302"/>
                  <a:pt x="0" y="254033"/>
                  <a:pt x="0" y="163651"/>
                </a:cubicBezTo>
                <a:lnTo>
                  <a:pt x="0" y="163651"/>
                </a:lnTo>
                <a:cubicBezTo>
                  <a:pt x="0" y="73269"/>
                  <a:pt x="73269" y="0"/>
                  <a:pt x="163651" y="0"/>
                </a:cubicBezTo>
                <a:close/>
              </a:path>
            </a:pathLst>
          </a:custGeom>
          <a:solidFill>
            <a:srgbClr val="E6B450">
              <a:alpha val="20000"/>
            </a:srgbClr>
          </a:solidFill>
        </p:spPr>
      </p:sp>
      <p:sp>
        <p:nvSpPr>
          <p:cNvPr id="8" name="Text 6"/>
          <p:cNvSpPr/>
          <p:nvPr/>
        </p:nvSpPr>
        <p:spPr>
          <a:xfrm>
            <a:off x="690531" y="1880174"/>
            <a:ext cx="130921" cy="229111"/>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1</a:t>
            </a:r>
            <a:endParaRPr lang="en-US" sz="2400" dirty="0"/>
          </a:p>
        </p:txBody>
      </p:sp>
      <p:sp>
        <p:nvSpPr>
          <p:cNvPr id="9" name="Text 7"/>
          <p:cNvSpPr/>
          <p:nvPr/>
        </p:nvSpPr>
        <p:spPr>
          <a:xfrm>
            <a:off x="1014636" y="1831078"/>
            <a:ext cx="7347930" cy="261842"/>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初始化地图</a:t>
            </a:r>
            <a:endParaRPr lang="en-US" sz="2000" dirty="0"/>
          </a:p>
        </p:txBody>
      </p:sp>
      <p:sp>
        <p:nvSpPr>
          <p:cNvPr id="10" name="Text 8"/>
          <p:cNvSpPr/>
          <p:nvPr/>
        </p:nvSpPr>
        <p:spPr>
          <a:xfrm>
            <a:off x="1014636" y="2191111"/>
            <a:ext cx="3905634" cy="2242344"/>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地图中所有的</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自由单元格</a:t>
            </a:r>
            <a:r>
              <a:rPr lang="en-US" sz="1600" dirty="0">
                <a:latin typeface="微软雅黑" panose="020B0503020204020204" pitchFamily="34" charset="-122"/>
                <a:ea typeface="微软雅黑" panose="020B0503020204020204" pitchFamily="34" charset="-122"/>
                <a:cs typeface="微软雅黑" panose="020B0503020204020204" pitchFamily="34" charset="-122"/>
              </a:rPr>
              <a:t>初始值设置为</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0</a:t>
            </a:r>
            <a:r>
              <a:rPr lang="en-US" sz="1600" dirty="0">
                <a:latin typeface="微软雅黑" panose="020B0503020204020204" pitchFamily="34" charset="-122"/>
                <a:ea typeface="微软雅黑" panose="020B0503020204020204" pitchFamily="34" charset="-122"/>
                <a:cs typeface="微软雅黑" panose="020B0503020204020204" pitchFamily="34" charset="-122"/>
              </a:rPr>
              <a:t>，有</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障碍物</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的单元格初始值设置为</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1</a:t>
            </a:r>
            <a:r>
              <a:rPr lang="en-US" sz="1600" dirty="0">
                <a:latin typeface="微软雅黑" panose="020B0503020204020204" pitchFamily="34" charset="-122"/>
                <a:ea typeface="微软雅黑" panose="020B0503020204020204" pitchFamily="34" charset="-122"/>
                <a:cs typeface="微软雅黑" panose="020B0503020204020204" pitchFamily="34" charset="-122"/>
              </a:rPr>
              <a:t>，机器人当前位置标记为</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开始</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期望机器人到达的位置标记为</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目的地</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，并且它的值被设置为</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2</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400" dirty="0"/>
          </a:p>
        </p:txBody>
      </p:sp>
      <p:grpSp>
        <p:nvGrpSpPr>
          <p:cNvPr id="114" name="组合 113">
            <a:extLst>
              <a:ext uri="{FF2B5EF4-FFF2-40B4-BE49-F238E27FC236}">
                <a16:creationId xmlns:a16="http://schemas.microsoft.com/office/drawing/2014/main" id="{797D2FE4-AA4E-A62A-DF36-5C3CC5BC0018}"/>
              </a:ext>
            </a:extLst>
          </p:cNvPr>
          <p:cNvGrpSpPr/>
          <p:nvPr/>
        </p:nvGrpSpPr>
        <p:grpSpPr>
          <a:xfrm>
            <a:off x="0" y="939798"/>
            <a:ext cx="5022850" cy="625474"/>
            <a:chOff x="0" y="1075267"/>
            <a:chExt cx="5022850" cy="625474"/>
          </a:xfrm>
        </p:grpSpPr>
        <p:sp>
          <p:nvSpPr>
            <p:cNvPr id="115" name="矩形 114">
              <a:extLst>
                <a:ext uri="{FF2B5EF4-FFF2-40B4-BE49-F238E27FC236}">
                  <a16:creationId xmlns:a16="http://schemas.microsoft.com/office/drawing/2014/main" id="{3980A332-AF64-72AF-7357-EB946B073E1A}"/>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文本框 115">
              <a:extLst>
                <a:ext uri="{FF2B5EF4-FFF2-40B4-BE49-F238E27FC236}">
                  <a16:creationId xmlns:a16="http://schemas.microsoft.com/office/drawing/2014/main" id="{DAC62AEA-1370-5C49-7DCC-B0B588D06122}"/>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7.2.1</a:t>
              </a:r>
              <a:r>
                <a:rPr lang="zh-CN" altLang="en-US" sz="2400" b="1" dirty="0">
                  <a:solidFill>
                    <a:schemeClr val="accent1"/>
                  </a:solidFill>
                  <a:latin typeface="+mj-lt"/>
                </a:rPr>
                <a:t>波前传播规划方法</a:t>
              </a:r>
            </a:p>
          </p:txBody>
        </p:sp>
      </p:grpSp>
      <p:pic>
        <p:nvPicPr>
          <p:cNvPr id="120" name="图片 119">
            <a:extLst>
              <a:ext uri="{FF2B5EF4-FFF2-40B4-BE49-F238E27FC236}">
                <a16:creationId xmlns:a16="http://schemas.microsoft.com/office/drawing/2014/main" id="{C5030743-AA1E-49C1-D460-D7B3B428EC52}"/>
              </a:ext>
            </a:extLst>
          </p:cNvPr>
          <p:cNvPicPr>
            <a:picLocks noChangeAspect="1"/>
          </p:cNvPicPr>
          <p:nvPr/>
        </p:nvPicPr>
        <p:blipFill>
          <a:blip r:embed="rId3" cstate="print">
            <a:extLst>
              <a:ext uri="{28A0092B-C50C-407E-A947-70E740481C1C}">
                <a14:useLocalDpi xmlns:a14="http://schemas.microsoft.com/office/drawing/2010/main" val="0"/>
              </a:ext>
            </a:extLst>
          </a:blip>
          <a:srcRect t="3085" r="49723" b="49685"/>
          <a:stretch>
            <a:fillRect/>
          </a:stretch>
        </p:blipFill>
        <p:spPr>
          <a:xfrm>
            <a:off x="5526057" y="1095477"/>
            <a:ext cx="6032251" cy="5762523"/>
          </a:xfrm>
          <a:prstGeom prst="rect">
            <a:avLst/>
          </a:prstGeom>
          <a:noFill/>
          <a:ln>
            <a:noFill/>
          </a:ln>
          <a:effectLst/>
        </p:spPr>
      </p:pic>
    </p:spTree>
    <p:extLst>
      <p:ext uri="{BB962C8B-B14F-4D97-AF65-F5344CB8AC3E}">
        <p14:creationId xmlns:p14="http://schemas.microsoft.com/office/powerpoint/2010/main" val="1791485681"/>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43667" y="1634698"/>
            <a:ext cx="5426751" cy="741358"/>
          </a:xfrm>
          <a:custGeom>
            <a:avLst/>
            <a:gdLst/>
            <a:ahLst/>
            <a:cxnLst/>
            <a:rect l="l" t="t" r="r" b="b"/>
            <a:pathLst>
              <a:path w="8117090" h="1235565">
                <a:moveTo>
                  <a:pt x="32730" y="0"/>
                </a:moveTo>
                <a:lnTo>
                  <a:pt x="8018900" y="0"/>
                </a:lnTo>
                <a:cubicBezTo>
                  <a:pt x="8073129" y="0"/>
                  <a:pt x="8117090" y="43961"/>
                  <a:pt x="8117090" y="98190"/>
                </a:cubicBezTo>
                <a:lnTo>
                  <a:pt x="8117090" y="1137375"/>
                </a:lnTo>
                <a:cubicBezTo>
                  <a:pt x="8117090" y="1191604"/>
                  <a:pt x="8073129" y="1235565"/>
                  <a:pt x="8018900" y="1235565"/>
                </a:cubicBezTo>
                <a:lnTo>
                  <a:pt x="32730" y="1235565"/>
                </a:lnTo>
                <a:cubicBezTo>
                  <a:pt x="14654" y="1235565"/>
                  <a:pt x="0" y="1220911"/>
                  <a:pt x="0" y="1202835"/>
                </a:cubicBezTo>
                <a:lnTo>
                  <a:pt x="0" y="32730"/>
                </a:lnTo>
                <a:cubicBezTo>
                  <a:pt x="0" y="14666"/>
                  <a:pt x="14666" y="0"/>
                  <a:pt x="32730" y="0"/>
                </a:cubicBezTo>
                <a:close/>
              </a:path>
            </a:pathLst>
          </a:custGeom>
          <a:solidFill>
            <a:srgbClr val="5F87A7">
              <a:alpha val="10196"/>
            </a:srgbClr>
          </a:solidFill>
        </p:spPr>
      </p:sp>
      <p:sp>
        <p:nvSpPr>
          <p:cNvPr id="6" name="Shape 4"/>
          <p:cNvSpPr/>
          <p:nvPr/>
        </p:nvSpPr>
        <p:spPr>
          <a:xfrm>
            <a:off x="343667" y="1634698"/>
            <a:ext cx="32730" cy="741358"/>
          </a:xfrm>
          <a:custGeom>
            <a:avLst/>
            <a:gdLst/>
            <a:ahLst/>
            <a:cxnLst/>
            <a:rect l="l" t="t" r="r" b="b"/>
            <a:pathLst>
              <a:path w="32730" h="1235565">
                <a:moveTo>
                  <a:pt x="32730" y="0"/>
                </a:moveTo>
                <a:lnTo>
                  <a:pt x="32730" y="0"/>
                </a:lnTo>
                <a:lnTo>
                  <a:pt x="32730" y="1235565"/>
                </a:lnTo>
                <a:lnTo>
                  <a:pt x="32730" y="1235565"/>
                </a:lnTo>
                <a:cubicBezTo>
                  <a:pt x="14654" y="1235565"/>
                  <a:pt x="0" y="1220911"/>
                  <a:pt x="0" y="1202835"/>
                </a:cubicBezTo>
                <a:lnTo>
                  <a:pt x="0" y="32730"/>
                </a:lnTo>
                <a:cubicBezTo>
                  <a:pt x="0" y="14666"/>
                  <a:pt x="14666" y="0"/>
                  <a:pt x="32730" y="0"/>
                </a:cubicBezTo>
                <a:close/>
              </a:path>
            </a:pathLst>
          </a:custGeom>
          <a:solidFill>
            <a:srgbClr val="E6B450"/>
          </a:solidFill>
        </p:spPr>
      </p:sp>
      <p:sp>
        <p:nvSpPr>
          <p:cNvPr id="7" name="Shape 5"/>
          <p:cNvSpPr/>
          <p:nvPr/>
        </p:nvSpPr>
        <p:spPr>
          <a:xfrm>
            <a:off x="556413" y="1831078"/>
            <a:ext cx="327302" cy="327302"/>
          </a:xfrm>
          <a:custGeom>
            <a:avLst/>
            <a:gdLst/>
            <a:ahLst/>
            <a:cxnLst/>
            <a:rect l="l" t="t" r="r" b="b"/>
            <a:pathLst>
              <a:path w="327302" h="327302">
                <a:moveTo>
                  <a:pt x="163651" y="0"/>
                </a:moveTo>
                <a:lnTo>
                  <a:pt x="163651" y="0"/>
                </a:lnTo>
                <a:cubicBezTo>
                  <a:pt x="254033" y="0"/>
                  <a:pt x="327302" y="73269"/>
                  <a:pt x="327302" y="163651"/>
                </a:cubicBezTo>
                <a:lnTo>
                  <a:pt x="327302" y="163651"/>
                </a:lnTo>
                <a:cubicBezTo>
                  <a:pt x="327302" y="254033"/>
                  <a:pt x="254033" y="327302"/>
                  <a:pt x="163651" y="327302"/>
                </a:cubicBezTo>
                <a:lnTo>
                  <a:pt x="163651" y="327302"/>
                </a:lnTo>
                <a:cubicBezTo>
                  <a:pt x="73269" y="327302"/>
                  <a:pt x="0" y="254033"/>
                  <a:pt x="0" y="163651"/>
                </a:cubicBezTo>
                <a:lnTo>
                  <a:pt x="0" y="163651"/>
                </a:lnTo>
                <a:cubicBezTo>
                  <a:pt x="0" y="73269"/>
                  <a:pt x="73269" y="0"/>
                  <a:pt x="163651" y="0"/>
                </a:cubicBezTo>
                <a:close/>
              </a:path>
            </a:pathLst>
          </a:custGeom>
          <a:solidFill>
            <a:srgbClr val="E6B450">
              <a:alpha val="20000"/>
            </a:srgbClr>
          </a:solidFill>
        </p:spPr>
      </p:sp>
      <p:sp>
        <p:nvSpPr>
          <p:cNvPr id="8" name="Text 6"/>
          <p:cNvSpPr/>
          <p:nvPr/>
        </p:nvSpPr>
        <p:spPr>
          <a:xfrm>
            <a:off x="690531" y="1880174"/>
            <a:ext cx="130921" cy="229111"/>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1</a:t>
            </a:r>
            <a:endParaRPr lang="en-US" sz="2400" dirty="0"/>
          </a:p>
        </p:txBody>
      </p:sp>
      <p:sp>
        <p:nvSpPr>
          <p:cNvPr id="9" name="Text 7"/>
          <p:cNvSpPr/>
          <p:nvPr/>
        </p:nvSpPr>
        <p:spPr>
          <a:xfrm>
            <a:off x="1014636" y="1831078"/>
            <a:ext cx="7347930" cy="261842"/>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初始化地图</a:t>
            </a:r>
            <a:endParaRPr lang="en-US" sz="2000" dirty="0"/>
          </a:p>
        </p:txBody>
      </p:sp>
      <p:sp>
        <p:nvSpPr>
          <p:cNvPr id="11" name="Shape 9"/>
          <p:cNvSpPr/>
          <p:nvPr/>
        </p:nvSpPr>
        <p:spPr>
          <a:xfrm>
            <a:off x="343667" y="2473732"/>
            <a:ext cx="5426751" cy="1313348"/>
          </a:xfrm>
          <a:custGeom>
            <a:avLst/>
            <a:gdLst/>
            <a:ahLst/>
            <a:cxnLst/>
            <a:rect l="l" t="t" r="r" b="b"/>
            <a:pathLst>
              <a:path w="8117090" h="990089">
                <a:moveTo>
                  <a:pt x="32730" y="0"/>
                </a:moveTo>
                <a:lnTo>
                  <a:pt x="8018903" y="0"/>
                </a:lnTo>
                <a:cubicBezTo>
                  <a:pt x="8073130" y="0"/>
                  <a:pt x="8117090" y="43960"/>
                  <a:pt x="8117090" y="98187"/>
                </a:cubicBezTo>
                <a:lnTo>
                  <a:pt x="8117090" y="891902"/>
                </a:lnTo>
                <a:cubicBezTo>
                  <a:pt x="8117090" y="946129"/>
                  <a:pt x="8073130" y="990089"/>
                  <a:pt x="8018903" y="990089"/>
                </a:cubicBezTo>
                <a:lnTo>
                  <a:pt x="32730" y="990089"/>
                </a:lnTo>
                <a:cubicBezTo>
                  <a:pt x="14654" y="990089"/>
                  <a:pt x="0" y="975435"/>
                  <a:pt x="0" y="957358"/>
                </a:cubicBezTo>
                <a:lnTo>
                  <a:pt x="0" y="32730"/>
                </a:lnTo>
                <a:cubicBezTo>
                  <a:pt x="0" y="14666"/>
                  <a:pt x="14666" y="0"/>
                  <a:pt x="32730" y="0"/>
                </a:cubicBezTo>
                <a:close/>
              </a:path>
            </a:pathLst>
          </a:custGeom>
          <a:solidFill>
            <a:srgbClr val="5F87A7">
              <a:alpha val="10196"/>
            </a:srgbClr>
          </a:solidFill>
        </p:spPr>
      </p:sp>
      <p:sp>
        <p:nvSpPr>
          <p:cNvPr id="12" name="Shape 10"/>
          <p:cNvSpPr/>
          <p:nvPr/>
        </p:nvSpPr>
        <p:spPr>
          <a:xfrm>
            <a:off x="343667" y="2473732"/>
            <a:ext cx="32730" cy="1313348"/>
          </a:xfrm>
          <a:custGeom>
            <a:avLst/>
            <a:gdLst/>
            <a:ahLst/>
            <a:cxnLst/>
            <a:rect l="l" t="t" r="r" b="b"/>
            <a:pathLst>
              <a:path w="32730" h="990089">
                <a:moveTo>
                  <a:pt x="32730" y="0"/>
                </a:moveTo>
                <a:lnTo>
                  <a:pt x="32730" y="0"/>
                </a:lnTo>
                <a:lnTo>
                  <a:pt x="32730" y="990089"/>
                </a:lnTo>
                <a:lnTo>
                  <a:pt x="32730" y="990089"/>
                </a:lnTo>
                <a:cubicBezTo>
                  <a:pt x="14654" y="990089"/>
                  <a:pt x="0" y="975435"/>
                  <a:pt x="0" y="957358"/>
                </a:cubicBezTo>
                <a:lnTo>
                  <a:pt x="0" y="32730"/>
                </a:lnTo>
                <a:cubicBezTo>
                  <a:pt x="0" y="14666"/>
                  <a:pt x="14666" y="0"/>
                  <a:pt x="32730" y="0"/>
                </a:cubicBezTo>
                <a:close/>
              </a:path>
            </a:pathLst>
          </a:custGeom>
          <a:solidFill>
            <a:srgbClr val="E6B450"/>
          </a:solidFill>
        </p:spPr>
      </p:sp>
      <p:sp>
        <p:nvSpPr>
          <p:cNvPr id="13" name="Shape 11"/>
          <p:cNvSpPr/>
          <p:nvPr/>
        </p:nvSpPr>
        <p:spPr>
          <a:xfrm>
            <a:off x="556413" y="2670113"/>
            <a:ext cx="327302" cy="327302"/>
          </a:xfrm>
          <a:custGeom>
            <a:avLst/>
            <a:gdLst/>
            <a:ahLst/>
            <a:cxnLst/>
            <a:rect l="l" t="t" r="r" b="b"/>
            <a:pathLst>
              <a:path w="327302" h="327302">
                <a:moveTo>
                  <a:pt x="163651" y="0"/>
                </a:moveTo>
                <a:lnTo>
                  <a:pt x="163651" y="0"/>
                </a:lnTo>
                <a:cubicBezTo>
                  <a:pt x="254033" y="0"/>
                  <a:pt x="327302" y="73269"/>
                  <a:pt x="327302" y="163651"/>
                </a:cubicBezTo>
                <a:lnTo>
                  <a:pt x="327302" y="163651"/>
                </a:lnTo>
                <a:cubicBezTo>
                  <a:pt x="327302" y="254033"/>
                  <a:pt x="254033" y="327302"/>
                  <a:pt x="163651" y="327302"/>
                </a:cubicBezTo>
                <a:lnTo>
                  <a:pt x="163651" y="327302"/>
                </a:lnTo>
                <a:cubicBezTo>
                  <a:pt x="73269" y="327302"/>
                  <a:pt x="0" y="254033"/>
                  <a:pt x="0" y="163651"/>
                </a:cubicBezTo>
                <a:lnTo>
                  <a:pt x="0" y="163651"/>
                </a:lnTo>
                <a:cubicBezTo>
                  <a:pt x="0" y="73269"/>
                  <a:pt x="73269" y="0"/>
                  <a:pt x="163651" y="0"/>
                </a:cubicBezTo>
                <a:close/>
              </a:path>
            </a:pathLst>
          </a:custGeom>
          <a:solidFill>
            <a:srgbClr val="E6B450">
              <a:alpha val="20000"/>
            </a:srgbClr>
          </a:solidFill>
        </p:spPr>
      </p:sp>
      <p:sp>
        <p:nvSpPr>
          <p:cNvPr id="14" name="Text 12"/>
          <p:cNvSpPr/>
          <p:nvPr/>
        </p:nvSpPr>
        <p:spPr>
          <a:xfrm>
            <a:off x="677234" y="2719209"/>
            <a:ext cx="155468" cy="229111"/>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2</a:t>
            </a:r>
            <a:endParaRPr lang="en-US" sz="2400" dirty="0"/>
          </a:p>
        </p:txBody>
      </p:sp>
      <p:sp>
        <p:nvSpPr>
          <p:cNvPr id="15" name="Text 13"/>
          <p:cNvSpPr/>
          <p:nvPr/>
        </p:nvSpPr>
        <p:spPr>
          <a:xfrm>
            <a:off x="1014636" y="2670113"/>
            <a:ext cx="4426760" cy="261842"/>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从目的地开始更新</a:t>
            </a:r>
            <a:endParaRPr lang="en-US" sz="2000" dirty="0"/>
          </a:p>
        </p:txBody>
      </p:sp>
      <p:sp>
        <p:nvSpPr>
          <p:cNvPr id="16" name="Text 14"/>
          <p:cNvSpPr/>
          <p:nvPr/>
        </p:nvSpPr>
        <p:spPr>
          <a:xfrm>
            <a:off x="1014636" y="3030145"/>
            <a:ext cx="4459490" cy="630919"/>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从目的地单元格开始，将其所有</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毗邻的自由空间</a:t>
            </a:r>
            <a:r>
              <a:rPr lang="en-US" sz="1600" dirty="0">
                <a:latin typeface="微软雅黑" panose="020B0503020204020204" pitchFamily="34" charset="-122"/>
                <a:ea typeface="微软雅黑" panose="020B0503020204020204" pitchFamily="34" charset="-122"/>
                <a:cs typeface="微软雅黑" panose="020B0503020204020204" pitchFamily="34" charset="-122"/>
              </a:rPr>
              <a:t>单元格的值增加</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1</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400" dirty="0"/>
          </a:p>
        </p:txBody>
      </p:sp>
      <p:sp>
        <p:nvSpPr>
          <p:cNvPr id="17" name="Shape 15"/>
          <p:cNvSpPr/>
          <p:nvPr/>
        </p:nvSpPr>
        <p:spPr>
          <a:xfrm>
            <a:off x="343667" y="3858523"/>
            <a:ext cx="5426751" cy="1199458"/>
          </a:xfrm>
          <a:custGeom>
            <a:avLst/>
            <a:gdLst/>
            <a:ahLst/>
            <a:cxnLst/>
            <a:rect l="l" t="t" r="r" b="b"/>
            <a:pathLst>
              <a:path w="8117090" h="990089">
                <a:moveTo>
                  <a:pt x="32730" y="0"/>
                </a:moveTo>
                <a:lnTo>
                  <a:pt x="8018903" y="0"/>
                </a:lnTo>
                <a:cubicBezTo>
                  <a:pt x="8073130" y="0"/>
                  <a:pt x="8117090" y="43960"/>
                  <a:pt x="8117090" y="98187"/>
                </a:cubicBezTo>
                <a:lnTo>
                  <a:pt x="8117090" y="891902"/>
                </a:lnTo>
                <a:cubicBezTo>
                  <a:pt x="8117090" y="946129"/>
                  <a:pt x="8073130" y="990089"/>
                  <a:pt x="8018903" y="990089"/>
                </a:cubicBezTo>
                <a:lnTo>
                  <a:pt x="32730" y="990089"/>
                </a:lnTo>
                <a:cubicBezTo>
                  <a:pt x="14654" y="990089"/>
                  <a:pt x="0" y="975435"/>
                  <a:pt x="0" y="957358"/>
                </a:cubicBezTo>
                <a:lnTo>
                  <a:pt x="0" y="32730"/>
                </a:lnTo>
                <a:cubicBezTo>
                  <a:pt x="0" y="14666"/>
                  <a:pt x="14666" y="0"/>
                  <a:pt x="32730" y="0"/>
                </a:cubicBezTo>
                <a:close/>
              </a:path>
            </a:pathLst>
          </a:custGeom>
          <a:solidFill>
            <a:srgbClr val="5F87A7">
              <a:alpha val="10196"/>
            </a:srgbClr>
          </a:solidFill>
        </p:spPr>
      </p:sp>
      <p:sp>
        <p:nvSpPr>
          <p:cNvPr id="18" name="Shape 16"/>
          <p:cNvSpPr/>
          <p:nvPr/>
        </p:nvSpPr>
        <p:spPr>
          <a:xfrm>
            <a:off x="343667" y="3858523"/>
            <a:ext cx="32730" cy="1199458"/>
          </a:xfrm>
          <a:custGeom>
            <a:avLst/>
            <a:gdLst/>
            <a:ahLst/>
            <a:cxnLst/>
            <a:rect l="l" t="t" r="r" b="b"/>
            <a:pathLst>
              <a:path w="32730" h="990089">
                <a:moveTo>
                  <a:pt x="32730" y="0"/>
                </a:moveTo>
                <a:lnTo>
                  <a:pt x="32730" y="0"/>
                </a:lnTo>
                <a:lnTo>
                  <a:pt x="32730" y="990089"/>
                </a:lnTo>
                <a:lnTo>
                  <a:pt x="32730" y="990089"/>
                </a:lnTo>
                <a:cubicBezTo>
                  <a:pt x="14654" y="990089"/>
                  <a:pt x="0" y="975435"/>
                  <a:pt x="0" y="957358"/>
                </a:cubicBezTo>
                <a:lnTo>
                  <a:pt x="0" y="32730"/>
                </a:lnTo>
                <a:cubicBezTo>
                  <a:pt x="0" y="14666"/>
                  <a:pt x="14666" y="0"/>
                  <a:pt x="32730" y="0"/>
                </a:cubicBezTo>
                <a:close/>
              </a:path>
            </a:pathLst>
          </a:custGeom>
          <a:solidFill>
            <a:srgbClr val="E6B450"/>
          </a:solidFill>
        </p:spPr>
      </p:sp>
      <p:sp>
        <p:nvSpPr>
          <p:cNvPr id="19" name="Shape 17"/>
          <p:cNvSpPr/>
          <p:nvPr/>
        </p:nvSpPr>
        <p:spPr>
          <a:xfrm>
            <a:off x="556413" y="4054904"/>
            <a:ext cx="327302" cy="327302"/>
          </a:xfrm>
          <a:custGeom>
            <a:avLst/>
            <a:gdLst/>
            <a:ahLst/>
            <a:cxnLst/>
            <a:rect l="l" t="t" r="r" b="b"/>
            <a:pathLst>
              <a:path w="327302" h="327302">
                <a:moveTo>
                  <a:pt x="163651" y="0"/>
                </a:moveTo>
                <a:lnTo>
                  <a:pt x="163651" y="0"/>
                </a:lnTo>
                <a:cubicBezTo>
                  <a:pt x="254033" y="0"/>
                  <a:pt x="327302" y="73269"/>
                  <a:pt x="327302" y="163651"/>
                </a:cubicBezTo>
                <a:lnTo>
                  <a:pt x="327302" y="163651"/>
                </a:lnTo>
                <a:cubicBezTo>
                  <a:pt x="327302" y="254033"/>
                  <a:pt x="254033" y="327302"/>
                  <a:pt x="163651" y="327302"/>
                </a:cubicBezTo>
                <a:lnTo>
                  <a:pt x="163651" y="327302"/>
                </a:lnTo>
                <a:cubicBezTo>
                  <a:pt x="73269" y="327302"/>
                  <a:pt x="0" y="254033"/>
                  <a:pt x="0" y="163651"/>
                </a:cubicBezTo>
                <a:lnTo>
                  <a:pt x="0" y="163651"/>
                </a:lnTo>
                <a:cubicBezTo>
                  <a:pt x="0" y="73269"/>
                  <a:pt x="73269" y="0"/>
                  <a:pt x="163651" y="0"/>
                </a:cubicBezTo>
                <a:close/>
              </a:path>
            </a:pathLst>
          </a:custGeom>
          <a:solidFill>
            <a:srgbClr val="E6B450">
              <a:alpha val="20000"/>
            </a:srgbClr>
          </a:solidFill>
        </p:spPr>
      </p:sp>
      <p:sp>
        <p:nvSpPr>
          <p:cNvPr id="20" name="Text 18"/>
          <p:cNvSpPr/>
          <p:nvPr/>
        </p:nvSpPr>
        <p:spPr>
          <a:xfrm>
            <a:off x="676595" y="4103999"/>
            <a:ext cx="163651" cy="229111"/>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3</a:t>
            </a:r>
            <a:endParaRPr lang="en-US" sz="2400" dirty="0"/>
          </a:p>
        </p:txBody>
      </p:sp>
      <p:sp>
        <p:nvSpPr>
          <p:cNvPr id="21" name="Text 19"/>
          <p:cNvSpPr/>
          <p:nvPr/>
        </p:nvSpPr>
        <p:spPr>
          <a:xfrm>
            <a:off x="1014636" y="4054904"/>
            <a:ext cx="3927624" cy="261842"/>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迭代更新</a:t>
            </a:r>
            <a:endParaRPr lang="en-US" sz="2000" dirty="0"/>
          </a:p>
        </p:txBody>
      </p:sp>
      <p:sp>
        <p:nvSpPr>
          <p:cNvPr id="22" name="Text 20"/>
          <p:cNvSpPr/>
          <p:nvPr/>
        </p:nvSpPr>
        <p:spPr>
          <a:xfrm>
            <a:off x="1014636" y="4414936"/>
            <a:ext cx="4459490" cy="49575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重复之前的步骤，但是仅仅从</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最近的修改过</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的单元格开始。</a:t>
            </a:r>
            <a:endParaRPr lang="en-US" sz="2400" dirty="0"/>
          </a:p>
        </p:txBody>
      </p:sp>
      <p:sp>
        <p:nvSpPr>
          <p:cNvPr id="23" name="Shape 21"/>
          <p:cNvSpPr/>
          <p:nvPr/>
        </p:nvSpPr>
        <p:spPr>
          <a:xfrm>
            <a:off x="343667" y="5150181"/>
            <a:ext cx="5426751" cy="1199458"/>
          </a:xfrm>
          <a:custGeom>
            <a:avLst/>
            <a:gdLst/>
            <a:ahLst/>
            <a:cxnLst/>
            <a:rect l="l" t="t" r="r" b="b"/>
            <a:pathLst>
              <a:path w="8117090" h="990089">
                <a:moveTo>
                  <a:pt x="32730" y="0"/>
                </a:moveTo>
                <a:lnTo>
                  <a:pt x="8018903" y="0"/>
                </a:lnTo>
                <a:cubicBezTo>
                  <a:pt x="8073130" y="0"/>
                  <a:pt x="8117090" y="43960"/>
                  <a:pt x="8117090" y="98187"/>
                </a:cubicBezTo>
                <a:lnTo>
                  <a:pt x="8117090" y="891902"/>
                </a:lnTo>
                <a:cubicBezTo>
                  <a:pt x="8117090" y="946129"/>
                  <a:pt x="8073130" y="990089"/>
                  <a:pt x="8018903" y="990089"/>
                </a:cubicBezTo>
                <a:lnTo>
                  <a:pt x="32730" y="990089"/>
                </a:lnTo>
                <a:cubicBezTo>
                  <a:pt x="14654" y="990089"/>
                  <a:pt x="0" y="975435"/>
                  <a:pt x="0" y="957358"/>
                </a:cubicBezTo>
                <a:lnTo>
                  <a:pt x="0" y="32730"/>
                </a:lnTo>
                <a:cubicBezTo>
                  <a:pt x="0" y="14666"/>
                  <a:pt x="14666" y="0"/>
                  <a:pt x="32730" y="0"/>
                </a:cubicBezTo>
                <a:close/>
              </a:path>
            </a:pathLst>
          </a:custGeom>
          <a:solidFill>
            <a:srgbClr val="5F87A7">
              <a:alpha val="10196"/>
            </a:srgbClr>
          </a:solidFill>
        </p:spPr>
      </p:sp>
      <p:sp>
        <p:nvSpPr>
          <p:cNvPr id="24" name="Shape 22"/>
          <p:cNvSpPr/>
          <p:nvPr/>
        </p:nvSpPr>
        <p:spPr>
          <a:xfrm>
            <a:off x="343667" y="5150181"/>
            <a:ext cx="32730" cy="1199458"/>
          </a:xfrm>
          <a:custGeom>
            <a:avLst/>
            <a:gdLst/>
            <a:ahLst/>
            <a:cxnLst/>
            <a:rect l="l" t="t" r="r" b="b"/>
            <a:pathLst>
              <a:path w="32730" h="990089">
                <a:moveTo>
                  <a:pt x="32730" y="0"/>
                </a:moveTo>
                <a:lnTo>
                  <a:pt x="32730" y="0"/>
                </a:lnTo>
                <a:lnTo>
                  <a:pt x="32730" y="990089"/>
                </a:lnTo>
                <a:lnTo>
                  <a:pt x="32730" y="990089"/>
                </a:lnTo>
                <a:cubicBezTo>
                  <a:pt x="14654" y="990089"/>
                  <a:pt x="0" y="975435"/>
                  <a:pt x="0" y="957358"/>
                </a:cubicBezTo>
                <a:lnTo>
                  <a:pt x="0" y="32730"/>
                </a:lnTo>
                <a:cubicBezTo>
                  <a:pt x="0" y="14666"/>
                  <a:pt x="14666" y="0"/>
                  <a:pt x="32730" y="0"/>
                </a:cubicBezTo>
                <a:close/>
              </a:path>
            </a:pathLst>
          </a:custGeom>
          <a:solidFill>
            <a:srgbClr val="E6B450"/>
          </a:solidFill>
        </p:spPr>
      </p:sp>
      <p:sp>
        <p:nvSpPr>
          <p:cNvPr id="25" name="Shape 23"/>
          <p:cNvSpPr/>
          <p:nvPr/>
        </p:nvSpPr>
        <p:spPr>
          <a:xfrm>
            <a:off x="556413" y="5346562"/>
            <a:ext cx="327302" cy="327302"/>
          </a:xfrm>
          <a:custGeom>
            <a:avLst/>
            <a:gdLst/>
            <a:ahLst/>
            <a:cxnLst/>
            <a:rect l="l" t="t" r="r" b="b"/>
            <a:pathLst>
              <a:path w="327302" h="327302">
                <a:moveTo>
                  <a:pt x="163651" y="0"/>
                </a:moveTo>
                <a:lnTo>
                  <a:pt x="163651" y="0"/>
                </a:lnTo>
                <a:cubicBezTo>
                  <a:pt x="254033" y="0"/>
                  <a:pt x="327302" y="73269"/>
                  <a:pt x="327302" y="163651"/>
                </a:cubicBezTo>
                <a:lnTo>
                  <a:pt x="327302" y="163651"/>
                </a:lnTo>
                <a:cubicBezTo>
                  <a:pt x="327302" y="254033"/>
                  <a:pt x="254033" y="327302"/>
                  <a:pt x="163651" y="327302"/>
                </a:cubicBezTo>
                <a:lnTo>
                  <a:pt x="163651" y="327302"/>
                </a:lnTo>
                <a:cubicBezTo>
                  <a:pt x="73269" y="327302"/>
                  <a:pt x="0" y="254033"/>
                  <a:pt x="0" y="163651"/>
                </a:cubicBezTo>
                <a:lnTo>
                  <a:pt x="0" y="163651"/>
                </a:lnTo>
                <a:cubicBezTo>
                  <a:pt x="0" y="73269"/>
                  <a:pt x="73269" y="0"/>
                  <a:pt x="163651" y="0"/>
                </a:cubicBezTo>
                <a:close/>
              </a:path>
            </a:pathLst>
          </a:custGeom>
          <a:solidFill>
            <a:srgbClr val="E6B450">
              <a:alpha val="20000"/>
            </a:srgbClr>
          </a:solidFill>
        </p:spPr>
      </p:sp>
      <p:sp>
        <p:nvSpPr>
          <p:cNvPr id="26" name="Text 24"/>
          <p:cNvSpPr/>
          <p:nvPr/>
        </p:nvSpPr>
        <p:spPr>
          <a:xfrm>
            <a:off x="676595" y="5395658"/>
            <a:ext cx="163651" cy="229111"/>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4</a:t>
            </a:r>
            <a:endParaRPr lang="en-US" sz="2400" dirty="0"/>
          </a:p>
        </p:txBody>
      </p:sp>
      <p:sp>
        <p:nvSpPr>
          <p:cNvPr id="27" name="Text 25"/>
          <p:cNvSpPr/>
          <p:nvPr/>
        </p:nvSpPr>
        <p:spPr>
          <a:xfrm>
            <a:off x="1014636" y="5346562"/>
            <a:ext cx="4459490" cy="261842"/>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完成地图更新</a:t>
            </a:r>
            <a:endParaRPr lang="en-US" sz="2000" dirty="0"/>
          </a:p>
        </p:txBody>
      </p:sp>
      <p:sp>
        <p:nvSpPr>
          <p:cNvPr id="28" name="Text 26"/>
          <p:cNvSpPr/>
          <p:nvPr/>
        </p:nvSpPr>
        <p:spPr>
          <a:xfrm>
            <a:off x="1014636" y="5706594"/>
            <a:ext cx="4459490" cy="491394"/>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重复以上步骤直到完成地图，只有</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不可到达区域</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的单元格的值为</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0</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400" dirty="0"/>
          </a:p>
        </p:txBody>
      </p:sp>
      <p:grpSp>
        <p:nvGrpSpPr>
          <p:cNvPr id="114" name="组合 113">
            <a:extLst>
              <a:ext uri="{FF2B5EF4-FFF2-40B4-BE49-F238E27FC236}">
                <a16:creationId xmlns:a16="http://schemas.microsoft.com/office/drawing/2014/main" id="{797D2FE4-AA4E-A62A-DF36-5C3CC5BC0018}"/>
              </a:ext>
            </a:extLst>
          </p:cNvPr>
          <p:cNvGrpSpPr/>
          <p:nvPr/>
        </p:nvGrpSpPr>
        <p:grpSpPr>
          <a:xfrm>
            <a:off x="0" y="939798"/>
            <a:ext cx="5022850" cy="625474"/>
            <a:chOff x="0" y="1075267"/>
            <a:chExt cx="5022850" cy="625474"/>
          </a:xfrm>
        </p:grpSpPr>
        <p:sp>
          <p:nvSpPr>
            <p:cNvPr id="115" name="矩形 114">
              <a:extLst>
                <a:ext uri="{FF2B5EF4-FFF2-40B4-BE49-F238E27FC236}">
                  <a16:creationId xmlns:a16="http://schemas.microsoft.com/office/drawing/2014/main" id="{3980A332-AF64-72AF-7357-EB946B073E1A}"/>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文本框 115">
              <a:extLst>
                <a:ext uri="{FF2B5EF4-FFF2-40B4-BE49-F238E27FC236}">
                  <a16:creationId xmlns:a16="http://schemas.microsoft.com/office/drawing/2014/main" id="{DAC62AEA-1370-5C49-7DCC-B0B588D06122}"/>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7.2.1</a:t>
              </a:r>
              <a:r>
                <a:rPr lang="zh-CN" altLang="en-US" sz="2400" b="1" dirty="0">
                  <a:solidFill>
                    <a:schemeClr val="accent1"/>
                  </a:solidFill>
                  <a:latin typeface="+mj-lt"/>
                </a:rPr>
                <a:t>波前传播规划方法</a:t>
              </a:r>
            </a:p>
          </p:txBody>
        </p:sp>
      </p:grpSp>
      <p:pic>
        <p:nvPicPr>
          <p:cNvPr id="120" name="图片 119">
            <a:extLst>
              <a:ext uri="{FF2B5EF4-FFF2-40B4-BE49-F238E27FC236}">
                <a16:creationId xmlns:a16="http://schemas.microsoft.com/office/drawing/2014/main" id="{C5030743-AA1E-49C1-D460-D7B3B428EC52}"/>
              </a:ext>
            </a:extLst>
          </p:cNvPr>
          <p:cNvPicPr>
            <a:picLocks noChangeAspect="1"/>
          </p:cNvPicPr>
          <p:nvPr/>
        </p:nvPicPr>
        <p:blipFill>
          <a:blip r:embed="rId3" cstate="print">
            <a:extLst>
              <a:ext uri="{28A0092B-C50C-407E-A947-70E740481C1C}">
                <a14:useLocalDpi xmlns:a14="http://schemas.microsoft.com/office/drawing/2010/main" val="0"/>
              </a:ext>
            </a:extLst>
          </a:blip>
          <a:srcRect l="50860" t="53386"/>
          <a:stretch>
            <a:fillRect/>
          </a:stretch>
        </p:blipFill>
        <p:spPr>
          <a:xfrm>
            <a:off x="6519774" y="1685460"/>
            <a:ext cx="4896370" cy="4723229"/>
          </a:xfrm>
          <a:prstGeom prst="rect">
            <a:avLst/>
          </a:prstGeom>
          <a:noFill/>
          <a:ln>
            <a:noFill/>
          </a:ln>
          <a:effectLst/>
        </p:spPr>
      </p:pic>
      <p:sp>
        <p:nvSpPr>
          <p:cNvPr id="121" name="Shape 22"/>
          <p:cNvSpPr/>
          <p:nvPr/>
        </p:nvSpPr>
        <p:spPr>
          <a:xfrm>
            <a:off x="6519774" y="6480132"/>
            <a:ext cx="4896370" cy="347669"/>
          </a:xfrm>
          <a:custGeom>
            <a:avLst/>
            <a:gdLst/>
            <a:ahLst/>
            <a:cxnLst/>
            <a:rect l="l" t="t" r="r" b="b"/>
            <a:pathLst>
              <a:path w="8195018" h="1222417">
                <a:moveTo>
                  <a:pt x="96510" y="0"/>
                </a:moveTo>
                <a:lnTo>
                  <a:pt x="8098509" y="0"/>
                </a:lnTo>
                <a:cubicBezTo>
                  <a:pt x="8151810" y="0"/>
                  <a:pt x="8195018" y="43209"/>
                  <a:pt x="8195018" y="96510"/>
                </a:cubicBezTo>
                <a:lnTo>
                  <a:pt x="8195018" y="1125907"/>
                </a:lnTo>
                <a:cubicBezTo>
                  <a:pt x="8195018" y="1179172"/>
                  <a:pt x="8151774" y="1222417"/>
                  <a:pt x="8098509" y="1222417"/>
                </a:cubicBezTo>
                <a:lnTo>
                  <a:pt x="96510" y="1222417"/>
                </a:lnTo>
                <a:cubicBezTo>
                  <a:pt x="43209" y="1222417"/>
                  <a:pt x="0" y="1179208"/>
                  <a:pt x="0" y="1125907"/>
                </a:cubicBezTo>
                <a:lnTo>
                  <a:pt x="0" y="96510"/>
                </a:lnTo>
                <a:cubicBezTo>
                  <a:pt x="0" y="43245"/>
                  <a:pt x="43245" y="0"/>
                  <a:pt x="96510" y="0"/>
                </a:cubicBezTo>
                <a:close/>
              </a:path>
            </a:pathLst>
          </a:custGeom>
          <a:solidFill>
            <a:srgbClr val="E6B450">
              <a:alpha val="10196"/>
            </a:srgbClr>
          </a:solidFill>
          <a:ln w="12700">
            <a:solidFill>
              <a:srgbClr val="E6B450">
                <a:alpha val="30196"/>
              </a:srgbClr>
            </a:solidFill>
            <a:prstDash val="solid"/>
          </a:ln>
        </p:spPr>
      </p:sp>
      <p:sp>
        <p:nvSpPr>
          <p:cNvPr id="124" name="Text 25"/>
          <p:cNvSpPr/>
          <p:nvPr/>
        </p:nvSpPr>
        <p:spPr>
          <a:xfrm>
            <a:off x="6879963" y="6459376"/>
            <a:ext cx="4210599" cy="368426"/>
          </a:xfrm>
          <a:prstGeom prst="rect">
            <a:avLst/>
          </a:prstGeom>
          <a:noFill/>
        </p:spPr>
        <p:txBody>
          <a:bodyPr wrap="square" lIns="0" tIns="0" rIns="0" bIns="0" rtlCol="0" anchor="ctr"/>
          <a:lstStyle/>
          <a:p>
            <a:pPr>
              <a:lnSpc>
                <a:spcPct val="140000"/>
              </a:lnSpc>
            </a:pPr>
            <a:r>
              <a:rPr lang="en-US" sz="1400" dirty="0" err="1">
                <a:latin typeface="微软雅黑" panose="020B0503020204020204" pitchFamily="34" charset="-122"/>
                <a:ea typeface="微软雅黑" panose="020B0503020204020204" pitchFamily="34" charset="-122"/>
                <a:cs typeface="微软雅黑" panose="020B0503020204020204" pitchFamily="34" charset="-122"/>
              </a:rPr>
              <a:t>波前规划器可能发现</a:t>
            </a:r>
            <a:r>
              <a:rPr lang="en-US" sz="1400" b="1" dirty="0" err="1">
                <a:latin typeface="微软雅黑" panose="020B0503020204020204" pitchFamily="34" charset="-122"/>
                <a:ea typeface="微软雅黑" panose="020B0503020204020204" pitchFamily="34" charset="-122"/>
                <a:cs typeface="微软雅黑" panose="020B0503020204020204" pitchFamily="34" charset="-122"/>
              </a:rPr>
              <a:t>不止一条路径</a:t>
            </a:r>
            <a:r>
              <a:rPr lang="en-US" sz="14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000" dirty="0"/>
          </a:p>
        </p:txBody>
      </p:sp>
    </p:spTree>
    <p:extLst>
      <p:ext uri="{BB962C8B-B14F-4D97-AF65-F5344CB8AC3E}">
        <p14:creationId xmlns:p14="http://schemas.microsoft.com/office/powerpoint/2010/main" val="120523730"/>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33375" y="1735570"/>
            <a:ext cx="8975725" cy="1198563"/>
          </a:xfrm>
          <a:custGeom>
            <a:avLst/>
            <a:gdLst/>
            <a:ahLst/>
            <a:cxnLst/>
            <a:rect l="l" t="t" r="r" b="b"/>
            <a:pathLst>
              <a:path w="7516813" h="1198563">
                <a:moveTo>
                  <a:pt x="31750" y="0"/>
                </a:moveTo>
                <a:lnTo>
                  <a:pt x="7421563" y="0"/>
                </a:lnTo>
                <a:cubicBezTo>
                  <a:pt x="7474168" y="0"/>
                  <a:pt x="7516813" y="42645"/>
                  <a:pt x="7516813" y="95250"/>
                </a:cubicBezTo>
                <a:lnTo>
                  <a:pt x="7516813" y="1103313"/>
                </a:lnTo>
                <a:cubicBezTo>
                  <a:pt x="7516813" y="1155918"/>
                  <a:pt x="7474168" y="1198563"/>
                  <a:pt x="7421563" y="1198563"/>
                </a:cubicBezTo>
                <a:lnTo>
                  <a:pt x="31750" y="1198563"/>
                </a:lnTo>
                <a:cubicBezTo>
                  <a:pt x="14215" y="1198563"/>
                  <a:pt x="0" y="1184348"/>
                  <a:pt x="0" y="1166813"/>
                </a:cubicBezTo>
                <a:lnTo>
                  <a:pt x="0" y="31750"/>
                </a:lnTo>
                <a:cubicBezTo>
                  <a:pt x="0" y="14227"/>
                  <a:pt x="14227" y="0"/>
                  <a:pt x="31750" y="0"/>
                </a:cubicBezTo>
                <a:close/>
              </a:path>
            </a:pathLst>
          </a:custGeom>
          <a:solidFill>
            <a:srgbClr val="5F87A7">
              <a:alpha val="10196"/>
            </a:srgbClr>
          </a:solidFill>
        </p:spPr>
      </p:sp>
      <p:sp>
        <p:nvSpPr>
          <p:cNvPr id="6" name="Shape 4"/>
          <p:cNvSpPr/>
          <p:nvPr/>
        </p:nvSpPr>
        <p:spPr>
          <a:xfrm>
            <a:off x="333375" y="1735570"/>
            <a:ext cx="31750" cy="1198563"/>
          </a:xfrm>
          <a:custGeom>
            <a:avLst/>
            <a:gdLst/>
            <a:ahLst/>
            <a:cxnLst/>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a:srgbClr val="E6B450"/>
          </a:solidFill>
        </p:spPr>
      </p:sp>
      <p:sp>
        <p:nvSpPr>
          <p:cNvPr id="9" name="Text 7"/>
          <p:cNvSpPr/>
          <p:nvPr/>
        </p:nvSpPr>
        <p:spPr>
          <a:xfrm>
            <a:off x="678656" y="1967346"/>
            <a:ext cx="8211343" cy="776288"/>
          </a:xfrm>
          <a:prstGeom prst="rect">
            <a:avLst/>
          </a:prstGeom>
          <a:noFill/>
        </p:spPr>
        <p:txBody>
          <a:bodyPr wrap="square" lIns="0" tIns="0" rIns="0" bIns="0" rtlCol="0" anchor="ctr"/>
          <a:lstStyle/>
          <a:p>
            <a:pPr>
              <a:lnSpc>
                <a:spcPct val="14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Steven Lavalle</a:t>
            </a:r>
            <a:r>
              <a:rPr lang="en-US" sz="1600" dirty="0">
                <a:latin typeface="微软雅黑" panose="020B0503020204020204" pitchFamily="34" charset="-122"/>
                <a:ea typeface="微软雅黑" panose="020B0503020204020204" pitchFamily="34" charset="-122"/>
                <a:cs typeface="微软雅黑" panose="020B0503020204020204" pitchFamily="34" charset="-122"/>
              </a:rPr>
              <a:t>提出了一种名为</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快速扩展随机树（rapidly exploring random trees，缩写为RRT）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的算法，该算法对</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空间和姿态 </a:t>
            </a:r>
            <a:r>
              <a:rPr lang="en-US" sz="1600" dirty="0">
                <a:latin typeface="微软雅黑" panose="020B0503020204020204" pitchFamily="34" charset="-122"/>
                <a:ea typeface="微软雅黑" panose="020B0503020204020204" pitchFamily="34" charset="-122"/>
                <a:cs typeface="微软雅黑" panose="020B0503020204020204" pitchFamily="34" charset="-122"/>
              </a:rPr>
              <a:t>进行随机性采样。</a:t>
            </a:r>
            <a:endParaRPr lang="en-US" sz="2400" dirty="0"/>
          </a:p>
        </p:txBody>
      </p:sp>
      <p:sp>
        <p:nvSpPr>
          <p:cNvPr id="10" name="Shape 8"/>
          <p:cNvSpPr/>
          <p:nvPr/>
        </p:nvSpPr>
        <p:spPr>
          <a:xfrm>
            <a:off x="333375" y="3120664"/>
            <a:ext cx="8975725" cy="2797538"/>
          </a:xfrm>
          <a:custGeom>
            <a:avLst/>
            <a:gdLst/>
            <a:ahLst/>
            <a:cxnLst/>
            <a:rect l="l" t="t" r="r" b="b"/>
            <a:pathLst>
              <a:path w="7516813" h="960438">
                <a:moveTo>
                  <a:pt x="31750" y="0"/>
                </a:moveTo>
                <a:lnTo>
                  <a:pt x="7421566" y="0"/>
                </a:lnTo>
                <a:cubicBezTo>
                  <a:pt x="7474169" y="0"/>
                  <a:pt x="7516813" y="42643"/>
                  <a:pt x="7516813" y="95247"/>
                </a:cubicBezTo>
                <a:lnTo>
                  <a:pt x="7516813" y="865191"/>
                </a:lnTo>
                <a:cubicBezTo>
                  <a:pt x="7516813" y="917794"/>
                  <a:pt x="7474169" y="960437"/>
                  <a:pt x="7421566" y="960438"/>
                </a:cubicBezTo>
                <a:lnTo>
                  <a:pt x="31750" y="960438"/>
                </a:lnTo>
                <a:cubicBezTo>
                  <a:pt x="14227" y="960438"/>
                  <a:pt x="0" y="946211"/>
                  <a:pt x="0" y="928688"/>
                </a:cubicBezTo>
                <a:lnTo>
                  <a:pt x="0" y="31750"/>
                </a:lnTo>
                <a:cubicBezTo>
                  <a:pt x="0" y="14227"/>
                  <a:pt x="14227" y="0"/>
                  <a:pt x="31750" y="0"/>
                </a:cubicBezTo>
                <a:close/>
              </a:path>
            </a:pathLst>
          </a:custGeom>
          <a:solidFill>
            <a:srgbClr val="5F87A7">
              <a:alpha val="10196"/>
            </a:srgbClr>
          </a:solidFill>
        </p:spPr>
      </p:sp>
      <p:sp>
        <p:nvSpPr>
          <p:cNvPr id="11" name="Shape 9"/>
          <p:cNvSpPr/>
          <p:nvPr/>
        </p:nvSpPr>
        <p:spPr>
          <a:xfrm>
            <a:off x="333374" y="3120664"/>
            <a:ext cx="45719" cy="2797538"/>
          </a:xfrm>
          <a:custGeom>
            <a:avLst/>
            <a:gdLst/>
            <a:ahLst/>
            <a:cxnLst/>
            <a:rect l="l" t="t" r="r" b="b"/>
            <a:pathLst>
              <a:path w="31750" h="960438">
                <a:moveTo>
                  <a:pt x="31750" y="0"/>
                </a:moveTo>
                <a:lnTo>
                  <a:pt x="31750" y="0"/>
                </a:lnTo>
                <a:lnTo>
                  <a:pt x="31750" y="960438"/>
                </a:lnTo>
                <a:lnTo>
                  <a:pt x="31750" y="960438"/>
                </a:lnTo>
                <a:cubicBezTo>
                  <a:pt x="14227" y="960438"/>
                  <a:pt x="0" y="946211"/>
                  <a:pt x="0" y="928688"/>
                </a:cubicBezTo>
                <a:lnTo>
                  <a:pt x="0" y="31750"/>
                </a:lnTo>
                <a:cubicBezTo>
                  <a:pt x="0" y="14227"/>
                  <a:pt x="14227" y="0"/>
                  <a:pt x="31750" y="0"/>
                </a:cubicBezTo>
                <a:close/>
              </a:path>
            </a:pathLst>
          </a:custGeom>
          <a:solidFill>
            <a:srgbClr val="E6B450"/>
          </a:solidFill>
        </p:spPr>
      </p:sp>
      <p:sp>
        <p:nvSpPr>
          <p:cNvPr id="12" name="Shape 10"/>
          <p:cNvSpPr/>
          <p:nvPr/>
        </p:nvSpPr>
        <p:spPr>
          <a:xfrm>
            <a:off x="563563" y="3342914"/>
            <a:ext cx="190500" cy="190500"/>
          </a:xfrm>
          <a:custGeom>
            <a:avLst/>
            <a:gdLst/>
            <a:ahLst/>
            <a:cxnLst/>
            <a:rect l="l" t="t" r="r" b="b"/>
            <a:pathLst>
              <a:path w="190500" h="190500">
                <a:moveTo>
                  <a:pt x="190500" y="11906"/>
                </a:moveTo>
                <a:cubicBezTo>
                  <a:pt x="190500" y="52127"/>
                  <a:pt x="161999" y="85688"/>
                  <a:pt x="124123" y="93538"/>
                </a:cubicBezTo>
                <a:cubicBezTo>
                  <a:pt x="121183" y="71921"/>
                  <a:pt x="111472" y="52462"/>
                  <a:pt x="97148" y="37393"/>
                </a:cubicBezTo>
                <a:cubicBezTo>
                  <a:pt x="112068" y="14883"/>
                  <a:pt x="137629" y="0"/>
                  <a:pt x="166688" y="0"/>
                </a:cubicBezTo>
                <a:lnTo>
                  <a:pt x="178594" y="0"/>
                </a:lnTo>
                <a:cubicBezTo>
                  <a:pt x="185179" y="0"/>
                  <a:pt x="190500" y="5321"/>
                  <a:pt x="190500" y="11906"/>
                </a:cubicBezTo>
                <a:close/>
                <a:moveTo>
                  <a:pt x="0" y="35719"/>
                </a:moveTo>
                <a:cubicBezTo>
                  <a:pt x="0" y="29133"/>
                  <a:pt x="5321" y="23812"/>
                  <a:pt x="11906" y="23812"/>
                </a:cubicBezTo>
                <a:lnTo>
                  <a:pt x="23812" y="23812"/>
                </a:lnTo>
                <a:cubicBezTo>
                  <a:pt x="69838" y="23812"/>
                  <a:pt x="107156" y="61131"/>
                  <a:pt x="107156" y="107156"/>
                </a:cubicBezTo>
                <a:lnTo>
                  <a:pt x="107156" y="178594"/>
                </a:lnTo>
                <a:cubicBezTo>
                  <a:pt x="107156" y="185179"/>
                  <a:pt x="101836" y="190500"/>
                  <a:pt x="95250" y="190500"/>
                </a:cubicBezTo>
                <a:cubicBezTo>
                  <a:pt x="88664" y="190500"/>
                  <a:pt x="83344" y="185179"/>
                  <a:pt x="83344" y="178594"/>
                </a:cubicBezTo>
                <a:lnTo>
                  <a:pt x="83344" y="119063"/>
                </a:lnTo>
                <a:cubicBezTo>
                  <a:pt x="37319" y="119063"/>
                  <a:pt x="0" y="81744"/>
                  <a:pt x="0" y="35719"/>
                </a:cubicBezTo>
                <a:close/>
              </a:path>
            </a:pathLst>
          </a:custGeom>
          <a:solidFill>
            <a:srgbClr val="E6B450"/>
          </a:solidFill>
        </p:spPr>
      </p:sp>
      <p:sp>
        <p:nvSpPr>
          <p:cNvPr id="13" name="Text 11"/>
          <p:cNvSpPr/>
          <p:nvPr/>
        </p:nvSpPr>
        <p:spPr>
          <a:xfrm>
            <a:off x="904875" y="3311164"/>
            <a:ext cx="4849813" cy="254000"/>
          </a:xfrm>
          <a:prstGeom prst="rect">
            <a:avLst/>
          </a:prstGeom>
          <a:noFill/>
        </p:spPr>
        <p:txBody>
          <a:bodyPr wrap="square" lIns="0" tIns="0" rIns="0" bIns="0" rtlCol="0" anchor="ctr"/>
          <a:lstStyle/>
          <a:p>
            <a:pPr>
              <a:lnSpc>
                <a:spcPct val="110000"/>
              </a:lnSpc>
            </a:pPr>
            <a:r>
              <a:rPr lang="en-US" b="1" dirty="0" err="1">
                <a:latin typeface="微软雅黑" panose="020B0503020204020204" pitchFamily="34" charset="-122"/>
                <a:ea typeface="微软雅黑" panose="020B0503020204020204" pitchFamily="34" charset="-122"/>
                <a:cs typeface="微软雅黑" panose="020B0503020204020204" pitchFamily="34" charset="-122"/>
              </a:rPr>
              <a:t>基本思想</a:t>
            </a:r>
            <a:endParaRPr lang="en-US" sz="2000" dirty="0"/>
          </a:p>
        </p:txBody>
      </p:sp>
      <p:sp>
        <p:nvSpPr>
          <p:cNvPr id="14" name="Text 12"/>
          <p:cNvSpPr/>
          <p:nvPr/>
        </p:nvSpPr>
        <p:spPr>
          <a:xfrm>
            <a:off x="904874" y="3660415"/>
            <a:ext cx="7985125" cy="1784422"/>
          </a:xfrm>
          <a:prstGeom prst="rect">
            <a:avLst/>
          </a:prstGeom>
          <a:noFill/>
        </p:spPr>
        <p:txBody>
          <a:bodyPr wrap="square" lIns="0" tIns="0" rIns="0" bIns="0" rtlCol="0" anchor="ctr"/>
          <a:lstStyle/>
          <a:p>
            <a:r>
              <a:rPr lang="en-GB" altLang="zh-CN" sz="1600" dirty="0"/>
              <a:t>1</a:t>
            </a:r>
            <a:r>
              <a:rPr lang="zh-CN" altLang="zh-CN" sz="1600" dirty="0"/>
              <a:t>）算法的初始条件包括先验地图和初始节点，树的根节点便是初始节点；</a:t>
            </a:r>
            <a:endParaRPr lang="en-US" altLang="zh-CN" sz="1600" dirty="0"/>
          </a:p>
          <a:p>
            <a:endParaRPr lang="zh-CN" altLang="zh-CN" sz="1600" dirty="0"/>
          </a:p>
          <a:p>
            <a:r>
              <a:rPr lang="en-GB" altLang="zh-CN" sz="1600" dirty="0"/>
              <a:t>2</a:t>
            </a:r>
            <a:r>
              <a:rPr lang="zh-CN" altLang="zh-CN" sz="1600" dirty="0"/>
              <a:t>）对位形空间随机采样，生成一组候选位姿节点；</a:t>
            </a:r>
            <a:endParaRPr lang="en-US" altLang="zh-CN" sz="1600" dirty="0"/>
          </a:p>
          <a:p>
            <a:endParaRPr lang="zh-CN" altLang="zh-CN" sz="1600" dirty="0"/>
          </a:p>
          <a:p>
            <a:r>
              <a:rPr lang="en-GB" altLang="zh-CN" sz="1600" dirty="0"/>
              <a:t>3</a:t>
            </a:r>
            <a:r>
              <a:rPr lang="zh-CN" altLang="zh-CN" sz="1600" dirty="0"/>
              <a:t>）从列表中随机选择一个候选节点，检查该节点是否为有效位姿，即机器人或其组成部分未在墙壁或物体内。如果节点是无效的，重复此过程，直到获得有效节点。</a:t>
            </a:r>
          </a:p>
        </p:txBody>
      </p:sp>
      <p:grpSp>
        <p:nvGrpSpPr>
          <p:cNvPr id="46" name="组合 45">
            <a:extLst>
              <a:ext uri="{FF2B5EF4-FFF2-40B4-BE49-F238E27FC236}">
                <a16:creationId xmlns:a16="http://schemas.microsoft.com/office/drawing/2014/main" id="{8F0E88FF-231E-8ABE-D987-820BD78B4B32}"/>
              </a:ext>
            </a:extLst>
          </p:cNvPr>
          <p:cNvGrpSpPr/>
          <p:nvPr/>
        </p:nvGrpSpPr>
        <p:grpSpPr>
          <a:xfrm>
            <a:off x="0" y="939798"/>
            <a:ext cx="5022850" cy="625474"/>
            <a:chOff x="0" y="1075267"/>
            <a:chExt cx="5022850" cy="625474"/>
          </a:xfrm>
        </p:grpSpPr>
        <p:sp>
          <p:nvSpPr>
            <p:cNvPr id="47" name="矩形 46">
              <a:extLst>
                <a:ext uri="{FF2B5EF4-FFF2-40B4-BE49-F238E27FC236}">
                  <a16:creationId xmlns:a16="http://schemas.microsoft.com/office/drawing/2014/main" id="{5763B547-F6AA-62B0-6260-3698857C02BB}"/>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69BFB0D2-DBD2-D74D-D1A7-333D286F22F0}"/>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7.2.2 </a:t>
              </a:r>
              <a:r>
                <a:rPr lang="zh-CN" altLang="en-US" sz="2400" b="1" dirty="0">
                  <a:solidFill>
                    <a:schemeClr val="accent1"/>
                  </a:solidFill>
                  <a:latin typeface="+mj-lt"/>
                </a:rPr>
                <a:t>快速扩展随机树算法</a:t>
              </a:r>
            </a:p>
          </p:txBody>
        </p:sp>
      </p:grpSp>
    </p:spTree>
    <p:extLst>
      <p:ext uri="{BB962C8B-B14F-4D97-AF65-F5344CB8AC3E}">
        <p14:creationId xmlns:p14="http://schemas.microsoft.com/office/powerpoint/2010/main" val="1760056824"/>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33375" y="1735570"/>
            <a:ext cx="8975725" cy="1198563"/>
          </a:xfrm>
          <a:custGeom>
            <a:avLst/>
            <a:gdLst/>
            <a:ahLst/>
            <a:cxnLst/>
            <a:rect l="l" t="t" r="r" b="b"/>
            <a:pathLst>
              <a:path w="7516813" h="1198563">
                <a:moveTo>
                  <a:pt x="31750" y="0"/>
                </a:moveTo>
                <a:lnTo>
                  <a:pt x="7421563" y="0"/>
                </a:lnTo>
                <a:cubicBezTo>
                  <a:pt x="7474168" y="0"/>
                  <a:pt x="7516813" y="42645"/>
                  <a:pt x="7516813" y="95250"/>
                </a:cubicBezTo>
                <a:lnTo>
                  <a:pt x="7516813" y="1103313"/>
                </a:lnTo>
                <a:cubicBezTo>
                  <a:pt x="7516813" y="1155918"/>
                  <a:pt x="7474168" y="1198563"/>
                  <a:pt x="7421563" y="1198563"/>
                </a:cubicBezTo>
                <a:lnTo>
                  <a:pt x="31750" y="1198563"/>
                </a:lnTo>
                <a:cubicBezTo>
                  <a:pt x="14215" y="1198563"/>
                  <a:pt x="0" y="1184348"/>
                  <a:pt x="0" y="1166813"/>
                </a:cubicBezTo>
                <a:lnTo>
                  <a:pt x="0" y="31750"/>
                </a:lnTo>
                <a:cubicBezTo>
                  <a:pt x="0" y="14227"/>
                  <a:pt x="14227" y="0"/>
                  <a:pt x="31750" y="0"/>
                </a:cubicBezTo>
                <a:close/>
              </a:path>
            </a:pathLst>
          </a:custGeom>
          <a:solidFill>
            <a:srgbClr val="5F87A7">
              <a:alpha val="10196"/>
            </a:srgbClr>
          </a:solidFill>
        </p:spPr>
      </p:sp>
      <p:sp>
        <p:nvSpPr>
          <p:cNvPr id="6" name="Shape 4"/>
          <p:cNvSpPr/>
          <p:nvPr/>
        </p:nvSpPr>
        <p:spPr>
          <a:xfrm>
            <a:off x="333375" y="1735570"/>
            <a:ext cx="31750" cy="1198563"/>
          </a:xfrm>
          <a:custGeom>
            <a:avLst/>
            <a:gdLst/>
            <a:ahLst/>
            <a:cxnLst/>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a:srgbClr val="E6B450"/>
          </a:solidFill>
        </p:spPr>
      </p:sp>
      <p:sp>
        <p:nvSpPr>
          <p:cNvPr id="9" name="Text 7"/>
          <p:cNvSpPr/>
          <p:nvPr/>
        </p:nvSpPr>
        <p:spPr>
          <a:xfrm>
            <a:off x="678656" y="1967346"/>
            <a:ext cx="8211343" cy="776288"/>
          </a:xfrm>
          <a:prstGeom prst="rect">
            <a:avLst/>
          </a:prstGeom>
          <a:noFill/>
        </p:spPr>
        <p:txBody>
          <a:bodyPr wrap="square" lIns="0" tIns="0" rIns="0" bIns="0" rtlCol="0" anchor="ctr"/>
          <a:lstStyle/>
          <a:p>
            <a:pPr>
              <a:lnSpc>
                <a:spcPct val="14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Steven Lavalle</a:t>
            </a:r>
            <a:r>
              <a:rPr lang="en-US" sz="1600" dirty="0">
                <a:latin typeface="微软雅黑" panose="020B0503020204020204" pitchFamily="34" charset="-122"/>
                <a:ea typeface="微软雅黑" panose="020B0503020204020204" pitchFamily="34" charset="-122"/>
                <a:cs typeface="微软雅黑" panose="020B0503020204020204" pitchFamily="34" charset="-122"/>
              </a:rPr>
              <a:t>提出了一种名为</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快速扩展随机树（rapidly exploring random trees，缩写为RRT）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的算法，该算法对</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空间和姿态 </a:t>
            </a:r>
            <a:r>
              <a:rPr lang="en-US" sz="1600" dirty="0">
                <a:latin typeface="微软雅黑" panose="020B0503020204020204" pitchFamily="34" charset="-122"/>
                <a:ea typeface="微软雅黑" panose="020B0503020204020204" pitchFamily="34" charset="-122"/>
                <a:cs typeface="微软雅黑" panose="020B0503020204020204" pitchFamily="34" charset="-122"/>
              </a:rPr>
              <a:t>进行随机性采样。</a:t>
            </a:r>
            <a:endParaRPr lang="en-US" sz="2400" dirty="0"/>
          </a:p>
        </p:txBody>
      </p:sp>
      <p:sp>
        <p:nvSpPr>
          <p:cNvPr id="10" name="Shape 8"/>
          <p:cNvSpPr/>
          <p:nvPr/>
        </p:nvSpPr>
        <p:spPr>
          <a:xfrm>
            <a:off x="333375" y="3120664"/>
            <a:ext cx="8975725" cy="2511210"/>
          </a:xfrm>
          <a:custGeom>
            <a:avLst/>
            <a:gdLst/>
            <a:ahLst/>
            <a:cxnLst/>
            <a:rect l="l" t="t" r="r" b="b"/>
            <a:pathLst>
              <a:path w="7516813" h="960438">
                <a:moveTo>
                  <a:pt x="31750" y="0"/>
                </a:moveTo>
                <a:lnTo>
                  <a:pt x="7421566" y="0"/>
                </a:lnTo>
                <a:cubicBezTo>
                  <a:pt x="7474169" y="0"/>
                  <a:pt x="7516813" y="42643"/>
                  <a:pt x="7516813" y="95247"/>
                </a:cubicBezTo>
                <a:lnTo>
                  <a:pt x="7516813" y="865191"/>
                </a:lnTo>
                <a:cubicBezTo>
                  <a:pt x="7516813" y="917794"/>
                  <a:pt x="7474169" y="960437"/>
                  <a:pt x="7421566" y="960438"/>
                </a:cubicBezTo>
                <a:lnTo>
                  <a:pt x="31750" y="960438"/>
                </a:lnTo>
                <a:cubicBezTo>
                  <a:pt x="14227" y="960438"/>
                  <a:pt x="0" y="946211"/>
                  <a:pt x="0" y="928688"/>
                </a:cubicBezTo>
                <a:lnTo>
                  <a:pt x="0" y="31750"/>
                </a:lnTo>
                <a:cubicBezTo>
                  <a:pt x="0" y="14227"/>
                  <a:pt x="14227" y="0"/>
                  <a:pt x="31750" y="0"/>
                </a:cubicBezTo>
                <a:close/>
              </a:path>
            </a:pathLst>
          </a:custGeom>
          <a:solidFill>
            <a:srgbClr val="5F87A7">
              <a:alpha val="10196"/>
            </a:srgbClr>
          </a:solidFill>
        </p:spPr>
      </p:sp>
      <p:sp>
        <p:nvSpPr>
          <p:cNvPr id="11" name="Shape 9"/>
          <p:cNvSpPr/>
          <p:nvPr/>
        </p:nvSpPr>
        <p:spPr>
          <a:xfrm>
            <a:off x="333374" y="3120664"/>
            <a:ext cx="45719" cy="2511210"/>
          </a:xfrm>
          <a:custGeom>
            <a:avLst/>
            <a:gdLst/>
            <a:ahLst/>
            <a:cxnLst/>
            <a:rect l="l" t="t" r="r" b="b"/>
            <a:pathLst>
              <a:path w="31750" h="960438">
                <a:moveTo>
                  <a:pt x="31750" y="0"/>
                </a:moveTo>
                <a:lnTo>
                  <a:pt x="31750" y="0"/>
                </a:lnTo>
                <a:lnTo>
                  <a:pt x="31750" y="960438"/>
                </a:lnTo>
                <a:lnTo>
                  <a:pt x="31750" y="960438"/>
                </a:lnTo>
                <a:cubicBezTo>
                  <a:pt x="14227" y="960438"/>
                  <a:pt x="0" y="946211"/>
                  <a:pt x="0" y="928688"/>
                </a:cubicBezTo>
                <a:lnTo>
                  <a:pt x="0" y="31750"/>
                </a:lnTo>
                <a:cubicBezTo>
                  <a:pt x="0" y="14227"/>
                  <a:pt x="14227" y="0"/>
                  <a:pt x="31750" y="0"/>
                </a:cubicBezTo>
                <a:close/>
              </a:path>
            </a:pathLst>
          </a:custGeom>
          <a:solidFill>
            <a:srgbClr val="E6B450"/>
          </a:solidFill>
        </p:spPr>
      </p:sp>
      <p:sp>
        <p:nvSpPr>
          <p:cNvPr id="12" name="Shape 10"/>
          <p:cNvSpPr/>
          <p:nvPr/>
        </p:nvSpPr>
        <p:spPr>
          <a:xfrm>
            <a:off x="563563" y="3342914"/>
            <a:ext cx="190500" cy="190500"/>
          </a:xfrm>
          <a:custGeom>
            <a:avLst/>
            <a:gdLst/>
            <a:ahLst/>
            <a:cxnLst/>
            <a:rect l="l" t="t" r="r" b="b"/>
            <a:pathLst>
              <a:path w="190500" h="190500">
                <a:moveTo>
                  <a:pt x="190500" y="11906"/>
                </a:moveTo>
                <a:cubicBezTo>
                  <a:pt x="190500" y="52127"/>
                  <a:pt x="161999" y="85688"/>
                  <a:pt x="124123" y="93538"/>
                </a:cubicBezTo>
                <a:cubicBezTo>
                  <a:pt x="121183" y="71921"/>
                  <a:pt x="111472" y="52462"/>
                  <a:pt x="97148" y="37393"/>
                </a:cubicBezTo>
                <a:cubicBezTo>
                  <a:pt x="112068" y="14883"/>
                  <a:pt x="137629" y="0"/>
                  <a:pt x="166688" y="0"/>
                </a:cubicBezTo>
                <a:lnTo>
                  <a:pt x="178594" y="0"/>
                </a:lnTo>
                <a:cubicBezTo>
                  <a:pt x="185179" y="0"/>
                  <a:pt x="190500" y="5321"/>
                  <a:pt x="190500" y="11906"/>
                </a:cubicBezTo>
                <a:close/>
                <a:moveTo>
                  <a:pt x="0" y="35719"/>
                </a:moveTo>
                <a:cubicBezTo>
                  <a:pt x="0" y="29133"/>
                  <a:pt x="5321" y="23812"/>
                  <a:pt x="11906" y="23812"/>
                </a:cubicBezTo>
                <a:lnTo>
                  <a:pt x="23812" y="23812"/>
                </a:lnTo>
                <a:cubicBezTo>
                  <a:pt x="69838" y="23812"/>
                  <a:pt x="107156" y="61131"/>
                  <a:pt x="107156" y="107156"/>
                </a:cubicBezTo>
                <a:lnTo>
                  <a:pt x="107156" y="178594"/>
                </a:lnTo>
                <a:cubicBezTo>
                  <a:pt x="107156" y="185179"/>
                  <a:pt x="101836" y="190500"/>
                  <a:pt x="95250" y="190500"/>
                </a:cubicBezTo>
                <a:cubicBezTo>
                  <a:pt x="88664" y="190500"/>
                  <a:pt x="83344" y="185179"/>
                  <a:pt x="83344" y="178594"/>
                </a:cubicBezTo>
                <a:lnTo>
                  <a:pt x="83344" y="119063"/>
                </a:lnTo>
                <a:cubicBezTo>
                  <a:pt x="37319" y="119063"/>
                  <a:pt x="0" y="81744"/>
                  <a:pt x="0" y="35719"/>
                </a:cubicBezTo>
                <a:close/>
              </a:path>
            </a:pathLst>
          </a:custGeom>
          <a:solidFill>
            <a:srgbClr val="E6B450"/>
          </a:solidFill>
        </p:spPr>
      </p:sp>
      <p:sp>
        <p:nvSpPr>
          <p:cNvPr id="13" name="Text 11"/>
          <p:cNvSpPr/>
          <p:nvPr/>
        </p:nvSpPr>
        <p:spPr>
          <a:xfrm>
            <a:off x="904875" y="3311164"/>
            <a:ext cx="4849813" cy="254000"/>
          </a:xfrm>
          <a:prstGeom prst="rect">
            <a:avLst/>
          </a:prstGeom>
          <a:noFill/>
        </p:spPr>
        <p:txBody>
          <a:bodyPr wrap="square" lIns="0" tIns="0" rIns="0" bIns="0" rtlCol="0" anchor="ctr"/>
          <a:lstStyle/>
          <a:p>
            <a:pPr>
              <a:lnSpc>
                <a:spcPct val="110000"/>
              </a:lnSpc>
            </a:pPr>
            <a:r>
              <a:rPr lang="en-US" b="1" dirty="0" err="1">
                <a:latin typeface="微软雅黑" panose="020B0503020204020204" pitchFamily="34" charset="-122"/>
                <a:ea typeface="微软雅黑" panose="020B0503020204020204" pitchFamily="34" charset="-122"/>
                <a:cs typeface="微软雅黑" panose="020B0503020204020204" pitchFamily="34" charset="-122"/>
              </a:rPr>
              <a:t>基本思想</a:t>
            </a:r>
            <a:endParaRPr lang="en-US" sz="2000" dirty="0"/>
          </a:p>
        </p:txBody>
      </p:sp>
      <p:sp>
        <p:nvSpPr>
          <p:cNvPr id="14" name="Text 12"/>
          <p:cNvSpPr/>
          <p:nvPr/>
        </p:nvSpPr>
        <p:spPr>
          <a:xfrm>
            <a:off x="904874" y="3660414"/>
            <a:ext cx="7985125" cy="1971459"/>
          </a:xfrm>
          <a:prstGeom prst="rect">
            <a:avLst/>
          </a:prstGeom>
          <a:noFill/>
        </p:spPr>
        <p:txBody>
          <a:bodyPr wrap="square" lIns="0" tIns="0" rIns="0" bIns="0" rtlCol="0" anchor="ctr"/>
          <a:lstStyle/>
          <a:p>
            <a:r>
              <a:rPr lang="en-GB" altLang="zh-CN" sz="1600" dirty="0"/>
              <a:t>1</a:t>
            </a:r>
            <a:r>
              <a:rPr lang="zh-CN" altLang="zh-CN" sz="1600" dirty="0"/>
              <a:t>）对于有效的候选节点，检查树中最邻近节点与该节点之间是否存在无碰撞路径，也就是说，机器人是否可以通过平移和旋转从树中的节点无碰撞地运动到候选节点如果可以，那么将该节点添加到树中。否则，则放弃此候选节点，选择另一个节点。</a:t>
            </a:r>
            <a:endParaRPr lang="en-US" altLang="zh-CN" sz="1600" dirty="0"/>
          </a:p>
          <a:p>
            <a:endParaRPr lang="zh-CN" altLang="zh-CN" sz="1600" dirty="0"/>
          </a:p>
          <a:p>
            <a:r>
              <a:rPr lang="en-GB" altLang="zh-CN" sz="1600" dirty="0"/>
              <a:t>2</a:t>
            </a:r>
            <a:r>
              <a:rPr lang="zh-CN" altLang="zh-CN" sz="1600" dirty="0"/>
              <a:t>）重复上面的步骤，直至树结构中包括目标节点。</a:t>
            </a:r>
            <a:endParaRPr lang="en-US" altLang="zh-CN" sz="1600" dirty="0"/>
          </a:p>
          <a:p>
            <a:endParaRPr lang="zh-CN" altLang="zh-CN" sz="1600" dirty="0"/>
          </a:p>
          <a:p>
            <a:r>
              <a:rPr lang="en-GB" altLang="zh-CN" sz="1600" dirty="0"/>
              <a:t>3</a:t>
            </a:r>
            <a:r>
              <a:rPr lang="zh-CN" altLang="zh-CN" sz="1600" dirty="0"/>
              <a:t>）完成树的构建后，基于树规划路径。</a:t>
            </a:r>
          </a:p>
        </p:txBody>
      </p:sp>
      <p:grpSp>
        <p:nvGrpSpPr>
          <p:cNvPr id="46" name="组合 45">
            <a:extLst>
              <a:ext uri="{FF2B5EF4-FFF2-40B4-BE49-F238E27FC236}">
                <a16:creationId xmlns:a16="http://schemas.microsoft.com/office/drawing/2014/main" id="{8F0E88FF-231E-8ABE-D987-820BD78B4B32}"/>
              </a:ext>
            </a:extLst>
          </p:cNvPr>
          <p:cNvGrpSpPr/>
          <p:nvPr/>
        </p:nvGrpSpPr>
        <p:grpSpPr>
          <a:xfrm>
            <a:off x="0" y="939798"/>
            <a:ext cx="5022850" cy="625474"/>
            <a:chOff x="0" y="1075267"/>
            <a:chExt cx="5022850" cy="625474"/>
          </a:xfrm>
        </p:grpSpPr>
        <p:sp>
          <p:nvSpPr>
            <p:cNvPr id="47" name="矩形 46">
              <a:extLst>
                <a:ext uri="{FF2B5EF4-FFF2-40B4-BE49-F238E27FC236}">
                  <a16:creationId xmlns:a16="http://schemas.microsoft.com/office/drawing/2014/main" id="{5763B547-F6AA-62B0-6260-3698857C02BB}"/>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69BFB0D2-DBD2-D74D-D1A7-333D286F22F0}"/>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7.2.2 </a:t>
              </a:r>
              <a:r>
                <a:rPr lang="zh-CN" altLang="en-US" sz="2400" b="1" dirty="0">
                  <a:solidFill>
                    <a:schemeClr val="accent1"/>
                  </a:solidFill>
                  <a:latin typeface="+mj-lt"/>
                </a:rPr>
                <a:t>快速扩展随机树算法</a:t>
              </a:r>
            </a:p>
          </p:txBody>
        </p:sp>
      </p:grpSp>
    </p:spTree>
    <p:extLst>
      <p:ext uri="{BB962C8B-B14F-4D97-AF65-F5344CB8AC3E}">
        <p14:creationId xmlns:p14="http://schemas.microsoft.com/office/powerpoint/2010/main" val="2925365971"/>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4724400" y="1295400"/>
            <a:ext cx="7467600" cy="3581400"/>
          </a:xfrm>
        </p:spPr>
        <p:txBody>
          <a:bodyPr>
            <a:normAutofit/>
          </a:bodyPr>
          <a:lstStyle/>
          <a:p>
            <a:pPr marL="0" indent="0">
              <a:lnSpc>
                <a:spcPct val="150000"/>
              </a:lnSpc>
              <a:buNone/>
            </a:pPr>
            <a:r>
              <a:rPr lang="en-US" altLang="zh-CN" sz="3600" dirty="0"/>
              <a:t>7.1 </a:t>
            </a:r>
            <a:r>
              <a:rPr lang="zh-CN" altLang="en-US" sz="3600" dirty="0"/>
              <a:t>地图表示</a:t>
            </a:r>
            <a:endParaRPr lang="en-US" altLang="zh-CN" sz="3600" dirty="0"/>
          </a:p>
          <a:p>
            <a:pPr marL="0" indent="0">
              <a:lnSpc>
                <a:spcPct val="150000"/>
              </a:lnSpc>
              <a:buNone/>
            </a:pPr>
            <a:r>
              <a:rPr lang="en-US" altLang="zh-CN" sz="3600" dirty="0"/>
              <a:t>7.2 </a:t>
            </a:r>
            <a:r>
              <a:rPr lang="zh-CN" altLang="en-US" sz="3600" dirty="0"/>
              <a:t>全局路径规划</a:t>
            </a:r>
            <a:endParaRPr lang="en-US" altLang="zh-CN" sz="3600" dirty="0"/>
          </a:p>
          <a:p>
            <a:pPr marL="0" indent="0">
              <a:lnSpc>
                <a:spcPct val="150000"/>
              </a:lnSpc>
              <a:buNone/>
            </a:pPr>
            <a:r>
              <a:rPr lang="en-US" altLang="zh-CN" sz="3600" dirty="0">
                <a:solidFill>
                  <a:srgbClr val="FF0000"/>
                </a:solidFill>
              </a:rPr>
              <a:t>7.3 </a:t>
            </a:r>
            <a:r>
              <a:rPr lang="zh-CN" altLang="en-US" sz="3600" dirty="0">
                <a:solidFill>
                  <a:srgbClr val="FF0000"/>
                </a:solidFill>
              </a:rPr>
              <a:t>局部路径规划</a:t>
            </a:r>
            <a:endParaRPr lang="en-US" altLang="zh-CN" sz="3600" dirty="0">
              <a:solidFill>
                <a:srgbClr val="FF0000"/>
              </a:solidFill>
            </a:endParaRPr>
          </a:p>
        </p:txBody>
      </p:sp>
    </p:spTree>
    <p:extLst>
      <p:ext uri="{BB962C8B-B14F-4D97-AF65-F5344CB8AC3E}">
        <p14:creationId xmlns:p14="http://schemas.microsoft.com/office/powerpoint/2010/main" val="13482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2">
                                            <p:txEl>
                                              <p:pRg st="0" end="0"/>
                                            </p:txEl>
                                          </p:spTgt>
                                        </p:tgtEl>
                                        <p:attrNameLst>
                                          <p:attrName>style.color</p:attrName>
                                        </p:attrNameLst>
                                      </p:cBhvr>
                                      <p:to>
                                        <p:clrVal>
                                          <a:srgbClr val="FF0F0F"/>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42518" y="1806317"/>
            <a:ext cx="7502769" cy="1565611"/>
          </a:xfrm>
          <a:custGeom>
            <a:avLst/>
            <a:gdLst/>
            <a:ahLst/>
            <a:cxnLst/>
            <a:rect l="l" t="t" r="r" b="b"/>
            <a:pathLst>
              <a:path w="7502769" h="1467933">
                <a:moveTo>
                  <a:pt x="32621" y="0"/>
                </a:moveTo>
                <a:lnTo>
                  <a:pt x="7404902" y="0"/>
                </a:lnTo>
                <a:cubicBezTo>
                  <a:pt x="7458953" y="0"/>
                  <a:pt x="7502769" y="43817"/>
                  <a:pt x="7502769" y="97867"/>
                </a:cubicBezTo>
                <a:lnTo>
                  <a:pt x="7502769" y="1370066"/>
                </a:lnTo>
                <a:cubicBezTo>
                  <a:pt x="7502769" y="1424117"/>
                  <a:pt x="7458953" y="1467933"/>
                  <a:pt x="7404902" y="1467933"/>
                </a:cubicBezTo>
                <a:lnTo>
                  <a:pt x="32621" y="1467933"/>
                </a:lnTo>
                <a:cubicBezTo>
                  <a:pt x="14605" y="1467933"/>
                  <a:pt x="0" y="1453328"/>
                  <a:pt x="0" y="1435312"/>
                </a:cubicBezTo>
                <a:lnTo>
                  <a:pt x="0" y="32621"/>
                </a:lnTo>
                <a:cubicBezTo>
                  <a:pt x="0" y="14605"/>
                  <a:pt x="14605" y="0"/>
                  <a:pt x="32621" y="0"/>
                </a:cubicBezTo>
                <a:close/>
              </a:path>
            </a:pathLst>
          </a:custGeom>
          <a:solidFill>
            <a:srgbClr val="5F87A7">
              <a:alpha val="10196"/>
            </a:srgbClr>
          </a:solidFill>
        </p:spPr>
      </p:sp>
      <p:sp>
        <p:nvSpPr>
          <p:cNvPr id="6" name="Shape 4"/>
          <p:cNvSpPr/>
          <p:nvPr/>
        </p:nvSpPr>
        <p:spPr>
          <a:xfrm>
            <a:off x="342518" y="1806317"/>
            <a:ext cx="32621" cy="1565611"/>
          </a:xfrm>
          <a:custGeom>
            <a:avLst/>
            <a:gdLst/>
            <a:ahLst/>
            <a:cxnLst/>
            <a:rect l="l" t="t" r="r" b="b"/>
            <a:pathLst>
              <a:path w="32621" h="1467933">
                <a:moveTo>
                  <a:pt x="32621" y="0"/>
                </a:moveTo>
                <a:lnTo>
                  <a:pt x="32621" y="0"/>
                </a:lnTo>
                <a:lnTo>
                  <a:pt x="32621" y="1467933"/>
                </a:lnTo>
                <a:lnTo>
                  <a:pt x="32621" y="1467933"/>
                </a:lnTo>
                <a:cubicBezTo>
                  <a:pt x="14605" y="1467933"/>
                  <a:pt x="0" y="1453328"/>
                  <a:pt x="0" y="1435312"/>
                </a:cubicBezTo>
                <a:lnTo>
                  <a:pt x="0" y="32621"/>
                </a:lnTo>
                <a:cubicBezTo>
                  <a:pt x="0" y="14605"/>
                  <a:pt x="14605" y="0"/>
                  <a:pt x="32621" y="0"/>
                </a:cubicBezTo>
                <a:close/>
              </a:path>
            </a:pathLst>
          </a:custGeom>
          <a:solidFill>
            <a:srgbClr val="E6B450"/>
          </a:solidFill>
        </p:spPr>
      </p:sp>
      <p:sp>
        <p:nvSpPr>
          <p:cNvPr id="7" name="Shape 5"/>
          <p:cNvSpPr/>
          <p:nvPr/>
        </p:nvSpPr>
        <p:spPr>
          <a:xfrm>
            <a:off x="526009" y="1978717"/>
            <a:ext cx="195724" cy="195724"/>
          </a:xfrm>
          <a:custGeom>
            <a:avLst/>
            <a:gdLst/>
            <a:ahLst/>
            <a:cxnLst/>
            <a:rect l="l" t="t" r="r" b="b"/>
            <a:pathLst>
              <a:path w="195724" h="195724">
                <a:moveTo>
                  <a:pt x="97862" y="0"/>
                </a:moveTo>
                <a:cubicBezTo>
                  <a:pt x="99621" y="0"/>
                  <a:pt x="101379" y="382"/>
                  <a:pt x="102985" y="1109"/>
                </a:cubicBezTo>
                <a:lnTo>
                  <a:pt x="175005" y="31652"/>
                </a:lnTo>
                <a:cubicBezTo>
                  <a:pt x="183415" y="35207"/>
                  <a:pt x="189684" y="43503"/>
                  <a:pt x="189646" y="53518"/>
                </a:cubicBezTo>
                <a:cubicBezTo>
                  <a:pt x="189455" y="91440"/>
                  <a:pt x="173858" y="160823"/>
                  <a:pt x="107992" y="192360"/>
                </a:cubicBezTo>
                <a:cubicBezTo>
                  <a:pt x="101608" y="195419"/>
                  <a:pt x="94192" y="195419"/>
                  <a:pt x="87808" y="192360"/>
                </a:cubicBezTo>
                <a:cubicBezTo>
                  <a:pt x="21904" y="160823"/>
                  <a:pt x="6346" y="91440"/>
                  <a:pt x="6155" y="53518"/>
                </a:cubicBezTo>
                <a:cubicBezTo>
                  <a:pt x="6116" y="43503"/>
                  <a:pt x="12386" y="35207"/>
                  <a:pt x="20796" y="31652"/>
                </a:cubicBezTo>
                <a:lnTo>
                  <a:pt x="92778" y="1109"/>
                </a:lnTo>
                <a:cubicBezTo>
                  <a:pt x="94384" y="382"/>
                  <a:pt x="96104" y="0"/>
                  <a:pt x="97862" y="0"/>
                </a:cubicBezTo>
                <a:close/>
                <a:moveTo>
                  <a:pt x="97862" y="25536"/>
                </a:moveTo>
                <a:lnTo>
                  <a:pt x="97862" y="170074"/>
                </a:lnTo>
                <a:cubicBezTo>
                  <a:pt x="150616" y="144538"/>
                  <a:pt x="164798" y="87961"/>
                  <a:pt x="165142" y="54092"/>
                </a:cubicBezTo>
                <a:lnTo>
                  <a:pt x="97862" y="25574"/>
                </a:lnTo>
                <a:lnTo>
                  <a:pt x="97862" y="25574"/>
                </a:lnTo>
                <a:close/>
              </a:path>
            </a:pathLst>
          </a:custGeom>
          <a:solidFill>
            <a:srgbClr val="E6B450"/>
          </a:solidFill>
        </p:spPr>
      </p:sp>
      <p:sp>
        <p:nvSpPr>
          <p:cNvPr id="8" name="Text 6"/>
          <p:cNvSpPr/>
          <p:nvPr/>
        </p:nvSpPr>
        <p:spPr>
          <a:xfrm>
            <a:off x="821507" y="1946096"/>
            <a:ext cx="6923751" cy="260966"/>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VFH方法介绍</a:t>
            </a:r>
            <a:endParaRPr lang="en-US" sz="2000" dirty="0"/>
          </a:p>
        </p:txBody>
      </p:sp>
      <p:sp>
        <p:nvSpPr>
          <p:cNvPr id="9" name="Text 7"/>
          <p:cNvSpPr/>
          <p:nvPr/>
        </p:nvSpPr>
        <p:spPr>
          <a:xfrm>
            <a:off x="821507" y="2422684"/>
            <a:ext cx="6899286" cy="717656"/>
          </a:xfrm>
          <a:prstGeom prst="rect">
            <a:avLst/>
          </a:prstGeom>
          <a:noFill/>
        </p:spPr>
        <p:txBody>
          <a:bodyPr wrap="square" lIns="0" tIns="0" rIns="0" bIns="0" rtlCol="0" anchor="ctr"/>
          <a:lstStyle/>
          <a:p>
            <a:pPr>
              <a:lnSpc>
                <a:spcPct val="14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向量场直方图方法（Vector Field </a:t>
            </a:r>
            <a:r>
              <a:rPr lang="en-US" sz="1600" b="1" dirty="0" err="1">
                <a:latin typeface="微软雅黑" panose="020B0503020204020204" pitchFamily="34" charset="-122"/>
                <a:ea typeface="微软雅黑" panose="020B0503020204020204" pitchFamily="34" charset="-122"/>
                <a:cs typeface="微软雅黑" panose="020B0503020204020204" pitchFamily="34" charset="-122"/>
              </a:rPr>
              <a:t>Histogram，简称VFH）</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是一个用于移动机器人的</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实时避障方法 </a:t>
            </a:r>
            <a:r>
              <a:rPr lang="en-US" sz="1600" dirty="0">
                <a:latin typeface="微软雅黑" panose="020B0503020204020204" pitchFamily="34" charset="-122"/>
                <a:ea typeface="微软雅黑" panose="020B0503020204020204" pitchFamily="34" charset="-122"/>
                <a:cs typeface="微软雅黑" panose="020B0503020204020204" pitchFamily="34" charset="-122"/>
              </a:rPr>
              <a:t>。VFH是一个公认的高效且可靠的导航方法，尤其适用于在有很多障碍物的环境中漫游。</a:t>
            </a:r>
            <a:endParaRPr lang="en-US" sz="2400" dirty="0"/>
          </a:p>
        </p:txBody>
      </p:sp>
      <p:sp>
        <p:nvSpPr>
          <p:cNvPr id="10" name="Shape 8"/>
          <p:cNvSpPr/>
          <p:nvPr/>
        </p:nvSpPr>
        <p:spPr>
          <a:xfrm>
            <a:off x="342518" y="3786058"/>
            <a:ext cx="7502769" cy="1231433"/>
          </a:xfrm>
          <a:custGeom>
            <a:avLst/>
            <a:gdLst/>
            <a:ahLst/>
            <a:cxnLst/>
            <a:rect l="l" t="t" r="r" b="b"/>
            <a:pathLst>
              <a:path w="7502769" h="1231433">
                <a:moveTo>
                  <a:pt x="32621" y="0"/>
                </a:moveTo>
                <a:lnTo>
                  <a:pt x="7404907" y="0"/>
                </a:lnTo>
                <a:cubicBezTo>
                  <a:pt x="7458955" y="0"/>
                  <a:pt x="7502769" y="43814"/>
                  <a:pt x="7502769" y="97862"/>
                </a:cubicBezTo>
                <a:lnTo>
                  <a:pt x="7502769" y="1133571"/>
                </a:lnTo>
                <a:cubicBezTo>
                  <a:pt x="7502769" y="1187618"/>
                  <a:pt x="7458955" y="1231433"/>
                  <a:pt x="7404907" y="1231433"/>
                </a:cubicBezTo>
                <a:lnTo>
                  <a:pt x="32621" y="1231433"/>
                </a:lnTo>
                <a:cubicBezTo>
                  <a:pt x="14605" y="1231433"/>
                  <a:pt x="0" y="1216828"/>
                  <a:pt x="0" y="1198812"/>
                </a:cubicBezTo>
                <a:lnTo>
                  <a:pt x="0" y="32621"/>
                </a:lnTo>
                <a:cubicBezTo>
                  <a:pt x="0" y="14605"/>
                  <a:pt x="14605" y="0"/>
                  <a:pt x="32621" y="0"/>
                </a:cubicBezTo>
                <a:close/>
              </a:path>
            </a:pathLst>
          </a:custGeom>
          <a:solidFill>
            <a:srgbClr val="5F87A7">
              <a:alpha val="10196"/>
            </a:srgbClr>
          </a:solidFill>
        </p:spPr>
      </p:sp>
      <p:sp>
        <p:nvSpPr>
          <p:cNvPr id="11" name="Shape 9"/>
          <p:cNvSpPr/>
          <p:nvPr/>
        </p:nvSpPr>
        <p:spPr>
          <a:xfrm>
            <a:off x="342518" y="3786058"/>
            <a:ext cx="32621" cy="1231433"/>
          </a:xfrm>
          <a:custGeom>
            <a:avLst/>
            <a:gdLst/>
            <a:ahLst/>
            <a:cxnLst/>
            <a:rect l="l" t="t" r="r" b="b"/>
            <a:pathLst>
              <a:path w="32621" h="1231433">
                <a:moveTo>
                  <a:pt x="32621" y="0"/>
                </a:moveTo>
                <a:lnTo>
                  <a:pt x="32621" y="0"/>
                </a:lnTo>
                <a:lnTo>
                  <a:pt x="32621" y="1231433"/>
                </a:lnTo>
                <a:lnTo>
                  <a:pt x="32621" y="1231433"/>
                </a:lnTo>
                <a:cubicBezTo>
                  <a:pt x="14605" y="1231433"/>
                  <a:pt x="0" y="1216828"/>
                  <a:pt x="0" y="1198812"/>
                </a:cubicBezTo>
                <a:lnTo>
                  <a:pt x="0" y="32621"/>
                </a:lnTo>
                <a:cubicBezTo>
                  <a:pt x="0" y="14605"/>
                  <a:pt x="14605" y="0"/>
                  <a:pt x="32621" y="0"/>
                </a:cubicBezTo>
                <a:close/>
              </a:path>
            </a:pathLst>
          </a:custGeom>
          <a:solidFill>
            <a:srgbClr val="E6B450"/>
          </a:solidFill>
        </p:spPr>
      </p:sp>
      <p:sp>
        <p:nvSpPr>
          <p:cNvPr id="12" name="Shape 10"/>
          <p:cNvSpPr/>
          <p:nvPr/>
        </p:nvSpPr>
        <p:spPr>
          <a:xfrm>
            <a:off x="513777" y="3903569"/>
            <a:ext cx="220190" cy="195724"/>
          </a:xfrm>
          <a:custGeom>
            <a:avLst/>
            <a:gdLst/>
            <a:ahLst/>
            <a:cxnLst/>
            <a:rect l="l" t="t" r="r" b="b"/>
            <a:pathLst>
              <a:path w="220190" h="195724">
                <a:moveTo>
                  <a:pt x="110095" y="12233"/>
                </a:moveTo>
                <a:cubicBezTo>
                  <a:pt x="79207" y="12233"/>
                  <a:pt x="54474" y="26300"/>
                  <a:pt x="36469" y="43044"/>
                </a:cubicBezTo>
                <a:cubicBezTo>
                  <a:pt x="18579" y="59673"/>
                  <a:pt x="6613" y="79513"/>
                  <a:pt x="917" y="93160"/>
                </a:cubicBezTo>
                <a:cubicBezTo>
                  <a:pt x="-344" y="96180"/>
                  <a:pt x="-344" y="99544"/>
                  <a:pt x="917" y="102564"/>
                </a:cubicBezTo>
                <a:cubicBezTo>
                  <a:pt x="6613" y="116211"/>
                  <a:pt x="18579" y="136090"/>
                  <a:pt x="36469" y="152680"/>
                </a:cubicBezTo>
                <a:cubicBezTo>
                  <a:pt x="54474" y="169386"/>
                  <a:pt x="79207" y="183492"/>
                  <a:pt x="110095" y="183492"/>
                </a:cubicBezTo>
                <a:cubicBezTo>
                  <a:pt x="140983" y="183492"/>
                  <a:pt x="165716" y="169424"/>
                  <a:pt x="183721" y="152680"/>
                </a:cubicBezTo>
                <a:cubicBezTo>
                  <a:pt x="201611" y="136051"/>
                  <a:pt x="213577" y="116211"/>
                  <a:pt x="219273" y="102564"/>
                </a:cubicBezTo>
                <a:cubicBezTo>
                  <a:pt x="220534" y="99544"/>
                  <a:pt x="220534" y="96180"/>
                  <a:pt x="219273" y="93160"/>
                </a:cubicBezTo>
                <a:cubicBezTo>
                  <a:pt x="213577" y="79513"/>
                  <a:pt x="201611" y="59635"/>
                  <a:pt x="183721" y="43044"/>
                </a:cubicBezTo>
                <a:cubicBezTo>
                  <a:pt x="165716" y="26339"/>
                  <a:pt x="140983" y="12233"/>
                  <a:pt x="110095" y="12233"/>
                </a:cubicBezTo>
                <a:close/>
                <a:moveTo>
                  <a:pt x="55047" y="97862"/>
                </a:moveTo>
                <a:cubicBezTo>
                  <a:pt x="55047" y="67481"/>
                  <a:pt x="79713" y="42815"/>
                  <a:pt x="110095" y="42815"/>
                </a:cubicBezTo>
                <a:cubicBezTo>
                  <a:pt x="140477" y="42815"/>
                  <a:pt x="165142" y="67481"/>
                  <a:pt x="165142" y="97862"/>
                </a:cubicBezTo>
                <a:cubicBezTo>
                  <a:pt x="165142" y="128244"/>
                  <a:pt x="140477" y="152910"/>
                  <a:pt x="110095" y="152910"/>
                </a:cubicBezTo>
                <a:cubicBezTo>
                  <a:pt x="79713" y="152910"/>
                  <a:pt x="55047" y="128244"/>
                  <a:pt x="55047" y="97862"/>
                </a:cubicBezTo>
                <a:close/>
                <a:moveTo>
                  <a:pt x="110095" y="73397"/>
                </a:moveTo>
                <a:cubicBezTo>
                  <a:pt x="110095" y="86891"/>
                  <a:pt x="99124" y="97862"/>
                  <a:pt x="85629" y="97862"/>
                </a:cubicBezTo>
                <a:cubicBezTo>
                  <a:pt x="81233" y="97862"/>
                  <a:pt x="77105" y="96715"/>
                  <a:pt x="73511" y="94651"/>
                </a:cubicBezTo>
                <a:cubicBezTo>
                  <a:pt x="73129" y="98818"/>
                  <a:pt x="73473" y="103099"/>
                  <a:pt x="74620" y="107343"/>
                </a:cubicBezTo>
                <a:cubicBezTo>
                  <a:pt x="79857" y="126915"/>
                  <a:pt x="100003" y="138536"/>
                  <a:pt x="119575" y="133299"/>
                </a:cubicBezTo>
                <a:cubicBezTo>
                  <a:pt x="139148" y="128062"/>
                  <a:pt x="150769" y="107916"/>
                  <a:pt x="145532" y="88344"/>
                </a:cubicBezTo>
                <a:cubicBezTo>
                  <a:pt x="140868" y="70874"/>
                  <a:pt x="124316" y="59749"/>
                  <a:pt x="106884" y="61279"/>
                </a:cubicBezTo>
                <a:cubicBezTo>
                  <a:pt x="108910" y="64834"/>
                  <a:pt x="110095" y="68962"/>
                  <a:pt x="110095" y="73397"/>
                </a:cubicBezTo>
                <a:close/>
              </a:path>
            </a:pathLst>
          </a:custGeom>
          <a:solidFill>
            <a:srgbClr val="E6B450"/>
          </a:solidFill>
        </p:spPr>
      </p:sp>
      <p:sp>
        <p:nvSpPr>
          <p:cNvPr id="13" name="Text 11"/>
          <p:cNvSpPr/>
          <p:nvPr/>
        </p:nvSpPr>
        <p:spPr>
          <a:xfrm>
            <a:off x="825712" y="3870949"/>
            <a:ext cx="6923751" cy="260966"/>
          </a:xfrm>
          <a:prstGeom prst="rect">
            <a:avLst/>
          </a:prstGeom>
          <a:noFill/>
        </p:spPr>
        <p:txBody>
          <a:bodyPr wrap="square" lIns="0" tIns="0" rIns="0" bIns="0" rtlCol="0" anchor="ctr"/>
          <a:lstStyle/>
          <a:p>
            <a:pPr>
              <a:lnSpc>
                <a:spcPct val="11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VFH </a:t>
            </a:r>
            <a:r>
              <a:rPr lang="en-US" b="1" dirty="0" err="1">
                <a:latin typeface="微软雅黑" panose="020B0503020204020204" pitchFamily="34" charset="-122"/>
                <a:ea typeface="微软雅黑" panose="020B0503020204020204" pitchFamily="34" charset="-122"/>
                <a:cs typeface="微软雅黑" panose="020B0503020204020204" pitchFamily="34" charset="-122"/>
              </a:rPr>
              <a:t>环境适应性</a:t>
            </a:r>
            <a:endParaRPr lang="en-US" sz="2000" dirty="0"/>
          </a:p>
        </p:txBody>
      </p:sp>
      <p:sp>
        <p:nvSpPr>
          <p:cNvPr id="14" name="Text 12"/>
          <p:cNvSpPr/>
          <p:nvPr/>
        </p:nvSpPr>
        <p:spPr>
          <a:xfrm>
            <a:off x="825712" y="4257021"/>
            <a:ext cx="6899286" cy="648336"/>
          </a:xfrm>
          <a:prstGeom prst="rect">
            <a:avLst/>
          </a:prstGeom>
          <a:noFill/>
        </p:spPr>
        <p:txBody>
          <a:bodyPr wrap="square" lIns="0" tIns="0" rIns="0" bIns="0" rtlCol="0" anchor="ctr"/>
          <a:lstStyle/>
          <a:p>
            <a:pPr>
              <a:lnSpc>
                <a:spcPct val="140000"/>
              </a:lnSpc>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机器人在导航前</a:t>
            </a:r>
            <a:r>
              <a:rPr lang="en-US" sz="1600" b="1" dirty="0" err="1">
                <a:latin typeface="微软雅黑" panose="020B0503020204020204" pitchFamily="34" charset="-122"/>
                <a:ea typeface="微软雅黑" panose="020B0503020204020204" pitchFamily="34" charset="-122"/>
                <a:cs typeface="微软雅黑" panose="020B0503020204020204" pitchFamily="34" charset="-122"/>
              </a:rPr>
              <a:t>不需要了解环境</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。这对于在高度动态的环境中导航是非常有优势的</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VFH使机器人能够探测障碍物并及时改变行驶路线以避开障碍物</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400" dirty="0"/>
          </a:p>
        </p:txBody>
      </p:sp>
      <p:sp>
        <p:nvSpPr>
          <p:cNvPr id="19" name="Shape 17"/>
          <p:cNvSpPr/>
          <p:nvPr/>
        </p:nvSpPr>
        <p:spPr>
          <a:xfrm>
            <a:off x="8110968" y="1703067"/>
            <a:ext cx="3751385" cy="4558748"/>
          </a:xfrm>
          <a:custGeom>
            <a:avLst/>
            <a:gdLst/>
            <a:ahLst/>
            <a:cxnLst/>
            <a:rect l="l" t="t" r="r" b="b"/>
            <a:pathLst>
              <a:path w="3751385" h="4558748">
                <a:moveTo>
                  <a:pt x="97874" y="0"/>
                </a:moveTo>
                <a:lnTo>
                  <a:pt x="3653511" y="0"/>
                </a:lnTo>
                <a:cubicBezTo>
                  <a:pt x="3707565" y="0"/>
                  <a:pt x="3751385" y="43820"/>
                  <a:pt x="3751385" y="97874"/>
                </a:cubicBezTo>
                <a:lnTo>
                  <a:pt x="3751385" y="4460874"/>
                </a:lnTo>
                <a:cubicBezTo>
                  <a:pt x="3751385" y="4514928"/>
                  <a:pt x="3707565" y="4558748"/>
                  <a:pt x="3653511" y="4558748"/>
                </a:cubicBezTo>
                <a:lnTo>
                  <a:pt x="97874" y="4558748"/>
                </a:lnTo>
                <a:cubicBezTo>
                  <a:pt x="43820" y="4558748"/>
                  <a:pt x="0" y="4514928"/>
                  <a:pt x="0" y="4460874"/>
                </a:cubicBezTo>
                <a:lnTo>
                  <a:pt x="0" y="97874"/>
                </a:lnTo>
                <a:cubicBezTo>
                  <a:pt x="0" y="43856"/>
                  <a:pt x="43856" y="0"/>
                  <a:pt x="97874" y="0"/>
                </a:cubicBezTo>
                <a:close/>
              </a:path>
            </a:pathLst>
          </a:custGeom>
          <a:solidFill>
            <a:srgbClr val="E6B450">
              <a:alpha val="10196"/>
            </a:srgbClr>
          </a:solidFill>
          <a:ln w="12700">
            <a:solidFill>
              <a:srgbClr val="E6B450">
                <a:alpha val="30196"/>
              </a:srgbClr>
            </a:solidFill>
            <a:prstDash val="solid"/>
          </a:ln>
        </p:spPr>
      </p:sp>
      <p:sp>
        <p:nvSpPr>
          <p:cNvPr id="20" name="Shape 18"/>
          <p:cNvSpPr/>
          <p:nvPr/>
        </p:nvSpPr>
        <p:spPr>
          <a:xfrm>
            <a:off x="8331158" y="1935490"/>
            <a:ext cx="163104" cy="163104"/>
          </a:xfrm>
          <a:custGeom>
            <a:avLst/>
            <a:gdLst/>
            <a:ahLst/>
            <a:cxnLst/>
            <a:rect l="l" t="t" r="r" b="b"/>
            <a:pathLst>
              <a:path w="163104" h="163104">
                <a:moveTo>
                  <a:pt x="15291" y="45873"/>
                </a:moveTo>
                <a:cubicBezTo>
                  <a:pt x="23730" y="45873"/>
                  <a:pt x="30582" y="39021"/>
                  <a:pt x="30582" y="30582"/>
                </a:cubicBezTo>
                <a:cubicBezTo>
                  <a:pt x="30582" y="22143"/>
                  <a:pt x="23730" y="15291"/>
                  <a:pt x="15291" y="15291"/>
                </a:cubicBezTo>
                <a:cubicBezTo>
                  <a:pt x="6852" y="15291"/>
                  <a:pt x="0" y="22143"/>
                  <a:pt x="0" y="30582"/>
                </a:cubicBezTo>
                <a:cubicBezTo>
                  <a:pt x="0" y="39021"/>
                  <a:pt x="6852" y="45873"/>
                  <a:pt x="15291" y="45873"/>
                </a:cubicBezTo>
                <a:close/>
                <a:moveTo>
                  <a:pt x="61164" y="20388"/>
                </a:moveTo>
                <a:cubicBezTo>
                  <a:pt x="55525" y="20388"/>
                  <a:pt x="50970" y="24943"/>
                  <a:pt x="50970" y="30582"/>
                </a:cubicBezTo>
                <a:cubicBezTo>
                  <a:pt x="50970" y="36220"/>
                  <a:pt x="55525" y="40776"/>
                  <a:pt x="61164" y="40776"/>
                </a:cubicBezTo>
                <a:lnTo>
                  <a:pt x="152910" y="40776"/>
                </a:lnTo>
                <a:cubicBezTo>
                  <a:pt x="158548" y="40776"/>
                  <a:pt x="163104" y="36220"/>
                  <a:pt x="163104" y="30582"/>
                </a:cubicBezTo>
                <a:cubicBezTo>
                  <a:pt x="163104" y="24943"/>
                  <a:pt x="158548" y="20388"/>
                  <a:pt x="152910" y="20388"/>
                </a:cubicBezTo>
                <a:lnTo>
                  <a:pt x="61164" y="20388"/>
                </a:lnTo>
                <a:close/>
                <a:moveTo>
                  <a:pt x="61164" y="71358"/>
                </a:moveTo>
                <a:cubicBezTo>
                  <a:pt x="55525" y="71358"/>
                  <a:pt x="50970" y="75913"/>
                  <a:pt x="50970" y="81552"/>
                </a:cubicBezTo>
                <a:cubicBezTo>
                  <a:pt x="50970" y="87190"/>
                  <a:pt x="55525" y="91746"/>
                  <a:pt x="61164" y="91746"/>
                </a:cubicBezTo>
                <a:lnTo>
                  <a:pt x="152910" y="91746"/>
                </a:lnTo>
                <a:cubicBezTo>
                  <a:pt x="158548" y="91746"/>
                  <a:pt x="163104" y="87190"/>
                  <a:pt x="163104" y="81552"/>
                </a:cubicBezTo>
                <a:cubicBezTo>
                  <a:pt x="163104" y="75913"/>
                  <a:pt x="158548" y="71358"/>
                  <a:pt x="152910" y="71358"/>
                </a:cubicBezTo>
                <a:lnTo>
                  <a:pt x="61164" y="71358"/>
                </a:lnTo>
                <a:close/>
                <a:moveTo>
                  <a:pt x="61164" y="122328"/>
                </a:moveTo>
                <a:cubicBezTo>
                  <a:pt x="55525" y="122328"/>
                  <a:pt x="50970" y="126883"/>
                  <a:pt x="50970" y="132522"/>
                </a:cubicBezTo>
                <a:cubicBezTo>
                  <a:pt x="50970" y="138160"/>
                  <a:pt x="55525" y="142716"/>
                  <a:pt x="61164" y="142716"/>
                </a:cubicBezTo>
                <a:lnTo>
                  <a:pt x="152910" y="142716"/>
                </a:lnTo>
                <a:cubicBezTo>
                  <a:pt x="158548" y="142716"/>
                  <a:pt x="163104" y="138160"/>
                  <a:pt x="163104" y="132522"/>
                </a:cubicBezTo>
                <a:cubicBezTo>
                  <a:pt x="163104" y="126883"/>
                  <a:pt x="158548" y="122328"/>
                  <a:pt x="152910" y="122328"/>
                </a:cubicBezTo>
                <a:lnTo>
                  <a:pt x="61164" y="122328"/>
                </a:lnTo>
                <a:close/>
                <a:moveTo>
                  <a:pt x="15291" y="147813"/>
                </a:moveTo>
                <a:cubicBezTo>
                  <a:pt x="23730" y="147813"/>
                  <a:pt x="30582" y="140961"/>
                  <a:pt x="30582" y="132522"/>
                </a:cubicBezTo>
                <a:cubicBezTo>
                  <a:pt x="30582" y="124082"/>
                  <a:pt x="23730" y="117231"/>
                  <a:pt x="15291" y="117231"/>
                </a:cubicBezTo>
                <a:cubicBezTo>
                  <a:pt x="6852" y="117231"/>
                  <a:pt x="0" y="124082"/>
                  <a:pt x="0" y="132522"/>
                </a:cubicBezTo>
                <a:cubicBezTo>
                  <a:pt x="0" y="140961"/>
                  <a:pt x="6852" y="147813"/>
                  <a:pt x="15291" y="147813"/>
                </a:cubicBezTo>
                <a:close/>
                <a:moveTo>
                  <a:pt x="30582" y="81552"/>
                </a:moveTo>
                <a:cubicBezTo>
                  <a:pt x="30582" y="73113"/>
                  <a:pt x="23730" y="66261"/>
                  <a:pt x="15291" y="66261"/>
                </a:cubicBezTo>
                <a:cubicBezTo>
                  <a:pt x="6852" y="66261"/>
                  <a:pt x="0" y="73113"/>
                  <a:pt x="0" y="81552"/>
                </a:cubicBezTo>
                <a:cubicBezTo>
                  <a:pt x="0" y="89991"/>
                  <a:pt x="6852" y="96843"/>
                  <a:pt x="15291" y="96843"/>
                </a:cubicBezTo>
                <a:cubicBezTo>
                  <a:pt x="23730" y="96843"/>
                  <a:pt x="30582" y="89991"/>
                  <a:pt x="30582" y="81552"/>
                </a:cubicBezTo>
                <a:close/>
              </a:path>
            </a:pathLst>
          </a:custGeom>
          <a:solidFill>
            <a:srgbClr val="E6B450"/>
          </a:solidFill>
        </p:spPr>
      </p:sp>
      <p:sp>
        <p:nvSpPr>
          <p:cNvPr id="21" name="Text 19"/>
          <p:cNvSpPr/>
          <p:nvPr/>
        </p:nvSpPr>
        <p:spPr>
          <a:xfrm>
            <a:off x="8514649" y="1902869"/>
            <a:ext cx="3229453" cy="228345"/>
          </a:xfrm>
          <a:prstGeom prst="rect">
            <a:avLst/>
          </a:prstGeom>
          <a:noFill/>
        </p:spPr>
        <p:txBody>
          <a:bodyPr wrap="square" lIns="0" tIns="0" rIns="0" bIns="0" rtlCol="0" anchor="ctr"/>
          <a:lstStyle/>
          <a:p>
            <a:pPr>
              <a:lnSpc>
                <a:spcPct val="12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VFH方法特点</a:t>
            </a:r>
            <a:endParaRPr lang="en-US" sz="1600" dirty="0"/>
          </a:p>
        </p:txBody>
      </p:sp>
      <p:sp>
        <p:nvSpPr>
          <p:cNvPr id="22" name="Shape 20"/>
          <p:cNvSpPr/>
          <p:nvPr/>
        </p:nvSpPr>
        <p:spPr>
          <a:xfrm>
            <a:off x="8310770" y="2294318"/>
            <a:ext cx="3351781" cy="842703"/>
          </a:xfrm>
          <a:custGeom>
            <a:avLst/>
            <a:gdLst/>
            <a:ahLst/>
            <a:cxnLst/>
            <a:rect l="l" t="t" r="r" b="b"/>
            <a:pathLst>
              <a:path w="3351781" h="750277">
                <a:moveTo>
                  <a:pt x="65244" y="0"/>
                </a:moveTo>
                <a:lnTo>
                  <a:pt x="3286537" y="0"/>
                </a:lnTo>
                <a:cubicBezTo>
                  <a:pt x="3322570" y="0"/>
                  <a:pt x="3351781" y="29211"/>
                  <a:pt x="3351781" y="65244"/>
                </a:cubicBezTo>
                <a:lnTo>
                  <a:pt x="3351781" y="685033"/>
                </a:lnTo>
                <a:cubicBezTo>
                  <a:pt x="3351781" y="721066"/>
                  <a:pt x="3322570" y="750277"/>
                  <a:pt x="3286537" y="750277"/>
                </a:cubicBezTo>
                <a:lnTo>
                  <a:pt x="65244" y="750277"/>
                </a:lnTo>
                <a:cubicBezTo>
                  <a:pt x="29211" y="750277"/>
                  <a:pt x="0" y="721066"/>
                  <a:pt x="0" y="685033"/>
                </a:cubicBezTo>
                <a:lnTo>
                  <a:pt x="0" y="65244"/>
                </a:lnTo>
                <a:cubicBezTo>
                  <a:pt x="0" y="29211"/>
                  <a:pt x="29211" y="0"/>
                  <a:pt x="65244" y="0"/>
                </a:cubicBezTo>
                <a:close/>
              </a:path>
            </a:pathLst>
          </a:custGeom>
          <a:solidFill>
            <a:srgbClr val="5F87A7">
              <a:alpha val="20000"/>
            </a:srgbClr>
          </a:solidFill>
        </p:spPr>
      </p:sp>
      <p:sp>
        <p:nvSpPr>
          <p:cNvPr id="23" name="Shape 21"/>
          <p:cNvSpPr/>
          <p:nvPr/>
        </p:nvSpPr>
        <p:spPr>
          <a:xfrm>
            <a:off x="8461640" y="2465577"/>
            <a:ext cx="146793" cy="146793"/>
          </a:xfrm>
          <a:custGeom>
            <a:avLst/>
            <a:gdLst/>
            <a:ahLst/>
            <a:cxnLst/>
            <a:rect l="l" t="t" r="r" b="b"/>
            <a:pathLst>
              <a:path w="146793" h="146793">
                <a:moveTo>
                  <a:pt x="73397" y="0"/>
                </a:moveTo>
                <a:cubicBezTo>
                  <a:pt x="113905" y="0"/>
                  <a:pt x="146793" y="32888"/>
                  <a:pt x="146793" y="73397"/>
                </a:cubicBezTo>
                <a:cubicBezTo>
                  <a:pt x="146793" y="113905"/>
                  <a:pt x="113905" y="146793"/>
                  <a:pt x="73397" y="146793"/>
                </a:cubicBezTo>
                <a:cubicBezTo>
                  <a:pt x="32888" y="146793"/>
                  <a:pt x="0" y="113905"/>
                  <a:pt x="0" y="73397"/>
                </a:cubicBezTo>
                <a:cubicBezTo>
                  <a:pt x="0" y="32888"/>
                  <a:pt x="32888" y="0"/>
                  <a:pt x="73397" y="0"/>
                </a:cubicBezTo>
                <a:close/>
                <a:moveTo>
                  <a:pt x="66516" y="34405"/>
                </a:moveTo>
                <a:lnTo>
                  <a:pt x="66516" y="73397"/>
                </a:lnTo>
                <a:cubicBezTo>
                  <a:pt x="66516" y="75690"/>
                  <a:pt x="67663" y="77841"/>
                  <a:pt x="69583" y="79131"/>
                </a:cubicBezTo>
                <a:lnTo>
                  <a:pt x="97107" y="97480"/>
                </a:lnTo>
                <a:cubicBezTo>
                  <a:pt x="100261" y="99602"/>
                  <a:pt x="104533" y="98741"/>
                  <a:pt x="106655" y="95559"/>
                </a:cubicBezTo>
                <a:cubicBezTo>
                  <a:pt x="108776" y="92377"/>
                  <a:pt x="107916" y="88133"/>
                  <a:pt x="104734" y="86012"/>
                </a:cubicBezTo>
                <a:lnTo>
                  <a:pt x="80278" y="69727"/>
                </a:lnTo>
                <a:lnTo>
                  <a:pt x="80278" y="34405"/>
                </a:lnTo>
                <a:cubicBezTo>
                  <a:pt x="80278" y="30591"/>
                  <a:pt x="77210" y="27524"/>
                  <a:pt x="73397" y="27524"/>
                </a:cubicBezTo>
                <a:cubicBezTo>
                  <a:pt x="69583" y="27524"/>
                  <a:pt x="66516" y="30591"/>
                  <a:pt x="66516" y="34405"/>
                </a:cubicBezTo>
                <a:close/>
              </a:path>
            </a:pathLst>
          </a:custGeom>
          <a:solidFill>
            <a:srgbClr val="E6B450"/>
          </a:solidFill>
        </p:spPr>
      </p:sp>
      <p:sp>
        <p:nvSpPr>
          <p:cNvPr id="24" name="Text 22"/>
          <p:cNvSpPr/>
          <p:nvPr/>
        </p:nvSpPr>
        <p:spPr>
          <a:xfrm>
            <a:off x="8722606" y="2424801"/>
            <a:ext cx="878594" cy="228345"/>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实时性</a:t>
            </a:r>
            <a:endParaRPr lang="en-US" sz="1600" dirty="0"/>
          </a:p>
        </p:txBody>
      </p:sp>
      <p:sp>
        <p:nvSpPr>
          <p:cNvPr id="25" name="Text 23"/>
          <p:cNvSpPr/>
          <p:nvPr/>
        </p:nvSpPr>
        <p:spPr>
          <a:xfrm>
            <a:off x="8441253" y="2718387"/>
            <a:ext cx="3156056" cy="195724"/>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实时避障响应，适用于动态环境</a:t>
            </a:r>
            <a:endParaRPr lang="en-US" sz="1600" dirty="0"/>
          </a:p>
        </p:txBody>
      </p:sp>
      <p:sp>
        <p:nvSpPr>
          <p:cNvPr id="26" name="Shape 24"/>
          <p:cNvSpPr/>
          <p:nvPr/>
        </p:nvSpPr>
        <p:spPr>
          <a:xfrm>
            <a:off x="8310770" y="3270328"/>
            <a:ext cx="3351781" cy="842703"/>
          </a:xfrm>
          <a:custGeom>
            <a:avLst/>
            <a:gdLst/>
            <a:ahLst/>
            <a:cxnLst/>
            <a:rect l="l" t="t" r="r" b="b"/>
            <a:pathLst>
              <a:path w="3351781" h="750277">
                <a:moveTo>
                  <a:pt x="65244" y="0"/>
                </a:moveTo>
                <a:lnTo>
                  <a:pt x="3286537" y="0"/>
                </a:lnTo>
                <a:cubicBezTo>
                  <a:pt x="3322570" y="0"/>
                  <a:pt x="3351781" y="29211"/>
                  <a:pt x="3351781" y="65244"/>
                </a:cubicBezTo>
                <a:lnTo>
                  <a:pt x="3351781" y="685033"/>
                </a:lnTo>
                <a:cubicBezTo>
                  <a:pt x="3351781" y="721066"/>
                  <a:pt x="3322570" y="750277"/>
                  <a:pt x="3286537" y="750277"/>
                </a:cubicBezTo>
                <a:lnTo>
                  <a:pt x="65244" y="750277"/>
                </a:lnTo>
                <a:cubicBezTo>
                  <a:pt x="29211" y="750277"/>
                  <a:pt x="0" y="721066"/>
                  <a:pt x="0" y="685033"/>
                </a:cubicBezTo>
                <a:lnTo>
                  <a:pt x="0" y="65244"/>
                </a:lnTo>
                <a:cubicBezTo>
                  <a:pt x="0" y="29211"/>
                  <a:pt x="29211" y="0"/>
                  <a:pt x="65244" y="0"/>
                </a:cubicBezTo>
                <a:close/>
              </a:path>
            </a:pathLst>
          </a:custGeom>
          <a:solidFill>
            <a:srgbClr val="5F87A7">
              <a:alpha val="20000"/>
            </a:srgbClr>
          </a:solidFill>
        </p:spPr>
      </p:sp>
      <p:sp>
        <p:nvSpPr>
          <p:cNvPr id="27" name="Shape 25"/>
          <p:cNvSpPr/>
          <p:nvPr/>
        </p:nvSpPr>
        <p:spPr>
          <a:xfrm>
            <a:off x="8443291" y="3441587"/>
            <a:ext cx="183492" cy="146793"/>
          </a:xfrm>
          <a:custGeom>
            <a:avLst/>
            <a:gdLst/>
            <a:ahLst/>
            <a:cxnLst/>
            <a:rect l="l" t="t" r="r" b="b"/>
            <a:pathLst>
              <a:path w="183492" h="146793">
                <a:moveTo>
                  <a:pt x="165142" y="13762"/>
                </a:moveTo>
                <a:cubicBezTo>
                  <a:pt x="165142" y="10579"/>
                  <a:pt x="163508" y="7626"/>
                  <a:pt x="160785" y="5963"/>
                </a:cubicBezTo>
                <a:cubicBezTo>
                  <a:pt x="158061" y="4301"/>
                  <a:pt x="154706" y="4129"/>
                  <a:pt x="151868" y="5562"/>
                </a:cubicBezTo>
                <a:lnTo>
                  <a:pt x="118553" y="22220"/>
                </a:lnTo>
                <a:lnTo>
                  <a:pt x="67118" y="5046"/>
                </a:lnTo>
                <a:cubicBezTo>
                  <a:pt x="64795" y="4272"/>
                  <a:pt x="62301" y="4444"/>
                  <a:pt x="60122" y="5533"/>
                </a:cubicBezTo>
                <a:lnTo>
                  <a:pt x="23424" y="23883"/>
                </a:lnTo>
                <a:cubicBezTo>
                  <a:pt x="20299" y="25459"/>
                  <a:pt x="18349" y="28642"/>
                  <a:pt x="18349" y="32111"/>
                </a:cubicBezTo>
                <a:lnTo>
                  <a:pt x="18349" y="133031"/>
                </a:lnTo>
                <a:cubicBezTo>
                  <a:pt x="18349" y="136214"/>
                  <a:pt x="19983" y="139167"/>
                  <a:pt x="22707" y="140830"/>
                </a:cubicBezTo>
                <a:cubicBezTo>
                  <a:pt x="25431" y="142493"/>
                  <a:pt x="28785" y="142665"/>
                  <a:pt x="31624" y="141231"/>
                </a:cubicBezTo>
                <a:lnTo>
                  <a:pt x="64910" y="124574"/>
                </a:lnTo>
                <a:lnTo>
                  <a:pt x="114596" y="141145"/>
                </a:lnTo>
                <a:cubicBezTo>
                  <a:pt x="113363" y="139310"/>
                  <a:pt x="112159" y="137389"/>
                  <a:pt x="110984" y="135440"/>
                </a:cubicBezTo>
                <a:cubicBezTo>
                  <a:pt x="107830" y="130193"/>
                  <a:pt x="104705" y="124172"/>
                  <a:pt x="102383" y="117721"/>
                </a:cubicBezTo>
                <a:lnTo>
                  <a:pt x="73368" y="108059"/>
                </a:lnTo>
                <a:lnTo>
                  <a:pt x="73368" y="26492"/>
                </a:lnTo>
                <a:lnTo>
                  <a:pt x="110066" y="38734"/>
                </a:lnTo>
                <a:lnTo>
                  <a:pt x="110066" y="67204"/>
                </a:lnTo>
                <a:cubicBezTo>
                  <a:pt x="118954" y="56940"/>
                  <a:pt x="132143" y="50460"/>
                  <a:pt x="146765" y="50460"/>
                </a:cubicBezTo>
                <a:cubicBezTo>
                  <a:pt x="153244" y="50460"/>
                  <a:pt x="159437" y="51722"/>
                  <a:pt x="165114" y="54044"/>
                </a:cubicBezTo>
                <a:lnTo>
                  <a:pt x="165142" y="13762"/>
                </a:lnTo>
                <a:close/>
                <a:moveTo>
                  <a:pt x="112389" y="98025"/>
                </a:moveTo>
                <a:cubicBezTo>
                  <a:pt x="112389" y="117779"/>
                  <a:pt x="130766" y="141145"/>
                  <a:pt x="140658" y="152298"/>
                </a:cubicBezTo>
                <a:cubicBezTo>
                  <a:pt x="143984" y="156025"/>
                  <a:pt x="149632" y="156025"/>
                  <a:pt x="152957" y="152298"/>
                </a:cubicBezTo>
                <a:cubicBezTo>
                  <a:pt x="162849" y="141145"/>
                  <a:pt x="181227" y="117779"/>
                  <a:pt x="181227" y="98025"/>
                </a:cubicBezTo>
                <a:cubicBezTo>
                  <a:pt x="181227" y="79360"/>
                  <a:pt x="165831" y="64222"/>
                  <a:pt x="146822" y="64222"/>
                </a:cubicBezTo>
                <a:cubicBezTo>
                  <a:pt x="127813" y="64222"/>
                  <a:pt x="112389" y="79360"/>
                  <a:pt x="112389" y="98025"/>
                </a:cubicBezTo>
                <a:close/>
              </a:path>
            </a:pathLst>
          </a:custGeom>
          <a:solidFill>
            <a:srgbClr val="E6B450"/>
          </a:solidFill>
        </p:spPr>
      </p:sp>
      <p:sp>
        <p:nvSpPr>
          <p:cNvPr id="28" name="Text 26"/>
          <p:cNvSpPr/>
          <p:nvPr/>
        </p:nvSpPr>
        <p:spPr>
          <a:xfrm>
            <a:off x="8722606" y="3400811"/>
            <a:ext cx="1513594" cy="228345"/>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无需先验地图</a:t>
            </a:r>
            <a:endParaRPr lang="en-US" sz="1600" dirty="0"/>
          </a:p>
        </p:txBody>
      </p:sp>
      <p:sp>
        <p:nvSpPr>
          <p:cNvPr id="29" name="Text 27"/>
          <p:cNvSpPr/>
          <p:nvPr/>
        </p:nvSpPr>
        <p:spPr>
          <a:xfrm>
            <a:off x="8441253" y="3694397"/>
            <a:ext cx="3156056" cy="195724"/>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导航前不需要了解环境信息</a:t>
            </a:r>
            <a:endParaRPr lang="en-US" sz="1600" dirty="0"/>
          </a:p>
        </p:txBody>
      </p:sp>
      <p:sp>
        <p:nvSpPr>
          <p:cNvPr id="30" name="Shape 28"/>
          <p:cNvSpPr/>
          <p:nvPr/>
        </p:nvSpPr>
        <p:spPr>
          <a:xfrm>
            <a:off x="8310770" y="4290788"/>
            <a:ext cx="3351781" cy="750277"/>
          </a:xfrm>
          <a:custGeom>
            <a:avLst/>
            <a:gdLst/>
            <a:ahLst/>
            <a:cxnLst/>
            <a:rect l="l" t="t" r="r" b="b"/>
            <a:pathLst>
              <a:path w="3351781" h="750277">
                <a:moveTo>
                  <a:pt x="65244" y="0"/>
                </a:moveTo>
                <a:lnTo>
                  <a:pt x="3286537" y="0"/>
                </a:lnTo>
                <a:cubicBezTo>
                  <a:pt x="3322570" y="0"/>
                  <a:pt x="3351781" y="29211"/>
                  <a:pt x="3351781" y="65244"/>
                </a:cubicBezTo>
                <a:lnTo>
                  <a:pt x="3351781" y="685033"/>
                </a:lnTo>
                <a:cubicBezTo>
                  <a:pt x="3351781" y="721066"/>
                  <a:pt x="3322570" y="750277"/>
                  <a:pt x="3286537" y="750277"/>
                </a:cubicBezTo>
                <a:lnTo>
                  <a:pt x="65244" y="750277"/>
                </a:lnTo>
                <a:cubicBezTo>
                  <a:pt x="29211" y="750277"/>
                  <a:pt x="0" y="721066"/>
                  <a:pt x="0" y="685033"/>
                </a:cubicBezTo>
                <a:lnTo>
                  <a:pt x="0" y="65244"/>
                </a:lnTo>
                <a:cubicBezTo>
                  <a:pt x="0" y="29211"/>
                  <a:pt x="29211" y="0"/>
                  <a:pt x="65244" y="0"/>
                </a:cubicBezTo>
                <a:close/>
              </a:path>
            </a:pathLst>
          </a:custGeom>
          <a:solidFill>
            <a:srgbClr val="5F87A7">
              <a:alpha val="20000"/>
            </a:srgbClr>
          </a:solidFill>
        </p:spPr>
      </p:sp>
      <p:sp>
        <p:nvSpPr>
          <p:cNvPr id="31" name="Shape 29"/>
          <p:cNvSpPr/>
          <p:nvPr/>
        </p:nvSpPr>
        <p:spPr>
          <a:xfrm>
            <a:off x="8461640" y="4462047"/>
            <a:ext cx="146793" cy="146793"/>
          </a:xfrm>
          <a:custGeom>
            <a:avLst/>
            <a:gdLst/>
            <a:ahLst/>
            <a:cxnLst/>
            <a:rect l="l" t="t" r="r" b="b"/>
            <a:pathLst>
              <a:path w="146793" h="146793">
                <a:moveTo>
                  <a:pt x="81424" y="-373"/>
                </a:moveTo>
                <a:cubicBezTo>
                  <a:pt x="76464" y="-3240"/>
                  <a:pt x="70329" y="-3240"/>
                  <a:pt x="65369" y="-373"/>
                </a:cubicBezTo>
                <a:lnTo>
                  <a:pt x="41228" y="13561"/>
                </a:lnTo>
                <a:cubicBezTo>
                  <a:pt x="36268" y="16428"/>
                  <a:pt x="33201" y="21732"/>
                  <a:pt x="33201" y="27466"/>
                </a:cubicBezTo>
                <a:lnTo>
                  <a:pt x="33201" y="56682"/>
                </a:lnTo>
                <a:lnTo>
                  <a:pt x="7884" y="71304"/>
                </a:lnTo>
                <a:cubicBezTo>
                  <a:pt x="2924" y="74171"/>
                  <a:pt x="-143" y="79475"/>
                  <a:pt x="-143" y="85209"/>
                </a:cubicBezTo>
                <a:lnTo>
                  <a:pt x="-143" y="113105"/>
                </a:lnTo>
                <a:cubicBezTo>
                  <a:pt x="-143" y="118840"/>
                  <a:pt x="2924" y="124144"/>
                  <a:pt x="7884" y="127011"/>
                </a:cubicBezTo>
                <a:lnTo>
                  <a:pt x="32054" y="140945"/>
                </a:lnTo>
                <a:cubicBezTo>
                  <a:pt x="37014" y="143812"/>
                  <a:pt x="43149" y="143812"/>
                  <a:pt x="48109" y="140945"/>
                </a:cubicBezTo>
                <a:lnTo>
                  <a:pt x="73425" y="126323"/>
                </a:lnTo>
                <a:lnTo>
                  <a:pt x="98741" y="140945"/>
                </a:lnTo>
                <a:cubicBezTo>
                  <a:pt x="103701" y="143812"/>
                  <a:pt x="109837" y="143812"/>
                  <a:pt x="114797" y="140945"/>
                </a:cubicBezTo>
                <a:lnTo>
                  <a:pt x="138909" y="127011"/>
                </a:lnTo>
                <a:cubicBezTo>
                  <a:pt x="143869" y="124144"/>
                  <a:pt x="146937" y="118840"/>
                  <a:pt x="146937" y="113105"/>
                </a:cubicBezTo>
                <a:lnTo>
                  <a:pt x="146937" y="85209"/>
                </a:lnTo>
                <a:cubicBezTo>
                  <a:pt x="146937" y="79475"/>
                  <a:pt x="143869" y="74171"/>
                  <a:pt x="138909" y="71304"/>
                </a:cubicBezTo>
                <a:lnTo>
                  <a:pt x="113593" y="56682"/>
                </a:lnTo>
                <a:lnTo>
                  <a:pt x="113593" y="27466"/>
                </a:lnTo>
                <a:cubicBezTo>
                  <a:pt x="113593" y="21732"/>
                  <a:pt x="110525" y="16428"/>
                  <a:pt x="105565" y="13561"/>
                </a:cubicBezTo>
                <a:lnTo>
                  <a:pt x="81424" y="-373"/>
                </a:lnTo>
                <a:close/>
                <a:moveTo>
                  <a:pt x="66516" y="83890"/>
                </a:moveTo>
                <a:lnTo>
                  <a:pt x="66516" y="114424"/>
                </a:lnTo>
                <a:lnTo>
                  <a:pt x="41200" y="129046"/>
                </a:lnTo>
                <a:cubicBezTo>
                  <a:pt x="40856" y="129247"/>
                  <a:pt x="40454" y="129362"/>
                  <a:pt x="40053" y="129362"/>
                </a:cubicBezTo>
                <a:lnTo>
                  <a:pt x="40053" y="99171"/>
                </a:lnTo>
                <a:lnTo>
                  <a:pt x="66516" y="83890"/>
                </a:lnTo>
                <a:close/>
                <a:moveTo>
                  <a:pt x="132859" y="84062"/>
                </a:moveTo>
                <a:cubicBezTo>
                  <a:pt x="133060" y="84406"/>
                  <a:pt x="133175" y="84808"/>
                  <a:pt x="133175" y="85209"/>
                </a:cubicBezTo>
                <a:lnTo>
                  <a:pt x="133175" y="113105"/>
                </a:lnTo>
                <a:cubicBezTo>
                  <a:pt x="133175" y="113937"/>
                  <a:pt x="132745" y="114682"/>
                  <a:pt x="132028" y="115084"/>
                </a:cubicBezTo>
                <a:lnTo>
                  <a:pt x="107859" y="129018"/>
                </a:lnTo>
                <a:cubicBezTo>
                  <a:pt x="107515" y="129218"/>
                  <a:pt x="107113" y="129333"/>
                  <a:pt x="106712" y="129333"/>
                </a:cubicBezTo>
                <a:lnTo>
                  <a:pt x="106712" y="99143"/>
                </a:lnTo>
                <a:lnTo>
                  <a:pt x="132859" y="84062"/>
                </a:lnTo>
                <a:close/>
                <a:moveTo>
                  <a:pt x="99860" y="27466"/>
                </a:moveTo>
                <a:lnTo>
                  <a:pt x="99860" y="56682"/>
                </a:lnTo>
                <a:lnTo>
                  <a:pt x="73397" y="71963"/>
                </a:lnTo>
                <a:lnTo>
                  <a:pt x="73397" y="41429"/>
                </a:lnTo>
                <a:lnTo>
                  <a:pt x="99544" y="26348"/>
                </a:lnTo>
                <a:cubicBezTo>
                  <a:pt x="99745" y="26692"/>
                  <a:pt x="99860" y="27094"/>
                  <a:pt x="99860" y="27495"/>
                </a:cubicBezTo>
                <a:close/>
              </a:path>
            </a:pathLst>
          </a:custGeom>
          <a:solidFill>
            <a:srgbClr val="E6B450"/>
          </a:solidFill>
        </p:spPr>
      </p:sp>
      <p:sp>
        <p:nvSpPr>
          <p:cNvPr id="32" name="Text 30"/>
          <p:cNvSpPr/>
          <p:nvPr/>
        </p:nvSpPr>
        <p:spPr>
          <a:xfrm>
            <a:off x="8722606" y="4421271"/>
            <a:ext cx="1376434" cy="228345"/>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适应复杂环境</a:t>
            </a:r>
            <a:endParaRPr lang="en-US" sz="1600" dirty="0"/>
          </a:p>
        </p:txBody>
      </p:sp>
      <p:sp>
        <p:nvSpPr>
          <p:cNvPr id="33" name="Text 31"/>
          <p:cNvSpPr/>
          <p:nvPr/>
        </p:nvSpPr>
        <p:spPr>
          <a:xfrm>
            <a:off x="8441253" y="4714857"/>
            <a:ext cx="3156056" cy="195724"/>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适用于多障碍物环境</a:t>
            </a:r>
            <a:endParaRPr lang="en-US" sz="1600" dirty="0"/>
          </a:p>
        </p:txBody>
      </p:sp>
      <p:sp>
        <p:nvSpPr>
          <p:cNvPr id="34" name="Shape 32"/>
          <p:cNvSpPr/>
          <p:nvPr/>
        </p:nvSpPr>
        <p:spPr>
          <a:xfrm>
            <a:off x="8310770" y="5247748"/>
            <a:ext cx="3351781" cy="750277"/>
          </a:xfrm>
          <a:custGeom>
            <a:avLst/>
            <a:gdLst/>
            <a:ahLst/>
            <a:cxnLst/>
            <a:rect l="l" t="t" r="r" b="b"/>
            <a:pathLst>
              <a:path w="3351781" h="750277">
                <a:moveTo>
                  <a:pt x="65244" y="0"/>
                </a:moveTo>
                <a:lnTo>
                  <a:pt x="3286537" y="0"/>
                </a:lnTo>
                <a:cubicBezTo>
                  <a:pt x="3322570" y="0"/>
                  <a:pt x="3351781" y="29211"/>
                  <a:pt x="3351781" y="65244"/>
                </a:cubicBezTo>
                <a:lnTo>
                  <a:pt x="3351781" y="685033"/>
                </a:lnTo>
                <a:cubicBezTo>
                  <a:pt x="3351781" y="721066"/>
                  <a:pt x="3322570" y="750277"/>
                  <a:pt x="3286537" y="750277"/>
                </a:cubicBezTo>
                <a:lnTo>
                  <a:pt x="65244" y="750277"/>
                </a:lnTo>
                <a:cubicBezTo>
                  <a:pt x="29211" y="750277"/>
                  <a:pt x="0" y="721066"/>
                  <a:pt x="0" y="685033"/>
                </a:cubicBezTo>
                <a:lnTo>
                  <a:pt x="0" y="65244"/>
                </a:lnTo>
                <a:cubicBezTo>
                  <a:pt x="0" y="29211"/>
                  <a:pt x="29211" y="0"/>
                  <a:pt x="65244" y="0"/>
                </a:cubicBezTo>
                <a:close/>
              </a:path>
            </a:pathLst>
          </a:custGeom>
          <a:solidFill>
            <a:srgbClr val="5F87A7">
              <a:alpha val="20000"/>
            </a:srgbClr>
          </a:solidFill>
        </p:spPr>
      </p:sp>
      <p:sp>
        <p:nvSpPr>
          <p:cNvPr id="35" name="Shape 33"/>
          <p:cNvSpPr/>
          <p:nvPr/>
        </p:nvSpPr>
        <p:spPr>
          <a:xfrm>
            <a:off x="8461640" y="5419006"/>
            <a:ext cx="146793" cy="146793"/>
          </a:xfrm>
          <a:custGeom>
            <a:avLst/>
            <a:gdLst/>
            <a:ahLst/>
            <a:cxnLst/>
            <a:rect l="l" t="t" r="r" b="b"/>
            <a:pathLst>
              <a:path w="146793" h="146793">
                <a:moveTo>
                  <a:pt x="73397" y="0"/>
                </a:moveTo>
                <a:cubicBezTo>
                  <a:pt x="74716" y="0"/>
                  <a:pt x="76034" y="287"/>
                  <a:pt x="77239" y="831"/>
                </a:cubicBezTo>
                <a:lnTo>
                  <a:pt x="131254" y="23739"/>
                </a:lnTo>
                <a:cubicBezTo>
                  <a:pt x="137561" y="26406"/>
                  <a:pt x="142263" y="32627"/>
                  <a:pt x="142235" y="40139"/>
                </a:cubicBezTo>
                <a:cubicBezTo>
                  <a:pt x="142091" y="68580"/>
                  <a:pt x="130394" y="120617"/>
                  <a:pt x="80994" y="144270"/>
                </a:cubicBezTo>
                <a:cubicBezTo>
                  <a:pt x="76206" y="146564"/>
                  <a:pt x="70644" y="146564"/>
                  <a:pt x="65856" y="144270"/>
                </a:cubicBezTo>
                <a:cubicBezTo>
                  <a:pt x="16428" y="120617"/>
                  <a:pt x="4759" y="68580"/>
                  <a:pt x="4616" y="40139"/>
                </a:cubicBezTo>
                <a:cubicBezTo>
                  <a:pt x="4587" y="32627"/>
                  <a:pt x="9289" y="26406"/>
                  <a:pt x="15597" y="23739"/>
                </a:cubicBezTo>
                <a:lnTo>
                  <a:pt x="69583" y="831"/>
                </a:lnTo>
                <a:cubicBezTo>
                  <a:pt x="70788" y="287"/>
                  <a:pt x="72078" y="0"/>
                  <a:pt x="73397" y="0"/>
                </a:cubicBezTo>
                <a:close/>
                <a:moveTo>
                  <a:pt x="73397" y="19152"/>
                </a:moveTo>
                <a:lnTo>
                  <a:pt x="73397" y="127555"/>
                </a:lnTo>
                <a:cubicBezTo>
                  <a:pt x="112962" y="108403"/>
                  <a:pt x="123599" y="65971"/>
                  <a:pt x="123857" y="40569"/>
                </a:cubicBezTo>
                <a:lnTo>
                  <a:pt x="73397" y="19181"/>
                </a:lnTo>
                <a:lnTo>
                  <a:pt x="73397" y="19181"/>
                </a:lnTo>
                <a:close/>
              </a:path>
            </a:pathLst>
          </a:custGeom>
          <a:solidFill>
            <a:srgbClr val="E6B450"/>
          </a:solidFill>
        </p:spPr>
      </p:sp>
      <p:sp>
        <p:nvSpPr>
          <p:cNvPr id="36" name="Text 34"/>
          <p:cNvSpPr/>
          <p:nvPr/>
        </p:nvSpPr>
        <p:spPr>
          <a:xfrm>
            <a:off x="8722606" y="5378230"/>
            <a:ext cx="985274" cy="228345"/>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高效可靠</a:t>
            </a:r>
            <a:endParaRPr lang="en-US" sz="1600" dirty="0"/>
          </a:p>
        </p:txBody>
      </p:sp>
      <p:sp>
        <p:nvSpPr>
          <p:cNvPr id="37" name="Text 35"/>
          <p:cNvSpPr/>
          <p:nvPr/>
        </p:nvSpPr>
        <p:spPr>
          <a:xfrm>
            <a:off x="8441253" y="5671817"/>
            <a:ext cx="3156056" cy="195724"/>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公认的避障导航方法</a:t>
            </a:r>
            <a:endParaRPr lang="en-US" sz="1600" dirty="0"/>
          </a:p>
        </p:txBody>
      </p:sp>
      <p:grpSp>
        <p:nvGrpSpPr>
          <p:cNvPr id="40" name="组合 39">
            <a:extLst>
              <a:ext uri="{FF2B5EF4-FFF2-40B4-BE49-F238E27FC236}">
                <a16:creationId xmlns:a16="http://schemas.microsoft.com/office/drawing/2014/main" id="{D498421D-58F8-885A-3D9E-8CEF5B0B861F}"/>
              </a:ext>
            </a:extLst>
          </p:cNvPr>
          <p:cNvGrpSpPr/>
          <p:nvPr/>
        </p:nvGrpSpPr>
        <p:grpSpPr>
          <a:xfrm>
            <a:off x="0" y="939798"/>
            <a:ext cx="5022850" cy="625474"/>
            <a:chOff x="0" y="1075267"/>
            <a:chExt cx="5022850" cy="625474"/>
          </a:xfrm>
        </p:grpSpPr>
        <p:sp>
          <p:nvSpPr>
            <p:cNvPr id="41" name="矩形 40">
              <a:extLst>
                <a:ext uri="{FF2B5EF4-FFF2-40B4-BE49-F238E27FC236}">
                  <a16:creationId xmlns:a16="http://schemas.microsoft.com/office/drawing/2014/main" id="{8F38CE67-2E95-240D-3FBD-08531A9078DB}"/>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D33615BA-4AD5-8D34-2757-A0500DA14740}"/>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7.3.1 </a:t>
              </a:r>
              <a:r>
                <a:rPr lang="zh-CN" altLang="en-US" sz="2400" b="1" dirty="0">
                  <a:solidFill>
                    <a:schemeClr val="accent1"/>
                  </a:solidFill>
                  <a:latin typeface="+mj-lt"/>
                </a:rPr>
                <a:t>避障控制</a:t>
              </a:r>
            </a:p>
          </p:txBody>
        </p:sp>
      </p:grpSp>
    </p:spTree>
    <p:extLst>
      <p:ext uri="{BB962C8B-B14F-4D97-AF65-F5344CB8AC3E}">
        <p14:creationId xmlns:p14="http://schemas.microsoft.com/office/powerpoint/2010/main" val="3203715288"/>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43206" y="1736610"/>
            <a:ext cx="8122552" cy="1927340"/>
          </a:xfrm>
          <a:custGeom>
            <a:avLst/>
            <a:gdLst/>
            <a:ahLst/>
            <a:cxnLst/>
            <a:rect l="l" t="t" r="r" b="b"/>
            <a:pathLst>
              <a:path w="8122552" h="1470885">
                <a:moveTo>
                  <a:pt x="32686" y="0"/>
                </a:moveTo>
                <a:lnTo>
                  <a:pt x="8024488" y="0"/>
                </a:lnTo>
                <a:cubicBezTo>
                  <a:pt x="8078648" y="0"/>
                  <a:pt x="8122552" y="43905"/>
                  <a:pt x="8122552" y="98064"/>
                </a:cubicBezTo>
                <a:lnTo>
                  <a:pt x="8122552" y="1372821"/>
                </a:lnTo>
                <a:cubicBezTo>
                  <a:pt x="8122552" y="1426980"/>
                  <a:pt x="8078648" y="1470885"/>
                  <a:pt x="8024488" y="1470885"/>
                </a:cubicBezTo>
                <a:lnTo>
                  <a:pt x="32686" y="1470885"/>
                </a:lnTo>
                <a:cubicBezTo>
                  <a:pt x="14634" y="1470885"/>
                  <a:pt x="0" y="1456251"/>
                  <a:pt x="0" y="1438198"/>
                </a:cubicBezTo>
                <a:lnTo>
                  <a:pt x="0" y="32686"/>
                </a:lnTo>
                <a:cubicBezTo>
                  <a:pt x="0" y="14646"/>
                  <a:pt x="14646" y="0"/>
                  <a:pt x="32686" y="0"/>
                </a:cubicBezTo>
                <a:close/>
              </a:path>
            </a:pathLst>
          </a:custGeom>
          <a:solidFill>
            <a:srgbClr val="5F87A7">
              <a:alpha val="10196"/>
            </a:srgbClr>
          </a:solidFill>
        </p:spPr>
      </p:sp>
      <p:sp>
        <p:nvSpPr>
          <p:cNvPr id="6" name="Shape 4"/>
          <p:cNvSpPr/>
          <p:nvPr/>
        </p:nvSpPr>
        <p:spPr>
          <a:xfrm>
            <a:off x="343206" y="1736610"/>
            <a:ext cx="32686" cy="1927340"/>
          </a:xfrm>
          <a:custGeom>
            <a:avLst/>
            <a:gdLst/>
            <a:ahLst/>
            <a:cxnLst/>
            <a:rect l="l" t="t" r="r" b="b"/>
            <a:pathLst>
              <a:path w="32686" h="1470885">
                <a:moveTo>
                  <a:pt x="32686" y="0"/>
                </a:moveTo>
                <a:lnTo>
                  <a:pt x="32686" y="0"/>
                </a:lnTo>
                <a:lnTo>
                  <a:pt x="32686" y="1470885"/>
                </a:lnTo>
                <a:lnTo>
                  <a:pt x="32686" y="1470885"/>
                </a:lnTo>
                <a:cubicBezTo>
                  <a:pt x="14634" y="1470885"/>
                  <a:pt x="0" y="1456251"/>
                  <a:pt x="0" y="1438198"/>
                </a:cubicBezTo>
                <a:lnTo>
                  <a:pt x="0" y="32686"/>
                </a:lnTo>
                <a:cubicBezTo>
                  <a:pt x="0" y="14646"/>
                  <a:pt x="14646" y="0"/>
                  <a:pt x="32686" y="0"/>
                </a:cubicBezTo>
                <a:close/>
              </a:path>
            </a:pathLst>
          </a:custGeom>
          <a:solidFill>
            <a:srgbClr val="E6B450"/>
          </a:solidFill>
        </p:spPr>
      </p:sp>
      <p:sp>
        <p:nvSpPr>
          <p:cNvPr id="7" name="Shape 5"/>
          <p:cNvSpPr/>
          <p:nvPr/>
        </p:nvSpPr>
        <p:spPr>
          <a:xfrm>
            <a:off x="539324" y="1965414"/>
            <a:ext cx="171603" cy="196118"/>
          </a:xfrm>
          <a:custGeom>
            <a:avLst/>
            <a:gdLst/>
            <a:ahLst/>
            <a:cxnLst/>
            <a:rect l="l" t="t" r="r" b="b"/>
            <a:pathLst>
              <a:path w="171603" h="196118">
                <a:moveTo>
                  <a:pt x="147088" y="36772"/>
                </a:moveTo>
                <a:lnTo>
                  <a:pt x="147088" y="61287"/>
                </a:lnTo>
                <a:lnTo>
                  <a:pt x="122574" y="61287"/>
                </a:lnTo>
                <a:lnTo>
                  <a:pt x="122574" y="36772"/>
                </a:lnTo>
                <a:lnTo>
                  <a:pt x="147088" y="36772"/>
                </a:lnTo>
                <a:close/>
                <a:moveTo>
                  <a:pt x="147088" y="85802"/>
                </a:moveTo>
                <a:lnTo>
                  <a:pt x="147088" y="110316"/>
                </a:lnTo>
                <a:lnTo>
                  <a:pt x="122574" y="110316"/>
                </a:lnTo>
                <a:lnTo>
                  <a:pt x="122574" y="85802"/>
                </a:lnTo>
                <a:lnTo>
                  <a:pt x="147088" y="85802"/>
                </a:lnTo>
                <a:close/>
                <a:moveTo>
                  <a:pt x="147088" y="134831"/>
                </a:moveTo>
                <a:lnTo>
                  <a:pt x="147088" y="159346"/>
                </a:lnTo>
                <a:lnTo>
                  <a:pt x="122574" y="159346"/>
                </a:lnTo>
                <a:lnTo>
                  <a:pt x="122574" y="134831"/>
                </a:lnTo>
                <a:lnTo>
                  <a:pt x="147088" y="134831"/>
                </a:lnTo>
                <a:close/>
                <a:moveTo>
                  <a:pt x="98059" y="110316"/>
                </a:moveTo>
                <a:lnTo>
                  <a:pt x="73544" y="110316"/>
                </a:lnTo>
                <a:lnTo>
                  <a:pt x="73544" y="85802"/>
                </a:lnTo>
                <a:lnTo>
                  <a:pt x="98059" y="85802"/>
                </a:lnTo>
                <a:lnTo>
                  <a:pt x="98059" y="110316"/>
                </a:lnTo>
                <a:close/>
                <a:moveTo>
                  <a:pt x="73544" y="134831"/>
                </a:moveTo>
                <a:lnTo>
                  <a:pt x="98059" y="134831"/>
                </a:lnTo>
                <a:lnTo>
                  <a:pt x="98059" y="159346"/>
                </a:lnTo>
                <a:lnTo>
                  <a:pt x="73544" y="159346"/>
                </a:lnTo>
                <a:lnTo>
                  <a:pt x="73544" y="134831"/>
                </a:lnTo>
                <a:close/>
                <a:moveTo>
                  <a:pt x="49029" y="110316"/>
                </a:moveTo>
                <a:lnTo>
                  <a:pt x="24515" y="110316"/>
                </a:lnTo>
                <a:lnTo>
                  <a:pt x="24515" y="85802"/>
                </a:lnTo>
                <a:lnTo>
                  <a:pt x="49029" y="85802"/>
                </a:lnTo>
                <a:lnTo>
                  <a:pt x="49029" y="110316"/>
                </a:lnTo>
                <a:close/>
                <a:moveTo>
                  <a:pt x="24515" y="134831"/>
                </a:moveTo>
                <a:lnTo>
                  <a:pt x="49029" y="134831"/>
                </a:lnTo>
                <a:lnTo>
                  <a:pt x="49029" y="159346"/>
                </a:lnTo>
                <a:lnTo>
                  <a:pt x="24515" y="159346"/>
                </a:lnTo>
                <a:lnTo>
                  <a:pt x="24515" y="134831"/>
                </a:lnTo>
                <a:close/>
                <a:moveTo>
                  <a:pt x="24515" y="61287"/>
                </a:moveTo>
                <a:lnTo>
                  <a:pt x="24515" y="36772"/>
                </a:lnTo>
                <a:lnTo>
                  <a:pt x="49029" y="36772"/>
                </a:lnTo>
                <a:lnTo>
                  <a:pt x="49029" y="61287"/>
                </a:lnTo>
                <a:lnTo>
                  <a:pt x="24515" y="61287"/>
                </a:lnTo>
                <a:close/>
                <a:moveTo>
                  <a:pt x="73544" y="61287"/>
                </a:moveTo>
                <a:lnTo>
                  <a:pt x="73544" y="36772"/>
                </a:lnTo>
                <a:lnTo>
                  <a:pt x="98059" y="36772"/>
                </a:lnTo>
                <a:lnTo>
                  <a:pt x="98059" y="61287"/>
                </a:lnTo>
                <a:lnTo>
                  <a:pt x="73544" y="61287"/>
                </a:lnTo>
                <a:close/>
                <a:moveTo>
                  <a:pt x="24515" y="12257"/>
                </a:moveTo>
                <a:cubicBezTo>
                  <a:pt x="10993" y="12257"/>
                  <a:pt x="0" y="23251"/>
                  <a:pt x="0" y="36772"/>
                </a:cubicBezTo>
                <a:lnTo>
                  <a:pt x="0" y="159346"/>
                </a:lnTo>
                <a:cubicBezTo>
                  <a:pt x="0" y="172867"/>
                  <a:pt x="10993" y="183861"/>
                  <a:pt x="24515" y="183861"/>
                </a:cubicBezTo>
                <a:lnTo>
                  <a:pt x="147088" y="183861"/>
                </a:lnTo>
                <a:cubicBezTo>
                  <a:pt x="160610" y="183861"/>
                  <a:pt x="171603" y="172867"/>
                  <a:pt x="171603" y="159346"/>
                </a:cubicBezTo>
                <a:lnTo>
                  <a:pt x="171603" y="36772"/>
                </a:lnTo>
                <a:cubicBezTo>
                  <a:pt x="171603" y="23251"/>
                  <a:pt x="160610" y="12257"/>
                  <a:pt x="147088" y="12257"/>
                </a:cubicBezTo>
                <a:lnTo>
                  <a:pt x="24515" y="12257"/>
                </a:lnTo>
                <a:close/>
              </a:path>
            </a:pathLst>
          </a:custGeom>
          <a:solidFill>
            <a:srgbClr val="E6B450"/>
          </a:solidFill>
        </p:spPr>
      </p:sp>
      <p:sp>
        <p:nvSpPr>
          <p:cNvPr id="8" name="Text 6"/>
          <p:cNvSpPr/>
          <p:nvPr/>
        </p:nvSpPr>
        <p:spPr>
          <a:xfrm>
            <a:off x="823159" y="1932728"/>
            <a:ext cx="7542370" cy="261491"/>
          </a:xfrm>
          <a:prstGeom prst="rect">
            <a:avLst/>
          </a:prstGeom>
          <a:noFill/>
        </p:spPr>
        <p:txBody>
          <a:bodyPr wrap="square" lIns="0" tIns="0" rIns="0" bIns="0" rtlCol="0" anchor="ctr"/>
          <a:lstStyle/>
          <a:p>
            <a:pPr>
              <a:lnSpc>
                <a:spcPct val="11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VFH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使用</a:t>
            </a:r>
            <a:r>
              <a:rPr lang="en-US" b="1" dirty="0" err="1">
                <a:latin typeface="微软雅黑" panose="020B0503020204020204" pitchFamily="34" charset="-122"/>
                <a:ea typeface="微软雅黑" panose="020B0503020204020204" pitchFamily="34" charset="-122"/>
                <a:cs typeface="微软雅黑" panose="020B0503020204020204" pitchFamily="34" charset="-122"/>
              </a:rPr>
              <a:t>栅格地图</a:t>
            </a:r>
            <a:endParaRPr lang="en-US" sz="2000" dirty="0"/>
          </a:p>
        </p:txBody>
      </p:sp>
      <p:sp>
        <p:nvSpPr>
          <p:cNvPr id="9" name="Text 7"/>
          <p:cNvSpPr/>
          <p:nvPr/>
        </p:nvSpPr>
        <p:spPr>
          <a:xfrm>
            <a:off x="823159" y="2292277"/>
            <a:ext cx="7517855" cy="1225623"/>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VFH方法使用了</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二维笛卡尔坐标系的栅格</a:t>
            </a:r>
            <a:r>
              <a:rPr lang="en-US" sz="1600" dirty="0">
                <a:latin typeface="微软雅黑" panose="020B0503020204020204" pitchFamily="34" charset="-122"/>
                <a:ea typeface="微软雅黑" panose="020B0503020204020204" pitchFamily="34" charset="-122"/>
                <a:cs typeface="微软雅黑" panose="020B0503020204020204" pitchFamily="34" charset="-122"/>
              </a:rPr>
              <a:t>，该栅格根据</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超声波传感器 </a:t>
            </a:r>
            <a:r>
              <a:rPr lang="en-US" sz="1600" dirty="0">
                <a:latin typeface="微软雅黑" panose="020B0503020204020204" pitchFamily="34" charset="-122"/>
                <a:ea typeface="微软雅黑" panose="020B0503020204020204" pitchFamily="34" charset="-122"/>
                <a:cs typeface="微软雅黑" panose="020B0503020204020204" pitchFamily="34" charset="-122"/>
              </a:rPr>
              <a:t>或</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激光测距仪传感器 </a:t>
            </a:r>
            <a:r>
              <a:rPr lang="en-US" sz="1600" dirty="0">
                <a:latin typeface="微软雅黑" panose="020B0503020204020204" pitchFamily="34" charset="-122"/>
                <a:ea typeface="微软雅黑" panose="020B0503020204020204" pitchFamily="34" charset="-122"/>
                <a:cs typeface="微软雅黑" panose="020B0503020204020204" pitchFamily="34" charset="-122"/>
              </a:rPr>
              <a:t>获得的信息进行连续不断的更新。这个栅格和由占用栅格度量图在原理上是相似的，只是这个网格的尺度更小，它只表示机器人周围的环境而且机器人总是处于栅格的中心。</a:t>
            </a:r>
            <a:endParaRPr lang="en-US" sz="2400" dirty="0"/>
          </a:p>
        </p:txBody>
      </p:sp>
      <p:grpSp>
        <p:nvGrpSpPr>
          <p:cNvPr id="48" name="组合 47">
            <a:extLst>
              <a:ext uri="{FF2B5EF4-FFF2-40B4-BE49-F238E27FC236}">
                <a16:creationId xmlns:a16="http://schemas.microsoft.com/office/drawing/2014/main" id="{88C1837B-45BD-C3F8-FE2A-49BA2DEB0DD2}"/>
              </a:ext>
            </a:extLst>
          </p:cNvPr>
          <p:cNvGrpSpPr/>
          <p:nvPr/>
        </p:nvGrpSpPr>
        <p:grpSpPr>
          <a:xfrm>
            <a:off x="0" y="939798"/>
            <a:ext cx="5022850" cy="625474"/>
            <a:chOff x="0" y="1075267"/>
            <a:chExt cx="5022850" cy="625474"/>
          </a:xfrm>
        </p:grpSpPr>
        <p:sp>
          <p:nvSpPr>
            <p:cNvPr id="49" name="矩形 48">
              <a:extLst>
                <a:ext uri="{FF2B5EF4-FFF2-40B4-BE49-F238E27FC236}">
                  <a16:creationId xmlns:a16="http://schemas.microsoft.com/office/drawing/2014/main" id="{535710CE-110A-F6B4-4B32-DC106A416018}"/>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135CB5FF-FD58-3C16-9361-8779CC15F5E7}"/>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7.3.1 </a:t>
              </a:r>
              <a:r>
                <a:rPr lang="zh-CN" altLang="en-US" sz="2400" b="1" dirty="0">
                  <a:solidFill>
                    <a:schemeClr val="accent1"/>
                  </a:solidFill>
                  <a:latin typeface="+mj-lt"/>
                </a:rPr>
                <a:t>避障控制</a:t>
              </a:r>
            </a:p>
          </p:txBody>
        </p:sp>
      </p:grpSp>
      <p:pic>
        <p:nvPicPr>
          <p:cNvPr id="52" name="图片 51">
            <a:extLst>
              <a:ext uri="{FF2B5EF4-FFF2-40B4-BE49-F238E27FC236}">
                <a16:creationId xmlns:a16="http://schemas.microsoft.com/office/drawing/2014/main" id="{1360DEFC-A1C6-1D0E-417F-508CB6807300}"/>
              </a:ext>
            </a:extLst>
          </p:cNvPr>
          <p:cNvPicPr>
            <a:picLocks noChangeAspect="1"/>
          </p:cNvPicPr>
          <p:nvPr/>
        </p:nvPicPr>
        <p:blipFill>
          <a:blip r:embed="rId3"/>
          <a:srcRect/>
          <a:stretch>
            <a:fillRect/>
          </a:stretch>
        </p:blipFill>
        <p:spPr>
          <a:xfrm>
            <a:off x="2394522" y="3762008"/>
            <a:ext cx="6071236" cy="2912851"/>
          </a:xfrm>
          <a:prstGeom prst="rect">
            <a:avLst/>
          </a:prstGeom>
          <a:noFill/>
          <a:ln>
            <a:noFill/>
          </a:ln>
          <a:effectLst/>
        </p:spPr>
      </p:pic>
    </p:spTree>
    <p:extLst>
      <p:ext uri="{BB962C8B-B14F-4D97-AF65-F5344CB8AC3E}">
        <p14:creationId xmlns:p14="http://schemas.microsoft.com/office/powerpoint/2010/main" val="2224665006"/>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 8"/>
          <p:cNvSpPr/>
          <p:nvPr/>
        </p:nvSpPr>
        <p:spPr>
          <a:xfrm>
            <a:off x="343206" y="1807720"/>
            <a:ext cx="8122552" cy="1697480"/>
          </a:xfrm>
          <a:custGeom>
            <a:avLst/>
            <a:gdLst/>
            <a:ahLst/>
            <a:cxnLst/>
            <a:rect l="l" t="t" r="r" b="b"/>
            <a:pathLst>
              <a:path w="8122552" h="1233909">
                <a:moveTo>
                  <a:pt x="32686" y="0"/>
                </a:moveTo>
                <a:lnTo>
                  <a:pt x="8024494" y="0"/>
                </a:lnTo>
                <a:cubicBezTo>
                  <a:pt x="8078650" y="0"/>
                  <a:pt x="8122552" y="43902"/>
                  <a:pt x="8122552" y="98059"/>
                </a:cubicBezTo>
                <a:lnTo>
                  <a:pt x="8122552" y="1135850"/>
                </a:lnTo>
                <a:cubicBezTo>
                  <a:pt x="8122552" y="1190006"/>
                  <a:pt x="8078650" y="1233909"/>
                  <a:pt x="8024494" y="1233909"/>
                </a:cubicBezTo>
                <a:lnTo>
                  <a:pt x="32686" y="1233909"/>
                </a:lnTo>
                <a:cubicBezTo>
                  <a:pt x="14634" y="1233909"/>
                  <a:pt x="0" y="1219275"/>
                  <a:pt x="0" y="1201223"/>
                </a:cubicBezTo>
                <a:lnTo>
                  <a:pt x="0" y="32686"/>
                </a:lnTo>
                <a:cubicBezTo>
                  <a:pt x="0" y="14646"/>
                  <a:pt x="14646" y="0"/>
                  <a:pt x="32686" y="0"/>
                </a:cubicBezTo>
                <a:close/>
              </a:path>
            </a:pathLst>
          </a:custGeom>
          <a:solidFill>
            <a:srgbClr val="5F87A7">
              <a:alpha val="10196"/>
            </a:srgbClr>
          </a:solidFill>
        </p:spPr>
      </p:sp>
      <p:sp>
        <p:nvSpPr>
          <p:cNvPr id="11" name="Shape 9"/>
          <p:cNvSpPr/>
          <p:nvPr/>
        </p:nvSpPr>
        <p:spPr>
          <a:xfrm>
            <a:off x="343206" y="1807720"/>
            <a:ext cx="32686" cy="1697480"/>
          </a:xfrm>
          <a:custGeom>
            <a:avLst/>
            <a:gdLst/>
            <a:ahLst/>
            <a:cxnLst/>
            <a:rect l="l" t="t" r="r" b="b"/>
            <a:pathLst>
              <a:path w="32686" h="1233909">
                <a:moveTo>
                  <a:pt x="32686" y="0"/>
                </a:moveTo>
                <a:lnTo>
                  <a:pt x="32686" y="0"/>
                </a:lnTo>
                <a:lnTo>
                  <a:pt x="32686" y="1233909"/>
                </a:lnTo>
                <a:lnTo>
                  <a:pt x="32686" y="1233909"/>
                </a:lnTo>
                <a:cubicBezTo>
                  <a:pt x="14634" y="1233909"/>
                  <a:pt x="0" y="1219275"/>
                  <a:pt x="0" y="1201223"/>
                </a:cubicBezTo>
                <a:lnTo>
                  <a:pt x="0" y="32686"/>
                </a:lnTo>
                <a:cubicBezTo>
                  <a:pt x="0" y="14646"/>
                  <a:pt x="14646" y="0"/>
                  <a:pt x="32686" y="0"/>
                </a:cubicBezTo>
                <a:close/>
              </a:path>
            </a:pathLst>
          </a:custGeom>
          <a:solidFill>
            <a:srgbClr val="E6B450"/>
          </a:solidFill>
        </p:spPr>
      </p:sp>
      <p:sp>
        <p:nvSpPr>
          <p:cNvPr id="13" name="Text 11"/>
          <p:cNvSpPr/>
          <p:nvPr/>
        </p:nvSpPr>
        <p:spPr>
          <a:xfrm>
            <a:off x="823159" y="2003838"/>
            <a:ext cx="7542370" cy="261491"/>
          </a:xfrm>
          <a:prstGeom prst="rect">
            <a:avLst/>
          </a:prstGeom>
          <a:noFill/>
        </p:spPr>
        <p:txBody>
          <a:bodyPr wrap="square" lIns="0" tIns="0" rIns="0" bIns="0" rtlCol="0" anchor="ctr"/>
          <a:lstStyle/>
          <a:p>
            <a:pPr>
              <a:lnSpc>
                <a:spcPct val="11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VFH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构建</a:t>
            </a: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极坐标直方图</a:t>
            </a:r>
            <a:endParaRPr lang="en-US" altLang="zh-CN" sz="2000" dirty="0"/>
          </a:p>
        </p:txBody>
      </p:sp>
      <p:sp>
        <p:nvSpPr>
          <p:cNvPr id="14" name="Text 12"/>
          <p:cNvSpPr/>
          <p:nvPr/>
        </p:nvSpPr>
        <p:spPr>
          <a:xfrm>
            <a:off x="823159" y="2363387"/>
            <a:ext cx="7517855" cy="887813"/>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让绕机器人</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360度</a:t>
            </a:r>
            <a:r>
              <a:rPr lang="en-US" sz="1600" dirty="0">
                <a:latin typeface="微软雅黑" panose="020B0503020204020204" pitchFamily="34" charset="-122"/>
                <a:ea typeface="微软雅黑" panose="020B0503020204020204" pitchFamily="34" charset="-122"/>
                <a:cs typeface="微软雅黑" panose="020B0503020204020204" pitchFamily="34" charset="-122"/>
              </a:rPr>
              <a:t>构建一些向量，这些向量全部从机器人的几何中心出发，指向障碍物或者栅格边缘。显然，如果存在障碍物的话则这些向量的长度将不同，按次序将它们排列可以进一步得到一个</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极坐标下的直方图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400" dirty="0"/>
          </a:p>
        </p:txBody>
      </p:sp>
      <p:sp>
        <p:nvSpPr>
          <p:cNvPr id="17" name="Shape 15"/>
          <p:cNvSpPr/>
          <p:nvPr/>
        </p:nvSpPr>
        <p:spPr>
          <a:xfrm>
            <a:off x="527067" y="2033715"/>
            <a:ext cx="196118" cy="196118"/>
          </a:xfrm>
          <a:custGeom>
            <a:avLst/>
            <a:gdLst/>
            <a:ahLst/>
            <a:cxnLst/>
            <a:rect l="l" t="t" r="r" b="b"/>
            <a:pathLst>
              <a:path w="196118" h="196118">
                <a:moveTo>
                  <a:pt x="12257" y="12257"/>
                </a:moveTo>
                <a:cubicBezTo>
                  <a:pt x="19037" y="12257"/>
                  <a:pt x="24515" y="17735"/>
                  <a:pt x="24515" y="24515"/>
                </a:cubicBezTo>
                <a:lnTo>
                  <a:pt x="24515" y="153217"/>
                </a:lnTo>
                <a:cubicBezTo>
                  <a:pt x="24515" y="156588"/>
                  <a:pt x="27273" y="159346"/>
                  <a:pt x="30643" y="159346"/>
                </a:cubicBezTo>
                <a:lnTo>
                  <a:pt x="183861" y="159346"/>
                </a:lnTo>
                <a:cubicBezTo>
                  <a:pt x="190640" y="159346"/>
                  <a:pt x="196118" y="164823"/>
                  <a:pt x="196118" y="171603"/>
                </a:cubicBezTo>
                <a:cubicBezTo>
                  <a:pt x="196118" y="178383"/>
                  <a:pt x="190640" y="183861"/>
                  <a:pt x="183861" y="183861"/>
                </a:cubicBezTo>
                <a:lnTo>
                  <a:pt x="30643" y="183861"/>
                </a:lnTo>
                <a:cubicBezTo>
                  <a:pt x="13713" y="183861"/>
                  <a:pt x="0" y="170148"/>
                  <a:pt x="0" y="153217"/>
                </a:cubicBezTo>
                <a:lnTo>
                  <a:pt x="0" y="24515"/>
                </a:lnTo>
                <a:cubicBezTo>
                  <a:pt x="0" y="17735"/>
                  <a:pt x="5478" y="12257"/>
                  <a:pt x="12257" y="12257"/>
                </a:cubicBezTo>
                <a:close/>
                <a:moveTo>
                  <a:pt x="49029" y="36772"/>
                </a:moveTo>
                <a:cubicBezTo>
                  <a:pt x="49029" y="29992"/>
                  <a:pt x="54507" y="24515"/>
                  <a:pt x="61287" y="24515"/>
                </a:cubicBezTo>
                <a:lnTo>
                  <a:pt x="134831" y="24515"/>
                </a:lnTo>
                <a:cubicBezTo>
                  <a:pt x="141611" y="24515"/>
                  <a:pt x="147088" y="29992"/>
                  <a:pt x="147088" y="36772"/>
                </a:cubicBezTo>
                <a:cubicBezTo>
                  <a:pt x="147088" y="43552"/>
                  <a:pt x="141611" y="49029"/>
                  <a:pt x="134831" y="49029"/>
                </a:cubicBezTo>
                <a:lnTo>
                  <a:pt x="61287" y="49029"/>
                </a:lnTo>
                <a:cubicBezTo>
                  <a:pt x="54507" y="49029"/>
                  <a:pt x="49029" y="43552"/>
                  <a:pt x="49029" y="36772"/>
                </a:cubicBezTo>
                <a:close/>
                <a:moveTo>
                  <a:pt x="61287" y="67416"/>
                </a:moveTo>
                <a:lnTo>
                  <a:pt x="110316" y="67416"/>
                </a:lnTo>
                <a:cubicBezTo>
                  <a:pt x="117096" y="67416"/>
                  <a:pt x="122574" y="72893"/>
                  <a:pt x="122574" y="79673"/>
                </a:cubicBezTo>
                <a:cubicBezTo>
                  <a:pt x="122574" y="86453"/>
                  <a:pt x="117096" y="91930"/>
                  <a:pt x="110316" y="91930"/>
                </a:cubicBezTo>
                <a:lnTo>
                  <a:pt x="61287" y="91930"/>
                </a:lnTo>
                <a:cubicBezTo>
                  <a:pt x="54507" y="91930"/>
                  <a:pt x="49029" y="86453"/>
                  <a:pt x="49029" y="79673"/>
                </a:cubicBezTo>
                <a:cubicBezTo>
                  <a:pt x="49029" y="72893"/>
                  <a:pt x="54507" y="67416"/>
                  <a:pt x="61287" y="67416"/>
                </a:cubicBezTo>
                <a:close/>
                <a:moveTo>
                  <a:pt x="61287" y="110316"/>
                </a:moveTo>
                <a:lnTo>
                  <a:pt x="159346" y="110316"/>
                </a:lnTo>
                <a:cubicBezTo>
                  <a:pt x="166126" y="110316"/>
                  <a:pt x="171603" y="115794"/>
                  <a:pt x="171603" y="122574"/>
                </a:cubicBezTo>
                <a:cubicBezTo>
                  <a:pt x="171603" y="129354"/>
                  <a:pt x="166126" y="134831"/>
                  <a:pt x="159346" y="134831"/>
                </a:cubicBezTo>
                <a:lnTo>
                  <a:pt x="61287" y="134831"/>
                </a:lnTo>
                <a:cubicBezTo>
                  <a:pt x="54507" y="134831"/>
                  <a:pt x="49029" y="129354"/>
                  <a:pt x="49029" y="122574"/>
                </a:cubicBezTo>
                <a:cubicBezTo>
                  <a:pt x="49029" y="115794"/>
                  <a:pt x="54507" y="110316"/>
                  <a:pt x="61287" y="110316"/>
                </a:cubicBezTo>
                <a:close/>
              </a:path>
            </a:pathLst>
          </a:custGeom>
          <a:solidFill>
            <a:srgbClr val="E6B450"/>
          </a:solidFill>
        </p:spPr>
      </p:sp>
      <p:grpSp>
        <p:nvGrpSpPr>
          <p:cNvPr id="48" name="组合 47">
            <a:extLst>
              <a:ext uri="{FF2B5EF4-FFF2-40B4-BE49-F238E27FC236}">
                <a16:creationId xmlns:a16="http://schemas.microsoft.com/office/drawing/2014/main" id="{88C1837B-45BD-C3F8-FE2A-49BA2DEB0DD2}"/>
              </a:ext>
            </a:extLst>
          </p:cNvPr>
          <p:cNvGrpSpPr/>
          <p:nvPr/>
        </p:nvGrpSpPr>
        <p:grpSpPr>
          <a:xfrm>
            <a:off x="0" y="939798"/>
            <a:ext cx="5022850" cy="625474"/>
            <a:chOff x="0" y="1075267"/>
            <a:chExt cx="5022850" cy="625474"/>
          </a:xfrm>
        </p:grpSpPr>
        <p:sp>
          <p:nvSpPr>
            <p:cNvPr id="49" name="矩形 48">
              <a:extLst>
                <a:ext uri="{FF2B5EF4-FFF2-40B4-BE49-F238E27FC236}">
                  <a16:creationId xmlns:a16="http://schemas.microsoft.com/office/drawing/2014/main" id="{535710CE-110A-F6B4-4B32-DC106A416018}"/>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135CB5FF-FD58-3C16-9361-8779CC15F5E7}"/>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7.3.1 </a:t>
              </a:r>
              <a:r>
                <a:rPr lang="zh-CN" altLang="en-US" sz="2400" b="1" dirty="0">
                  <a:solidFill>
                    <a:schemeClr val="accent1"/>
                  </a:solidFill>
                  <a:latin typeface="+mj-lt"/>
                </a:rPr>
                <a:t>避障控制</a:t>
              </a:r>
            </a:p>
          </p:txBody>
        </p:sp>
      </p:grpSp>
      <p:pic>
        <p:nvPicPr>
          <p:cNvPr id="51" name="图片 50">
            <a:extLst>
              <a:ext uri="{FF2B5EF4-FFF2-40B4-BE49-F238E27FC236}">
                <a16:creationId xmlns:a16="http://schemas.microsoft.com/office/drawing/2014/main" id="{A879BB56-4DF2-D43C-ED86-46EB2C603AD1}"/>
              </a:ext>
            </a:extLst>
          </p:cNvPr>
          <p:cNvPicPr>
            <a:picLocks noChangeAspect="1"/>
          </p:cNvPicPr>
          <p:nvPr/>
        </p:nvPicPr>
        <p:blipFill>
          <a:blip r:embed="rId3"/>
          <a:srcRect t="1721" r="48011"/>
          <a:stretch>
            <a:fillRect/>
          </a:stretch>
        </p:blipFill>
        <p:spPr>
          <a:xfrm>
            <a:off x="8616933" y="1619576"/>
            <a:ext cx="3136917" cy="5146411"/>
          </a:xfrm>
          <a:prstGeom prst="rect">
            <a:avLst/>
          </a:prstGeom>
          <a:noFill/>
          <a:ln>
            <a:noFill/>
          </a:ln>
        </p:spPr>
      </p:pic>
      <p:pic>
        <p:nvPicPr>
          <p:cNvPr id="2" name="图片 1">
            <a:extLst>
              <a:ext uri="{FF2B5EF4-FFF2-40B4-BE49-F238E27FC236}">
                <a16:creationId xmlns:a16="http://schemas.microsoft.com/office/drawing/2014/main" id="{1ACD029B-A56B-BA2F-BE64-3DDCB1F48FF5}"/>
              </a:ext>
            </a:extLst>
          </p:cNvPr>
          <p:cNvPicPr>
            <a:picLocks noChangeAspect="1"/>
          </p:cNvPicPr>
          <p:nvPr/>
        </p:nvPicPr>
        <p:blipFill>
          <a:blip r:embed="rId4"/>
          <a:srcRect/>
          <a:stretch>
            <a:fillRect/>
          </a:stretch>
        </p:blipFill>
        <p:spPr>
          <a:xfrm>
            <a:off x="2394522" y="3762008"/>
            <a:ext cx="6071236" cy="2912851"/>
          </a:xfrm>
          <a:prstGeom prst="rect">
            <a:avLst/>
          </a:prstGeom>
          <a:noFill/>
          <a:ln>
            <a:noFill/>
          </a:ln>
          <a:effectLst/>
        </p:spPr>
      </p:pic>
    </p:spTree>
    <p:extLst>
      <p:ext uri="{BB962C8B-B14F-4D97-AF65-F5344CB8AC3E}">
        <p14:creationId xmlns:p14="http://schemas.microsoft.com/office/powerpoint/2010/main" val="2462960239"/>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55107" y="1725833"/>
            <a:ext cx="7981448" cy="1692726"/>
          </a:xfrm>
          <a:custGeom>
            <a:avLst/>
            <a:gdLst/>
            <a:ahLst/>
            <a:cxnLst/>
            <a:rect l="l" t="t" r="r" b="b"/>
            <a:pathLst>
              <a:path w="7981448" h="1276693">
                <a:moveTo>
                  <a:pt x="33820" y="0"/>
                </a:moveTo>
                <a:lnTo>
                  <a:pt x="7879989" y="0"/>
                </a:lnTo>
                <a:cubicBezTo>
                  <a:pt x="7936023" y="0"/>
                  <a:pt x="7981448" y="45425"/>
                  <a:pt x="7981448" y="101459"/>
                </a:cubicBezTo>
                <a:lnTo>
                  <a:pt x="7981448" y="1175235"/>
                </a:lnTo>
                <a:cubicBezTo>
                  <a:pt x="7981448" y="1231269"/>
                  <a:pt x="7936023" y="1276693"/>
                  <a:pt x="7879989" y="1276693"/>
                </a:cubicBezTo>
                <a:lnTo>
                  <a:pt x="33820" y="1276693"/>
                </a:lnTo>
                <a:cubicBezTo>
                  <a:pt x="15142" y="1276693"/>
                  <a:pt x="0" y="1261552"/>
                  <a:pt x="0" y="1242874"/>
                </a:cubicBezTo>
                <a:lnTo>
                  <a:pt x="0" y="33820"/>
                </a:lnTo>
                <a:cubicBezTo>
                  <a:pt x="0" y="15142"/>
                  <a:pt x="15142" y="0"/>
                  <a:pt x="33820" y="0"/>
                </a:cubicBezTo>
                <a:close/>
              </a:path>
            </a:pathLst>
          </a:custGeom>
          <a:solidFill>
            <a:srgbClr val="5F87A7">
              <a:alpha val="10196"/>
            </a:srgbClr>
          </a:solidFill>
        </p:spPr>
      </p:sp>
      <p:sp>
        <p:nvSpPr>
          <p:cNvPr id="6" name="Shape 4"/>
          <p:cNvSpPr/>
          <p:nvPr/>
        </p:nvSpPr>
        <p:spPr>
          <a:xfrm>
            <a:off x="355107" y="1725833"/>
            <a:ext cx="33820" cy="1692726"/>
          </a:xfrm>
          <a:custGeom>
            <a:avLst/>
            <a:gdLst/>
            <a:ahLst/>
            <a:cxnLst/>
            <a:rect l="l" t="t" r="r" b="b"/>
            <a:pathLst>
              <a:path w="33820" h="1276693">
                <a:moveTo>
                  <a:pt x="33820" y="0"/>
                </a:moveTo>
                <a:lnTo>
                  <a:pt x="33820" y="0"/>
                </a:lnTo>
                <a:lnTo>
                  <a:pt x="33820" y="1276693"/>
                </a:lnTo>
                <a:lnTo>
                  <a:pt x="33820" y="1276693"/>
                </a:lnTo>
                <a:cubicBezTo>
                  <a:pt x="15142" y="1276693"/>
                  <a:pt x="0" y="1261552"/>
                  <a:pt x="0" y="1242874"/>
                </a:cubicBezTo>
                <a:lnTo>
                  <a:pt x="0" y="33820"/>
                </a:lnTo>
                <a:cubicBezTo>
                  <a:pt x="0" y="15142"/>
                  <a:pt x="15142" y="0"/>
                  <a:pt x="33820" y="0"/>
                </a:cubicBezTo>
                <a:close/>
              </a:path>
            </a:pathLst>
          </a:custGeom>
          <a:solidFill>
            <a:srgbClr val="E6B450"/>
          </a:solidFill>
        </p:spPr>
      </p:sp>
      <p:sp>
        <p:nvSpPr>
          <p:cNvPr id="7" name="Shape 5"/>
          <p:cNvSpPr/>
          <p:nvPr/>
        </p:nvSpPr>
        <p:spPr>
          <a:xfrm>
            <a:off x="549570" y="1962571"/>
            <a:ext cx="202918" cy="202918"/>
          </a:xfrm>
          <a:custGeom>
            <a:avLst/>
            <a:gdLst/>
            <a:ahLst/>
            <a:cxnLst/>
            <a:rect l="l" t="t" r="r" b="b"/>
            <a:pathLst>
              <a:path w="202918" h="202918">
                <a:moveTo>
                  <a:pt x="164871" y="82436"/>
                </a:moveTo>
                <a:cubicBezTo>
                  <a:pt x="164871" y="100627"/>
                  <a:pt x="158966" y="117431"/>
                  <a:pt x="149018" y="131065"/>
                </a:cubicBezTo>
                <a:lnTo>
                  <a:pt x="199193" y="181279"/>
                </a:lnTo>
                <a:cubicBezTo>
                  <a:pt x="204147" y="186233"/>
                  <a:pt x="204147" y="194278"/>
                  <a:pt x="199193" y="199232"/>
                </a:cubicBezTo>
                <a:cubicBezTo>
                  <a:pt x="194239" y="204186"/>
                  <a:pt x="186193" y="204186"/>
                  <a:pt x="181239" y="199232"/>
                </a:cubicBezTo>
                <a:lnTo>
                  <a:pt x="131065" y="149018"/>
                </a:lnTo>
                <a:cubicBezTo>
                  <a:pt x="117431" y="158966"/>
                  <a:pt x="100627" y="164871"/>
                  <a:pt x="82436" y="164871"/>
                </a:cubicBezTo>
                <a:cubicBezTo>
                  <a:pt x="36898" y="164871"/>
                  <a:pt x="0" y="127973"/>
                  <a:pt x="0" y="82436"/>
                </a:cubicBezTo>
                <a:cubicBezTo>
                  <a:pt x="0" y="36898"/>
                  <a:pt x="36898" y="0"/>
                  <a:pt x="82436" y="0"/>
                </a:cubicBezTo>
                <a:cubicBezTo>
                  <a:pt x="127973" y="0"/>
                  <a:pt x="164871" y="36898"/>
                  <a:pt x="164871" y="82436"/>
                </a:cubicBezTo>
                <a:close/>
                <a:moveTo>
                  <a:pt x="82436" y="139506"/>
                </a:moveTo>
                <a:cubicBezTo>
                  <a:pt x="113934" y="139506"/>
                  <a:pt x="139506" y="113934"/>
                  <a:pt x="139506" y="82436"/>
                </a:cubicBezTo>
                <a:cubicBezTo>
                  <a:pt x="139506" y="50937"/>
                  <a:pt x="113934" y="25365"/>
                  <a:pt x="82436" y="25365"/>
                </a:cubicBezTo>
                <a:cubicBezTo>
                  <a:pt x="50937" y="25365"/>
                  <a:pt x="25365" y="50937"/>
                  <a:pt x="25365" y="82436"/>
                </a:cubicBezTo>
                <a:cubicBezTo>
                  <a:pt x="25365" y="113934"/>
                  <a:pt x="50937" y="139506"/>
                  <a:pt x="82436" y="139506"/>
                </a:cubicBezTo>
                <a:close/>
              </a:path>
            </a:pathLst>
          </a:custGeom>
          <a:solidFill>
            <a:srgbClr val="E6B450"/>
          </a:solidFill>
        </p:spPr>
      </p:sp>
      <p:sp>
        <p:nvSpPr>
          <p:cNvPr id="8" name="Text 6"/>
          <p:cNvSpPr/>
          <p:nvPr/>
        </p:nvSpPr>
        <p:spPr>
          <a:xfrm>
            <a:off x="863988" y="1928751"/>
            <a:ext cx="7372693" cy="270558"/>
          </a:xfrm>
          <a:prstGeom prst="rect">
            <a:avLst/>
          </a:prstGeom>
          <a:noFill/>
        </p:spPr>
        <p:txBody>
          <a:bodyPr wrap="square" lIns="0" tIns="0" rIns="0" bIns="0" rtlCol="0" anchor="ctr"/>
          <a:lstStyle/>
          <a:p>
            <a:pPr>
              <a:lnSpc>
                <a:spcPct val="11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VFH </a:t>
            </a:r>
            <a:r>
              <a:rPr lang="en-US" b="1" dirty="0" err="1">
                <a:latin typeface="微软雅黑" panose="020B0503020204020204" pitchFamily="34" charset="-122"/>
                <a:ea typeface="微软雅黑" panose="020B0503020204020204" pitchFamily="34" charset="-122"/>
                <a:cs typeface="微软雅黑" panose="020B0503020204020204" pitchFamily="34" charset="-122"/>
              </a:rPr>
              <a:t>候选凹槽选择</a:t>
            </a:r>
            <a:endParaRPr lang="en-US" dirty="0"/>
          </a:p>
        </p:txBody>
      </p:sp>
      <p:sp>
        <p:nvSpPr>
          <p:cNvPr id="9" name="Text 7"/>
          <p:cNvSpPr/>
          <p:nvPr/>
        </p:nvSpPr>
        <p:spPr>
          <a:xfrm>
            <a:off x="863988" y="2300768"/>
            <a:ext cx="7347329" cy="855182"/>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从这个直方图中，可以计算出一个</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候选凹槽</a:t>
            </a:r>
            <a:r>
              <a:rPr lang="en-US" sz="1600" dirty="0">
                <a:latin typeface="微软雅黑" panose="020B0503020204020204" pitchFamily="34" charset="-122"/>
                <a:ea typeface="微软雅黑" panose="020B0503020204020204" pitchFamily="34" charset="-122"/>
                <a:cs typeface="微软雅黑" panose="020B0503020204020204" pitchFamily="34" charset="-122"/>
              </a:rPr>
              <a:t>，它代表一个扇形区域，且在这个扇形区域中</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障碍物密度小于某个阈值 </a:t>
            </a:r>
            <a:r>
              <a:rPr lang="en-US" sz="1600" dirty="0">
                <a:latin typeface="微软雅黑" panose="020B0503020204020204" pitchFamily="34" charset="-122"/>
                <a:ea typeface="微软雅黑" panose="020B0503020204020204" pitchFamily="34" charset="-122"/>
                <a:cs typeface="微软雅黑" panose="020B0503020204020204" pitchFamily="34" charset="-122"/>
              </a:rPr>
              <a:t>。这个候选凹槽的选择遵循基于接近机器人</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期望路线 </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的原则</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根据目标方向， 凹槽</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被选为机器人导航的候选方向。</a:t>
            </a:r>
            <a:endParaRPr lang="en-US" sz="2000" dirty="0"/>
          </a:p>
        </p:txBody>
      </p:sp>
      <p:grpSp>
        <p:nvGrpSpPr>
          <p:cNvPr id="30" name="组合 29">
            <a:extLst>
              <a:ext uri="{FF2B5EF4-FFF2-40B4-BE49-F238E27FC236}">
                <a16:creationId xmlns:a16="http://schemas.microsoft.com/office/drawing/2014/main" id="{04DB7F2F-00A3-8A96-535A-941E01C77584}"/>
              </a:ext>
            </a:extLst>
          </p:cNvPr>
          <p:cNvGrpSpPr/>
          <p:nvPr/>
        </p:nvGrpSpPr>
        <p:grpSpPr>
          <a:xfrm>
            <a:off x="0" y="939798"/>
            <a:ext cx="5022850" cy="625474"/>
            <a:chOff x="0" y="1075267"/>
            <a:chExt cx="5022850" cy="625474"/>
          </a:xfrm>
        </p:grpSpPr>
        <p:sp>
          <p:nvSpPr>
            <p:cNvPr id="31" name="矩形 30">
              <a:extLst>
                <a:ext uri="{FF2B5EF4-FFF2-40B4-BE49-F238E27FC236}">
                  <a16:creationId xmlns:a16="http://schemas.microsoft.com/office/drawing/2014/main" id="{0442365D-FDB2-C9A0-CCAE-6FE5B9C4569F}"/>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009BD4CC-4027-97B1-D61F-E9ED15204145}"/>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7.3.1 </a:t>
              </a:r>
              <a:r>
                <a:rPr lang="zh-CN" altLang="en-US" sz="2400" b="1" dirty="0">
                  <a:solidFill>
                    <a:schemeClr val="accent1"/>
                  </a:solidFill>
                  <a:latin typeface="+mj-lt"/>
                </a:rPr>
                <a:t>避障控制</a:t>
              </a:r>
            </a:p>
          </p:txBody>
        </p:sp>
      </p:grpSp>
      <p:pic>
        <p:nvPicPr>
          <p:cNvPr id="33" name="图片 32">
            <a:extLst>
              <a:ext uri="{FF2B5EF4-FFF2-40B4-BE49-F238E27FC236}">
                <a16:creationId xmlns:a16="http://schemas.microsoft.com/office/drawing/2014/main" id="{6E5F5BF9-39DE-4EEA-3CF1-46F6531FEBD9}"/>
              </a:ext>
            </a:extLst>
          </p:cNvPr>
          <p:cNvPicPr>
            <a:picLocks noChangeAspect="1"/>
          </p:cNvPicPr>
          <p:nvPr/>
        </p:nvPicPr>
        <p:blipFill>
          <a:blip r:embed="rId3"/>
          <a:srcRect l="53823" t="1721"/>
          <a:stretch>
            <a:fillRect/>
          </a:stretch>
        </p:blipFill>
        <p:spPr>
          <a:xfrm>
            <a:off x="9239250" y="1267000"/>
            <a:ext cx="2786593" cy="5147021"/>
          </a:xfrm>
          <a:prstGeom prst="rect">
            <a:avLst/>
          </a:prstGeom>
          <a:noFill/>
          <a:ln>
            <a:noFill/>
          </a:ln>
        </p:spPr>
      </p:pic>
      <p:pic>
        <p:nvPicPr>
          <p:cNvPr id="35" name="图片 34">
            <a:extLst>
              <a:ext uri="{FF2B5EF4-FFF2-40B4-BE49-F238E27FC236}">
                <a16:creationId xmlns:a16="http://schemas.microsoft.com/office/drawing/2014/main" id="{3DEC3EFC-6277-DB94-E3AE-EC2568E77B04}"/>
              </a:ext>
            </a:extLst>
          </p:cNvPr>
          <p:cNvPicPr>
            <a:picLocks noChangeAspect="1"/>
          </p:cNvPicPr>
          <p:nvPr/>
        </p:nvPicPr>
        <p:blipFill>
          <a:blip r:embed="rId4"/>
          <a:srcRect/>
          <a:stretch>
            <a:fillRect/>
          </a:stretch>
        </p:blipFill>
        <p:spPr>
          <a:xfrm>
            <a:off x="2394522" y="3762008"/>
            <a:ext cx="6071236" cy="2912851"/>
          </a:xfrm>
          <a:prstGeom prst="rect">
            <a:avLst/>
          </a:prstGeom>
          <a:noFill/>
          <a:ln>
            <a:noFill/>
          </a:ln>
          <a:effectLst/>
        </p:spPr>
      </p:pic>
    </p:spTree>
    <p:extLst>
      <p:ext uri="{BB962C8B-B14F-4D97-AF65-F5344CB8AC3E}">
        <p14:creationId xmlns:p14="http://schemas.microsoft.com/office/powerpoint/2010/main" val="2442379644"/>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64978" y="1824026"/>
            <a:ext cx="7864405" cy="2154880"/>
          </a:xfrm>
          <a:custGeom>
            <a:avLst/>
            <a:gdLst/>
            <a:ahLst/>
            <a:cxnLst/>
            <a:rect l="l" t="t" r="r" b="b"/>
            <a:pathLst>
              <a:path w="7864405" h="1564191">
                <a:moveTo>
                  <a:pt x="34760" y="0"/>
                </a:moveTo>
                <a:lnTo>
                  <a:pt x="7760120" y="0"/>
                </a:lnTo>
                <a:cubicBezTo>
                  <a:pt x="7817715" y="0"/>
                  <a:pt x="7864405" y="46690"/>
                  <a:pt x="7864405" y="104285"/>
                </a:cubicBezTo>
                <a:lnTo>
                  <a:pt x="7864405" y="1459906"/>
                </a:lnTo>
                <a:cubicBezTo>
                  <a:pt x="7864405" y="1517501"/>
                  <a:pt x="7817715" y="1564191"/>
                  <a:pt x="7760120" y="1564191"/>
                </a:cubicBezTo>
                <a:lnTo>
                  <a:pt x="34760" y="1564191"/>
                </a:lnTo>
                <a:cubicBezTo>
                  <a:pt x="15562" y="1564191"/>
                  <a:pt x="0" y="1548629"/>
                  <a:pt x="0" y="1529431"/>
                </a:cubicBezTo>
                <a:lnTo>
                  <a:pt x="0" y="34760"/>
                </a:lnTo>
                <a:cubicBezTo>
                  <a:pt x="0" y="15575"/>
                  <a:pt x="15575" y="0"/>
                  <a:pt x="34760" y="0"/>
                </a:cubicBezTo>
                <a:close/>
              </a:path>
            </a:pathLst>
          </a:custGeom>
          <a:solidFill>
            <a:srgbClr val="5F87A7">
              <a:alpha val="10196"/>
            </a:srgbClr>
          </a:solidFill>
        </p:spPr>
      </p:sp>
      <p:sp>
        <p:nvSpPr>
          <p:cNvPr id="6" name="Shape 4"/>
          <p:cNvSpPr/>
          <p:nvPr/>
        </p:nvSpPr>
        <p:spPr>
          <a:xfrm>
            <a:off x="364978" y="1824026"/>
            <a:ext cx="34760" cy="2154880"/>
          </a:xfrm>
          <a:custGeom>
            <a:avLst/>
            <a:gdLst/>
            <a:ahLst/>
            <a:cxnLst/>
            <a:rect l="l" t="t" r="r" b="b"/>
            <a:pathLst>
              <a:path w="34760" h="1564191">
                <a:moveTo>
                  <a:pt x="34760" y="0"/>
                </a:moveTo>
                <a:lnTo>
                  <a:pt x="34760" y="0"/>
                </a:lnTo>
                <a:lnTo>
                  <a:pt x="34760" y="1564191"/>
                </a:lnTo>
                <a:lnTo>
                  <a:pt x="34760" y="1564191"/>
                </a:lnTo>
                <a:cubicBezTo>
                  <a:pt x="15562" y="1564191"/>
                  <a:pt x="0" y="1548629"/>
                  <a:pt x="0" y="1529431"/>
                </a:cubicBezTo>
                <a:lnTo>
                  <a:pt x="0" y="34760"/>
                </a:lnTo>
                <a:cubicBezTo>
                  <a:pt x="0" y="15575"/>
                  <a:pt x="15575" y="0"/>
                  <a:pt x="34760" y="0"/>
                </a:cubicBezTo>
                <a:close/>
              </a:path>
            </a:pathLst>
          </a:custGeom>
          <a:solidFill>
            <a:srgbClr val="E6B450"/>
          </a:solidFill>
        </p:spPr>
      </p:sp>
      <p:sp>
        <p:nvSpPr>
          <p:cNvPr id="7" name="Shape 5"/>
          <p:cNvSpPr/>
          <p:nvPr/>
        </p:nvSpPr>
        <p:spPr>
          <a:xfrm>
            <a:off x="560502" y="2067345"/>
            <a:ext cx="208559" cy="208559"/>
          </a:xfrm>
          <a:custGeom>
            <a:avLst/>
            <a:gdLst/>
            <a:ahLst/>
            <a:cxnLst/>
            <a:rect l="l" t="t" r="r" b="b"/>
            <a:pathLst>
              <a:path w="208559" h="208559">
                <a:moveTo>
                  <a:pt x="104279" y="0"/>
                </a:moveTo>
                <a:cubicBezTo>
                  <a:pt x="110267" y="0"/>
                  <a:pt x="115766" y="3299"/>
                  <a:pt x="118618" y="8554"/>
                </a:cubicBezTo>
                <a:lnTo>
                  <a:pt x="206604" y="171491"/>
                </a:lnTo>
                <a:cubicBezTo>
                  <a:pt x="209333" y="176542"/>
                  <a:pt x="209211" y="182652"/>
                  <a:pt x="206278" y="187581"/>
                </a:cubicBezTo>
                <a:cubicBezTo>
                  <a:pt x="203345" y="192510"/>
                  <a:pt x="198009" y="195524"/>
                  <a:pt x="192265" y="195524"/>
                </a:cubicBezTo>
                <a:lnTo>
                  <a:pt x="16294" y="195524"/>
                </a:lnTo>
                <a:cubicBezTo>
                  <a:pt x="10550" y="195524"/>
                  <a:pt x="5255" y="192510"/>
                  <a:pt x="2281" y="187581"/>
                </a:cubicBezTo>
                <a:cubicBezTo>
                  <a:pt x="-692" y="182652"/>
                  <a:pt x="-774" y="176542"/>
                  <a:pt x="1955" y="171491"/>
                </a:cubicBezTo>
                <a:lnTo>
                  <a:pt x="89941" y="8554"/>
                </a:lnTo>
                <a:cubicBezTo>
                  <a:pt x="92792" y="3299"/>
                  <a:pt x="98291" y="0"/>
                  <a:pt x="104279" y="0"/>
                </a:cubicBezTo>
                <a:close/>
                <a:moveTo>
                  <a:pt x="104279" y="68433"/>
                </a:moveTo>
                <a:cubicBezTo>
                  <a:pt x="98862" y="68433"/>
                  <a:pt x="94503" y="72792"/>
                  <a:pt x="94503" y="78210"/>
                </a:cubicBezTo>
                <a:lnTo>
                  <a:pt x="94503" y="123832"/>
                </a:lnTo>
                <a:cubicBezTo>
                  <a:pt x="94503" y="129249"/>
                  <a:pt x="98862" y="133608"/>
                  <a:pt x="104279" y="133608"/>
                </a:cubicBezTo>
                <a:cubicBezTo>
                  <a:pt x="109697" y="133608"/>
                  <a:pt x="114056" y="129249"/>
                  <a:pt x="114056" y="123832"/>
                </a:cubicBezTo>
                <a:lnTo>
                  <a:pt x="114056" y="78210"/>
                </a:lnTo>
                <a:cubicBezTo>
                  <a:pt x="114056" y="72792"/>
                  <a:pt x="109697" y="68433"/>
                  <a:pt x="104279" y="68433"/>
                </a:cubicBezTo>
                <a:close/>
                <a:moveTo>
                  <a:pt x="115155" y="156419"/>
                </a:moveTo>
                <a:cubicBezTo>
                  <a:pt x="115403" y="152382"/>
                  <a:pt x="113390" y="148541"/>
                  <a:pt x="109929" y="146448"/>
                </a:cubicBezTo>
                <a:cubicBezTo>
                  <a:pt x="106468" y="144354"/>
                  <a:pt x="102131" y="144354"/>
                  <a:pt x="98671" y="146448"/>
                </a:cubicBezTo>
                <a:cubicBezTo>
                  <a:pt x="95210" y="148541"/>
                  <a:pt x="93197" y="152382"/>
                  <a:pt x="93444" y="156419"/>
                </a:cubicBezTo>
                <a:cubicBezTo>
                  <a:pt x="93197" y="160456"/>
                  <a:pt x="95210" y="164297"/>
                  <a:pt x="98671" y="166390"/>
                </a:cubicBezTo>
                <a:cubicBezTo>
                  <a:pt x="102131" y="168484"/>
                  <a:pt x="106468" y="168484"/>
                  <a:pt x="109929" y="166390"/>
                </a:cubicBezTo>
                <a:cubicBezTo>
                  <a:pt x="113390" y="164297"/>
                  <a:pt x="115403" y="160456"/>
                  <a:pt x="115155" y="156419"/>
                </a:cubicBezTo>
                <a:close/>
              </a:path>
            </a:pathLst>
          </a:custGeom>
          <a:solidFill>
            <a:srgbClr val="E6B450"/>
          </a:solidFill>
        </p:spPr>
      </p:sp>
      <p:sp>
        <p:nvSpPr>
          <p:cNvPr id="8" name="Text 6"/>
          <p:cNvSpPr/>
          <p:nvPr/>
        </p:nvSpPr>
        <p:spPr>
          <a:xfrm>
            <a:off x="875377" y="2032585"/>
            <a:ext cx="7247418" cy="278078"/>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局限性分析</a:t>
            </a:r>
            <a:endParaRPr lang="en-US" dirty="0"/>
          </a:p>
        </p:txBody>
      </p:sp>
      <p:sp>
        <p:nvSpPr>
          <p:cNvPr id="9" name="Text 7"/>
          <p:cNvSpPr/>
          <p:nvPr/>
        </p:nvSpPr>
        <p:spPr>
          <a:xfrm>
            <a:off x="875377" y="2414943"/>
            <a:ext cx="7221349" cy="1231800"/>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当然，VFH也有缺点和局限性。例如，它</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不会实时搜索所有通往目的地的最优路径</a:t>
            </a:r>
            <a:r>
              <a:rPr lang="en-US" sz="1600" dirty="0">
                <a:latin typeface="微软雅黑" panose="020B0503020204020204" pitchFamily="34" charset="-122"/>
                <a:ea typeface="微软雅黑" panose="020B0503020204020204" pitchFamily="34" charset="-122"/>
                <a:cs typeface="微软雅黑" panose="020B0503020204020204" pitchFamily="34" charset="-122"/>
              </a:rPr>
              <a:t>，因为它仅仅用了</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局部信息 </a:t>
            </a:r>
            <a:r>
              <a:rPr lang="en-US" sz="1600" dirty="0">
                <a:latin typeface="微软雅黑" panose="020B0503020204020204" pitchFamily="34" charset="-122"/>
                <a:ea typeface="微软雅黑" panose="020B0503020204020204" pitchFamily="34" charset="-122"/>
                <a:cs typeface="微软雅黑" panose="020B0503020204020204" pitchFamily="34" charset="-122"/>
              </a:rPr>
              <a:t>而不是</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全局信息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。由于VFH算法使用的裕度，机器人在通过狭窄空间时面临不能搜索到可通行路径的困难。而且VFH不能保证到达期望的位置，因为它仅仅使用局部信息。</a:t>
            </a:r>
            <a:endParaRPr lang="en-US" sz="2000" dirty="0"/>
          </a:p>
        </p:txBody>
      </p:sp>
      <p:sp>
        <p:nvSpPr>
          <p:cNvPr id="22" name="Shape 20"/>
          <p:cNvSpPr/>
          <p:nvPr/>
        </p:nvSpPr>
        <p:spPr>
          <a:xfrm>
            <a:off x="364978" y="4724297"/>
            <a:ext cx="7864405" cy="1765403"/>
          </a:xfrm>
          <a:custGeom>
            <a:avLst/>
            <a:gdLst/>
            <a:ahLst/>
            <a:cxnLst/>
            <a:rect l="l" t="t" r="r" b="b"/>
            <a:pathLst>
              <a:path w="7864405" h="1564191">
                <a:moveTo>
                  <a:pt x="34760" y="0"/>
                </a:moveTo>
                <a:lnTo>
                  <a:pt x="7760120" y="0"/>
                </a:lnTo>
                <a:cubicBezTo>
                  <a:pt x="7817715" y="0"/>
                  <a:pt x="7864405" y="46690"/>
                  <a:pt x="7864405" y="104285"/>
                </a:cubicBezTo>
                <a:lnTo>
                  <a:pt x="7864405" y="1459906"/>
                </a:lnTo>
                <a:cubicBezTo>
                  <a:pt x="7864405" y="1517501"/>
                  <a:pt x="7817715" y="1564191"/>
                  <a:pt x="7760120" y="1564191"/>
                </a:cubicBezTo>
                <a:lnTo>
                  <a:pt x="34760" y="1564191"/>
                </a:lnTo>
                <a:cubicBezTo>
                  <a:pt x="15562" y="1564191"/>
                  <a:pt x="0" y="1548629"/>
                  <a:pt x="0" y="1529431"/>
                </a:cubicBezTo>
                <a:lnTo>
                  <a:pt x="0" y="34760"/>
                </a:lnTo>
                <a:cubicBezTo>
                  <a:pt x="0" y="15575"/>
                  <a:pt x="15575" y="0"/>
                  <a:pt x="34760" y="0"/>
                </a:cubicBezTo>
                <a:close/>
              </a:path>
            </a:pathLst>
          </a:custGeom>
          <a:solidFill>
            <a:srgbClr val="5F87A7">
              <a:alpha val="10196"/>
            </a:srgbClr>
          </a:solidFill>
        </p:spPr>
      </p:sp>
      <p:sp>
        <p:nvSpPr>
          <p:cNvPr id="23" name="Shape 21"/>
          <p:cNvSpPr/>
          <p:nvPr/>
        </p:nvSpPr>
        <p:spPr>
          <a:xfrm>
            <a:off x="364978" y="4724297"/>
            <a:ext cx="34760" cy="1765403"/>
          </a:xfrm>
          <a:custGeom>
            <a:avLst/>
            <a:gdLst/>
            <a:ahLst/>
            <a:cxnLst/>
            <a:rect l="l" t="t" r="r" b="b"/>
            <a:pathLst>
              <a:path w="34760" h="1564191">
                <a:moveTo>
                  <a:pt x="34760" y="0"/>
                </a:moveTo>
                <a:lnTo>
                  <a:pt x="34760" y="0"/>
                </a:lnTo>
                <a:lnTo>
                  <a:pt x="34760" y="1564191"/>
                </a:lnTo>
                <a:lnTo>
                  <a:pt x="34760" y="1564191"/>
                </a:lnTo>
                <a:cubicBezTo>
                  <a:pt x="15562" y="1564191"/>
                  <a:pt x="0" y="1548629"/>
                  <a:pt x="0" y="1529431"/>
                </a:cubicBezTo>
                <a:lnTo>
                  <a:pt x="0" y="34760"/>
                </a:lnTo>
                <a:cubicBezTo>
                  <a:pt x="0" y="15575"/>
                  <a:pt x="15575" y="0"/>
                  <a:pt x="34760" y="0"/>
                </a:cubicBezTo>
                <a:close/>
              </a:path>
            </a:pathLst>
          </a:custGeom>
          <a:solidFill>
            <a:srgbClr val="E6B450"/>
          </a:solidFill>
        </p:spPr>
      </p:sp>
      <p:sp>
        <p:nvSpPr>
          <p:cNvPr id="24" name="Shape 22"/>
          <p:cNvSpPr/>
          <p:nvPr/>
        </p:nvSpPr>
        <p:spPr>
          <a:xfrm>
            <a:off x="547467" y="4967615"/>
            <a:ext cx="234629" cy="208559"/>
          </a:xfrm>
          <a:custGeom>
            <a:avLst/>
            <a:gdLst/>
            <a:ahLst/>
            <a:cxnLst/>
            <a:rect l="l" t="t" r="r" b="b"/>
            <a:pathLst>
              <a:path w="234629" h="208559">
                <a:moveTo>
                  <a:pt x="170880" y="39105"/>
                </a:moveTo>
                <a:cubicBezTo>
                  <a:pt x="164118" y="39105"/>
                  <a:pt x="157560" y="40938"/>
                  <a:pt x="151816" y="44278"/>
                </a:cubicBezTo>
                <a:cubicBezTo>
                  <a:pt x="145380" y="37761"/>
                  <a:pt x="137885" y="32302"/>
                  <a:pt x="129616" y="28188"/>
                </a:cubicBezTo>
                <a:cubicBezTo>
                  <a:pt x="141103" y="18412"/>
                  <a:pt x="155727" y="13035"/>
                  <a:pt x="170880" y="13035"/>
                </a:cubicBezTo>
                <a:cubicBezTo>
                  <a:pt x="206074" y="13035"/>
                  <a:pt x="234629" y="41549"/>
                  <a:pt x="234629" y="76784"/>
                </a:cubicBezTo>
                <a:cubicBezTo>
                  <a:pt x="234629" y="93689"/>
                  <a:pt x="227908" y="109901"/>
                  <a:pt x="215972" y="121836"/>
                </a:cubicBezTo>
                <a:lnTo>
                  <a:pt x="187010" y="150798"/>
                </a:lnTo>
                <a:cubicBezTo>
                  <a:pt x="175075" y="162733"/>
                  <a:pt x="158863" y="169454"/>
                  <a:pt x="141958" y="169454"/>
                </a:cubicBezTo>
                <a:cubicBezTo>
                  <a:pt x="106764" y="169454"/>
                  <a:pt x="78210" y="140940"/>
                  <a:pt x="78210" y="105705"/>
                </a:cubicBezTo>
                <a:cubicBezTo>
                  <a:pt x="78210" y="105094"/>
                  <a:pt x="78210" y="104483"/>
                  <a:pt x="78250" y="103872"/>
                </a:cubicBezTo>
                <a:cubicBezTo>
                  <a:pt x="78454" y="96662"/>
                  <a:pt x="84442" y="91000"/>
                  <a:pt x="91652" y="91204"/>
                </a:cubicBezTo>
                <a:cubicBezTo>
                  <a:pt x="98862" y="91407"/>
                  <a:pt x="104524" y="97395"/>
                  <a:pt x="104320" y="104605"/>
                </a:cubicBezTo>
                <a:cubicBezTo>
                  <a:pt x="104320" y="104972"/>
                  <a:pt x="104320" y="105338"/>
                  <a:pt x="104320" y="105664"/>
                </a:cubicBezTo>
                <a:cubicBezTo>
                  <a:pt x="104320" y="126480"/>
                  <a:pt x="121184" y="143343"/>
                  <a:pt x="141999" y="143343"/>
                </a:cubicBezTo>
                <a:cubicBezTo>
                  <a:pt x="151979" y="143343"/>
                  <a:pt x="161552" y="139392"/>
                  <a:pt x="168639" y="132304"/>
                </a:cubicBezTo>
                <a:lnTo>
                  <a:pt x="197601" y="103343"/>
                </a:lnTo>
                <a:cubicBezTo>
                  <a:pt x="204648" y="96296"/>
                  <a:pt x="208640" y="86682"/>
                  <a:pt x="208640" y="76702"/>
                </a:cubicBezTo>
                <a:cubicBezTo>
                  <a:pt x="208640" y="55887"/>
                  <a:pt x="191776" y="39023"/>
                  <a:pt x="170961" y="39023"/>
                </a:cubicBezTo>
                <a:close/>
                <a:moveTo>
                  <a:pt x="112100" y="70592"/>
                </a:moveTo>
                <a:cubicBezTo>
                  <a:pt x="111326" y="70266"/>
                  <a:pt x="110552" y="69818"/>
                  <a:pt x="109860" y="69330"/>
                </a:cubicBezTo>
                <a:cubicBezTo>
                  <a:pt x="104727" y="66682"/>
                  <a:pt x="98862" y="65175"/>
                  <a:pt x="92711" y="65175"/>
                </a:cubicBezTo>
                <a:cubicBezTo>
                  <a:pt x="82731" y="65175"/>
                  <a:pt x="73159" y="69126"/>
                  <a:pt x="66071" y="76214"/>
                </a:cubicBezTo>
                <a:lnTo>
                  <a:pt x="37109" y="105176"/>
                </a:lnTo>
                <a:cubicBezTo>
                  <a:pt x="30062" y="112223"/>
                  <a:pt x="26070" y="121836"/>
                  <a:pt x="26070" y="131816"/>
                </a:cubicBezTo>
                <a:cubicBezTo>
                  <a:pt x="26070" y="152631"/>
                  <a:pt x="42934" y="169495"/>
                  <a:pt x="63749" y="169495"/>
                </a:cubicBezTo>
                <a:cubicBezTo>
                  <a:pt x="70470" y="169495"/>
                  <a:pt x="77028" y="167702"/>
                  <a:pt x="82772" y="164362"/>
                </a:cubicBezTo>
                <a:cubicBezTo>
                  <a:pt x="89208" y="170880"/>
                  <a:pt x="96703" y="176338"/>
                  <a:pt x="105013" y="180452"/>
                </a:cubicBezTo>
                <a:cubicBezTo>
                  <a:pt x="93526" y="190188"/>
                  <a:pt x="78943" y="195605"/>
                  <a:pt x="63749" y="195605"/>
                </a:cubicBezTo>
                <a:cubicBezTo>
                  <a:pt x="28555" y="195605"/>
                  <a:pt x="0" y="167091"/>
                  <a:pt x="0" y="131856"/>
                </a:cubicBezTo>
                <a:cubicBezTo>
                  <a:pt x="0" y="114952"/>
                  <a:pt x="6721" y="98740"/>
                  <a:pt x="18656" y="86804"/>
                </a:cubicBezTo>
                <a:lnTo>
                  <a:pt x="47618" y="57842"/>
                </a:lnTo>
                <a:cubicBezTo>
                  <a:pt x="59553" y="45907"/>
                  <a:pt x="75766" y="39186"/>
                  <a:pt x="92670" y="39186"/>
                </a:cubicBezTo>
                <a:cubicBezTo>
                  <a:pt x="127946" y="39186"/>
                  <a:pt x="156419" y="67945"/>
                  <a:pt x="156419" y="103098"/>
                </a:cubicBezTo>
                <a:cubicBezTo>
                  <a:pt x="156419" y="103628"/>
                  <a:pt x="156419" y="104157"/>
                  <a:pt x="156419" y="104687"/>
                </a:cubicBezTo>
                <a:cubicBezTo>
                  <a:pt x="156256" y="111897"/>
                  <a:pt x="150268" y="117559"/>
                  <a:pt x="143058" y="117396"/>
                </a:cubicBezTo>
                <a:cubicBezTo>
                  <a:pt x="135848" y="117233"/>
                  <a:pt x="130186" y="111245"/>
                  <a:pt x="130349" y="104035"/>
                </a:cubicBezTo>
                <a:cubicBezTo>
                  <a:pt x="130349" y="103709"/>
                  <a:pt x="130349" y="103424"/>
                  <a:pt x="130349" y="103098"/>
                </a:cubicBezTo>
                <a:cubicBezTo>
                  <a:pt x="130349" y="89371"/>
                  <a:pt x="123017" y="77313"/>
                  <a:pt x="112100" y="70674"/>
                </a:cubicBezTo>
                <a:close/>
              </a:path>
            </a:pathLst>
          </a:custGeom>
          <a:solidFill>
            <a:srgbClr val="E6B450"/>
          </a:solidFill>
        </p:spPr>
      </p:sp>
      <p:sp>
        <p:nvSpPr>
          <p:cNvPr id="25" name="Text 23"/>
          <p:cNvSpPr/>
          <p:nvPr/>
        </p:nvSpPr>
        <p:spPr>
          <a:xfrm>
            <a:off x="875377" y="4932856"/>
            <a:ext cx="7247418" cy="278078"/>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结合使用策略</a:t>
            </a:r>
            <a:endParaRPr lang="en-US" dirty="0"/>
          </a:p>
        </p:txBody>
      </p:sp>
      <p:sp>
        <p:nvSpPr>
          <p:cNvPr id="26" name="Text 24"/>
          <p:cNvSpPr/>
          <p:nvPr/>
        </p:nvSpPr>
        <p:spPr>
          <a:xfrm>
            <a:off x="875377" y="5315212"/>
            <a:ext cx="7221349" cy="933187"/>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尽管VFH有上述缺点，为了得到通往目的地的路径，它在</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实时避障</a:t>
            </a:r>
            <a:r>
              <a:rPr lang="en-US" sz="1600" dirty="0">
                <a:latin typeface="微软雅黑" panose="020B0503020204020204" pitchFamily="34" charset="-122"/>
                <a:ea typeface="微软雅黑" panose="020B0503020204020204" pitchFamily="34" charset="-122"/>
                <a:cs typeface="微软雅黑" panose="020B0503020204020204" pitchFamily="34" charset="-122"/>
              </a:rPr>
              <a:t>方面还是有广泛的应用。因为这个原因，VFH一般与能够规划一系列到达目的地前必须经过的</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航路点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的路径规划器结合使用。VFH算法在避障的同时依次到达这些航线点。</a:t>
            </a:r>
            <a:endParaRPr lang="en-US" sz="2000" dirty="0"/>
          </a:p>
        </p:txBody>
      </p:sp>
      <p:grpSp>
        <p:nvGrpSpPr>
          <p:cNvPr id="52" name="组合 51">
            <a:extLst>
              <a:ext uri="{FF2B5EF4-FFF2-40B4-BE49-F238E27FC236}">
                <a16:creationId xmlns:a16="http://schemas.microsoft.com/office/drawing/2014/main" id="{BFCA15BE-F4C0-56F5-A01A-2A2CDDA2E285}"/>
              </a:ext>
            </a:extLst>
          </p:cNvPr>
          <p:cNvGrpSpPr/>
          <p:nvPr/>
        </p:nvGrpSpPr>
        <p:grpSpPr>
          <a:xfrm>
            <a:off x="0" y="939798"/>
            <a:ext cx="5022850" cy="625474"/>
            <a:chOff x="0" y="1075267"/>
            <a:chExt cx="5022850" cy="625474"/>
          </a:xfrm>
        </p:grpSpPr>
        <p:sp>
          <p:nvSpPr>
            <p:cNvPr id="53" name="矩形 52">
              <a:extLst>
                <a:ext uri="{FF2B5EF4-FFF2-40B4-BE49-F238E27FC236}">
                  <a16:creationId xmlns:a16="http://schemas.microsoft.com/office/drawing/2014/main" id="{988444E1-B7A5-8B5B-4114-F4443109A2CD}"/>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a:extLst>
                <a:ext uri="{FF2B5EF4-FFF2-40B4-BE49-F238E27FC236}">
                  <a16:creationId xmlns:a16="http://schemas.microsoft.com/office/drawing/2014/main" id="{5A03413F-879C-D994-A3CF-0C1DD2855C41}"/>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7.3.1 </a:t>
              </a:r>
              <a:r>
                <a:rPr lang="zh-CN" altLang="en-US" sz="2400" b="1" dirty="0">
                  <a:solidFill>
                    <a:schemeClr val="accent1"/>
                  </a:solidFill>
                  <a:latin typeface="+mj-lt"/>
                </a:rPr>
                <a:t>避障控制</a:t>
              </a:r>
            </a:p>
          </p:txBody>
        </p:sp>
      </p:grpSp>
    </p:spTree>
    <p:extLst>
      <p:ext uri="{BB962C8B-B14F-4D97-AF65-F5344CB8AC3E}">
        <p14:creationId xmlns:p14="http://schemas.microsoft.com/office/powerpoint/2010/main" val="2661539738"/>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43206" y="1743537"/>
            <a:ext cx="10750244" cy="1400608"/>
          </a:xfrm>
          <a:custGeom>
            <a:avLst/>
            <a:gdLst/>
            <a:ahLst/>
            <a:cxnLst/>
            <a:rect l="l" t="t" r="r" b="b"/>
            <a:pathLst>
              <a:path w="8122552" h="1233909">
                <a:moveTo>
                  <a:pt x="32686" y="0"/>
                </a:moveTo>
                <a:lnTo>
                  <a:pt x="8024494" y="0"/>
                </a:lnTo>
                <a:cubicBezTo>
                  <a:pt x="8078650" y="0"/>
                  <a:pt x="8122552" y="43902"/>
                  <a:pt x="8122552" y="98059"/>
                </a:cubicBezTo>
                <a:lnTo>
                  <a:pt x="8122552" y="1135850"/>
                </a:lnTo>
                <a:cubicBezTo>
                  <a:pt x="8122552" y="1190006"/>
                  <a:pt x="8078650" y="1233909"/>
                  <a:pt x="8024494" y="1233909"/>
                </a:cubicBezTo>
                <a:lnTo>
                  <a:pt x="32686" y="1233909"/>
                </a:lnTo>
                <a:cubicBezTo>
                  <a:pt x="14634" y="1233909"/>
                  <a:pt x="0" y="1219275"/>
                  <a:pt x="0" y="1201223"/>
                </a:cubicBezTo>
                <a:lnTo>
                  <a:pt x="0" y="32686"/>
                </a:lnTo>
                <a:cubicBezTo>
                  <a:pt x="0" y="14646"/>
                  <a:pt x="14646" y="0"/>
                  <a:pt x="32686" y="0"/>
                </a:cubicBezTo>
                <a:close/>
              </a:path>
            </a:pathLst>
          </a:custGeom>
          <a:solidFill>
            <a:srgbClr val="5F87A7">
              <a:alpha val="10196"/>
            </a:srgbClr>
          </a:solidFill>
        </p:spPr>
      </p:sp>
      <p:sp>
        <p:nvSpPr>
          <p:cNvPr id="6" name="Shape 4"/>
          <p:cNvSpPr/>
          <p:nvPr/>
        </p:nvSpPr>
        <p:spPr>
          <a:xfrm>
            <a:off x="343206" y="1743537"/>
            <a:ext cx="37102" cy="1400608"/>
          </a:xfrm>
          <a:custGeom>
            <a:avLst/>
            <a:gdLst/>
            <a:ahLst/>
            <a:cxnLst/>
            <a:rect l="l" t="t" r="r" b="b"/>
            <a:pathLst>
              <a:path w="32686" h="1233909">
                <a:moveTo>
                  <a:pt x="32686" y="0"/>
                </a:moveTo>
                <a:lnTo>
                  <a:pt x="32686" y="0"/>
                </a:lnTo>
                <a:lnTo>
                  <a:pt x="32686" y="1233909"/>
                </a:lnTo>
                <a:lnTo>
                  <a:pt x="32686" y="1233909"/>
                </a:lnTo>
                <a:cubicBezTo>
                  <a:pt x="14634" y="1233909"/>
                  <a:pt x="0" y="1219275"/>
                  <a:pt x="0" y="1201223"/>
                </a:cubicBezTo>
                <a:lnTo>
                  <a:pt x="0" y="32686"/>
                </a:lnTo>
                <a:cubicBezTo>
                  <a:pt x="0" y="14646"/>
                  <a:pt x="14646" y="0"/>
                  <a:pt x="32686" y="0"/>
                </a:cubicBezTo>
                <a:close/>
              </a:path>
            </a:pathLst>
          </a:custGeom>
          <a:solidFill>
            <a:srgbClr val="E6B450"/>
          </a:solidFill>
        </p:spPr>
      </p:sp>
      <p:sp>
        <p:nvSpPr>
          <p:cNvPr id="7" name="Shape 5"/>
          <p:cNvSpPr/>
          <p:nvPr/>
        </p:nvSpPr>
        <p:spPr>
          <a:xfrm>
            <a:off x="561182" y="2003252"/>
            <a:ext cx="222613" cy="222613"/>
          </a:xfrm>
          <a:custGeom>
            <a:avLst/>
            <a:gdLst/>
            <a:ahLst/>
            <a:cxnLst/>
            <a:rect l="l" t="t" r="r" b="b"/>
            <a:pathLst>
              <a:path w="196118" h="196118">
                <a:moveTo>
                  <a:pt x="24515" y="36772"/>
                </a:moveTo>
                <a:cubicBezTo>
                  <a:pt x="24515" y="29992"/>
                  <a:pt x="29992" y="24515"/>
                  <a:pt x="36772" y="24515"/>
                </a:cubicBezTo>
                <a:lnTo>
                  <a:pt x="98059" y="24515"/>
                </a:lnTo>
                <a:cubicBezTo>
                  <a:pt x="104839" y="24515"/>
                  <a:pt x="110316" y="29992"/>
                  <a:pt x="110316" y="36772"/>
                </a:cubicBezTo>
                <a:lnTo>
                  <a:pt x="110316" y="147088"/>
                </a:lnTo>
                <a:lnTo>
                  <a:pt x="147088" y="147088"/>
                </a:lnTo>
                <a:lnTo>
                  <a:pt x="147088" y="98059"/>
                </a:lnTo>
                <a:cubicBezTo>
                  <a:pt x="147088" y="91279"/>
                  <a:pt x="152566" y="85802"/>
                  <a:pt x="159346" y="85802"/>
                </a:cubicBezTo>
                <a:lnTo>
                  <a:pt x="183861" y="85802"/>
                </a:lnTo>
                <a:cubicBezTo>
                  <a:pt x="190640" y="85802"/>
                  <a:pt x="196118" y="91279"/>
                  <a:pt x="196118" y="98059"/>
                </a:cubicBezTo>
                <a:cubicBezTo>
                  <a:pt x="196118" y="104839"/>
                  <a:pt x="190640" y="110316"/>
                  <a:pt x="183861" y="110316"/>
                </a:cubicBezTo>
                <a:lnTo>
                  <a:pt x="171603" y="110316"/>
                </a:lnTo>
                <a:lnTo>
                  <a:pt x="171603" y="159346"/>
                </a:lnTo>
                <a:cubicBezTo>
                  <a:pt x="171603" y="166126"/>
                  <a:pt x="166126" y="171603"/>
                  <a:pt x="159346" y="171603"/>
                </a:cubicBezTo>
                <a:lnTo>
                  <a:pt x="98059" y="171603"/>
                </a:lnTo>
                <a:cubicBezTo>
                  <a:pt x="91279" y="171603"/>
                  <a:pt x="85802" y="166126"/>
                  <a:pt x="85802" y="159346"/>
                </a:cubicBezTo>
                <a:lnTo>
                  <a:pt x="85802" y="49029"/>
                </a:lnTo>
                <a:lnTo>
                  <a:pt x="49029" y="49029"/>
                </a:lnTo>
                <a:lnTo>
                  <a:pt x="49029" y="98059"/>
                </a:lnTo>
                <a:cubicBezTo>
                  <a:pt x="49029" y="104839"/>
                  <a:pt x="43552" y="110316"/>
                  <a:pt x="36772" y="110316"/>
                </a:cubicBezTo>
                <a:lnTo>
                  <a:pt x="12257" y="110316"/>
                </a:lnTo>
                <a:cubicBezTo>
                  <a:pt x="5478" y="110316"/>
                  <a:pt x="0" y="104839"/>
                  <a:pt x="0" y="98059"/>
                </a:cubicBezTo>
                <a:cubicBezTo>
                  <a:pt x="0" y="91279"/>
                  <a:pt x="5478" y="85802"/>
                  <a:pt x="12257" y="85802"/>
                </a:cubicBezTo>
                <a:lnTo>
                  <a:pt x="24515" y="85802"/>
                </a:lnTo>
                <a:lnTo>
                  <a:pt x="24515" y="36772"/>
                </a:lnTo>
                <a:close/>
              </a:path>
            </a:pathLst>
          </a:custGeom>
          <a:solidFill>
            <a:srgbClr val="E6B450"/>
          </a:solidFill>
        </p:spPr>
      </p:sp>
      <p:sp>
        <p:nvSpPr>
          <p:cNvPr id="8" name="Text 6"/>
          <p:cNvSpPr/>
          <p:nvPr/>
        </p:nvSpPr>
        <p:spPr>
          <a:xfrm>
            <a:off x="904812" y="1966150"/>
            <a:ext cx="8542780" cy="296818"/>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路径平滑的必要性</a:t>
            </a:r>
            <a:endParaRPr lang="en-US" sz="2000" dirty="0"/>
          </a:p>
        </p:txBody>
      </p:sp>
      <p:sp>
        <p:nvSpPr>
          <p:cNvPr id="9" name="Text 7"/>
          <p:cNvSpPr/>
          <p:nvPr/>
        </p:nvSpPr>
        <p:spPr>
          <a:xfrm>
            <a:off x="904812" y="2374274"/>
            <a:ext cx="9880123" cy="547257"/>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全局路径规划（例如A*算法）算法计算路径完毕后，其结果是一串用来表示所经过的</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路径点的坐标</a:t>
            </a:r>
            <a:r>
              <a:rPr lang="en-US" sz="1600" dirty="0">
                <a:latin typeface="微软雅黑" panose="020B0503020204020204" pitchFamily="34" charset="-122"/>
                <a:ea typeface="微软雅黑" panose="020B0503020204020204" pitchFamily="34" charset="-122"/>
                <a:cs typeface="微软雅黑" panose="020B0503020204020204" pitchFamily="34" charset="-122"/>
              </a:rPr>
              <a:t>，但这样的路径通常是有</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"锯齿"形状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的，并不符合实际需求，因此需要进行</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平滑处理</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400" dirty="0"/>
          </a:p>
        </p:txBody>
      </p:sp>
      <p:sp>
        <p:nvSpPr>
          <p:cNvPr id="10" name="Shape 8"/>
          <p:cNvSpPr/>
          <p:nvPr/>
        </p:nvSpPr>
        <p:spPr>
          <a:xfrm>
            <a:off x="343206" y="3362120"/>
            <a:ext cx="10750244" cy="1400608"/>
          </a:xfrm>
          <a:custGeom>
            <a:avLst/>
            <a:gdLst/>
            <a:ahLst/>
            <a:cxnLst/>
            <a:rect l="l" t="t" r="r" b="b"/>
            <a:pathLst>
              <a:path w="8122552" h="1233909">
                <a:moveTo>
                  <a:pt x="32686" y="0"/>
                </a:moveTo>
                <a:lnTo>
                  <a:pt x="8024494" y="0"/>
                </a:lnTo>
                <a:cubicBezTo>
                  <a:pt x="8078650" y="0"/>
                  <a:pt x="8122552" y="43902"/>
                  <a:pt x="8122552" y="98059"/>
                </a:cubicBezTo>
                <a:lnTo>
                  <a:pt x="8122552" y="1135850"/>
                </a:lnTo>
                <a:cubicBezTo>
                  <a:pt x="8122552" y="1190006"/>
                  <a:pt x="8078650" y="1233909"/>
                  <a:pt x="8024494" y="1233909"/>
                </a:cubicBezTo>
                <a:lnTo>
                  <a:pt x="32686" y="1233909"/>
                </a:lnTo>
                <a:cubicBezTo>
                  <a:pt x="14634" y="1233909"/>
                  <a:pt x="0" y="1219275"/>
                  <a:pt x="0" y="1201223"/>
                </a:cubicBezTo>
                <a:lnTo>
                  <a:pt x="0" y="32686"/>
                </a:lnTo>
                <a:cubicBezTo>
                  <a:pt x="0" y="14646"/>
                  <a:pt x="14646" y="0"/>
                  <a:pt x="32686" y="0"/>
                </a:cubicBezTo>
                <a:close/>
              </a:path>
            </a:pathLst>
          </a:custGeom>
          <a:solidFill>
            <a:srgbClr val="5F87A7">
              <a:alpha val="10196"/>
            </a:srgbClr>
          </a:solidFill>
        </p:spPr>
      </p:sp>
      <p:sp>
        <p:nvSpPr>
          <p:cNvPr id="11" name="Shape 9"/>
          <p:cNvSpPr/>
          <p:nvPr/>
        </p:nvSpPr>
        <p:spPr>
          <a:xfrm>
            <a:off x="343206" y="3362120"/>
            <a:ext cx="37102" cy="1400608"/>
          </a:xfrm>
          <a:custGeom>
            <a:avLst/>
            <a:gdLst/>
            <a:ahLst/>
            <a:cxnLst/>
            <a:rect l="l" t="t" r="r" b="b"/>
            <a:pathLst>
              <a:path w="32686" h="1233909">
                <a:moveTo>
                  <a:pt x="32686" y="0"/>
                </a:moveTo>
                <a:lnTo>
                  <a:pt x="32686" y="0"/>
                </a:lnTo>
                <a:lnTo>
                  <a:pt x="32686" y="1233909"/>
                </a:lnTo>
                <a:lnTo>
                  <a:pt x="32686" y="1233909"/>
                </a:lnTo>
                <a:cubicBezTo>
                  <a:pt x="14634" y="1233909"/>
                  <a:pt x="0" y="1219275"/>
                  <a:pt x="0" y="1201223"/>
                </a:cubicBezTo>
                <a:lnTo>
                  <a:pt x="0" y="32686"/>
                </a:lnTo>
                <a:cubicBezTo>
                  <a:pt x="0" y="14646"/>
                  <a:pt x="14646" y="0"/>
                  <a:pt x="32686" y="0"/>
                </a:cubicBezTo>
                <a:close/>
              </a:path>
            </a:pathLst>
          </a:custGeom>
          <a:solidFill>
            <a:srgbClr val="E6B450"/>
          </a:solidFill>
        </p:spPr>
      </p:sp>
      <p:sp>
        <p:nvSpPr>
          <p:cNvPr id="12" name="Shape 10"/>
          <p:cNvSpPr/>
          <p:nvPr/>
        </p:nvSpPr>
        <p:spPr>
          <a:xfrm>
            <a:off x="524079" y="3621835"/>
            <a:ext cx="278266" cy="222613"/>
          </a:xfrm>
          <a:custGeom>
            <a:avLst/>
            <a:gdLst/>
            <a:ahLst/>
            <a:cxnLst/>
            <a:rect l="l" t="t" r="r" b="b"/>
            <a:pathLst>
              <a:path w="245147" h="196118">
                <a:moveTo>
                  <a:pt x="113381" y="52094"/>
                </a:moveTo>
                <a:lnTo>
                  <a:pt x="113381" y="33708"/>
                </a:lnTo>
                <a:lnTo>
                  <a:pt x="131767" y="33708"/>
                </a:lnTo>
                <a:lnTo>
                  <a:pt x="131767" y="52094"/>
                </a:lnTo>
                <a:lnTo>
                  <a:pt x="113381" y="52094"/>
                </a:lnTo>
                <a:close/>
                <a:moveTo>
                  <a:pt x="110316" y="12257"/>
                </a:moveTo>
                <a:cubicBezTo>
                  <a:pt x="100166" y="12257"/>
                  <a:pt x="91930" y="20493"/>
                  <a:pt x="91930" y="30643"/>
                </a:cubicBezTo>
                <a:lnTo>
                  <a:pt x="91930" y="32176"/>
                </a:lnTo>
                <a:lnTo>
                  <a:pt x="46578" y="32176"/>
                </a:lnTo>
                <a:cubicBezTo>
                  <a:pt x="42594" y="24017"/>
                  <a:pt x="34206" y="18386"/>
                  <a:pt x="24515" y="18386"/>
                </a:cubicBezTo>
                <a:cubicBezTo>
                  <a:pt x="10993" y="18386"/>
                  <a:pt x="0" y="29379"/>
                  <a:pt x="0" y="42901"/>
                </a:cubicBezTo>
                <a:cubicBezTo>
                  <a:pt x="0" y="56422"/>
                  <a:pt x="10993" y="67416"/>
                  <a:pt x="24515" y="67416"/>
                </a:cubicBezTo>
                <a:cubicBezTo>
                  <a:pt x="34206" y="67416"/>
                  <a:pt x="42594" y="61785"/>
                  <a:pt x="46578" y="53626"/>
                </a:cubicBezTo>
                <a:lnTo>
                  <a:pt x="72204" y="53626"/>
                </a:lnTo>
                <a:cubicBezTo>
                  <a:pt x="49642" y="68795"/>
                  <a:pt x="34321" y="93846"/>
                  <a:pt x="32367" y="122574"/>
                </a:cubicBezTo>
                <a:lnTo>
                  <a:pt x="30643" y="122574"/>
                </a:lnTo>
                <a:cubicBezTo>
                  <a:pt x="20493" y="122574"/>
                  <a:pt x="12257" y="130809"/>
                  <a:pt x="12257" y="140960"/>
                </a:cubicBezTo>
                <a:lnTo>
                  <a:pt x="12257" y="165475"/>
                </a:lnTo>
                <a:cubicBezTo>
                  <a:pt x="12257" y="175625"/>
                  <a:pt x="20493" y="183861"/>
                  <a:pt x="30643" y="183861"/>
                </a:cubicBezTo>
                <a:lnTo>
                  <a:pt x="55158" y="183861"/>
                </a:lnTo>
                <a:cubicBezTo>
                  <a:pt x="65309" y="183861"/>
                  <a:pt x="73544" y="175625"/>
                  <a:pt x="73544" y="165475"/>
                </a:cubicBezTo>
                <a:lnTo>
                  <a:pt x="73544" y="140960"/>
                </a:lnTo>
                <a:cubicBezTo>
                  <a:pt x="73544" y="130809"/>
                  <a:pt x="65309" y="122574"/>
                  <a:pt x="55158" y="122574"/>
                </a:cubicBezTo>
                <a:lnTo>
                  <a:pt x="53894" y="122574"/>
                </a:lnTo>
                <a:cubicBezTo>
                  <a:pt x="56154" y="96910"/>
                  <a:pt x="72472" y="75306"/>
                  <a:pt x="95071" y="65462"/>
                </a:cubicBezTo>
                <a:cubicBezTo>
                  <a:pt x="98365" y="70327"/>
                  <a:pt x="103958" y="73544"/>
                  <a:pt x="110316" y="73544"/>
                </a:cubicBezTo>
                <a:lnTo>
                  <a:pt x="134831" y="73544"/>
                </a:lnTo>
                <a:cubicBezTo>
                  <a:pt x="141190" y="73544"/>
                  <a:pt x="146744" y="70327"/>
                  <a:pt x="150076" y="65462"/>
                </a:cubicBezTo>
                <a:cubicBezTo>
                  <a:pt x="172676" y="75306"/>
                  <a:pt x="188993" y="96910"/>
                  <a:pt x="191253" y="122574"/>
                </a:cubicBezTo>
                <a:lnTo>
                  <a:pt x="189989" y="122574"/>
                </a:lnTo>
                <a:cubicBezTo>
                  <a:pt x="179839" y="122574"/>
                  <a:pt x="171603" y="130809"/>
                  <a:pt x="171603" y="140960"/>
                </a:cubicBezTo>
                <a:lnTo>
                  <a:pt x="171603" y="165475"/>
                </a:lnTo>
                <a:cubicBezTo>
                  <a:pt x="171603" y="175625"/>
                  <a:pt x="179839" y="183861"/>
                  <a:pt x="189989" y="183861"/>
                </a:cubicBezTo>
                <a:lnTo>
                  <a:pt x="214504" y="183861"/>
                </a:lnTo>
                <a:cubicBezTo>
                  <a:pt x="224655" y="183861"/>
                  <a:pt x="232890" y="175625"/>
                  <a:pt x="232890" y="165475"/>
                </a:cubicBezTo>
                <a:lnTo>
                  <a:pt x="232890" y="140960"/>
                </a:lnTo>
                <a:cubicBezTo>
                  <a:pt x="232890" y="130809"/>
                  <a:pt x="224655" y="122574"/>
                  <a:pt x="214504" y="122574"/>
                </a:cubicBezTo>
                <a:lnTo>
                  <a:pt x="212780" y="122574"/>
                </a:lnTo>
                <a:cubicBezTo>
                  <a:pt x="210865" y="93846"/>
                  <a:pt x="195505" y="68795"/>
                  <a:pt x="172944" y="53626"/>
                </a:cubicBezTo>
                <a:lnTo>
                  <a:pt x="198569" y="53626"/>
                </a:lnTo>
                <a:cubicBezTo>
                  <a:pt x="202553" y="61785"/>
                  <a:pt x="210942" y="67416"/>
                  <a:pt x="220633" y="67416"/>
                </a:cubicBezTo>
                <a:cubicBezTo>
                  <a:pt x="234154" y="67416"/>
                  <a:pt x="245147" y="56422"/>
                  <a:pt x="245147" y="42901"/>
                </a:cubicBezTo>
                <a:cubicBezTo>
                  <a:pt x="245147" y="29379"/>
                  <a:pt x="234154" y="18386"/>
                  <a:pt x="220633" y="18386"/>
                </a:cubicBezTo>
                <a:cubicBezTo>
                  <a:pt x="210942" y="18386"/>
                  <a:pt x="202553" y="24017"/>
                  <a:pt x="198569" y="32176"/>
                </a:cubicBezTo>
                <a:lnTo>
                  <a:pt x="153217" y="32176"/>
                </a:lnTo>
                <a:lnTo>
                  <a:pt x="153217" y="30643"/>
                </a:lnTo>
                <a:cubicBezTo>
                  <a:pt x="153217" y="20493"/>
                  <a:pt x="144982" y="12257"/>
                  <a:pt x="134831" y="12257"/>
                </a:cubicBezTo>
                <a:lnTo>
                  <a:pt x="110316" y="12257"/>
                </a:lnTo>
                <a:close/>
                <a:moveTo>
                  <a:pt x="33708" y="144024"/>
                </a:moveTo>
                <a:lnTo>
                  <a:pt x="52094" y="144024"/>
                </a:lnTo>
                <a:lnTo>
                  <a:pt x="52094" y="162410"/>
                </a:lnTo>
                <a:lnTo>
                  <a:pt x="33708" y="162410"/>
                </a:lnTo>
                <a:lnTo>
                  <a:pt x="33708" y="144024"/>
                </a:lnTo>
                <a:close/>
                <a:moveTo>
                  <a:pt x="193054" y="162410"/>
                </a:moveTo>
                <a:lnTo>
                  <a:pt x="193054" y="144024"/>
                </a:lnTo>
                <a:lnTo>
                  <a:pt x="211440" y="144024"/>
                </a:lnTo>
                <a:lnTo>
                  <a:pt x="211440" y="162410"/>
                </a:lnTo>
                <a:lnTo>
                  <a:pt x="193054" y="162410"/>
                </a:lnTo>
                <a:close/>
              </a:path>
            </a:pathLst>
          </a:custGeom>
          <a:solidFill>
            <a:srgbClr val="E6B450"/>
          </a:solidFill>
        </p:spPr>
      </p:sp>
      <p:sp>
        <p:nvSpPr>
          <p:cNvPr id="13" name="Text 11"/>
          <p:cNvSpPr/>
          <p:nvPr/>
        </p:nvSpPr>
        <p:spPr>
          <a:xfrm>
            <a:off x="894377" y="3584733"/>
            <a:ext cx="8552054" cy="296818"/>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贝塞尔曲线介绍</a:t>
            </a:r>
            <a:endParaRPr lang="en-US" sz="2000" dirty="0"/>
          </a:p>
        </p:txBody>
      </p:sp>
      <p:sp>
        <p:nvSpPr>
          <p:cNvPr id="14" name="Text 12"/>
          <p:cNvSpPr/>
          <p:nvPr/>
        </p:nvSpPr>
        <p:spPr>
          <a:xfrm>
            <a:off x="894377" y="3992857"/>
            <a:ext cx="9890886" cy="547257"/>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路径平滑处理的相关算法有：</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佛洛依德算法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贝塞尔曲线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等，本节将针对贝塞尔曲线进行介绍。</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贝塞尔曲线(Bezier curve)</a:t>
            </a:r>
            <a:r>
              <a:rPr lang="en-US" sz="1600" dirty="0">
                <a:latin typeface="微软雅黑" panose="020B0503020204020204" pitchFamily="34" charset="-122"/>
                <a:ea typeface="微软雅黑" panose="020B0503020204020204" pitchFamily="34" charset="-122"/>
                <a:cs typeface="微软雅黑" panose="020B0503020204020204" pitchFamily="34" charset="-122"/>
              </a:rPr>
              <a:t>，又称贝兹曲线或贝济埃曲线，是应用于二维图形应用程序的数学曲线。</a:t>
            </a:r>
            <a:endParaRPr lang="en-US" sz="2400" dirty="0"/>
          </a:p>
        </p:txBody>
      </p:sp>
      <p:sp>
        <p:nvSpPr>
          <p:cNvPr id="15" name="Shape 13"/>
          <p:cNvSpPr/>
          <p:nvPr/>
        </p:nvSpPr>
        <p:spPr>
          <a:xfrm>
            <a:off x="343206" y="4980703"/>
            <a:ext cx="10750244" cy="1669599"/>
          </a:xfrm>
          <a:custGeom>
            <a:avLst/>
            <a:gdLst/>
            <a:ahLst/>
            <a:cxnLst/>
            <a:rect l="l" t="t" r="r" b="b"/>
            <a:pathLst>
              <a:path w="8122552" h="1470885">
                <a:moveTo>
                  <a:pt x="32686" y="0"/>
                </a:moveTo>
                <a:lnTo>
                  <a:pt x="8024488" y="0"/>
                </a:lnTo>
                <a:cubicBezTo>
                  <a:pt x="8078648" y="0"/>
                  <a:pt x="8122552" y="43905"/>
                  <a:pt x="8122552" y="98064"/>
                </a:cubicBezTo>
                <a:lnTo>
                  <a:pt x="8122552" y="1372821"/>
                </a:lnTo>
                <a:cubicBezTo>
                  <a:pt x="8122552" y="1426980"/>
                  <a:pt x="8078648" y="1470885"/>
                  <a:pt x="8024488" y="1470885"/>
                </a:cubicBezTo>
                <a:lnTo>
                  <a:pt x="32686" y="1470885"/>
                </a:lnTo>
                <a:cubicBezTo>
                  <a:pt x="14634" y="1470885"/>
                  <a:pt x="0" y="1456251"/>
                  <a:pt x="0" y="1438198"/>
                </a:cubicBezTo>
                <a:lnTo>
                  <a:pt x="0" y="32686"/>
                </a:lnTo>
                <a:cubicBezTo>
                  <a:pt x="0" y="14646"/>
                  <a:pt x="14646" y="0"/>
                  <a:pt x="32686" y="0"/>
                </a:cubicBezTo>
                <a:close/>
              </a:path>
            </a:pathLst>
          </a:custGeom>
          <a:solidFill>
            <a:srgbClr val="5F87A7">
              <a:alpha val="10196"/>
            </a:srgbClr>
          </a:solidFill>
        </p:spPr>
      </p:sp>
      <p:sp>
        <p:nvSpPr>
          <p:cNvPr id="16" name="Shape 14"/>
          <p:cNvSpPr/>
          <p:nvPr/>
        </p:nvSpPr>
        <p:spPr>
          <a:xfrm>
            <a:off x="343206" y="4980703"/>
            <a:ext cx="37102" cy="1669599"/>
          </a:xfrm>
          <a:custGeom>
            <a:avLst/>
            <a:gdLst/>
            <a:ahLst/>
            <a:cxnLst/>
            <a:rect l="l" t="t" r="r" b="b"/>
            <a:pathLst>
              <a:path w="32686" h="1470885">
                <a:moveTo>
                  <a:pt x="32686" y="0"/>
                </a:moveTo>
                <a:lnTo>
                  <a:pt x="32686" y="0"/>
                </a:lnTo>
                <a:lnTo>
                  <a:pt x="32686" y="1470885"/>
                </a:lnTo>
                <a:lnTo>
                  <a:pt x="32686" y="1470885"/>
                </a:lnTo>
                <a:cubicBezTo>
                  <a:pt x="14634" y="1470885"/>
                  <a:pt x="0" y="1456251"/>
                  <a:pt x="0" y="1438198"/>
                </a:cubicBezTo>
                <a:lnTo>
                  <a:pt x="0" y="32686"/>
                </a:lnTo>
                <a:cubicBezTo>
                  <a:pt x="0" y="14646"/>
                  <a:pt x="14646" y="0"/>
                  <a:pt x="32686" y="0"/>
                </a:cubicBezTo>
                <a:close/>
              </a:path>
            </a:pathLst>
          </a:custGeom>
          <a:solidFill>
            <a:srgbClr val="E6B450"/>
          </a:solidFill>
        </p:spPr>
      </p:sp>
      <p:sp>
        <p:nvSpPr>
          <p:cNvPr id="17" name="Shape 15"/>
          <p:cNvSpPr/>
          <p:nvPr/>
        </p:nvSpPr>
        <p:spPr>
          <a:xfrm>
            <a:off x="551906" y="5240418"/>
            <a:ext cx="222613" cy="222613"/>
          </a:xfrm>
          <a:custGeom>
            <a:avLst/>
            <a:gdLst/>
            <a:ahLst/>
            <a:cxnLst/>
            <a:rect l="l" t="t" r="r" b="b"/>
            <a:pathLst>
              <a:path w="196118" h="196118">
                <a:moveTo>
                  <a:pt x="135176" y="8121"/>
                </a:moveTo>
                <a:lnTo>
                  <a:pt x="117977" y="25319"/>
                </a:lnTo>
                <a:lnTo>
                  <a:pt x="170799" y="78141"/>
                </a:lnTo>
                <a:lnTo>
                  <a:pt x="187997" y="60942"/>
                </a:lnTo>
                <a:cubicBezTo>
                  <a:pt x="193207" y="55771"/>
                  <a:pt x="196118" y="48723"/>
                  <a:pt x="196118" y="41369"/>
                </a:cubicBezTo>
                <a:cubicBezTo>
                  <a:pt x="196118" y="34014"/>
                  <a:pt x="193207" y="26966"/>
                  <a:pt x="187997" y="21795"/>
                </a:cubicBezTo>
                <a:lnTo>
                  <a:pt x="174323" y="8121"/>
                </a:lnTo>
                <a:cubicBezTo>
                  <a:pt x="169152" y="2911"/>
                  <a:pt x="162104" y="0"/>
                  <a:pt x="154749" y="0"/>
                </a:cubicBezTo>
                <a:cubicBezTo>
                  <a:pt x="147395" y="0"/>
                  <a:pt x="140347" y="2911"/>
                  <a:pt x="135176" y="8121"/>
                </a:cubicBezTo>
                <a:close/>
                <a:moveTo>
                  <a:pt x="104992" y="38304"/>
                </a:moveTo>
                <a:lnTo>
                  <a:pt x="22561" y="120697"/>
                </a:lnTo>
                <a:cubicBezTo>
                  <a:pt x="18463" y="124795"/>
                  <a:pt x="15475" y="129928"/>
                  <a:pt x="13904" y="135521"/>
                </a:cubicBezTo>
                <a:lnTo>
                  <a:pt x="345" y="184473"/>
                </a:lnTo>
                <a:cubicBezTo>
                  <a:pt x="-536" y="187653"/>
                  <a:pt x="345" y="191100"/>
                  <a:pt x="2720" y="193437"/>
                </a:cubicBezTo>
                <a:cubicBezTo>
                  <a:pt x="5094" y="195773"/>
                  <a:pt x="8504" y="196693"/>
                  <a:pt x="11683" y="195812"/>
                </a:cubicBezTo>
                <a:lnTo>
                  <a:pt x="60636" y="182214"/>
                </a:lnTo>
                <a:cubicBezTo>
                  <a:pt x="66228" y="180643"/>
                  <a:pt x="71323" y="177694"/>
                  <a:pt x="75459" y="173557"/>
                </a:cubicBezTo>
                <a:lnTo>
                  <a:pt x="157814" y="91126"/>
                </a:lnTo>
                <a:lnTo>
                  <a:pt x="104992" y="38304"/>
                </a:lnTo>
                <a:close/>
              </a:path>
            </a:pathLst>
          </a:custGeom>
          <a:solidFill>
            <a:srgbClr val="E6B450"/>
          </a:solidFill>
        </p:spPr>
      </p:sp>
      <p:sp>
        <p:nvSpPr>
          <p:cNvPr id="18" name="Text 16"/>
          <p:cNvSpPr/>
          <p:nvPr/>
        </p:nvSpPr>
        <p:spPr>
          <a:xfrm>
            <a:off x="888000" y="5203316"/>
            <a:ext cx="8561330" cy="296818"/>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贝塞尔曲线应用</a:t>
            </a:r>
            <a:endParaRPr lang="en-US" sz="2000" dirty="0"/>
          </a:p>
        </p:txBody>
      </p:sp>
      <p:sp>
        <p:nvSpPr>
          <p:cNvPr id="19" name="Text 17"/>
          <p:cNvSpPr/>
          <p:nvPr/>
        </p:nvSpPr>
        <p:spPr>
          <a:xfrm>
            <a:off x="888000" y="5611440"/>
            <a:ext cx="9901648" cy="81624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一般的矢量图形软件通过它来精确画出曲线，贝兹曲线由</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线段与节点</a:t>
            </a:r>
            <a:r>
              <a:rPr lang="en-US" sz="1600" dirty="0">
                <a:latin typeface="微软雅黑" panose="020B0503020204020204" pitchFamily="34" charset="-122"/>
                <a:ea typeface="微软雅黑" panose="020B0503020204020204" pitchFamily="34" charset="-122"/>
                <a:cs typeface="微软雅黑" panose="020B0503020204020204" pitchFamily="34" charset="-122"/>
              </a:rPr>
              <a:t>组成，节点是可拖动的支点，线段像可伸缩的皮筋，在绘图工具上看到的</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钢笔工具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就是来做这种矢量曲线的。贝塞尔曲线是计算机图形学中相当重要的参数曲线，在一些比较成熟的位图软件中也有贝塞尔曲线工具，如</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PhotoShop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等。</a:t>
            </a:r>
            <a:endParaRPr lang="en-US" sz="2400" dirty="0"/>
          </a:p>
        </p:txBody>
      </p:sp>
      <p:grpSp>
        <p:nvGrpSpPr>
          <p:cNvPr id="35" name="组合 34">
            <a:extLst>
              <a:ext uri="{FF2B5EF4-FFF2-40B4-BE49-F238E27FC236}">
                <a16:creationId xmlns:a16="http://schemas.microsoft.com/office/drawing/2014/main" id="{59343B4A-E064-E2D7-1037-141AC9F4A598}"/>
              </a:ext>
            </a:extLst>
          </p:cNvPr>
          <p:cNvGrpSpPr/>
          <p:nvPr/>
        </p:nvGrpSpPr>
        <p:grpSpPr>
          <a:xfrm>
            <a:off x="0" y="939798"/>
            <a:ext cx="5022850" cy="625474"/>
            <a:chOff x="0" y="1075267"/>
            <a:chExt cx="5022850" cy="625474"/>
          </a:xfrm>
        </p:grpSpPr>
        <p:sp>
          <p:nvSpPr>
            <p:cNvPr id="36" name="矩形 35">
              <a:extLst>
                <a:ext uri="{FF2B5EF4-FFF2-40B4-BE49-F238E27FC236}">
                  <a16:creationId xmlns:a16="http://schemas.microsoft.com/office/drawing/2014/main" id="{37BFF80C-9073-C5F3-D47F-91040A3A0ECB}"/>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6DBBCC85-B68D-3357-85F9-4DCCAC099340}"/>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7.3.2 </a:t>
              </a:r>
              <a:r>
                <a:rPr lang="zh-CN" altLang="en-US" sz="2400" b="1" dirty="0">
                  <a:solidFill>
                    <a:schemeClr val="accent1"/>
                  </a:solidFill>
                  <a:latin typeface="+mj-lt"/>
                </a:rPr>
                <a:t>路径平滑</a:t>
              </a:r>
            </a:p>
          </p:txBody>
        </p:sp>
      </p:grpSp>
    </p:spTree>
    <p:extLst>
      <p:ext uri="{BB962C8B-B14F-4D97-AF65-F5344CB8AC3E}">
        <p14:creationId xmlns:p14="http://schemas.microsoft.com/office/powerpoint/2010/main" val="3932003643"/>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400050" y="1733550"/>
            <a:ext cx="10440336" cy="1876425"/>
          </a:xfrm>
          <a:custGeom>
            <a:avLst/>
            <a:gdLst/>
            <a:ahLst/>
            <a:cxnLst/>
            <a:rect l="l" t="t" r="r" b="b"/>
            <a:pathLst>
              <a:path w="7448550" h="1876425">
                <a:moveTo>
                  <a:pt x="38100" y="0"/>
                </a:moveTo>
                <a:lnTo>
                  <a:pt x="7334257" y="0"/>
                </a:lnTo>
                <a:cubicBezTo>
                  <a:pt x="7397379" y="0"/>
                  <a:pt x="7448550" y="51171"/>
                  <a:pt x="7448550" y="114293"/>
                </a:cubicBezTo>
                <a:lnTo>
                  <a:pt x="7448550" y="1762132"/>
                </a:lnTo>
                <a:cubicBezTo>
                  <a:pt x="7448550" y="1825254"/>
                  <a:pt x="7397379" y="1876425"/>
                  <a:pt x="7334257" y="1876425"/>
                </a:cubicBezTo>
                <a:lnTo>
                  <a:pt x="38100" y="1876425"/>
                </a:lnTo>
                <a:cubicBezTo>
                  <a:pt x="17058" y="1876425"/>
                  <a:pt x="0" y="1859367"/>
                  <a:pt x="0" y="1838325"/>
                </a:cubicBezTo>
                <a:lnTo>
                  <a:pt x="0" y="38100"/>
                </a:lnTo>
                <a:cubicBezTo>
                  <a:pt x="0" y="17072"/>
                  <a:pt x="17072" y="0"/>
                  <a:pt x="38100" y="0"/>
                </a:cubicBezTo>
                <a:close/>
              </a:path>
            </a:pathLst>
          </a:custGeom>
          <a:solidFill>
            <a:srgbClr val="5F87A7">
              <a:alpha val="10196"/>
            </a:srgbClr>
          </a:solidFill>
        </p:spPr>
      </p:sp>
      <p:sp>
        <p:nvSpPr>
          <p:cNvPr id="6" name="Shape 4"/>
          <p:cNvSpPr/>
          <p:nvPr/>
        </p:nvSpPr>
        <p:spPr>
          <a:xfrm>
            <a:off x="400050" y="1733550"/>
            <a:ext cx="38100" cy="1876425"/>
          </a:xfrm>
          <a:custGeom>
            <a:avLst/>
            <a:gdLst/>
            <a:ahLst/>
            <a:cxnLst/>
            <a:rect l="l" t="t" r="r" b="b"/>
            <a:pathLst>
              <a:path w="38100" h="1876425">
                <a:moveTo>
                  <a:pt x="38100" y="0"/>
                </a:moveTo>
                <a:lnTo>
                  <a:pt x="38100" y="0"/>
                </a:lnTo>
                <a:lnTo>
                  <a:pt x="38100" y="1876425"/>
                </a:lnTo>
                <a:lnTo>
                  <a:pt x="38100" y="1876425"/>
                </a:lnTo>
                <a:cubicBezTo>
                  <a:pt x="17072" y="1876425"/>
                  <a:pt x="0" y="1859353"/>
                  <a:pt x="0" y="1838325"/>
                </a:cubicBezTo>
                <a:lnTo>
                  <a:pt x="0" y="38100"/>
                </a:lnTo>
                <a:cubicBezTo>
                  <a:pt x="0" y="17072"/>
                  <a:pt x="17072" y="0"/>
                  <a:pt x="38100" y="0"/>
                </a:cubicBezTo>
                <a:close/>
              </a:path>
            </a:pathLst>
          </a:custGeom>
          <a:solidFill>
            <a:srgbClr val="E6B450"/>
          </a:solidFill>
        </p:spPr>
      </p:sp>
      <p:sp>
        <p:nvSpPr>
          <p:cNvPr id="7" name="Shape 5"/>
          <p:cNvSpPr/>
          <p:nvPr/>
        </p:nvSpPr>
        <p:spPr>
          <a:xfrm>
            <a:off x="676275" y="2000250"/>
            <a:ext cx="228600" cy="228600"/>
          </a:xfrm>
          <a:custGeom>
            <a:avLst/>
            <a:gdLst/>
            <a:ahLst/>
            <a:cxnLst/>
            <a:rect l="l" t="t" r="r" b="b"/>
            <a:pathLst>
              <a:path w="228600" h="228600">
                <a:moveTo>
                  <a:pt x="14288" y="28575"/>
                </a:moveTo>
                <a:cubicBezTo>
                  <a:pt x="6385" y="28575"/>
                  <a:pt x="0" y="34960"/>
                  <a:pt x="0" y="42863"/>
                </a:cubicBezTo>
                <a:cubicBezTo>
                  <a:pt x="0" y="50765"/>
                  <a:pt x="6385" y="57150"/>
                  <a:pt x="14288" y="57150"/>
                </a:cubicBezTo>
                <a:lnTo>
                  <a:pt x="52998" y="57150"/>
                </a:lnTo>
                <a:cubicBezTo>
                  <a:pt x="58489" y="69786"/>
                  <a:pt x="71080" y="78581"/>
                  <a:pt x="85725" y="78581"/>
                </a:cubicBezTo>
                <a:cubicBezTo>
                  <a:pt x="100370" y="78581"/>
                  <a:pt x="112961" y="69786"/>
                  <a:pt x="118452" y="57150"/>
                </a:cubicBezTo>
                <a:lnTo>
                  <a:pt x="214313" y="57150"/>
                </a:lnTo>
                <a:cubicBezTo>
                  <a:pt x="222215" y="57150"/>
                  <a:pt x="228600" y="50765"/>
                  <a:pt x="228600" y="42863"/>
                </a:cubicBezTo>
                <a:cubicBezTo>
                  <a:pt x="228600" y="34960"/>
                  <a:pt x="222215" y="28575"/>
                  <a:pt x="214313" y="28575"/>
                </a:cubicBezTo>
                <a:lnTo>
                  <a:pt x="118452" y="28575"/>
                </a:lnTo>
                <a:cubicBezTo>
                  <a:pt x="112961" y="15939"/>
                  <a:pt x="100370" y="7144"/>
                  <a:pt x="85725" y="7144"/>
                </a:cubicBezTo>
                <a:cubicBezTo>
                  <a:pt x="71080" y="7144"/>
                  <a:pt x="58489" y="15939"/>
                  <a:pt x="52998" y="28575"/>
                </a:cubicBezTo>
                <a:lnTo>
                  <a:pt x="14288" y="28575"/>
                </a:lnTo>
                <a:close/>
                <a:moveTo>
                  <a:pt x="14288" y="100013"/>
                </a:moveTo>
                <a:cubicBezTo>
                  <a:pt x="6385" y="100013"/>
                  <a:pt x="0" y="106397"/>
                  <a:pt x="0" y="114300"/>
                </a:cubicBezTo>
                <a:cubicBezTo>
                  <a:pt x="0" y="122203"/>
                  <a:pt x="6385" y="128588"/>
                  <a:pt x="14288" y="128588"/>
                </a:cubicBezTo>
                <a:lnTo>
                  <a:pt x="124435" y="128588"/>
                </a:lnTo>
                <a:cubicBezTo>
                  <a:pt x="129927" y="141223"/>
                  <a:pt x="142518" y="150019"/>
                  <a:pt x="157163" y="150019"/>
                </a:cubicBezTo>
                <a:cubicBezTo>
                  <a:pt x="171807" y="150019"/>
                  <a:pt x="184398" y="141223"/>
                  <a:pt x="189890" y="128588"/>
                </a:cubicBezTo>
                <a:lnTo>
                  <a:pt x="214313" y="128588"/>
                </a:lnTo>
                <a:cubicBezTo>
                  <a:pt x="222215" y="128588"/>
                  <a:pt x="228600" y="122203"/>
                  <a:pt x="228600" y="114300"/>
                </a:cubicBezTo>
                <a:cubicBezTo>
                  <a:pt x="228600" y="106397"/>
                  <a:pt x="222215" y="100013"/>
                  <a:pt x="214313" y="100013"/>
                </a:cubicBezTo>
                <a:lnTo>
                  <a:pt x="189890" y="100013"/>
                </a:lnTo>
                <a:cubicBezTo>
                  <a:pt x="184398" y="87377"/>
                  <a:pt x="171807" y="78581"/>
                  <a:pt x="157163" y="78581"/>
                </a:cubicBezTo>
                <a:cubicBezTo>
                  <a:pt x="142518" y="78581"/>
                  <a:pt x="129927" y="87377"/>
                  <a:pt x="124435" y="100013"/>
                </a:cubicBezTo>
                <a:lnTo>
                  <a:pt x="14288" y="100013"/>
                </a:lnTo>
                <a:close/>
                <a:moveTo>
                  <a:pt x="14288" y="171450"/>
                </a:moveTo>
                <a:cubicBezTo>
                  <a:pt x="6385" y="171450"/>
                  <a:pt x="0" y="177835"/>
                  <a:pt x="0" y="185738"/>
                </a:cubicBezTo>
                <a:cubicBezTo>
                  <a:pt x="0" y="193640"/>
                  <a:pt x="6385" y="200025"/>
                  <a:pt x="14288" y="200025"/>
                </a:cubicBezTo>
                <a:lnTo>
                  <a:pt x="38710" y="200025"/>
                </a:lnTo>
                <a:cubicBezTo>
                  <a:pt x="44202" y="212661"/>
                  <a:pt x="56793" y="221456"/>
                  <a:pt x="71438" y="221456"/>
                </a:cubicBezTo>
                <a:cubicBezTo>
                  <a:pt x="86082" y="221456"/>
                  <a:pt x="98673" y="212661"/>
                  <a:pt x="104165" y="200025"/>
                </a:cubicBezTo>
                <a:lnTo>
                  <a:pt x="214313" y="200025"/>
                </a:lnTo>
                <a:cubicBezTo>
                  <a:pt x="222215" y="200025"/>
                  <a:pt x="228600" y="193640"/>
                  <a:pt x="228600" y="185738"/>
                </a:cubicBezTo>
                <a:cubicBezTo>
                  <a:pt x="228600" y="177835"/>
                  <a:pt x="222215" y="171450"/>
                  <a:pt x="214313" y="171450"/>
                </a:cubicBezTo>
                <a:lnTo>
                  <a:pt x="104165" y="171450"/>
                </a:lnTo>
                <a:cubicBezTo>
                  <a:pt x="98673" y="158814"/>
                  <a:pt x="86082" y="150019"/>
                  <a:pt x="71438" y="150019"/>
                </a:cubicBezTo>
                <a:cubicBezTo>
                  <a:pt x="56793" y="150019"/>
                  <a:pt x="44202" y="158814"/>
                  <a:pt x="38710" y="171450"/>
                </a:cubicBezTo>
                <a:lnTo>
                  <a:pt x="14288" y="171450"/>
                </a:lnTo>
                <a:close/>
              </a:path>
            </a:pathLst>
          </a:custGeom>
          <a:solidFill>
            <a:srgbClr val="E6B450"/>
          </a:solidFill>
        </p:spPr>
      </p:sp>
      <p:sp>
        <p:nvSpPr>
          <p:cNvPr id="8" name="Text 6"/>
          <p:cNvSpPr/>
          <p:nvPr/>
        </p:nvSpPr>
        <p:spPr>
          <a:xfrm>
            <a:off x="1085850" y="1962150"/>
            <a:ext cx="4086225" cy="304800"/>
          </a:xfrm>
          <a:prstGeom prst="rect">
            <a:avLst/>
          </a:prstGeom>
          <a:noFill/>
        </p:spPr>
        <p:txBody>
          <a:bodyPr wrap="square" lIns="0" tIns="0" rIns="0" bIns="0" rtlCol="0" anchor="ctr"/>
          <a:lstStyle/>
          <a:p>
            <a:pPr>
              <a:lnSpc>
                <a:spcPct val="110000"/>
              </a:lnSpc>
            </a:pP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贝塞尔曲线</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的</a:t>
            </a:r>
            <a:r>
              <a:rPr lang="en-US" sz="1800" b="1" dirty="0" err="1">
                <a:latin typeface="微软雅黑" panose="020B0503020204020204" pitchFamily="34" charset="-122"/>
                <a:ea typeface="微软雅黑" panose="020B0503020204020204" pitchFamily="34" charset="-122"/>
                <a:cs typeface="微软雅黑" panose="020B0503020204020204" pitchFamily="34" charset="-122"/>
              </a:rPr>
              <a:t>控制点</a:t>
            </a:r>
            <a:endParaRPr lang="en-US" sz="1600" dirty="0"/>
          </a:p>
        </p:txBody>
      </p:sp>
      <p:sp>
        <p:nvSpPr>
          <p:cNvPr id="9" name="Text 7"/>
          <p:cNvSpPr/>
          <p:nvPr/>
        </p:nvSpPr>
        <p:spPr>
          <a:xfrm>
            <a:off x="1085850" y="2381250"/>
            <a:ext cx="4057650" cy="276225"/>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贝塞尔曲线的一些特性为：</a:t>
            </a:r>
            <a:endParaRPr lang="en-US" sz="2000" dirty="0"/>
          </a:p>
        </p:txBody>
      </p:sp>
      <p:sp>
        <p:nvSpPr>
          <p:cNvPr id="10" name="Shape 8"/>
          <p:cNvSpPr/>
          <p:nvPr/>
        </p:nvSpPr>
        <p:spPr>
          <a:xfrm>
            <a:off x="1104900" y="2850356"/>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47625"/>
                </a:moveTo>
                <a:cubicBezTo>
                  <a:pt x="91971" y="47625"/>
                  <a:pt x="104775" y="60429"/>
                  <a:pt x="104775" y="76200"/>
                </a:cubicBezTo>
                <a:cubicBezTo>
                  <a:pt x="104775" y="91971"/>
                  <a:pt x="91971" y="104775"/>
                  <a:pt x="76200" y="104775"/>
                </a:cubicBezTo>
                <a:cubicBezTo>
                  <a:pt x="60429" y="104775"/>
                  <a:pt x="47625" y="91971"/>
                  <a:pt x="47625" y="76200"/>
                </a:cubicBezTo>
                <a:cubicBezTo>
                  <a:pt x="47625" y="60429"/>
                  <a:pt x="60429" y="47625"/>
                  <a:pt x="76200" y="47625"/>
                </a:cubicBezTo>
                <a:close/>
              </a:path>
            </a:pathLst>
          </a:custGeom>
          <a:solidFill>
            <a:srgbClr val="E6B450"/>
          </a:solidFill>
        </p:spPr>
      </p:sp>
      <p:sp>
        <p:nvSpPr>
          <p:cNvPr id="11" name="Text 9"/>
          <p:cNvSpPr/>
          <p:nvPr/>
        </p:nvSpPr>
        <p:spPr>
          <a:xfrm>
            <a:off x="1352550" y="2812256"/>
            <a:ext cx="4510617" cy="2286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使用</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n个控制点</a:t>
            </a:r>
            <a:r>
              <a:rPr lang="en-US" sz="1600" dirty="0">
                <a:latin typeface="微软雅黑" panose="020B0503020204020204" pitchFamily="34" charset="-122"/>
                <a:ea typeface="微软雅黑" panose="020B0503020204020204" pitchFamily="34" charset="-122"/>
                <a:cs typeface="微软雅黑" panose="020B0503020204020204" pitchFamily="34" charset="-122"/>
              </a:rPr>
              <a:t> P</a:t>
            </a:r>
            <a:r>
              <a:rPr lang="en-US" sz="1050" dirty="0">
                <a:latin typeface="微软雅黑" panose="020B0503020204020204" pitchFamily="34" charset="-122"/>
                <a:ea typeface="微软雅黑" panose="020B0503020204020204" pitchFamily="34" charset="-122"/>
                <a:cs typeface="微软雅黑" panose="020B0503020204020204" pitchFamily="34" charset="-122"/>
              </a:rPr>
              <a:t>0</a:t>
            </a:r>
            <a:r>
              <a:rPr lang="en-US" sz="1600" dirty="0">
                <a:latin typeface="微软雅黑" panose="020B0503020204020204" pitchFamily="34" charset="-122"/>
                <a:ea typeface="微软雅黑" panose="020B0503020204020204" pitchFamily="34" charset="-122"/>
                <a:cs typeface="微软雅黑" panose="020B0503020204020204" pitchFamily="34" charset="-122"/>
              </a:rPr>
              <a:t>, P</a:t>
            </a:r>
            <a:r>
              <a:rPr lang="en-US" sz="1050" dirty="0">
                <a:latin typeface="微软雅黑" panose="020B0503020204020204" pitchFamily="34" charset="-122"/>
                <a:ea typeface="微软雅黑" panose="020B0503020204020204" pitchFamily="34" charset="-122"/>
                <a:cs typeface="微软雅黑" panose="020B0503020204020204" pitchFamily="34" charset="-122"/>
              </a:rPr>
              <a:t>1</a:t>
            </a:r>
            <a:r>
              <a:rPr lang="en-US" sz="1600" dirty="0">
                <a:latin typeface="微软雅黑" panose="020B0503020204020204" pitchFamily="34" charset="-122"/>
                <a:ea typeface="微软雅黑" panose="020B0503020204020204" pitchFamily="34" charset="-122"/>
                <a:cs typeface="微软雅黑" panose="020B0503020204020204" pitchFamily="34" charset="-122"/>
              </a:rPr>
              <a:t>, ..., P</a:t>
            </a:r>
            <a:r>
              <a:rPr lang="en-US" sz="1050" dirty="0">
                <a:latin typeface="微软雅黑" panose="020B0503020204020204" pitchFamily="34" charset="-122"/>
                <a:ea typeface="微软雅黑" panose="020B0503020204020204" pitchFamily="34" charset="-122"/>
                <a:cs typeface="微软雅黑" panose="020B0503020204020204" pitchFamily="34" charset="-122"/>
              </a:rPr>
              <a:t>n-1</a:t>
            </a:r>
            <a:r>
              <a:rPr lang="en-US" sz="1600" dirty="0">
                <a:latin typeface="微软雅黑" panose="020B0503020204020204" pitchFamily="34" charset="-122"/>
                <a:ea typeface="微软雅黑" panose="020B0503020204020204" pitchFamily="34" charset="-122"/>
                <a:cs typeface="微软雅黑" panose="020B0503020204020204" pitchFamily="34" charset="-122"/>
              </a:rPr>
              <a:t> 来控制曲线的形状</a:t>
            </a:r>
            <a:endParaRPr lang="en-US" sz="2000" dirty="0"/>
          </a:p>
        </p:txBody>
      </p:sp>
      <p:sp>
        <p:nvSpPr>
          <p:cNvPr id="12" name="Shape 10"/>
          <p:cNvSpPr/>
          <p:nvPr/>
        </p:nvSpPr>
        <p:spPr>
          <a:xfrm>
            <a:off x="1104900" y="3193256"/>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47625"/>
                </a:moveTo>
                <a:cubicBezTo>
                  <a:pt x="91971" y="47625"/>
                  <a:pt x="104775" y="60429"/>
                  <a:pt x="104775" y="76200"/>
                </a:cubicBezTo>
                <a:cubicBezTo>
                  <a:pt x="104775" y="91971"/>
                  <a:pt x="91971" y="104775"/>
                  <a:pt x="76200" y="104775"/>
                </a:cubicBezTo>
                <a:cubicBezTo>
                  <a:pt x="60429" y="104775"/>
                  <a:pt x="47625" y="91971"/>
                  <a:pt x="47625" y="76200"/>
                </a:cubicBezTo>
                <a:cubicBezTo>
                  <a:pt x="47625" y="60429"/>
                  <a:pt x="60429" y="47625"/>
                  <a:pt x="76200" y="47625"/>
                </a:cubicBezTo>
                <a:close/>
              </a:path>
            </a:pathLst>
          </a:custGeom>
          <a:solidFill>
            <a:srgbClr val="E6B450"/>
          </a:solidFill>
        </p:spPr>
      </p:sp>
      <p:sp>
        <p:nvSpPr>
          <p:cNvPr id="13" name="Text 11"/>
          <p:cNvSpPr/>
          <p:nvPr/>
        </p:nvSpPr>
        <p:spPr>
          <a:xfrm>
            <a:off x="1352550" y="3155156"/>
            <a:ext cx="5467350" cy="2286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曲线经过</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起点P0</a:t>
            </a:r>
            <a:r>
              <a:rPr lang="en-US" sz="1600" dirty="0">
                <a:latin typeface="微软雅黑" panose="020B0503020204020204" pitchFamily="34" charset="-122"/>
                <a:ea typeface="微软雅黑" panose="020B0503020204020204" pitchFamily="34" charset="-122"/>
                <a:cs typeface="微软雅黑" panose="020B0503020204020204" pitchFamily="34" charset="-122"/>
              </a:rPr>
              <a:t>和</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终点Pn-1</a:t>
            </a:r>
            <a:r>
              <a:rPr lang="en-US" sz="1600" dirty="0">
                <a:latin typeface="微软雅黑" panose="020B0503020204020204" pitchFamily="34" charset="-122"/>
                <a:ea typeface="微软雅黑" panose="020B0503020204020204" pitchFamily="34" charset="-122"/>
                <a:cs typeface="微软雅黑" panose="020B0503020204020204" pitchFamily="34" charset="-122"/>
              </a:rPr>
              <a:t>，但不经过中间点P</a:t>
            </a:r>
            <a:r>
              <a:rPr lang="en-US" sz="1050" dirty="0">
                <a:latin typeface="微软雅黑" panose="020B0503020204020204" pitchFamily="34" charset="-122"/>
                <a:ea typeface="微软雅黑" panose="020B0503020204020204" pitchFamily="34" charset="-122"/>
                <a:cs typeface="微软雅黑" panose="020B0503020204020204" pitchFamily="34" charset="-122"/>
              </a:rPr>
              <a:t>1</a:t>
            </a:r>
            <a:r>
              <a:rPr lang="en-US" sz="1600" dirty="0">
                <a:latin typeface="微软雅黑" panose="020B0503020204020204" pitchFamily="34" charset="-122"/>
                <a:ea typeface="微软雅黑" panose="020B0503020204020204" pitchFamily="34" charset="-122"/>
                <a:cs typeface="微软雅黑" panose="020B0503020204020204" pitchFamily="34" charset="-122"/>
              </a:rPr>
              <a:t>, ..., P</a:t>
            </a:r>
            <a:r>
              <a:rPr lang="en-US" sz="1050" dirty="0">
                <a:latin typeface="微软雅黑" panose="020B0503020204020204" pitchFamily="34" charset="-122"/>
                <a:ea typeface="微软雅黑" panose="020B0503020204020204" pitchFamily="34" charset="-122"/>
                <a:cs typeface="微软雅黑" panose="020B0503020204020204" pitchFamily="34" charset="-122"/>
              </a:rPr>
              <a:t>n-2</a:t>
            </a:r>
            <a:endParaRPr lang="en-US" sz="2000" dirty="0"/>
          </a:p>
        </p:txBody>
      </p:sp>
      <p:sp>
        <p:nvSpPr>
          <p:cNvPr id="14" name="Shape 12"/>
          <p:cNvSpPr/>
          <p:nvPr/>
        </p:nvSpPr>
        <p:spPr>
          <a:xfrm>
            <a:off x="385763" y="3845719"/>
            <a:ext cx="10453687" cy="1457325"/>
          </a:xfrm>
          <a:custGeom>
            <a:avLst/>
            <a:gdLst/>
            <a:ahLst/>
            <a:cxnLst/>
            <a:rect l="l" t="t" r="r" b="b"/>
            <a:pathLst>
              <a:path w="7458075" h="1457325">
                <a:moveTo>
                  <a:pt x="114298" y="0"/>
                </a:moveTo>
                <a:lnTo>
                  <a:pt x="7343777" y="0"/>
                </a:lnTo>
                <a:cubicBezTo>
                  <a:pt x="7406860" y="0"/>
                  <a:pt x="7458075" y="51215"/>
                  <a:pt x="7458075" y="114298"/>
                </a:cubicBezTo>
                <a:lnTo>
                  <a:pt x="7458075" y="1343027"/>
                </a:lnTo>
                <a:cubicBezTo>
                  <a:pt x="7458075" y="1406110"/>
                  <a:pt x="7406860" y="1457325"/>
                  <a:pt x="7343777" y="1457325"/>
                </a:cubicBezTo>
                <a:lnTo>
                  <a:pt x="114298" y="1457325"/>
                </a:lnTo>
                <a:cubicBezTo>
                  <a:pt x="51215" y="1457325"/>
                  <a:pt x="0" y="1406110"/>
                  <a:pt x="0" y="1343027"/>
                </a:cubicBezTo>
                <a:lnTo>
                  <a:pt x="0" y="114298"/>
                </a:lnTo>
                <a:cubicBezTo>
                  <a:pt x="0" y="51215"/>
                  <a:pt x="51215" y="0"/>
                  <a:pt x="114298" y="0"/>
                </a:cubicBezTo>
                <a:close/>
              </a:path>
            </a:pathLst>
          </a:custGeom>
          <a:solidFill>
            <a:srgbClr val="E6B450">
              <a:alpha val="10196"/>
            </a:srgbClr>
          </a:solidFill>
          <a:ln w="12700">
            <a:solidFill>
              <a:srgbClr val="E6B450">
                <a:alpha val="30196"/>
              </a:srgbClr>
            </a:solidFill>
            <a:prstDash val="solid"/>
          </a:ln>
        </p:spPr>
      </p:sp>
      <p:sp>
        <p:nvSpPr>
          <p:cNvPr id="15" name="Shape 13"/>
          <p:cNvSpPr/>
          <p:nvPr/>
        </p:nvSpPr>
        <p:spPr>
          <a:xfrm>
            <a:off x="642938" y="4117181"/>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E6B450"/>
          </a:solidFill>
        </p:spPr>
      </p:sp>
      <p:sp>
        <p:nvSpPr>
          <p:cNvPr id="16" name="Text 14"/>
          <p:cNvSpPr/>
          <p:nvPr/>
        </p:nvSpPr>
        <p:spPr>
          <a:xfrm>
            <a:off x="971550" y="4079081"/>
            <a:ext cx="1314450" cy="266700"/>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关键特性</a:t>
            </a:r>
            <a:endParaRPr lang="en-US" sz="2000" dirty="0"/>
          </a:p>
        </p:txBody>
      </p:sp>
      <p:sp>
        <p:nvSpPr>
          <p:cNvPr id="17" name="Shape 15"/>
          <p:cNvSpPr/>
          <p:nvPr/>
        </p:nvSpPr>
        <p:spPr>
          <a:xfrm>
            <a:off x="647700" y="4536281"/>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E6B450"/>
          </a:solidFill>
        </p:spPr>
      </p:sp>
      <p:sp>
        <p:nvSpPr>
          <p:cNvPr id="18" name="Text 16"/>
          <p:cNvSpPr/>
          <p:nvPr/>
        </p:nvSpPr>
        <p:spPr>
          <a:xfrm>
            <a:off x="885824" y="4498181"/>
            <a:ext cx="1527175" cy="2286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控制点决定形状</a:t>
            </a:r>
            <a:endParaRPr lang="en-US" sz="2000" dirty="0"/>
          </a:p>
        </p:txBody>
      </p:sp>
      <p:sp>
        <p:nvSpPr>
          <p:cNvPr id="19" name="Shape 17"/>
          <p:cNvSpPr/>
          <p:nvPr/>
        </p:nvSpPr>
        <p:spPr>
          <a:xfrm>
            <a:off x="4200525" y="4536281"/>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E6B450"/>
          </a:solidFill>
        </p:spPr>
      </p:sp>
      <p:sp>
        <p:nvSpPr>
          <p:cNvPr id="20" name="Text 18"/>
          <p:cNvSpPr/>
          <p:nvPr/>
        </p:nvSpPr>
        <p:spPr>
          <a:xfrm>
            <a:off x="4438650" y="4498181"/>
            <a:ext cx="1568450" cy="2286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通过起点和终点</a:t>
            </a:r>
            <a:endParaRPr lang="en-US" sz="2000" dirty="0"/>
          </a:p>
        </p:txBody>
      </p:sp>
      <p:sp>
        <p:nvSpPr>
          <p:cNvPr id="21" name="Shape 19"/>
          <p:cNvSpPr/>
          <p:nvPr/>
        </p:nvSpPr>
        <p:spPr>
          <a:xfrm>
            <a:off x="647700" y="4879181"/>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E6B450"/>
          </a:solidFill>
        </p:spPr>
      </p:sp>
      <p:sp>
        <p:nvSpPr>
          <p:cNvPr id="22" name="Text 20"/>
          <p:cNvSpPr/>
          <p:nvPr/>
        </p:nvSpPr>
        <p:spPr>
          <a:xfrm>
            <a:off x="885825" y="4841081"/>
            <a:ext cx="1916642" cy="2286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不经过中间点</a:t>
            </a:r>
            <a:endParaRPr lang="en-US" sz="2000" dirty="0"/>
          </a:p>
        </p:txBody>
      </p:sp>
      <p:sp>
        <p:nvSpPr>
          <p:cNvPr id="23" name="Shape 21"/>
          <p:cNvSpPr/>
          <p:nvPr/>
        </p:nvSpPr>
        <p:spPr>
          <a:xfrm>
            <a:off x="4200525" y="4879181"/>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E6B450"/>
          </a:solidFill>
        </p:spPr>
      </p:sp>
      <p:sp>
        <p:nvSpPr>
          <p:cNvPr id="24" name="Text 22"/>
          <p:cNvSpPr/>
          <p:nvPr/>
        </p:nvSpPr>
        <p:spPr>
          <a:xfrm>
            <a:off x="4438650" y="4841081"/>
            <a:ext cx="1479550" cy="228600"/>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平滑连续曲线</a:t>
            </a:r>
            <a:endParaRPr lang="en-US" sz="2000" dirty="0"/>
          </a:p>
        </p:txBody>
      </p:sp>
      <p:grpSp>
        <p:nvGrpSpPr>
          <p:cNvPr id="42" name="组合 41">
            <a:extLst>
              <a:ext uri="{FF2B5EF4-FFF2-40B4-BE49-F238E27FC236}">
                <a16:creationId xmlns:a16="http://schemas.microsoft.com/office/drawing/2014/main" id="{F7D4E477-70D7-BE55-34A9-334711486BCB}"/>
              </a:ext>
            </a:extLst>
          </p:cNvPr>
          <p:cNvGrpSpPr/>
          <p:nvPr/>
        </p:nvGrpSpPr>
        <p:grpSpPr>
          <a:xfrm>
            <a:off x="0" y="939798"/>
            <a:ext cx="5022850" cy="625474"/>
            <a:chOff x="0" y="1075267"/>
            <a:chExt cx="5022850" cy="625474"/>
          </a:xfrm>
        </p:grpSpPr>
        <p:sp>
          <p:nvSpPr>
            <p:cNvPr id="43" name="矩形 42">
              <a:extLst>
                <a:ext uri="{FF2B5EF4-FFF2-40B4-BE49-F238E27FC236}">
                  <a16:creationId xmlns:a16="http://schemas.microsoft.com/office/drawing/2014/main" id="{5C279C09-7B1E-60A7-80FC-0FB5F25A83DB}"/>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070AD9CA-FF4C-C699-3402-C39FFF996A1E}"/>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7.3.2 </a:t>
              </a:r>
              <a:r>
                <a:rPr lang="zh-CN" altLang="en-US" sz="2400" b="1" dirty="0">
                  <a:solidFill>
                    <a:schemeClr val="accent1"/>
                  </a:solidFill>
                  <a:latin typeface="+mj-lt"/>
                </a:rPr>
                <a:t>路径平滑</a:t>
              </a:r>
            </a:p>
          </p:txBody>
        </p:sp>
      </p:grpSp>
    </p:spTree>
    <p:extLst>
      <p:ext uri="{BB962C8B-B14F-4D97-AF65-F5344CB8AC3E}">
        <p14:creationId xmlns:p14="http://schemas.microsoft.com/office/powerpoint/2010/main" val="3280277853"/>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400050" y="1733550"/>
            <a:ext cx="7448550" cy="1152525"/>
          </a:xfrm>
          <a:custGeom>
            <a:avLst/>
            <a:gdLst/>
            <a:ahLst/>
            <a:cxnLst/>
            <a:rect l="l" t="t" r="r" b="b"/>
            <a:pathLst>
              <a:path w="7448550" h="1152525">
                <a:moveTo>
                  <a:pt x="38100" y="0"/>
                </a:moveTo>
                <a:lnTo>
                  <a:pt x="7334254" y="0"/>
                </a:lnTo>
                <a:cubicBezTo>
                  <a:pt x="7397378" y="0"/>
                  <a:pt x="7448550" y="51172"/>
                  <a:pt x="7448550" y="114296"/>
                </a:cubicBezTo>
                <a:lnTo>
                  <a:pt x="7448550" y="1038229"/>
                </a:lnTo>
                <a:cubicBezTo>
                  <a:pt x="7448550" y="1101353"/>
                  <a:pt x="7397378" y="1152525"/>
                  <a:pt x="7334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5F87A7">
              <a:alpha val="10196"/>
            </a:srgbClr>
          </a:solidFill>
        </p:spPr>
      </p:sp>
      <p:sp>
        <p:nvSpPr>
          <p:cNvPr id="6" name="Shape 4"/>
          <p:cNvSpPr/>
          <p:nvPr/>
        </p:nvSpPr>
        <p:spPr>
          <a:xfrm>
            <a:off x="400050" y="1733550"/>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E6B450"/>
          </a:solidFill>
        </p:spPr>
      </p:sp>
      <p:sp>
        <p:nvSpPr>
          <p:cNvPr id="7" name="Shape 5"/>
          <p:cNvSpPr/>
          <p:nvPr/>
        </p:nvSpPr>
        <p:spPr>
          <a:xfrm>
            <a:off x="676275" y="2000250"/>
            <a:ext cx="228600" cy="228600"/>
          </a:xfrm>
          <a:custGeom>
            <a:avLst/>
            <a:gdLst/>
            <a:ahLst/>
            <a:cxnLst/>
            <a:rect l="l" t="t" r="r" b="b"/>
            <a:pathLst>
              <a:path w="228600" h="228600">
                <a:moveTo>
                  <a:pt x="0" y="32147"/>
                </a:moveTo>
                <a:cubicBezTo>
                  <a:pt x="0" y="26253"/>
                  <a:pt x="4777" y="21431"/>
                  <a:pt x="10716" y="21431"/>
                </a:cubicBezTo>
                <a:lnTo>
                  <a:pt x="32147" y="21431"/>
                </a:lnTo>
                <a:cubicBezTo>
                  <a:pt x="38085" y="21431"/>
                  <a:pt x="42863" y="26209"/>
                  <a:pt x="42863" y="32147"/>
                </a:cubicBezTo>
                <a:lnTo>
                  <a:pt x="42863" y="78581"/>
                </a:lnTo>
                <a:lnTo>
                  <a:pt x="53578" y="78581"/>
                </a:lnTo>
                <a:cubicBezTo>
                  <a:pt x="59516" y="78581"/>
                  <a:pt x="64294" y="83359"/>
                  <a:pt x="64294" y="89297"/>
                </a:cubicBezTo>
                <a:cubicBezTo>
                  <a:pt x="64294" y="95235"/>
                  <a:pt x="59516" y="100013"/>
                  <a:pt x="53578" y="100013"/>
                </a:cubicBezTo>
                <a:lnTo>
                  <a:pt x="10716" y="100013"/>
                </a:lnTo>
                <a:cubicBezTo>
                  <a:pt x="4777" y="100013"/>
                  <a:pt x="0" y="95235"/>
                  <a:pt x="0" y="89297"/>
                </a:cubicBezTo>
                <a:cubicBezTo>
                  <a:pt x="0" y="83359"/>
                  <a:pt x="4777" y="78581"/>
                  <a:pt x="10716" y="78581"/>
                </a:cubicBezTo>
                <a:lnTo>
                  <a:pt x="21431" y="78581"/>
                </a:lnTo>
                <a:lnTo>
                  <a:pt x="21431" y="42863"/>
                </a:lnTo>
                <a:lnTo>
                  <a:pt x="10716" y="42863"/>
                </a:lnTo>
                <a:cubicBezTo>
                  <a:pt x="4777" y="42863"/>
                  <a:pt x="0" y="38085"/>
                  <a:pt x="0" y="32147"/>
                </a:cubicBezTo>
                <a:close/>
                <a:moveTo>
                  <a:pt x="13573" y="134481"/>
                </a:moveTo>
                <a:cubicBezTo>
                  <a:pt x="18663" y="130641"/>
                  <a:pt x="24869" y="128588"/>
                  <a:pt x="31254" y="128588"/>
                </a:cubicBezTo>
                <a:lnTo>
                  <a:pt x="33442" y="128588"/>
                </a:lnTo>
                <a:cubicBezTo>
                  <a:pt x="48488" y="128588"/>
                  <a:pt x="60722" y="140821"/>
                  <a:pt x="60722" y="155868"/>
                </a:cubicBezTo>
                <a:cubicBezTo>
                  <a:pt x="60722" y="164619"/>
                  <a:pt x="56525" y="172789"/>
                  <a:pt x="49470" y="177924"/>
                </a:cubicBezTo>
                <a:lnTo>
                  <a:pt x="38755" y="185738"/>
                </a:lnTo>
                <a:lnTo>
                  <a:pt x="53578" y="185738"/>
                </a:lnTo>
                <a:cubicBezTo>
                  <a:pt x="59516" y="185738"/>
                  <a:pt x="64294" y="190515"/>
                  <a:pt x="64294" y="196453"/>
                </a:cubicBezTo>
                <a:cubicBezTo>
                  <a:pt x="64294" y="202391"/>
                  <a:pt x="59516" y="207169"/>
                  <a:pt x="53578" y="207169"/>
                </a:cubicBezTo>
                <a:lnTo>
                  <a:pt x="13082" y="207169"/>
                </a:lnTo>
                <a:cubicBezTo>
                  <a:pt x="5849" y="207169"/>
                  <a:pt x="0" y="201320"/>
                  <a:pt x="0" y="194087"/>
                </a:cubicBezTo>
                <a:cubicBezTo>
                  <a:pt x="0" y="189890"/>
                  <a:pt x="2009" y="185961"/>
                  <a:pt x="5402" y="183505"/>
                </a:cubicBezTo>
                <a:lnTo>
                  <a:pt x="36880" y="160600"/>
                </a:lnTo>
                <a:cubicBezTo>
                  <a:pt x="38398" y="159484"/>
                  <a:pt x="39291" y="157743"/>
                  <a:pt x="39291" y="155868"/>
                </a:cubicBezTo>
                <a:cubicBezTo>
                  <a:pt x="39291" y="152653"/>
                  <a:pt x="36656" y="150019"/>
                  <a:pt x="33442" y="150019"/>
                </a:cubicBezTo>
                <a:lnTo>
                  <a:pt x="31254" y="150019"/>
                </a:lnTo>
                <a:cubicBezTo>
                  <a:pt x="29513" y="150019"/>
                  <a:pt x="27816" y="150599"/>
                  <a:pt x="26432" y="151626"/>
                </a:cubicBezTo>
                <a:lnTo>
                  <a:pt x="17145" y="158591"/>
                </a:lnTo>
                <a:cubicBezTo>
                  <a:pt x="12412" y="162163"/>
                  <a:pt x="5715" y="161181"/>
                  <a:pt x="2143" y="156448"/>
                </a:cubicBezTo>
                <a:cubicBezTo>
                  <a:pt x="-1429" y="151715"/>
                  <a:pt x="-446" y="145018"/>
                  <a:pt x="4286" y="141446"/>
                </a:cubicBezTo>
                <a:lnTo>
                  <a:pt x="13573" y="134481"/>
                </a:lnTo>
                <a:close/>
                <a:moveTo>
                  <a:pt x="100013" y="28575"/>
                </a:moveTo>
                <a:lnTo>
                  <a:pt x="214313" y="28575"/>
                </a:lnTo>
                <a:cubicBezTo>
                  <a:pt x="222215" y="28575"/>
                  <a:pt x="228600" y="34960"/>
                  <a:pt x="228600" y="42863"/>
                </a:cubicBezTo>
                <a:cubicBezTo>
                  <a:pt x="228600" y="50765"/>
                  <a:pt x="222215" y="57150"/>
                  <a:pt x="214313" y="57150"/>
                </a:cubicBezTo>
                <a:lnTo>
                  <a:pt x="100013" y="57150"/>
                </a:lnTo>
                <a:cubicBezTo>
                  <a:pt x="92110" y="57150"/>
                  <a:pt x="85725" y="50765"/>
                  <a:pt x="85725" y="42863"/>
                </a:cubicBezTo>
                <a:cubicBezTo>
                  <a:pt x="85725" y="34960"/>
                  <a:pt x="92110" y="28575"/>
                  <a:pt x="100013" y="28575"/>
                </a:cubicBezTo>
                <a:close/>
                <a:moveTo>
                  <a:pt x="100013" y="100013"/>
                </a:moveTo>
                <a:lnTo>
                  <a:pt x="214313" y="100013"/>
                </a:lnTo>
                <a:cubicBezTo>
                  <a:pt x="222215" y="100013"/>
                  <a:pt x="228600" y="106397"/>
                  <a:pt x="228600" y="114300"/>
                </a:cubicBezTo>
                <a:cubicBezTo>
                  <a:pt x="228600" y="122203"/>
                  <a:pt x="222215" y="128588"/>
                  <a:pt x="214313" y="128588"/>
                </a:cubicBezTo>
                <a:lnTo>
                  <a:pt x="100013" y="128588"/>
                </a:lnTo>
                <a:cubicBezTo>
                  <a:pt x="92110" y="128588"/>
                  <a:pt x="85725" y="122203"/>
                  <a:pt x="85725" y="114300"/>
                </a:cubicBezTo>
                <a:cubicBezTo>
                  <a:pt x="85725" y="106397"/>
                  <a:pt x="92110" y="100013"/>
                  <a:pt x="100013" y="100013"/>
                </a:cubicBezTo>
                <a:close/>
                <a:moveTo>
                  <a:pt x="100013" y="171450"/>
                </a:moveTo>
                <a:lnTo>
                  <a:pt x="214313" y="171450"/>
                </a:lnTo>
                <a:cubicBezTo>
                  <a:pt x="222215" y="171450"/>
                  <a:pt x="228600" y="177835"/>
                  <a:pt x="228600" y="185738"/>
                </a:cubicBezTo>
                <a:cubicBezTo>
                  <a:pt x="228600" y="193640"/>
                  <a:pt x="222215" y="200025"/>
                  <a:pt x="214313" y="200025"/>
                </a:cubicBezTo>
                <a:lnTo>
                  <a:pt x="100013" y="200025"/>
                </a:lnTo>
                <a:cubicBezTo>
                  <a:pt x="92110" y="200025"/>
                  <a:pt x="85725" y="193640"/>
                  <a:pt x="85725" y="185738"/>
                </a:cubicBezTo>
                <a:cubicBezTo>
                  <a:pt x="85725" y="177835"/>
                  <a:pt x="92110" y="171450"/>
                  <a:pt x="100013" y="171450"/>
                </a:cubicBezTo>
                <a:close/>
              </a:path>
            </a:pathLst>
          </a:custGeom>
          <a:solidFill>
            <a:srgbClr val="E6B450"/>
          </a:solidFill>
        </p:spPr>
      </p:sp>
      <p:sp>
        <p:nvSpPr>
          <p:cNvPr id="8" name="Text 6"/>
          <p:cNvSpPr/>
          <p:nvPr/>
        </p:nvSpPr>
        <p:spPr>
          <a:xfrm>
            <a:off x="1085850" y="1962150"/>
            <a:ext cx="5086350" cy="304800"/>
          </a:xfrm>
          <a:prstGeom prst="rect">
            <a:avLst/>
          </a:prstGeom>
          <a:noFill/>
        </p:spPr>
        <p:txBody>
          <a:bodyPr wrap="square" lIns="0" tIns="0" rIns="0" bIns="0" rtlCol="0" anchor="ctr"/>
          <a:lstStyle/>
          <a:p>
            <a:pPr>
              <a:lnSpc>
                <a:spcPct val="110000"/>
              </a:lnSpc>
            </a:pPr>
            <a:r>
              <a:rPr lang="en-US" sz="1800" b="1" dirty="0">
                <a:latin typeface="微软雅黑" panose="020B0503020204020204" pitchFamily="34" charset="-122"/>
                <a:ea typeface="微软雅黑" panose="020B0503020204020204" pitchFamily="34" charset="-122"/>
                <a:cs typeface="微软雅黑" panose="020B0503020204020204" pitchFamily="34" charset="-122"/>
              </a:rPr>
              <a:t>第一步</a:t>
            </a:r>
            <a:endParaRPr lang="en-US" sz="1600" dirty="0"/>
          </a:p>
        </p:txBody>
      </p:sp>
      <p:sp>
        <p:nvSpPr>
          <p:cNvPr id="9" name="Text 7"/>
          <p:cNvSpPr/>
          <p:nvPr/>
        </p:nvSpPr>
        <p:spPr>
          <a:xfrm>
            <a:off x="1085850" y="2381250"/>
            <a:ext cx="5057775" cy="276225"/>
          </a:xfrm>
          <a:prstGeom prst="rect">
            <a:avLst/>
          </a:prstGeom>
          <a:noFill/>
        </p:spPr>
        <p:txBody>
          <a:bodyPr wrap="square" lIns="0" tIns="0" rIns="0" bIns="0" rtlCol="0" anchor="ctr"/>
          <a:lstStyle/>
          <a:p>
            <a:pPr>
              <a:lnSpc>
                <a:spcPct val="140000"/>
              </a:lnSpc>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在</a:t>
            </a:r>
            <a:r>
              <a:rPr lang="en-US" sz="1600" b="1" dirty="0" err="1">
                <a:latin typeface="微软雅黑" panose="020B0503020204020204" pitchFamily="34" charset="-122"/>
                <a:ea typeface="微软雅黑" panose="020B0503020204020204" pitchFamily="34" charset="-122"/>
                <a:cs typeface="微软雅黑" panose="020B0503020204020204" pitchFamily="34" charset="-122"/>
              </a:rPr>
              <a:t>二维平面内</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选三个不同的点并依次用线段连接</a:t>
            </a:r>
            <a:endParaRPr lang="en-US" sz="2000" dirty="0"/>
          </a:p>
        </p:txBody>
      </p:sp>
      <p:sp>
        <p:nvSpPr>
          <p:cNvPr id="10" name="Shape 8"/>
          <p:cNvSpPr/>
          <p:nvPr/>
        </p:nvSpPr>
        <p:spPr>
          <a:xfrm>
            <a:off x="385763" y="3121819"/>
            <a:ext cx="7458075" cy="2038350"/>
          </a:xfrm>
          <a:custGeom>
            <a:avLst/>
            <a:gdLst/>
            <a:ahLst/>
            <a:cxnLst/>
            <a:rect l="l" t="t" r="r" b="b"/>
            <a:pathLst>
              <a:path w="7458075" h="2038350">
                <a:moveTo>
                  <a:pt x="114290" y="0"/>
                </a:moveTo>
                <a:lnTo>
                  <a:pt x="7343785" y="0"/>
                </a:lnTo>
                <a:cubicBezTo>
                  <a:pt x="7406905" y="0"/>
                  <a:pt x="7458075" y="51170"/>
                  <a:pt x="7458075" y="114290"/>
                </a:cubicBezTo>
                <a:lnTo>
                  <a:pt x="7458075" y="1924060"/>
                </a:lnTo>
                <a:cubicBezTo>
                  <a:pt x="7458075" y="1987180"/>
                  <a:pt x="7406905" y="2038350"/>
                  <a:pt x="7343785" y="2038350"/>
                </a:cubicBezTo>
                <a:lnTo>
                  <a:pt x="114290" y="2038350"/>
                </a:lnTo>
                <a:cubicBezTo>
                  <a:pt x="51170" y="2038350"/>
                  <a:pt x="0" y="1987180"/>
                  <a:pt x="0" y="1924060"/>
                </a:cubicBezTo>
                <a:lnTo>
                  <a:pt x="0" y="114290"/>
                </a:lnTo>
                <a:cubicBezTo>
                  <a:pt x="0" y="51212"/>
                  <a:pt x="51212" y="0"/>
                  <a:pt x="114290" y="0"/>
                </a:cubicBezTo>
                <a:close/>
              </a:path>
            </a:pathLst>
          </a:custGeom>
          <a:solidFill>
            <a:srgbClr val="E6B450">
              <a:alpha val="10196"/>
            </a:srgbClr>
          </a:solidFill>
          <a:ln w="12700">
            <a:solidFill>
              <a:srgbClr val="E6B450">
                <a:alpha val="30196"/>
              </a:srgbClr>
            </a:solidFill>
            <a:prstDash val="solid"/>
          </a:ln>
        </p:spPr>
      </p:sp>
      <p:sp>
        <p:nvSpPr>
          <p:cNvPr id="11" name="Shape 9"/>
          <p:cNvSpPr/>
          <p:nvPr/>
        </p:nvSpPr>
        <p:spPr>
          <a:xfrm>
            <a:off x="642938" y="3393281"/>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83344" y="59531"/>
                </a:moveTo>
                <a:cubicBezTo>
                  <a:pt x="83344" y="52960"/>
                  <a:pt x="88679" y="47625"/>
                  <a:pt x="95250" y="47625"/>
                </a:cubicBezTo>
                <a:cubicBezTo>
                  <a:pt x="101821" y="47625"/>
                  <a:pt x="107156" y="52960"/>
                  <a:pt x="107156" y="59531"/>
                </a:cubicBezTo>
                <a:cubicBezTo>
                  <a:pt x="107156" y="66102"/>
                  <a:pt x="101821" y="71438"/>
                  <a:pt x="95250" y="71438"/>
                </a:cubicBezTo>
                <a:cubicBezTo>
                  <a:pt x="88679" y="71438"/>
                  <a:pt x="83344" y="66102"/>
                  <a:pt x="83344" y="59531"/>
                </a:cubicBezTo>
                <a:close/>
                <a:moveTo>
                  <a:pt x="80367" y="83344"/>
                </a:moveTo>
                <a:lnTo>
                  <a:pt x="98227" y="83344"/>
                </a:lnTo>
                <a:cubicBezTo>
                  <a:pt x="103175" y="83344"/>
                  <a:pt x="107156" y="87325"/>
                  <a:pt x="107156" y="92273"/>
                </a:cubicBezTo>
                <a:lnTo>
                  <a:pt x="107156" y="125016"/>
                </a:lnTo>
                <a:lnTo>
                  <a:pt x="110133" y="125016"/>
                </a:lnTo>
                <a:cubicBezTo>
                  <a:pt x="115081" y="125016"/>
                  <a:pt x="119063" y="128997"/>
                  <a:pt x="119063" y="133945"/>
                </a:cubicBezTo>
                <a:cubicBezTo>
                  <a:pt x="119063" y="138894"/>
                  <a:pt x="115081" y="142875"/>
                  <a:pt x="110133" y="142875"/>
                </a:cubicBezTo>
                <a:lnTo>
                  <a:pt x="80367" y="142875"/>
                </a:lnTo>
                <a:cubicBezTo>
                  <a:pt x="75419" y="142875"/>
                  <a:pt x="71438" y="138894"/>
                  <a:pt x="71438" y="133945"/>
                </a:cubicBezTo>
                <a:cubicBezTo>
                  <a:pt x="71438" y="128997"/>
                  <a:pt x="75419" y="125016"/>
                  <a:pt x="80367" y="125016"/>
                </a:cubicBezTo>
                <a:lnTo>
                  <a:pt x="89297" y="125016"/>
                </a:lnTo>
                <a:lnTo>
                  <a:pt x="89297" y="101203"/>
                </a:lnTo>
                <a:lnTo>
                  <a:pt x="80367" y="101203"/>
                </a:lnTo>
                <a:cubicBezTo>
                  <a:pt x="75419" y="101203"/>
                  <a:pt x="71438" y="97222"/>
                  <a:pt x="71438" y="92273"/>
                </a:cubicBezTo>
                <a:cubicBezTo>
                  <a:pt x="71438" y="87325"/>
                  <a:pt x="75419" y="83344"/>
                  <a:pt x="80367" y="83344"/>
                </a:cubicBezTo>
                <a:close/>
              </a:path>
            </a:pathLst>
          </a:custGeom>
          <a:solidFill>
            <a:srgbClr val="E6B450"/>
          </a:solidFill>
        </p:spPr>
      </p:sp>
      <p:sp>
        <p:nvSpPr>
          <p:cNvPr id="12" name="Text 10"/>
          <p:cNvSpPr/>
          <p:nvPr/>
        </p:nvSpPr>
        <p:spPr>
          <a:xfrm>
            <a:off x="971550" y="3355181"/>
            <a:ext cx="857250" cy="266700"/>
          </a:xfrm>
          <a:prstGeom prst="rect">
            <a:avLst/>
          </a:prstGeom>
          <a:noFill/>
        </p:spPr>
        <p:txBody>
          <a:bodyPr wrap="square" lIns="0" tIns="0" rIns="0" bIns="0" rtlCol="0" anchor="ctr"/>
          <a:lstStyle/>
          <a:p>
            <a:pPr>
              <a:lnSpc>
                <a:spcPct val="120000"/>
              </a:lnSpc>
            </a:pPr>
            <a:r>
              <a:rPr lang="en-US" sz="1500" b="1" dirty="0">
                <a:latin typeface="微软雅黑" panose="020B0503020204020204" pitchFamily="34" charset="-122"/>
                <a:ea typeface="微软雅黑" panose="020B0503020204020204" pitchFamily="34" charset="-122"/>
                <a:cs typeface="微软雅黑" panose="020B0503020204020204" pitchFamily="34" charset="-122"/>
              </a:rPr>
              <a:t>构建基础</a:t>
            </a:r>
            <a:endParaRPr lang="en-US" sz="1600" dirty="0"/>
          </a:p>
        </p:txBody>
      </p:sp>
      <p:sp>
        <p:nvSpPr>
          <p:cNvPr id="13" name="Text 11"/>
          <p:cNvSpPr/>
          <p:nvPr/>
        </p:nvSpPr>
        <p:spPr>
          <a:xfrm>
            <a:off x="619125" y="3774281"/>
            <a:ext cx="7077075" cy="276225"/>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选择三个不同的点P</a:t>
            </a:r>
            <a:r>
              <a:rPr lang="en-US" sz="1100" dirty="0">
                <a:latin typeface="微软雅黑" panose="020B0503020204020204" pitchFamily="34" charset="-122"/>
                <a:ea typeface="微软雅黑" panose="020B0503020204020204" pitchFamily="34" charset="-122"/>
                <a:cs typeface="微软雅黑" panose="020B0503020204020204" pitchFamily="34" charset="-122"/>
              </a:rPr>
              <a:t>0</a:t>
            </a:r>
            <a:r>
              <a:rPr lang="en-US" sz="1600" dirty="0">
                <a:latin typeface="微软雅黑" panose="020B0503020204020204" pitchFamily="34" charset="-122"/>
                <a:ea typeface="微软雅黑" panose="020B0503020204020204" pitchFamily="34" charset="-122"/>
                <a:cs typeface="微软雅黑" panose="020B0503020204020204" pitchFamily="34" charset="-122"/>
              </a:rPr>
              <a:t>、P</a:t>
            </a:r>
            <a:r>
              <a:rPr lang="en-US" sz="1100" dirty="0">
                <a:latin typeface="微软雅黑" panose="020B0503020204020204" pitchFamily="34" charset="-122"/>
                <a:ea typeface="微软雅黑" panose="020B0503020204020204" pitchFamily="34" charset="-122"/>
                <a:cs typeface="微软雅黑" panose="020B0503020204020204" pitchFamily="34" charset="-122"/>
              </a:rPr>
              <a:t>1</a:t>
            </a:r>
            <a:r>
              <a:rPr lang="en-US" sz="1600" dirty="0">
                <a:latin typeface="微软雅黑" panose="020B0503020204020204" pitchFamily="34" charset="-122"/>
                <a:ea typeface="微软雅黑" panose="020B0503020204020204" pitchFamily="34" charset="-122"/>
                <a:cs typeface="微软雅黑" panose="020B0503020204020204" pitchFamily="34" charset="-122"/>
              </a:rPr>
              <a:t>、P</a:t>
            </a:r>
            <a:r>
              <a:rPr lang="en-US" sz="1100" dirty="0">
                <a:latin typeface="微软雅黑" panose="020B0503020204020204" pitchFamily="34" charset="-122"/>
                <a:ea typeface="微软雅黑" panose="020B0503020204020204" pitchFamily="34" charset="-122"/>
                <a:cs typeface="微软雅黑" panose="020B0503020204020204" pitchFamily="34" charset="-122"/>
              </a:rPr>
              <a:t>2</a:t>
            </a:r>
            <a:r>
              <a:rPr lang="en-US" sz="1600" dirty="0">
                <a:latin typeface="微软雅黑" panose="020B0503020204020204" pitchFamily="34" charset="-122"/>
                <a:ea typeface="微软雅黑" panose="020B0503020204020204" pitchFamily="34" charset="-122"/>
                <a:cs typeface="微软雅黑" panose="020B0503020204020204" pitchFamily="34" charset="-122"/>
              </a:rPr>
              <a:t>，这是构建二阶贝塞尔曲线的基础。</a:t>
            </a:r>
            <a:endParaRPr lang="en-US" sz="2000" dirty="0"/>
          </a:p>
        </p:txBody>
      </p:sp>
      <p:sp>
        <p:nvSpPr>
          <p:cNvPr id="14" name="Shape 12"/>
          <p:cNvSpPr/>
          <p:nvPr/>
        </p:nvSpPr>
        <p:spPr>
          <a:xfrm>
            <a:off x="619125" y="4205288"/>
            <a:ext cx="2257425" cy="723900"/>
          </a:xfrm>
          <a:custGeom>
            <a:avLst/>
            <a:gdLst/>
            <a:ahLst/>
            <a:cxnLst/>
            <a:rect l="l" t="t" r="r" b="b"/>
            <a:pathLst>
              <a:path w="2257425" h="723900">
                <a:moveTo>
                  <a:pt x="76198" y="0"/>
                </a:moveTo>
                <a:lnTo>
                  <a:pt x="2181227" y="0"/>
                </a:lnTo>
                <a:cubicBezTo>
                  <a:pt x="2223282" y="0"/>
                  <a:pt x="2257425" y="34143"/>
                  <a:pt x="2257425" y="76198"/>
                </a:cubicBezTo>
                <a:lnTo>
                  <a:pt x="2257425" y="647702"/>
                </a:lnTo>
                <a:cubicBezTo>
                  <a:pt x="2257425" y="689757"/>
                  <a:pt x="2223282" y="723900"/>
                  <a:pt x="2181227" y="723900"/>
                </a:cubicBezTo>
                <a:lnTo>
                  <a:pt x="76198" y="723900"/>
                </a:lnTo>
                <a:cubicBezTo>
                  <a:pt x="34143" y="723900"/>
                  <a:pt x="0" y="689757"/>
                  <a:pt x="0" y="647702"/>
                </a:cubicBezTo>
                <a:lnTo>
                  <a:pt x="0" y="76198"/>
                </a:lnTo>
                <a:cubicBezTo>
                  <a:pt x="0" y="34143"/>
                  <a:pt x="34143" y="0"/>
                  <a:pt x="76198" y="0"/>
                </a:cubicBezTo>
                <a:close/>
              </a:path>
            </a:pathLst>
          </a:custGeom>
          <a:solidFill>
            <a:srgbClr val="5F87A7">
              <a:alpha val="20000"/>
            </a:srgbClr>
          </a:solidFill>
        </p:spPr>
      </p:sp>
      <p:sp>
        <p:nvSpPr>
          <p:cNvPr id="15" name="Text 13"/>
          <p:cNvSpPr/>
          <p:nvPr/>
        </p:nvSpPr>
        <p:spPr>
          <a:xfrm>
            <a:off x="690563" y="4319588"/>
            <a:ext cx="2114550" cy="266700"/>
          </a:xfrm>
          <a:prstGeom prst="rect">
            <a:avLst/>
          </a:prstGeom>
          <a:noFill/>
        </p:spPr>
        <p:txBody>
          <a:bodyPr wrap="square" lIns="0" tIns="0" rIns="0" bIns="0" rtlCol="0" anchor="ctr"/>
          <a:lstStyle/>
          <a:p>
            <a:pPr algn="ct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P</a:t>
            </a:r>
            <a:r>
              <a:rPr lang="en-US" sz="1100" b="1" dirty="0">
                <a:latin typeface="微软雅黑" panose="020B0503020204020204" pitchFamily="34" charset="-122"/>
                <a:ea typeface="微软雅黑" panose="020B0503020204020204" pitchFamily="34" charset="-122"/>
                <a:cs typeface="微软雅黑" panose="020B0503020204020204" pitchFamily="34" charset="-122"/>
              </a:rPr>
              <a:t>0</a:t>
            </a:r>
            <a:endParaRPr lang="en-US" sz="2000" dirty="0"/>
          </a:p>
        </p:txBody>
      </p:sp>
      <p:sp>
        <p:nvSpPr>
          <p:cNvPr id="16" name="Text 14"/>
          <p:cNvSpPr/>
          <p:nvPr/>
        </p:nvSpPr>
        <p:spPr>
          <a:xfrm>
            <a:off x="700088" y="4624388"/>
            <a:ext cx="2095500" cy="190500"/>
          </a:xfrm>
          <a:prstGeom prst="rect">
            <a:avLst/>
          </a:prstGeom>
          <a:noFill/>
        </p:spPr>
        <p:txBody>
          <a:bodyPr wrap="square" lIns="0" tIns="0" rIns="0" bIns="0" rtlCol="0" anchor="ctr"/>
          <a:lstStyle/>
          <a:p>
            <a:pPr algn="ctr">
              <a:lnSpc>
                <a:spcPct val="12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起点</a:t>
            </a:r>
            <a:endParaRPr lang="en-US" sz="2800" dirty="0"/>
          </a:p>
        </p:txBody>
      </p:sp>
      <p:sp>
        <p:nvSpPr>
          <p:cNvPr id="17" name="Shape 15"/>
          <p:cNvSpPr/>
          <p:nvPr/>
        </p:nvSpPr>
        <p:spPr>
          <a:xfrm>
            <a:off x="2987576" y="4205288"/>
            <a:ext cx="2257425" cy="723900"/>
          </a:xfrm>
          <a:custGeom>
            <a:avLst/>
            <a:gdLst/>
            <a:ahLst/>
            <a:cxnLst/>
            <a:rect l="l" t="t" r="r" b="b"/>
            <a:pathLst>
              <a:path w="2257425" h="723900">
                <a:moveTo>
                  <a:pt x="76198" y="0"/>
                </a:moveTo>
                <a:lnTo>
                  <a:pt x="2181227" y="0"/>
                </a:lnTo>
                <a:cubicBezTo>
                  <a:pt x="2223282" y="0"/>
                  <a:pt x="2257425" y="34143"/>
                  <a:pt x="2257425" y="76198"/>
                </a:cubicBezTo>
                <a:lnTo>
                  <a:pt x="2257425" y="647702"/>
                </a:lnTo>
                <a:cubicBezTo>
                  <a:pt x="2257425" y="689757"/>
                  <a:pt x="2223282" y="723900"/>
                  <a:pt x="2181227" y="723900"/>
                </a:cubicBezTo>
                <a:lnTo>
                  <a:pt x="76198" y="723900"/>
                </a:lnTo>
                <a:cubicBezTo>
                  <a:pt x="34143" y="723900"/>
                  <a:pt x="0" y="689757"/>
                  <a:pt x="0" y="647702"/>
                </a:cubicBezTo>
                <a:lnTo>
                  <a:pt x="0" y="76198"/>
                </a:lnTo>
                <a:cubicBezTo>
                  <a:pt x="0" y="34143"/>
                  <a:pt x="34143" y="0"/>
                  <a:pt x="76198" y="0"/>
                </a:cubicBezTo>
                <a:close/>
              </a:path>
            </a:pathLst>
          </a:custGeom>
          <a:solidFill>
            <a:srgbClr val="5F87A7">
              <a:alpha val="20000"/>
            </a:srgbClr>
          </a:solidFill>
        </p:spPr>
      </p:sp>
      <p:sp>
        <p:nvSpPr>
          <p:cNvPr id="18" name="Text 16"/>
          <p:cNvSpPr/>
          <p:nvPr/>
        </p:nvSpPr>
        <p:spPr>
          <a:xfrm>
            <a:off x="3059013" y="4319588"/>
            <a:ext cx="2114550" cy="266700"/>
          </a:xfrm>
          <a:prstGeom prst="rect">
            <a:avLst/>
          </a:prstGeom>
          <a:noFill/>
        </p:spPr>
        <p:txBody>
          <a:bodyPr wrap="square" lIns="0" tIns="0" rIns="0" bIns="0" rtlCol="0" anchor="ctr"/>
          <a:lstStyle/>
          <a:p>
            <a:pPr algn="ct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P</a:t>
            </a:r>
            <a:r>
              <a:rPr lang="en-US" sz="1100" b="1" dirty="0">
                <a:latin typeface="微软雅黑" panose="020B0503020204020204" pitchFamily="34" charset="-122"/>
                <a:ea typeface="微软雅黑" panose="020B0503020204020204" pitchFamily="34" charset="-122"/>
                <a:cs typeface="微软雅黑" panose="020B0503020204020204" pitchFamily="34" charset="-122"/>
              </a:rPr>
              <a:t>1</a:t>
            </a:r>
            <a:endParaRPr lang="en-US" sz="2000" dirty="0"/>
          </a:p>
        </p:txBody>
      </p:sp>
      <p:sp>
        <p:nvSpPr>
          <p:cNvPr id="19" name="Text 17"/>
          <p:cNvSpPr/>
          <p:nvPr/>
        </p:nvSpPr>
        <p:spPr>
          <a:xfrm>
            <a:off x="3068538" y="4624388"/>
            <a:ext cx="2095500" cy="190500"/>
          </a:xfrm>
          <a:prstGeom prst="rect">
            <a:avLst/>
          </a:prstGeom>
          <a:noFill/>
        </p:spPr>
        <p:txBody>
          <a:bodyPr wrap="square" lIns="0" tIns="0" rIns="0" bIns="0" rtlCol="0" anchor="ctr"/>
          <a:lstStyle/>
          <a:p>
            <a:pPr algn="ctr">
              <a:lnSpc>
                <a:spcPct val="12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控制点</a:t>
            </a:r>
            <a:endParaRPr lang="en-US" sz="2800" dirty="0"/>
          </a:p>
        </p:txBody>
      </p:sp>
      <p:sp>
        <p:nvSpPr>
          <p:cNvPr id="20" name="Shape 18"/>
          <p:cNvSpPr/>
          <p:nvPr/>
        </p:nvSpPr>
        <p:spPr>
          <a:xfrm>
            <a:off x="5356175" y="4205288"/>
            <a:ext cx="2257425" cy="723900"/>
          </a:xfrm>
          <a:custGeom>
            <a:avLst/>
            <a:gdLst/>
            <a:ahLst/>
            <a:cxnLst/>
            <a:rect l="l" t="t" r="r" b="b"/>
            <a:pathLst>
              <a:path w="2257425" h="723900">
                <a:moveTo>
                  <a:pt x="76198" y="0"/>
                </a:moveTo>
                <a:lnTo>
                  <a:pt x="2181227" y="0"/>
                </a:lnTo>
                <a:cubicBezTo>
                  <a:pt x="2223282" y="0"/>
                  <a:pt x="2257425" y="34143"/>
                  <a:pt x="2257425" y="76198"/>
                </a:cubicBezTo>
                <a:lnTo>
                  <a:pt x="2257425" y="647702"/>
                </a:lnTo>
                <a:cubicBezTo>
                  <a:pt x="2257425" y="689757"/>
                  <a:pt x="2223282" y="723900"/>
                  <a:pt x="2181227" y="723900"/>
                </a:cubicBezTo>
                <a:lnTo>
                  <a:pt x="76198" y="723900"/>
                </a:lnTo>
                <a:cubicBezTo>
                  <a:pt x="34143" y="723900"/>
                  <a:pt x="0" y="689757"/>
                  <a:pt x="0" y="647702"/>
                </a:cubicBezTo>
                <a:lnTo>
                  <a:pt x="0" y="76198"/>
                </a:lnTo>
                <a:cubicBezTo>
                  <a:pt x="0" y="34143"/>
                  <a:pt x="34143" y="0"/>
                  <a:pt x="76198" y="0"/>
                </a:cubicBezTo>
                <a:close/>
              </a:path>
            </a:pathLst>
          </a:custGeom>
          <a:solidFill>
            <a:srgbClr val="5F87A7">
              <a:alpha val="20000"/>
            </a:srgbClr>
          </a:solidFill>
        </p:spPr>
      </p:sp>
      <p:sp>
        <p:nvSpPr>
          <p:cNvPr id="21" name="Text 19"/>
          <p:cNvSpPr/>
          <p:nvPr/>
        </p:nvSpPr>
        <p:spPr>
          <a:xfrm>
            <a:off x="5427613" y="4319588"/>
            <a:ext cx="2114550" cy="266700"/>
          </a:xfrm>
          <a:prstGeom prst="rect">
            <a:avLst/>
          </a:prstGeom>
          <a:noFill/>
        </p:spPr>
        <p:txBody>
          <a:bodyPr wrap="square" lIns="0" tIns="0" rIns="0" bIns="0" rtlCol="0" anchor="ctr"/>
          <a:lstStyle/>
          <a:p>
            <a:pPr algn="ct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P</a:t>
            </a:r>
            <a:r>
              <a:rPr lang="en-US" sz="1100" b="1" dirty="0">
                <a:latin typeface="微软雅黑" panose="020B0503020204020204" pitchFamily="34" charset="-122"/>
                <a:ea typeface="微软雅黑" panose="020B0503020204020204" pitchFamily="34" charset="-122"/>
                <a:cs typeface="微软雅黑" panose="020B0503020204020204" pitchFamily="34" charset="-122"/>
              </a:rPr>
              <a:t>2</a:t>
            </a:r>
            <a:endParaRPr lang="en-US" sz="2000" dirty="0"/>
          </a:p>
        </p:txBody>
      </p:sp>
      <p:sp>
        <p:nvSpPr>
          <p:cNvPr id="22" name="Text 20"/>
          <p:cNvSpPr/>
          <p:nvPr/>
        </p:nvSpPr>
        <p:spPr>
          <a:xfrm>
            <a:off x="5437138" y="4624388"/>
            <a:ext cx="2095500" cy="190500"/>
          </a:xfrm>
          <a:prstGeom prst="rect">
            <a:avLst/>
          </a:prstGeom>
          <a:noFill/>
        </p:spPr>
        <p:txBody>
          <a:bodyPr wrap="square" lIns="0" tIns="0" rIns="0" bIns="0" rtlCol="0" anchor="ctr"/>
          <a:lstStyle/>
          <a:p>
            <a:pPr algn="ctr">
              <a:lnSpc>
                <a:spcPct val="12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终点</a:t>
            </a:r>
            <a:endParaRPr lang="en-US" sz="2800" dirty="0"/>
          </a:p>
        </p:txBody>
      </p:sp>
      <p:sp>
        <p:nvSpPr>
          <p:cNvPr id="23" name="Shape 21"/>
          <p:cNvSpPr/>
          <p:nvPr/>
        </p:nvSpPr>
        <p:spPr>
          <a:xfrm>
            <a:off x="8158163" y="1738313"/>
            <a:ext cx="3648075" cy="4124325"/>
          </a:xfrm>
          <a:custGeom>
            <a:avLst/>
            <a:gdLst/>
            <a:ahLst/>
            <a:cxnLst/>
            <a:rect l="l" t="t" r="r" b="b"/>
            <a:pathLst>
              <a:path w="3648075" h="4124325">
                <a:moveTo>
                  <a:pt x="114294" y="0"/>
                </a:moveTo>
                <a:lnTo>
                  <a:pt x="3533781" y="0"/>
                </a:lnTo>
                <a:cubicBezTo>
                  <a:pt x="3596904" y="0"/>
                  <a:pt x="3648075" y="51171"/>
                  <a:pt x="3648075" y="114294"/>
                </a:cubicBezTo>
                <a:lnTo>
                  <a:pt x="3648075" y="4010031"/>
                </a:lnTo>
                <a:cubicBezTo>
                  <a:pt x="3648075" y="4073154"/>
                  <a:pt x="3596904" y="4124325"/>
                  <a:pt x="3533781" y="4124325"/>
                </a:cubicBezTo>
                <a:lnTo>
                  <a:pt x="114294" y="4124325"/>
                </a:lnTo>
                <a:cubicBezTo>
                  <a:pt x="51171" y="4124325"/>
                  <a:pt x="0" y="4073154"/>
                  <a:pt x="0" y="4010031"/>
                </a:cubicBezTo>
                <a:lnTo>
                  <a:pt x="0" y="114294"/>
                </a:lnTo>
                <a:cubicBezTo>
                  <a:pt x="0" y="51214"/>
                  <a:pt x="51214" y="0"/>
                  <a:pt x="114294" y="0"/>
                </a:cubicBezTo>
                <a:close/>
              </a:path>
            </a:pathLst>
          </a:custGeom>
          <a:solidFill>
            <a:srgbClr val="E6B450">
              <a:alpha val="10196"/>
            </a:srgbClr>
          </a:solidFill>
          <a:ln w="12700">
            <a:solidFill>
              <a:srgbClr val="E6B450">
                <a:alpha val="30196"/>
              </a:srgbClr>
            </a:solidFill>
            <a:prstDash val="solid"/>
          </a:ln>
        </p:spPr>
      </p:sp>
      <p:sp>
        <p:nvSpPr>
          <p:cNvPr id="24" name="Shape 22"/>
          <p:cNvSpPr/>
          <p:nvPr/>
        </p:nvSpPr>
        <p:spPr>
          <a:xfrm>
            <a:off x="8415338" y="2009775"/>
            <a:ext cx="190500" cy="190500"/>
          </a:xfrm>
          <a:custGeom>
            <a:avLst/>
            <a:gdLst/>
            <a:ahLst/>
            <a:cxnLst/>
            <a:rect l="l" t="t" r="r" b="b"/>
            <a:pathLst>
              <a:path w="190500" h="190500">
                <a:moveTo>
                  <a:pt x="0" y="29766"/>
                </a:moveTo>
                <a:cubicBezTo>
                  <a:pt x="0" y="19906"/>
                  <a:pt x="8000" y="11906"/>
                  <a:pt x="17859" y="11906"/>
                </a:cubicBezTo>
                <a:lnTo>
                  <a:pt x="53578" y="11906"/>
                </a:lnTo>
                <a:cubicBezTo>
                  <a:pt x="63438" y="11906"/>
                  <a:pt x="71438" y="19906"/>
                  <a:pt x="71438" y="29766"/>
                </a:cubicBezTo>
                <a:lnTo>
                  <a:pt x="71438" y="35719"/>
                </a:lnTo>
                <a:lnTo>
                  <a:pt x="119063" y="35719"/>
                </a:lnTo>
                <a:lnTo>
                  <a:pt x="119063" y="29766"/>
                </a:lnTo>
                <a:cubicBezTo>
                  <a:pt x="119063" y="19906"/>
                  <a:pt x="127062" y="11906"/>
                  <a:pt x="136922" y="11906"/>
                </a:cubicBezTo>
                <a:lnTo>
                  <a:pt x="172641" y="11906"/>
                </a:lnTo>
                <a:cubicBezTo>
                  <a:pt x="182500" y="11906"/>
                  <a:pt x="190500" y="19906"/>
                  <a:pt x="190500" y="29766"/>
                </a:cubicBezTo>
                <a:lnTo>
                  <a:pt x="190500" y="65484"/>
                </a:lnTo>
                <a:cubicBezTo>
                  <a:pt x="190500" y="75344"/>
                  <a:pt x="182500" y="83344"/>
                  <a:pt x="172641" y="83344"/>
                </a:cubicBezTo>
                <a:lnTo>
                  <a:pt x="136922" y="83344"/>
                </a:lnTo>
                <a:cubicBezTo>
                  <a:pt x="127062" y="83344"/>
                  <a:pt x="119063" y="75344"/>
                  <a:pt x="119063" y="65484"/>
                </a:cubicBezTo>
                <a:lnTo>
                  <a:pt x="119063" y="59531"/>
                </a:lnTo>
                <a:lnTo>
                  <a:pt x="71438" y="59531"/>
                </a:lnTo>
                <a:lnTo>
                  <a:pt x="71438" y="65484"/>
                </a:lnTo>
                <a:cubicBezTo>
                  <a:pt x="71438" y="68200"/>
                  <a:pt x="70805" y="70805"/>
                  <a:pt x="69726" y="73112"/>
                </a:cubicBezTo>
                <a:lnTo>
                  <a:pt x="95250" y="107156"/>
                </a:lnTo>
                <a:lnTo>
                  <a:pt x="125016" y="107156"/>
                </a:lnTo>
                <a:cubicBezTo>
                  <a:pt x="134875" y="107156"/>
                  <a:pt x="142875" y="115156"/>
                  <a:pt x="142875" y="125016"/>
                </a:cubicBezTo>
                <a:lnTo>
                  <a:pt x="142875" y="160734"/>
                </a:lnTo>
                <a:cubicBezTo>
                  <a:pt x="142875" y="170594"/>
                  <a:pt x="134875" y="178594"/>
                  <a:pt x="125016" y="178594"/>
                </a:cubicBezTo>
                <a:lnTo>
                  <a:pt x="89297" y="178594"/>
                </a:lnTo>
                <a:cubicBezTo>
                  <a:pt x="79437" y="178594"/>
                  <a:pt x="71438" y="170594"/>
                  <a:pt x="71438" y="160734"/>
                </a:cubicBezTo>
                <a:lnTo>
                  <a:pt x="71438" y="125016"/>
                </a:lnTo>
                <a:cubicBezTo>
                  <a:pt x="71438" y="122300"/>
                  <a:pt x="72070" y="119695"/>
                  <a:pt x="73149" y="117388"/>
                </a:cubicBezTo>
                <a:lnTo>
                  <a:pt x="47625" y="83344"/>
                </a:lnTo>
                <a:lnTo>
                  <a:pt x="17859" y="83344"/>
                </a:lnTo>
                <a:cubicBezTo>
                  <a:pt x="8000" y="83344"/>
                  <a:pt x="0" y="75344"/>
                  <a:pt x="0" y="65484"/>
                </a:cubicBezTo>
                <a:lnTo>
                  <a:pt x="0" y="29766"/>
                </a:lnTo>
                <a:close/>
              </a:path>
            </a:pathLst>
          </a:custGeom>
          <a:solidFill>
            <a:srgbClr val="E6B450"/>
          </a:solidFill>
        </p:spPr>
      </p:sp>
      <p:sp>
        <p:nvSpPr>
          <p:cNvPr id="25" name="Text 23"/>
          <p:cNvSpPr/>
          <p:nvPr/>
        </p:nvSpPr>
        <p:spPr>
          <a:xfrm>
            <a:off x="8629650" y="1971675"/>
            <a:ext cx="3038475" cy="266700"/>
          </a:xfrm>
          <a:prstGeom prst="rect">
            <a:avLst/>
          </a:prstGeom>
          <a:noFill/>
        </p:spPr>
        <p:txBody>
          <a:bodyPr wrap="square" lIns="0" tIns="0" rIns="0" bIns="0" rtlCol="0" anchor="ctr"/>
          <a:lstStyle/>
          <a:p>
            <a:pPr>
              <a:lnSpc>
                <a:spcPct val="12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Step 1 示意</a:t>
            </a:r>
            <a:endParaRPr lang="en-US" sz="1600" dirty="0"/>
          </a:p>
        </p:txBody>
      </p:sp>
      <p:sp>
        <p:nvSpPr>
          <p:cNvPr id="36" name="Shape 33"/>
          <p:cNvSpPr/>
          <p:nvPr/>
        </p:nvSpPr>
        <p:spPr>
          <a:xfrm>
            <a:off x="8391525" y="5095875"/>
            <a:ext cx="3181350" cy="533400"/>
          </a:xfrm>
          <a:custGeom>
            <a:avLst/>
            <a:gdLst/>
            <a:ahLst/>
            <a:cxnLst/>
            <a:rect l="l" t="t" r="r" b="b"/>
            <a:pathLst>
              <a:path w="3181350" h="533400">
                <a:moveTo>
                  <a:pt x="76202" y="0"/>
                </a:moveTo>
                <a:lnTo>
                  <a:pt x="3105148" y="0"/>
                </a:lnTo>
                <a:cubicBezTo>
                  <a:pt x="3147233" y="0"/>
                  <a:pt x="3181350" y="34117"/>
                  <a:pt x="3181350" y="76202"/>
                </a:cubicBezTo>
                <a:lnTo>
                  <a:pt x="3181350" y="457198"/>
                </a:lnTo>
                <a:cubicBezTo>
                  <a:pt x="3181350" y="499283"/>
                  <a:pt x="3147233" y="533400"/>
                  <a:pt x="3105148" y="533400"/>
                </a:cubicBezTo>
                <a:lnTo>
                  <a:pt x="76202" y="533400"/>
                </a:lnTo>
                <a:cubicBezTo>
                  <a:pt x="34117" y="533400"/>
                  <a:pt x="0" y="499283"/>
                  <a:pt x="0" y="457198"/>
                </a:cubicBezTo>
                <a:lnTo>
                  <a:pt x="0" y="76202"/>
                </a:lnTo>
                <a:cubicBezTo>
                  <a:pt x="0" y="34145"/>
                  <a:pt x="34145" y="0"/>
                  <a:pt x="76202" y="0"/>
                </a:cubicBezTo>
                <a:close/>
              </a:path>
            </a:pathLst>
          </a:custGeom>
          <a:solidFill>
            <a:srgbClr val="5F87A7">
              <a:alpha val="20000"/>
            </a:srgbClr>
          </a:solidFill>
        </p:spPr>
      </p:sp>
      <p:sp>
        <p:nvSpPr>
          <p:cNvPr id="37" name="Shape 34"/>
          <p:cNvSpPr/>
          <p:nvPr/>
        </p:nvSpPr>
        <p:spPr>
          <a:xfrm>
            <a:off x="8758291" y="528637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E6B450"/>
          </a:solidFill>
        </p:spPr>
      </p:sp>
      <p:sp>
        <p:nvSpPr>
          <p:cNvPr id="38" name="Text 35"/>
          <p:cNvSpPr/>
          <p:nvPr/>
        </p:nvSpPr>
        <p:spPr>
          <a:xfrm>
            <a:off x="8753475" y="5248275"/>
            <a:ext cx="2705100" cy="228600"/>
          </a:xfrm>
          <a:prstGeom prst="rect">
            <a:avLst/>
          </a:prstGeom>
          <a:noFill/>
        </p:spPr>
        <p:txBody>
          <a:bodyPr wrap="square" lIns="0" tIns="0" rIns="0" bIns="0" rtlCol="0" anchor="ctr"/>
          <a:lstStyle/>
          <a:p>
            <a:pPr algn="ct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选择三个点并用线段连接</a:t>
            </a:r>
            <a:endParaRPr lang="en-US" sz="1600" dirty="0"/>
          </a:p>
        </p:txBody>
      </p:sp>
      <p:grpSp>
        <p:nvGrpSpPr>
          <p:cNvPr id="39" name="组合 38">
            <a:extLst>
              <a:ext uri="{FF2B5EF4-FFF2-40B4-BE49-F238E27FC236}">
                <a16:creationId xmlns:a16="http://schemas.microsoft.com/office/drawing/2014/main" id="{DFFECE7C-0B2E-6440-3740-2556BC5A9597}"/>
              </a:ext>
            </a:extLst>
          </p:cNvPr>
          <p:cNvGrpSpPr/>
          <p:nvPr/>
        </p:nvGrpSpPr>
        <p:grpSpPr>
          <a:xfrm>
            <a:off x="0" y="939798"/>
            <a:ext cx="5022850" cy="625474"/>
            <a:chOff x="0" y="1075267"/>
            <a:chExt cx="5022850" cy="625474"/>
          </a:xfrm>
        </p:grpSpPr>
        <p:sp>
          <p:nvSpPr>
            <p:cNvPr id="40" name="矩形 39">
              <a:extLst>
                <a:ext uri="{FF2B5EF4-FFF2-40B4-BE49-F238E27FC236}">
                  <a16:creationId xmlns:a16="http://schemas.microsoft.com/office/drawing/2014/main" id="{29637FA9-9FBF-512F-9A44-ACCA3C29CBD4}"/>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1AF32AD6-64E8-2AE3-C87D-FD2A3B899BD7}"/>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7.3.2 </a:t>
              </a:r>
              <a:r>
                <a:rPr lang="zh-CN" altLang="en-US" sz="2400" b="1" dirty="0">
                  <a:solidFill>
                    <a:schemeClr val="accent1"/>
                  </a:solidFill>
                  <a:latin typeface="+mj-lt"/>
                </a:rPr>
                <a:t>路径平滑</a:t>
              </a:r>
            </a:p>
          </p:txBody>
        </p:sp>
      </p:grpSp>
      <p:pic>
        <p:nvPicPr>
          <p:cNvPr id="42" name="图片 41" descr="d6ee1f1aa70da817ec853e36a501076">
            <a:extLst>
              <a:ext uri="{FF2B5EF4-FFF2-40B4-BE49-F238E27FC236}">
                <a16:creationId xmlns:a16="http://schemas.microsoft.com/office/drawing/2014/main" id="{1D0B5F41-4CD8-1F28-1FA2-586E0A65E08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158162" y="2657475"/>
            <a:ext cx="3648075" cy="2124170"/>
          </a:xfrm>
          <a:prstGeom prst="rect">
            <a:avLst/>
          </a:prstGeom>
        </p:spPr>
      </p:pic>
    </p:spTree>
    <p:extLst>
      <p:ext uri="{BB962C8B-B14F-4D97-AF65-F5344CB8AC3E}">
        <p14:creationId xmlns:p14="http://schemas.microsoft.com/office/powerpoint/2010/main" val="3519051662"/>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400050" y="1733550"/>
            <a:ext cx="7448550" cy="1152525"/>
          </a:xfrm>
          <a:custGeom>
            <a:avLst/>
            <a:gdLst/>
            <a:ahLst/>
            <a:cxnLst/>
            <a:rect l="l" t="t" r="r" b="b"/>
            <a:pathLst>
              <a:path w="7448550" h="1152525">
                <a:moveTo>
                  <a:pt x="38100" y="0"/>
                </a:moveTo>
                <a:lnTo>
                  <a:pt x="7334254" y="0"/>
                </a:lnTo>
                <a:cubicBezTo>
                  <a:pt x="7397378" y="0"/>
                  <a:pt x="7448550" y="51172"/>
                  <a:pt x="7448550" y="114296"/>
                </a:cubicBezTo>
                <a:lnTo>
                  <a:pt x="7448550" y="1038229"/>
                </a:lnTo>
                <a:cubicBezTo>
                  <a:pt x="7448550" y="1101353"/>
                  <a:pt x="7397378" y="1152525"/>
                  <a:pt x="7334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5F87A7">
              <a:alpha val="10196"/>
            </a:srgbClr>
          </a:solidFill>
        </p:spPr>
      </p:sp>
      <p:sp>
        <p:nvSpPr>
          <p:cNvPr id="6" name="Shape 4"/>
          <p:cNvSpPr/>
          <p:nvPr/>
        </p:nvSpPr>
        <p:spPr>
          <a:xfrm>
            <a:off x="400050" y="1733550"/>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E6B450"/>
          </a:solidFill>
        </p:spPr>
      </p:sp>
      <p:sp>
        <p:nvSpPr>
          <p:cNvPr id="7" name="Shape 5"/>
          <p:cNvSpPr/>
          <p:nvPr/>
        </p:nvSpPr>
        <p:spPr>
          <a:xfrm>
            <a:off x="676275" y="2000250"/>
            <a:ext cx="228600" cy="228600"/>
          </a:xfrm>
          <a:custGeom>
            <a:avLst/>
            <a:gdLst/>
            <a:ahLst/>
            <a:cxnLst/>
            <a:rect l="l" t="t" r="r" b="b"/>
            <a:pathLst>
              <a:path w="228600" h="228600">
                <a:moveTo>
                  <a:pt x="0" y="32147"/>
                </a:moveTo>
                <a:cubicBezTo>
                  <a:pt x="0" y="26253"/>
                  <a:pt x="4777" y="21431"/>
                  <a:pt x="10716" y="21431"/>
                </a:cubicBezTo>
                <a:lnTo>
                  <a:pt x="32147" y="21431"/>
                </a:lnTo>
                <a:cubicBezTo>
                  <a:pt x="38085" y="21431"/>
                  <a:pt x="42863" y="26209"/>
                  <a:pt x="42863" y="32147"/>
                </a:cubicBezTo>
                <a:lnTo>
                  <a:pt x="42863" y="78581"/>
                </a:lnTo>
                <a:lnTo>
                  <a:pt x="53578" y="78581"/>
                </a:lnTo>
                <a:cubicBezTo>
                  <a:pt x="59516" y="78581"/>
                  <a:pt x="64294" y="83359"/>
                  <a:pt x="64294" y="89297"/>
                </a:cubicBezTo>
                <a:cubicBezTo>
                  <a:pt x="64294" y="95235"/>
                  <a:pt x="59516" y="100013"/>
                  <a:pt x="53578" y="100013"/>
                </a:cubicBezTo>
                <a:lnTo>
                  <a:pt x="10716" y="100013"/>
                </a:lnTo>
                <a:cubicBezTo>
                  <a:pt x="4777" y="100013"/>
                  <a:pt x="0" y="95235"/>
                  <a:pt x="0" y="89297"/>
                </a:cubicBezTo>
                <a:cubicBezTo>
                  <a:pt x="0" y="83359"/>
                  <a:pt x="4777" y="78581"/>
                  <a:pt x="10716" y="78581"/>
                </a:cubicBezTo>
                <a:lnTo>
                  <a:pt x="21431" y="78581"/>
                </a:lnTo>
                <a:lnTo>
                  <a:pt x="21431" y="42863"/>
                </a:lnTo>
                <a:lnTo>
                  <a:pt x="10716" y="42863"/>
                </a:lnTo>
                <a:cubicBezTo>
                  <a:pt x="4777" y="42863"/>
                  <a:pt x="0" y="38085"/>
                  <a:pt x="0" y="32147"/>
                </a:cubicBezTo>
                <a:close/>
                <a:moveTo>
                  <a:pt x="13573" y="134481"/>
                </a:moveTo>
                <a:cubicBezTo>
                  <a:pt x="18663" y="130641"/>
                  <a:pt x="24869" y="128588"/>
                  <a:pt x="31254" y="128588"/>
                </a:cubicBezTo>
                <a:lnTo>
                  <a:pt x="33442" y="128588"/>
                </a:lnTo>
                <a:cubicBezTo>
                  <a:pt x="48488" y="128588"/>
                  <a:pt x="60722" y="140821"/>
                  <a:pt x="60722" y="155868"/>
                </a:cubicBezTo>
                <a:cubicBezTo>
                  <a:pt x="60722" y="164619"/>
                  <a:pt x="56525" y="172789"/>
                  <a:pt x="49470" y="177924"/>
                </a:cubicBezTo>
                <a:lnTo>
                  <a:pt x="38755" y="185738"/>
                </a:lnTo>
                <a:lnTo>
                  <a:pt x="53578" y="185738"/>
                </a:lnTo>
                <a:cubicBezTo>
                  <a:pt x="59516" y="185738"/>
                  <a:pt x="64294" y="190515"/>
                  <a:pt x="64294" y="196453"/>
                </a:cubicBezTo>
                <a:cubicBezTo>
                  <a:pt x="64294" y="202391"/>
                  <a:pt x="59516" y="207169"/>
                  <a:pt x="53578" y="207169"/>
                </a:cubicBezTo>
                <a:lnTo>
                  <a:pt x="13082" y="207169"/>
                </a:lnTo>
                <a:cubicBezTo>
                  <a:pt x="5849" y="207169"/>
                  <a:pt x="0" y="201320"/>
                  <a:pt x="0" y="194087"/>
                </a:cubicBezTo>
                <a:cubicBezTo>
                  <a:pt x="0" y="189890"/>
                  <a:pt x="2009" y="185961"/>
                  <a:pt x="5402" y="183505"/>
                </a:cubicBezTo>
                <a:lnTo>
                  <a:pt x="36880" y="160600"/>
                </a:lnTo>
                <a:cubicBezTo>
                  <a:pt x="38398" y="159484"/>
                  <a:pt x="39291" y="157743"/>
                  <a:pt x="39291" y="155868"/>
                </a:cubicBezTo>
                <a:cubicBezTo>
                  <a:pt x="39291" y="152653"/>
                  <a:pt x="36656" y="150019"/>
                  <a:pt x="33442" y="150019"/>
                </a:cubicBezTo>
                <a:lnTo>
                  <a:pt x="31254" y="150019"/>
                </a:lnTo>
                <a:cubicBezTo>
                  <a:pt x="29513" y="150019"/>
                  <a:pt x="27816" y="150599"/>
                  <a:pt x="26432" y="151626"/>
                </a:cubicBezTo>
                <a:lnTo>
                  <a:pt x="17145" y="158591"/>
                </a:lnTo>
                <a:cubicBezTo>
                  <a:pt x="12412" y="162163"/>
                  <a:pt x="5715" y="161181"/>
                  <a:pt x="2143" y="156448"/>
                </a:cubicBezTo>
                <a:cubicBezTo>
                  <a:pt x="-1429" y="151715"/>
                  <a:pt x="-446" y="145018"/>
                  <a:pt x="4286" y="141446"/>
                </a:cubicBezTo>
                <a:lnTo>
                  <a:pt x="13573" y="134481"/>
                </a:lnTo>
                <a:close/>
                <a:moveTo>
                  <a:pt x="100013" y="28575"/>
                </a:moveTo>
                <a:lnTo>
                  <a:pt x="214313" y="28575"/>
                </a:lnTo>
                <a:cubicBezTo>
                  <a:pt x="222215" y="28575"/>
                  <a:pt x="228600" y="34960"/>
                  <a:pt x="228600" y="42863"/>
                </a:cubicBezTo>
                <a:cubicBezTo>
                  <a:pt x="228600" y="50765"/>
                  <a:pt x="222215" y="57150"/>
                  <a:pt x="214313" y="57150"/>
                </a:cubicBezTo>
                <a:lnTo>
                  <a:pt x="100013" y="57150"/>
                </a:lnTo>
                <a:cubicBezTo>
                  <a:pt x="92110" y="57150"/>
                  <a:pt x="85725" y="50765"/>
                  <a:pt x="85725" y="42863"/>
                </a:cubicBezTo>
                <a:cubicBezTo>
                  <a:pt x="85725" y="34960"/>
                  <a:pt x="92110" y="28575"/>
                  <a:pt x="100013" y="28575"/>
                </a:cubicBezTo>
                <a:close/>
                <a:moveTo>
                  <a:pt x="100013" y="100013"/>
                </a:moveTo>
                <a:lnTo>
                  <a:pt x="214313" y="100013"/>
                </a:lnTo>
                <a:cubicBezTo>
                  <a:pt x="222215" y="100013"/>
                  <a:pt x="228600" y="106397"/>
                  <a:pt x="228600" y="114300"/>
                </a:cubicBezTo>
                <a:cubicBezTo>
                  <a:pt x="228600" y="122203"/>
                  <a:pt x="222215" y="128588"/>
                  <a:pt x="214313" y="128588"/>
                </a:cubicBezTo>
                <a:lnTo>
                  <a:pt x="100013" y="128588"/>
                </a:lnTo>
                <a:cubicBezTo>
                  <a:pt x="92110" y="128588"/>
                  <a:pt x="85725" y="122203"/>
                  <a:pt x="85725" y="114300"/>
                </a:cubicBezTo>
                <a:cubicBezTo>
                  <a:pt x="85725" y="106397"/>
                  <a:pt x="92110" y="100013"/>
                  <a:pt x="100013" y="100013"/>
                </a:cubicBezTo>
                <a:close/>
                <a:moveTo>
                  <a:pt x="100013" y="171450"/>
                </a:moveTo>
                <a:lnTo>
                  <a:pt x="214313" y="171450"/>
                </a:lnTo>
                <a:cubicBezTo>
                  <a:pt x="222215" y="171450"/>
                  <a:pt x="228600" y="177835"/>
                  <a:pt x="228600" y="185738"/>
                </a:cubicBezTo>
                <a:cubicBezTo>
                  <a:pt x="228600" y="193640"/>
                  <a:pt x="222215" y="200025"/>
                  <a:pt x="214313" y="200025"/>
                </a:cubicBezTo>
                <a:lnTo>
                  <a:pt x="100013" y="200025"/>
                </a:lnTo>
                <a:cubicBezTo>
                  <a:pt x="92110" y="200025"/>
                  <a:pt x="85725" y="193640"/>
                  <a:pt x="85725" y="185738"/>
                </a:cubicBezTo>
                <a:cubicBezTo>
                  <a:pt x="85725" y="177835"/>
                  <a:pt x="92110" y="171450"/>
                  <a:pt x="100013" y="171450"/>
                </a:cubicBezTo>
                <a:close/>
              </a:path>
            </a:pathLst>
          </a:custGeom>
          <a:solidFill>
            <a:srgbClr val="E6B450"/>
          </a:solidFill>
        </p:spPr>
      </p:sp>
      <p:sp>
        <p:nvSpPr>
          <p:cNvPr id="8" name="Text 6"/>
          <p:cNvSpPr/>
          <p:nvPr/>
        </p:nvSpPr>
        <p:spPr>
          <a:xfrm>
            <a:off x="1085850" y="1962150"/>
            <a:ext cx="6477000" cy="304800"/>
          </a:xfrm>
          <a:prstGeom prst="rect">
            <a:avLst/>
          </a:prstGeom>
          <a:noFill/>
        </p:spPr>
        <p:txBody>
          <a:bodyPr wrap="square" lIns="0" tIns="0" rIns="0" bIns="0" rtlCol="0" anchor="ctr"/>
          <a:lstStyle/>
          <a:p>
            <a:pPr>
              <a:lnSpc>
                <a:spcPct val="110000"/>
              </a:lnSpc>
            </a:pPr>
            <a:r>
              <a:rPr lang="en-US" sz="1800" b="1" dirty="0">
                <a:latin typeface="微软雅黑" panose="020B0503020204020204" pitchFamily="34" charset="-122"/>
                <a:ea typeface="微软雅黑" panose="020B0503020204020204" pitchFamily="34" charset="-122"/>
                <a:cs typeface="微软雅黑" panose="020B0503020204020204" pitchFamily="34" charset="-122"/>
              </a:rPr>
              <a:t>第二步</a:t>
            </a:r>
            <a:endParaRPr lang="en-US" sz="1600" dirty="0"/>
          </a:p>
        </p:txBody>
      </p:sp>
      <p:sp>
        <p:nvSpPr>
          <p:cNvPr id="9" name="Text 7"/>
          <p:cNvSpPr/>
          <p:nvPr/>
        </p:nvSpPr>
        <p:spPr>
          <a:xfrm>
            <a:off x="1085850" y="2381250"/>
            <a:ext cx="6448425" cy="276225"/>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在线段P</a:t>
            </a:r>
            <a:r>
              <a:rPr lang="en-US" sz="1100" dirty="0">
                <a:latin typeface="微软雅黑" panose="020B0503020204020204" pitchFamily="34" charset="-122"/>
                <a:ea typeface="微软雅黑" panose="020B0503020204020204" pitchFamily="34" charset="-122"/>
                <a:cs typeface="微软雅黑" panose="020B0503020204020204" pitchFamily="34" charset="-122"/>
              </a:rPr>
              <a:t>0</a:t>
            </a:r>
            <a:r>
              <a:rPr lang="en-US" sz="1600" dirty="0">
                <a:latin typeface="微软雅黑" panose="020B0503020204020204" pitchFamily="34" charset="-122"/>
                <a:ea typeface="微软雅黑" panose="020B0503020204020204" pitchFamily="34" charset="-122"/>
                <a:cs typeface="微软雅黑" panose="020B0503020204020204" pitchFamily="34" charset="-122"/>
              </a:rPr>
              <a:t>P</a:t>
            </a:r>
            <a:r>
              <a:rPr lang="en-US" sz="1100" dirty="0">
                <a:latin typeface="微软雅黑" panose="020B0503020204020204" pitchFamily="34" charset="-122"/>
                <a:ea typeface="微软雅黑" panose="020B0503020204020204" pitchFamily="34" charset="-122"/>
                <a:cs typeface="微软雅黑" panose="020B0503020204020204" pitchFamily="34" charset="-122"/>
              </a:rPr>
              <a:t>1</a:t>
            </a:r>
            <a:r>
              <a:rPr lang="en-US" sz="1600" dirty="0">
                <a:latin typeface="微软雅黑" panose="020B0503020204020204" pitchFamily="34" charset="-122"/>
                <a:ea typeface="微软雅黑" panose="020B0503020204020204" pitchFamily="34" charset="-122"/>
                <a:cs typeface="微软雅黑" panose="020B0503020204020204" pitchFamily="34" charset="-122"/>
              </a:rPr>
              <a:t>和P</a:t>
            </a:r>
            <a:r>
              <a:rPr lang="en-US" sz="1100" dirty="0">
                <a:latin typeface="微软雅黑" panose="020B0503020204020204" pitchFamily="34" charset="-122"/>
                <a:ea typeface="微软雅黑" panose="020B0503020204020204" pitchFamily="34" charset="-122"/>
                <a:cs typeface="微软雅黑" panose="020B0503020204020204" pitchFamily="34" charset="-122"/>
              </a:rPr>
              <a:t>1</a:t>
            </a:r>
            <a:r>
              <a:rPr lang="en-US" sz="1600" dirty="0">
                <a:latin typeface="微软雅黑" panose="020B0503020204020204" pitchFamily="34" charset="-122"/>
                <a:ea typeface="微软雅黑" panose="020B0503020204020204" pitchFamily="34" charset="-122"/>
                <a:cs typeface="微软雅黑" panose="020B0503020204020204" pitchFamily="34" charset="-122"/>
              </a:rPr>
              <a:t>P</a:t>
            </a:r>
            <a:r>
              <a:rPr lang="en-US" sz="1100" dirty="0">
                <a:latin typeface="微软雅黑" panose="020B0503020204020204" pitchFamily="34" charset="-122"/>
                <a:ea typeface="微软雅黑" panose="020B0503020204020204" pitchFamily="34" charset="-122"/>
                <a:cs typeface="微软雅黑" panose="020B0503020204020204" pitchFamily="34" charset="-122"/>
              </a:rPr>
              <a:t>2</a:t>
            </a:r>
            <a:r>
              <a:rPr lang="en-US" sz="1600" dirty="0">
                <a:latin typeface="微软雅黑" panose="020B0503020204020204" pitchFamily="34" charset="-122"/>
                <a:ea typeface="微软雅黑" panose="020B0503020204020204" pitchFamily="34" charset="-122"/>
                <a:cs typeface="微软雅黑" panose="020B0503020204020204" pitchFamily="34" charset="-122"/>
              </a:rPr>
              <a:t>上找到A、B两个点，使得</a:t>
            </a:r>
            <a:endParaRPr lang="en-US" sz="2000" dirty="0"/>
          </a:p>
        </p:txBody>
      </p:sp>
      <p:sp>
        <p:nvSpPr>
          <p:cNvPr id="10" name="Shape 8"/>
          <p:cNvSpPr/>
          <p:nvPr/>
        </p:nvSpPr>
        <p:spPr>
          <a:xfrm>
            <a:off x="385763" y="3121819"/>
            <a:ext cx="7458075" cy="2007394"/>
          </a:xfrm>
          <a:custGeom>
            <a:avLst/>
            <a:gdLst/>
            <a:ahLst/>
            <a:cxnLst/>
            <a:rect l="l" t="t" r="r" b="b"/>
            <a:pathLst>
              <a:path w="7458075" h="1885950">
                <a:moveTo>
                  <a:pt x="114307" y="0"/>
                </a:moveTo>
                <a:lnTo>
                  <a:pt x="7343768" y="0"/>
                </a:lnTo>
                <a:cubicBezTo>
                  <a:pt x="7406898" y="0"/>
                  <a:pt x="7458075" y="51177"/>
                  <a:pt x="7458075" y="114307"/>
                </a:cubicBezTo>
                <a:lnTo>
                  <a:pt x="7458075" y="1771643"/>
                </a:lnTo>
                <a:cubicBezTo>
                  <a:pt x="7458075" y="1834773"/>
                  <a:pt x="7406898" y="1885950"/>
                  <a:pt x="7343768" y="1885950"/>
                </a:cubicBezTo>
                <a:lnTo>
                  <a:pt x="114307" y="1885950"/>
                </a:lnTo>
                <a:cubicBezTo>
                  <a:pt x="51177" y="1885950"/>
                  <a:pt x="0" y="1834773"/>
                  <a:pt x="0" y="1771643"/>
                </a:cubicBezTo>
                <a:lnTo>
                  <a:pt x="0" y="114307"/>
                </a:lnTo>
                <a:cubicBezTo>
                  <a:pt x="0" y="51219"/>
                  <a:pt x="51219" y="0"/>
                  <a:pt x="114307" y="0"/>
                </a:cubicBezTo>
                <a:close/>
              </a:path>
            </a:pathLst>
          </a:custGeom>
          <a:solidFill>
            <a:srgbClr val="E6B450">
              <a:alpha val="10196"/>
            </a:srgbClr>
          </a:solidFill>
          <a:ln w="12700">
            <a:solidFill>
              <a:srgbClr val="E6B450">
                <a:alpha val="30196"/>
              </a:srgbClr>
            </a:solidFill>
            <a:prstDash val="solid"/>
          </a:ln>
        </p:spPr>
      </p:sp>
      <p:sp>
        <p:nvSpPr>
          <p:cNvPr id="11" name="Shape 9"/>
          <p:cNvSpPr/>
          <p:nvPr/>
        </p:nvSpPr>
        <p:spPr>
          <a:xfrm>
            <a:off x="666750" y="3393281"/>
            <a:ext cx="142875" cy="190500"/>
          </a:xfrm>
          <a:custGeom>
            <a:avLst/>
            <a:gdLst/>
            <a:ahLst/>
            <a:cxnLst/>
            <a:rect l="l" t="t" r="r" b="b"/>
            <a:pathLst>
              <a:path w="142875" h="190500">
                <a:moveTo>
                  <a:pt x="23812" y="0"/>
                </a:moveTo>
                <a:cubicBezTo>
                  <a:pt x="10678" y="0"/>
                  <a:pt x="0" y="10678"/>
                  <a:pt x="0" y="23812"/>
                </a:cubicBezTo>
                <a:lnTo>
                  <a:pt x="0" y="166688"/>
                </a:lnTo>
                <a:cubicBezTo>
                  <a:pt x="0" y="179822"/>
                  <a:pt x="10678" y="190500"/>
                  <a:pt x="23812" y="190500"/>
                </a:cubicBezTo>
                <a:lnTo>
                  <a:pt x="119063" y="190500"/>
                </a:lnTo>
                <a:cubicBezTo>
                  <a:pt x="132197" y="190500"/>
                  <a:pt x="142875" y="179822"/>
                  <a:pt x="142875" y="166688"/>
                </a:cubicBezTo>
                <a:lnTo>
                  <a:pt x="142875" y="23812"/>
                </a:lnTo>
                <a:cubicBezTo>
                  <a:pt x="142875" y="10678"/>
                  <a:pt x="132197" y="0"/>
                  <a:pt x="119063" y="0"/>
                </a:cubicBezTo>
                <a:lnTo>
                  <a:pt x="23812" y="0"/>
                </a:lnTo>
                <a:close/>
                <a:moveTo>
                  <a:pt x="35719" y="23812"/>
                </a:moveTo>
                <a:lnTo>
                  <a:pt x="107156" y="23812"/>
                </a:lnTo>
                <a:cubicBezTo>
                  <a:pt x="113742" y="23812"/>
                  <a:pt x="119063" y="29133"/>
                  <a:pt x="119063" y="35719"/>
                </a:cubicBezTo>
                <a:lnTo>
                  <a:pt x="119063" y="47625"/>
                </a:lnTo>
                <a:cubicBezTo>
                  <a:pt x="119063" y="54211"/>
                  <a:pt x="113742" y="59531"/>
                  <a:pt x="107156" y="59531"/>
                </a:cubicBezTo>
                <a:lnTo>
                  <a:pt x="35719" y="59531"/>
                </a:lnTo>
                <a:cubicBezTo>
                  <a:pt x="29133" y="59531"/>
                  <a:pt x="23812" y="54211"/>
                  <a:pt x="23812" y="47625"/>
                </a:cubicBezTo>
                <a:lnTo>
                  <a:pt x="23812" y="35719"/>
                </a:lnTo>
                <a:cubicBezTo>
                  <a:pt x="23812" y="29133"/>
                  <a:pt x="29133" y="23812"/>
                  <a:pt x="35719" y="23812"/>
                </a:cubicBezTo>
                <a:close/>
                <a:moveTo>
                  <a:pt x="41672" y="86320"/>
                </a:moveTo>
                <a:cubicBezTo>
                  <a:pt x="41672" y="91249"/>
                  <a:pt x="37671" y="95250"/>
                  <a:pt x="32742" y="95250"/>
                </a:cubicBezTo>
                <a:cubicBezTo>
                  <a:pt x="27814" y="95250"/>
                  <a:pt x="23812" y="91249"/>
                  <a:pt x="23812" y="86320"/>
                </a:cubicBezTo>
                <a:cubicBezTo>
                  <a:pt x="23812" y="81392"/>
                  <a:pt x="27814" y="77391"/>
                  <a:pt x="32742" y="77391"/>
                </a:cubicBezTo>
                <a:cubicBezTo>
                  <a:pt x="37671" y="77391"/>
                  <a:pt x="41672" y="81392"/>
                  <a:pt x="41672" y="86320"/>
                </a:cubicBezTo>
                <a:close/>
                <a:moveTo>
                  <a:pt x="71438" y="95250"/>
                </a:moveTo>
                <a:cubicBezTo>
                  <a:pt x="66509" y="95250"/>
                  <a:pt x="62508" y="91249"/>
                  <a:pt x="62508" y="86320"/>
                </a:cubicBezTo>
                <a:cubicBezTo>
                  <a:pt x="62508" y="81392"/>
                  <a:pt x="66509" y="77391"/>
                  <a:pt x="71438" y="77391"/>
                </a:cubicBezTo>
                <a:cubicBezTo>
                  <a:pt x="76366" y="77391"/>
                  <a:pt x="80367" y="81392"/>
                  <a:pt x="80367" y="86320"/>
                </a:cubicBezTo>
                <a:cubicBezTo>
                  <a:pt x="80367" y="91249"/>
                  <a:pt x="76366" y="95250"/>
                  <a:pt x="71438" y="95250"/>
                </a:cubicBezTo>
                <a:close/>
                <a:moveTo>
                  <a:pt x="119063" y="86320"/>
                </a:moveTo>
                <a:cubicBezTo>
                  <a:pt x="119063" y="91249"/>
                  <a:pt x="115061" y="95250"/>
                  <a:pt x="110133" y="95250"/>
                </a:cubicBezTo>
                <a:cubicBezTo>
                  <a:pt x="105204" y="95250"/>
                  <a:pt x="101203" y="91249"/>
                  <a:pt x="101203" y="86320"/>
                </a:cubicBezTo>
                <a:cubicBezTo>
                  <a:pt x="101203" y="81392"/>
                  <a:pt x="105204" y="77391"/>
                  <a:pt x="110133" y="77391"/>
                </a:cubicBezTo>
                <a:cubicBezTo>
                  <a:pt x="115061" y="77391"/>
                  <a:pt x="119063" y="81392"/>
                  <a:pt x="119063" y="86320"/>
                </a:cubicBezTo>
                <a:close/>
                <a:moveTo>
                  <a:pt x="32742" y="130969"/>
                </a:moveTo>
                <a:cubicBezTo>
                  <a:pt x="27814" y="130969"/>
                  <a:pt x="23812" y="126967"/>
                  <a:pt x="23812" y="122039"/>
                </a:cubicBezTo>
                <a:cubicBezTo>
                  <a:pt x="23812" y="117111"/>
                  <a:pt x="27814" y="113109"/>
                  <a:pt x="32742" y="113109"/>
                </a:cubicBezTo>
                <a:cubicBezTo>
                  <a:pt x="37671" y="113109"/>
                  <a:pt x="41672" y="117111"/>
                  <a:pt x="41672" y="122039"/>
                </a:cubicBezTo>
                <a:cubicBezTo>
                  <a:pt x="41672" y="126967"/>
                  <a:pt x="37671" y="130969"/>
                  <a:pt x="32742" y="130969"/>
                </a:cubicBezTo>
                <a:close/>
                <a:moveTo>
                  <a:pt x="80367" y="122039"/>
                </a:moveTo>
                <a:cubicBezTo>
                  <a:pt x="80367" y="126967"/>
                  <a:pt x="76366" y="130969"/>
                  <a:pt x="71438" y="130969"/>
                </a:cubicBezTo>
                <a:cubicBezTo>
                  <a:pt x="66509" y="130969"/>
                  <a:pt x="62508" y="126967"/>
                  <a:pt x="62508" y="122039"/>
                </a:cubicBezTo>
                <a:cubicBezTo>
                  <a:pt x="62508" y="117111"/>
                  <a:pt x="66509" y="113109"/>
                  <a:pt x="71438" y="113109"/>
                </a:cubicBezTo>
                <a:cubicBezTo>
                  <a:pt x="76366" y="113109"/>
                  <a:pt x="80367" y="117111"/>
                  <a:pt x="80367" y="122039"/>
                </a:cubicBezTo>
                <a:close/>
                <a:moveTo>
                  <a:pt x="110133" y="130969"/>
                </a:moveTo>
                <a:cubicBezTo>
                  <a:pt x="105204" y="130969"/>
                  <a:pt x="101203" y="126967"/>
                  <a:pt x="101203" y="122039"/>
                </a:cubicBezTo>
                <a:cubicBezTo>
                  <a:pt x="101203" y="117111"/>
                  <a:pt x="105204" y="113109"/>
                  <a:pt x="110133" y="113109"/>
                </a:cubicBezTo>
                <a:cubicBezTo>
                  <a:pt x="115061" y="113109"/>
                  <a:pt x="119063" y="117111"/>
                  <a:pt x="119063" y="122039"/>
                </a:cubicBezTo>
                <a:cubicBezTo>
                  <a:pt x="119063" y="126967"/>
                  <a:pt x="115061" y="130969"/>
                  <a:pt x="110133" y="130969"/>
                </a:cubicBezTo>
                <a:close/>
                <a:moveTo>
                  <a:pt x="23812" y="157758"/>
                </a:moveTo>
                <a:cubicBezTo>
                  <a:pt x="23812" y="152809"/>
                  <a:pt x="27794" y="148828"/>
                  <a:pt x="32742" y="148828"/>
                </a:cubicBezTo>
                <a:lnTo>
                  <a:pt x="74414" y="148828"/>
                </a:lnTo>
                <a:cubicBezTo>
                  <a:pt x="79363" y="148828"/>
                  <a:pt x="83344" y="152809"/>
                  <a:pt x="83344" y="157758"/>
                </a:cubicBezTo>
                <a:cubicBezTo>
                  <a:pt x="83344" y="162706"/>
                  <a:pt x="79363" y="166688"/>
                  <a:pt x="74414" y="166688"/>
                </a:cubicBezTo>
                <a:lnTo>
                  <a:pt x="32742" y="166688"/>
                </a:lnTo>
                <a:cubicBezTo>
                  <a:pt x="27794" y="166688"/>
                  <a:pt x="23812" y="162706"/>
                  <a:pt x="23812" y="157758"/>
                </a:cubicBezTo>
                <a:close/>
                <a:moveTo>
                  <a:pt x="110133" y="148828"/>
                </a:moveTo>
                <a:cubicBezTo>
                  <a:pt x="115081" y="148828"/>
                  <a:pt x="119063" y="152809"/>
                  <a:pt x="119063" y="157758"/>
                </a:cubicBezTo>
                <a:cubicBezTo>
                  <a:pt x="119063" y="162706"/>
                  <a:pt x="115081" y="166688"/>
                  <a:pt x="110133" y="166688"/>
                </a:cubicBezTo>
                <a:cubicBezTo>
                  <a:pt x="105184" y="166688"/>
                  <a:pt x="101203" y="162706"/>
                  <a:pt x="101203" y="157758"/>
                </a:cubicBezTo>
                <a:cubicBezTo>
                  <a:pt x="101203" y="152809"/>
                  <a:pt x="105184" y="148828"/>
                  <a:pt x="110133" y="148828"/>
                </a:cubicBezTo>
                <a:close/>
              </a:path>
            </a:pathLst>
          </a:custGeom>
          <a:solidFill>
            <a:srgbClr val="E6B450"/>
          </a:solidFill>
        </p:spPr>
      </p:sp>
      <p:sp>
        <p:nvSpPr>
          <p:cNvPr id="12" name="Text 10"/>
          <p:cNvSpPr/>
          <p:nvPr/>
        </p:nvSpPr>
        <p:spPr>
          <a:xfrm>
            <a:off x="971550" y="3355181"/>
            <a:ext cx="1395730" cy="266700"/>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比例关系</a:t>
            </a:r>
            <a:endParaRPr lang="en-US" sz="2000" dirty="0"/>
          </a:p>
        </p:txBody>
      </p:sp>
      <p:sp>
        <p:nvSpPr>
          <p:cNvPr id="13" name="Text 11"/>
          <p:cNvSpPr/>
          <p:nvPr/>
        </p:nvSpPr>
        <p:spPr>
          <a:xfrm>
            <a:off x="619125" y="3774281"/>
            <a:ext cx="7077075" cy="276225"/>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参数t表示点在边上的位置比例，取值范围在0到1之间。</a:t>
            </a:r>
            <a:endParaRPr lang="en-US" sz="2000" dirty="0"/>
          </a:p>
        </p:txBody>
      </p:sp>
      <p:sp>
        <p:nvSpPr>
          <p:cNvPr id="14" name="Shape 12"/>
          <p:cNvSpPr/>
          <p:nvPr/>
        </p:nvSpPr>
        <p:spPr>
          <a:xfrm>
            <a:off x="619125" y="4205287"/>
            <a:ext cx="6991350" cy="788987"/>
          </a:xfrm>
          <a:custGeom>
            <a:avLst/>
            <a:gdLst/>
            <a:ahLst/>
            <a:cxnLst/>
            <a:rect l="l" t="t" r="r" b="b"/>
            <a:pathLst>
              <a:path w="6991350" h="571500">
                <a:moveTo>
                  <a:pt x="76198" y="0"/>
                </a:moveTo>
                <a:lnTo>
                  <a:pt x="6915152" y="0"/>
                </a:lnTo>
                <a:cubicBezTo>
                  <a:pt x="6957235" y="0"/>
                  <a:pt x="6991350" y="34115"/>
                  <a:pt x="6991350" y="76198"/>
                </a:cubicBezTo>
                <a:lnTo>
                  <a:pt x="6991350" y="495302"/>
                </a:lnTo>
                <a:cubicBezTo>
                  <a:pt x="6991350" y="537385"/>
                  <a:pt x="6957235" y="571500"/>
                  <a:pt x="6915152" y="571500"/>
                </a:cubicBezTo>
                <a:lnTo>
                  <a:pt x="76198" y="571500"/>
                </a:lnTo>
                <a:cubicBezTo>
                  <a:pt x="34115" y="571500"/>
                  <a:pt x="0" y="537385"/>
                  <a:pt x="0" y="495302"/>
                </a:cubicBezTo>
                <a:lnTo>
                  <a:pt x="0" y="76198"/>
                </a:lnTo>
                <a:cubicBezTo>
                  <a:pt x="0" y="34115"/>
                  <a:pt x="34115" y="0"/>
                  <a:pt x="76198" y="0"/>
                </a:cubicBezTo>
                <a:close/>
              </a:path>
            </a:pathLst>
          </a:custGeom>
          <a:solidFill>
            <a:srgbClr val="5F87A7">
              <a:alpha val="20000"/>
            </a:srgbClr>
          </a:solidFill>
        </p:spPr>
      </p:sp>
      <p:sp>
        <p:nvSpPr>
          <p:cNvPr id="16" name="Shape 14"/>
          <p:cNvSpPr/>
          <p:nvPr/>
        </p:nvSpPr>
        <p:spPr>
          <a:xfrm>
            <a:off x="400050" y="5243513"/>
            <a:ext cx="7448550" cy="1152525"/>
          </a:xfrm>
          <a:custGeom>
            <a:avLst/>
            <a:gdLst/>
            <a:ahLst/>
            <a:cxnLst/>
            <a:rect l="l" t="t" r="r" b="b"/>
            <a:pathLst>
              <a:path w="7448550" h="1152525">
                <a:moveTo>
                  <a:pt x="38100" y="0"/>
                </a:moveTo>
                <a:lnTo>
                  <a:pt x="7334254" y="0"/>
                </a:lnTo>
                <a:cubicBezTo>
                  <a:pt x="7397378" y="0"/>
                  <a:pt x="7448550" y="51172"/>
                  <a:pt x="7448550" y="114296"/>
                </a:cubicBezTo>
                <a:lnTo>
                  <a:pt x="7448550" y="1038229"/>
                </a:lnTo>
                <a:cubicBezTo>
                  <a:pt x="7448550" y="1101353"/>
                  <a:pt x="7397378" y="1152525"/>
                  <a:pt x="7334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5F87A7">
              <a:alpha val="10196"/>
            </a:srgbClr>
          </a:solidFill>
        </p:spPr>
      </p:sp>
      <p:sp>
        <p:nvSpPr>
          <p:cNvPr id="17" name="Shape 15"/>
          <p:cNvSpPr/>
          <p:nvPr/>
        </p:nvSpPr>
        <p:spPr>
          <a:xfrm>
            <a:off x="400050" y="5243513"/>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E6B450"/>
          </a:solidFill>
        </p:spPr>
      </p:sp>
      <p:sp>
        <p:nvSpPr>
          <p:cNvPr id="18" name="Shape 16"/>
          <p:cNvSpPr/>
          <p:nvPr/>
        </p:nvSpPr>
        <p:spPr>
          <a:xfrm>
            <a:off x="704850" y="5510213"/>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E6B450"/>
          </a:solidFill>
        </p:spPr>
      </p:sp>
      <p:sp>
        <p:nvSpPr>
          <p:cNvPr id="19" name="Text 17"/>
          <p:cNvSpPr/>
          <p:nvPr/>
        </p:nvSpPr>
        <p:spPr>
          <a:xfrm>
            <a:off x="1085850" y="5472113"/>
            <a:ext cx="6057900" cy="304800"/>
          </a:xfrm>
          <a:prstGeom prst="rect">
            <a:avLst/>
          </a:prstGeom>
          <a:noFill/>
        </p:spPr>
        <p:txBody>
          <a:bodyPr wrap="square" lIns="0" tIns="0" rIns="0" bIns="0" rtlCol="0" anchor="ctr"/>
          <a:lstStyle/>
          <a:p>
            <a:pPr>
              <a:lnSpc>
                <a:spcPct val="110000"/>
              </a:lnSpc>
            </a:pPr>
            <a:r>
              <a:rPr lang="en-US" sz="1800" b="1" dirty="0">
                <a:latin typeface="微软雅黑" panose="020B0503020204020204" pitchFamily="34" charset="-122"/>
                <a:ea typeface="微软雅黑" panose="020B0503020204020204" pitchFamily="34" charset="-122"/>
                <a:cs typeface="微软雅黑" panose="020B0503020204020204" pitchFamily="34" charset="-122"/>
              </a:rPr>
              <a:t>参数t的意义</a:t>
            </a:r>
            <a:endParaRPr lang="en-US" sz="1600" dirty="0"/>
          </a:p>
        </p:txBody>
      </p:sp>
      <p:sp>
        <p:nvSpPr>
          <p:cNvPr id="20" name="Text 18"/>
          <p:cNvSpPr/>
          <p:nvPr/>
        </p:nvSpPr>
        <p:spPr>
          <a:xfrm>
            <a:off x="1085850" y="5891213"/>
            <a:ext cx="6029325" cy="276225"/>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当t从0变化到1时，点A和点B分别在各自的线段上移动，形成动态的构造过程。</a:t>
            </a:r>
            <a:endParaRPr lang="en-US" sz="2000" dirty="0"/>
          </a:p>
        </p:txBody>
      </p:sp>
      <p:sp>
        <p:nvSpPr>
          <p:cNvPr id="21" name="Shape 19"/>
          <p:cNvSpPr/>
          <p:nvPr/>
        </p:nvSpPr>
        <p:spPr>
          <a:xfrm>
            <a:off x="8158163" y="1738313"/>
            <a:ext cx="3648075" cy="4657725"/>
          </a:xfrm>
          <a:custGeom>
            <a:avLst/>
            <a:gdLst/>
            <a:ahLst/>
            <a:cxnLst/>
            <a:rect l="l" t="t" r="r" b="b"/>
            <a:pathLst>
              <a:path w="3648075" h="4657725">
                <a:moveTo>
                  <a:pt x="114294" y="0"/>
                </a:moveTo>
                <a:lnTo>
                  <a:pt x="3533781" y="0"/>
                </a:lnTo>
                <a:cubicBezTo>
                  <a:pt x="3596904" y="0"/>
                  <a:pt x="3648075" y="51171"/>
                  <a:pt x="3648075" y="114294"/>
                </a:cubicBezTo>
                <a:lnTo>
                  <a:pt x="3648075" y="4543431"/>
                </a:lnTo>
                <a:cubicBezTo>
                  <a:pt x="3648075" y="4606554"/>
                  <a:pt x="3596904" y="4657725"/>
                  <a:pt x="3533781" y="4657725"/>
                </a:cubicBezTo>
                <a:lnTo>
                  <a:pt x="114294" y="4657725"/>
                </a:lnTo>
                <a:cubicBezTo>
                  <a:pt x="51171" y="4657725"/>
                  <a:pt x="0" y="4606554"/>
                  <a:pt x="0" y="4543431"/>
                </a:cubicBezTo>
                <a:lnTo>
                  <a:pt x="0" y="114294"/>
                </a:lnTo>
                <a:cubicBezTo>
                  <a:pt x="0" y="51214"/>
                  <a:pt x="51214" y="0"/>
                  <a:pt x="114294" y="0"/>
                </a:cubicBezTo>
                <a:close/>
              </a:path>
            </a:pathLst>
          </a:custGeom>
          <a:solidFill>
            <a:srgbClr val="E6B450">
              <a:alpha val="10196"/>
            </a:srgbClr>
          </a:solidFill>
          <a:ln w="12700">
            <a:solidFill>
              <a:srgbClr val="E6B450">
                <a:alpha val="30196"/>
              </a:srgbClr>
            </a:solidFill>
            <a:prstDash val="solid"/>
          </a:ln>
        </p:spPr>
      </p:sp>
      <p:sp>
        <p:nvSpPr>
          <p:cNvPr id="22" name="Shape 20"/>
          <p:cNvSpPr/>
          <p:nvPr/>
        </p:nvSpPr>
        <p:spPr>
          <a:xfrm>
            <a:off x="8415338" y="2009775"/>
            <a:ext cx="190500" cy="190500"/>
          </a:xfrm>
          <a:custGeom>
            <a:avLst/>
            <a:gdLst/>
            <a:ahLst/>
            <a:cxnLst/>
            <a:rect l="l" t="t" r="r" b="b"/>
            <a:pathLst>
              <a:path w="190500" h="190500">
                <a:moveTo>
                  <a:pt x="0" y="29766"/>
                </a:moveTo>
                <a:cubicBezTo>
                  <a:pt x="0" y="19906"/>
                  <a:pt x="8000" y="11906"/>
                  <a:pt x="17859" y="11906"/>
                </a:cubicBezTo>
                <a:lnTo>
                  <a:pt x="53578" y="11906"/>
                </a:lnTo>
                <a:cubicBezTo>
                  <a:pt x="63438" y="11906"/>
                  <a:pt x="71438" y="19906"/>
                  <a:pt x="71438" y="29766"/>
                </a:cubicBezTo>
                <a:lnTo>
                  <a:pt x="71438" y="35719"/>
                </a:lnTo>
                <a:lnTo>
                  <a:pt x="119063" y="35719"/>
                </a:lnTo>
                <a:lnTo>
                  <a:pt x="119063" y="29766"/>
                </a:lnTo>
                <a:cubicBezTo>
                  <a:pt x="119063" y="19906"/>
                  <a:pt x="127062" y="11906"/>
                  <a:pt x="136922" y="11906"/>
                </a:cubicBezTo>
                <a:lnTo>
                  <a:pt x="172641" y="11906"/>
                </a:lnTo>
                <a:cubicBezTo>
                  <a:pt x="182500" y="11906"/>
                  <a:pt x="190500" y="19906"/>
                  <a:pt x="190500" y="29766"/>
                </a:cubicBezTo>
                <a:lnTo>
                  <a:pt x="190500" y="65484"/>
                </a:lnTo>
                <a:cubicBezTo>
                  <a:pt x="190500" y="75344"/>
                  <a:pt x="182500" y="83344"/>
                  <a:pt x="172641" y="83344"/>
                </a:cubicBezTo>
                <a:lnTo>
                  <a:pt x="136922" y="83344"/>
                </a:lnTo>
                <a:cubicBezTo>
                  <a:pt x="127062" y="83344"/>
                  <a:pt x="119063" y="75344"/>
                  <a:pt x="119063" y="65484"/>
                </a:cubicBezTo>
                <a:lnTo>
                  <a:pt x="119063" y="59531"/>
                </a:lnTo>
                <a:lnTo>
                  <a:pt x="71438" y="59531"/>
                </a:lnTo>
                <a:lnTo>
                  <a:pt x="71438" y="65484"/>
                </a:lnTo>
                <a:cubicBezTo>
                  <a:pt x="71438" y="68200"/>
                  <a:pt x="70805" y="70805"/>
                  <a:pt x="69726" y="73112"/>
                </a:cubicBezTo>
                <a:lnTo>
                  <a:pt x="95250" y="107156"/>
                </a:lnTo>
                <a:lnTo>
                  <a:pt x="125016" y="107156"/>
                </a:lnTo>
                <a:cubicBezTo>
                  <a:pt x="134875" y="107156"/>
                  <a:pt x="142875" y="115156"/>
                  <a:pt x="142875" y="125016"/>
                </a:cubicBezTo>
                <a:lnTo>
                  <a:pt x="142875" y="160734"/>
                </a:lnTo>
                <a:cubicBezTo>
                  <a:pt x="142875" y="170594"/>
                  <a:pt x="134875" y="178594"/>
                  <a:pt x="125016" y="178594"/>
                </a:cubicBezTo>
                <a:lnTo>
                  <a:pt x="89297" y="178594"/>
                </a:lnTo>
                <a:cubicBezTo>
                  <a:pt x="79437" y="178594"/>
                  <a:pt x="71438" y="170594"/>
                  <a:pt x="71438" y="160734"/>
                </a:cubicBezTo>
                <a:lnTo>
                  <a:pt x="71438" y="125016"/>
                </a:lnTo>
                <a:cubicBezTo>
                  <a:pt x="71438" y="122300"/>
                  <a:pt x="72070" y="119695"/>
                  <a:pt x="73149" y="117388"/>
                </a:cubicBezTo>
                <a:lnTo>
                  <a:pt x="47625" y="83344"/>
                </a:lnTo>
                <a:lnTo>
                  <a:pt x="17859" y="83344"/>
                </a:lnTo>
                <a:cubicBezTo>
                  <a:pt x="8000" y="83344"/>
                  <a:pt x="0" y="75344"/>
                  <a:pt x="0" y="65484"/>
                </a:cubicBezTo>
                <a:lnTo>
                  <a:pt x="0" y="29766"/>
                </a:lnTo>
                <a:close/>
              </a:path>
            </a:pathLst>
          </a:custGeom>
          <a:solidFill>
            <a:srgbClr val="E6B450"/>
          </a:solidFill>
        </p:spPr>
      </p:sp>
      <p:sp>
        <p:nvSpPr>
          <p:cNvPr id="23" name="Text 21"/>
          <p:cNvSpPr/>
          <p:nvPr/>
        </p:nvSpPr>
        <p:spPr>
          <a:xfrm>
            <a:off x="8629650" y="1971675"/>
            <a:ext cx="3038475" cy="266700"/>
          </a:xfrm>
          <a:prstGeom prst="rect">
            <a:avLst/>
          </a:prstGeom>
          <a:noFill/>
        </p:spPr>
        <p:txBody>
          <a:bodyPr wrap="square" lIns="0" tIns="0" rIns="0" bIns="0" rtlCol="0" anchor="ctr"/>
          <a:lstStyle/>
          <a:p>
            <a:pPr>
              <a:lnSpc>
                <a:spcPct val="12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Step 2 示意</a:t>
            </a:r>
            <a:endParaRPr lang="en-US" sz="1600" dirty="0"/>
          </a:p>
        </p:txBody>
      </p:sp>
      <p:sp>
        <p:nvSpPr>
          <p:cNvPr id="37" name="Shape 34"/>
          <p:cNvSpPr/>
          <p:nvPr/>
        </p:nvSpPr>
        <p:spPr>
          <a:xfrm>
            <a:off x="8391525" y="5626894"/>
            <a:ext cx="3181350" cy="533400"/>
          </a:xfrm>
          <a:custGeom>
            <a:avLst/>
            <a:gdLst/>
            <a:ahLst/>
            <a:cxnLst/>
            <a:rect l="l" t="t" r="r" b="b"/>
            <a:pathLst>
              <a:path w="3181350" h="533400">
                <a:moveTo>
                  <a:pt x="76202" y="0"/>
                </a:moveTo>
                <a:lnTo>
                  <a:pt x="3105148" y="0"/>
                </a:lnTo>
                <a:cubicBezTo>
                  <a:pt x="3147233" y="0"/>
                  <a:pt x="3181350" y="34117"/>
                  <a:pt x="3181350" y="76202"/>
                </a:cubicBezTo>
                <a:lnTo>
                  <a:pt x="3181350" y="457198"/>
                </a:lnTo>
                <a:cubicBezTo>
                  <a:pt x="3181350" y="499283"/>
                  <a:pt x="3147233" y="533400"/>
                  <a:pt x="3105148" y="533400"/>
                </a:cubicBezTo>
                <a:lnTo>
                  <a:pt x="76202" y="533400"/>
                </a:lnTo>
                <a:cubicBezTo>
                  <a:pt x="34117" y="533400"/>
                  <a:pt x="0" y="499283"/>
                  <a:pt x="0" y="457198"/>
                </a:cubicBezTo>
                <a:lnTo>
                  <a:pt x="0" y="76202"/>
                </a:lnTo>
                <a:cubicBezTo>
                  <a:pt x="0" y="34145"/>
                  <a:pt x="34145" y="0"/>
                  <a:pt x="76202" y="0"/>
                </a:cubicBezTo>
                <a:close/>
              </a:path>
            </a:pathLst>
          </a:custGeom>
          <a:solidFill>
            <a:srgbClr val="5F87A7">
              <a:alpha val="20000"/>
            </a:srgbClr>
          </a:solidFill>
        </p:spPr>
      </p:sp>
      <p:sp>
        <p:nvSpPr>
          <p:cNvPr id="38" name="Shape 35"/>
          <p:cNvSpPr/>
          <p:nvPr/>
        </p:nvSpPr>
        <p:spPr>
          <a:xfrm>
            <a:off x="8692322" y="581739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E6B450"/>
          </a:solidFill>
        </p:spPr>
      </p:sp>
      <p:sp>
        <p:nvSpPr>
          <p:cNvPr id="39" name="Text 36"/>
          <p:cNvSpPr/>
          <p:nvPr/>
        </p:nvSpPr>
        <p:spPr>
          <a:xfrm>
            <a:off x="8753475" y="5779294"/>
            <a:ext cx="2705100" cy="228600"/>
          </a:xfrm>
          <a:prstGeom prst="rect">
            <a:avLst/>
          </a:prstGeom>
          <a:noFill/>
        </p:spPr>
        <p:txBody>
          <a:bodyPr wrap="square" lIns="0" tIns="0" rIns="0" bIns="0" rtlCol="0" anchor="ctr"/>
          <a:lstStyle/>
          <a:p>
            <a:pPr algn="ct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按相同比例找到A、B两点</a:t>
            </a:r>
            <a:endParaRPr lang="en-US" sz="1600" dirty="0"/>
          </a:p>
        </p:txBody>
      </p:sp>
      <p:grpSp>
        <p:nvGrpSpPr>
          <p:cNvPr id="40" name="组合 39">
            <a:extLst>
              <a:ext uri="{FF2B5EF4-FFF2-40B4-BE49-F238E27FC236}">
                <a16:creationId xmlns:a16="http://schemas.microsoft.com/office/drawing/2014/main" id="{CACD1BBD-08B3-312A-3398-F3CEBA1AD30F}"/>
              </a:ext>
            </a:extLst>
          </p:cNvPr>
          <p:cNvGrpSpPr/>
          <p:nvPr/>
        </p:nvGrpSpPr>
        <p:grpSpPr>
          <a:xfrm>
            <a:off x="0" y="939798"/>
            <a:ext cx="5022850" cy="625474"/>
            <a:chOff x="0" y="1075267"/>
            <a:chExt cx="5022850" cy="625474"/>
          </a:xfrm>
        </p:grpSpPr>
        <p:sp>
          <p:nvSpPr>
            <p:cNvPr id="41" name="矩形 40">
              <a:extLst>
                <a:ext uri="{FF2B5EF4-FFF2-40B4-BE49-F238E27FC236}">
                  <a16:creationId xmlns:a16="http://schemas.microsoft.com/office/drawing/2014/main" id="{31D32C41-6D22-B9AE-38C9-7137D7FD3BED}"/>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A0DF7DBD-8A8D-111C-49C9-9D732E45E910}"/>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7.3.2 </a:t>
              </a:r>
              <a:r>
                <a:rPr lang="zh-CN" altLang="en-US" sz="2400" b="1" dirty="0">
                  <a:solidFill>
                    <a:schemeClr val="accent1"/>
                  </a:solidFill>
                  <a:latin typeface="+mj-lt"/>
                </a:rPr>
                <a:t>路径平滑</a:t>
              </a:r>
            </a:p>
          </p:txBody>
        </p:sp>
      </p:grpSp>
      <p:pic>
        <p:nvPicPr>
          <p:cNvPr id="43" name="图片 42" descr="a9e1db46d5ef399ac5ba405e12b0175">
            <a:extLst>
              <a:ext uri="{FF2B5EF4-FFF2-40B4-BE49-F238E27FC236}">
                <a16:creationId xmlns:a16="http://schemas.microsoft.com/office/drawing/2014/main" id="{DED6DEFB-3489-EBD0-035D-3C8FE386605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153401" y="2972674"/>
            <a:ext cx="3648075" cy="2129234"/>
          </a:xfrm>
          <a:prstGeom prst="rect">
            <a:avLst/>
          </a:prstGeom>
        </p:spPr>
      </p:pic>
      <p:graphicFrame>
        <p:nvGraphicFramePr>
          <p:cNvPr id="24" name="对象 23">
            <a:extLst>
              <a:ext uri="{FF2B5EF4-FFF2-40B4-BE49-F238E27FC236}">
                <a16:creationId xmlns:a16="http://schemas.microsoft.com/office/drawing/2014/main" id="{20E871DE-FA1F-B0FE-5068-0F54C108DB44}"/>
              </a:ext>
            </a:extLst>
          </p:cNvPr>
          <p:cNvGraphicFramePr>
            <a:graphicFrameLocks noChangeAspect="1"/>
          </p:cNvGraphicFramePr>
          <p:nvPr>
            <p:extLst>
              <p:ext uri="{D42A27DB-BD31-4B8C-83A1-F6EECF244321}">
                <p14:modId xmlns:p14="http://schemas.microsoft.com/office/powerpoint/2010/main" val="3423255648"/>
              </p:ext>
            </p:extLst>
          </p:nvPr>
        </p:nvGraphicFramePr>
        <p:xfrm>
          <a:off x="5128989" y="2264562"/>
          <a:ext cx="1140192" cy="700743"/>
        </p:xfrm>
        <a:graphic>
          <a:graphicData uri="http://schemas.openxmlformats.org/presentationml/2006/ole">
            <mc:AlternateContent xmlns:mc="http://schemas.openxmlformats.org/markup-compatibility/2006">
              <mc:Choice xmlns:v="urn:schemas-microsoft-com:vml" Requires="v">
                <p:oleObj name="Equation" r:id="rId4" imgW="698400" imgH="431640" progId="Equation.DSMT4">
                  <p:embed/>
                </p:oleObj>
              </mc:Choice>
              <mc:Fallback>
                <p:oleObj name="Equation" r:id="rId4" imgW="698400" imgH="431640" progId="Equation.DSMT4">
                  <p:embed/>
                  <p:pic>
                    <p:nvPicPr>
                      <p:cNvPr id="24" name="对象 23">
                        <a:extLst>
                          <a:ext uri="{FF2B5EF4-FFF2-40B4-BE49-F238E27FC236}">
                            <a16:creationId xmlns:a16="http://schemas.microsoft.com/office/drawing/2014/main" id="{20E871DE-FA1F-B0FE-5068-0F54C108DB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8989" y="2264562"/>
                        <a:ext cx="1140192" cy="700743"/>
                      </a:xfrm>
                      <a:prstGeom prst="rect">
                        <a:avLst/>
                      </a:prstGeom>
                      <a:noFill/>
                    </p:spPr>
                  </p:pic>
                </p:oleObj>
              </mc:Fallback>
            </mc:AlternateContent>
          </a:graphicData>
        </a:graphic>
      </p:graphicFrame>
      <p:graphicFrame>
        <p:nvGraphicFramePr>
          <p:cNvPr id="25" name="对象 24">
            <a:extLst>
              <a:ext uri="{FF2B5EF4-FFF2-40B4-BE49-F238E27FC236}">
                <a16:creationId xmlns:a16="http://schemas.microsoft.com/office/drawing/2014/main" id="{57C073C2-F2CF-A168-F34A-BE445DEC2852}"/>
              </a:ext>
            </a:extLst>
          </p:cNvPr>
          <p:cNvGraphicFramePr>
            <a:graphicFrameLocks noChangeAspect="1"/>
          </p:cNvGraphicFramePr>
          <p:nvPr>
            <p:extLst>
              <p:ext uri="{D42A27DB-BD31-4B8C-83A1-F6EECF244321}">
                <p14:modId xmlns:p14="http://schemas.microsoft.com/office/powerpoint/2010/main" val="4103784363"/>
              </p:ext>
            </p:extLst>
          </p:nvPr>
        </p:nvGraphicFramePr>
        <p:xfrm>
          <a:off x="3019425" y="4247571"/>
          <a:ext cx="1470025" cy="701675"/>
        </p:xfrm>
        <a:graphic>
          <a:graphicData uri="http://schemas.openxmlformats.org/presentationml/2006/ole">
            <mc:AlternateContent xmlns:mc="http://schemas.openxmlformats.org/markup-compatibility/2006">
              <mc:Choice xmlns:v="urn:schemas-microsoft-com:vml" Requires="v">
                <p:oleObj name="Equation" r:id="rId6" imgW="901440" imgH="431640" progId="Equation.DSMT4">
                  <p:embed/>
                </p:oleObj>
              </mc:Choice>
              <mc:Fallback>
                <p:oleObj name="Equation" r:id="rId6" imgW="901440" imgH="431640" progId="Equation.DSMT4">
                  <p:embed/>
                  <p:pic>
                    <p:nvPicPr>
                      <p:cNvPr id="25" name="对象 24">
                        <a:extLst>
                          <a:ext uri="{FF2B5EF4-FFF2-40B4-BE49-F238E27FC236}">
                            <a16:creationId xmlns:a16="http://schemas.microsoft.com/office/drawing/2014/main" id="{57C073C2-F2CF-A168-F34A-BE445DEC2852}"/>
                          </a:ext>
                        </a:extLst>
                      </p:cNvPr>
                      <p:cNvPicPr>
                        <a:picLocks noChangeAspect="1" noChangeArrowheads="1"/>
                      </p:cNvPicPr>
                      <p:nvPr/>
                    </p:nvPicPr>
                    <p:blipFill>
                      <a:blip r:embed="rId7"/>
                      <a:srcRect/>
                      <a:stretch>
                        <a:fillRect/>
                      </a:stretch>
                    </p:blipFill>
                    <p:spPr bwMode="auto">
                      <a:xfrm>
                        <a:off x="3019425" y="4247571"/>
                        <a:ext cx="1470025" cy="701675"/>
                      </a:xfrm>
                      <a:prstGeom prst="rect">
                        <a:avLst/>
                      </a:prstGeom>
                      <a:noFill/>
                    </p:spPr>
                  </p:pic>
                </p:oleObj>
              </mc:Fallback>
            </mc:AlternateContent>
          </a:graphicData>
        </a:graphic>
      </p:graphicFrame>
    </p:spTree>
    <p:extLst>
      <p:ext uri="{BB962C8B-B14F-4D97-AF65-F5344CB8AC3E}">
        <p14:creationId xmlns:p14="http://schemas.microsoft.com/office/powerpoint/2010/main" val="1963399612"/>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88811" y="1684847"/>
            <a:ext cx="7581813" cy="1397020"/>
          </a:xfrm>
          <a:custGeom>
            <a:avLst/>
            <a:gdLst/>
            <a:ahLst/>
            <a:cxnLst/>
            <a:rect l="l" t="t" r="r" b="b"/>
            <a:pathLst>
              <a:path w="7581813" h="1120146">
                <a:moveTo>
                  <a:pt x="37030" y="0"/>
                </a:moveTo>
                <a:lnTo>
                  <a:pt x="7470728" y="0"/>
                </a:lnTo>
                <a:cubicBezTo>
                  <a:pt x="7532079" y="0"/>
                  <a:pt x="7581813" y="49734"/>
                  <a:pt x="7581813" y="111085"/>
                </a:cubicBezTo>
                <a:lnTo>
                  <a:pt x="7581813" y="1009061"/>
                </a:lnTo>
                <a:cubicBezTo>
                  <a:pt x="7581813" y="1070411"/>
                  <a:pt x="7532079" y="1120146"/>
                  <a:pt x="7470728" y="1120146"/>
                </a:cubicBezTo>
                <a:lnTo>
                  <a:pt x="37030" y="1120146"/>
                </a:lnTo>
                <a:cubicBezTo>
                  <a:pt x="16579" y="1120146"/>
                  <a:pt x="0" y="1103567"/>
                  <a:pt x="0" y="1083116"/>
                </a:cubicBezTo>
                <a:lnTo>
                  <a:pt x="0" y="37030"/>
                </a:lnTo>
                <a:cubicBezTo>
                  <a:pt x="0" y="16579"/>
                  <a:pt x="16579" y="0"/>
                  <a:pt x="37030" y="0"/>
                </a:cubicBezTo>
                <a:close/>
              </a:path>
            </a:pathLst>
          </a:custGeom>
          <a:solidFill>
            <a:srgbClr val="5F87A7">
              <a:alpha val="10196"/>
            </a:srgbClr>
          </a:solidFill>
        </p:spPr>
      </p:sp>
      <p:sp>
        <p:nvSpPr>
          <p:cNvPr id="6" name="Shape 4"/>
          <p:cNvSpPr/>
          <p:nvPr/>
        </p:nvSpPr>
        <p:spPr>
          <a:xfrm>
            <a:off x="388811" y="1684847"/>
            <a:ext cx="37030" cy="1397020"/>
          </a:xfrm>
          <a:custGeom>
            <a:avLst/>
            <a:gdLst/>
            <a:ahLst/>
            <a:cxnLst/>
            <a:rect l="l" t="t" r="r" b="b"/>
            <a:pathLst>
              <a:path w="37030" h="1120146">
                <a:moveTo>
                  <a:pt x="37030" y="0"/>
                </a:moveTo>
                <a:lnTo>
                  <a:pt x="37030" y="0"/>
                </a:lnTo>
                <a:lnTo>
                  <a:pt x="37030" y="1120146"/>
                </a:lnTo>
                <a:lnTo>
                  <a:pt x="37030" y="1120146"/>
                </a:lnTo>
                <a:cubicBezTo>
                  <a:pt x="16579" y="1120146"/>
                  <a:pt x="0" y="1103567"/>
                  <a:pt x="0" y="1083116"/>
                </a:cubicBezTo>
                <a:lnTo>
                  <a:pt x="0" y="37030"/>
                </a:lnTo>
                <a:cubicBezTo>
                  <a:pt x="0" y="16579"/>
                  <a:pt x="16579" y="0"/>
                  <a:pt x="37030" y="0"/>
                </a:cubicBezTo>
                <a:close/>
              </a:path>
            </a:pathLst>
          </a:custGeom>
          <a:solidFill>
            <a:srgbClr val="E6B450"/>
          </a:solidFill>
        </p:spPr>
      </p:sp>
      <p:sp>
        <p:nvSpPr>
          <p:cNvPr id="7" name="Shape 5"/>
          <p:cNvSpPr/>
          <p:nvPr/>
        </p:nvSpPr>
        <p:spPr>
          <a:xfrm>
            <a:off x="657276" y="1944055"/>
            <a:ext cx="222178" cy="222178"/>
          </a:xfrm>
          <a:custGeom>
            <a:avLst/>
            <a:gdLst/>
            <a:ahLst/>
            <a:cxnLst/>
            <a:rect l="l" t="t" r="r" b="b"/>
            <a:pathLst>
              <a:path w="222178" h="222178">
                <a:moveTo>
                  <a:pt x="0" y="31244"/>
                </a:moveTo>
                <a:cubicBezTo>
                  <a:pt x="0" y="25516"/>
                  <a:pt x="4643" y="20829"/>
                  <a:pt x="10415" y="20829"/>
                </a:cubicBezTo>
                <a:lnTo>
                  <a:pt x="31244" y="20829"/>
                </a:lnTo>
                <a:cubicBezTo>
                  <a:pt x="37015" y="20829"/>
                  <a:pt x="41658" y="25472"/>
                  <a:pt x="41658" y="31244"/>
                </a:cubicBezTo>
                <a:lnTo>
                  <a:pt x="41658" y="76374"/>
                </a:lnTo>
                <a:lnTo>
                  <a:pt x="52073" y="76374"/>
                </a:lnTo>
                <a:cubicBezTo>
                  <a:pt x="57844" y="76374"/>
                  <a:pt x="62487" y="81017"/>
                  <a:pt x="62487" y="86788"/>
                </a:cubicBezTo>
                <a:cubicBezTo>
                  <a:pt x="62487" y="92560"/>
                  <a:pt x="57844" y="97203"/>
                  <a:pt x="52073" y="97203"/>
                </a:cubicBezTo>
                <a:lnTo>
                  <a:pt x="10415" y="97203"/>
                </a:lnTo>
                <a:cubicBezTo>
                  <a:pt x="4643" y="97203"/>
                  <a:pt x="0" y="92560"/>
                  <a:pt x="0" y="86788"/>
                </a:cubicBezTo>
                <a:cubicBezTo>
                  <a:pt x="0" y="81017"/>
                  <a:pt x="4643" y="76374"/>
                  <a:pt x="10415" y="76374"/>
                </a:cubicBezTo>
                <a:lnTo>
                  <a:pt x="20829" y="76374"/>
                </a:lnTo>
                <a:lnTo>
                  <a:pt x="20829" y="41658"/>
                </a:lnTo>
                <a:lnTo>
                  <a:pt x="10415" y="41658"/>
                </a:lnTo>
                <a:cubicBezTo>
                  <a:pt x="4643" y="41658"/>
                  <a:pt x="0" y="37015"/>
                  <a:pt x="0" y="31244"/>
                </a:cubicBezTo>
                <a:close/>
                <a:moveTo>
                  <a:pt x="13192" y="130703"/>
                </a:moveTo>
                <a:cubicBezTo>
                  <a:pt x="18139" y="126971"/>
                  <a:pt x="24171" y="124975"/>
                  <a:pt x="30376" y="124975"/>
                </a:cubicBezTo>
                <a:lnTo>
                  <a:pt x="32502" y="124975"/>
                </a:lnTo>
                <a:cubicBezTo>
                  <a:pt x="47126" y="124975"/>
                  <a:pt x="59016" y="136865"/>
                  <a:pt x="59016" y="151489"/>
                </a:cubicBezTo>
                <a:cubicBezTo>
                  <a:pt x="59016" y="159994"/>
                  <a:pt x="54937" y="167935"/>
                  <a:pt x="48081" y="172925"/>
                </a:cubicBezTo>
                <a:lnTo>
                  <a:pt x="37666" y="180519"/>
                </a:lnTo>
                <a:lnTo>
                  <a:pt x="52073" y="180519"/>
                </a:lnTo>
                <a:cubicBezTo>
                  <a:pt x="57844" y="180519"/>
                  <a:pt x="62487" y="185163"/>
                  <a:pt x="62487" y="190934"/>
                </a:cubicBezTo>
                <a:cubicBezTo>
                  <a:pt x="62487" y="196705"/>
                  <a:pt x="57844" y="201349"/>
                  <a:pt x="52073" y="201349"/>
                </a:cubicBezTo>
                <a:lnTo>
                  <a:pt x="12714" y="201349"/>
                </a:lnTo>
                <a:cubicBezTo>
                  <a:pt x="5685" y="201349"/>
                  <a:pt x="0" y="195664"/>
                  <a:pt x="0" y="188634"/>
                </a:cubicBezTo>
                <a:cubicBezTo>
                  <a:pt x="0" y="184555"/>
                  <a:pt x="1953" y="180736"/>
                  <a:pt x="5251" y="178350"/>
                </a:cubicBezTo>
                <a:lnTo>
                  <a:pt x="35844" y="156088"/>
                </a:lnTo>
                <a:cubicBezTo>
                  <a:pt x="37319" y="155004"/>
                  <a:pt x="38187" y="153311"/>
                  <a:pt x="38187" y="151489"/>
                </a:cubicBezTo>
                <a:cubicBezTo>
                  <a:pt x="38187" y="148364"/>
                  <a:pt x="35627" y="145804"/>
                  <a:pt x="32502" y="145804"/>
                </a:cubicBezTo>
                <a:lnTo>
                  <a:pt x="30376" y="145804"/>
                </a:lnTo>
                <a:cubicBezTo>
                  <a:pt x="28683" y="145804"/>
                  <a:pt x="27035" y="146368"/>
                  <a:pt x="25689" y="147366"/>
                </a:cubicBezTo>
                <a:lnTo>
                  <a:pt x="16663" y="154136"/>
                </a:lnTo>
                <a:cubicBezTo>
                  <a:pt x="12064" y="157607"/>
                  <a:pt x="5554" y="156653"/>
                  <a:pt x="2083" y="152053"/>
                </a:cubicBezTo>
                <a:cubicBezTo>
                  <a:pt x="-1389" y="147453"/>
                  <a:pt x="-434" y="140944"/>
                  <a:pt x="4166" y="137472"/>
                </a:cubicBezTo>
                <a:lnTo>
                  <a:pt x="13192" y="130703"/>
                </a:lnTo>
                <a:close/>
                <a:moveTo>
                  <a:pt x="97203" y="27772"/>
                </a:moveTo>
                <a:lnTo>
                  <a:pt x="208292" y="27772"/>
                </a:lnTo>
                <a:cubicBezTo>
                  <a:pt x="215972" y="27772"/>
                  <a:pt x="222178" y="33978"/>
                  <a:pt x="222178" y="41658"/>
                </a:cubicBezTo>
                <a:cubicBezTo>
                  <a:pt x="222178" y="49339"/>
                  <a:pt x="215972" y="55544"/>
                  <a:pt x="208292" y="55544"/>
                </a:cubicBezTo>
                <a:lnTo>
                  <a:pt x="97203" y="55544"/>
                </a:lnTo>
                <a:cubicBezTo>
                  <a:pt x="89522" y="55544"/>
                  <a:pt x="83317" y="49339"/>
                  <a:pt x="83317" y="41658"/>
                </a:cubicBezTo>
                <a:cubicBezTo>
                  <a:pt x="83317" y="33978"/>
                  <a:pt x="89522" y="27772"/>
                  <a:pt x="97203" y="27772"/>
                </a:cubicBezTo>
                <a:close/>
                <a:moveTo>
                  <a:pt x="97203" y="97203"/>
                </a:moveTo>
                <a:lnTo>
                  <a:pt x="208292" y="97203"/>
                </a:lnTo>
                <a:cubicBezTo>
                  <a:pt x="215972" y="97203"/>
                  <a:pt x="222178" y="103408"/>
                  <a:pt x="222178" y="111089"/>
                </a:cubicBezTo>
                <a:cubicBezTo>
                  <a:pt x="222178" y="118770"/>
                  <a:pt x="215972" y="124975"/>
                  <a:pt x="208292" y="124975"/>
                </a:cubicBezTo>
                <a:lnTo>
                  <a:pt x="97203" y="124975"/>
                </a:lnTo>
                <a:cubicBezTo>
                  <a:pt x="89522" y="124975"/>
                  <a:pt x="83317" y="118770"/>
                  <a:pt x="83317" y="111089"/>
                </a:cubicBezTo>
                <a:cubicBezTo>
                  <a:pt x="83317" y="103408"/>
                  <a:pt x="89522" y="97203"/>
                  <a:pt x="97203" y="97203"/>
                </a:cubicBezTo>
                <a:close/>
                <a:moveTo>
                  <a:pt x="97203" y="166633"/>
                </a:moveTo>
                <a:lnTo>
                  <a:pt x="208292" y="166633"/>
                </a:lnTo>
                <a:cubicBezTo>
                  <a:pt x="215972" y="166633"/>
                  <a:pt x="222178" y="172839"/>
                  <a:pt x="222178" y="180519"/>
                </a:cubicBezTo>
                <a:cubicBezTo>
                  <a:pt x="222178" y="188200"/>
                  <a:pt x="215972" y="194405"/>
                  <a:pt x="208292" y="194405"/>
                </a:cubicBezTo>
                <a:lnTo>
                  <a:pt x="97203" y="194405"/>
                </a:lnTo>
                <a:cubicBezTo>
                  <a:pt x="89522" y="194405"/>
                  <a:pt x="83317" y="188200"/>
                  <a:pt x="83317" y="180519"/>
                </a:cubicBezTo>
                <a:cubicBezTo>
                  <a:pt x="83317" y="172839"/>
                  <a:pt x="89522" y="166633"/>
                  <a:pt x="97203" y="166633"/>
                </a:cubicBezTo>
                <a:close/>
              </a:path>
            </a:pathLst>
          </a:custGeom>
          <a:solidFill>
            <a:srgbClr val="E6B450"/>
          </a:solidFill>
        </p:spPr>
      </p:sp>
      <p:sp>
        <p:nvSpPr>
          <p:cNvPr id="8" name="Text 6"/>
          <p:cNvSpPr/>
          <p:nvPr/>
        </p:nvSpPr>
        <p:spPr>
          <a:xfrm>
            <a:off x="1055344" y="1907025"/>
            <a:ext cx="6739390" cy="296237"/>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第三步</a:t>
            </a:r>
            <a:endParaRPr lang="en-US" dirty="0"/>
          </a:p>
        </p:txBody>
      </p:sp>
      <p:sp>
        <p:nvSpPr>
          <p:cNvPr id="9" name="Text 7"/>
          <p:cNvSpPr/>
          <p:nvPr/>
        </p:nvSpPr>
        <p:spPr>
          <a:xfrm>
            <a:off x="1055344" y="2314351"/>
            <a:ext cx="6711617" cy="268465"/>
          </a:xfrm>
          <a:prstGeom prst="rect">
            <a:avLst/>
          </a:prstGeom>
          <a:noFill/>
        </p:spPr>
        <p:txBody>
          <a:bodyPr wrap="square" lIns="0" tIns="0" rIns="0" bIns="0" rtlCol="0" anchor="ctr"/>
          <a:lstStyle/>
          <a:p>
            <a:pPr>
              <a:lnSpc>
                <a:spcPct val="140000"/>
              </a:lnSpc>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连接AB，并在AB上找到C点，使其满足</a:t>
            </a:r>
            <a:endParaRPr lang="en-US" sz="2000" dirty="0"/>
          </a:p>
        </p:txBody>
      </p:sp>
      <p:sp>
        <p:nvSpPr>
          <p:cNvPr id="10" name="Shape 8"/>
          <p:cNvSpPr/>
          <p:nvPr/>
        </p:nvSpPr>
        <p:spPr>
          <a:xfrm>
            <a:off x="374925" y="3528786"/>
            <a:ext cx="7591071" cy="625474"/>
          </a:xfrm>
          <a:custGeom>
            <a:avLst/>
            <a:gdLst/>
            <a:ahLst/>
            <a:cxnLst/>
            <a:rect l="l" t="t" r="r" b="b"/>
            <a:pathLst>
              <a:path w="7591071" h="1832966">
                <a:moveTo>
                  <a:pt x="111096" y="0"/>
                </a:moveTo>
                <a:lnTo>
                  <a:pt x="7479975" y="0"/>
                </a:lnTo>
                <a:cubicBezTo>
                  <a:pt x="7541331" y="0"/>
                  <a:pt x="7591071" y="49739"/>
                  <a:pt x="7591071" y="111096"/>
                </a:cubicBezTo>
                <a:lnTo>
                  <a:pt x="7591071" y="1721870"/>
                </a:lnTo>
                <a:cubicBezTo>
                  <a:pt x="7591071" y="1783226"/>
                  <a:pt x="7541331" y="1832966"/>
                  <a:pt x="7479975" y="1832966"/>
                </a:cubicBezTo>
                <a:lnTo>
                  <a:pt x="111096" y="1832966"/>
                </a:lnTo>
                <a:cubicBezTo>
                  <a:pt x="49739" y="1832966"/>
                  <a:pt x="0" y="1783226"/>
                  <a:pt x="0" y="1721870"/>
                </a:cubicBezTo>
                <a:lnTo>
                  <a:pt x="0" y="111096"/>
                </a:lnTo>
                <a:cubicBezTo>
                  <a:pt x="0" y="49780"/>
                  <a:pt x="49780" y="0"/>
                  <a:pt x="111096" y="0"/>
                </a:cubicBezTo>
                <a:close/>
              </a:path>
            </a:pathLst>
          </a:custGeom>
          <a:solidFill>
            <a:srgbClr val="E6B450">
              <a:alpha val="10196"/>
            </a:srgbClr>
          </a:solidFill>
          <a:ln w="12700">
            <a:solidFill>
              <a:srgbClr val="E6B450">
                <a:alpha val="30196"/>
              </a:srgbClr>
            </a:solidFill>
            <a:prstDash val="solid"/>
          </a:ln>
        </p:spPr>
      </p:sp>
      <p:sp>
        <p:nvSpPr>
          <p:cNvPr id="13" name="Text 11"/>
          <p:cNvSpPr/>
          <p:nvPr/>
        </p:nvSpPr>
        <p:spPr>
          <a:xfrm>
            <a:off x="601731" y="3668246"/>
            <a:ext cx="7220774" cy="268465"/>
          </a:xfrm>
          <a:prstGeom prst="rect">
            <a:avLst/>
          </a:prstGeom>
          <a:noFill/>
        </p:spPr>
        <p:txBody>
          <a:bodyPr wrap="square" lIns="0" tIns="0" rIns="0" bIns="0" rtlCol="0" anchor="ctr"/>
          <a:lstStyle/>
          <a:p>
            <a:pPr>
              <a:lnSpc>
                <a:spcPct val="14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根据抛物线的三切线定理，</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C点是贝塞尔曲线上的点，满足相同比例关系</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000" dirty="0"/>
          </a:p>
        </p:txBody>
      </p:sp>
      <p:sp>
        <p:nvSpPr>
          <p:cNvPr id="21" name="Shape 19"/>
          <p:cNvSpPr/>
          <p:nvPr/>
        </p:nvSpPr>
        <p:spPr>
          <a:xfrm>
            <a:off x="8274527" y="1689476"/>
            <a:ext cx="3545585" cy="4526870"/>
          </a:xfrm>
          <a:custGeom>
            <a:avLst/>
            <a:gdLst/>
            <a:ahLst/>
            <a:cxnLst/>
            <a:rect l="l" t="t" r="r" b="b"/>
            <a:pathLst>
              <a:path w="3545585" h="4526870">
                <a:moveTo>
                  <a:pt x="111083" y="0"/>
                </a:moveTo>
                <a:lnTo>
                  <a:pt x="3434502" y="0"/>
                </a:lnTo>
                <a:cubicBezTo>
                  <a:pt x="3495852" y="0"/>
                  <a:pt x="3545585" y="49734"/>
                  <a:pt x="3545585" y="111083"/>
                </a:cubicBezTo>
                <a:lnTo>
                  <a:pt x="3545585" y="4415787"/>
                </a:lnTo>
                <a:cubicBezTo>
                  <a:pt x="3545585" y="4477137"/>
                  <a:pt x="3495852" y="4526870"/>
                  <a:pt x="3434502" y="4526870"/>
                </a:cubicBezTo>
                <a:lnTo>
                  <a:pt x="111083" y="4526870"/>
                </a:lnTo>
                <a:cubicBezTo>
                  <a:pt x="49734" y="4526870"/>
                  <a:pt x="0" y="4477137"/>
                  <a:pt x="0" y="4415787"/>
                </a:cubicBezTo>
                <a:lnTo>
                  <a:pt x="0" y="111083"/>
                </a:lnTo>
                <a:cubicBezTo>
                  <a:pt x="0" y="49775"/>
                  <a:pt x="49775" y="0"/>
                  <a:pt x="111083" y="0"/>
                </a:cubicBezTo>
                <a:close/>
              </a:path>
            </a:pathLst>
          </a:custGeom>
          <a:solidFill>
            <a:srgbClr val="E6B450">
              <a:alpha val="10196"/>
            </a:srgbClr>
          </a:solidFill>
          <a:ln w="12700">
            <a:solidFill>
              <a:srgbClr val="E6B450">
                <a:alpha val="30196"/>
              </a:srgbClr>
            </a:solidFill>
            <a:prstDash val="solid"/>
          </a:ln>
        </p:spPr>
      </p:sp>
      <p:sp>
        <p:nvSpPr>
          <p:cNvPr id="22" name="Shape 20"/>
          <p:cNvSpPr/>
          <p:nvPr/>
        </p:nvSpPr>
        <p:spPr>
          <a:xfrm>
            <a:off x="8524477" y="1953312"/>
            <a:ext cx="185148" cy="185148"/>
          </a:xfrm>
          <a:custGeom>
            <a:avLst/>
            <a:gdLst/>
            <a:ahLst/>
            <a:cxnLst/>
            <a:rect l="l" t="t" r="r" b="b"/>
            <a:pathLst>
              <a:path w="185148" h="185148">
                <a:moveTo>
                  <a:pt x="0" y="28929"/>
                </a:moveTo>
                <a:cubicBezTo>
                  <a:pt x="0" y="19347"/>
                  <a:pt x="7775" y="11572"/>
                  <a:pt x="17358" y="11572"/>
                </a:cubicBezTo>
                <a:lnTo>
                  <a:pt x="52073" y="11572"/>
                </a:lnTo>
                <a:cubicBezTo>
                  <a:pt x="61656" y="11572"/>
                  <a:pt x="69431" y="19347"/>
                  <a:pt x="69431" y="28929"/>
                </a:cubicBezTo>
                <a:lnTo>
                  <a:pt x="69431" y="34715"/>
                </a:lnTo>
                <a:lnTo>
                  <a:pt x="115718" y="34715"/>
                </a:lnTo>
                <a:lnTo>
                  <a:pt x="115718" y="28929"/>
                </a:lnTo>
                <a:cubicBezTo>
                  <a:pt x="115718" y="19347"/>
                  <a:pt x="123492" y="11572"/>
                  <a:pt x="133075" y="11572"/>
                </a:cubicBezTo>
                <a:lnTo>
                  <a:pt x="167790" y="11572"/>
                </a:lnTo>
                <a:cubicBezTo>
                  <a:pt x="177373" y="11572"/>
                  <a:pt x="185148" y="19347"/>
                  <a:pt x="185148" y="28929"/>
                </a:cubicBezTo>
                <a:lnTo>
                  <a:pt x="185148" y="63645"/>
                </a:lnTo>
                <a:cubicBezTo>
                  <a:pt x="185148" y="73228"/>
                  <a:pt x="177373" y="81002"/>
                  <a:pt x="167790" y="81002"/>
                </a:cubicBezTo>
                <a:lnTo>
                  <a:pt x="133075" y="81002"/>
                </a:lnTo>
                <a:cubicBezTo>
                  <a:pt x="123492" y="81002"/>
                  <a:pt x="115718" y="73228"/>
                  <a:pt x="115718" y="63645"/>
                </a:cubicBezTo>
                <a:lnTo>
                  <a:pt x="115718" y="57859"/>
                </a:lnTo>
                <a:lnTo>
                  <a:pt x="69431" y="57859"/>
                </a:lnTo>
                <a:lnTo>
                  <a:pt x="69431" y="63645"/>
                </a:lnTo>
                <a:cubicBezTo>
                  <a:pt x="69431" y="66284"/>
                  <a:pt x="68816" y="68816"/>
                  <a:pt x="67767" y="71058"/>
                </a:cubicBezTo>
                <a:lnTo>
                  <a:pt x="92574" y="104146"/>
                </a:lnTo>
                <a:lnTo>
                  <a:pt x="121503" y="104146"/>
                </a:lnTo>
                <a:cubicBezTo>
                  <a:pt x="131086" y="104146"/>
                  <a:pt x="138861" y="111921"/>
                  <a:pt x="138861" y="121503"/>
                </a:cubicBezTo>
                <a:lnTo>
                  <a:pt x="138861" y="156219"/>
                </a:lnTo>
                <a:cubicBezTo>
                  <a:pt x="138861" y="165802"/>
                  <a:pt x="131086" y="173576"/>
                  <a:pt x="121503" y="173576"/>
                </a:cubicBezTo>
                <a:lnTo>
                  <a:pt x="86788" y="173576"/>
                </a:lnTo>
                <a:cubicBezTo>
                  <a:pt x="77205" y="173576"/>
                  <a:pt x="69431" y="165802"/>
                  <a:pt x="69431" y="156219"/>
                </a:cubicBezTo>
                <a:lnTo>
                  <a:pt x="69431" y="121503"/>
                </a:lnTo>
                <a:cubicBezTo>
                  <a:pt x="69431" y="118864"/>
                  <a:pt x="70045" y="116332"/>
                  <a:pt x="71094" y="114090"/>
                </a:cubicBezTo>
                <a:lnTo>
                  <a:pt x="46287" y="81002"/>
                </a:lnTo>
                <a:lnTo>
                  <a:pt x="17358" y="81002"/>
                </a:lnTo>
                <a:cubicBezTo>
                  <a:pt x="7775" y="81002"/>
                  <a:pt x="0" y="73228"/>
                  <a:pt x="0" y="63645"/>
                </a:cubicBezTo>
                <a:lnTo>
                  <a:pt x="0" y="28929"/>
                </a:lnTo>
                <a:close/>
              </a:path>
            </a:pathLst>
          </a:custGeom>
          <a:solidFill>
            <a:srgbClr val="E6B450"/>
          </a:solidFill>
        </p:spPr>
      </p:sp>
      <p:sp>
        <p:nvSpPr>
          <p:cNvPr id="23" name="Text 21"/>
          <p:cNvSpPr/>
          <p:nvPr/>
        </p:nvSpPr>
        <p:spPr>
          <a:xfrm>
            <a:off x="8732769" y="1916282"/>
            <a:ext cx="2953112" cy="259207"/>
          </a:xfrm>
          <a:prstGeom prst="rect">
            <a:avLst/>
          </a:prstGeom>
          <a:noFill/>
        </p:spPr>
        <p:txBody>
          <a:bodyPr wrap="square" lIns="0" tIns="0" rIns="0" bIns="0" rtlCol="0" anchor="ctr"/>
          <a:lstStyle/>
          <a:p>
            <a:pPr>
              <a:lnSpc>
                <a:spcPct val="12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Step 3 示意</a:t>
            </a:r>
            <a:endParaRPr lang="en-US" sz="1600" dirty="0"/>
          </a:p>
        </p:txBody>
      </p:sp>
      <p:sp>
        <p:nvSpPr>
          <p:cNvPr id="39" name="Shape 35"/>
          <p:cNvSpPr/>
          <p:nvPr/>
        </p:nvSpPr>
        <p:spPr>
          <a:xfrm>
            <a:off x="8501334" y="5468811"/>
            <a:ext cx="3091973" cy="518415"/>
          </a:xfrm>
          <a:custGeom>
            <a:avLst/>
            <a:gdLst/>
            <a:ahLst/>
            <a:cxnLst/>
            <a:rect l="l" t="t" r="r" b="b"/>
            <a:pathLst>
              <a:path w="3091973" h="518415">
                <a:moveTo>
                  <a:pt x="74061" y="0"/>
                </a:moveTo>
                <a:lnTo>
                  <a:pt x="3017912" y="0"/>
                </a:lnTo>
                <a:cubicBezTo>
                  <a:pt x="3058815" y="0"/>
                  <a:pt x="3091973" y="33158"/>
                  <a:pt x="3091973" y="74061"/>
                </a:cubicBezTo>
                <a:lnTo>
                  <a:pt x="3091973" y="444354"/>
                </a:lnTo>
                <a:cubicBezTo>
                  <a:pt x="3091973" y="485256"/>
                  <a:pt x="3058815" y="518415"/>
                  <a:pt x="3017912" y="518415"/>
                </a:cubicBezTo>
                <a:lnTo>
                  <a:pt x="74061" y="518415"/>
                </a:lnTo>
                <a:cubicBezTo>
                  <a:pt x="33185" y="518415"/>
                  <a:pt x="0" y="485229"/>
                  <a:pt x="0" y="444354"/>
                </a:cubicBezTo>
                <a:lnTo>
                  <a:pt x="0" y="74061"/>
                </a:lnTo>
                <a:cubicBezTo>
                  <a:pt x="0" y="33158"/>
                  <a:pt x="33158" y="0"/>
                  <a:pt x="74061" y="0"/>
                </a:cubicBezTo>
                <a:close/>
              </a:path>
            </a:pathLst>
          </a:custGeom>
          <a:solidFill>
            <a:srgbClr val="5F87A7">
              <a:alpha val="20000"/>
            </a:srgbClr>
          </a:solidFill>
        </p:spPr>
      </p:sp>
      <p:sp>
        <p:nvSpPr>
          <p:cNvPr id="40" name="Shape 36"/>
          <p:cNvSpPr/>
          <p:nvPr/>
        </p:nvSpPr>
        <p:spPr>
          <a:xfrm>
            <a:off x="8633252" y="5653959"/>
            <a:ext cx="148118" cy="148118"/>
          </a:xfrm>
          <a:custGeom>
            <a:avLst/>
            <a:gdLst/>
            <a:ahLst/>
            <a:cxnLst/>
            <a:rect l="l" t="t" r="r" b="b"/>
            <a:pathLst>
              <a:path w="148118" h="148118">
                <a:moveTo>
                  <a:pt x="74059" y="148118"/>
                </a:moveTo>
                <a:cubicBezTo>
                  <a:pt x="114934" y="148118"/>
                  <a:pt x="148118" y="114934"/>
                  <a:pt x="148118" y="74059"/>
                </a:cubicBezTo>
                <a:cubicBezTo>
                  <a:pt x="148118" y="33185"/>
                  <a:pt x="114934" y="0"/>
                  <a:pt x="74059" y="0"/>
                </a:cubicBezTo>
                <a:cubicBezTo>
                  <a:pt x="33185" y="0"/>
                  <a:pt x="0" y="33185"/>
                  <a:pt x="0" y="74059"/>
                </a:cubicBezTo>
                <a:cubicBezTo>
                  <a:pt x="0" y="114934"/>
                  <a:pt x="33185" y="148118"/>
                  <a:pt x="74059" y="148118"/>
                </a:cubicBezTo>
                <a:close/>
                <a:moveTo>
                  <a:pt x="64802" y="46287"/>
                </a:moveTo>
                <a:cubicBezTo>
                  <a:pt x="64802" y="41178"/>
                  <a:pt x="68950" y="37030"/>
                  <a:pt x="74059" y="37030"/>
                </a:cubicBezTo>
                <a:cubicBezTo>
                  <a:pt x="79169" y="37030"/>
                  <a:pt x="83317" y="41178"/>
                  <a:pt x="83317" y="46287"/>
                </a:cubicBezTo>
                <a:cubicBezTo>
                  <a:pt x="83317" y="51396"/>
                  <a:pt x="79169" y="55544"/>
                  <a:pt x="74059" y="55544"/>
                </a:cubicBezTo>
                <a:cubicBezTo>
                  <a:pt x="68950" y="55544"/>
                  <a:pt x="64802" y="51396"/>
                  <a:pt x="64802" y="46287"/>
                </a:cubicBezTo>
                <a:close/>
                <a:moveTo>
                  <a:pt x="62487" y="64802"/>
                </a:moveTo>
                <a:lnTo>
                  <a:pt x="76374" y="64802"/>
                </a:lnTo>
                <a:cubicBezTo>
                  <a:pt x="80221" y="64802"/>
                  <a:pt x="83317" y="67897"/>
                  <a:pt x="83317" y="71745"/>
                </a:cubicBezTo>
                <a:lnTo>
                  <a:pt x="83317" y="97203"/>
                </a:lnTo>
                <a:lnTo>
                  <a:pt x="85631" y="97203"/>
                </a:lnTo>
                <a:cubicBezTo>
                  <a:pt x="89479" y="97203"/>
                  <a:pt x="92574" y="100298"/>
                  <a:pt x="92574" y="104146"/>
                </a:cubicBezTo>
                <a:cubicBezTo>
                  <a:pt x="92574" y="107993"/>
                  <a:pt x="89479" y="111089"/>
                  <a:pt x="85631" y="111089"/>
                </a:cubicBezTo>
                <a:lnTo>
                  <a:pt x="62487" y="111089"/>
                </a:lnTo>
                <a:cubicBezTo>
                  <a:pt x="58640" y="111089"/>
                  <a:pt x="55544" y="107993"/>
                  <a:pt x="55544" y="104146"/>
                </a:cubicBezTo>
                <a:cubicBezTo>
                  <a:pt x="55544" y="100298"/>
                  <a:pt x="58640" y="97203"/>
                  <a:pt x="62487" y="97203"/>
                </a:cubicBezTo>
                <a:lnTo>
                  <a:pt x="69431" y="97203"/>
                </a:lnTo>
                <a:lnTo>
                  <a:pt x="69431" y="78688"/>
                </a:lnTo>
                <a:lnTo>
                  <a:pt x="62487" y="78688"/>
                </a:lnTo>
                <a:cubicBezTo>
                  <a:pt x="58640" y="78688"/>
                  <a:pt x="55544" y="75592"/>
                  <a:pt x="55544" y="71745"/>
                </a:cubicBezTo>
                <a:cubicBezTo>
                  <a:pt x="55544" y="67897"/>
                  <a:pt x="58640" y="64802"/>
                  <a:pt x="62487" y="64802"/>
                </a:cubicBezTo>
                <a:close/>
              </a:path>
            </a:pathLst>
          </a:custGeom>
          <a:solidFill>
            <a:srgbClr val="E6B450"/>
          </a:solidFill>
        </p:spPr>
      </p:sp>
      <p:sp>
        <p:nvSpPr>
          <p:cNvPr id="41" name="Text 37"/>
          <p:cNvSpPr/>
          <p:nvPr/>
        </p:nvSpPr>
        <p:spPr>
          <a:xfrm>
            <a:off x="8809568" y="5616929"/>
            <a:ext cx="2714638" cy="222178"/>
          </a:xfrm>
          <a:prstGeom prst="rect">
            <a:avLst/>
          </a:prstGeom>
          <a:noFill/>
        </p:spPr>
        <p:txBody>
          <a:bodyPr wrap="square" lIns="0" tIns="0" rIns="0" bIns="0" rtlCol="0" anchor="ctr"/>
          <a:lstStyle/>
          <a:p>
            <a:pPr algn="ct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连接AB，按相同比例找到C点</a:t>
            </a:r>
            <a:endParaRPr lang="en-US" sz="1600" dirty="0"/>
          </a:p>
        </p:txBody>
      </p:sp>
      <p:grpSp>
        <p:nvGrpSpPr>
          <p:cNvPr id="42" name="组合 41">
            <a:extLst>
              <a:ext uri="{FF2B5EF4-FFF2-40B4-BE49-F238E27FC236}">
                <a16:creationId xmlns:a16="http://schemas.microsoft.com/office/drawing/2014/main" id="{CDE3CC8C-0460-40A8-5670-7967FFEA5E07}"/>
              </a:ext>
            </a:extLst>
          </p:cNvPr>
          <p:cNvGrpSpPr/>
          <p:nvPr/>
        </p:nvGrpSpPr>
        <p:grpSpPr>
          <a:xfrm>
            <a:off x="0" y="939798"/>
            <a:ext cx="5022850" cy="625474"/>
            <a:chOff x="0" y="1075267"/>
            <a:chExt cx="5022850" cy="625474"/>
          </a:xfrm>
        </p:grpSpPr>
        <p:sp>
          <p:nvSpPr>
            <p:cNvPr id="43" name="矩形 42">
              <a:extLst>
                <a:ext uri="{FF2B5EF4-FFF2-40B4-BE49-F238E27FC236}">
                  <a16:creationId xmlns:a16="http://schemas.microsoft.com/office/drawing/2014/main" id="{5FA89253-B0AE-398E-A6FD-0C680239EA49}"/>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FC13483B-FB99-1AAA-C74B-5041D8372A9B}"/>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7.3.2 </a:t>
              </a:r>
              <a:r>
                <a:rPr lang="zh-CN" altLang="en-US" sz="2400" b="1" dirty="0">
                  <a:solidFill>
                    <a:schemeClr val="accent1"/>
                  </a:solidFill>
                  <a:latin typeface="+mj-lt"/>
                </a:rPr>
                <a:t>路径平滑</a:t>
              </a:r>
            </a:p>
          </p:txBody>
        </p:sp>
      </p:grpSp>
      <p:pic>
        <p:nvPicPr>
          <p:cNvPr id="45" name="图片 44" descr="7439ad7973a39d176b7cb88f83c300b">
            <a:extLst>
              <a:ext uri="{FF2B5EF4-FFF2-40B4-BE49-F238E27FC236}">
                <a16:creationId xmlns:a16="http://schemas.microsoft.com/office/drawing/2014/main" id="{FEC6598A-64B8-4E10-6C9E-598583153DE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279154" y="2779834"/>
            <a:ext cx="3524035" cy="2050903"/>
          </a:xfrm>
          <a:prstGeom prst="rect">
            <a:avLst/>
          </a:prstGeom>
        </p:spPr>
      </p:pic>
      <p:graphicFrame>
        <p:nvGraphicFramePr>
          <p:cNvPr id="3" name="对象 2">
            <a:extLst>
              <a:ext uri="{FF2B5EF4-FFF2-40B4-BE49-F238E27FC236}">
                <a16:creationId xmlns:a16="http://schemas.microsoft.com/office/drawing/2014/main" id="{24CB4306-9BBC-5575-6870-E878E507A246}"/>
              </a:ext>
            </a:extLst>
          </p:cNvPr>
          <p:cNvGraphicFramePr>
            <a:graphicFrameLocks noChangeAspect="1"/>
          </p:cNvGraphicFramePr>
          <p:nvPr>
            <p:extLst>
              <p:ext uri="{D42A27DB-BD31-4B8C-83A1-F6EECF244321}">
                <p14:modId xmlns:p14="http://schemas.microsoft.com/office/powerpoint/2010/main" val="4238732734"/>
              </p:ext>
            </p:extLst>
          </p:nvPr>
        </p:nvGraphicFramePr>
        <p:xfrm>
          <a:off x="4694671" y="2138461"/>
          <a:ext cx="2242612" cy="748672"/>
        </p:xfrm>
        <a:graphic>
          <a:graphicData uri="http://schemas.openxmlformats.org/presentationml/2006/ole">
            <mc:AlternateContent xmlns:mc="http://schemas.openxmlformats.org/markup-compatibility/2006">
              <mc:Choice xmlns:v="urn:schemas-microsoft-com:vml" Requires="v">
                <p:oleObj name="Equation" r:id="rId4" imgW="1295280" imgH="431640" progId="Equation.DSMT4">
                  <p:embed/>
                </p:oleObj>
              </mc:Choice>
              <mc:Fallback>
                <p:oleObj name="Equation" r:id="rId4" imgW="1295280" imgH="431640" progId="Equation.DSMT4">
                  <p:embed/>
                  <p:pic>
                    <p:nvPicPr>
                      <p:cNvPr id="3" name="对象 2">
                        <a:extLst>
                          <a:ext uri="{FF2B5EF4-FFF2-40B4-BE49-F238E27FC236}">
                            <a16:creationId xmlns:a16="http://schemas.microsoft.com/office/drawing/2014/main" id="{24CB4306-9BBC-5575-6870-E878E507A246}"/>
                          </a:ext>
                        </a:extLst>
                      </p:cNvPr>
                      <p:cNvPicPr>
                        <a:picLocks noChangeAspect="1" noChangeArrowheads="1"/>
                      </p:cNvPicPr>
                      <p:nvPr/>
                    </p:nvPicPr>
                    <p:blipFill>
                      <a:blip r:embed="rId5"/>
                      <a:srcRect/>
                      <a:stretch>
                        <a:fillRect/>
                      </a:stretch>
                    </p:blipFill>
                    <p:spPr bwMode="auto">
                      <a:xfrm>
                        <a:off x="4694671" y="2138461"/>
                        <a:ext cx="2242612" cy="748672"/>
                      </a:xfrm>
                      <a:prstGeom prst="rect">
                        <a:avLst/>
                      </a:prstGeom>
                      <a:noFill/>
                    </p:spPr>
                  </p:pic>
                </p:oleObj>
              </mc:Fallback>
            </mc:AlternateContent>
          </a:graphicData>
        </a:graphic>
      </p:graphicFrame>
    </p:spTree>
    <p:extLst>
      <p:ext uri="{BB962C8B-B14F-4D97-AF65-F5344CB8AC3E}">
        <p14:creationId xmlns:p14="http://schemas.microsoft.com/office/powerpoint/2010/main" val="1312528714"/>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35340" y="1654032"/>
            <a:ext cx="8215827" cy="966098"/>
          </a:xfrm>
          <a:custGeom>
            <a:avLst/>
            <a:gdLst/>
            <a:ahLst/>
            <a:cxnLst/>
            <a:rect l="l" t="t" r="r" b="b"/>
            <a:pathLst>
              <a:path w="8215827" h="966098">
                <a:moveTo>
                  <a:pt x="31937" y="0"/>
                </a:moveTo>
                <a:lnTo>
                  <a:pt x="8120019" y="0"/>
                </a:lnTo>
                <a:cubicBezTo>
                  <a:pt x="8172932" y="0"/>
                  <a:pt x="8215827" y="42895"/>
                  <a:pt x="8215827" y="95808"/>
                </a:cubicBezTo>
                <a:lnTo>
                  <a:pt x="8215827" y="870290"/>
                </a:lnTo>
                <a:cubicBezTo>
                  <a:pt x="8215827" y="923204"/>
                  <a:pt x="8172932" y="966098"/>
                  <a:pt x="8120019" y="966098"/>
                </a:cubicBezTo>
                <a:lnTo>
                  <a:pt x="31937" y="966098"/>
                </a:lnTo>
                <a:cubicBezTo>
                  <a:pt x="14299" y="966098"/>
                  <a:pt x="0" y="951799"/>
                  <a:pt x="0" y="934161"/>
                </a:cubicBezTo>
                <a:lnTo>
                  <a:pt x="0" y="31937"/>
                </a:lnTo>
                <a:cubicBezTo>
                  <a:pt x="0" y="14311"/>
                  <a:pt x="14311" y="0"/>
                  <a:pt x="31937" y="0"/>
                </a:cubicBezTo>
                <a:close/>
              </a:path>
            </a:pathLst>
          </a:custGeom>
          <a:solidFill>
            <a:srgbClr val="5F87A7">
              <a:alpha val="10196"/>
            </a:srgbClr>
          </a:solidFill>
        </p:spPr>
      </p:sp>
      <p:sp>
        <p:nvSpPr>
          <p:cNvPr id="6" name="Shape 4"/>
          <p:cNvSpPr/>
          <p:nvPr/>
        </p:nvSpPr>
        <p:spPr>
          <a:xfrm>
            <a:off x="335340" y="1654032"/>
            <a:ext cx="31937" cy="966098"/>
          </a:xfrm>
          <a:custGeom>
            <a:avLst/>
            <a:gdLst/>
            <a:ahLst/>
            <a:cxnLst/>
            <a:rect l="l" t="t" r="r" b="b"/>
            <a:pathLst>
              <a:path w="31937" h="966098">
                <a:moveTo>
                  <a:pt x="31937" y="0"/>
                </a:moveTo>
                <a:lnTo>
                  <a:pt x="31937" y="0"/>
                </a:lnTo>
                <a:lnTo>
                  <a:pt x="31937" y="966098"/>
                </a:lnTo>
                <a:lnTo>
                  <a:pt x="31937" y="966098"/>
                </a:lnTo>
                <a:cubicBezTo>
                  <a:pt x="14299" y="966098"/>
                  <a:pt x="0" y="951799"/>
                  <a:pt x="0" y="934161"/>
                </a:cubicBezTo>
                <a:lnTo>
                  <a:pt x="0" y="31937"/>
                </a:lnTo>
                <a:cubicBezTo>
                  <a:pt x="0" y="14311"/>
                  <a:pt x="14311" y="0"/>
                  <a:pt x="31937" y="0"/>
                </a:cubicBezTo>
                <a:close/>
              </a:path>
            </a:pathLst>
          </a:custGeom>
          <a:solidFill>
            <a:srgbClr val="E6B450"/>
          </a:solidFill>
        </p:spPr>
      </p:sp>
      <p:sp>
        <p:nvSpPr>
          <p:cNvPr id="7" name="Shape 5"/>
          <p:cNvSpPr/>
          <p:nvPr/>
        </p:nvSpPr>
        <p:spPr>
          <a:xfrm>
            <a:off x="566884" y="1877592"/>
            <a:ext cx="191623" cy="191623"/>
          </a:xfrm>
          <a:custGeom>
            <a:avLst/>
            <a:gdLst/>
            <a:ahLst/>
            <a:cxnLst/>
            <a:rect l="l" t="t" r="r" b="b"/>
            <a:pathLst>
              <a:path w="191623" h="191623">
                <a:moveTo>
                  <a:pt x="0" y="26947"/>
                </a:moveTo>
                <a:cubicBezTo>
                  <a:pt x="0" y="22007"/>
                  <a:pt x="4005" y="17965"/>
                  <a:pt x="8982" y="17965"/>
                </a:cubicBezTo>
                <a:lnTo>
                  <a:pt x="26947" y="17965"/>
                </a:lnTo>
                <a:cubicBezTo>
                  <a:pt x="31925" y="17965"/>
                  <a:pt x="35929" y="21969"/>
                  <a:pt x="35929" y="26947"/>
                </a:cubicBezTo>
                <a:lnTo>
                  <a:pt x="35929" y="65870"/>
                </a:lnTo>
                <a:lnTo>
                  <a:pt x="44912" y="65870"/>
                </a:lnTo>
                <a:cubicBezTo>
                  <a:pt x="49889" y="65870"/>
                  <a:pt x="53894" y="69875"/>
                  <a:pt x="53894" y="74853"/>
                </a:cubicBezTo>
                <a:cubicBezTo>
                  <a:pt x="53894" y="79830"/>
                  <a:pt x="49889" y="83835"/>
                  <a:pt x="44912" y="83835"/>
                </a:cubicBezTo>
                <a:lnTo>
                  <a:pt x="8982" y="83835"/>
                </a:lnTo>
                <a:cubicBezTo>
                  <a:pt x="4005" y="83835"/>
                  <a:pt x="0" y="79830"/>
                  <a:pt x="0" y="74853"/>
                </a:cubicBezTo>
                <a:cubicBezTo>
                  <a:pt x="0" y="69875"/>
                  <a:pt x="4005" y="65870"/>
                  <a:pt x="8982" y="65870"/>
                </a:cubicBezTo>
                <a:lnTo>
                  <a:pt x="17965" y="65870"/>
                </a:lnTo>
                <a:lnTo>
                  <a:pt x="17965" y="35929"/>
                </a:lnTo>
                <a:lnTo>
                  <a:pt x="8982" y="35929"/>
                </a:lnTo>
                <a:cubicBezTo>
                  <a:pt x="4005" y="35929"/>
                  <a:pt x="0" y="31925"/>
                  <a:pt x="0" y="26947"/>
                </a:cubicBezTo>
                <a:close/>
                <a:moveTo>
                  <a:pt x="11378" y="112728"/>
                </a:moveTo>
                <a:cubicBezTo>
                  <a:pt x="15644" y="109509"/>
                  <a:pt x="20846" y="107788"/>
                  <a:pt x="26198" y="107788"/>
                </a:cubicBezTo>
                <a:lnTo>
                  <a:pt x="28032" y="107788"/>
                </a:lnTo>
                <a:cubicBezTo>
                  <a:pt x="40645" y="107788"/>
                  <a:pt x="50900" y="118043"/>
                  <a:pt x="50900" y="130655"/>
                </a:cubicBezTo>
                <a:cubicBezTo>
                  <a:pt x="50900" y="137991"/>
                  <a:pt x="47382" y="144840"/>
                  <a:pt x="41468" y="149144"/>
                </a:cubicBezTo>
                <a:lnTo>
                  <a:pt x="32486" y="155694"/>
                </a:lnTo>
                <a:lnTo>
                  <a:pt x="44912" y="155694"/>
                </a:lnTo>
                <a:cubicBezTo>
                  <a:pt x="49889" y="155694"/>
                  <a:pt x="53894" y="159698"/>
                  <a:pt x="53894" y="164676"/>
                </a:cubicBezTo>
                <a:cubicBezTo>
                  <a:pt x="53894" y="169654"/>
                  <a:pt x="49889" y="173658"/>
                  <a:pt x="44912" y="173658"/>
                </a:cubicBezTo>
                <a:lnTo>
                  <a:pt x="10966" y="173658"/>
                </a:lnTo>
                <a:cubicBezTo>
                  <a:pt x="4903" y="173658"/>
                  <a:pt x="0" y="168755"/>
                  <a:pt x="0" y="162692"/>
                </a:cubicBezTo>
                <a:cubicBezTo>
                  <a:pt x="0" y="159174"/>
                  <a:pt x="1684" y="155881"/>
                  <a:pt x="4529" y="153822"/>
                </a:cubicBezTo>
                <a:lnTo>
                  <a:pt x="30914" y="134622"/>
                </a:lnTo>
                <a:cubicBezTo>
                  <a:pt x="32187" y="133687"/>
                  <a:pt x="32935" y="132227"/>
                  <a:pt x="32935" y="130655"/>
                </a:cubicBezTo>
                <a:cubicBezTo>
                  <a:pt x="32935" y="127961"/>
                  <a:pt x="30727" y="125752"/>
                  <a:pt x="28032" y="125752"/>
                </a:cubicBezTo>
                <a:lnTo>
                  <a:pt x="26198" y="125752"/>
                </a:lnTo>
                <a:cubicBezTo>
                  <a:pt x="24739" y="125752"/>
                  <a:pt x="23317" y="126239"/>
                  <a:pt x="22156" y="127100"/>
                </a:cubicBezTo>
                <a:lnTo>
                  <a:pt x="14372" y="132938"/>
                </a:lnTo>
                <a:cubicBezTo>
                  <a:pt x="10405" y="135932"/>
                  <a:pt x="4791" y="135109"/>
                  <a:pt x="1796" y="131142"/>
                </a:cubicBezTo>
                <a:cubicBezTo>
                  <a:pt x="-1198" y="127175"/>
                  <a:pt x="-374" y="121561"/>
                  <a:pt x="3593" y="118567"/>
                </a:cubicBezTo>
                <a:lnTo>
                  <a:pt x="11378" y="112728"/>
                </a:lnTo>
                <a:close/>
                <a:moveTo>
                  <a:pt x="83835" y="23953"/>
                </a:moveTo>
                <a:lnTo>
                  <a:pt x="179646" y="23953"/>
                </a:lnTo>
                <a:cubicBezTo>
                  <a:pt x="186271" y="23953"/>
                  <a:pt x="191623" y="29305"/>
                  <a:pt x="191623" y="35929"/>
                </a:cubicBezTo>
                <a:cubicBezTo>
                  <a:pt x="191623" y="42554"/>
                  <a:pt x="186271" y="47906"/>
                  <a:pt x="179646" y="47906"/>
                </a:cubicBezTo>
                <a:lnTo>
                  <a:pt x="83835" y="47906"/>
                </a:lnTo>
                <a:cubicBezTo>
                  <a:pt x="77211" y="47906"/>
                  <a:pt x="71859" y="42554"/>
                  <a:pt x="71859" y="35929"/>
                </a:cubicBezTo>
                <a:cubicBezTo>
                  <a:pt x="71859" y="29305"/>
                  <a:pt x="77211" y="23953"/>
                  <a:pt x="83835" y="23953"/>
                </a:cubicBezTo>
                <a:close/>
                <a:moveTo>
                  <a:pt x="83835" y="83835"/>
                </a:moveTo>
                <a:lnTo>
                  <a:pt x="179646" y="83835"/>
                </a:lnTo>
                <a:cubicBezTo>
                  <a:pt x="186271" y="83835"/>
                  <a:pt x="191623" y="89187"/>
                  <a:pt x="191623" y="95811"/>
                </a:cubicBezTo>
                <a:cubicBezTo>
                  <a:pt x="191623" y="102436"/>
                  <a:pt x="186271" y="107788"/>
                  <a:pt x="179646" y="107788"/>
                </a:cubicBezTo>
                <a:lnTo>
                  <a:pt x="83835" y="107788"/>
                </a:lnTo>
                <a:cubicBezTo>
                  <a:pt x="77211" y="107788"/>
                  <a:pt x="71859" y="102436"/>
                  <a:pt x="71859" y="95811"/>
                </a:cubicBezTo>
                <a:cubicBezTo>
                  <a:pt x="71859" y="89187"/>
                  <a:pt x="77211" y="83835"/>
                  <a:pt x="83835" y="83835"/>
                </a:cubicBezTo>
                <a:close/>
                <a:moveTo>
                  <a:pt x="83835" y="143717"/>
                </a:moveTo>
                <a:lnTo>
                  <a:pt x="179646" y="143717"/>
                </a:lnTo>
                <a:cubicBezTo>
                  <a:pt x="186271" y="143717"/>
                  <a:pt x="191623" y="149069"/>
                  <a:pt x="191623" y="155694"/>
                </a:cubicBezTo>
                <a:cubicBezTo>
                  <a:pt x="191623" y="162318"/>
                  <a:pt x="186271" y="167670"/>
                  <a:pt x="179646" y="167670"/>
                </a:cubicBezTo>
                <a:lnTo>
                  <a:pt x="83835" y="167670"/>
                </a:lnTo>
                <a:cubicBezTo>
                  <a:pt x="77211" y="167670"/>
                  <a:pt x="71859" y="162318"/>
                  <a:pt x="71859" y="155694"/>
                </a:cubicBezTo>
                <a:cubicBezTo>
                  <a:pt x="71859" y="149069"/>
                  <a:pt x="77211" y="143717"/>
                  <a:pt x="83835" y="143717"/>
                </a:cubicBezTo>
                <a:close/>
              </a:path>
            </a:pathLst>
          </a:custGeom>
          <a:solidFill>
            <a:srgbClr val="E6B450"/>
          </a:solidFill>
        </p:spPr>
      </p:sp>
      <p:sp>
        <p:nvSpPr>
          <p:cNvPr id="8" name="Text 6"/>
          <p:cNvSpPr/>
          <p:nvPr/>
        </p:nvSpPr>
        <p:spPr>
          <a:xfrm>
            <a:off x="910208" y="1845655"/>
            <a:ext cx="2962169" cy="255497"/>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第四步</a:t>
            </a:r>
            <a:endParaRPr lang="en-US" sz="2000" dirty="0"/>
          </a:p>
        </p:txBody>
      </p:sp>
      <p:sp>
        <p:nvSpPr>
          <p:cNvPr id="9" name="Text 7"/>
          <p:cNvSpPr/>
          <p:nvPr/>
        </p:nvSpPr>
        <p:spPr>
          <a:xfrm>
            <a:off x="910208" y="2196964"/>
            <a:ext cx="3912300" cy="231544"/>
          </a:xfrm>
          <a:prstGeom prst="rect">
            <a:avLst/>
          </a:prstGeom>
          <a:noFill/>
        </p:spPr>
        <p:txBody>
          <a:bodyPr wrap="square" lIns="0" tIns="0" rIns="0" bIns="0" rtlCol="0" anchor="ctr"/>
          <a:lstStyle/>
          <a:p>
            <a:pPr>
              <a:lnSpc>
                <a:spcPct val="140000"/>
              </a:lnSpc>
            </a:pPr>
            <a:r>
              <a:rPr lang="en-US" sz="1400" dirty="0" err="1">
                <a:latin typeface="微软雅黑" panose="020B0503020204020204" pitchFamily="34" charset="-122"/>
                <a:ea typeface="微软雅黑" panose="020B0503020204020204" pitchFamily="34" charset="-122"/>
                <a:cs typeface="微软雅黑" panose="020B0503020204020204" pitchFamily="34" charset="-122"/>
              </a:rPr>
              <a:t>找出符合上述条件的</a:t>
            </a:r>
            <a:r>
              <a:rPr lang="en-US" sz="1400" b="1" dirty="0" err="1">
                <a:latin typeface="微软雅黑" panose="020B0503020204020204" pitchFamily="34" charset="-122"/>
                <a:ea typeface="微软雅黑" panose="020B0503020204020204" pitchFamily="34" charset="-122"/>
                <a:cs typeface="微软雅黑" panose="020B0503020204020204" pitchFamily="34" charset="-122"/>
              </a:rPr>
              <a:t>所有点</a:t>
            </a:r>
            <a:r>
              <a:rPr lang="en-US" sz="14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000" dirty="0"/>
          </a:p>
        </p:txBody>
      </p:sp>
      <p:sp>
        <p:nvSpPr>
          <p:cNvPr id="10" name="Shape 8"/>
          <p:cNvSpPr/>
          <p:nvPr/>
        </p:nvSpPr>
        <p:spPr>
          <a:xfrm>
            <a:off x="323363" y="2817742"/>
            <a:ext cx="8223811" cy="1580888"/>
          </a:xfrm>
          <a:custGeom>
            <a:avLst/>
            <a:gdLst/>
            <a:ahLst/>
            <a:cxnLst/>
            <a:rect l="l" t="t" r="r" b="b"/>
            <a:pathLst>
              <a:path w="8223811" h="1580888">
                <a:moveTo>
                  <a:pt x="95818" y="0"/>
                </a:moveTo>
                <a:lnTo>
                  <a:pt x="8127994" y="0"/>
                </a:lnTo>
                <a:cubicBezTo>
                  <a:pt x="8180912" y="0"/>
                  <a:pt x="8223811" y="42899"/>
                  <a:pt x="8223811" y="95818"/>
                </a:cubicBezTo>
                <a:lnTo>
                  <a:pt x="8223811" y="1485070"/>
                </a:lnTo>
                <a:cubicBezTo>
                  <a:pt x="8223811" y="1537989"/>
                  <a:pt x="8180912" y="1580888"/>
                  <a:pt x="8127994" y="1580888"/>
                </a:cubicBezTo>
                <a:lnTo>
                  <a:pt x="95818" y="1580888"/>
                </a:lnTo>
                <a:cubicBezTo>
                  <a:pt x="42899" y="1580888"/>
                  <a:pt x="0" y="1537989"/>
                  <a:pt x="0" y="1485070"/>
                </a:cubicBezTo>
                <a:lnTo>
                  <a:pt x="0" y="95818"/>
                </a:lnTo>
                <a:cubicBezTo>
                  <a:pt x="0" y="42934"/>
                  <a:pt x="42934" y="0"/>
                  <a:pt x="95818" y="0"/>
                </a:cubicBezTo>
                <a:close/>
              </a:path>
            </a:pathLst>
          </a:custGeom>
          <a:solidFill>
            <a:srgbClr val="E6B450">
              <a:alpha val="10196"/>
            </a:srgbClr>
          </a:solidFill>
          <a:ln w="12700">
            <a:solidFill>
              <a:srgbClr val="E6B450">
                <a:alpha val="30196"/>
              </a:srgbClr>
            </a:solidFill>
            <a:prstDash val="solid"/>
          </a:ln>
        </p:spPr>
      </p:sp>
      <p:sp>
        <p:nvSpPr>
          <p:cNvPr id="11" name="Shape 9"/>
          <p:cNvSpPr/>
          <p:nvPr/>
        </p:nvSpPr>
        <p:spPr>
          <a:xfrm>
            <a:off x="538939" y="3045294"/>
            <a:ext cx="159686" cy="159686"/>
          </a:xfrm>
          <a:custGeom>
            <a:avLst/>
            <a:gdLst/>
            <a:ahLst/>
            <a:cxnLst/>
            <a:rect l="l" t="t" r="r" b="b"/>
            <a:pathLst>
              <a:path w="159686" h="159686">
                <a:moveTo>
                  <a:pt x="149736" y="59882"/>
                </a:moveTo>
                <a:lnTo>
                  <a:pt x="152200" y="59882"/>
                </a:lnTo>
                <a:cubicBezTo>
                  <a:pt x="156348" y="59882"/>
                  <a:pt x="159686" y="56545"/>
                  <a:pt x="159686" y="52397"/>
                </a:cubicBezTo>
                <a:lnTo>
                  <a:pt x="159686" y="7485"/>
                </a:lnTo>
                <a:cubicBezTo>
                  <a:pt x="159686" y="4460"/>
                  <a:pt x="157877" y="1715"/>
                  <a:pt x="155070" y="561"/>
                </a:cubicBezTo>
                <a:cubicBezTo>
                  <a:pt x="152263" y="-593"/>
                  <a:pt x="149050" y="62"/>
                  <a:pt x="146898" y="2183"/>
                </a:cubicBezTo>
                <a:lnTo>
                  <a:pt x="130774" y="18339"/>
                </a:lnTo>
                <a:cubicBezTo>
                  <a:pt x="116957" y="6893"/>
                  <a:pt x="99180" y="0"/>
                  <a:pt x="79843" y="0"/>
                </a:cubicBezTo>
                <a:cubicBezTo>
                  <a:pt x="39610" y="0"/>
                  <a:pt x="6331" y="29754"/>
                  <a:pt x="811" y="68459"/>
                </a:cubicBezTo>
                <a:cubicBezTo>
                  <a:pt x="31" y="73917"/>
                  <a:pt x="3805" y="78970"/>
                  <a:pt x="9263" y="79749"/>
                </a:cubicBezTo>
                <a:cubicBezTo>
                  <a:pt x="14721" y="80529"/>
                  <a:pt x="19774" y="76724"/>
                  <a:pt x="20553" y="71297"/>
                </a:cubicBezTo>
                <a:cubicBezTo>
                  <a:pt x="24701" y="42261"/>
                  <a:pt x="49683" y="19961"/>
                  <a:pt x="79843" y="19961"/>
                </a:cubicBezTo>
                <a:cubicBezTo>
                  <a:pt x="93691" y="19961"/>
                  <a:pt x="106416" y="24639"/>
                  <a:pt x="116552" y="32530"/>
                </a:cubicBezTo>
                <a:lnTo>
                  <a:pt x="101987" y="47095"/>
                </a:lnTo>
                <a:cubicBezTo>
                  <a:pt x="99835" y="49247"/>
                  <a:pt x="99211" y="52459"/>
                  <a:pt x="100365" y="55266"/>
                </a:cubicBezTo>
                <a:cubicBezTo>
                  <a:pt x="101519" y="58073"/>
                  <a:pt x="104264" y="59882"/>
                  <a:pt x="107289" y="59882"/>
                </a:cubicBezTo>
                <a:lnTo>
                  <a:pt x="149736" y="59882"/>
                </a:lnTo>
                <a:close/>
                <a:moveTo>
                  <a:pt x="158906" y="91227"/>
                </a:moveTo>
                <a:cubicBezTo>
                  <a:pt x="159686" y="85769"/>
                  <a:pt x="155881" y="80716"/>
                  <a:pt x="150454" y="79936"/>
                </a:cubicBezTo>
                <a:cubicBezTo>
                  <a:pt x="145027" y="79157"/>
                  <a:pt x="139943" y="82962"/>
                  <a:pt x="139164" y="88389"/>
                </a:cubicBezTo>
                <a:cubicBezTo>
                  <a:pt x="135015" y="117394"/>
                  <a:pt x="110033" y="139694"/>
                  <a:pt x="79874" y="139694"/>
                </a:cubicBezTo>
                <a:cubicBezTo>
                  <a:pt x="66026" y="139694"/>
                  <a:pt x="53301" y="135015"/>
                  <a:pt x="43165" y="127125"/>
                </a:cubicBezTo>
                <a:lnTo>
                  <a:pt x="57699" y="112591"/>
                </a:lnTo>
                <a:cubicBezTo>
                  <a:pt x="59851" y="110439"/>
                  <a:pt x="60475" y="107226"/>
                  <a:pt x="59321" y="104419"/>
                </a:cubicBezTo>
                <a:cubicBezTo>
                  <a:pt x="58167" y="101612"/>
                  <a:pt x="55422" y="99804"/>
                  <a:pt x="52397" y="99804"/>
                </a:cubicBezTo>
                <a:lnTo>
                  <a:pt x="7485" y="99804"/>
                </a:lnTo>
                <a:cubicBezTo>
                  <a:pt x="3337" y="99804"/>
                  <a:pt x="0" y="103141"/>
                  <a:pt x="0" y="107289"/>
                </a:cubicBezTo>
                <a:lnTo>
                  <a:pt x="0" y="152200"/>
                </a:lnTo>
                <a:cubicBezTo>
                  <a:pt x="0" y="155226"/>
                  <a:pt x="1809" y="157970"/>
                  <a:pt x="4616" y="159124"/>
                </a:cubicBezTo>
                <a:cubicBezTo>
                  <a:pt x="7423" y="160278"/>
                  <a:pt x="10635" y="159623"/>
                  <a:pt x="12787" y="157502"/>
                </a:cubicBezTo>
                <a:lnTo>
                  <a:pt x="28943" y="141347"/>
                </a:lnTo>
                <a:cubicBezTo>
                  <a:pt x="42728" y="152793"/>
                  <a:pt x="60506" y="159686"/>
                  <a:pt x="79843" y="159686"/>
                </a:cubicBezTo>
                <a:cubicBezTo>
                  <a:pt x="120076" y="159686"/>
                  <a:pt x="153354" y="129932"/>
                  <a:pt x="158875" y="91227"/>
                </a:cubicBezTo>
                <a:close/>
              </a:path>
            </a:pathLst>
          </a:custGeom>
          <a:solidFill>
            <a:srgbClr val="E6B450"/>
          </a:solidFill>
        </p:spPr>
      </p:sp>
      <p:sp>
        <p:nvSpPr>
          <p:cNvPr id="12" name="Text 10"/>
          <p:cNvSpPr/>
          <p:nvPr/>
        </p:nvSpPr>
        <p:spPr>
          <a:xfrm>
            <a:off x="814397" y="3013357"/>
            <a:ext cx="1314970" cy="223560"/>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动态生成</a:t>
            </a:r>
            <a:endParaRPr lang="en-US" sz="2400" dirty="0"/>
          </a:p>
        </p:txBody>
      </p:sp>
      <p:sp>
        <p:nvSpPr>
          <p:cNvPr id="13" name="Text 11"/>
          <p:cNvSpPr/>
          <p:nvPr/>
        </p:nvSpPr>
        <p:spPr>
          <a:xfrm>
            <a:off x="518978" y="3364665"/>
            <a:ext cx="7904440" cy="231544"/>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通过让参数t从0连续变化到1，可以生成贝塞尔曲线上的所有点。</a:t>
            </a:r>
            <a:endParaRPr lang="en-US" sz="2400" dirty="0"/>
          </a:p>
        </p:txBody>
      </p:sp>
      <p:sp>
        <p:nvSpPr>
          <p:cNvPr id="14" name="Shape 12"/>
          <p:cNvSpPr/>
          <p:nvPr/>
        </p:nvSpPr>
        <p:spPr>
          <a:xfrm>
            <a:off x="518978" y="3725954"/>
            <a:ext cx="7832582" cy="479057"/>
          </a:xfrm>
          <a:custGeom>
            <a:avLst/>
            <a:gdLst/>
            <a:ahLst/>
            <a:cxnLst/>
            <a:rect l="l" t="t" r="r" b="b"/>
            <a:pathLst>
              <a:path w="7832582" h="479057">
                <a:moveTo>
                  <a:pt x="63873" y="0"/>
                </a:moveTo>
                <a:lnTo>
                  <a:pt x="7768709" y="0"/>
                </a:lnTo>
                <a:cubicBezTo>
                  <a:pt x="7803985" y="0"/>
                  <a:pt x="7832582" y="28597"/>
                  <a:pt x="7832582" y="63873"/>
                </a:cubicBezTo>
                <a:lnTo>
                  <a:pt x="7832582" y="415184"/>
                </a:lnTo>
                <a:cubicBezTo>
                  <a:pt x="7832582" y="450460"/>
                  <a:pt x="7803985" y="479057"/>
                  <a:pt x="7768709" y="479057"/>
                </a:cubicBezTo>
                <a:lnTo>
                  <a:pt x="63873" y="479057"/>
                </a:lnTo>
                <a:cubicBezTo>
                  <a:pt x="28597" y="479057"/>
                  <a:pt x="0" y="450460"/>
                  <a:pt x="0" y="415184"/>
                </a:cubicBezTo>
                <a:lnTo>
                  <a:pt x="0" y="63873"/>
                </a:lnTo>
                <a:cubicBezTo>
                  <a:pt x="0" y="28620"/>
                  <a:pt x="28620" y="0"/>
                  <a:pt x="63873" y="0"/>
                </a:cubicBezTo>
                <a:close/>
              </a:path>
            </a:pathLst>
          </a:custGeom>
          <a:solidFill>
            <a:srgbClr val="5F87A7">
              <a:alpha val="20000"/>
            </a:srgbClr>
          </a:solidFill>
        </p:spPr>
      </p:sp>
      <p:sp>
        <p:nvSpPr>
          <p:cNvPr id="15" name="Text 13"/>
          <p:cNvSpPr/>
          <p:nvPr/>
        </p:nvSpPr>
        <p:spPr>
          <a:xfrm>
            <a:off x="606806" y="3853702"/>
            <a:ext cx="7656927" cy="223560"/>
          </a:xfrm>
          <a:prstGeom prst="rect">
            <a:avLst/>
          </a:prstGeom>
          <a:noFill/>
        </p:spPr>
        <p:txBody>
          <a:bodyPr wrap="square" lIns="0" tIns="0" rIns="0" bIns="0" rtlCol="0" anchor="ctr"/>
          <a:lstStyle/>
          <a:p>
            <a:pPr algn="ctr">
              <a:lnSpc>
                <a:spcPct val="120000"/>
              </a:lnSpc>
            </a:pPr>
            <a:r>
              <a:rPr lang="en-US" sz="1255" dirty="0">
                <a:latin typeface="微软雅黑" panose="020B0503020204020204" pitchFamily="34" charset="-122"/>
                <a:ea typeface="微软雅黑" panose="020B0503020204020204" pitchFamily="34" charset="-122"/>
                <a:cs typeface="微软雅黑" panose="020B0503020204020204" pitchFamily="34" charset="-122"/>
              </a:rPr>
              <a:t>t ∈ [0, 1]</a:t>
            </a:r>
            <a:endParaRPr lang="en-US" sz="1600" dirty="0"/>
          </a:p>
        </p:txBody>
      </p:sp>
      <p:sp>
        <p:nvSpPr>
          <p:cNvPr id="16" name="Shape 14"/>
          <p:cNvSpPr/>
          <p:nvPr/>
        </p:nvSpPr>
        <p:spPr>
          <a:xfrm>
            <a:off x="335340" y="4596241"/>
            <a:ext cx="8215827" cy="966098"/>
          </a:xfrm>
          <a:custGeom>
            <a:avLst/>
            <a:gdLst/>
            <a:ahLst/>
            <a:cxnLst/>
            <a:rect l="l" t="t" r="r" b="b"/>
            <a:pathLst>
              <a:path w="8215827" h="966098">
                <a:moveTo>
                  <a:pt x="31937" y="0"/>
                </a:moveTo>
                <a:lnTo>
                  <a:pt x="8120019" y="0"/>
                </a:lnTo>
                <a:cubicBezTo>
                  <a:pt x="8172932" y="0"/>
                  <a:pt x="8215827" y="42895"/>
                  <a:pt x="8215827" y="95808"/>
                </a:cubicBezTo>
                <a:lnTo>
                  <a:pt x="8215827" y="870290"/>
                </a:lnTo>
                <a:cubicBezTo>
                  <a:pt x="8215827" y="923204"/>
                  <a:pt x="8172932" y="966098"/>
                  <a:pt x="8120019" y="966098"/>
                </a:cubicBezTo>
                <a:lnTo>
                  <a:pt x="31937" y="966098"/>
                </a:lnTo>
                <a:cubicBezTo>
                  <a:pt x="14299" y="966098"/>
                  <a:pt x="0" y="951799"/>
                  <a:pt x="0" y="934161"/>
                </a:cubicBezTo>
                <a:lnTo>
                  <a:pt x="0" y="31937"/>
                </a:lnTo>
                <a:cubicBezTo>
                  <a:pt x="0" y="14311"/>
                  <a:pt x="14311" y="0"/>
                  <a:pt x="31937" y="0"/>
                </a:cubicBezTo>
                <a:close/>
              </a:path>
            </a:pathLst>
          </a:custGeom>
          <a:solidFill>
            <a:srgbClr val="5F87A7">
              <a:alpha val="10196"/>
            </a:srgbClr>
          </a:solidFill>
        </p:spPr>
      </p:sp>
      <p:sp>
        <p:nvSpPr>
          <p:cNvPr id="17" name="Shape 15"/>
          <p:cNvSpPr/>
          <p:nvPr/>
        </p:nvSpPr>
        <p:spPr>
          <a:xfrm>
            <a:off x="335340" y="4596241"/>
            <a:ext cx="31937" cy="966098"/>
          </a:xfrm>
          <a:custGeom>
            <a:avLst/>
            <a:gdLst/>
            <a:ahLst/>
            <a:cxnLst/>
            <a:rect l="l" t="t" r="r" b="b"/>
            <a:pathLst>
              <a:path w="31937" h="966098">
                <a:moveTo>
                  <a:pt x="31937" y="0"/>
                </a:moveTo>
                <a:lnTo>
                  <a:pt x="31937" y="0"/>
                </a:lnTo>
                <a:lnTo>
                  <a:pt x="31937" y="966098"/>
                </a:lnTo>
                <a:lnTo>
                  <a:pt x="31937" y="966098"/>
                </a:lnTo>
                <a:cubicBezTo>
                  <a:pt x="14299" y="966098"/>
                  <a:pt x="0" y="951799"/>
                  <a:pt x="0" y="934161"/>
                </a:cubicBezTo>
                <a:lnTo>
                  <a:pt x="0" y="31937"/>
                </a:lnTo>
                <a:cubicBezTo>
                  <a:pt x="0" y="14311"/>
                  <a:pt x="14311" y="0"/>
                  <a:pt x="31937" y="0"/>
                </a:cubicBezTo>
                <a:close/>
              </a:path>
            </a:pathLst>
          </a:custGeom>
          <a:solidFill>
            <a:srgbClr val="E6B450"/>
          </a:solidFill>
        </p:spPr>
      </p:sp>
      <p:sp>
        <p:nvSpPr>
          <p:cNvPr id="18" name="Shape 16"/>
          <p:cNvSpPr/>
          <p:nvPr/>
        </p:nvSpPr>
        <p:spPr>
          <a:xfrm>
            <a:off x="554908" y="4819801"/>
            <a:ext cx="215576" cy="191623"/>
          </a:xfrm>
          <a:custGeom>
            <a:avLst/>
            <a:gdLst/>
            <a:ahLst/>
            <a:cxnLst/>
            <a:rect l="l" t="t" r="r" b="b"/>
            <a:pathLst>
              <a:path w="215576" h="191623">
                <a:moveTo>
                  <a:pt x="115834" y="-7074"/>
                </a:moveTo>
                <a:cubicBezTo>
                  <a:pt x="114300" y="-10068"/>
                  <a:pt x="111194" y="-11976"/>
                  <a:pt x="107825" y="-11976"/>
                </a:cubicBezTo>
                <a:cubicBezTo>
                  <a:pt x="104457" y="-11976"/>
                  <a:pt x="101350" y="-10068"/>
                  <a:pt x="99816" y="-7074"/>
                </a:cubicBezTo>
                <a:lnTo>
                  <a:pt x="72270" y="46895"/>
                </a:lnTo>
                <a:lnTo>
                  <a:pt x="12426" y="56401"/>
                </a:lnTo>
                <a:cubicBezTo>
                  <a:pt x="9095" y="56925"/>
                  <a:pt x="6325" y="59283"/>
                  <a:pt x="5277" y="62502"/>
                </a:cubicBezTo>
                <a:cubicBezTo>
                  <a:pt x="4229" y="65721"/>
                  <a:pt x="5090" y="69239"/>
                  <a:pt x="7448" y="71634"/>
                </a:cubicBezTo>
                <a:lnTo>
                  <a:pt x="50264" y="114487"/>
                </a:lnTo>
                <a:lnTo>
                  <a:pt x="40832" y="174332"/>
                </a:lnTo>
                <a:cubicBezTo>
                  <a:pt x="40308" y="177663"/>
                  <a:pt x="41693" y="181031"/>
                  <a:pt x="44425" y="183015"/>
                </a:cubicBezTo>
                <a:cubicBezTo>
                  <a:pt x="47157" y="184998"/>
                  <a:pt x="50750" y="185298"/>
                  <a:pt x="53782" y="183763"/>
                </a:cubicBezTo>
                <a:lnTo>
                  <a:pt x="107825" y="156292"/>
                </a:lnTo>
                <a:lnTo>
                  <a:pt x="161831" y="183763"/>
                </a:lnTo>
                <a:cubicBezTo>
                  <a:pt x="164826" y="185298"/>
                  <a:pt x="168456" y="184998"/>
                  <a:pt x="171188" y="183015"/>
                </a:cubicBezTo>
                <a:cubicBezTo>
                  <a:pt x="173920" y="181031"/>
                  <a:pt x="175305" y="177700"/>
                  <a:pt x="174781" y="174332"/>
                </a:cubicBezTo>
                <a:lnTo>
                  <a:pt x="165312" y="114487"/>
                </a:lnTo>
                <a:lnTo>
                  <a:pt x="208128" y="71634"/>
                </a:lnTo>
                <a:cubicBezTo>
                  <a:pt x="210523" y="69239"/>
                  <a:pt x="211346" y="65721"/>
                  <a:pt x="210299" y="62502"/>
                </a:cubicBezTo>
                <a:cubicBezTo>
                  <a:pt x="209251" y="59283"/>
                  <a:pt x="206518" y="56925"/>
                  <a:pt x="203150" y="56401"/>
                </a:cubicBezTo>
                <a:lnTo>
                  <a:pt x="143343" y="46895"/>
                </a:lnTo>
                <a:lnTo>
                  <a:pt x="115834" y="-7074"/>
                </a:lnTo>
                <a:close/>
              </a:path>
            </a:pathLst>
          </a:custGeom>
          <a:solidFill>
            <a:srgbClr val="E6B450"/>
          </a:solidFill>
        </p:spPr>
      </p:sp>
      <p:sp>
        <p:nvSpPr>
          <p:cNvPr id="19" name="Text 17"/>
          <p:cNvSpPr/>
          <p:nvPr/>
        </p:nvSpPr>
        <p:spPr>
          <a:xfrm>
            <a:off x="910208" y="4787864"/>
            <a:ext cx="3912299" cy="255497"/>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二阶贝塞尔曲线</a:t>
            </a:r>
            <a:endParaRPr lang="en-US" sz="2000" dirty="0"/>
          </a:p>
        </p:txBody>
      </p:sp>
      <p:sp>
        <p:nvSpPr>
          <p:cNvPr id="20" name="Text 18"/>
          <p:cNvSpPr/>
          <p:nvPr/>
        </p:nvSpPr>
        <p:spPr>
          <a:xfrm>
            <a:off x="910208" y="5139172"/>
            <a:ext cx="5693792" cy="231544"/>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上述为一个</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二阶贝塞尔曲线</a:t>
            </a:r>
            <a:r>
              <a:rPr lang="en-US" sz="1600" dirty="0">
                <a:latin typeface="微软雅黑" panose="020B0503020204020204" pitchFamily="34" charset="-122"/>
                <a:ea typeface="微软雅黑" panose="020B0503020204020204" pitchFamily="34" charset="-122"/>
                <a:cs typeface="微软雅黑" panose="020B0503020204020204" pitchFamily="34" charset="-122"/>
              </a:rPr>
              <a:t>。同样的，也有n阶贝塞尔曲线。</a:t>
            </a:r>
            <a:endParaRPr lang="en-US" sz="2400" dirty="0"/>
          </a:p>
        </p:txBody>
      </p:sp>
      <p:sp>
        <p:nvSpPr>
          <p:cNvPr id="21" name="Shape 19"/>
          <p:cNvSpPr/>
          <p:nvPr/>
        </p:nvSpPr>
        <p:spPr>
          <a:xfrm>
            <a:off x="323363" y="5759950"/>
            <a:ext cx="8223811" cy="974083"/>
          </a:xfrm>
          <a:custGeom>
            <a:avLst/>
            <a:gdLst/>
            <a:ahLst/>
            <a:cxnLst/>
            <a:rect l="l" t="t" r="r" b="b"/>
            <a:pathLst>
              <a:path w="8223811" h="974083">
                <a:moveTo>
                  <a:pt x="95811" y="0"/>
                </a:moveTo>
                <a:lnTo>
                  <a:pt x="8128001" y="0"/>
                </a:lnTo>
                <a:cubicBezTo>
                  <a:pt x="8180915" y="0"/>
                  <a:pt x="8223811" y="42896"/>
                  <a:pt x="8223811" y="95811"/>
                </a:cubicBezTo>
                <a:lnTo>
                  <a:pt x="8223811" y="878272"/>
                </a:lnTo>
                <a:cubicBezTo>
                  <a:pt x="8223811" y="931187"/>
                  <a:pt x="8180915" y="974083"/>
                  <a:pt x="8128001" y="974083"/>
                </a:cubicBezTo>
                <a:lnTo>
                  <a:pt x="95811" y="974083"/>
                </a:lnTo>
                <a:cubicBezTo>
                  <a:pt x="42896" y="974083"/>
                  <a:pt x="0" y="931187"/>
                  <a:pt x="0" y="878272"/>
                </a:cubicBezTo>
                <a:lnTo>
                  <a:pt x="0" y="95811"/>
                </a:lnTo>
                <a:cubicBezTo>
                  <a:pt x="0" y="42931"/>
                  <a:pt x="42931" y="0"/>
                  <a:pt x="95811" y="0"/>
                </a:cubicBezTo>
                <a:close/>
              </a:path>
            </a:pathLst>
          </a:custGeom>
          <a:solidFill>
            <a:srgbClr val="E6B450">
              <a:alpha val="10196"/>
            </a:srgbClr>
          </a:solidFill>
          <a:ln w="12700">
            <a:solidFill>
              <a:srgbClr val="E6B450">
                <a:alpha val="30196"/>
              </a:srgbClr>
            </a:solidFill>
            <a:prstDash val="solid"/>
          </a:ln>
        </p:spPr>
      </p:sp>
      <p:sp>
        <p:nvSpPr>
          <p:cNvPr id="22" name="Shape 20"/>
          <p:cNvSpPr/>
          <p:nvPr/>
        </p:nvSpPr>
        <p:spPr>
          <a:xfrm>
            <a:off x="538939" y="5987502"/>
            <a:ext cx="159686" cy="159686"/>
          </a:xfrm>
          <a:custGeom>
            <a:avLst/>
            <a:gdLst/>
            <a:ahLst/>
            <a:cxnLst/>
            <a:rect l="l" t="t" r="r" b="b"/>
            <a:pathLst>
              <a:path w="159686" h="159686">
                <a:moveTo>
                  <a:pt x="72514" y="1622"/>
                </a:moveTo>
                <a:cubicBezTo>
                  <a:pt x="77161" y="-530"/>
                  <a:pt x="82525" y="-530"/>
                  <a:pt x="87172" y="1622"/>
                </a:cubicBezTo>
                <a:lnTo>
                  <a:pt x="155350" y="33122"/>
                </a:lnTo>
                <a:cubicBezTo>
                  <a:pt x="158001" y="34339"/>
                  <a:pt x="159686" y="36990"/>
                  <a:pt x="159686" y="39921"/>
                </a:cubicBezTo>
                <a:cubicBezTo>
                  <a:pt x="159686" y="42853"/>
                  <a:pt x="158001" y="45504"/>
                  <a:pt x="155350" y="46721"/>
                </a:cubicBezTo>
                <a:lnTo>
                  <a:pt x="87172" y="78221"/>
                </a:lnTo>
                <a:cubicBezTo>
                  <a:pt x="82525" y="80373"/>
                  <a:pt x="77161" y="80373"/>
                  <a:pt x="72514" y="78221"/>
                </a:cubicBezTo>
                <a:lnTo>
                  <a:pt x="4335" y="46721"/>
                </a:lnTo>
                <a:cubicBezTo>
                  <a:pt x="1684" y="45473"/>
                  <a:pt x="0" y="42822"/>
                  <a:pt x="0" y="39921"/>
                </a:cubicBezTo>
                <a:cubicBezTo>
                  <a:pt x="0" y="37021"/>
                  <a:pt x="1684" y="34339"/>
                  <a:pt x="4335" y="33122"/>
                </a:cubicBezTo>
                <a:lnTo>
                  <a:pt x="72514" y="1622"/>
                </a:lnTo>
                <a:close/>
                <a:moveTo>
                  <a:pt x="15002" y="68116"/>
                </a:moveTo>
                <a:lnTo>
                  <a:pt x="66245" y="91788"/>
                </a:lnTo>
                <a:cubicBezTo>
                  <a:pt x="74884" y="95780"/>
                  <a:pt x="84833" y="95780"/>
                  <a:pt x="93472" y="91788"/>
                </a:cubicBezTo>
                <a:lnTo>
                  <a:pt x="144715" y="68116"/>
                </a:lnTo>
                <a:lnTo>
                  <a:pt x="155350" y="73044"/>
                </a:lnTo>
                <a:cubicBezTo>
                  <a:pt x="158001" y="74260"/>
                  <a:pt x="159686" y="76911"/>
                  <a:pt x="159686" y="79843"/>
                </a:cubicBezTo>
                <a:cubicBezTo>
                  <a:pt x="159686" y="82775"/>
                  <a:pt x="158001" y="85426"/>
                  <a:pt x="155350" y="86642"/>
                </a:cubicBezTo>
                <a:lnTo>
                  <a:pt x="87172" y="118142"/>
                </a:lnTo>
                <a:cubicBezTo>
                  <a:pt x="82525" y="120294"/>
                  <a:pt x="77161" y="120294"/>
                  <a:pt x="72514" y="118142"/>
                </a:cubicBezTo>
                <a:lnTo>
                  <a:pt x="4335" y="86642"/>
                </a:lnTo>
                <a:cubicBezTo>
                  <a:pt x="1684" y="85394"/>
                  <a:pt x="0" y="82743"/>
                  <a:pt x="0" y="79843"/>
                </a:cubicBezTo>
                <a:cubicBezTo>
                  <a:pt x="0" y="76942"/>
                  <a:pt x="1684" y="74260"/>
                  <a:pt x="4335" y="73044"/>
                </a:cubicBezTo>
                <a:lnTo>
                  <a:pt x="14971" y="68116"/>
                </a:lnTo>
                <a:close/>
                <a:moveTo>
                  <a:pt x="4335" y="112965"/>
                </a:moveTo>
                <a:lnTo>
                  <a:pt x="14971" y="108037"/>
                </a:lnTo>
                <a:lnTo>
                  <a:pt x="66213" y="131709"/>
                </a:lnTo>
                <a:cubicBezTo>
                  <a:pt x="74853" y="135702"/>
                  <a:pt x="84802" y="135702"/>
                  <a:pt x="93441" y="131709"/>
                </a:cubicBezTo>
                <a:lnTo>
                  <a:pt x="144684" y="108037"/>
                </a:lnTo>
                <a:lnTo>
                  <a:pt x="155319" y="112965"/>
                </a:lnTo>
                <a:cubicBezTo>
                  <a:pt x="157970" y="114181"/>
                  <a:pt x="159654" y="116833"/>
                  <a:pt x="159654" y="119764"/>
                </a:cubicBezTo>
                <a:cubicBezTo>
                  <a:pt x="159654" y="122696"/>
                  <a:pt x="157970" y="125347"/>
                  <a:pt x="155319" y="126563"/>
                </a:cubicBezTo>
                <a:lnTo>
                  <a:pt x="87141" y="158064"/>
                </a:lnTo>
                <a:cubicBezTo>
                  <a:pt x="82494" y="160216"/>
                  <a:pt x="77129" y="160216"/>
                  <a:pt x="72482" y="158064"/>
                </a:cubicBezTo>
                <a:lnTo>
                  <a:pt x="4335" y="126563"/>
                </a:lnTo>
                <a:cubicBezTo>
                  <a:pt x="1684" y="125316"/>
                  <a:pt x="0" y="122665"/>
                  <a:pt x="0" y="119764"/>
                </a:cubicBezTo>
                <a:cubicBezTo>
                  <a:pt x="0" y="116864"/>
                  <a:pt x="1684" y="114181"/>
                  <a:pt x="4335" y="112965"/>
                </a:cubicBezTo>
                <a:close/>
              </a:path>
            </a:pathLst>
          </a:custGeom>
          <a:solidFill>
            <a:srgbClr val="E6B450"/>
          </a:solidFill>
        </p:spPr>
      </p:sp>
      <p:sp>
        <p:nvSpPr>
          <p:cNvPr id="23" name="Text 21"/>
          <p:cNvSpPr/>
          <p:nvPr/>
        </p:nvSpPr>
        <p:spPr>
          <a:xfrm>
            <a:off x="814396" y="5955565"/>
            <a:ext cx="2005003" cy="223560"/>
          </a:xfrm>
          <a:prstGeom prst="rect">
            <a:avLst/>
          </a:prstGeom>
          <a:noFill/>
        </p:spPr>
        <p:txBody>
          <a:bodyPr wrap="square" lIns="0" tIns="0" rIns="0" bIns="0" rtlCol="0" anchor="ctr"/>
          <a:lstStyle/>
          <a:p>
            <a:pPr>
              <a:lnSpc>
                <a:spcPct val="12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高阶贝塞尔曲线</a:t>
            </a:r>
            <a:endParaRPr lang="en-US" sz="2400" dirty="0"/>
          </a:p>
        </p:txBody>
      </p:sp>
      <p:sp>
        <p:nvSpPr>
          <p:cNvPr id="24" name="Text 22"/>
          <p:cNvSpPr/>
          <p:nvPr/>
        </p:nvSpPr>
        <p:spPr>
          <a:xfrm>
            <a:off x="518978" y="6306873"/>
            <a:ext cx="7904440" cy="231544"/>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通过增加控制点，可以构建更复杂的曲线形状。</a:t>
            </a:r>
            <a:endParaRPr lang="en-US" sz="2400" dirty="0"/>
          </a:p>
        </p:txBody>
      </p:sp>
      <p:sp>
        <p:nvSpPr>
          <p:cNvPr id="25" name="Shape 23"/>
          <p:cNvSpPr/>
          <p:nvPr/>
        </p:nvSpPr>
        <p:spPr>
          <a:xfrm>
            <a:off x="8811529" y="1658025"/>
            <a:ext cx="3057980" cy="5078004"/>
          </a:xfrm>
          <a:custGeom>
            <a:avLst/>
            <a:gdLst/>
            <a:ahLst/>
            <a:cxnLst/>
            <a:rect l="l" t="t" r="r" b="b"/>
            <a:pathLst>
              <a:path w="3057980" h="5078004">
                <a:moveTo>
                  <a:pt x="95807" y="0"/>
                </a:moveTo>
                <a:lnTo>
                  <a:pt x="2962174" y="0"/>
                </a:lnTo>
                <a:cubicBezTo>
                  <a:pt x="3015086" y="0"/>
                  <a:pt x="3057980" y="42894"/>
                  <a:pt x="3057980" y="95807"/>
                </a:cubicBezTo>
                <a:lnTo>
                  <a:pt x="3057980" y="4982197"/>
                </a:lnTo>
                <a:cubicBezTo>
                  <a:pt x="3057980" y="5035110"/>
                  <a:pt x="3015086" y="5078004"/>
                  <a:pt x="2962174" y="5078004"/>
                </a:cubicBezTo>
                <a:lnTo>
                  <a:pt x="95807" y="5078004"/>
                </a:lnTo>
                <a:cubicBezTo>
                  <a:pt x="42894" y="5078004"/>
                  <a:pt x="0" y="5035110"/>
                  <a:pt x="0" y="4982197"/>
                </a:cubicBezTo>
                <a:lnTo>
                  <a:pt x="0" y="95807"/>
                </a:lnTo>
                <a:cubicBezTo>
                  <a:pt x="0" y="42929"/>
                  <a:pt x="42929" y="0"/>
                  <a:pt x="95807" y="0"/>
                </a:cubicBezTo>
                <a:close/>
              </a:path>
            </a:pathLst>
          </a:custGeom>
          <a:solidFill>
            <a:srgbClr val="E6B450">
              <a:alpha val="10196"/>
            </a:srgbClr>
          </a:solidFill>
          <a:ln w="12700">
            <a:solidFill>
              <a:srgbClr val="E6B450">
                <a:alpha val="30196"/>
              </a:srgbClr>
            </a:solidFill>
            <a:prstDash val="solid"/>
          </a:ln>
        </p:spPr>
      </p:sp>
      <p:sp>
        <p:nvSpPr>
          <p:cNvPr id="26" name="Shape 24"/>
          <p:cNvSpPr/>
          <p:nvPr/>
        </p:nvSpPr>
        <p:spPr>
          <a:xfrm>
            <a:off x="9027105" y="1885577"/>
            <a:ext cx="159686" cy="159686"/>
          </a:xfrm>
          <a:custGeom>
            <a:avLst/>
            <a:gdLst/>
            <a:ahLst/>
            <a:cxnLst/>
            <a:rect l="l" t="t" r="r" b="b"/>
            <a:pathLst>
              <a:path w="159686" h="159686">
                <a:moveTo>
                  <a:pt x="0" y="24951"/>
                </a:moveTo>
                <a:cubicBezTo>
                  <a:pt x="0" y="16686"/>
                  <a:pt x="6706" y="9980"/>
                  <a:pt x="14971" y="9980"/>
                </a:cubicBezTo>
                <a:lnTo>
                  <a:pt x="44912" y="9980"/>
                </a:lnTo>
                <a:cubicBezTo>
                  <a:pt x="53177" y="9980"/>
                  <a:pt x="59882" y="16686"/>
                  <a:pt x="59882" y="24951"/>
                </a:cubicBezTo>
                <a:lnTo>
                  <a:pt x="59882" y="29941"/>
                </a:lnTo>
                <a:lnTo>
                  <a:pt x="99804" y="29941"/>
                </a:lnTo>
                <a:lnTo>
                  <a:pt x="99804" y="24951"/>
                </a:lnTo>
                <a:cubicBezTo>
                  <a:pt x="99804" y="16686"/>
                  <a:pt x="106509" y="9980"/>
                  <a:pt x="114774" y="9980"/>
                </a:cubicBezTo>
                <a:lnTo>
                  <a:pt x="144715" y="9980"/>
                </a:lnTo>
                <a:cubicBezTo>
                  <a:pt x="152980" y="9980"/>
                  <a:pt x="159686" y="16686"/>
                  <a:pt x="159686" y="24951"/>
                </a:cubicBezTo>
                <a:lnTo>
                  <a:pt x="159686" y="54892"/>
                </a:lnTo>
                <a:cubicBezTo>
                  <a:pt x="159686" y="63157"/>
                  <a:pt x="152980" y="69862"/>
                  <a:pt x="144715" y="69862"/>
                </a:cubicBezTo>
                <a:lnTo>
                  <a:pt x="114774" y="69862"/>
                </a:lnTo>
                <a:cubicBezTo>
                  <a:pt x="106509" y="69862"/>
                  <a:pt x="99804" y="63157"/>
                  <a:pt x="99804" y="54892"/>
                </a:cubicBezTo>
                <a:lnTo>
                  <a:pt x="99804" y="49902"/>
                </a:lnTo>
                <a:lnTo>
                  <a:pt x="59882" y="49902"/>
                </a:lnTo>
                <a:lnTo>
                  <a:pt x="59882" y="54892"/>
                </a:lnTo>
                <a:cubicBezTo>
                  <a:pt x="59882" y="57169"/>
                  <a:pt x="59352" y="59352"/>
                  <a:pt x="58447" y="61286"/>
                </a:cubicBezTo>
                <a:lnTo>
                  <a:pt x="79843" y="89823"/>
                </a:lnTo>
                <a:lnTo>
                  <a:pt x="104794" y="89823"/>
                </a:lnTo>
                <a:cubicBezTo>
                  <a:pt x="113059" y="89823"/>
                  <a:pt x="119764" y="96529"/>
                  <a:pt x="119764" y="104794"/>
                </a:cubicBezTo>
                <a:lnTo>
                  <a:pt x="119764" y="134735"/>
                </a:lnTo>
                <a:cubicBezTo>
                  <a:pt x="119764" y="143000"/>
                  <a:pt x="113059" y="149705"/>
                  <a:pt x="104794" y="149705"/>
                </a:cubicBezTo>
                <a:lnTo>
                  <a:pt x="74853" y="149705"/>
                </a:lnTo>
                <a:cubicBezTo>
                  <a:pt x="66588" y="149705"/>
                  <a:pt x="59882" y="143000"/>
                  <a:pt x="59882" y="134735"/>
                </a:cubicBezTo>
                <a:lnTo>
                  <a:pt x="59882" y="104794"/>
                </a:lnTo>
                <a:cubicBezTo>
                  <a:pt x="59882" y="102517"/>
                  <a:pt x="60412" y="100334"/>
                  <a:pt x="61317" y="98400"/>
                </a:cubicBezTo>
                <a:lnTo>
                  <a:pt x="39921" y="69862"/>
                </a:lnTo>
                <a:lnTo>
                  <a:pt x="14971" y="69862"/>
                </a:lnTo>
                <a:cubicBezTo>
                  <a:pt x="6706" y="69862"/>
                  <a:pt x="0" y="63157"/>
                  <a:pt x="0" y="54892"/>
                </a:cubicBezTo>
                <a:lnTo>
                  <a:pt x="0" y="24951"/>
                </a:lnTo>
                <a:close/>
              </a:path>
            </a:pathLst>
          </a:custGeom>
          <a:solidFill>
            <a:srgbClr val="E6B450"/>
          </a:solidFill>
        </p:spPr>
      </p:sp>
      <p:sp>
        <p:nvSpPr>
          <p:cNvPr id="27" name="Text 25"/>
          <p:cNvSpPr/>
          <p:nvPr/>
        </p:nvSpPr>
        <p:spPr>
          <a:xfrm>
            <a:off x="9206751" y="1853640"/>
            <a:ext cx="2546986" cy="223560"/>
          </a:xfrm>
          <a:prstGeom prst="rect">
            <a:avLst/>
          </a:prstGeom>
          <a:noFill/>
        </p:spPr>
        <p:txBody>
          <a:bodyPr wrap="square" lIns="0" tIns="0" rIns="0" bIns="0" rtlCol="0" anchor="ctr"/>
          <a:lstStyle/>
          <a:p>
            <a:pPr>
              <a:lnSpc>
                <a:spcPct val="12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Step 4 示意</a:t>
            </a:r>
            <a:endParaRPr lang="en-US" sz="1600" dirty="0"/>
          </a:p>
        </p:txBody>
      </p:sp>
      <p:sp>
        <p:nvSpPr>
          <p:cNvPr id="41" name="Shape 37"/>
          <p:cNvSpPr/>
          <p:nvPr/>
        </p:nvSpPr>
        <p:spPr>
          <a:xfrm>
            <a:off x="9007144" y="6093294"/>
            <a:ext cx="2666750" cy="447120"/>
          </a:xfrm>
          <a:custGeom>
            <a:avLst/>
            <a:gdLst/>
            <a:ahLst/>
            <a:cxnLst/>
            <a:rect l="l" t="t" r="r" b="b"/>
            <a:pathLst>
              <a:path w="2666750" h="447120">
                <a:moveTo>
                  <a:pt x="63876" y="0"/>
                </a:moveTo>
                <a:lnTo>
                  <a:pt x="2602875" y="0"/>
                </a:lnTo>
                <a:cubicBezTo>
                  <a:pt x="2638152" y="0"/>
                  <a:pt x="2666750" y="28598"/>
                  <a:pt x="2666750" y="63876"/>
                </a:cubicBezTo>
                <a:lnTo>
                  <a:pt x="2666750" y="383244"/>
                </a:lnTo>
                <a:cubicBezTo>
                  <a:pt x="2666750" y="418522"/>
                  <a:pt x="2638152" y="447120"/>
                  <a:pt x="2602875" y="447120"/>
                </a:cubicBezTo>
                <a:lnTo>
                  <a:pt x="63876" y="447120"/>
                </a:lnTo>
                <a:cubicBezTo>
                  <a:pt x="28598" y="447120"/>
                  <a:pt x="0" y="418522"/>
                  <a:pt x="0" y="383244"/>
                </a:cubicBezTo>
                <a:lnTo>
                  <a:pt x="0" y="63876"/>
                </a:lnTo>
                <a:cubicBezTo>
                  <a:pt x="0" y="28598"/>
                  <a:pt x="28598" y="0"/>
                  <a:pt x="63876" y="0"/>
                </a:cubicBezTo>
                <a:close/>
              </a:path>
            </a:pathLst>
          </a:custGeom>
          <a:solidFill>
            <a:srgbClr val="5F87A7">
              <a:alpha val="20000"/>
            </a:srgbClr>
          </a:solidFill>
        </p:spPr>
      </p:sp>
      <p:sp>
        <p:nvSpPr>
          <p:cNvPr id="42" name="Shape 38"/>
          <p:cNvSpPr/>
          <p:nvPr/>
        </p:nvSpPr>
        <p:spPr>
          <a:xfrm>
            <a:off x="9509099" y="6252979"/>
            <a:ext cx="127749" cy="127749"/>
          </a:xfrm>
          <a:custGeom>
            <a:avLst/>
            <a:gdLst/>
            <a:ahLst/>
            <a:cxnLst/>
            <a:rect l="l" t="t" r="r" b="b"/>
            <a:pathLst>
              <a:path w="127749" h="127749">
                <a:moveTo>
                  <a:pt x="63874" y="127749"/>
                </a:moveTo>
                <a:cubicBezTo>
                  <a:pt x="99127" y="127749"/>
                  <a:pt x="127749" y="99127"/>
                  <a:pt x="127749" y="63874"/>
                </a:cubicBezTo>
                <a:cubicBezTo>
                  <a:pt x="127749" y="28621"/>
                  <a:pt x="99127" y="0"/>
                  <a:pt x="63874" y="0"/>
                </a:cubicBezTo>
                <a:cubicBezTo>
                  <a:pt x="28621" y="0"/>
                  <a:pt x="0" y="28621"/>
                  <a:pt x="0" y="63874"/>
                </a:cubicBezTo>
                <a:cubicBezTo>
                  <a:pt x="0" y="99127"/>
                  <a:pt x="28621" y="127749"/>
                  <a:pt x="63874" y="127749"/>
                </a:cubicBezTo>
                <a:close/>
                <a:moveTo>
                  <a:pt x="55890" y="39921"/>
                </a:moveTo>
                <a:cubicBezTo>
                  <a:pt x="55890" y="35515"/>
                  <a:pt x="59468" y="31937"/>
                  <a:pt x="63874" y="31937"/>
                </a:cubicBezTo>
                <a:cubicBezTo>
                  <a:pt x="68281" y="31937"/>
                  <a:pt x="71859" y="35515"/>
                  <a:pt x="71859" y="39921"/>
                </a:cubicBezTo>
                <a:cubicBezTo>
                  <a:pt x="71859" y="44328"/>
                  <a:pt x="68281" y="47906"/>
                  <a:pt x="63874" y="47906"/>
                </a:cubicBezTo>
                <a:cubicBezTo>
                  <a:pt x="59468" y="47906"/>
                  <a:pt x="55890" y="44328"/>
                  <a:pt x="55890" y="39921"/>
                </a:cubicBezTo>
                <a:close/>
                <a:moveTo>
                  <a:pt x="53894" y="55890"/>
                </a:moveTo>
                <a:lnTo>
                  <a:pt x="65870" y="55890"/>
                </a:lnTo>
                <a:cubicBezTo>
                  <a:pt x="69189" y="55890"/>
                  <a:pt x="71859" y="58560"/>
                  <a:pt x="71859" y="61878"/>
                </a:cubicBezTo>
                <a:lnTo>
                  <a:pt x="71859" y="83835"/>
                </a:lnTo>
                <a:lnTo>
                  <a:pt x="73855" y="83835"/>
                </a:lnTo>
                <a:cubicBezTo>
                  <a:pt x="77173" y="83835"/>
                  <a:pt x="79843" y="86505"/>
                  <a:pt x="79843" y="89823"/>
                </a:cubicBezTo>
                <a:cubicBezTo>
                  <a:pt x="79843" y="93142"/>
                  <a:pt x="77173" y="95811"/>
                  <a:pt x="73855" y="95811"/>
                </a:cubicBezTo>
                <a:lnTo>
                  <a:pt x="53894" y="95811"/>
                </a:lnTo>
                <a:cubicBezTo>
                  <a:pt x="50575" y="95811"/>
                  <a:pt x="47906" y="93142"/>
                  <a:pt x="47906" y="89823"/>
                </a:cubicBezTo>
                <a:cubicBezTo>
                  <a:pt x="47906" y="86505"/>
                  <a:pt x="50575" y="83835"/>
                  <a:pt x="53894" y="83835"/>
                </a:cubicBezTo>
                <a:lnTo>
                  <a:pt x="59882" y="83835"/>
                </a:lnTo>
                <a:lnTo>
                  <a:pt x="59882" y="67866"/>
                </a:lnTo>
                <a:lnTo>
                  <a:pt x="53894" y="67866"/>
                </a:lnTo>
                <a:cubicBezTo>
                  <a:pt x="50575" y="67866"/>
                  <a:pt x="47906" y="65197"/>
                  <a:pt x="47906" y="61878"/>
                </a:cubicBezTo>
                <a:cubicBezTo>
                  <a:pt x="47906" y="58560"/>
                  <a:pt x="50575" y="55890"/>
                  <a:pt x="53894" y="55890"/>
                </a:cubicBezTo>
                <a:close/>
              </a:path>
            </a:pathLst>
          </a:custGeom>
          <a:solidFill>
            <a:srgbClr val="E6B450"/>
          </a:solidFill>
        </p:spPr>
      </p:sp>
      <p:sp>
        <p:nvSpPr>
          <p:cNvPr id="43" name="Text 39"/>
          <p:cNvSpPr/>
          <p:nvPr/>
        </p:nvSpPr>
        <p:spPr>
          <a:xfrm>
            <a:off x="9302798" y="6221042"/>
            <a:ext cx="2275285" cy="191623"/>
          </a:xfrm>
          <a:prstGeom prst="rect">
            <a:avLst/>
          </a:prstGeom>
          <a:noFill/>
        </p:spPr>
        <p:txBody>
          <a:bodyPr wrap="square" lIns="0" tIns="0" rIns="0" bIns="0" rtlCol="0" anchor="ctr"/>
          <a:lstStyle/>
          <a:p>
            <a:pPr algn="ctr">
              <a:lnSpc>
                <a:spcPct val="13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二阶贝塞尔曲线</a:t>
            </a:r>
            <a:endParaRPr lang="en-US" sz="1600" dirty="0"/>
          </a:p>
        </p:txBody>
      </p:sp>
      <p:grpSp>
        <p:nvGrpSpPr>
          <p:cNvPr id="44" name="组合 43">
            <a:extLst>
              <a:ext uri="{FF2B5EF4-FFF2-40B4-BE49-F238E27FC236}">
                <a16:creationId xmlns:a16="http://schemas.microsoft.com/office/drawing/2014/main" id="{577AF4EA-0203-B507-AFE0-C2867B89D8F6}"/>
              </a:ext>
            </a:extLst>
          </p:cNvPr>
          <p:cNvGrpSpPr/>
          <p:nvPr/>
        </p:nvGrpSpPr>
        <p:grpSpPr>
          <a:xfrm>
            <a:off x="0" y="939798"/>
            <a:ext cx="5022850" cy="625474"/>
            <a:chOff x="0" y="1075267"/>
            <a:chExt cx="5022850" cy="625474"/>
          </a:xfrm>
        </p:grpSpPr>
        <p:sp>
          <p:nvSpPr>
            <p:cNvPr id="45" name="矩形 44">
              <a:extLst>
                <a:ext uri="{FF2B5EF4-FFF2-40B4-BE49-F238E27FC236}">
                  <a16:creationId xmlns:a16="http://schemas.microsoft.com/office/drawing/2014/main" id="{A368F1D9-D67F-08C3-9E98-C1E4D99EE786}"/>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E59C4F53-8028-B3D7-935D-30E7DBDD46EE}"/>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7.3.2 </a:t>
              </a:r>
              <a:r>
                <a:rPr lang="zh-CN" altLang="en-US" sz="2400" b="1" dirty="0">
                  <a:solidFill>
                    <a:schemeClr val="accent1"/>
                  </a:solidFill>
                  <a:latin typeface="+mj-lt"/>
                </a:rPr>
                <a:t>路径平滑</a:t>
              </a:r>
            </a:p>
          </p:txBody>
        </p:sp>
      </p:grpSp>
      <p:pic>
        <p:nvPicPr>
          <p:cNvPr id="47" name="图片 46">
            <a:extLst>
              <a:ext uri="{FF2B5EF4-FFF2-40B4-BE49-F238E27FC236}">
                <a16:creationId xmlns:a16="http://schemas.microsoft.com/office/drawing/2014/main" id="{22ADE143-775B-F47A-9487-0B0448F57604}"/>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a:xfrm>
            <a:off x="8807536" y="3153800"/>
            <a:ext cx="3049124" cy="1846583"/>
          </a:xfrm>
          <a:prstGeom prst="rect">
            <a:avLst/>
          </a:prstGeom>
          <a:noFill/>
          <a:ln>
            <a:noFill/>
          </a:ln>
          <a:effectLst/>
        </p:spPr>
      </p:pic>
    </p:spTree>
    <p:extLst>
      <p:ext uri="{BB962C8B-B14F-4D97-AF65-F5344CB8AC3E}">
        <p14:creationId xmlns:p14="http://schemas.microsoft.com/office/powerpoint/2010/main" val="219729929"/>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33375" y="1666298"/>
            <a:ext cx="8239125" cy="2194501"/>
          </a:xfrm>
          <a:custGeom>
            <a:avLst/>
            <a:gdLst/>
            <a:ahLst/>
            <a:cxnLst/>
            <a:rect l="l" t="t" r="r" b="b"/>
            <a:pathLst>
              <a:path w="8239125" h="1865312">
                <a:moveTo>
                  <a:pt x="31750" y="0"/>
                </a:moveTo>
                <a:lnTo>
                  <a:pt x="8143882" y="0"/>
                </a:lnTo>
                <a:cubicBezTo>
                  <a:pt x="8196448" y="0"/>
                  <a:pt x="8239125" y="42677"/>
                  <a:pt x="8239125" y="95243"/>
                </a:cubicBezTo>
                <a:lnTo>
                  <a:pt x="8239125" y="1770070"/>
                </a:lnTo>
                <a:cubicBezTo>
                  <a:pt x="8239125" y="1822671"/>
                  <a:pt x="8196483" y="1865312"/>
                  <a:pt x="8143882" y="1865312"/>
                </a:cubicBezTo>
                <a:lnTo>
                  <a:pt x="31750" y="1865312"/>
                </a:lnTo>
                <a:cubicBezTo>
                  <a:pt x="14215" y="1865312"/>
                  <a:pt x="0" y="1851098"/>
                  <a:pt x="0" y="1833563"/>
                </a:cubicBezTo>
                <a:lnTo>
                  <a:pt x="0" y="31750"/>
                </a:lnTo>
                <a:cubicBezTo>
                  <a:pt x="0" y="14227"/>
                  <a:pt x="14227" y="0"/>
                  <a:pt x="31750" y="0"/>
                </a:cubicBezTo>
                <a:close/>
              </a:path>
            </a:pathLst>
          </a:custGeom>
          <a:solidFill>
            <a:srgbClr val="5F87A7">
              <a:alpha val="10196"/>
            </a:srgbClr>
          </a:solidFill>
        </p:spPr>
      </p:sp>
      <p:sp>
        <p:nvSpPr>
          <p:cNvPr id="6" name="Shape 4"/>
          <p:cNvSpPr/>
          <p:nvPr/>
        </p:nvSpPr>
        <p:spPr>
          <a:xfrm>
            <a:off x="333375" y="1666298"/>
            <a:ext cx="31750" cy="2194501"/>
          </a:xfrm>
          <a:custGeom>
            <a:avLst/>
            <a:gdLst/>
            <a:ahLst/>
            <a:cxnLst/>
            <a:rect l="l" t="t" r="r" b="b"/>
            <a:pathLst>
              <a:path w="31750" h="1865312">
                <a:moveTo>
                  <a:pt x="31750" y="0"/>
                </a:moveTo>
                <a:lnTo>
                  <a:pt x="31750" y="0"/>
                </a:lnTo>
                <a:lnTo>
                  <a:pt x="31750" y="1865312"/>
                </a:lnTo>
                <a:lnTo>
                  <a:pt x="31750" y="1865312"/>
                </a:lnTo>
                <a:cubicBezTo>
                  <a:pt x="14227" y="1865312"/>
                  <a:pt x="0" y="1851086"/>
                  <a:pt x="0" y="1833563"/>
                </a:cubicBezTo>
                <a:lnTo>
                  <a:pt x="0" y="31750"/>
                </a:lnTo>
                <a:cubicBezTo>
                  <a:pt x="0" y="14227"/>
                  <a:pt x="14227" y="0"/>
                  <a:pt x="31750" y="0"/>
                </a:cubicBezTo>
                <a:close/>
              </a:path>
            </a:pathLst>
          </a:custGeom>
          <a:solidFill>
            <a:srgbClr val="E6B450"/>
          </a:solidFill>
        </p:spPr>
      </p:sp>
      <p:sp>
        <p:nvSpPr>
          <p:cNvPr id="7" name="Shape 5"/>
          <p:cNvSpPr/>
          <p:nvPr/>
        </p:nvSpPr>
        <p:spPr>
          <a:xfrm>
            <a:off x="575469" y="1888549"/>
            <a:ext cx="166688" cy="190500"/>
          </a:xfrm>
          <a:custGeom>
            <a:avLst/>
            <a:gdLst/>
            <a:ahLst/>
            <a:cxnLst/>
            <a:rect l="l" t="t" r="r" b="b"/>
            <a:pathLst>
              <a:path w="166688" h="190500">
                <a:moveTo>
                  <a:pt x="142875" y="190500"/>
                </a:moveTo>
                <a:lnTo>
                  <a:pt x="35719" y="190500"/>
                </a:lnTo>
                <a:cubicBezTo>
                  <a:pt x="15999" y="190500"/>
                  <a:pt x="0" y="174501"/>
                  <a:pt x="0" y="154781"/>
                </a:cubicBezTo>
                <a:lnTo>
                  <a:pt x="0" y="35719"/>
                </a:lnTo>
                <a:cubicBezTo>
                  <a:pt x="0" y="15999"/>
                  <a:pt x="15999" y="0"/>
                  <a:pt x="35719" y="0"/>
                </a:cubicBezTo>
                <a:lnTo>
                  <a:pt x="148828" y="0"/>
                </a:lnTo>
                <a:cubicBezTo>
                  <a:pt x="158688" y="0"/>
                  <a:pt x="166688" y="8000"/>
                  <a:pt x="166688" y="17859"/>
                </a:cubicBezTo>
                <a:lnTo>
                  <a:pt x="166688" y="125016"/>
                </a:lnTo>
                <a:cubicBezTo>
                  <a:pt x="166688" y="132792"/>
                  <a:pt x="161702" y="139415"/>
                  <a:pt x="154781" y="141870"/>
                </a:cubicBezTo>
                <a:lnTo>
                  <a:pt x="154781" y="166688"/>
                </a:lnTo>
                <a:cubicBezTo>
                  <a:pt x="161367" y="166688"/>
                  <a:pt x="166688" y="172008"/>
                  <a:pt x="166688" y="178594"/>
                </a:cubicBezTo>
                <a:cubicBezTo>
                  <a:pt x="166688" y="185179"/>
                  <a:pt x="161367" y="190500"/>
                  <a:pt x="154781" y="190500"/>
                </a:cubicBezTo>
                <a:lnTo>
                  <a:pt x="142875" y="190500"/>
                </a:lnTo>
                <a:close/>
                <a:moveTo>
                  <a:pt x="35719" y="142875"/>
                </a:moveTo>
                <a:cubicBezTo>
                  <a:pt x="29133" y="142875"/>
                  <a:pt x="23812" y="148196"/>
                  <a:pt x="23812" y="154781"/>
                </a:cubicBezTo>
                <a:cubicBezTo>
                  <a:pt x="23812" y="161367"/>
                  <a:pt x="29133" y="166688"/>
                  <a:pt x="35719" y="166688"/>
                </a:cubicBezTo>
                <a:lnTo>
                  <a:pt x="130969" y="166688"/>
                </a:lnTo>
                <a:lnTo>
                  <a:pt x="130969" y="142875"/>
                </a:lnTo>
                <a:lnTo>
                  <a:pt x="35719" y="142875"/>
                </a:lnTo>
                <a:close/>
                <a:moveTo>
                  <a:pt x="47625" y="56555"/>
                </a:moveTo>
                <a:cubicBezTo>
                  <a:pt x="47625" y="61503"/>
                  <a:pt x="51606" y="65484"/>
                  <a:pt x="56555" y="65484"/>
                </a:cubicBezTo>
                <a:lnTo>
                  <a:pt x="122039" y="65484"/>
                </a:lnTo>
                <a:cubicBezTo>
                  <a:pt x="126988" y="65484"/>
                  <a:pt x="130969" y="61503"/>
                  <a:pt x="130969" y="56555"/>
                </a:cubicBezTo>
                <a:cubicBezTo>
                  <a:pt x="130969" y="51606"/>
                  <a:pt x="126988" y="47625"/>
                  <a:pt x="122039" y="47625"/>
                </a:cubicBezTo>
                <a:lnTo>
                  <a:pt x="56555" y="47625"/>
                </a:lnTo>
                <a:cubicBezTo>
                  <a:pt x="51606" y="47625"/>
                  <a:pt x="47625" y="51606"/>
                  <a:pt x="47625" y="56555"/>
                </a:cubicBezTo>
                <a:close/>
                <a:moveTo>
                  <a:pt x="56555" y="83344"/>
                </a:moveTo>
                <a:cubicBezTo>
                  <a:pt x="51606" y="83344"/>
                  <a:pt x="47625" y="87325"/>
                  <a:pt x="47625" y="92273"/>
                </a:cubicBezTo>
                <a:cubicBezTo>
                  <a:pt x="47625" y="97222"/>
                  <a:pt x="51606" y="101203"/>
                  <a:pt x="56555" y="101203"/>
                </a:cubicBezTo>
                <a:lnTo>
                  <a:pt x="122039" y="101203"/>
                </a:lnTo>
                <a:cubicBezTo>
                  <a:pt x="126988" y="101203"/>
                  <a:pt x="130969" y="97222"/>
                  <a:pt x="130969" y="92273"/>
                </a:cubicBezTo>
                <a:cubicBezTo>
                  <a:pt x="130969" y="87325"/>
                  <a:pt x="126988" y="83344"/>
                  <a:pt x="122039" y="83344"/>
                </a:cubicBezTo>
                <a:lnTo>
                  <a:pt x="56555" y="83344"/>
                </a:lnTo>
                <a:close/>
              </a:path>
            </a:pathLst>
          </a:custGeom>
          <a:solidFill>
            <a:srgbClr val="E6B450"/>
          </a:solidFill>
        </p:spPr>
      </p:sp>
      <p:sp>
        <p:nvSpPr>
          <p:cNvPr id="8" name="Text 6"/>
          <p:cNvSpPr/>
          <p:nvPr/>
        </p:nvSpPr>
        <p:spPr>
          <a:xfrm>
            <a:off x="904875" y="1856799"/>
            <a:ext cx="6953250"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1. 一次贝塞尔曲线（线性公式）</a:t>
            </a:r>
            <a:endParaRPr lang="en-US" sz="2000" dirty="0"/>
          </a:p>
        </p:txBody>
      </p:sp>
      <p:sp>
        <p:nvSpPr>
          <p:cNvPr id="9" name="Text 7"/>
          <p:cNvSpPr/>
          <p:nvPr/>
        </p:nvSpPr>
        <p:spPr>
          <a:xfrm>
            <a:off x="904875" y="2206048"/>
            <a:ext cx="6929438" cy="630239"/>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定义：给定点P</a:t>
            </a:r>
            <a:r>
              <a:rPr lang="en-US" sz="1050" dirty="0">
                <a:latin typeface="微软雅黑" panose="020B0503020204020204" pitchFamily="34" charset="-122"/>
                <a:ea typeface="微软雅黑" panose="020B0503020204020204" pitchFamily="34" charset="-122"/>
                <a:cs typeface="微软雅黑" panose="020B0503020204020204" pitchFamily="34" charset="-122"/>
              </a:rPr>
              <a:t>0</a:t>
            </a:r>
            <a:r>
              <a:rPr lang="en-US" sz="1600" dirty="0">
                <a:latin typeface="微软雅黑" panose="020B0503020204020204" pitchFamily="34" charset="-122"/>
                <a:ea typeface="微软雅黑" panose="020B0503020204020204" pitchFamily="34" charset="-122"/>
                <a:cs typeface="微软雅黑" panose="020B0503020204020204" pitchFamily="34" charset="-122"/>
              </a:rPr>
              <a:t>、P</a:t>
            </a:r>
            <a:r>
              <a:rPr lang="en-US" sz="1050" dirty="0">
                <a:latin typeface="微软雅黑" panose="020B0503020204020204" pitchFamily="34" charset="-122"/>
                <a:ea typeface="微软雅黑" panose="020B0503020204020204" pitchFamily="34" charset="-122"/>
                <a:cs typeface="微软雅黑" panose="020B0503020204020204" pitchFamily="34" charset="-122"/>
              </a:rPr>
              <a:t>1</a:t>
            </a:r>
            <a:r>
              <a:rPr lang="en-US" sz="1600" dirty="0">
                <a:latin typeface="微软雅黑" panose="020B0503020204020204" pitchFamily="34" charset="-122"/>
                <a:ea typeface="微软雅黑" panose="020B0503020204020204" pitchFamily="34" charset="-122"/>
                <a:cs typeface="微软雅黑" panose="020B0503020204020204" pitchFamily="34" charset="-122"/>
              </a:rPr>
              <a:t>，线性贝塞尔曲线只是一条两点之间的直线，这条线由下式给出，且其等同于线性插值：</a:t>
            </a:r>
            <a:endParaRPr lang="en-US" sz="2400" dirty="0"/>
          </a:p>
        </p:txBody>
      </p:sp>
      <p:sp>
        <p:nvSpPr>
          <p:cNvPr id="10" name="Shape 8"/>
          <p:cNvSpPr/>
          <p:nvPr/>
        </p:nvSpPr>
        <p:spPr>
          <a:xfrm>
            <a:off x="908844" y="2905740"/>
            <a:ext cx="6850063" cy="769938"/>
          </a:xfrm>
          <a:custGeom>
            <a:avLst/>
            <a:gdLst/>
            <a:ahLst/>
            <a:cxnLst/>
            <a:rect l="l" t="t" r="r" b="b"/>
            <a:pathLst>
              <a:path w="6850063" h="769938">
                <a:moveTo>
                  <a:pt x="63497" y="0"/>
                </a:moveTo>
                <a:lnTo>
                  <a:pt x="6786566" y="0"/>
                </a:lnTo>
                <a:cubicBezTo>
                  <a:pt x="6821634" y="0"/>
                  <a:pt x="6850062" y="28428"/>
                  <a:pt x="6850062" y="63497"/>
                </a:cubicBezTo>
                <a:lnTo>
                  <a:pt x="6850063" y="706441"/>
                </a:lnTo>
                <a:cubicBezTo>
                  <a:pt x="6850062" y="741509"/>
                  <a:pt x="6821634" y="769938"/>
                  <a:pt x="6786566" y="769938"/>
                </a:cubicBezTo>
                <a:lnTo>
                  <a:pt x="63497" y="769938"/>
                </a:lnTo>
                <a:cubicBezTo>
                  <a:pt x="28428" y="769938"/>
                  <a:pt x="0" y="741509"/>
                  <a:pt x="0" y="706441"/>
                </a:cubicBezTo>
                <a:lnTo>
                  <a:pt x="0" y="63497"/>
                </a:lnTo>
                <a:cubicBezTo>
                  <a:pt x="0" y="28428"/>
                  <a:pt x="28428" y="0"/>
                  <a:pt x="63497" y="0"/>
                </a:cubicBezTo>
                <a:close/>
              </a:path>
            </a:pathLst>
          </a:custGeom>
          <a:solidFill>
            <a:srgbClr val="E6B450">
              <a:alpha val="10196"/>
            </a:srgbClr>
          </a:solidFill>
          <a:ln w="12700">
            <a:solidFill>
              <a:srgbClr val="E6B450">
                <a:alpha val="30196"/>
              </a:srgbClr>
            </a:solidFill>
            <a:prstDash val="solid"/>
          </a:ln>
        </p:spPr>
      </p:sp>
      <p:sp>
        <p:nvSpPr>
          <p:cNvPr id="32" name="Shape 30"/>
          <p:cNvSpPr/>
          <p:nvPr/>
        </p:nvSpPr>
        <p:spPr>
          <a:xfrm>
            <a:off x="8830469" y="1670269"/>
            <a:ext cx="3040063" cy="4603532"/>
          </a:xfrm>
          <a:custGeom>
            <a:avLst/>
            <a:gdLst/>
            <a:ahLst/>
            <a:cxnLst/>
            <a:rect l="l" t="t" r="r" b="b"/>
            <a:pathLst>
              <a:path w="3040063" h="5754688">
                <a:moveTo>
                  <a:pt x="95245" y="0"/>
                </a:moveTo>
                <a:lnTo>
                  <a:pt x="2944817" y="0"/>
                </a:lnTo>
                <a:cubicBezTo>
                  <a:pt x="2997420" y="0"/>
                  <a:pt x="3040063" y="42643"/>
                  <a:pt x="3040063" y="95245"/>
                </a:cubicBezTo>
                <a:lnTo>
                  <a:pt x="3040063" y="5659442"/>
                </a:lnTo>
                <a:cubicBezTo>
                  <a:pt x="3040063" y="5712045"/>
                  <a:pt x="2997420" y="5754688"/>
                  <a:pt x="2944817" y="5754688"/>
                </a:cubicBezTo>
                <a:lnTo>
                  <a:pt x="95245" y="5754688"/>
                </a:lnTo>
                <a:cubicBezTo>
                  <a:pt x="42643" y="5754688"/>
                  <a:pt x="0" y="5712045"/>
                  <a:pt x="0" y="5659442"/>
                </a:cubicBezTo>
                <a:lnTo>
                  <a:pt x="0" y="95245"/>
                </a:lnTo>
                <a:cubicBezTo>
                  <a:pt x="0" y="42678"/>
                  <a:pt x="42678" y="0"/>
                  <a:pt x="95245" y="0"/>
                </a:cubicBezTo>
                <a:close/>
              </a:path>
            </a:pathLst>
          </a:custGeom>
          <a:solidFill>
            <a:srgbClr val="E6B450">
              <a:alpha val="10196"/>
            </a:srgbClr>
          </a:solidFill>
          <a:ln w="12700">
            <a:solidFill>
              <a:srgbClr val="E6B450">
                <a:alpha val="30196"/>
              </a:srgbClr>
            </a:solidFill>
            <a:prstDash val="solid"/>
          </a:ln>
        </p:spPr>
        <p:txBody>
          <a:bodyPr/>
          <a:lstStyle/>
          <a:p>
            <a:endParaRPr lang="zh-CN" altLang="en-US" sz="1600" dirty="0"/>
          </a:p>
        </p:txBody>
      </p:sp>
      <p:sp>
        <p:nvSpPr>
          <p:cNvPr id="33" name="Shape 31"/>
          <p:cNvSpPr/>
          <p:nvPr/>
        </p:nvSpPr>
        <p:spPr>
          <a:xfrm>
            <a:off x="9044781" y="1896487"/>
            <a:ext cx="158750" cy="158750"/>
          </a:xfrm>
          <a:custGeom>
            <a:avLst/>
            <a:gdLst/>
            <a:ahLst/>
            <a:cxnLst/>
            <a:rect l="l" t="t" r="r" b="b"/>
            <a:pathLst>
              <a:path w="158750" h="158750">
                <a:moveTo>
                  <a:pt x="20433" y="70848"/>
                </a:moveTo>
                <a:cubicBezTo>
                  <a:pt x="24557" y="42013"/>
                  <a:pt x="49392" y="19844"/>
                  <a:pt x="79375" y="19844"/>
                </a:cubicBezTo>
                <a:cubicBezTo>
                  <a:pt x="95808" y="19844"/>
                  <a:pt x="110691" y="26510"/>
                  <a:pt x="121481" y="37269"/>
                </a:cubicBezTo>
                <a:cubicBezTo>
                  <a:pt x="121543" y="37331"/>
                  <a:pt x="121605" y="37393"/>
                  <a:pt x="121667" y="37455"/>
                </a:cubicBezTo>
                <a:lnTo>
                  <a:pt x="124023" y="39688"/>
                </a:lnTo>
                <a:lnTo>
                  <a:pt x="109172" y="39688"/>
                </a:lnTo>
                <a:cubicBezTo>
                  <a:pt x="103684" y="39688"/>
                  <a:pt x="99250" y="44121"/>
                  <a:pt x="99250" y="49609"/>
                </a:cubicBezTo>
                <a:cubicBezTo>
                  <a:pt x="99250" y="55097"/>
                  <a:pt x="103684" y="59531"/>
                  <a:pt x="109172" y="59531"/>
                </a:cubicBezTo>
                <a:lnTo>
                  <a:pt x="148859" y="59531"/>
                </a:lnTo>
                <a:cubicBezTo>
                  <a:pt x="154347" y="59531"/>
                  <a:pt x="158781" y="55097"/>
                  <a:pt x="158781" y="49609"/>
                </a:cubicBezTo>
                <a:lnTo>
                  <a:pt x="158781" y="9922"/>
                </a:lnTo>
                <a:cubicBezTo>
                  <a:pt x="158781" y="4434"/>
                  <a:pt x="154347" y="0"/>
                  <a:pt x="148859" y="0"/>
                </a:cubicBezTo>
                <a:cubicBezTo>
                  <a:pt x="143371" y="0"/>
                  <a:pt x="138937" y="4434"/>
                  <a:pt x="138937" y="9922"/>
                </a:cubicBezTo>
                <a:lnTo>
                  <a:pt x="138937" y="26479"/>
                </a:lnTo>
                <a:lnTo>
                  <a:pt x="135434" y="23161"/>
                </a:lnTo>
                <a:cubicBezTo>
                  <a:pt x="121078" y="8868"/>
                  <a:pt x="101234" y="0"/>
                  <a:pt x="79375" y="0"/>
                </a:cubicBezTo>
                <a:cubicBezTo>
                  <a:pt x="39377" y="0"/>
                  <a:pt x="6294" y="29580"/>
                  <a:pt x="806" y="68058"/>
                </a:cubicBezTo>
                <a:cubicBezTo>
                  <a:pt x="31" y="73484"/>
                  <a:pt x="3783" y="78507"/>
                  <a:pt x="9209" y="79282"/>
                </a:cubicBezTo>
                <a:cubicBezTo>
                  <a:pt x="14635" y="80057"/>
                  <a:pt x="19658" y="76274"/>
                  <a:pt x="20433" y="70879"/>
                </a:cubicBezTo>
                <a:close/>
                <a:moveTo>
                  <a:pt x="157944" y="90692"/>
                </a:moveTo>
                <a:cubicBezTo>
                  <a:pt x="158719" y="85266"/>
                  <a:pt x="154936" y="80243"/>
                  <a:pt x="149541" y="79468"/>
                </a:cubicBezTo>
                <a:cubicBezTo>
                  <a:pt x="144146" y="78693"/>
                  <a:pt x="139092" y="82476"/>
                  <a:pt x="138317" y="87871"/>
                </a:cubicBezTo>
                <a:cubicBezTo>
                  <a:pt x="134193" y="116706"/>
                  <a:pt x="109358" y="138875"/>
                  <a:pt x="79375" y="138875"/>
                </a:cubicBezTo>
                <a:cubicBezTo>
                  <a:pt x="62942" y="138875"/>
                  <a:pt x="48059" y="132209"/>
                  <a:pt x="37269" y="121450"/>
                </a:cubicBezTo>
                <a:cubicBezTo>
                  <a:pt x="37207" y="121388"/>
                  <a:pt x="37145" y="121326"/>
                  <a:pt x="37083" y="121264"/>
                </a:cubicBezTo>
                <a:lnTo>
                  <a:pt x="34727" y="119031"/>
                </a:lnTo>
                <a:lnTo>
                  <a:pt x="49578" y="119031"/>
                </a:lnTo>
                <a:cubicBezTo>
                  <a:pt x="55066" y="119031"/>
                  <a:pt x="59500" y="114598"/>
                  <a:pt x="59500" y="109110"/>
                </a:cubicBezTo>
                <a:cubicBezTo>
                  <a:pt x="59500" y="103622"/>
                  <a:pt x="55066" y="99188"/>
                  <a:pt x="49578" y="99188"/>
                </a:cubicBezTo>
                <a:lnTo>
                  <a:pt x="9922" y="99219"/>
                </a:lnTo>
                <a:cubicBezTo>
                  <a:pt x="7286" y="99219"/>
                  <a:pt x="4744" y="100273"/>
                  <a:pt x="2884" y="102164"/>
                </a:cubicBezTo>
                <a:cubicBezTo>
                  <a:pt x="1023" y="104056"/>
                  <a:pt x="-31" y="106567"/>
                  <a:pt x="0" y="109234"/>
                </a:cubicBezTo>
                <a:lnTo>
                  <a:pt x="310" y="148611"/>
                </a:lnTo>
                <a:cubicBezTo>
                  <a:pt x="341" y="154099"/>
                  <a:pt x="4837" y="158502"/>
                  <a:pt x="10325" y="158440"/>
                </a:cubicBezTo>
                <a:cubicBezTo>
                  <a:pt x="15813" y="158378"/>
                  <a:pt x="20216" y="153913"/>
                  <a:pt x="20154" y="148425"/>
                </a:cubicBezTo>
                <a:lnTo>
                  <a:pt x="20030" y="132457"/>
                </a:lnTo>
                <a:lnTo>
                  <a:pt x="23347" y="135589"/>
                </a:lnTo>
                <a:cubicBezTo>
                  <a:pt x="37703" y="149882"/>
                  <a:pt x="57516" y="158750"/>
                  <a:pt x="79375" y="158750"/>
                </a:cubicBezTo>
                <a:cubicBezTo>
                  <a:pt x="119373" y="158750"/>
                  <a:pt x="152456" y="129170"/>
                  <a:pt x="157944" y="90692"/>
                </a:cubicBezTo>
                <a:close/>
              </a:path>
            </a:pathLst>
          </a:custGeom>
          <a:solidFill>
            <a:srgbClr val="E6B450"/>
          </a:solidFill>
        </p:spPr>
      </p:sp>
      <p:sp>
        <p:nvSpPr>
          <p:cNvPr id="34" name="Text 32"/>
          <p:cNvSpPr/>
          <p:nvPr/>
        </p:nvSpPr>
        <p:spPr>
          <a:xfrm>
            <a:off x="9223375" y="1864737"/>
            <a:ext cx="2532063" cy="222250"/>
          </a:xfrm>
          <a:prstGeom prst="rect">
            <a:avLst/>
          </a:prstGeom>
          <a:noFill/>
        </p:spPr>
        <p:txBody>
          <a:bodyPr wrap="square" lIns="0" tIns="0" rIns="0" bIns="0" rtlCol="0" anchor="ctr"/>
          <a:lstStyle/>
          <a:p>
            <a:pPr>
              <a:lnSpc>
                <a:spcPct val="12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一次贝塞尔曲线示意</a:t>
            </a:r>
            <a:endParaRPr lang="en-US" sz="1600" dirty="0"/>
          </a:p>
        </p:txBody>
      </p:sp>
      <p:sp>
        <p:nvSpPr>
          <p:cNvPr id="42" name="Shape 39"/>
          <p:cNvSpPr/>
          <p:nvPr/>
        </p:nvSpPr>
        <p:spPr>
          <a:xfrm>
            <a:off x="9024938" y="5497066"/>
            <a:ext cx="2651125" cy="444500"/>
          </a:xfrm>
          <a:custGeom>
            <a:avLst/>
            <a:gdLst/>
            <a:ahLst/>
            <a:cxnLst/>
            <a:rect l="l" t="t" r="r" b="b"/>
            <a:pathLst>
              <a:path w="2651125" h="444500">
                <a:moveTo>
                  <a:pt x="63501" y="0"/>
                </a:moveTo>
                <a:lnTo>
                  <a:pt x="2587624" y="0"/>
                </a:lnTo>
                <a:cubicBezTo>
                  <a:pt x="2622695" y="0"/>
                  <a:pt x="2651125" y="28430"/>
                  <a:pt x="2651125" y="63501"/>
                </a:cubicBezTo>
                <a:lnTo>
                  <a:pt x="2651125" y="380999"/>
                </a:lnTo>
                <a:cubicBezTo>
                  <a:pt x="2651125" y="416070"/>
                  <a:pt x="2622695" y="444500"/>
                  <a:pt x="2587624" y="444500"/>
                </a:cubicBezTo>
                <a:lnTo>
                  <a:pt x="63501" y="444500"/>
                </a:lnTo>
                <a:cubicBezTo>
                  <a:pt x="28454" y="444500"/>
                  <a:pt x="0" y="416046"/>
                  <a:pt x="0" y="380999"/>
                </a:cubicBezTo>
                <a:lnTo>
                  <a:pt x="0" y="63501"/>
                </a:lnTo>
                <a:cubicBezTo>
                  <a:pt x="0" y="28454"/>
                  <a:pt x="28454" y="0"/>
                  <a:pt x="63501" y="0"/>
                </a:cubicBezTo>
                <a:close/>
              </a:path>
            </a:pathLst>
          </a:custGeom>
          <a:solidFill>
            <a:srgbClr val="5F87A7">
              <a:alpha val="20000"/>
            </a:srgbClr>
          </a:solidFill>
        </p:spPr>
      </p:sp>
      <p:sp>
        <p:nvSpPr>
          <p:cNvPr id="43" name="Shape 40"/>
          <p:cNvSpPr/>
          <p:nvPr/>
        </p:nvSpPr>
        <p:spPr>
          <a:xfrm>
            <a:off x="9195494" y="5655816"/>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55563" y="39688"/>
                </a:moveTo>
                <a:cubicBezTo>
                  <a:pt x="55563" y="35307"/>
                  <a:pt x="59119" y="31750"/>
                  <a:pt x="63500" y="31750"/>
                </a:cubicBezTo>
                <a:cubicBezTo>
                  <a:pt x="67881" y="31750"/>
                  <a:pt x="71438" y="35307"/>
                  <a:pt x="71438" y="39688"/>
                </a:cubicBezTo>
                <a:cubicBezTo>
                  <a:pt x="71438" y="44068"/>
                  <a:pt x="67881" y="47625"/>
                  <a:pt x="63500" y="47625"/>
                </a:cubicBezTo>
                <a:cubicBezTo>
                  <a:pt x="59119" y="47625"/>
                  <a:pt x="55563" y="44068"/>
                  <a:pt x="55563" y="39688"/>
                </a:cubicBezTo>
                <a:close/>
                <a:moveTo>
                  <a:pt x="53578" y="55563"/>
                </a:moveTo>
                <a:lnTo>
                  <a:pt x="65484" y="55563"/>
                </a:lnTo>
                <a:cubicBezTo>
                  <a:pt x="68783" y="55563"/>
                  <a:pt x="71438" y="58217"/>
                  <a:pt x="71438" y="61516"/>
                </a:cubicBezTo>
                <a:lnTo>
                  <a:pt x="71438" y="83344"/>
                </a:lnTo>
                <a:lnTo>
                  <a:pt x="73422" y="83344"/>
                </a:lnTo>
                <a:cubicBezTo>
                  <a:pt x="76721" y="83344"/>
                  <a:pt x="79375" y="85998"/>
                  <a:pt x="79375" y="89297"/>
                </a:cubicBezTo>
                <a:cubicBezTo>
                  <a:pt x="79375" y="92596"/>
                  <a:pt x="76721" y="95250"/>
                  <a:pt x="73422" y="95250"/>
                </a:cubicBezTo>
                <a:lnTo>
                  <a:pt x="53578" y="95250"/>
                </a:lnTo>
                <a:cubicBezTo>
                  <a:pt x="50279" y="95250"/>
                  <a:pt x="47625" y="92596"/>
                  <a:pt x="47625" y="89297"/>
                </a:cubicBezTo>
                <a:cubicBezTo>
                  <a:pt x="47625" y="85998"/>
                  <a:pt x="50279" y="83344"/>
                  <a:pt x="53578" y="83344"/>
                </a:cubicBezTo>
                <a:lnTo>
                  <a:pt x="59531" y="83344"/>
                </a:lnTo>
                <a:lnTo>
                  <a:pt x="59531" y="67469"/>
                </a:lnTo>
                <a:lnTo>
                  <a:pt x="53578" y="67469"/>
                </a:lnTo>
                <a:cubicBezTo>
                  <a:pt x="50279" y="67469"/>
                  <a:pt x="47625" y="64815"/>
                  <a:pt x="47625" y="61516"/>
                </a:cubicBezTo>
                <a:cubicBezTo>
                  <a:pt x="47625" y="58217"/>
                  <a:pt x="50279" y="55563"/>
                  <a:pt x="53578" y="55563"/>
                </a:cubicBezTo>
                <a:close/>
              </a:path>
            </a:pathLst>
          </a:custGeom>
          <a:solidFill>
            <a:srgbClr val="E6B450"/>
          </a:solidFill>
        </p:spPr>
      </p:sp>
      <p:sp>
        <p:nvSpPr>
          <p:cNvPr id="44" name="Text 41"/>
          <p:cNvSpPr/>
          <p:nvPr/>
        </p:nvSpPr>
        <p:spPr>
          <a:xfrm>
            <a:off x="9318625" y="5624066"/>
            <a:ext cx="2262188" cy="190500"/>
          </a:xfrm>
          <a:prstGeom prst="rect">
            <a:avLst/>
          </a:prstGeom>
          <a:noFill/>
        </p:spPr>
        <p:txBody>
          <a:bodyPr wrap="square" lIns="0" tIns="0" rIns="0" bIns="0" rtlCol="0" anchor="ctr"/>
          <a:lstStyle/>
          <a:p>
            <a:pPr algn="ct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一次贝塞尔曲线是直线</a:t>
            </a:r>
            <a:endParaRPr lang="en-US" sz="1600" dirty="0"/>
          </a:p>
        </p:txBody>
      </p:sp>
      <p:grpSp>
        <p:nvGrpSpPr>
          <p:cNvPr id="45" name="组合 44">
            <a:extLst>
              <a:ext uri="{FF2B5EF4-FFF2-40B4-BE49-F238E27FC236}">
                <a16:creationId xmlns:a16="http://schemas.microsoft.com/office/drawing/2014/main" id="{E0395D55-ED6C-7CA8-45CA-FEDFC0474575}"/>
              </a:ext>
            </a:extLst>
          </p:cNvPr>
          <p:cNvGrpSpPr/>
          <p:nvPr/>
        </p:nvGrpSpPr>
        <p:grpSpPr>
          <a:xfrm>
            <a:off x="0" y="939798"/>
            <a:ext cx="5022850" cy="625474"/>
            <a:chOff x="0" y="1075267"/>
            <a:chExt cx="5022850" cy="625474"/>
          </a:xfrm>
        </p:grpSpPr>
        <p:sp>
          <p:nvSpPr>
            <p:cNvPr id="46" name="矩形 45">
              <a:extLst>
                <a:ext uri="{FF2B5EF4-FFF2-40B4-BE49-F238E27FC236}">
                  <a16:creationId xmlns:a16="http://schemas.microsoft.com/office/drawing/2014/main" id="{F894349C-366D-FF35-CD67-ED71CBF06583}"/>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1E868F0A-2B37-8697-1559-78EDC2D93523}"/>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7.3.2 </a:t>
              </a:r>
              <a:r>
                <a:rPr lang="zh-CN" altLang="en-US" sz="2400" b="1" dirty="0">
                  <a:solidFill>
                    <a:schemeClr val="accent1"/>
                  </a:solidFill>
                  <a:latin typeface="+mj-lt"/>
                </a:rPr>
                <a:t>路径平滑</a:t>
              </a:r>
            </a:p>
          </p:txBody>
        </p:sp>
      </p:grpSp>
      <p:graphicFrame>
        <p:nvGraphicFramePr>
          <p:cNvPr id="49" name="对象 48">
            <a:extLst>
              <a:ext uri="{FF2B5EF4-FFF2-40B4-BE49-F238E27FC236}">
                <a16:creationId xmlns:a16="http://schemas.microsoft.com/office/drawing/2014/main" id="{17587B6C-8A94-6FC5-9D53-D477474516B1}"/>
              </a:ext>
            </a:extLst>
          </p:cNvPr>
          <p:cNvGraphicFramePr>
            <a:graphicFrameLocks noChangeAspect="1"/>
          </p:cNvGraphicFramePr>
          <p:nvPr>
            <p:extLst>
              <p:ext uri="{D42A27DB-BD31-4B8C-83A1-F6EECF244321}">
                <p14:modId xmlns:p14="http://schemas.microsoft.com/office/powerpoint/2010/main" val="877836866"/>
              </p:ext>
            </p:extLst>
          </p:nvPr>
        </p:nvGraphicFramePr>
        <p:xfrm>
          <a:off x="2653506" y="3066871"/>
          <a:ext cx="4502945" cy="381202"/>
        </p:xfrm>
        <a:graphic>
          <a:graphicData uri="http://schemas.openxmlformats.org/presentationml/2006/ole">
            <mc:AlternateContent xmlns:mc="http://schemas.openxmlformats.org/markup-compatibility/2006">
              <mc:Choice xmlns:v="urn:schemas-microsoft-com:vml" Requires="v">
                <p:oleObj name="Equation" r:id="rId3" imgW="2400300" imgH="203200" progId="Equation.DSMT4">
                  <p:embed/>
                </p:oleObj>
              </mc:Choice>
              <mc:Fallback>
                <p:oleObj name="Equation" r:id="rId3" imgW="2400300" imgH="203200" progId="Equation.DSMT4">
                  <p:embed/>
                  <p:pic>
                    <p:nvPicPr>
                      <p:cNvPr id="49" name="对象 48">
                        <a:extLst>
                          <a:ext uri="{FF2B5EF4-FFF2-40B4-BE49-F238E27FC236}">
                            <a16:creationId xmlns:a16="http://schemas.microsoft.com/office/drawing/2014/main" id="{17587B6C-8A94-6FC5-9D53-D477474516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3506" y="3066871"/>
                        <a:ext cx="4502945" cy="381202"/>
                      </a:xfrm>
                      <a:prstGeom prst="rect">
                        <a:avLst/>
                      </a:prstGeom>
                      <a:noFill/>
                    </p:spPr>
                  </p:pic>
                </p:oleObj>
              </mc:Fallback>
            </mc:AlternateContent>
          </a:graphicData>
        </a:graphic>
      </p:graphicFrame>
      <p:cxnSp>
        <p:nvCxnSpPr>
          <p:cNvPr id="3" name="直接连接符 2">
            <a:extLst>
              <a:ext uri="{FF2B5EF4-FFF2-40B4-BE49-F238E27FC236}">
                <a16:creationId xmlns:a16="http://schemas.microsoft.com/office/drawing/2014/main" id="{DB1097CB-B969-C964-E71F-F6CC60E3DB5A}"/>
              </a:ext>
            </a:extLst>
          </p:cNvPr>
          <p:cNvCxnSpPr/>
          <p:nvPr/>
        </p:nvCxnSpPr>
        <p:spPr>
          <a:xfrm>
            <a:off x="9618133" y="3149600"/>
            <a:ext cx="1566334" cy="643467"/>
          </a:xfrm>
          <a:prstGeom prst="line">
            <a:avLst/>
          </a:prstGeom>
          <a:ln w="19050">
            <a:solidFill>
              <a:srgbClr val="FF000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05F9931D-AA36-0B67-B6B5-AA2EE83DC742}"/>
              </a:ext>
            </a:extLst>
          </p:cNvPr>
          <p:cNvSpPr txBox="1"/>
          <p:nvPr/>
        </p:nvSpPr>
        <p:spPr>
          <a:xfrm>
            <a:off x="9318625" y="3149600"/>
            <a:ext cx="409086" cy="369332"/>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100" dirty="0">
                <a:latin typeface="微软雅黑" panose="020B0503020204020204" pitchFamily="34" charset="-122"/>
                <a:ea typeface="微软雅黑" panose="020B0503020204020204" pitchFamily="34" charset="-122"/>
                <a:cs typeface="微软雅黑" panose="020B0503020204020204" pitchFamily="34" charset="-122"/>
              </a:rPr>
              <a:t>0</a:t>
            </a:r>
            <a:endParaRPr lang="zh-CN" altLang="en-US" dirty="0"/>
          </a:p>
        </p:txBody>
      </p:sp>
      <p:sp>
        <p:nvSpPr>
          <p:cNvPr id="11" name="文本框 10">
            <a:extLst>
              <a:ext uri="{FF2B5EF4-FFF2-40B4-BE49-F238E27FC236}">
                <a16:creationId xmlns:a16="http://schemas.microsoft.com/office/drawing/2014/main" id="{C0D129AA-9A5B-9F0D-3BD6-CE125DA53D3E}"/>
              </a:ext>
            </a:extLst>
          </p:cNvPr>
          <p:cNvSpPr txBox="1"/>
          <p:nvPr/>
        </p:nvSpPr>
        <p:spPr>
          <a:xfrm>
            <a:off x="11039475" y="3880455"/>
            <a:ext cx="409086" cy="369332"/>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100" dirty="0">
                <a:latin typeface="微软雅黑" panose="020B0503020204020204" pitchFamily="34" charset="-122"/>
                <a:ea typeface="微软雅黑" panose="020B0503020204020204" pitchFamily="34" charset="-122"/>
                <a:cs typeface="微软雅黑" panose="020B0503020204020204" pitchFamily="34" charset="-122"/>
              </a:rPr>
              <a:t>1</a:t>
            </a:r>
            <a:endParaRPr lang="zh-CN" altLang="en-US" dirty="0"/>
          </a:p>
        </p:txBody>
      </p:sp>
    </p:spTree>
    <p:extLst>
      <p:ext uri="{BB962C8B-B14F-4D97-AF65-F5344CB8AC3E}">
        <p14:creationId xmlns:p14="http://schemas.microsoft.com/office/powerpoint/2010/main" val="3224801938"/>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93895" y="1706880"/>
            <a:ext cx="7521526" cy="2419643"/>
          </a:xfrm>
          <a:custGeom>
            <a:avLst/>
            <a:gdLst/>
            <a:ahLst/>
            <a:cxnLst/>
            <a:rect l="l" t="t" r="r" b="b"/>
            <a:pathLst>
              <a:path w="7521526" h="2419643">
                <a:moveTo>
                  <a:pt x="37514" y="0"/>
                </a:moveTo>
                <a:lnTo>
                  <a:pt x="7408989" y="0"/>
                </a:lnTo>
                <a:cubicBezTo>
                  <a:pt x="7471141" y="0"/>
                  <a:pt x="7521526" y="50385"/>
                  <a:pt x="7521526" y="112538"/>
                </a:cubicBezTo>
                <a:lnTo>
                  <a:pt x="7521526" y="2307105"/>
                </a:lnTo>
                <a:cubicBezTo>
                  <a:pt x="7521526" y="2369258"/>
                  <a:pt x="7471141" y="2419643"/>
                  <a:pt x="7408989" y="2419643"/>
                </a:cubicBezTo>
                <a:lnTo>
                  <a:pt x="37514" y="2419643"/>
                </a:lnTo>
                <a:cubicBezTo>
                  <a:pt x="16796" y="2419643"/>
                  <a:pt x="0" y="2402848"/>
                  <a:pt x="0" y="2382129"/>
                </a:cubicBezTo>
                <a:lnTo>
                  <a:pt x="0" y="37514"/>
                </a:lnTo>
                <a:cubicBezTo>
                  <a:pt x="0" y="16809"/>
                  <a:pt x="16809" y="0"/>
                  <a:pt x="37514" y="0"/>
                </a:cubicBezTo>
                <a:close/>
              </a:path>
            </a:pathLst>
          </a:custGeom>
          <a:solidFill>
            <a:srgbClr val="5F87A7">
              <a:alpha val="10196"/>
            </a:srgbClr>
          </a:solidFill>
        </p:spPr>
      </p:sp>
      <p:sp>
        <p:nvSpPr>
          <p:cNvPr id="6" name="Shape 4"/>
          <p:cNvSpPr/>
          <p:nvPr/>
        </p:nvSpPr>
        <p:spPr>
          <a:xfrm>
            <a:off x="393895" y="1706880"/>
            <a:ext cx="37514" cy="2419643"/>
          </a:xfrm>
          <a:custGeom>
            <a:avLst/>
            <a:gdLst/>
            <a:ahLst/>
            <a:cxnLst/>
            <a:rect l="l" t="t" r="r" b="b"/>
            <a:pathLst>
              <a:path w="37514" h="2419643">
                <a:moveTo>
                  <a:pt x="37514" y="0"/>
                </a:moveTo>
                <a:lnTo>
                  <a:pt x="37514" y="0"/>
                </a:lnTo>
                <a:lnTo>
                  <a:pt x="37514" y="2419643"/>
                </a:lnTo>
                <a:lnTo>
                  <a:pt x="37514" y="2419643"/>
                </a:lnTo>
                <a:cubicBezTo>
                  <a:pt x="16796" y="2419643"/>
                  <a:pt x="0" y="2402848"/>
                  <a:pt x="0" y="2382129"/>
                </a:cubicBezTo>
                <a:lnTo>
                  <a:pt x="0" y="37514"/>
                </a:lnTo>
                <a:cubicBezTo>
                  <a:pt x="0" y="16809"/>
                  <a:pt x="16809" y="0"/>
                  <a:pt x="37514" y="0"/>
                </a:cubicBezTo>
                <a:close/>
              </a:path>
            </a:pathLst>
          </a:custGeom>
          <a:solidFill>
            <a:srgbClr val="E6B450"/>
          </a:solidFill>
        </p:spPr>
      </p:sp>
      <p:sp>
        <p:nvSpPr>
          <p:cNvPr id="7" name="Shape 5"/>
          <p:cNvSpPr/>
          <p:nvPr/>
        </p:nvSpPr>
        <p:spPr>
          <a:xfrm>
            <a:off x="618978" y="1969477"/>
            <a:ext cx="196948" cy="225083"/>
          </a:xfrm>
          <a:custGeom>
            <a:avLst/>
            <a:gdLst/>
            <a:ahLst/>
            <a:cxnLst/>
            <a:rect l="l" t="t" r="r" b="b"/>
            <a:pathLst>
              <a:path w="196948" h="225083">
                <a:moveTo>
                  <a:pt x="168812" y="225083"/>
                </a:moveTo>
                <a:lnTo>
                  <a:pt x="42203" y="225083"/>
                </a:lnTo>
                <a:cubicBezTo>
                  <a:pt x="18903" y="225083"/>
                  <a:pt x="0" y="206180"/>
                  <a:pt x="0" y="182880"/>
                </a:cubicBezTo>
                <a:lnTo>
                  <a:pt x="0" y="42203"/>
                </a:lnTo>
                <a:cubicBezTo>
                  <a:pt x="0" y="18903"/>
                  <a:pt x="18903" y="0"/>
                  <a:pt x="42203" y="0"/>
                </a:cubicBezTo>
                <a:lnTo>
                  <a:pt x="175846" y="0"/>
                </a:lnTo>
                <a:cubicBezTo>
                  <a:pt x="187496" y="0"/>
                  <a:pt x="196948" y="9452"/>
                  <a:pt x="196948" y="21102"/>
                </a:cubicBezTo>
                <a:lnTo>
                  <a:pt x="196948" y="147711"/>
                </a:lnTo>
                <a:cubicBezTo>
                  <a:pt x="196948" y="156899"/>
                  <a:pt x="191057" y="164724"/>
                  <a:pt x="182880" y="167625"/>
                </a:cubicBezTo>
                <a:lnTo>
                  <a:pt x="182880" y="196948"/>
                </a:lnTo>
                <a:cubicBezTo>
                  <a:pt x="190661" y="196948"/>
                  <a:pt x="196948" y="203234"/>
                  <a:pt x="196948" y="211015"/>
                </a:cubicBezTo>
                <a:cubicBezTo>
                  <a:pt x="196948" y="218797"/>
                  <a:pt x="190661" y="225083"/>
                  <a:pt x="182880" y="225083"/>
                </a:cubicBezTo>
                <a:lnTo>
                  <a:pt x="168812" y="225083"/>
                </a:lnTo>
                <a:close/>
                <a:moveTo>
                  <a:pt x="42203" y="168812"/>
                </a:moveTo>
                <a:cubicBezTo>
                  <a:pt x="34422" y="168812"/>
                  <a:pt x="28135" y="175099"/>
                  <a:pt x="28135" y="182880"/>
                </a:cubicBezTo>
                <a:cubicBezTo>
                  <a:pt x="28135" y="190661"/>
                  <a:pt x="34422" y="196948"/>
                  <a:pt x="42203" y="196948"/>
                </a:cubicBezTo>
                <a:lnTo>
                  <a:pt x="154745" y="196948"/>
                </a:lnTo>
                <a:lnTo>
                  <a:pt x="154745" y="168812"/>
                </a:lnTo>
                <a:lnTo>
                  <a:pt x="42203" y="168812"/>
                </a:lnTo>
                <a:close/>
                <a:moveTo>
                  <a:pt x="56271" y="66822"/>
                </a:moveTo>
                <a:cubicBezTo>
                  <a:pt x="56271" y="72668"/>
                  <a:pt x="60975" y="77372"/>
                  <a:pt x="66822" y="77372"/>
                </a:cubicBezTo>
                <a:lnTo>
                  <a:pt x="144194" y="77372"/>
                </a:lnTo>
                <a:cubicBezTo>
                  <a:pt x="150041" y="77372"/>
                  <a:pt x="154745" y="72668"/>
                  <a:pt x="154745" y="66822"/>
                </a:cubicBezTo>
                <a:cubicBezTo>
                  <a:pt x="154745" y="60975"/>
                  <a:pt x="150041" y="56271"/>
                  <a:pt x="144194" y="56271"/>
                </a:cubicBezTo>
                <a:lnTo>
                  <a:pt x="66822" y="56271"/>
                </a:lnTo>
                <a:cubicBezTo>
                  <a:pt x="60975" y="56271"/>
                  <a:pt x="56271" y="60975"/>
                  <a:pt x="56271" y="66822"/>
                </a:cubicBezTo>
                <a:close/>
                <a:moveTo>
                  <a:pt x="66822" y="98474"/>
                </a:moveTo>
                <a:cubicBezTo>
                  <a:pt x="60975" y="98474"/>
                  <a:pt x="56271" y="103178"/>
                  <a:pt x="56271" y="109025"/>
                </a:cubicBezTo>
                <a:cubicBezTo>
                  <a:pt x="56271" y="114872"/>
                  <a:pt x="60975" y="119575"/>
                  <a:pt x="66822" y="119575"/>
                </a:cubicBezTo>
                <a:lnTo>
                  <a:pt x="144194" y="119575"/>
                </a:lnTo>
                <a:cubicBezTo>
                  <a:pt x="150041" y="119575"/>
                  <a:pt x="154745" y="114872"/>
                  <a:pt x="154745" y="109025"/>
                </a:cubicBezTo>
                <a:cubicBezTo>
                  <a:pt x="154745" y="103178"/>
                  <a:pt x="150041" y="98474"/>
                  <a:pt x="144194" y="98474"/>
                </a:cubicBezTo>
                <a:lnTo>
                  <a:pt x="66822" y="98474"/>
                </a:lnTo>
                <a:close/>
              </a:path>
            </a:pathLst>
          </a:custGeom>
          <a:solidFill>
            <a:srgbClr val="E6B450"/>
          </a:solidFill>
        </p:spPr>
      </p:sp>
      <p:sp>
        <p:nvSpPr>
          <p:cNvPr id="8" name="Text 6"/>
          <p:cNvSpPr/>
          <p:nvPr/>
        </p:nvSpPr>
        <p:spPr>
          <a:xfrm>
            <a:off x="944733" y="1931963"/>
            <a:ext cx="6855655" cy="300111"/>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2. 二次贝塞尔曲线（二次方公式）</a:t>
            </a:r>
            <a:endParaRPr lang="en-US" dirty="0"/>
          </a:p>
        </p:txBody>
      </p:sp>
      <p:sp>
        <p:nvSpPr>
          <p:cNvPr id="9" name="Text 7"/>
          <p:cNvSpPr/>
          <p:nvPr/>
        </p:nvSpPr>
        <p:spPr>
          <a:xfrm>
            <a:off x="944733" y="2344615"/>
            <a:ext cx="6827520" cy="973016"/>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定义：二次贝塞尔曲线的路径由给定点P</a:t>
            </a:r>
            <a:r>
              <a:rPr lang="en-US" sz="1050" dirty="0">
                <a:latin typeface="微软雅黑" panose="020B0503020204020204" pitchFamily="34" charset="-122"/>
                <a:ea typeface="微软雅黑" panose="020B0503020204020204" pitchFamily="34" charset="-122"/>
                <a:cs typeface="微软雅黑" panose="020B0503020204020204" pitchFamily="34" charset="-122"/>
              </a:rPr>
              <a:t>0</a:t>
            </a:r>
            <a:r>
              <a:rPr lang="en-US" sz="1600" dirty="0">
                <a:latin typeface="微软雅黑" panose="020B0503020204020204" pitchFamily="34" charset="-122"/>
                <a:ea typeface="微软雅黑" panose="020B0503020204020204" pitchFamily="34" charset="-122"/>
                <a:cs typeface="微软雅黑" panose="020B0503020204020204" pitchFamily="34" charset="-122"/>
              </a:rPr>
              <a:t>、P</a:t>
            </a:r>
            <a:r>
              <a:rPr lang="en-US" sz="1050" dirty="0">
                <a:latin typeface="微软雅黑" panose="020B0503020204020204" pitchFamily="34" charset="-122"/>
                <a:ea typeface="微软雅黑" panose="020B0503020204020204" pitchFamily="34" charset="-122"/>
                <a:cs typeface="微软雅黑" panose="020B0503020204020204" pitchFamily="34" charset="-122"/>
              </a:rPr>
              <a:t>1</a:t>
            </a:r>
            <a:r>
              <a:rPr lang="en-US" sz="1600" dirty="0">
                <a:latin typeface="微软雅黑" panose="020B0503020204020204" pitchFamily="34" charset="-122"/>
                <a:ea typeface="微软雅黑" panose="020B0503020204020204" pitchFamily="34" charset="-122"/>
                <a:cs typeface="微软雅黑" panose="020B0503020204020204" pitchFamily="34" charset="-122"/>
              </a:rPr>
              <a:t>、P</a:t>
            </a:r>
            <a:r>
              <a:rPr lang="en-US" sz="1050" dirty="0">
                <a:latin typeface="微软雅黑" panose="020B0503020204020204" pitchFamily="34" charset="-122"/>
                <a:ea typeface="微软雅黑" panose="020B0503020204020204" pitchFamily="34" charset="-122"/>
                <a:cs typeface="微软雅黑" panose="020B0503020204020204" pitchFamily="34" charset="-122"/>
              </a:rPr>
              <a:t>2</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的函数B(t)给出。假设P</a:t>
            </a:r>
            <a:r>
              <a:rPr lang="en-US" sz="1050" dirty="0">
                <a:latin typeface="微软雅黑" panose="020B0503020204020204" pitchFamily="34" charset="-122"/>
                <a:ea typeface="微软雅黑" panose="020B0503020204020204" pitchFamily="34" charset="-122"/>
                <a:cs typeface="微软雅黑" panose="020B0503020204020204" pitchFamily="34" charset="-122"/>
              </a:rPr>
              <a:t>0</a:t>
            </a:r>
            <a:r>
              <a:rPr lang="en-US" sz="1600" dirty="0">
                <a:latin typeface="微软雅黑" panose="020B0503020204020204" pitchFamily="34" charset="-122"/>
                <a:ea typeface="微软雅黑" panose="020B0503020204020204" pitchFamily="34" charset="-122"/>
                <a:cs typeface="微软雅黑" panose="020B0503020204020204" pitchFamily="34" charset="-122"/>
              </a:rPr>
              <a:t>、P</a:t>
            </a:r>
            <a:r>
              <a:rPr lang="en-US" sz="1050" dirty="0">
                <a:latin typeface="微软雅黑" panose="020B0503020204020204" pitchFamily="34" charset="-122"/>
                <a:ea typeface="微软雅黑" panose="020B0503020204020204" pitchFamily="34" charset="-122"/>
                <a:cs typeface="微软雅黑" panose="020B0503020204020204" pitchFamily="34" charset="-122"/>
              </a:rPr>
              <a:t>1</a:t>
            </a:r>
            <a:r>
              <a:rPr lang="en-US" sz="1600" dirty="0">
                <a:latin typeface="微软雅黑" panose="020B0503020204020204" pitchFamily="34" charset="-122"/>
                <a:ea typeface="微软雅黑" panose="020B0503020204020204" pitchFamily="34" charset="-122"/>
                <a:cs typeface="微软雅黑" panose="020B0503020204020204" pitchFamily="34" charset="-122"/>
              </a:rPr>
              <a:t>上的点为</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a:t>
            </a:r>
            <a:r>
              <a:rPr lang="en-US" sz="1600" dirty="0">
                <a:latin typeface="微软雅黑" panose="020B0503020204020204" pitchFamily="34" charset="-122"/>
                <a:ea typeface="微软雅黑" panose="020B0503020204020204" pitchFamily="34" charset="-122"/>
                <a:cs typeface="微软雅黑" panose="020B0503020204020204" pitchFamily="34" charset="-122"/>
              </a:rPr>
              <a:t>，P</a:t>
            </a:r>
            <a:r>
              <a:rPr lang="en-US" sz="1050" dirty="0">
                <a:latin typeface="微软雅黑" panose="020B0503020204020204" pitchFamily="34" charset="-122"/>
                <a:ea typeface="微软雅黑" panose="020B0503020204020204" pitchFamily="34" charset="-122"/>
                <a:cs typeface="微软雅黑" panose="020B0503020204020204" pitchFamily="34" charset="-122"/>
              </a:rPr>
              <a:t>1</a:t>
            </a:r>
            <a:r>
              <a:rPr lang="en-US" sz="1600" dirty="0">
                <a:latin typeface="微软雅黑" panose="020B0503020204020204" pitchFamily="34" charset="-122"/>
                <a:ea typeface="微软雅黑" panose="020B0503020204020204" pitchFamily="34" charset="-122"/>
                <a:cs typeface="微软雅黑" panose="020B0503020204020204" pitchFamily="34" charset="-122"/>
              </a:rPr>
              <a:t>、P</a:t>
            </a:r>
            <a:r>
              <a:rPr lang="en-US" sz="1050" dirty="0">
                <a:latin typeface="微软雅黑" panose="020B0503020204020204" pitchFamily="34" charset="-122"/>
                <a:ea typeface="微软雅黑" panose="020B0503020204020204" pitchFamily="34" charset="-122"/>
                <a:cs typeface="微软雅黑" panose="020B0503020204020204" pitchFamily="34" charset="-122"/>
              </a:rPr>
              <a:t>2</a:t>
            </a:r>
            <a:r>
              <a:rPr lang="en-US" sz="1600" dirty="0">
                <a:latin typeface="微软雅黑" panose="020B0503020204020204" pitchFamily="34" charset="-122"/>
                <a:ea typeface="微软雅黑" panose="020B0503020204020204" pitchFamily="34" charset="-122"/>
                <a:cs typeface="微软雅黑" panose="020B0503020204020204" pitchFamily="34" charset="-122"/>
              </a:rPr>
              <a:t>上的点为</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B</a:t>
            </a:r>
            <a:r>
              <a:rPr lang="en-US" sz="1600" dirty="0">
                <a:latin typeface="微软雅黑" panose="020B0503020204020204" pitchFamily="34" charset="-122"/>
                <a:ea typeface="微软雅黑" panose="020B0503020204020204" pitchFamily="34" charset="-122"/>
                <a:cs typeface="微软雅黑" panose="020B0503020204020204" pitchFamily="34" charset="-122"/>
              </a:rPr>
              <a:t>，Q</a:t>
            </a:r>
            <a:r>
              <a:rPr lang="en-US" sz="1050" dirty="0">
                <a:latin typeface="微软雅黑" panose="020B0503020204020204" pitchFamily="34" charset="-122"/>
                <a:ea typeface="微软雅黑" panose="020B0503020204020204" pitchFamily="34" charset="-122"/>
                <a:cs typeface="微软雅黑" panose="020B0503020204020204" pitchFamily="34" charset="-122"/>
              </a:rPr>
              <a:t>0</a:t>
            </a:r>
            <a:r>
              <a:rPr lang="en-US" sz="1600" dirty="0">
                <a:latin typeface="微软雅黑" panose="020B0503020204020204" pitchFamily="34" charset="-122"/>
                <a:ea typeface="微软雅黑" panose="020B0503020204020204" pitchFamily="34" charset="-122"/>
                <a:cs typeface="微软雅黑" panose="020B0503020204020204" pitchFamily="34" charset="-122"/>
              </a:rPr>
              <a:t>、Q</a:t>
            </a:r>
            <a:r>
              <a:rPr lang="en-US" sz="1050" dirty="0">
                <a:latin typeface="微软雅黑" panose="020B0503020204020204" pitchFamily="34" charset="-122"/>
                <a:ea typeface="微软雅黑" panose="020B0503020204020204" pitchFamily="34" charset="-122"/>
                <a:cs typeface="微软雅黑" panose="020B0503020204020204" pitchFamily="34" charset="-122"/>
              </a:rPr>
              <a:t>1</a:t>
            </a:r>
            <a:r>
              <a:rPr lang="en-US" sz="1600" dirty="0">
                <a:latin typeface="微软雅黑" panose="020B0503020204020204" pitchFamily="34" charset="-122"/>
                <a:ea typeface="微软雅黑" panose="020B0503020204020204" pitchFamily="34" charset="-122"/>
                <a:cs typeface="微软雅黑" panose="020B0503020204020204" pitchFamily="34" charset="-122"/>
              </a:rPr>
              <a:t>上的点为</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C</a:t>
            </a:r>
            <a:r>
              <a:rPr lang="en-US" sz="1600" dirty="0">
                <a:latin typeface="微软雅黑" panose="020B0503020204020204" pitchFamily="34" charset="-122"/>
                <a:ea typeface="微软雅黑" panose="020B0503020204020204" pitchFamily="34" charset="-122"/>
                <a:cs typeface="微软雅黑" panose="020B0503020204020204" pitchFamily="34" charset="-122"/>
              </a:rPr>
              <a:t>（也即</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C</a:t>
            </a:r>
            <a:r>
              <a:rPr lang="en-US" sz="1600" dirty="0">
                <a:latin typeface="微软雅黑" panose="020B0503020204020204" pitchFamily="34" charset="-122"/>
                <a:ea typeface="微软雅黑" panose="020B0503020204020204" pitchFamily="34" charset="-122"/>
                <a:cs typeface="微软雅黑" panose="020B0503020204020204" pitchFamily="34" charset="-122"/>
              </a:rPr>
              <a:t>为二次贝塞尔曲线上的点）。则根据一次贝塞尔曲线公式有：</a:t>
            </a:r>
            <a:endParaRPr lang="en-US" sz="2000" dirty="0"/>
          </a:p>
        </p:txBody>
      </p:sp>
      <p:sp>
        <p:nvSpPr>
          <p:cNvPr id="10" name="Shape 8"/>
          <p:cNvSpPr/>
          <p:nvPr/>
        </p:nvSpPr>
        <p:spPr>
          <a:xfrm>
            <a:off x="949423" y="3437207"/>
            <a:ext cx="2185182" cy="609600"/>
          </a:xfrm>
          <a:custGeom>
            <a:avLst/>
            <a:gdLst/>
            <a:ahLst/>
            <a:cxnLst/>
            <a:rect l="l" t="t" r="r" b="b"/>
            <a:pathLst>
              <a:path w="2185182" h="609600">
                <a:moveTo>
                  <a:pt x="75030" y="0"/>
                </a:moveTo>
                <a:lnTo>
                  <a:pt x="2110152" y="0"/>
                </a:lnTo>
                <a:cubicBezTo>
                  <a:pt x="2151590" y="0"/>
                  <a:pt x="2185182" y="33592"/>
                  <a:pt x="2185182" y="75030"/>
                </a:cubicBezTo>
                <a:lnTo>
                  <a:pt x="2185182" y="534570"/>
                </a:lnTo>
                <a:cubicBezTo>
                  <a:pt x="2185182" y="576008"/>
                  <a:pt x="2151590" y="609600"/>
                  <a:pt x="2110152" y="609600"/>
                </a:cubicBezTo>
                <a:lnTo>
                  <a:pt x="75030" y="609600"/>
                </a:lnTo>
                <a:cubicBezTo>
                  <a:pt x="33592" y="609600"/>
                  <a:pt x="0" y="576008"/>
                  <a:pt x="0" y="534570"/>
                </a:cubicBezTo>
                <a:lnTo>
                  <a:pt x="0" y="75030"/>
                </a:lnTo>
                <a:cubicBezTo>
                  <a:pt x="0" y="33592"/>
                  <a:pt x="33592" y="0"/>
                  <a:pt x="75030" y="0"/>
                </a:cubicBezTo>
                <a:close/>
              </a:path>
            </a:pathLst>
          </a:custGeom>
          <a:solidFill>
            <a:srgbClr val="E6B450">
              <a:alpha val="10196"/>
            </a:srgbClr>
          </a:solidFill>
          <a:ln w="12700">
            <a:solidFill>
              <a:srgbClr val="E6B450">
                <a:alpha val="30196"/>
              </a:srgbClr>
            </a:solidFill>
            <a:prstDash val="solid"/>
          </a:ln>
        </p:spPr>
      </p:sp>
      <p:sp>
        <p:nvSpPr>
          <p:cNvPr id="13" name="Shape 11"/>
          <p:cNvSpPr/>
          <p:nvPr/>
        </p:nvSpPr>
        <p:spPr>
          <a:xfrm>
            <a:off x="3221502" y="3437207"/>
            <a:ext cx="2185182" cy="609600"/>
          </a:xfrm>
          <a:custGeom>
            <a:avLst/>
            <a:gdLst/>
            <a:ahLst/>
            <a:cxnLst/>
            <a:rect l="l" t="t" r="r" b="b"/>
            <a:pathLst>
              <a:path w="2185182" h="609600">
                <a:moveTo>
                  <a:pt x="75030" y="0"/>
                </a:moveTo>
                <a:lnTo>
                  <a:pt x="2110152" y="0"/>
                </a:lnTo>
                <a:cubicBezTo>
                  <a:pt x="2151590" y="0"/>
                  <a:pt x="2185182" y="33592"/>
                  <a:pt x="2185182" y="75030"/>
                </a:cubicBezTo>
                <a:lnTo>
                  <a:pt x="2185182" y="534570"/>
                </a:lnTo>
                <a:cubicBezTo>
                  <a:pt x="2185182" y="576008"/>
                  <a:pt x="2151590" y="609600"/>
                  <a:pt x="2110152" y="609600"/>
                </a:cubicBezTo>
                <a:lnTo>
                  <a:pt x="75030" y="609600"/>
                </a:lnTo>
                <a:cubicBezTo>
                  <a:pt x="33592" y="609600"/>
                  <a:pt x="0" y="576008"/>
                  <a:pt x="0" y="534570"/>
                </a:cubicBezTo>
                <a:lnTo>
                  <a:pt x="0" y="75030"/>
                </a:lnTo>
                <a:cubicBezTo>
                  <a:pt x="0" y="33592"/>
                  <a:pt x="33592" y="0"/>
                  <a:pt x="75030" y="0"/>
                </a:cubicBezTo>
                <a:close/>
              </a:path>
            </a:pathLst>
          </a:custGeom>
          <a:solidFill>
            <a:srgbClr val="E6B450">
              <a:alpha val="10196"/>
            </a:srgbClr>
          </a:solidFill>
          <a:ln w="12700">
            <a:solidFill>
              <a:srgbClr val="E6B450">
                <a:alpha val="30196"/>
              </a:srgbClr>
            </a:solidFill>
            <a:prstDash val="solid"/>
          </a:ln>
        </p:spPr>
      </p:sp>
      <p:sp>
        <p:nvSpPr>
          <p:cNvPr id="16" name="Shape 14"/>
          <p:cNvSpPr/>
          <p:nvPr/>
        </p:nvSpPr>
        <p:spPr>
          <a:xfrm>
            <a:off x="5493580" y="3437207"/>
            <a:ext cx="2185182" cy="609600"/>
          </a:xfrm>
          <a:custGeom>
            <a:avLst/>
            <a:gdLst/>
            <a:ahLst/>
            <a:cxnLst/>
            <a:rect l="l" t="t" r="r" b="b"/>
            <a:pathLst>
              <a:path w="2185182" h="609600">
                <a:moveTo>
                  <a:pt x="75030" y="0"/>
                </a:moveTo>
                <a:lnTo>
                  <a:pt x="2110152" y="0"/>
                </a:lnTo>
                <a:cubicBezTo>
                  <a:pt x="2151590" y="0"/>
                  <a:pt x="2185182" y="33592"/>
                  <a:pt x="2185182" y="75030"/>
                </a:cubicBezTo>
                <a:lnTo>
                  <a:pt x="2185182" y="534570"/>
                </a:lnTo>
                <a:cubicBezTo>
                  <a:pt x="2185182" y="576008"/>
                  <a:pt x="2151590" y="609600"/>
                  <a:pt x="2110152" y="609600"/>
                </a:cubicBezTo>
                <a:lnTo>
                  <a:pt x="75030" y="609600"/>
                </a:lnTo>
                <a:cubicBezTo>
                  <a:pt x="33592" y="609600"/>
                  <a:pt x="0" y="576008"/>
                  <a:pt x="0" y="534570"/>
                </a:cubicBezTo>
                <a:lnTo>
                  <a:pt x="0" y="75030"/>
                </a:lnTo>
                <a:cubicBezTo>
                  <a:pt x="0" y="33592"/>
                  <a:pt x="33592" y="0"/>
                  <a:pt x="75030" y="0"/>
                </a:cubicBezTo>
                <a:close/>
              </a:path>
            </a:pathLst>
          </a:custGeom>
          <a:solidFill>
            <a:srgbClr val="E6B450">
              <a:alpha val="10196"/>
            </a:srgbClr>
          </a:solidFill>
          <a:ln w="12700">
            <a:solidFill>
              <a:srgbClr val="E6B450">
                <a:alpha val="30196"/>
              </a:srgbClr>
            </a:solidFill>
            <a:prstDash val="solid"/>
          </a:ln>
        </p:spPr>
      </p:sp>
      <p:sp>
        <p:nvSpPr>
          <p:cNvPr id="19" name="Shape 17"/>
          <p:cNvSpPr/>
          <p:nvPr/>
        </p:nvSpPr>
        <p:spPr>
          <a:xfrm>
            <a:off x="393895" y="4349262"/>
            <a:ext cx="7521526" cy="2128911"/>
          </a:xfrm>
          <a:custGeom>
            <a:avLst/>
            <a:gdLst/>
            <a:ahLst/>
            <a:cxnLst/>
            <a:rect l="l" t="t" r="r" b="b"/>
            <a:pathLst>
              <a:path w="7521526" h="2128911">
                <a:moveTo>
                  <a:pt x="37514" y="0"/>
                </a:moveTo>
                <a:lnTo>
                  <a:pt x="7408992" y="0"/>
                </a:lnTo>
                <a:cubicBezTo>
                  <a:pt x="7471143" y="0"/>
                  <a:pt x="7521526" y="50383"/>
                  <a:pt x="7521526" y="112534"/>
                </a:cubicBezTo>
                <a:lnTo>
                  <a:pt x="7521526" y="2016377"/>
                </a:lnTo>
                <a:cubicBezTo>
                  <a:pt x="7521526" y="2078527"/>
                  <a:pt x="7471143" y="2128911"/>
                  <a:pt x="7408992" y="2128911"/>
                </a:cubicBezTo>
                <a:lnTo>
                  <a:pt x="37514" y="2128911"/>
                </a:lnTo>
                <a:cubicBezTo>
                  <a:pt x="16796" y="2128911"/>
                  <a:pt x="0" y="2112115"/>
                  <a:pt x="0" y="2091397"/>
                </a:cubicBezTo>
                <a:lnTo>
                  <a:pt x="0" y="37514"/>
                </a:lnTo>
                <a:cubicBezTo>
                  <a:pt x="0" y="16809"/>
                  <a:pt x="16809" y="0"/>
                  <a:pt x="37514" y="0"/>
                </a:cubicBezTo>
                <a:close/>
              </a:path>
            </a:pathLst>
          </a:custGeom>
          <a:solidFill>
            <a:srgbClr val="5F87A7">
              <a:alpha val="10196"/>
            </a:srgbClr>
          </a:solidFill>
        </p:spPr>
      </p:sp>
      <p:sp>
        <p:nvSpPr>
          <p:cNvPr id="20" name="Shape 18"/>
          <p:cNvSpPr/>
          <p:nvPr/>
        </p:nvSpPr>
        <p:spPr>
          <a:xfrm>
            <a:off x="393895" y="4349262"/>
            <a:ext cx="37514" cy="2128911"/>
          </a:xfrm>
          <a:custGeom>
            <a:avLst/>
            <a:gdLst/>
            <a:ahLst/>
            <a:cxnLst/>
            <a:rect l="l" t="t" r="r" b="b"/>
            <a:pathLst>
              <a:path w="37514" h="2128911">
                <a:moveTo>
                  <a:pt x="37514" y="0"/>
                </a:moveTo>
                <a:lnTo>
                  <a:pt x="37514" y="0"/>
                </a:lnTo>
                <a:lnTo>
                  <a:pt x="37514" y="2128911"/>
                </a:lnTo>
                <a:lnTo>
                  <a:pt x="37514" y="2128911"/>
                </a:lnTo>
                <a:cubicBezTo>
                  <a:pt x="16796" y="2128911"/>
                  <a:pt x="0" y="2112115"/>
                  <a:pt x="0" y="2091397"/>
                </a:cubicBezTo>
                <a:lnTo>
                  <a:pt x="0" y="37514"/>
                </a:lnTo>
                <a:cubicBezTo>
                  <a:pt x="0" y="16809"/>
                  <a:pt x="16809" y="0"/>
                  <a:pt x="37514" y="0"/>
                </a:cubicBezTo>
                <a:close/>
              </a:path>
            </a:pathLst>
          </a:custGeom>
          <a:solidFill>
            <a:srgbClr val="E6B450"/>
          </a:solidFill>
        </p:spPr>
      </p:sp>
      <p:sp>
        <p:nvSpPr>
          <p:cNvPr id="21" name="Shape 19"/>
          <p:cNvSpPr/>
          <p:nvPr/>
        </p:nvSpPr>
        <p:spPr>
          <a:xfrm>
            <a:off x="694006" y="4611858"/>
            <a:ext cx="168812" cy="225083"/>
          </a:xfrm>
          <a:custGeom>
            <a:avLst/>
            <a:gdLst/>
            <a:ahLst/>
            <a:cxnLst/>
            <a:rect l="l" t="t" r="r" b="b"/>
            <a:pathLst>
              <a:path w="168812" h="225083">
                <a:moveTo>
                  <a:pt x="28135" y="0"/>
                </a:moveTo>
                <a:cubicBezTo>
                  <a:pt x="12617" y="0"/>
                  <a:pt x="0" y="12617"/>
                  <a:pt x="0" y="28135"/>
                </a:cubicBezTo>
                <a:lnTo>
                  <a:pt x="0" y="196948"/>
                </a:lnTo>
                <a:cubicBezTo>
                  <a:pt x="0" y="212466"/>
                  <a:pt x="12617" y="225083"/>
                  <a:pt x="28135" y="225083"/>
                </a:cubicBezTo>
                <a:lnTo>
                  <a:pt x="140677" y="225083"/>
                </a:lnTo>
                <a:cubicBezTo>
                  <a:pt x="156195" y="225083"/>
                  <a:pt x="168812" y="212466"/>
                  <a:pt x="168812" y="196948"/>
                </a:cubicBezTo>
                <a:lnTo>
                  <a:pt x="168812" y="28135"/>
                </a:lnTo>
                <a:cubicBezTo>
                  <a:pt x="168812" y="12617"/>
                  <a:pt x="156195" y="0"/>
                  <a:pt x="140677" y="0"/>
                </a:cubicBezTo>
                <a:lnTo>
                  <a:pt x="28135" y="0"/>
                </a:lnTo>
                <a:close/>
                <a:moveTo>
                  <a:pt x="42203" y="28135"/>
                </a:moveTo>
                <a:lnTo>
                  <a:pt x="126609" y="28135"/>
                </a:lnTo>
                <a:cubicBezTo>
                  <a:pt x="134390" y="28135"/>
                  <a:pt x="140677" y="34422"/>
                  <a:pt x="140677" y="42203"/>
                </a:cubicBezTo>
                <a:lnTo>
                  <a:pt x="140677" y="56271"/>
                </a:lnTo>
                <a:cubicBezTo>
                  <a:pt x="140677" y="64052"/>
                  <a:pt x="134390" y="70338"/>
                  <a:pt x="126609" y="70338"/>
                </a:cubicBezTo>
                <a:lnTo>
                  <a:pt x="42203" y="70338"/>
                </a:lnTo>
                <a:cubicBezTo>
                  <a:pt x="34422" y="70338"/>
                  <a:pt x="28135" y="64052"/>
                  <a:pt x="28135" y="56271"/>
                </a:cubicBezTo>
                <a:lnTo>
                  <a:pt x="28135" y="42203"/>
                </a:lnTo>
                <a:cubicBezTo>
                  <a:pt x="28135" y="34422"/>
                  <a:pt x="34422" y="28135"/>
                  <a:pt x="42203" y="28135"/>
                </a:cubicBezTo>
                <a:close/>
                <a:moveTo>
                  <a:pt x="49237" y="101991"/>
                </a:moveTo>
                <a:cubicBezTo>
                  <a:pt x="49237" y="107814"/>
                  <a:pt x="44509" y="112542"/>
                  <a:pt x="38686" y="112542"/>
                </a:cubicBezTo>
                <a:cubicBezTo>
                  <a:pt x="32863" y="112542"/>
                  <a:pt x="28135" y="107814"/>
                  <a:pt x="28135" y="101991"/>
                </a:cubicBezTo>
                <a:cubicBezTo>
                  <a:pt x="28135" y="96168"/>
                  <a:pt x="32863" y="91440"/>
                  <a:pt x="38686" y="91440"/>
                </a:cubicBezTo>
                <a:cubicBezTo>
                  <a:pt x="44509" y="91440"/>
                  <a:pt x="49237" y="96168"/>
                  <a:pt x="49237" y="101991"/>
                </a:cubicBezTo>
                <a:close/>
                <a:moveTo>
                  <a:pt x="84406" y="112542"/>
                </a:moveTo>
                <a:cubicBezTo>
                  <a:pt x="78583" y="112542"/>
                  <a:pt x="73855" y="107814"/>
                  <a:pt x="73855" y="101991"/>
                </a:cubicBezTo>
                <a:cubicBezTo>
                  <a:pt x="73855" y="96168"/>
                  <a:pt x="78583" y="91440"/>
                  <a:pt x="84406" y="91440"/>
                </a:cubicBezTo>
                <a:cubicBezTo>
                  <a:pt x="90229" y="91440"/>
                  <a:pt x="94957" y="96168"/>
                  <a:pt x="94957" y="101991"/>
                </a:cubicBezTo>
                <a:cubicBezTo>
                  <a:pt x="94957" y="107814"/>
                  <a:pt x="90229" y="112542"/>
                  <a:pt x="84406" y="112542"/>
                </a:cubicBezTo>
                <a:close/>
                <a:moveTo>
                  <a:pt x="140677" y="101991"/>
                </a:moveTo>
                <a:cubicBezTo>
                  <a:pt x="140677" y="107814"/>
                  <a:pt x="135949" y="112542"/>
                  <a:pt x="130126" y="112542"/>
                </a:cubicBezTo>
                <a:cubicBezTo>
                  <a:pt x="124303" y="112542"/>
                  <a:pt x="119575" y="107814"/>
                  <a:pt x="119575" y="101991"/>
                </a:cubicBezTo>
                <a:cubicBezTo>
                  <a:pt x="119575" y="96168"/>
                  <a:pt x="124303" y="91440"/>
                  <a:pt x="130126" y="91440"/>
                </a:cubicBezTo>
                <a:cubicBezTo>
                  <a:pt x="135949" y="91440"/>
                  <a:pt x="140677" y="96168"/>
                  <a:pt x="140677" y="101991"/>
                </a:cubicBezTo>
                <a:close/>
                <a:moveTo>
                  <a:pt x="38686" y="154745"/>
                </a:moveTo>
                <a:cubicBezTo>
                  <a:pt x="32863" y="154745"/>
                  <a:pt x="28135" y="150017"/>
                  <a:pt x="28135" y="144194"/>
                </a:cubicBezTo>
                <a:cubicBezTo>
                  <a:pt x="28135" y="138371"/>
                  <a:pt x="32863" y="133643"/>
                  <a:pt x="38686" y="133643"/>
                </a:cubicBezTo>
                <a:cubicBezTo>
                  <a:pt x="44509" y="133643"/>
                  <a:pt x="49237" y="138371"/>
                  <a:pt x="49237" y="144194"/>
                </a:cubicBezTo>
                <a:cubicBezTo>
                  <a:pt x="49237" y="150017"/>
                  <a:pt x="44509" y="154745"/>
                  <a:pt x="38686" y="154745"/>
                </a:cubicBezTo>
                <a:close/>
                <a:moveTo>
                  <a:pt x="94957" y="144194"/>
                </a:moveTo>
                <a:cubicBezTo>
                  <a:pt x="94957" y="150017"/>
                  <a:pt x="90229" y="154745"/>
                  <a:pt x="84406" y="154745"/>
                </a:cubicBezTo>
                <a:cubicBezTo>
                  <a:pt x="78583" y="154745"/>
                  <a:pt x="73855" y="150017"/>
                  <a:pt x="73855" y="144194"/>
                </a:cubicBezTo>
                <a:cubicBezTo>
                  <a:pt x="73855" y="138371"/>
                  <a:pt x="78583" y="133643"/>
                  <a:pt x="84406" y="133643"/>
                </a:cubicBezTo>
                <a:cubicBezTo>
                  <a:pt x="90229" y="133643"/>
                  <a:pt x="94957" y="138371"/>
                  <a:pt x="94957" y="144194"/>
                </a:cubicBezTo>
                <a:close/>
                <a:moveTo>
                  <a:pt x="130126" y="154745"/>
                </a:moveTo>
                <a:cubicBezTo>
                  <a:pt x="124303" y="154745"/>
                  <a:pt x="119575" y="150017"/>
                  <a:pt x="119575" y="144194"/>
                </a:cubicBezTo>
                <a:cubicBezTo>
                  <a:pt x="119575" y="138371"/>
                  <a:pt x="124303" y="133643"/>
                  <a:pt x="130126" y="133643"/>
                </a:cubicBezTo>
                <a:cubicBezTo>
                  <a:pt x="135949" y="133643"/>
                  <a:pt x="140677" y="138371"/>
                  <a:pt x="140677" y="144194"/>
                </a:cubicBezTo>
                <a:cubicBezTo>
                  <a:pt x="140677" y="150017"/>
                  <a:pt x="135949" y="154745"/>
                  <a:pt x="130126" y="154745"/>
                </a:cubicBezTo>
                <a:close/>
                <a:moveTo>
                  <a:pt x="28135" y="186397"/>
                </a:moveTo>
                <a:cubicBezTo>
                  <a:pt x="28135" y="180550"/>
                  <a:pt x="32839" y="175846"/>
                  <a:pt x="38686" y="175846"/>
                </a:cubicBezTo>
                <a:lnTo>
                  <a:pt x="87923" y="175846"/>
                </a:lnTo>
                <a:cubicBezTo>
                  <a:pt x="93770" y="175846"/>
                  <a:pt x="98474" y="180550"/>
                  <a:pt x="98474" y="186397"/>
                </a:cubicBezTo>
                <a:cubicBezTo>
                  <a:pt x="98474" y="192244"/>
                  <a:pt x="93770" y="196948"/>
                  <a:pt x="87923" y="196948"/>
                </a:cubicBezTo>
                <a:lnTo>
                  <a:pt x="38686" y="196948"/>
                </a:lnTo>
                <a:cubicBezTo>
                  <a:pt x="32839" y="196948"/>
                  <a:pt x="28135" y="192244"/>
                  <a:pt x="28135" y="186397"/>
                </a:cubicBezTo>
                <a:close/>
                <a:moveTo>
                  <a:pt x="130126" y="175846"/>
                </a:moveTo>
                <a:cubicBezTo>
                  <a:pt x="135973" y="175846"/>
                  <a:pt x="140677" y="180550"/>
                  <a:pt x="140677" y="186397"/>
                </a:cubicBezTo>
                <a:cubicBezTo>
                  <a:pt x="140677" y="192244"/>
                  <a:pt x="135973" y="196948"/>
                  <a:pt x="130126" y="196948"/>
                </a:cubicBezTo>
                <a:cubicBezTo>
                  <a:pt x="124279" y="196948"/>
                  <a:pt x="119575" y="192244"/>
                  <a:pt x="119575" y="186397"/>
                </a:cubicBezTo>
                <a:cubicBezTo>
                  <a:pt x="119575" y="180550"/>
                  <a:pt x="124279" y="175846"/>
                  <a:pt x="130126" y="175846"/>
                </a:cubicBezTo>
                <a:close/>
              </a:path>
            </a:pathLst>
          </a:custGeom>
          <a:solidFill>
            <a:srgbClr val="E6B450"/>
          </a:solidFill>
        </p:spPr>
      </p:sp>
      <p:sp>
        <p:nvSpPr>
          <p:cNvPr id="22" name="Text 20"/>
          <p:cNvSpPr/>
          <p:nvPr/>
        </p:nvSpPr>
        <p:spPr>
          <a:xfrm>
            <a:off x="1069145" y="4574345"/>
            <a:ext cx="4914314" cy="300111"/>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二次贝塞尔曲线公式</a:t>
            </a:r>
            <a:endParaRPr lang="en-US" dirty="0"/>
          </a:p>
        </p:txBody>
      </p:sp>
      <p:sp>
        <p:nvSpPr>
          <p:cNvPr id="23" name="Text 21"/>
          <p:cNvSpPr/>
          <p:nvPr/>
        </p:nvSpPr>
        <p:spPr>
          <a:xfrm>
            <a:off x="1069144" y="4986997"/>
            <a:ext cx="6113975" cy="271975"/>
          </a:xfrm>
          <a:prstGeom prst="rect">
            <a:avLst/>
          </a:prstGeom>
          <a:noFill/>
        </p:spPr>
        <p:txBody>
          <a:bodyPr wrap="square" lIns="0" tIns="0" rIns="0" bIns="0" rtlCol="0" anchor="ctr"/>
          <a:lstStyle/>
          <a:p>
            <a:pPr>
              <a:lnSpc>
                <a:spcPct val="140000"/>
              </a:lnSpc>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将上式中的</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A</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B</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带入</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C</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中，即可得到二次贝塞尔曲线的公式</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000" dirty="0"/>
          </a:p>
        </p:txBody>
      </p:sp>
      <p:sp>
        <p:nvSpPr>
          <p:cNvPr id="24" name="Shape 22"/>
          <p:cNvSpPr/>
          <p:nvPr/>
        </p:nvSpPr>
        <p:spPr>
          <a:xfrm>
            <a:off x="1073834" y="5378548"/>
            <a:ext cx="4792394" cy="872197"/>
          </a:xfrm>
          <a:custGeom>
            <a:avLst/>
            <a:gdLst/>
            <a:ahLst/>
            <a:cxnLst/>
            <a:rect l="l" t="t" r="r" b="b"/>
            <a:pathLst>
              <a:path w="4792394" h="872197">
                <a:moveTo>
                  <a:pt x="75026" y="0"/>
                </a:moveTo>
                <a:lnTo>
                  <a:pt x="4717367" y="0"/>
                </a:lnTo>
                <a:cubicBezTo>
                  <a:pt x="4758803" y="0"/>
                  <a:pt x="4792394" y="33590"/>
                  <a:pt x="4792394" y="75026"/>
                </a:cubicBezTo>
                <a:lnTo>
                  <a:pt x="4792394" y="797171"/>
                </a:lnTo>
                <a:cubicBezTo>
                  <a:pt x="4792394" y="838606"/>
                  <a:pt x="4758803" y="872197"/>
                  <a:pt x="4717367" y="872197"/>
                </a:cubicBezTo>
                <a:lnTo>
                  <a:pt x="75026" y="872197"/>
                </a:lnTo>
                <a:cubicBezTo>
                  <a:pt x="33618" y="872197"/>
                  <a:pt x="0" y="838579"/>
                  <a:pt x="0" y="797171"/>
                </a:cubicBezTo>
                <a:lnTo>
                  <a:pt x="0" y="75026"/>
                </a:lnTo>
                <a:cubicBezTo>
                  <a:pt x="0" y="33618"/>
                  <a:pt x="33618" y="0"/>
                  <a:pt x="75026" y="0"/>
                </a:cubicBezTo>
                <a:close/>
              </a:path>
            </a:pathLst>
          </a:custGeom>
          <a:solidFill>
            <a:srgbClr val="E6B450">
              <a:alpha val="10196"/>
            </a:srgbClr>
          </a:solidFill>
          <a:ln w="12700">
            <a:solidFill>
              <a:srgbClr val="E6B450">
                <a:alpha val="30196"/>
              </a:srgbClr>
            </a:solidFill>
            <a:prstDash val="solid"/>
          </a:ln>
        </p:spPr>
      </p:sp>
      <p:sp>
        <p:nvSpPr>
          <p:cNvPr id="27" name="Shape 25"/>
          <p:cNvSpPr/>
          <p:nvPr/>
        </p:nvSpPr>
        <p:spPr>
          <a:xfrm>
            <a:off x="8215972" y="1711569"/>
            <a:ext cx="3591951" cy="4764258"/>
          </a:xfrm>
          <a:custGeom>
            <a:avLst/>
            <a:gdLst/>
            <a:ahLst/>
            <a:cxnLst/>
            <a:rect l="l" t="t" r="r" b="b"/>
            <a:pathLst>
              <a:path w="3591951" h="4764258">
                <a:moveTo>
                  <a:pt x="112536" y="0"/>
                </a:moveTo>
                <a:lnTo>
                  <a:pt x="3479415" y="0"/>
                </a:lnTo>
                <a:cubicBezTo>
                  <a:pt x="3541567" y="0"/>
                  <a:pt x="3591951" y="50384"/>
                  <a:pt x="3591951" y="112536"/>
                </a:cubicBezTo>
                <a:lnTo>
                  <a:pt x="3591951" y="4651723"/>
                </a:lnTo>
                <a:cubicBezTo>
                  <a:pt x="3591951" y="4713874"/>
                  <a:pt x="3541567" y="4764258"/>
                  <a:pt x="3479415" y="4764258"/>
                </a:cubicBezTo>
                <a:lnTo>
                  <a:pt x="112536" y="4764258"/>
                </a:lnTo>
                <a:cubicBezTo>
                  <a:pt x="50384" y="4764258"/>
                  <a:pt x="0" y="4713874"/>
                  <a:pt x="0" y="4651723"/>
                </a:cubicBezTo>
                <a:lnTo>
                  <a:pt x="0" y="112536"/>
                </a:lnTo>
                <a:cubicBezTo>
                  <a:pt x="0" y="50426"/>
                  <a:pt x="50426" y="0"/>
                  <a:pt x="112536" y="0"/>
                </a:cubicBezTo>
                <a:close/>
              </a:path>
            </a:pathLst>
          </a:custGeom>
          <a:solidFill>
            <a:srgbClr val="E6B450">
              <a:alpha val="10196"/>
            </a:srgbClr>
          </a:solidFill>
          <a:ln w="12700">
            <a:solidFill>
              <a:srgbClr val="E6B450">
                <a:alpha val="30196"/>
              </a:srgbClr>
            </a:solidFill>
            <a:prstDash val="solid"/>
          </a:ln>
        </p:spPr>
      </p:sp>
      <p:sp>
        <p:nvSpPr>
          <p:cNvPr id="28" name="Shape 26"/>
          <p:cNvSpPr/>
          <p:nvPr/>
        </p:nvSpPr>
        <p:spPr>
          <a:xfrm>
            <a:off x="8445744" y="1978855"/>
            <a:ext cx="234462" cy="187569"/>
          </a:xfrm>
          <a:custGeom>
            <a:avLst/>
            <a:gdLst/>
            <a:ahLst/>
            <a:cxnLst/>
            <a:rect l="l" t="t" r="r" b="b"/>
            <a:pathLst>
              <a:path w="234462" h="187569">
                <a:moveTo>
                  <a:pt x="108438" y="49823"/>
                </a:moveTo>
                <a:lnTo>
                  <a:pt x="108438" y="32238"/>
                </a:lnTo>
                <a:lnTo>
                  <a:pt x="126023" y="32238"/>
                </a:lnTo>
                <a:lnTo>
                  <a:pt x="126023" y="49823"/>
                </a:lnTo>
                <a:lnTo>
                  <a:pt x="108438" y="49823"/>
                </a:lnTo>
                <a:close/>
                <a:moveTo>
                  <a:pt x="105508" y="11723"/>
                </a:moveTo>
                <a:cubicBezTo>
                  <a:pt x="95800" y="11723"/>
                  <a:pt x="87923" y="19600"/>
                  <a:pt x="87923" y="29308"/>
                </a:cubicBezTo>
                <a:lnTo>
                  <a:pt x="87923" y="30773"/>
                </a:lnTo>
                <a:lnTo>
                  <a:pt x="44548" y="30773"/>
                </a:lnTo>
                <a:cubicBezTo>
                  <a:pt x="40738" y="22970"/>
                  <a:pt x="32715" y="17585"/>
                  <a:pt x="23446" y="17585"/>
                </a:cubicBezTo>
                <a:cubicBezTo>
                  <a:pt x="10514" y="17585"/>
                  <a:pt x="0" y="28099"/>
                  <a:pt x="0" y="41031"/>
                </a:cubicBezTo>
                <a:cubicBezTo>
                  <a:pt x="0" y="53963"/>
                  <a:pt x="10514" y="64477"/>
                  <a:pt x="23446" y="64477"/>
                </a:cubicBezTo>
                <a:cubicBezTo>
                  <a:pt x="32715" y="64477"/>
                  <a:pt x="40738" y="59092"/>
                  <a:pt x="44548" y="51288"/>
                </a:cubicBezTo>
                <a:lnTo>
                  <a:pt x="69056" y="51288"/>
                </a:lnTo>
                <a:cubicBezTo>
                  <a:pt x="47478" y="65796"/>
                  <a:pt x="32825" y="89755"/>
                  <a:pt x="30956" y="117231"/>
                </a:cubicBezTo>
                <a:lnTo>
                  <a:pt x="29308" y="117231"/>
                </a:lnTo>
                <a:cubicBezTo>
                  <a:pt x="19600" y="117231"/>
                  <a:pt x="11723" y="125107"/>
                  <a:pt x="11723" y="134815"/>
                </a:cubicBezTo>
                <a:lnTo>
                  <a:pt x="11723" y="158262"/>
                </a:lnTo>
                <a:cubicBezTo>
                  <a:pt x="11723" y="167970"/>
                  <a:pt x="19600" y="175846"/>
                  <a:pt x="29308" y="175846"/>
                </a:cubicBezTo>
                <a:lnTo>
                  <a:pt x="52754" y="175846"/>
                </a:lnTo>
                <a:cubicBezTo>
                  <a:pt x="62462" y="175846"/>
                  <a:pt x="70338" y="167970"/>
                  <a:pt x="70338" y="158262"/>
                </a:cubicBezTo>
                <a:lnTo>
                  <a:pt x="70338" y="134815"/>
                </a:lnTo>
                <a:cubicBezTo>
                  <a:pt x="70338" y="125107"/>
                  <a:pt x="62462" y="117231"/>
                  <a:pt x="52754" y="117231"/>
                </a:cubicBezTo>
                <a:lnTo>
                  <a:pt x="51545" y="117231"/>
                </a:lnTo>
                <a:cubicBezTo>
                  <a:pt x="53706" y="92686"/>
                  <a:pt x="69313" y="72024"/>
                  <a:pt x="90927" y="62609"/>
                </a:cubicBezTo>
                <a:cubicBezTo>
                  <a:pt x="94078" y="67261"/>
                  <a:pt x="99426" y="70338"/>
                  <a:pt x="105508" y="70338"/>
                </a:cubicBezTo>
                <a:lnTo>
                  <a:pt x="128954" y="70338"/>
                </a:lnTo>
                <a:cubicBezTo>
                  <a:pt x="135035" y="70338"/>
                  <a:pt x="140347" y="67261"/>
                  <a:pt x="143534" y="62609"/>
                </a:cubicBezTo>
                <a:cubicBezTo>
                  <a:pt x="165149" y="72024"/>
                  <a:pt x="180755" y="92686"/>
                  <a:pt x="182917" y="117231"/>
                </a:cubicBezTo>
                <a:lnTo>
                  <a:pt x="181708" y="117231"/>
                </a:lnTo>
                <a:cubicBezTo>
                  <a:pt x="172000" y="117231"/>
                  <a:pt x="164123" y="125107"/>
                  <a:pt x="164123" y="134815"/>
                </a:cubicBezTo>
                <a:lnTo>
                  <a:pt x="164123" y="158262"/>
                </a:lnTo>
                <a:cubicBezTo>
                  <a:pt x="164123" y="167970"/>
                  <a:pt x="172000" y="175846"/>
                  <a:pt x="181708" y="175846"/>
                </a:cubicBezTo>
                <a:lnTo>
                  <a:pt x="205154" y="175846"/>
                </a:lnTo>
                <a:cubicBezTo>
                  <a:pt x="214862" y="175846"/>
                  <a:pt x="222738" y="167970"/>
                  <a:pt x="222738" y="158262"/>
                </a:cubicBezTo>
                <a:lnTo>
                  <a:pt x="222738" y="134815"/>
                </a:lnTo>
                <a:cubicBezTo>
                  <a:pt x="222738" y="125107"/>
                  <a:pt x="214862" y="117231"/>
                  <a:pt x="205154" y="117231"/>
                </a:cubicBezTo>
                <a:lnTo>
                  <a:pt x="203505" y="117231"/>
                </a:lnTo>
                <a:cubicBezTo>
                  <a:pt x="201674" y="89755"/>
                  <a:pt x="186983" y="65796"/>
                  <a:pt x="165405" y="51288"/>
                </a:cubicBezTo>
                <a:lnTo>
                  <a:pt x="189914" y="51288"/>
                </a:lnTo>
                <a:cubicBezTo>
                  <a:pt x="193724" y="59092"/>
                  <a:pt x="201747" y="64477"/>
                  <a:pt x="211015" y="64477"/>
                </a:cubicBezTo>
                <a:cubicBezTo>
                  <a:pt x="223947" y="64477"/>
                  <a:pt x="234462" y="53963"/>
                  <a:pt x="234462" y="41031"/>
                </a:cubicBezTo>
                <a:cubicBezTo>
                  <a:pt x="234462" y="28099"/>
                  <a:pt x="223947" y="17585"/>
                  <a:pt x="211015" y="17585"/>
                </a:cubicBezTo>
                <a:cubicBezTo>
                  <a:pt x="201747" y="17585"/>
                  <a:pt x="193724" y="22970"/>
                  <a:pt x="189914" y="30773"/>
                </a:cubicBezTo>
                <a:lnTo>
                  <a:pt x="146538" y="30773"/>
                </a:lnTo>
                <a:lnTo>
                  <a:pt x="146538" y="29308"/>
                </a:lnTo>
                <a:cubicBezTo>
                  <a:pt x="146538" y="19600"/>
                  <a:pt x="138662" y="11723"/>
                  <a:pt x="128954" y="11723"/>
                </a:cubicBezTo>
                <a:lnTo>
                  <a:pt x="105508" y="11723"/>
                </a:lnTo>
                <a:close/>
                <a:moveTo>
                  <a:pt x="32238" y="137746"/>
                </a:moveTo>
                <a:lnTo>
                  <a:pt x="49823" y="137746"/>
                </a:lnTo>
                <a:lnTo>
                  <a:pt x="49823" y="155331"/>
                </a:lnTo>
                <a:lnTo>
                  <a:pt x="32238" y="155331"/>
                </a:lnTo>
                <a:lnTo>
                  <a:pt x="32238" y="137746"/>
                </a:lnTo>
                <a:close/>
                <a:moveTo>
                  <a:pt x="184638" y="155331"/>
                </a:moveTo>
                <a:lnTo>
                  <a:pt x="184638" y="137746"/>
                </a:lnTo>
                <a:lnTo>
                  <a:pt x="202223" y="137746"/>
                </a:lnTo>
                <a:lnTo>
                  <a:pt x="202223" y="155331"/>
                </a:lnTo>
                <a:lnTo>
                  <a:pt x="184638" y="155331"/>
                </a:lnTo>
                <a:close/>
              </a:path>
            </a:pathLst>
          </a:custGeom>
          <a:solidFill>
            <a:srgbClr val="E6B450"/>
          </a:solidFill>
        </p:spPr>
      </p:sp>
      <p:sp>
        <p:nvSpPr>
          <p:cNvPr id="29" name="Text 27"/>
          <p:cNvSpPr/>
          <p:nvPr/>
        </p:nvSpPr>
        <p:spPr>
          <a:xfrm>
            <a:off x="8680206" y="1941342"/>
            <a:ext cx="2991729" cy="262597"/>
          </a:xfrm>
          <a:prstGeom prst="rect">
            <a:avLst/>
          </a:prstGeom>
          <a:noFill/>
        </p:spPr>
        <p:txBody>
          <a:bodyPr wrap="square" lIns="0" tIns="0" rIns="0" bIns="0" rtlCol="0" anchor="ctr"/>
          <a:lstStyle/>
          <a:p>
            <a:pPr>
              <a:lnSpc>
                <a:spcPct val="12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二次贝塞尔曲线示意</a:t>
            </a:r>
            <a:endParaRPr lang="en-US" sz="1600" dirty="0"/>
          </a:p>
        </p:txBody>
      </p:sp>
      <p:sp>
        <p:nvSpPr>
          <p:cNvPr id="40" name="Shape 36"/>
          <p:cNvSpPr/>
          <p:nvPr/>
        </p:nvSpPr>
        <p:spPr>
          <a:xfrm>
            <a:off x="8445744" y="5720862"/>
            <a:ext cx="3132406" cy="525194"/>
          </a:xfrm>
          <a:custGeom>
            <a:avLst/>
            <a:gdLst/>
            <a:ahLst/>
            <a:cxnLst/>
            <a:rect l="l" t="t" r="r" b="b"/>
            <a:pathLst>
              <a:path w="3132406" h="525194">
                <a:moveTo>
                  <a:pt x="75029" y="0"/>
                </a:moveTo>
                <a:lnTo>
                  <a:pt x="3057377" y="0"/>
                </a:lnTo>
                <a:cubicBezTo>
                  <a:pt x="3098814" y="0"/>
                  <a:pt x="3132406" y="33592"/>
                  <a:pt x="3132406" y="75029"/>
                </a:cubicBezTo>
                <a:lnTo>
                  <a:pt x="3132406" y="450165"/>
                </a:lnTo>
                <a:cubicBezTo>
                  <a:pt x="3132406" y="491602"/>
                  <a:pt x="3098814" y="525194"/>
                  <a:pt x="3057377" y="525194"/>
                </a:cubicBezTo>
                <a:lnTo>
                  <a:pt x="75029" y="525194"/>
                </a:lnTo>
                <a:cubicBezTo>
                  <a:pt x="33619" y="525194"/>
                  <a:pt x="0" y="491574"/>
                  <a:pt x="0" y="450165"/>
                </a:cubicBezTo>
                <a:lnTo>
                  <a:pt x="0" y="75029"/>
                </a:lnTo>
                <a:cubicBezTo>
                  <a:pt x="0" y="33592"/>
                  <a:pt x="33592" y="0"/>
                  <a:pt x="75029" y="0"/>
                </a:cubicBezTo>
                <a:close/>
              </a:path>
            </a:pathLst>
          </a:custGeom>
          <a:solidFill>
            <a:srgbClr val="5F87A7">
              <a:alpha val="20000"/>
            </a:srgbClr>
          </a:solidFill>
        </p:spPr>
      </p:sp>
      <p:sp>
        <p:nvSpPr>
          <p:cNvPr id="41" name="Shape 37"/>
          <p:cNvSpPr/>
          <p:nvPr/>
        </p:nvSpPr>
        <p:spPr>
          <a:xfrm>
            <a:off x="8747612" y="5908431"/>
            <a:ext cx="150055" cy="150055"/>
          </a:xfrm>
          <a:custGeom>
            <a:avLst/>
            <a:gdLst/>
            <a:ahLst/>
            <a:cxnLst/>
            <a:rect l="l" t="t" r="r" b="b"/>
            <a:pathLst>
              <a:path w="150055" h="150055">
                <a:moveTo>
                  <a:pt x="75028" y="150055"/>
                </a:moveTo>
                <a:cubicBezTo>
                  <a:pt x="116437" y="150055"/>
                  <a:pt x="150055" y="116437"/>
                  <a:pt x="150055" y="75028"/>
                </a:cubicBezTo>
                <a:cubicBezTo>
                  <a:pt x="150055" y="33619"/>
                  <a:pt x="116437" y="0"/>
                  <a:pt x="75028" y="0"/>
                </a:cubicBezTo>
                <a:cubicBezTo>
                  <a:pt x="33619" y="0"/>
                  <a:pt x="0" y="33619"/>
                  <a:pt x="0" y="75028"/>
                </a:cubicBezTo>
                <a:cubicBezTo>
                  <a:pt x="0" y="116437"/>
                  <a:pt x="33619" y="150055"/>
                  <a:pt x="75028" y="150055"/>
                </a:cubicBezTo>
                <a:close/>
                <a:moveTo>
                  <a:pt x="65649" y="46892"/>
                </a:moveTo>
                <a:cubicBezTo>
                  <a:pt x="65649" y="41716"/>
                  <a:pt x="69852" y="37514"/>
                  <a:pt x="75028" y="37514"/>
                </a:cubicBezTo>
                <a:cubicBezTo>
                  <a:pt x="80204" y="37514"/>
                  <a:pt x="84406" y="41716"/>
                  <a:pt x="84406" y="46892"/>
                </a:cubicBezTo>
                <a:cubicBezTo>
                  <a:pt x="84406" y="52068"/>
                  <a:pt x="80204" y="56271"/>
                  <a:pt x="75028" y="56271"/>
                </a:cubicBezTo>
                <a:cubicBezTo>
                  <a:pt x="69852" y="56271"/>
                  <a:pt x="65649" y="52068"/>
                  <a:pt x="65649" y="46892"/>
                </a:cubicBezTo>
                <a:close/>
                <a:moveTo>
                  <a:pt x="63305" y="65649"/>
                </a:moveTo>
                <a:lnTo>
                  <a:pt x="77372" y="65649"/>
                </a:lnTo>
                <a:cubicBezTo>
                  <a:pt x="81270" y="65649"/>
                  <a:pt x="84406" y="68785"/>
                  <a:pt x="84406" y="72683"/>
                </a:cubicBezTo>
                <a:lnTo>
                  <a:pt x="84406" y="98474"/>
                </a:lnTo>
                <a:lnTo>
                  <a:pt x="86751" y="98474"/>
                </a:lnTo>
                <a:cubicBezTo>
                  <a:pt x="90649" y="98474"/>
                  <a:pt x="93785" y="101610"/>
                  <a:pt x="93785" y="105508"/>
                </a:cubicBezTo>
                <a:cubicBezTo>
                  <a:pt x="93785" y="109406"/>
                  <a:pt x="90649" y="112542"/>
                  <a:pt x="86751" y="112542"/>
                </a:cubicBezTo>
                <a:lnTo>
                  <a:pt x="63305" y="112542"/>
                </a:lnTo>
                <a:cubicBezTo>
                  <a:pt x="59407" y="112542"/>
                  <a:pt x="56271" y="109406"/>
                  <a:pt x="56271" y="105508"/>
                </a:cubicBezTo>
                <a:cubicBezTo>
                  <a:pt x="56271" y="101610"/>
                  <a:pt x="59407" y="98474"/>
                  <a:pt x="63305" y="98474"/>
                </a:cubicBezTo>
                <a:lnTo>
                  <a:pt x="70338" y="98474"/>
                </a:lnTo>
                <a:lnTo>
                  <a:pt x="70338" y="79717"/>
                </a:lnTo>
                <a:lnTo>
                  <a:pt x="63305" y="79717"/>
                </a:lnTo>
                <a:cubicBezTo>
                  <a:pt x="59407" y="79717"/>
                  <a:pt x="56271" y="76581"/>
                  <a:pt x="56271" y="72683"/>
                </a:cubicBezTo>
                <a:cubicBezTo>
                  <a:pt x="56271" y="68785"/>
                  <a:pt x="59407" y="65649"/>
                  <a:pt x="63305" y="65649"/>
                </a:cubicBezTo>
                <a:close/>
              </a:path>
            </a:pathLst>
          </a:custGeom>
          <a:solidFill>
            <a:srgbClr val="E6B450"/>
          </a:solidFill>
        </p:spPr>
      </p:sp>
      <p:sp>
        <p:nvSpPr>
          <p:cNvPr id="42" name="Text 38"/>
          <p:cNvSpPr/>
          <p:nvPr/>
        </p:nvSpPr>
        <p:spPr>
          <a:xfrm>
            <a:off x="8801260" y="5870917"/>
            <a:ext cx="2664349" cy="225083"/>
          </a:xfrm>
          <a:prstGeom prst="rect">
            <a:avLst/>
          </a:prstGeom>
          <a:noFill/>
        </p:spPr>
        <p:txBody>
          <a:bodyPr wrap="square" lIns="0" tIns="0" rIns="0" bIns="0" rtlCol="0" anchor="ctr"/>
          <a:lstStyle/>
          <a:p>
            <a:pPr algn="ct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二次贝塞尔曲线是抛物线</a:t>
            </a:r>
            <a:endParaRPr lang="en-US" sz="1600" dirty="0"/>
          </a:p>
        </p:txBody>
      </p:sp>
      <p:grpSp>
        <p:nvGrpSpPr>
          <p:cNvPr id="43" name="组合 42">
            <a:extLst>
              <a:ext uri="{FF2B5EF4-FFF2-40B4-BE49-F238E27FC236}">
                <a16:creationId xmlns:a16="http://schemas.microsoft.com/office/drawing/2014/main" id="{EB1381E5-BD5F-582E-476A-732D4FC2D540}"/>
              </a:ext>
            </a:extLst>
          </p:cNvPr>
          <p:cNvGrpSpPr/>
          <p:nvPr/>
        </p:nvGrpSpPr>
        <p:grpSpPr>
          <a:xfrm>
            <a:off x="0" y="939798"/>
            <a:ext cx="5022850" cy="625474"/>
            <a:chOff x="0" y="1075267"/>
            <a:chExt cx="5022850" cy="625474"/>
          </a:xfrm>
        </p:grpSpPr>
        <p:sp>
          <p:nvSpPr>
            <p:cNvPr id="44" name="矩形 43">
              <a:extLst>
                <a:ext uri="{FF2B5EF4-FFF2-40B4-BE49-F238E27FC236}">
                  <a16:creationId xmlns:a16="http://schemas.microsoft.com/office/drawing/2014/main" id="{7BF80386-B86D-50A3-83B7-3121ED7E026C}"/>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A02DB12A-72AD-8D7A-F11F-A9FA71546CED}"/>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7.3.2 </a:t>
              </a:r>
              <a:r>
                <a:rPr lang="zh-CN" altLang="en-US" sz="2400" b="1" dirty="0">
                  <a:solidFill>
                    <a:schemeClr val="accent1"/>
                  </a:solidFill>
                  <a:latin typeface="+mj-lt"/>
                </a:rPr>
                <a:t>路径平滑</a:t>
              </a:r>
            </a:p>
          </p:txBody>
        </p:sp>
      </p:grpSp>
      <p:pic>
        <p:nvPicPr>
          <p:cNvPr id="46" name="图片 45">
            <a:extLst>
              <a:ext uri="{FF2B5EF4-FFF2-40B4-BE49-F238E27FC236}">
                <a16:creationId xmlns:a16="http://schemas.microsoft.com/office/drawing/2014/main" id="{341A25F5-DA99-5A08-05F6-70ED7BFC3BEB}"/>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a:xfrm>
            <a:off x="8807536" y="3153800"/>
            <a:ext cx="3049124" cy="1846583"/>
          </a:xfrm>
          <a:prstGeom prst="rect">
            <a:avLst/>
          </a:prstGeom>
          <a:noFill/>
          <a:ln>
            <a:noFill/>
          </a:ln>
          <a:effectLst/>
        </p:spPr>
      </p:pic>
      <p:graphicFrame>
        <p:nvGraphicFramePr>
          <p:cNvPr id="48" name="对象 47">
            <a:extLst>
              <a:ext uri="{FF2B5EF4-FFF2-40B4-BE49-F238E27FC236}">
                <a16:creationId xmlns:a16="http://schemas.microsoft.com/office/drawing/2014/main" id="{F3C64820-AF80-93D3-BA7A-1BE59D364BC9}"/>
              </a:ext>
            </a:extLst>
          </p:cNvPr>
          <p:cNvGraphicFramePr>
            <a:graphicFrameLocks noChangeAspect="1"/>
          </p:cNvGraphicFramePr>
          <p:nvPr>
            <p:extLst>
              <p:ext uri="{D42A27DB-BD31-4B8C-83A1-F6EECF244321}">
                <p14:modId xmlns:p14="http://schemas.microsoft.com/office/powerpoint/2010/main" val="2605968018"/>
              </p:ext>
            </p:extLst>
          </p:nvPr>
        </p:nvGraphicFramePr>
        <p:xfrm>
          <a:off x="1704867" y="5633182"/>
          <a:ext cx="3642870" cy="350276"/>
        </p:xfrm>
        <a:graphic>
          <a:graphicData uri="http://schemas.openxmlformats.org/presentationml/2006/ole">
            <mc:AlternateContent xmlns:mc="http://schemas.openxmlformats.org/markup-compatibility/2006">
              <mc:Choice xmlns:v="urn:schemas-microsoft-com:vml" Requires="v">
                <p:oleObj name="Equation" r:id="rId4" imgW="2311400" imgH="215900" progId="Equation.DSMT4">
                  <p:embed/>
                </p:oleObj>
              </mc:Choice>
              <mc:Fallback>
                <p:oleObj name="Equation" r:id="rId4" imgW="2311400" imgH="215900" progId="Equation.DSMT4">
                  <p:embed/>
                  <p:pic>
                    <p:nvPicPr>
                      <p:cNvPr id="48" name="对象 47">
                        <a:extLst>
                          <a:ext uri="{FF2B5EF4-FFF2-40B4-BE49-F238E27FC236}">
                            <a16:creationId xmlns:a16="http://schemas.microsoft.com/office/drawing/2014/main" id="{F3C64820-AF80-93D3-BA7A-1BE59D364B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4867" y="5633182"/>
                        <a:ext cx="3642870" cy="350276"/>
                      </a:xfrm>
                      <a:prstGeom prst="rect">
                        <a:avLst/>
                      </a:prstGeom>
                      <a:noFill/>
                    </p:spPr>
                  </p:pic>
                </p:oleObj>
              </mc:Fallback>
            </mc:AlternateContent>
          </a:graphicData>
        </a:graphic>
      </p:graphicFrame>
      <p:graphicFrame>
        <p:nvGraphicFramePr>
          <p:cNvPr id="50" name="对象 49">
            <a:extLst>
              <a:ext uri="{FF2B5EF4-FFF2-40B4-BE49-F238E27FC236}">
                <a16:creationId xmlns:a16="http://schemas.microsoft.com/office/drawing/2014/main" id="{A70DED50-D664-A476-B743-71E0D9C51EEB}"/>
              </a:ext>
            </a:extLst>
          </p:cNvPr>
          <p:cNvGraphicFramePr>
            <a:graphicFrameLocks noChangeAspect="1"/>
          </p:cNvGraphicFramePr>
          <p:nvPr>
            <p:extLst>
              <p:ext uri="{D42A27DB-BD31-4B8C-83A1-F6EECF244321}">
                <p14:modId xmlns:p14="http://schemas.microsoft.com/office/powerpoint/2010/main" val="78093883"/>
              </p:ext>
            </p:extLst>
          </p:nvPr>
        </p:nvGraphicFramePr>
        <p:xfrm>
          <a:off x="1273958" y="3576112"/>
          <a:ext cx="1254580" cy="331790"/>
        </p:xfrm>
        <a:graphic>
          <a:graphicData uri="http://schemas.openxmlformats.org/presentationml/2006/ole">
            <mc:AlternateContent xmlns:mc="http://schemas.openxmlformats.org/markup-compatibility/2006">
              <mc:Choice xmlns:v="urn:schemas-microsoft-com:vml" Requires="v">
                <p:oleObj name="Equation" r:id="rId6" imgW="774364" imgH="203112" progId="Equation.DSMT4">
                  <p:embed/>
                </p:oleObj>
              </mc:Choice>
              <mc:Fallback>
                <p:oleObj name="Equation" r:id="rId6" imgW="774364" imgH="203112" progId="Equation.DSMT4">
                  <p:embed/>
                  <p:pic>
                    <p:nvPicPr>
                      <p:cNvPr id="50" name="对象 49">
                        <a:extLst>
                          <a:ext uri="{FF2B5EF4-FFF2-40B4-BE49-F238E27FC236}">
                            <a16:creationId xmlns:a16="http://schemas.microsoft.com/office/drawing/2014/main" id="{A70DED50-D664-A476-B743-71E0D9C51E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3958" y="3576112"/>
                        <a:ext cx="1254580" cy="331790"/>
                      </a:xfrm>
                      <a:prstGeom prst="rect">
                        <a:avLst/>
                      </a:prstGeom>
                      <a:noFill/>
                    </p:spPr>
                  </p:pic>
                </p:oleObj>
              </mc:Fallback>
            </mc:AlternateContent>
          </a:graphicData>
        </a:graphic>
      </p:graphicFrame>
      <p:graphicFrame>
        <p:nvGraphicFramePr>
          <p:cNvPr id="52" name="对象 51">
            <a:extLst>
              <a:ext uri="{FF2B5EF4-FFF2-40B4-BE49-F238E27FC236}">
                <a16:creationId xmlns:a16="http://schemas.microsoft.com/office/drawing/2014/main" id="{DFE8717B-BCE7-53BE-A2D7-93DE257FA731}"/>
              </a:ext>
            </a:extLst>
          </p:cNvPr>
          <p:cNvGraphicFramePr>
            <a:graphicFrameLocks noChangeAspect="1"/>
          </p:cNvGraphicFramePr>
          <p:nvPr>
            <p:extLst>
              <p:ext uri="{D42A27DB-BD31-4B8C-83A1-F6EECF244321}">
                <p14:modId xmlns:p14="http://schemas.microsoft.com/office/powerpoint/2010/main" val="1029499824"/>
              </p:ext>
            </p:extLst>
          </p:nvPr>
        </p:nvGraphicFramePr>
        <p:xfrm>
          <a:off x="3546125" y="3576112"/>
          <a:ext cx="1254580" cy="331790"/>
        </p:xfrm>
        <a:graphic>
          <a:graphicData uri="http://schemas.openxmlformats.org/presentationml/2006/ole">
            <mc:AlternateContent xmlns:mc="http://schemas.openxmlformats.org/markup-compatibility/2006">
              <mc:Choice xmlns:v="urn:schemas-microsoft-com:vml" Requires="v">
                <p:oleObj name="Equation" r:id="rId8" imgW="774364" imgH="203112" progId="Equation.DSMT4">
                  <p:embed/>
                </p:oleObj>
              </mc:Choice>
              <mc:Fallback>
                <p:oleObj name="Equation" r:id="rId8" imgW="774364" imgH="203112" progId="Equation.DSMT4">
                  <p:embed/>
                  <p:pic>
                    <p:nvPicPr>
                      <p:cNvPr id="52" name="对象 51">
                        <a:extLst>
                          <a:ext uri="{FF2B5EF4-FFF2-40B4-BE49-F238E27FC236}">
                            <a16:creationId xmlns:a16="http://schemas.microsoft.com/office/drawing/2014/main" id="{DFE8717B-BCE7-53BE-A2D7-93DE257FA73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6125" y="3576112"/>
                        <a:ext cx="1254580" cy="331790"/>
                      </a:xfrm>
                      <a:prstGeom prst="rect">
                        <a:avLst/>
                      </a:prstGeom>
                      <a:noFill/>
                    </p:spPr>
                  </p:pic>
                </p:oleObj>
              </mc:Fallback>
            </mc:AlternateContent>
          </a:graphicData>
        </a:graphic>
      </p:graphicFrame>
      <p:graphicFrame>
        <p:nvGraphicFramePr>
          <p:cNvPr id="54" name="对象 53">
            <a:extLst>
              <a:ext uri="{FF2B5EF4-FFF2-40B4-BE49-F238E27FC236}">
                <a16:creationId xmlns:a16="http://schemas.microsoft.com/office/drawing/2014/main" id="{85851E39-534F-F8DC-B647-4A7F282C2EF6}"/>
              </a:ext>
            </a:extLst>
          </p:cNvPr>
          <p:cNvGraphicFramePr>
            <a:graphicFrameLocks noChangeAspect="1"/>
          </p:cNvGraphicFramePr>
          <p:nvPr>
            <p:extLst>
              <p:ext uri="{D42A27DB-BD31-4B8C-83A1-F6EECF244321}">
                <p14:modId xmlns:p14="http://schemas.microsoft.com/office/powerpoint/2010/main" val="2889832352"/>
              </p:ext>
            </p:extLst>
          </p:nvPr>
        </p:nvGraphicFramePr>
        <p:xfrm>
          <a:off x="6119238" y="3586480"/>
          <a:ext cx="1202742" cy="311054"/>
        </p:xfrm>
        <a:graphic>
          <a:graphicData uri="http://schemas.openxmlformats.org/presentationml/2006/ole">
            <mc:AlternateContent xmlns:mc="http://schemas.openxmlformats.org/markup-compatibility/2006">
              <mc:Choice xmlns:v="urn:schemas-microsoft-com:vml" Requires="v">
                <p:oleObj name="Equation" r:id="rId10" imgW="736600" imgH="190500" progId="Equation.DSMT4">
                  <p:embed/>
                </p:oleObj>
              </mc:Choice>
              <mc:Fallback>
                <p:oleObj name="Equation" r:id="rId10" imgW="736600" imgH="190500" progId="Equation.DSMT4">
                  <p:embed/>
                  <p:pic>
                    <p:nvPicPr>
                      <p:cNvPr id="54" name="对象 53">
                        <a:extLst>
                          <a:ext uri="{FF2B5EF4-FFF2-40B4-BE49-F238E27FC236}">
                            <a16:creationId xmlns:a16="http://schemas.microsoft.com/office/drawing/2014/main" id="{85851E39-534F-F8DC-B647-4A7F282C2EF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19238" y="3586480"/>
                        <a:ext cx="1202742" cy="311054"/>
                      </a:xfrm>
                      <a:prstGeom prst="rect">
                        <a:avLst/>
                      </a:prstGeom>
                      <a:noFill/>
                    </p:spPr>
                  </p:pic>
                </p:oleObj>
              </mc:Fallback>
            </mc:AlternateContent>
          </a:graphicData>
        </a:graphic>
      </p:graphicFrame>
    </p:spTree>
    <p:extLst>
      <p:ext uri="{BB962C8B-B14F-4D97-AF65-F5344CB8AC3E}">
        <p14:creationId xmlns:p14="http://schemas.microsoft.com/office/powerpoint/2010/main" val="1680803470"/>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33375" y="1617806"/>
            <a:ext cx="8239125" cy="1396023"/>
          </a:xfrm>
          <a:custGeom>
            <a:avLst/>
            <a:gdLst/>
            <a:ahLst/>
            <a:cxnLst/>
            <a:rect l="l" t="t" r="r" b="b"/>
            <a:pathLst>
              <a:path w="8239125" h="1809750">
                <a:moveTo>
                  <a:pt x="31750" y="0"/>
                </a:moveTo>
                <a:lnTo>
                  <a:pt x="8143878" y="0"/>
                </a:lnTo>
                <a:cubicBezTo>
                  <a:pt x="8196481" y="0"/>
                  <a:pt x="8239125" y="42644"/>
                  <a:pt x="8239125" y="95247"/>
                </a:cubicBezTo>
                <a:lnTo>
                  <a:pt x="8239125" y="1714503"/>
                </a:lnTo>
                <a:cubicBezTo>
                  <a:pt x="8239125" y="1767106"/>
                  <a:pt x="8196481" y="1809750"/>
                  <a:pt x="8143878" y="1809750"/>
                </a:cubicBezTo>
                <a:lnTo>
                  <a:pt x="31750" y="1809750"/>
                </a:lnTo>
                <a:cubicBezTo>
                  <a:pt x="14215" y="1809750"/>
                  <a:pt x="0" y="1795535"/>
                  <a:pt x="0" y="1778000"/>
                </a:cubicBezTo>
                <a:lnTo>
                  <a:pt x="0" y="31750"/>
                </a:lnTo>
                <a:cubicBezTo>
                  <a:pt x="0" y="14227"/>
                  <a:pt x="14227" y="0"/>
                  <a:pt x="31750" y="0"/>
                </a:cubicBezTo>
                <a:close/>
              </a:path>
            </a:pathLst>
          </a:custGeom>
          <a:solidFill>
            <a:srgbClr val="5F87A7">
              <a:alpha val="10196"/>
            </a:srgbClr>
          </a:solidFill>
        </p:spPr>
      </p:sp>
      <p:sp>
        <p:nvSpPr>
          <p:cNvPr id="6" name="Shape 4"/>
          <p:cNvSpPr/>
          <p:nvPr/>
        </p:nvSpPr>
        <p:spPr>
          <a:xfrm>
            <a:off x="333375" y="1617806"/>
            <a:ext cx="31750" cy="1399091"/>
          </a:xfrm>
          <a:custGeom>
            <a:avLst/>
            <a:gdLst/>
            <a:ahLst/>
            <a:cxnLst/>
            <a:rect l="l" t="t" r="r" b="b"/>
            <a:pathLst>
              <a:path w="31750" h="1809750">
                <a:moveTo>
                  <a:pt x="31750" y="0"/>
                </a:moveTo>
                <a:lnTo>
                  <a:pt x="31750" y="0"/>
                </a:lnTo>
                <a:lnTo>
                  <a:pt x="31750" y="1809750"/>
                </a:lnTo>
                <a:lnTo>
                  <a:pt x="31750" y="1809750"/>
                </a:lnTo>
                <a:cubicBezTo>
                  <a:pt x="14227" y="1809750"/>
                  <a:pt x="0" y="1795523"/>
                  <a:pt x="0" y="1778000"/>
                </a:cubicBezTo>
                <a:lnTo>
                  <a:pt x="0" y="31750"/>
                </a:lnTo>
                <a:cubicBezTo>
                  <a:pt x="0" y="14227"/>
                  <a:pt x="14227" y="0"/>
                  <a:pt x="31750" y="0"/>
                </a:cubicBezTo>
                <a:close/>
              </a:path>
            </a:pathLst>
          </a:custGeom>
          <a:solidFill>
            <a:srgbClr val="E6B450"/>
          </a:solidFill>
        </p:spPr>
      </p:sp>
      <p:sp>
        <p:nvSpPr>
          <p:cNvPr id="7" name="Shape 5"/>
          <p:cNvSpPr/>
          <p:nvPr/>
        </p:nvSpPr>
        <p:spPr>
          <a:xfrm>
            <a:off x="575469" y="1694586"/>
            <a:ext cx="166688" cy="190500"/>
          </a:xfrm>
          <a:custGeom>
            <a:avLst/>
            <a:gdLst/>
            <a:ahLst/>
            <a:cxnLst/>
            <a:rect l="l" t="t" r="r" b="b"/>
            <a:pathLst>
              <a:path w="166688" h="190500">
                <a:moveTo>
                  <a:pt x="142875" y="190500"/>
                </a:moveTo>
                <a:lnTo>
                  <a:pt x="35719" y="190500"/>
                </a:lnTo>
                <a:cubicBezTo>
                  <a:pt x="15999" y="190500"/>
                  <a:pt x="0" y="174501"/>
                  <a:pt x="0" y="154781"/>
                </a:cubicBezTo>
                <a:lnTo>
                  <a:pt x="0" y="35719"/>
                </a:lnTo>
                <a:cubicBezTo>
                  <a:pt x="0" y="15999"/>
                  <a:pt x="15999" y="0"/>
                  <a:pt x="35719" y="0"/>
                </a:cubicBezTo>
                <a:lnTo>
                  <a:pt x="148828" y="0"/>
                </a:lnTo>
                <a:cubicBezTo>
                  <a:pt x="158688" y="0"/>
                  <a:pt x="166688" y="8000"/>
                  <a:pt x="166688" y="17859"/>
                </a:cubicBezTo>
                <a:lnTo>
                  <a:pt x="166688" y="125016"/>
                </a:lnTo>
                <a:cubicBezTo>
                  <a:pt x="166688" y="132792"/>
                  <a:pt x="161702" y="139415"/>
                  <a:pt x="154781" y="141870"/>
                </a:cubicBezTo>
                <a:lnTo>
                  <a:pt x="154781" y="166688"/>
                </a:lnTo>
                <a:cubicBezTo>
                  <a:pt x="161367" y="166688"/>
                  <a:pt x="166688" y="172008"/>
                  <a:pt x="166688" y="178594"/>
                </a:cubicBezTo>
                <a:cubicBezTo>
                  <a:pt x="166688" y="185179"/>
                  <a:pt x="161367" y="190500"/>
                  <a:pt x="154781" y="190500"/>
                </a:cubicBezTo>
                <a:lnTo>
                  <a:pt x="142875" y="190500"/>
                </a:lnTo>
                <a:close/>
                <a:moveTo>
                  <a:pt x="35719" y="142875"/>
                </a:moveTo>
                <a:cubicBezTo>
                  <a:pt x="29133" y="142875"/>
                  <a:pt x="23812" y="148196"/>
                  <a:pt x="23812" y="154781"/>
                </a:cubicBezTo>
                <a:cubicBezTo>
                  <a:pt x="23812" y="161367"/>
                  <a:pt x="29133" y="166688"/>
                  <a:pt x="35719" y="166688"/>
                </a:cubicBezTo>
                <a:lnTo>
                  <a:pt x="130969" y="166688"/>
                </a:lnTo>
                <a:lnTo>
                  <a:pt x="130969" y="142875"/>
                </a:lnTo>
                <a:lnTo>
                  <a:pt x="35719" y="142875"/>
                </a:lnTo>
                <a:close/>
                <a:moveTo>
                  <a:pt x="47625" y="56555"/>
                </a:moveTo>
                <a:cubicBezTo>
                  <a:pt x="47625" y="61503"/>
                  <a:pt x="51606" y="65484"/>
                  <a:pt x="56555" y="65484"/>
                </a:cubicBezTo>
                <a:lnTo>
                  <a:pt x="122039" y="65484"/>
                </a:lnTo>
                <a:cubicBezTo>
                  <a:pt x="126988" y="65484"/>
                  <a:pt x="130969" y="61503"/>
                  <a:pt x="130969" y="56555"/>
                </a:cubicBezTo>
                <a:cubicBezTo>
                  <a:pt x="130969" y="51606"/>
                  <a:pt x="126988" y="47625"/>
                  <a:pt x="122039" y="47625"/>
                </a:cubicBezTo>
                <a:lnTo>
                  <a:pt x="56555" y="47625"/>
                </a:lnTo>
                <a:cubicBezTo>
                  <a:pt x="51606" y="47625"/>
                  <a:pt x="47625" y="51606"/>
                  <a:pt x="47625" y="56555"/>
                </a:cubicBezTo>
                <a:close/>
                <a:moveTo>
                  <a:pt x="56555" y="83344"/>
                </a:moveTo>
                <a:cubicBezTo>
                  <a:pt x="51606" y="83344"/>
                  <a:pt x="47625" y="87325"/>
                  <a:pt x="47625" y="92273"/>
                </a:cubicBezTo>
                <a:cubicBezTo>
                  <a:pt x="47625" y="97222"/>
                  <a:pt x="51606" y="101203"/>
                  <a:pt x="56555" y="101203"/>
                </a:cubicBezTo>
                <a:lnTo>
                  <a:pt x="122039" y="101203"/>
                </a:lnTo>
                <a:cubicBezTo>
                  <a:pt x="126988" y="101203"/>
                  <a:pt x="130969" y="97222"/>
                  <a:pt x="130969" y="92273"/>
                </a:cubicBezTo>
                <a:cubicBezTo>
                  <a:pt x="130969" y="87325"/>
                  <a:pt x="126988" y="83344"/>
                  <a:pt x="122039" y="83344"/>
                </a:cubicBezTo>
                <a:lnTo>
                  <a:pt x="56555" y="83344"/>
                </a:lnTo>
                <a:close/>
              </a:path>
            </a:pathLst>
          </a:custGeom>
          <a:solidFill>
            <a:srgbClr val="E6B450"/>
          </a:solidFill>
        </p:spPr>
      </p:sp>
      <p:sp>
        <p:nvSpPr>
          <p:cNvPr id="8" name="Text 6"/>
          <p:cNvSpPr/>
          <p:nvPr/>
        </p:nvSpPr>
        <p:spPr>
          <a:xfrm>
            <a:off x="904875" y="1662836"/>
            <a:ext cx="3717925"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3. 三次贝塞尔曲线（三次方公式）</a:t>
            </a:r>
            <a:endParaRPr lang="en-US" dirty="0"/>
          </a:p>
        </p:txBody>
      </p:sp>
      <p:sp>
        <p:nvSpPr>
          <p:cNvPr id="9" name="Text 7"/>
          <p:cNvSpPr/>
          <p:nvPr/>
        </p:nvSpPr>
        <p:spPr>
          <a:xfrm>
            <a:off x="904875" y="2012086"/>
            <a:ext cx="3333750" cy="23018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同理可得三次贝塞尔曲线公式：</a:t>
            </a:r>
            <a:endParaRPr lang="en-US" sz="2400" dirty="0"/>
          </a:p>
        </p:txBody>
      </p:sp>
      <p:sp>
        <p:nvSpPr>
          <p:cNvPr id="10" name="Shape 8"/>
          <p:cNvSpPr/>
          <p:nvPr/>
        </p:nvSpPr>
        <p:spPr>
          <a:xfrm>
            <a:off x="908844" y="2343478"/>
            <a:ext cx="5564115" cy="546100"/>
          </a:xfrm>
          <a:custGeom>
            <a:avLst/>
            <a:gdLst/>
            <a:ahLst/>
            <a:cxnLst/>
            <a:rect l="l" t="t" r="r" b="b"/>
            <a:pathLst>
              <a:path w="3254375" h="746125">
                <a:moveTo>
                  <a:pt x="63503" y="0"/>
                </a:moveTo>
                <a:lnTo>
                  <a:pt x="3190872" y="0"/>
                </a:lnTo>
                <a:cubicBezTo>
                  <a:pt x="3225944" y="0"/>
                  <a:pt x="3254375" y="28431"/>
                  <a:pt x="3254375" y="63503"/>
                </a:cubicBezTo>
                <a:lnTo>
                  <a:pt x="3254375" y="682622"/>
                </a:lnTo>
                <a:cubicBezTo>
                  <a:pt x="3254375" y="717694"/>
                  <a:pt x="3225944" y="746125"/>
                  <a:pt x="3190872" y="746125"/>
                </a:cubicBezTo>
                <a:lnTo>
                  <a:pt x="63503" y="746125"/>
                </a:lnTo>
                <a:cubicBezTo>
                  <a:pt x="28431" y="746125"/>
                  <a:pt x="0" y="717694"/>
                  <a:pt x="0" y="682622"/>
                </a:cubicBezTo>
                <a:lnTo>
                  <a:pt x="0" y="63503"/>
                </a:lnTo>
                <a:cubicBezTo>
                  <a:pt x="0" y="28431"/>
                  <a:pt x="28431" y="0"/>
                  <a:pt x="63503" y="0"/>
                </a:cubicBezTo>
                <a:close/>
              </a:path>
            </a:pathLst>
          </a:custGeom>
          <a:solidFill>
            <a:srgbClr val="E6B450">
              <a:alpha val="10196"/>
            </a:srgbClr>
          </a:solidFill>
          <a:ln w="12700">
            <a:solidFill>
              <a:srgbClr val="E6B450">
                <a:alpha val="30196"/>
              </a:srgbClr>
            </a:solidFill>
            <a:prstDash val="solid"/>
          </a:ln>
        </p:spPr>
      </p:sp>
      <p:sp>
        <p:nvSpPr>
          <p:cNvPr id="13" name="Shape 11"/>
          <p:cNvSpPr/>
          <p:nvPr/>
        </p:nvSpPr>
        <p:spPr>
          <a:xfrm>
            <a:off x="333375" y="3089597"/>
            <a:ext cx="8239125" cy="2012552"/>
          </a:xfrm>
          <a:custGeom>
            <a:avLst/>
            <a:gdLst/>
            <a:ahLst/>
            <a:cxnLst/>
            <a:rect l="l" t="t" r="r" b="b"/>
            <a:pathLst>
              <a:path w="8239125" h="1809750">
                <a:moveTo>
                  <a:pt x="31750" y="0"/>
                </a:moveTo>
                <a:lnTo>
                  <a:pt x="8143878" y="0"/>
                </a:lnTo>
                <a:cubicBezTo>
                  <a:pt x="8196481" y="0"/>
                  <a:pt x="8239125" y="42644"/>
                  <a:pt x="8239125" y="95247"/>
                </a:cubicBezTo>
                <a:lnTo>
                  <a:pt x="8239125" y="1714503"/>
                </a:lnTo>
                <a:cubicBezTo>
                  <a:pt x="8239125" y="1767106"/>
                  <a:pt x="8196481" y="1809750"/>
                  <a:pt x="8143878" y="1809750"/>
                </a:cubicBezTo>
                <a:lnTo>
                  <a:pt x="31750" y="1809750"/>
                </a:lnTo>
                <a:cubicBezTo>
                  <a:pt x="14215" y="1809750"/>
                  <a:pt x="0" y="1795535"/>
                  <a:pt x="0" y="1778000"/>
                </a:cubicBezTo>
                <a:lnTo>
                  <a:pt x="0" y="31750"/>
                </a:lnTo>
                <a:cubicBezTo>
                  <a:pt x="0" y="14227"/>
                  <a:pt x="14227" y="0"/>
                  <a:pt x="31750" y="0"/>
                </a:cubicBezTo>
                <a:close/>
              </a:path>
            </a:pathLst>
          </a:custGeom>
          <a:solidFill>
            <a:srgbClr val="5F87A7">
              <a:alpha val="10196"/>
            </a:srgbClr>
          </a:solidFill>
        </p:spPr>
      </p:sp>
      <p:sp>
        <p:nvSpPr>
          <p:cNvPr id="14" name="Shape 12"/>
          <p:cNvSpPr/>
          <p:nvPr/>
        </p:nvSpPr>
        <p:spPr>
          <a:xfrm>
            <a:off x="333375" y="3089597"/>
            <a:ext cx="31750" cy="2012552"/>
          </a:xfrm>
          <a:custGeom>
            <a:avLst/>
            <a:gdLst/>
            <a:ahLst/>
            <a:cxnLst/>
            <a:rect l="l" t="t" r="r" b="b"/>
            <a:pathLst>
              <a:path w="31750" h="1809750">
                <a:moveTo>
                  <a:pt x="31750" y="0"/>
                </a:moveTo>
                <a:lnTo>
                  <a:pt x="31750" y="0"/>
                </a:lnTo>
                <a:lnTo>
                  <a:pt x="31750" y="1809750"/>
                </a:lnTo>
                <a:lnTo>
                  <a:pt x="31750" y="1809750"/>
                </a:lnTo>
                <a:cubicBezTo>
                  <a:pt x="14227" y="1809750"/>
                  <a:pt x="0" y="1795523"/>
                  <a:pt x="0" y="1778000"/>
                </a:cubicBezTo>
                <a:lnTo>
                  <a:pt x="0" y="31750"/>
                </a:lnTo>
                <a:cubicBezTo>
                  <a:pt x="0" y="14227"/>
                  <a:pt x="14227" y="0"/>
                  <a:pt x="31750" y="0"/>
                </a:cubicBezTo>
                <a:close/>
              </a:path>
            </a:pathLst>
          </a:custGeom>
          <a:solidFill>
            <a:srgbClr val="E6B450"/>
          </a:solidFill>
        </p:spPr>
      </p:sp>
      <p:sp>
        <p:nvSpPr>
          <p:cNvPr id="15" name="Shape 13"/>
          <p:cNvSpPr/>
          <p:nvPr/>
        </p:nvSpPr>
        <p:spPr>
          <a:xfrm>
            <a:off x="539750" y="3166376"/>
            <a:ext cx="238125" cy="190500"/>
          </a:xfrm>
          <a:custGeom>
            <a:avLst/>
            <a:gdLst/>
            <a:ahLst/>
            <a:cxnLst/>
            <a:rect l="l" t="t" r="r" b="b"/>
            <a:pathLst>
              <a:path w="238125" h="190500">
                <a:moveTo>
                  <a:pt x="0" y="95250"/>
                </a:moveTo>
                <a:cubicBezTo>
                  <a:pt x="0" y="62359"/>
                  <a:pt x="26640" y="35719"/>
                  <a:pt x="59531" y="35719"/>
                </a:cubicBezTo>
                <a:cubicBezTo>
                  <a:pt x="78284" y="35719"/>
                  <a:pt x="95920" y="44537"/>
                  <a:pt x="107156" y="59531"/>
                </a:cubicBezTo>
                <a:lnTo>
                  <a:pt x="119063" y="75419"/>
                </a:lnTo>
                <a:lnTo>
                  <a:pt x="130969" y="59531"/>
                </a:lnTo>
                <a:cubicBezTo>
                  <a:pt x="142205" y="44537"/>
                  <a:pt x="159841" y="35719"/>
                  <a:pt x="178594" y="35719"/>
                </a:cubicBezTo>
                <a:cubicBezTo>
                  <a:pt x="211485" y="35719"/>
                  <a:pt x="238125" y="62359"/>
                  <a:pt x="238125" y="95250"/>
                </a:cubicBezTo>
                <a:cubicBezTo>
                  <a:pt x="238125" y="128141"/>
                  <a:pt x="211485" y="154781"/>
                  <a:pt x="178594" y="154781"/>
                </a:cubicBezTo>
                <a:cubicBezTo>
                  <a:pt x="159841" y="154781"/>
                  <a:pt x="142205" y="145963"/>
                  <a:pt x="130969" y="130969"/>
                </a:cubicBezTo>
                <a:lnTo>
                  <a:pt x="119063" y="115081"/>
                </a:lnTo>
                <a:lnTo>
                  <a:pt x="107156" y="130969"/>
                </a:lnTo>
                <a:cubicBezTo>
                  <a:pt x="95920" y="145963"/>
                  <a:pt x="78284" y="154781"/>
                  <a:pt x="59531" y="154781"/>
                </a:cubicBezTo>
                <a:cubicBezTo>
                  <a:pt x="26640" y="154781"/>
                  <a:pt x="0" y="128141"/>
                  <a:pt x="0" y="95250"/>
                </a:cubicBezTo>
                <a:close/>
                <a:moveTo>
                  <a:pt x="104180" y="95250"/>
                </a:moveTo>
                <a:lnTo>
                  <a:pt x="88106" y="73819"/>
                </a:lnTo>
                <a:cubicBezTo>
                  <a:pt x="81372" y="64815"/>
                  <a:pt x="70768" y="59531"/>
                  <a:pt x="59531" y="59531"/>
                </a:cubicBezTo>
                <a:cubicBezTo>
                  <a:pt x="39812" y="59531"/>
                  <a:pt x="23812" y="75530"/>
                  <a:pt x="23812" y="95250"/>
                </a:cubicBezTo>
                <a:cubicBezTo>
                  <a:pt x="23812" y="114970"/>
                  <a:pt x="39812" y="130969"/>
                  <a:pt x="59531" y="130969"/>
                </a:cubicBezTo>
                <a:cubicBezTo>
                  <a:pt x="70768" y="130969"/>
                  <a:pt x="81372" y="125685"/>
                  <a:pt x="88106" y="116681"/>
                </a:cubicBezTo>
                <a:lnTo>
                  <a:pt x="104180" y="95250"/>
                </a:lnTo>
                <a:close/>
                <a:moveTo>
                  <a:pt x="133945" y="95250"/>
                </a:moveTo>
                <a:lnTo>
                  <a:pt x="150019" y="116681"/>
                </a:lnTo>
                <a:cubicBezTo>
                  <a:pt x="156753" y="125685"/>
                  <a:pt x="167357" y="130969"/>
                  <a:pt x="178594" y="130969"/>
                </a:cubicBezTo>
                <a:cubicBezTo>
                  <a:pt x="198313" y="130969"/>
                  <a:pt x="214313" y="114970"/>
                  <a:pt x="214313" y="95250"/>
                </a:cubicBezTo>
                <a:cubicBezTo>
                  <a:pt x="214313" y="75530"/>
                  <a:pt x="198313" y="59531"/>
                  <a:pt x="178594" y="59531"/>
                </a:cubicBezTo>
                <a:cubicBezTo>
                  <a:pt x="167357" y="59531"/>
                  <a:pt x="156753" y="64815"/>
                  <a:pt x="150019" y="73819"/>
                </a:cubicBezTo>
                <a:lnTo>
                  <a:pt x="133945" y="95250"/>
                </a:lnTo>
                <a:close/>
              </a:path>
            </a:pathLst>
          </a:custGeom>
          <a:solidFill>
            <a:srgbClr val="E6B450"/>
          </a:solidFill>
        </p:spPr>
      </p:sp>
      <p:sp>
        <p:nvSpPr>
          <p:cNvPr id="16" name="Text 14"/>
          <p:cNvSpPr/>
          <p:nvPr/>
        </p:nvSpPr>
        <p:spPr>
          <a:xfrm>
            <a:off x="904874" y="3134626"/>
            <a:ext cx="3987165"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4. n次贝塞尔曲线（一般参数公式）</a:t>
            </a:r>
            <a:endParaRPr lang="en-US" dirty="0"/>
          </a:p>
        </p:txBody>
      </p:sp>
      <p:sp>
        <p:nvSpPr>
          <p:cNvPr id="17" name="Text 15"/>
          <p:cNvSpPr/>
          <p:nvPr/>
        </p:nvSpPr>
        <p:spPr>
          <a:xfrm>
            <a:off x="904875" y="3483876"/>
            <a:ext cx="3514725" cy="23018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n次贝塞尔曲线的一般参数公式为：</a:t>
            </a:r>
            <a:endParaRPr lang="en-US" sz="2400" dirty="0"/>
          </a:p>
        </p:txBody>
      </p:sp>
      <p:sp>
        <p:nvSpPr>
          <p:cNvPr id="18" name="Shape 16"/>
          <p:cNvSpPr/>
          <p:nvPr/>
        </p:nvSpPr>
        <p:spPr>
          <a:xfrm>
            <a:off x="908842" y="3815266"/>
            <a:ext cx="7147575" cy="1141412"/>
          </a:xfrm>
          <a:custGeom>
            <a:avLst/>
            <a:gdLst/>
            <a:ahLst/>
            <a:cxnLst/>
            <a:rect l="l" t="t" r="r" b="b"/>
            <a:pathLst>
              <a:path w="2984500" h="746125">
                <a:moveTo>
                  <a:pt x="63503" y="0"/>
                </a:moveTo>
                <a:lnTo>
                  <a:pt x="2920997" y="0"/>
                </a:lnTo>
                <a:cubicBezTo>
                  <a:pt x="2956069" y="0"/>
                  <a:pt x="2984500" y="28431"/>
                  <a:pt x="2984500" y="63503"/>
                </a:cubicBezTo>
                <a:lnTo>
                  <a:pt x="2984500" y="682622"/>
                </a:lnTo>
                <a:cubicBezTo>
                  <a:pt x="2984500" y="717694"/>
                  <a:pt x="2956069" y="746125"/>
                  <a:pt x="2920997" y="746125"/>
                </a:cubicBezTo>
                <a:lnTo>
                  <a:pt x="63503" y="746125"/>
                </a:lnTo>
                <a:cubicBezTo>
                  <a:pt x="28431" y="746125"/>
                  <a:pt x="0" y="717694"/>
                  <a:pt x="0" y="682622"/>
                </a:cubicBezTo>
                <a:lnTo>
                  <a:pt x="0" y="63503"/>
                </a:lnTo>
                <a:cubicBezTo>
                  <a:pt x="0" y="28431"/>
                  <a:pt x="28431" y="0"/>
                  <a:pt x="63503" y="0"/>
                </a:cubicBezTo>
                <a:close/>
              </a:path>
            </a:pathLst>
          </a:custGeom>
          <a:solidFill>
            <a:srgbClr val="E6B450">
              <a:alpha val="10196"/>
            </a:srgbClr>
          </a:solidFill>
          <a:ln w="12700">
            <a:solidFill>
              <a:srgbClr val="E6B450">
                <a:alpha val="30196"/>
              </a:srgbClr>
            </a:solidFill>
            <a:prstDash val="solid"/>
          </a:ln>
        </p:spPr>
      </p:sp>
      <p:sp>
        <p:nvSpPr>
          <p:cNvPr id="21" name="Shape 19"/>
          <p:cNvSpPr/>
          <p:nvPr/>
        </p:nvSpPr>
        <p:spPr>
          <a:xfrm>
            <a:off x="333375" y="5224103"/>
            <a:ext cx="8239125" cy="1479190"/>
          </a:xfrm>
          <a:custGeom>
            <a:avLst/>
            <a:gdLst/>
            <a:ahLst/>
            <a:cxnLst/>
            <a:rect l="l" t="t" r="r" b="b"/>
            <a:pathLst>
              <a:path w="8239125" h="1770063">
                <a:moveTo>
                  <a:pt x="31750" y="0"/>
                </a:moveTo>
                <a:lnTo>
                  <a:pt x="8143878" y="0"/>
                </a:lnTo>
                <a:cubicBezTo>
                  <a:pt x="8196481" y="0"/>
                  <a:pt x="8239125" y="42644"/>
                  <a:pt x="8239125" y="95247"/>
                </a:cubicBezTo>
                <a:lnTo>
                  <a:pt x="8239125" y="1674815"/>
                </a:lnTo>
                <a:cubicBezTo>
                  <a:pt x="8239125" y="1727419"/>
                  <a:pt x="8196481" y="1770063"/>
                  <a:pt x="8143878" y="1770063"/>
                </a:cubicBezTo>
                <a:lnTo>
                  <a:pt x="31750" y="1770063"/>
                </a:lnTo>
                <a:cubicBezTo>
                  <a:pt x="14227" y="1770063"/>
                  <a:pt x="0" y="1755836"/>
                  <a:pt x="0" y="1738313"/>
                </a:cubicBezTo>
                <a:lnTo>
                  <a:pt x="0" y="31750"/>
                </a:lnTo>
                <a:cubicBezTo>
                  <a:pt x="0" y="14227"/>
                  <a:pt x="14227" y="0"/>
                  <a:pt x="31750" y="0"/>
                </a:cubicBezTo>
                <a:close/>
              </a:path>
            </a:pathLst>
          </a:custGeom>
          <a:solidFill>
            <a:srgbClr val="5F87A7">
              <a:alpha val="10196"/>
            </a:srgbClr>
          </a:solidFill>
        </p:spPr>
      </p:sp>
      <p:sp>
        <p:nvSpPr>
          <p:cNvPr id="22" name="Shape 20"/>
          <p:cNvSpPr/>
          <p:nvPr/>
        </p:nvSpPr>
        <p:spPr>
          <a:xfrm>
            <a:off x="333375" y="5224103"/>
            <a:ext cx="31750" cy="1479190"/>
          </a:xfrm>
          <a:custGeom>
            <a:avLst/>
            <a:gdLst/>
            <a:ahLst/>
            <a:cxnLst/>
            <a:rect l="l" t="t" r="r" b="b"/>
            <a:pathLst>
              <a:path w="31750" h="1770063">
                <a:moveTo>
                  <a:pt x="31750" y="0"/>
                </a:moveTo>
                <a:lnTo>
                  <a:pt x="31750" y="0"/>
                </a:lnTo>
                <a:lnTo>
                  <a:pt x="31750" y="1770063"/>
                </a:lnTo>
                <a:lnTo>
                  <a:pt x="31750" y="1770063"/>
                </a:lnTo>
                <a:cubicBezTo>
                  <a:pt x="14227" y="1770063"/>
                  <a:pt x="0" y="1755836"/>
                  <a:pt x="0" y="1738313"/>
                </a:cubicBezTo>
                <a:lnTo>
                  <a:pt x="0" y="31750"/>
                </a:lnTo>
                <a:cubicBezTo>
                  <a:pt x="0" y="14227"/>
                  <a:pt x="14227" y="0"/>
                  <a:pt x="31750" y="0"/>
                </a:cubicBezTo>
                <a:close/>
              </a:path>
            </a:pathLst>
          </a:custGeom>
          <a:solidFill>
            <a:srgbClr val="E6B450"/>
          </a:solidFill>
        </p:spPr>
      </p:sp>
      <p:sp>
        <p:nvSpPr>
          <p:cNvPr id="23" name="Shape 21"/>
          <p:cNvSpPr/>
          <p:nvPr/>
        </p:nvSpPr>
        <p:spPr>
          <a:xfrm>
            <a:off x="563563" y="5361685"/>
            <a:ext cx="190500" cy="190500"/>
          </a:xfrm>
          <a:custGeom>
            <a:avLst/>
            <a:gdLst/>
            <a:ahLst/>
            <a:cxnLst/>
            <a:rect l="l" t="t" r="r" b="b"/>
            <a:pathLst>
              <a:path w="190500" h="190500">
                <a:moveTo>
                  <a:pt x="56666" y="22324"/>
                </a:moveTo>
                <a:cubicBezTo>
                  <a:pt x="73856" y="-7441"/>
                  <a:pt x="116830" y="-7441"/>
                  <a:pt x="134020" y="22324"/>
                </a:cubicBezTo>
                <a:lnTo>
                  <a:pt x="147898" y="46360"/>
                </a:lnTo>
                <a:lnTo>
                  <a:pt x="158204" y="40407"/>
                </a:lnTo>
                <a:cubicBezTo>
                  <a:pt x="161330" y="38584"/>
                  <a:pt x="165236" y="38844"/>
                  <a:pt x="168101" y="41039"/>
                </a:cubicBezTo>
                <a:cubicBezTo>
                  <a:pt x="170966" y="43235"/>
                  <a:pt x="172231" y="46955"/>
                  <a:pt x="171301" y="50453"/>
                </a:cubicBezTo>
                <a:lnTo>
                  <a:pt x="162558" y="82972"/>
                </a:lnTo>
                <a:cubicBezTo>
                  <a:pt x="161292" y="87734"/>
                  <a:pt x="156381" y="90562"/>
                  <a:pt x="151619" y="89297"/>
                </a:cubicBezTo>
                <a:lnTo>
                  <a:pt x="119100" y="80590"/>
                </a:lnTo>
                <a:cubicBezTo>
                  <a:pt x="115602" y="79660"/>
                  <a:pt x="113035" y="76721"/>
                  <a:pt x="112551" y="73149"/>
                </a:cubicBezTo>
                <a:cubicBezTo>
                  <a:pt x="112068" y="69577"/>
                  <a:pt x="113816" y="66042"/>
                  <a:pt x="116942" y="64257"/>
                </a:cubicBezTo>
                <a:lnTo>
                  <a:pt x="127248" y="58303"/>
                </a:lnTo>
                <a:lnTo>
                  <a:pt x="113370" y="34268"/>
                </a:lnTo>
                <a:cubicBezTo>
                  <a:pt x="105333" y="20389"/>
                  <a:pt x="85316" y="20389"/>
                  <a:pt x="77279" y="34268"/>
                </a:cubicBezTo>
                <a:lnTo>
                  <a:pt x="75307" y="37654"/>
                </a:lnTo>
                <a:cubicBezTo>
                  <a:pt x="72033" y="43346"/>
                  <a:pt x="64740" y="45281"/>
                  <a:pt x="59048" y="42007"/>
                </a:cubicBezTo>
                <a:cubicBezTo>
                  <a:pt x="53355" y="38733"/>
                  <a:pt x="51420" y="31440"/>
                  <a:pt x="54694" y="25710"/>
                </a:cubicBezTo>
                <a:lnTo>
                  <a:pt x="56666" y="22324"/>
                </a:lnTo>
                <a:close/>
                <a:moveTo>
                  <a:pt x="167320" y="103845"/>
                </a:moveTo>
                <a:cubicBezTo>
                  <a:pt x="173013" y="100571"/>
                  <a:pt x="180305" y="102505"/>
                  <a:pt x="183579" y="108198"/>
                </a:cubicBezTo>
                <a:lnTo>
                  <a:pt x="185551" y="111584"/>
                </a:lnTo>
                <a:cubicBezTo>
                  <a:pt x="202741" y="141350"/>
                  <a:pt x="181273" y="178557"/>
                  <a:pt x="146893" y="178557"/>
                </a:cubicBezTo>
                <a:lnTo>
                  <a:pt x="119137" y="178557"/>
                </a:lnTo>
                <a:lnTo>
                  <a:pt x="119137" y="190463"/>
                </a:lnTo>
                <a:cubicBezTo>
                  <a:pt x="119137" y="194072"/>
                  <a:pt x="116979" y="197346"/>
                  <a:pt x="113630" y="198723"/>
                </a:cubicBezTo>
                <a:cubicBezTo>
                  <a:pt x="110282" y="200099"/>
                  <a:pt x="106449" y="199355"/>
                  <a:pt x="103882" y="196788"/>
                </a:cubicBezTo>
                <a:lnTo>
                  <a:pt x="80070" y="172975"/>
                </a:lnTo>
                <a:cubicBezTo>
                  <a:pt x="76572" y="169478"/>
                  <a:pt x="76572" y="163823"/>
                  <a:pt x="80070" y="160362"/>
                </a:cubicBezTo>
                <a:lnTo>
                  <a:pt x="103882" y="136550"/>
                </a:lnTo>
                <a:cubicBezTo>
                  <a:pt x="106449" y="133983"/>
                  <a:pt x="110282" y="133238"/>
                  <a:pt x="113630" y="134615"/>
                </a:cubicBezTo>
                <a:cubicBezTo>
                  <a:pt x="116979" y="135992"/>
                  <a:pt x="119137" y="139266"/>
                  <a:pt x="119137" y="142875"/>
                </a:cubicBezTo>
                <a:lnTo>
                  <a:pt x="119137" y="154781"/>
                </a:lnTo>
                <a:lnTo>
                  <a:pt x="146893" y="154781"/>
                </a:lnTo>
                <a:cubicBezTo>
                  <a:pt x="162930" y="154781"/>
                  <a:pt x="172975" y="137406"/>
                  <a:pt x="164939" y="123527"/>
                </a:cubicBezTo>
                <a:lnTo>
                  <a:pt x="162967" y="120142"/>
                </a:lnTo>
                <a:cubicBezTo>
                  <a:pt x="159693" y="114449"/>
                  <a:pt x="161627" y="107156"/>
                  <a:pt x="167320" y="103882"/>
                </a:cubicBezTo>
                <a:close/>
                <a:moveTo>
                  <a:pt x="18976" y="87585"/>
                </a:moveTo>
                <a:lnTo>
                  <a:pt x="8669" y="81632"/>
                </a:lnTo>
                <a:cubicBezTo>
                  <a:pt x="5544" y="79809"/>
                  <a:pt x="3795" y="76312"/>
                  <a:pt x="4279" y="72740"/>
                </a:cubicBezTo>
                <a:cubicBezTo>
                  <a:pt x="4763" y="69168"/>
                  <a:pt x="7330" y="66229"/>
                  <a:pt x="10827" y="65298"/>
                </a:cubicBezTo>
                <a:lnTo>
                  <a:pt x="43346" y="56555"/>
                </a:lnTo>
                <a:cubicBezTo>
                  <a:pt x="48109" y="55290"/>
                  <a:pt x="53020" y="58117"/>
                  <a:pt x="54285" y="62880"/>
                </a:cubicBezTo>
                <a:lnTo>
                  <a:pt x="62992" y="95399"/>
                </a:lnTo>
                <a:cubicBezTo>
                  <a:pt x="63922" y="98896"/>
                  <a:pt x="62657" y="102580"/>
                  <a:pt x="59792" y="104812"/>
                </a:cubicBezTo>
                <a:cubicBezTo>
                  <a:pt x="56927" y="107045"/>
                  <a:pt x="53020" y="107268"/>
                  <a:pt x="49895" y="105445"/>
                </a:cubicBezTo>
                <a:lnTo>
                  <a:pt x="39588" y="99492"/>
                </a:lnTo>
                <a:lnTo>
                  <a:pt x="25710" y="123527"/>
                </a:lnTo>
                <a:cubicBezTo>
                  <a:pt x="17673" y="137406"/>
                  <a:pt x="27719" y="154781"/>
                  <a:pt x="43755" y="154781"/>
                </a:cubicBezTo>
                <a:lnTo>
                  <a:pt x="47699" y="154781"/>
                </a:lnTo>
                <a:cubicBezTo>
                  <a:pt x="54285" y="154781"/>
                  <a:pt x="59606" y="160102"/>
                  <a:pt x="59606" y="166688"/>
                </a:cubicBezTo>
                <a:cubicBezTo>
                  <a:pt x="59606" y="173273"/>
                  <a:pt x="54285" y="178594"/>
                  <a:pt x="47699" y="178594"/>
                </a:cubicBezTo>
                <a:lnTo>
                  <a:pt x="43755" y="178594"/>
                </a:lnTo>
                <a:cubicBezTo>
                  <a:pt x="9413" y="178594"/>
                  <a:pt x="-12055" y="141387"/>
                  <a:pt x="5135" y="111621"/>
                </a:cubicBezTo>
                <a:lnTo>
                  <a:pt x="18976" y="87585"/>
                </a:lnTo>
                <a:close/>
              </a:path>
            </a:pathLst>
          </a:custGeom>
          <a:solidFill>
            <a:srgbClr val="E6B450"/>
          </a:solidFill>
        </p:spPr>
      </p:sp>
      <p:sp>
        <p:nvSpPr>
          <p:cNvPr id="24" name="Text 22"/>
          <p:cNvSpPr/>
          <p:nvPr/>
        </p:nvSpPr>
        <p:spPr>
          <a:xfrm>
            <a:off x="904875" y="5329935"/>
            <a:ext cx="2317750"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递归表达</a:t>
            </a:r>
            <a:endParaRPr lang="en-US" dirty="0"/>
          </a:p>
        </p:txBody>
      </p:sp>
      <p:sp>
        <p:nvSpPr>
          <p:cNvPr id="25" name="Text 23"/>
          <p:cNvSpPr/>
          <p:nvPr/>
        </p:nvSpPr>
        <p:spPr>
          <a:xfrm>
            <a:off x="904875" y="5679185"/>
            <a:ext cx="3333750" cy="23018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n次贝塞尔曲线可由如下递归表达：</a:t>
            </a:r>
            <a:endParaRPr lang="en-US" sz="2400" dirty="0"/>
          </a:p>
        </p:txBody>
      </p:sp>
      <p:sp>
        <p:nvSpPr>
          <p:cNvPr id="26" name="Shape 24"/>
          <p:cNvSpPr/>
          <p:nvPr/>
        </p:nvSpPr>
        <p:spPr>
          <a:xfrm>
            <a:off x="942181" y="6056216"/>
            <a:ext cx="3510756" cy="513918"/>
          </a:xfrm>
          <a:custGeom>
            <a:avLst/>
            <a:gdLst/>
            <a:ahLst/>
            <a:cxnLst/>
            <a:rect l="l" t="t" r="r" b="b"/>
            <a:pathLst>
              <a:path w="2214563" h="706438">
                <a:moveTo>
                  <a:pt x="63502" y="0"/>
                </a:moveTo>
                <a:lnTo>
                  <a:pt x="2151061" y="0"/>
                </a:lnTo>
                <a:cubicBezTo>
                  <a:pt x="2186132" y="0"/>
                  <a:pt x="2214563" y="28431"/>
                  <a:pt x="2214563" y="63502"/>
                </a:cubicBezTo>
                <a:lnTo>
                  <a:pt x="2214563" y="642936"/>
                </a:lnTo>
                <a:cubicBezTo>
                  <a:pt x="2214563" y="678007"/>
                  <a:pt x="2186132" y="706438"/>
                  <a:pt x="2151061" y="706438"/>
                </a:cubicBezTo>
                <a:lnTo>
                  <a:pt x="63502" y="706438"/>
                </a:lnTo>
                <a:cubicBezTo>
                  <a:pt x="28431" y="706438"/>
                  <a:pt x="0" y="678007"/>
                  <a:pt x="0" y="642936"/>
                </a:cubicBezTo>
                <a:lnTo>
                  <a:pt x="0" y="63502"/>
                </a:lnTo>
                <a:cubicBezTo>
                  <a:pt x="0" y="28431"/>
                  <a:pt x="28431" y="0"/>
                  <a:pt x="63502" y="0"/>
                </a:cubicBezTo>
                <a:close/>
              </a:path>
            </a:pathLst>
          </a:custGeom>
          <a:solidFill>
            <a:srgbClr val="E6B450">
              <a:alpha val="10196"/>
            </a:srgbClr>
          </a:solidFill>
          <a:ln w="12700">
            <a:solidFill>
              <a:srgbClr val="E6B450">
                <a:alpha val="30196"/>
              </a:srgbClr>
            </a:solidFill>
            <a:prstDash val="solid"/>
          </a:ln>
        </p:spPr>
      </p:sp>
      <p:sp>
        <p:nvSpPr>
          <p:cNvPr id="29" name="Shape 27"/>
          <p:cNvSpPr/>
          <p:nvPr/>
        </p:nvSpPr>
        <p:spPr>
          <a:xfrm>
            <a:off x="8830469" y="1621775"/>
            <a:ext cx="3040063" cy="5014552"/>
          </a:xfrm>
          <a:custGeom>
            <a:avLst/>
            <a:gdLst/>
            <a:ahLst/>
            <a:cxnLst/>
            <a:rect l="l" t="t" r="r" b="b"/>
            <a:pathLst>
              <a:path w="3040063" h="5762625">
                <a:moveTo>
                  <a:pt x="95245" y="0"/>
                </a:moveTo>
                <a:lnTo>
                  <a:pt x="2944817" y="0"/>
                </a:lnTo>
                <a:cubicBezTo>
                  <a:pt x="2997420" y="0"/>
                  <a:pt x="3040063" y="42643"/>
                  <a:pt x="3040063" y="95245"/>
                </a:cubicBezTo>
                <a:lnTo>
                  <a:pt x="3040063" y="5667380"/>
                </a:lnTo>
                <a:cubicBezTo>
                  <a:pt x="3040063" y="5719982"/>
                  <a:pt x="2997420" y="5762625"/>
                  <a:pt x="2944817" y="5762625"/>
                </a:cubicBezTo>
                <a:lnTo>
                  <a:pt x="95245" y="5762625"/>
                </a:lnTo>
                <a:cubicBezTo>
                  <a:pt x="42643" y="5762625"/>
                  <a:pt x="0" y="5719982"/>
                  <a:pt x="0" y="5667380"/>
                </a:cubicBezTo>
                <a:lnTo>
                  <a:pt x="0" y="95245"/>
                </a:lnTo>
                <a:cubicBezTo>
                  <a:pt x="0" y="42678"/>
                  <a:pt x="42678" y="0"/>
                  <a:pt x="95245" y="0"/>
                </a:cubicBezTo>
                <a:close/>
              </a:path>
            </a:pathLst>
          </a:custGeom>
          <a:solidFill>
            <a:srgbClr val="E6B450">
              <a:alpha val="10196"/>
            </a:srgbClr>
          </a:solidFill>
          <a:ln w="12700">
            <a:solidFill>
              <a:srgbClr val="E6B450">
                <a:alpha val="30196"/>
              </a:srgbClr>
            </a:solidFill>
            <a:prstDash val="solid"/>
          </a:ln>
        </p:spPr>
      </p:sp>
      <p:sp>
        <p:nvSpPr>
          <p:cNvPr id="30" name="Shape 28"/>
          <p:cNvSpPr/>
          <p:nvPr/>
        </p:nvSpPr>
        <p:spPr>
          <a:xfrm>
            <a:off x="8903758" y="1847994"/>
            <a:ext cx="158750" cy="158750"/>
          </a:xfrm>
          <a:custGeom>
            <a:avLst/>
            <a:gdLst/>
            <a:ahLst/>
            <a:cxnLst/>
            <a:rect l="l" t="t" r="r" b="b"/>
            <a:pathLst>
              <a:path w="158750" h="158750">
                <a:moveTo>
                  <a:pt x="72089" y="1612"/>
                </a:moveTo>
                <a:cubicBezTo>
                  <a:pt x="76708" y="-527"/>
                  <a:pt x="82042" y="-527"/>
                  <a:pt x="86661" y="1612"/>
                </a:cubicBezTo>
                <a:lnTo>
                  <a:pt x="154440" y="32928"/>
                </a:lnTo>
                <a:cubicBezTo>
                  <a:pt x="157076" y="34137"/>
                  <a:pt x="158750" y="36773"/>
                  <a:pt x="158750" y="39688"/>
                </a:cubicBezTo>
                <a:cubicBezTo>
                  <a:pt x="158750" y="42602"/>
                  <a:pt x="157076" y="45238"/>
                  <a:pt x="154440" y="46447"/>
                </a:cubicBezTo>
                <a:lnTo>
                  <a:pt x="86661" y="77763"/>
                </a:lnTo>
                <a:cubicBezTo>
                  <a:pt x="82042" y="79902"/>
                  <a:pt x="76708" y="79902"/>
                  <a:pt x="72089" y="77763"/>
                </a:cubicBezTo>
                <a:lnTo>
                  <a:pt x="4310" y="46447"/>
                </a:lnTo>
                <a:cubicBezTo>
                  <a:pt x="1674" y="45207"/>
                  <a:pt x="0" y="42571"/>
                  <a:pt x="0" y="39688"/>
                </a:cubicBezTo>
                <a:cubicBezTo>
                  <a:pt x="0" y="36804"/>
                  <a:pt x="1674" y="34137"/>
                  <a:pt x="4310" y="32928"/>
                </a:cubicBezTo>
                <a:lnTo>
                  <a:pt x="72089" y="1612"/>
                </a:lnTo>
                <a:close/>
                <a:moveTo>
                  <a:pt x="14914" y="67717"/>
                </a:moveTo>
                <a:lnTo>
                  <a:pt x="65856" y="91250"/>
                </a:lnTo>
                <a:cubicBezTo>
                  <a:pt x="74445" y="95219"/>
                  <a:pt x="84336" y="95219"/>
                  <a:pt x="92925" y="91250"/>
                </a:cubicBezTo>
                <a:lnTo>
                  <a:pt x="143867" y="67717"/>
                </a:lnTo>
                <a:lnTo>
                  <a:pt x="154440" y="72616"/>
                </a:lnTo>
                <a:cubicBezTo>
                  <a:pt x="157076" y="73825"/>
                  <a:pt x="158750" y="76460"/>
                  <a:pt x="158750" y="79375"/>
                </a:cubicBezTo>
                <a:cubicBezTo>
                  <a:pt x="158750" y="82290"/>
                  <a:pt x="157076" y="84925"/>
                  <a:pt x="154440" y="86134"/>
                </a:cubicBezTo>
                <a:lnTo>
                  <a:pt x="86661" y="117450"/>
                </a:lnTo>
                <a:cubicBezTo>
                  <a:pt x="82042" y="119590"/>
                  <a:pt x="76708" y="119590"/>
                  <a:pt x="72089" y="117450"/>
                </a:cubicBezTo>
                <a:lnTo>
                  <a:pt x="4310" y="86134"/>
                </a:lnTo>
                <a:cubicBezTo>
                  <a:pt x="1674" y="84894"/>
                  <a:pt x="0" y="82259"/>
                  <a:pt x="0" y="79375"/>
                </a:cubicBezTo>
                <a:cubicBezTo>
                  <a:pt x="0" y="76491"/>
                  <a:pt x="1674" y="73825"/>
                  <a:pt x="4310" y="72616"/>
                </a:cubicBezTo>
                <a:lnTo>
                  <a:pt x="14883" y="67717"/>
                </a:lnTo>
                <a:close/>
                <a:moveTo>
                  <a:pt x="4310" y="112303"/>
                </a:moveTo>
                <a:lnTo>
                  <a:pt x="14883" y="107404"/>
                </a:lnTo>
                <a:lnTo>
                  <a:pt x="65825" y="130938"/>
                </a:lnTo>
                <a:cubicBezTo>
                  <a:pt x="74414" y="134906"/>
                  <a:pt x="84305" y="134906"/>
                  <a:pt x="92894" y="130938"/>
                </a:cubicBezTo>
                <a:lnTo>
                  <a:pt x="143836" y="107404"/>
                </a:lnTo>
                <a:lnTo>
                  <a:pt x="154409" y="112303"/>
                </a:lnTo>
                <a:cubicBezTo>
                  <a:pt x="157045" y="113512"/>
                  <a:pt x="158719" y="116148"/>
                  <a:pt x="158719" y="119062"/>
                </a:cubicBezTo>
                <a:cubicBezTo>
                  <a:pt x="158719" y="121977"/>
                  <a:pt x="157045" y="124613"/>
                  <a:pt x="154409" y="125822"/>
                </a:cubicBezTo>
                <a:lnTo>
                  <a:pt x="86630" y="157138"/>
                </a:lnTo>
                <a:cubicBezTo>
                  <a:pt x="82010" y="159277"/>
                  <a:pt x="76677" y="159277"/>
                  <a:pt x="72058" y="157138"/>
                </a:cubicBezTo>
                <a:lnTo>
                  <a:pt x="4310" y="125822"/>
                </a:lnTo>
                <a:cubicBezTo>
                  <a:pt x="1674" y="124582"/>
                  <a:pt x="0" y="121946"/>
                  <a:pt x="0" y="119062"/>
                </a:cubicBezTo>
                <a:cubicBezTo>
                  <a:pt x="0" y="116179"/>
                  <a:pt x="1674" y="113512"/>
                  <a:pt x="4310" y="112303"/>
                </a:cubicBezTo>
                <a:close/>
              </a:path>
            </a:pathLst>
          </a:custGeom>
          <a:solidFill>
            <a:srgbClr val="E6B450"/>
          </a:solidFill>
        </p:spPr>
      </p:sp>
      <p:sp>
        <p:nvSpPr>
          <p:cNvPr id="31" name="Text 29"/>
          <p:cNvSpPr/>
          <p:nvPr/>
        </p:nvSpPr>
        <p:spPr>
          <a:xfrm>
            <a:off x="9223375" y="1816244"/>
            <a:ext cx="2532063" cy="222250"/>
          </a:xfrm>
          <a:prstGeom prst="rect">
            <a:avLst/>
          </a:prstGeom>
          <a:noFill/>
        </p:spPr>
        <p:txBody>
          <a:bodyPr wrap="square" lIns="0" tIns="0" rIns="0" bIns="0" rtlCol="0" anchor="ctr"/>
          <a:lstStyle/>
          <a:p>
            <a:pPr>
              <a:lnSpc>
                <a:spcPct val="12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高阶贝塞尔曲线</a:t>
            </a:r>
            <a:endParaRPr lang="en-US" sz="2000" dirty="0"/>
          </a:p>
        </p:txBody>
      </p:sp>
      <p:grpSp>
        <p:nvGrpSpPr>
          <p:cNvPr id="48" name="组合 47">
            <a:extLst>
              <a:ext uri="{FF2B5EF4-FFF2-40B4-BE49-F238E27FC236}">
                <a16:creationId xmlns:a16="http://schemas.microsoft.com/office/drawing/2014/main" id="{573FD59E-6732-1158-9EDE-E249AA14CF5E}"/>
              </a:ext>
            </a:extLst>
          </p:cNvPr>
          <p:cNvGrpSpPr/>
          <p:nvPr/>
        </p:nvGrpSpPr>
        <p:grpSpPr>
          <a:xfrm>
            <a:off x="0" y="939798"/>
            <a:ext cx="5022850" cy="625474"/>
            <a:chOff x="0" y="1075267"/>
            <a:chExt cx="5022850" cy="625474"/>
          </a:xfrm>
        </p:grpSpPr>
        <p:sp>
          <p:nvSpPr>
            <p:cNvPr id="49" name="矩形 48">
              <a:extLst>
                <a:ext uri="{FF2B5EF4-FFF2-40B4-BE49-F238E27FC236}">
                  <a16:creationId xmlns:a16="http://schemas.microsoft.com/office/drawing/2014/main" id="{99C07196-5640-05C6-153F-1925FB71822C}"/>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B7B1CB6D-C128-9B84-85EE-C71636D5EA47}"/>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7.3.2 </a:t>
              </a:r>
              <a:r>
                <a:rPr lang="zh-CN" altLang="en-US" sz="2400" b="1" dirty="0">
                  <a:solidFill>
                    <a:schemeClr val="accent1"/>
                  </a:solidFill>
                  <a:latin typeface="+mj-lt"/>
                </a:rPr>
                <a:t>路径平滑</a:t>
              </a:r>
            </a:p>
          </p:txBody>
        </p:sp>
      </p:grpSp>
      <p:graphicFrame>
        <p:nvGraphicFramePr>
          <p:cNvPr id="52" name="对象 51">
            <a:extLst>
              <a:ext uri="{FF2B5EF4-FFF2-40B4-BE49-F238E27FC236}">
                <a16:creationId xmlns:a16="http://schemas.microsoft.com/office/drawing/2014/main" id="{3BCB2B46-9DBE-6545-AE1E-CD20BE95EDA8}"/>
              </a:ext>
            </a:extLst>
          </p:cNvPr>
          <p:cNvGraphicFramePr>
            <a:graphicFrameLocks noChangeAspect="1"/>
          </p:cNvGraphicFramePr>
          <p:nvPr>
            <p:extLst>
              <p:ext uri="{D42A27DB-BD31-4B8C-83A1-F6EECF244321}">
                <p14:modId xmlns:p14="http://schemas.microsoft.com/office/powerpoint/2010/main" val="1840762912"/>
              </p:ext>
            </p:extLst>
          </p:nvPr>
        </p:nvGraphicFramePr>
        <p:xfrm>
          <a:off x="1097946" y="2418743"/>
          <a:ext cx="5148532" cy="373856"/>
        </p:xfrm>
        <a:graphic>
          <a:graphicData uri="http://schemas.openxmlformats.org/presentationml/2006/ole">
            <mc:AlternateContent xmlns:mc="http://schemas.openxmlformats.org/markup-compatibility/2006">
              <mc:Choice xmlns:v="urn:schemas-microsoft-com:vml" Requires="v">
                <p:oleObj name="Equation" r:id="rId3" imgW="3060700" imgH="215900" progId="Equation.DSMT4">
                  <p:embed/>
                </p:oleObj>
              </mc:Choice>
              <mc:Fallback>
                <p:oleObj name="Equation" r:id="rId3" imgW="3060700" imgH="215900" progId="Equation.DSMT4">
                  <p:embed/>
                  <p:pic>
                    <p:nvPicPr>
                      <p:cNvPr id="52" name="对象 51">
                        <a:extLst>
                          <a:ext uri="{FF2B5EF4-FFF2-40B4-BE49-F238E27FC236}">
                            <a16:creationId xmlns:a16="http://schemas.microsoft.com/office/drawing/2014/main" id="{3BCB2B46-9DBE-6545-AE1E-CD20BE95ED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7946" y="2418743"/>
                        <a:ext cx="5148532" cy="373856"/>
                      </a:xfrm>
                      <a:prstGeom prst="rect">
                        <a:avLst/>
                      </a:prstGeom>
                      <a:noFill/>
                    </p:spPr>
                  </p:pic>
                </p:oleObj>
              </mc:Fallback>
            </mc:AlternateContent>
          </a:graphicData>
        </a:graphic>
      </p:graphicFrame>
      <p:graphicFrame>
        <p:nvGraphicFramePr>
          <p:cNvPr id="54" name="对象 53">
            <a:extLst>
              <a:ext uri="{FF2B5EF4-FFF2-40B4-BE49-F238E27FC236}">
                <a16:creationId xmlns:a16="http://schemas.microsoft.com/office/drawing/2014/main" id="{BB1FB9D5-C437-42AD-6DC8-A0F84FE6BE57}"/>
              </a:ext>
            </a:extLst>
          </p:cNvPr>
          <p:cNvGraphicFramePr>
            <a:graphicFrameLocks noChangeAspect="1"/>
          </p:cNvGraphicFramePr>
          <p:nvPr>
            <p:extLst>
              <p:ext uri="{D42A27DB-BD31-4B8C-83A1-F6EECF244321}">
                <p14:modId xmlns:p14="http://schemas.microsoft.com/office/powerpoint/2010/main" val="951743332"/>
              </p:ext>
            </p:extLst>
          </p:nvPr>
        </p:nvGraphicFramePr>
        <p:xfrm>
          <a:off x="1155525" y="3832298"/>
          <a:ext cx="6594824" cy="1141412"/>
        </p:xfrm>
        <a:graphic>
          <a:graphicData uri="http://schemas.openxmlformats.org/presentationml/2006/ole">
            <mc:AlternateContent xmlns:mc="http://schemas.openxmlformats.org/markup-compatibility/2006">
              <mc:Choice xmlns:v="urn:schemas-microsoft-com:vml" Requires="v">
                <p:oleObj name="Equation" r:id="rId5" imgW="4610100" imgH="800100" progId="Equation.DSMT4">
                  <p:embed/>
                </p:oleObj>
              </mc:Choice>
              <mc:Fallback>
                <p:oleObj name="Equation" r:id="rId5" imgW="4610100" imgH="800100" progId="Equation.DSMT4">
                  <p:embed/>
                  <p:pic>
                    <p:nvPicPr>
                      <p:cNvPr id="54" name="对象 53">
                        <a:extLst>
                          <a:ext uri="{FF2B5EF4-FFF2-40B4-BE49-F238E27FC236}">
                            <a16:creationId xmlns:a16="http://schemas.microsoft.com/office/drawing/2014/main" id="{BB1FB9D5-C437-42AD-6DC8-A0F84FE6BE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5525" y="3832298"/>
                        <a:ext cx="6594824" cy="1141412"/>
                      </a:xfrm>
                      <a:prstGeom prst="rect">
                        <a:avLst/>
                      </a:prstGeom>
                      <a:noFill/>
                    </p:spPr>
                  </p:pic>
                </p:oleObj>
              </mc:Fallback>
            </mc:AlternateContent>
          </a:graphicData>
        </a:graphic>
      </p:graphicFrame>
      <p:graphicFrame>
        <p:nvGraphicFramePr>
          <p:cNvPr id="56" name="对象 55">
            <a:extLst>
              <a:ext uri="{FF2B5EF4-FFF2-40B4-BE49-F238E27FC236}">
                <a16:creationId xmlns:a16="http://schemas.microsoft.com/office/drawing/2014/main" id="{5F4DFC3D-F44B-25B8-63EE-6DC06F5D0D06}"/>
              </a:ext>
            </a:extLst>
          </p:cNvPr>
          <p:cNvGraphicFramePr>
            <a:graphicFrameLocks noChangeAspect="1"/>
          </p:cNvGraphicFramePr>
          <p:nvPr>
            <p:extLst>
              <p:ext uri="{D42A27DB-BD31-4B8C-83A1-F6EECF244321}">
                <p14:modId xmlns:p14="http://schemas.microsoft.com/office/powerpoint/2010/main" val="2987495116"/>
              </p:ext>
            </p:extLst>
          </p:nvPr>
        </p:nvGraphicFramePr>
        <p:xfrm>
          <a:off x="1150820" y="6071376"/>
          <a:ext cx="2832260" cy="374072"/>
        </p:xfrm>
        <a:graphic>
          <a:graphicData uri="http://schemas.openxmlformats.org/presentationml/2006/ole">
            <mc:AlternateContent xmlns:mc="http://schemas.openxmlformats.org/markup-compatibility/2006">
              <mc:Choice xmlns:v="urn:schemas-microsoft-com:vml" Requires="v">
                <p:oleObj name="Equation" r:id="rId7" imgW="1688367" imgH="215806" progId="Equation.DSMT4">
                  <p:embed/>
                </p:oleObj>
              </mc:Choice>
              <mc:Fallback>
                <p:oleObj name="Equation" r:id="rId7" imgW="1688367" imgH="215806" progId="Equation.DSMT4">
                  <p:embed/>
                  <p:pic>
                    <p:nvPicPr>
                      <p:cNvPr id="56" name="对象 55">
                        <a:extLst>
                          <a:ext uri="{FF2B5EF4-FFF2-40B4-BE49-F238E27FC236}">
                            <a16:creationId xmlns:a16="http://schemas.microsoft.com/office/drawing/2014/main" id="{5F4DFC3D-F44B-25B8-63EE-6DC06F5D0D0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0820" y="6071376"/>
                        <a:ext cx="2832260" cy="374072"/>
                      </a:xfrm>
                      <a:prstGeom prst="rect">
                        <a:avLst/>
                      </a:prstGeom>
                      <a:noFill/>
                    </p:spPr>
                  </p:pic>
                </p:oleObj>
              </mc:Fallback>
            </mc:AlternateContent>
          </a:graphicData>
        </a:graphic>
      </p:graphicFrame>
      <p:pic>
        <p:nvPicPr>
          <p:cNvPr id="58" name="图片 57">
            <a:extLst>
              <a:ext uri="{FF2B5EF4-FFF2-40B4-BE49-F238E27FC236}">
                <a16:creationId xmlns:a16="http://schemas.microsoft.com/office/drawing/2014/main" id="{A18BC64F-2281-02F6-E376-BF767E9219B4}"/>
              </a:ext>
            </a:extLst>
          </p:cNvPr>
          <p:cNvPicPr>
            <a:picLocks noChangeAspect="1"/>
          </p:cNvPicPr>
          <p:nvPr/>
        </p:nvPicPr>
        <p:blipFill>
          <a:blip r:embed="rId9">
            <a:clrChange>
              <a:clrFrom>
                <a:srgbClr val="FEFEFE"/>
              </a:clrFrom>
              <a:clrTo>
                <a:srgbClr val="FEFEFE">
                  <a:alpha val="0"/>
                </a:srgbClr>
              </a:clrTo>
            </a:clrChange>
          </a:blip>
          <a:srcRect l="8740"/>
          <a:stretch>
            <a:fillRect/>
          </a:stretch>
        </p:blipFill>
        <p:spPr>
          <a:xfrm>
            <a:off x="9156483" y="2210914"/>
            <a:ext cx="2709069" cy="4286251"/>
          </a:xfrm>
          <a:prstGeom prst="rect">
            <a:avLst/>
          </a:prstGeom>
        </p:spPr>
      </p:pic>
      <p:sp>
        <p:nvSpPr>
          <p:cNvPr id="2" name="文本框 1">
            <a:extLst>
              <a:ext uri="{FF2B5EF4-FFF2-40B4-BE49-F238E27FC236}">
                <a16:creationId xmlns:a16="http://schemas.microsoft.com/office/drawing/2014/main" id="{E860E1A6-A3A6-758F-4474-4A659025AA63}"/>
              </a:ext>
            </a:extLst>
          </p:cNvPr>
          <p:cNvSpPr txBox="1"/>
          <p:nvPr/>
        </p:nvSpPr>
        <p:spPr>
          <a:xfrm>
            <a:off x="8903758" y="2242274"/>
            <a:ext cx="245798" cy="584775"/>
          </a:xfrm>
          <a:prstGeom prst="rect">
            <a:avLst/>
          </a:prstGeom>
          <a:noFill/>
        </p:spPr>
        <p:txBody>
          <a:bodyPr wrap="square" rtlCol="0">
            <a:spAutoFit/>
          </a:bodyPr>
          <a:lstStyle/>
          <a:p>
            <a:r>
              <a:rPr lang="zh-CN" altLang="en-US" sz="1600" dirty="0"/>
              <a:t>三阶</a:t>
            </a:r>
          </a:p>
        </p:txBody>
      </p:sp>
      <p:sp>
        <p:nvSpPr>
          <p:cNvPr id="3" name="文本框 2">
            <a:extLst>
              <a:ext uri="{FF2B5EF4-FFF2-40B4-BE49-F238E27FC236}">
                <a16:creationId xmlns:a16="http://schemas.microsoft.com/office/drawing/2014/main" id="{37BB7C8B-5373-F6B3-97B3-9CF56E6780EF}"/>
              </a:ext>
            </a:extLst>
          </p:cNvPr>
          <p:cNvSpPr txBox="1"/>
          <p:nvPr/>
        </p:nvSpPr>
        <p:spPr>
          <a:xfrm>
            <a:off x="8903758" y="3395849"/>
            <a:ext cx="245798" cy="584775"/>
          </a:xfrm>
          <a:prstGeom prst="rect">
            <a:avLst/>
          </a:prstGeom>
          <a:noFill/>
        </p:spPr>
        <p:txBody>
          <a:bodyPr wrap="square" rtlCol="0">
            <a:spAutoFit/>
          </a:bodyPr>
          <a:lstStyle/>
          <a:p>
            <a:r>
              <a:rPr lang="zh-CN" altLang="en-US" sz="1600" dirty="0"/>
              <a:t>四阶</a:t>
            </a:r>
          </a:p>
        </p:txBody>
      </p:sp>
      <p:sp>
        <p:nvSpPr>
          <p:cNvPr id="4" name="文本框 3">
            <a:extLst>
              <a:ext uri="{FF2B5EF4-FFF2-40B4-BE49-F238E27FC236}">
                <a16:creationId xmlns:a16="http://schemas.microsoft.com/office/drawing/2014/main" id="{D895F748-E0D9-F4F7-A4A0-CB5700AFFBAF}"/>
              </a:ext>
            </a:extLst>
          </p:cNvPr>
          <p:cNvSpPr txBox="1"/>
          <p:nvPr/>
        </p:nvSpPr>
        <p:spPr>
          <a:xfrm>
            <a:off x="8903758" y="4931715"/>
            <a:ext cx="245798" cy="584775"/>
          </a:xfrm>
          <a:prstGeom prst="rect">
            <a:avLst/>
          </a:prstGeom>
          <a:noFill/>
        </p:spPr>
        <p:txBody>
          <a:bodyPr wrap="square" rtlCol="0">
            <a:spAutoFit/>
          </a:bodyPr>
          <a:lstStyle/>
          <a:p>
            <a:r>
              <a:rPr lang="zh-CN" altLang="en-US" sz="1600" dirty="0"/>
              <a:t>五阶</a:t>
            </a:r>
          </a:p>
        </p:txBody>
      </p:sp>
    </p:spTree>
    <p:extLst>
      <p:ext uri="{BB962C8B-B14F-4D97-AF65-F5344CB8AC3E}">
        <p14:creationId xmlns:p14="http://schemas.microsoft.com/office/powerpoint/2010/main" val="1713039915"/>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41376" y="1680187"/>
            <a:ext cx="8144256" cy="1729510"/>
          </a:xfrm>
          <a:custGeom>
            <a:avLst/>
            <a:gdLst/>
            <a:ahLst/>
            <a:cxnLst/>
            <a:rect l="l" t="t" r="r" b="b"/>
            <a:pathLst>
              <a:path w="8144256" h="1227328">
                <a:moveTo>
                  <a:pt x="32512" y="0"/>
                </a:moveTo>
                <a:lnTo>
                  <a:pt x="8046720" y="0"/>
                </a:lnTo>
                <a:cubicBezTo>
                  <a:pt x="8100588" y="0"/>
                  <a:pt x="8144256" y="43668"/>
                  <a:pt x="8144256" y="97536"/>
                </a:cubicBezTo>
                <a:lnTo>
                  <a:pt x="8144256" y="1129792"/>
                </a:lnTo>
                <a:cubicBezTo>
                  <a:pt x="8144256" y="1183660"/>
                  <a:pt x="8100588" y="1227328"/>
                  <a:pt x="8046720" y="1227328"/>
                </a:cubicBezTo>
                <a:lnTo>
                  <a:pt x="32512" y="1227328"/>
                </a:lnTo>
                <a:cubicBezTo>
                  <a:pt x="14556" y="1227328"/>
                  <a:pt x="0" y="1212772"/>
                  <a:pt x="0" y="1194816"/>
                </a:cubicBezTo>
                <a:lnTo>
                  <a:pt x="0" y="32512"/>
                </a:lnTo>
                <a:cubicBezTo>
                  <a:pt x="0" y="14556"/>
                  <a:pt x="14556" y="0"/>
                  <a:pt x="32512" y="0"/>
                </a:cubicBezTo>
                <a:close/>
              </a:path>
            </a:pathLst>
          </a:custGeom>
          <a:solidFill>
            <a:srgbClr val="5F87A7">
              <a:alpha val="10196"/>
            </a:srgbClr>
          </a:solidFill>
        </p:spPr>
      </p:sp>
      <p:sp>
        <p:nvSpPr>
          <p:cNvPr id="6" name="Shape 4"/>
          <p:cNvSpPr/>
          <p:nvPr/>
        </p:nvSpPr>
        <p:spPr>
          <a:xfrm>
            <a:off x="341376" y="1680187"/>
            <a:ext cx="32512" cy="1729510"/>
          </a:xfrm>
          <a:custGeom>
            <a:avLst/>
            <a:gdLst/>
            <a:ahLst/>
            <a:cxnLst/>
            <a:rect l="l" t="t" r="r" b="b"/>
            <a:pathLst>
              <a:path w="32512" h="1227328">
                <a:moveTo>
                  <a:pt x="32512" y="0"/>
                </a:moveTo>
                <a:lnTo>
                  <a:pt x="32512" y="0"/>
                </a:lnTo>
                <a:lnTo>
                  <a:pt x="32512" y="1227328"/>
                </a:lnTo>
                <a:lnTo>
                  <a:pt x="32512" y="1227328"/>
                </a:lnTo>
                <a:cubicBezTo>
                  <a:pt x="14556" y="1227328"/>
                  <a:pt x="0" y="1212772"/>
                  <a:pt x="0" y="1194816"/>
                </a:cubicBezTo>
                <a:lnTo>
                  <a:pt x="0" y="32512"/>
                </a:lnTo>
                <a:cubicBezTo>
                  <a:pt x="0" y="14568"/>
                  <a:pt x="14568" y="0"/>
                  <a:pt x="32512" y="0"/>
                </a:cubicBezTo>
                <a:close/>
              </a:path>
            </a:pathLst>
          </a:custGeom>
          <a:solidFill>
            <a:srgbClr val="E6B450"/>
          </a:solidFill>
        </p:spPr>
      </p:sp>
      <p:sp>
        <p:nvSpPr>
          <p:cNvPr id="7" name="Shape 5"/>
          <p:cNvSpPr/>
          <p:nvPr/>
        </p:nvSpPr>
        <p:spPr>
          <a:xfrm>
            <a:off x="536448" y="1907771"/>
            <a:ext cx="170688" cy="195072"/>
          </a:xfrm>
          <a:custGeom>
            <a:avLst/>
            <a:gdLst/>
            <a:ahLst/>
            <a:cxnLst/>
            <a:rect l="l" t="t" r="r" b="b"/>
            <a:pathLst>
              <a:path w="170688" h="195072">
                <a:moveTo>
                  <a:pt x="146304" y="195072"/>
                </a:moveTo>
                <a:lnTo>
                  <a:pt x="36576" y="195072"/>
                </a:lnTo>
                <a:cubicBezTo>
                  <a:pt x="16383" y="195072"/>
                  <a:pt x="0" y="178689"/>
                  <a:pt x="0" y="158496"/>
                </a:cubicBezTo>
                <a:lnTo>
                  <a:pt x="0" y="36576"/>
                </a:lnTo>
                <a:cubicBezTo>
                  <a:pt x="0" y="16383"/>
                  <a:pt x="16383" y="0"/>
                  <a:pt x="36576" y="0"/>
                </a:cubicBezTo>
                <a:lnTo>
                  <a:pt x="152400" y="0"/>
                </a:lnTo>
                <a:cubicBezTo>
                  <a:pt x="162496" y="0"/>
                  <a:pt x="170688" y="8191"/>
                  <a:pt x="170688" y="18288"/>
                </a:cubicBezTo>
                <a:lnTo>
                  <a:pt x="170688" y="128016"/>
                </a:lnTo>
                <a:cubicBezTo>
                  <a:pt x="170688" y="135979"/>
                  <a:pt x="165583" y="142761"/>
                  <a:pt x="158496" y="145275"/>
                </a:cubicBezTo>
                <a:lnTo>
                  <a:pt x="158496" y="170688"/>
                </a:lnTo>
                <a:cubicBezTo>
                  <a:pt x="165240" y="170688"/>
                  <a:pt x="170688" y="176136"/>
                  <a:pt x="170688" y="182880"/>
                </a:cubicBezTo>
                <a:cubicBezTo>
                  <a:pt x="170688" y="189624"/>
                  <a:pt x="165240" y="195072"/>
                  <a:pt x="158496" y="195072"/>
                </a:cubicBezTo>
                <a:lnTo>
                  <a:pt x="146304" y="195072"/>
                </a:lnTo>
                <a:close/>
                <a:moveTo>
                  <a:pt x="36576" y="146304"/>
                </a:moveTo>
                <a:cubicBezTo>
                  <a:pt x="29832" y="146304"/>
                  <a:pt x="24384" y="151752"/>
                  <a:pt x="24384" y="158496"/>
                </a:cubicBezTo>
                <a:cubicBezTo>
                  <a:pt x="24384" y="165240"/>
                  <a:pt x="29832" y="170688"/>
                  <a:pt x="36576" y="170688"/>
                </a:cubicBezTo>
                <a:lnTo>
                  <a:pt x="134112" y="170688"/>
                </a:lnTo>
                <a:lnTo>
                  <a:pt x="134112" y="146304"/>
                </a:lnTo>
                <a:lnTo>
                  <a:pt x="36576" y="146304"/>
                </a:lnTo>
                <a:close/>
                <a:moveTo>
                  <a:pt x="48768" y="57912"/>
                </a:moveTo>
                <a:cubicBezTo>
                  <a:pt x="48768" y="62979"/>
                  <a:pt x="52845" y="67056"/>
                  <a:pt x="57912" y="67056"/>
                </a:cubicBezTo>
                <a:lnTo>
                  <a:pt x="124968" y="67056"/>
                </a:lnTo>
                <a:cubicBezTo>
                  <a:pt x="130035" y="67056"/>
                  <a:pt x="134112" y="62979"/>
                  <a:pt x="134112" y="57912"/>
                </a:cubicBezTo>
                <a:cubicBezTo>
                  <a:pt x="134112" y="52845"/>
                  <a:pt x="130035" y="48768"/>
                  <a:pt x="124968" y="48768"/>
                </a:cubicBezTo>
                <a:lnTo>
                  <a:pt x="57912" y="48768"/>
                </a:lnTo>
                <a:cubicBezTo>
                  <a:pt x="52845" y="48768"/>
                  <a:pt x="48768" y="52845"/>
                  <a:pt x="48768" y="57912"/>
                </a:cubicBezTo>
                <a:close/>
                <a:moveTo>
                  <a:pt x="57912" y="85344"/>
                </a:moveTo>
                <a:cubicBezTo>
                  <a:pt x="52845" y="85344"/>
                  <a:pt x="48768" y="89421"/>
                  <a:pt x="48768" y="94488"/>
                </a:cubicBezTo>
                <a:cubicBezTo>
                  <a:pt x="48768" y="99555"/>
                  <a:pt x="52845" y="103632"/>
                  <a:pt x="57912" y="103632"/>
                </a:cubicBezTo>
                <a:lnTo>
                  <a:pt x="124968" y="103632"/>
                </a:lnTo>
                <a:cubicBezTo>
                  <a:pt x="130035" y="103632"/>
                  <a:pt x="134112" y="99555"/>
                  <a:pt x="134112" y="94488"/>
                </a:cubicBezTo>
                <a:cubicBezTo>
                  <a:pt x="134112" y="89421"/>
                  <a:pt x="130035" y="85344"/>
                  <a:pt x="124968" y="85344"/>
                </a:cubicBezTo>
                <a:lnTo>
                  <a:pt x="57912" y="85344"/>
                </a:lnTo>
                <a:close/>
              </a:path>
            </a:pathLst>
          </a:custGeom>
          <a:solidFill>
            <a:srgbClr val="E6B450"/>
          </a:solidFill>
        </p:spPr>
      </p:sp>
      <p:sp>
        <p:nvSpPr>
          <p:cNvPr id="8" name="Text 6"/>
          <p:cNvSpPr/>
          <p:nvPr/>
        </p:nvSpPr>
        <p:spPr>
          <a:xfrm>
            <a:off x="818769" y="1875259"/>
            <a:ext cx="7575296" cy="260096"/>
          </a:xfrm>
          <a:prstGeom prst="rect">
            <a:avLst/>
          </a:prstGeom>
          <a:noFill/>
        </p:spPr>
        <p:txBody>
          <a:bodyPr wrap="square" lIns="0" tIns="0" rIns="0" bIns="0" rtlCol="0" anchor="ctr"/>
          <a:lstStyle/>
          <a:p>
            <a:pPr>
              <a:lnSpc>
                <a:spcPct val="110000"/>
              </a:lnSpc>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贝塞尔曲线</a:t>
            </a:r>
            <a:r>
              <a:rPr lang="en-US" b="1" dirty="0" err="1">
                <a:latin typeface="微软雅黑" panose="020B0503020204020204" pitchFamily="34" charset="-122"/>
                <a:ea typeface="微软雅黑" panose="020B0503020204020204" pitchFamily="34" charset="-122"/>
                <a:cs typeface="微软雅黑" panose="020B0503020204020204" pitchFamily="34" charset="-122"/>
              </a:rPr>
              <a:t>核心概念</a:t>
            </a:r>
            <a:endParaRPr lang="en-US" sz="2000" dirty="0"/>
          </a:p>
        </p:txBody>
      </p:sp>
      <p:sp>
        <p:nvSpPr>
          <p:cNvPr id="9" name="Text 7"/>
          <p:cNvSpPr/>
          <p:nvPr/>
        </p:nvSpPr>
        <p:spPr>
          <a:xfrm>
            <a:off x="818769" y="2232891"/>
            <a:ext cx="7550912" cy="918464"/>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由上可知，贝塞尔曲线是应用于</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二维图形应用程序</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的数学曲线，由一组称为</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控制点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的向量来确定，给定的控制点按顺序连接构成</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控制多边形 </a:t>
            </a:r>
            <a:r>
              <a:rPr lang="en-US" sz="1600" dirty="0">
                <a:latin typeface="微软雅黑" panose="020B0503020204020204" pitchFamily="34" charset="-122"/>
                <a:ea typeface="微软雅黑" panose="020B0503020204020204" pitchFamily="34" charset="-122"/>
                <a:cs typeface="微软雅黑" panose="020B0503020204020204" pitchFamily="34" charset="-122"/>
              </a:rPr>
              <a:t>，贝塞尔曲线逼近这个多边形，进而通过调整控制点坐标改变曲线的形状。</a:t>
            </a:r>
            <a:endParaRPr lang="en-US" sz="2400" dirty="0"/>
          </a:p>
        </p:txBody>
      </p:sp>
      <p:sp>
        <p:nvSpPr>
          <p:cNvPr id="10" name="Shape 8"/>
          <p:cNvSpPr/>
          <p:nvPr/>
        </p:nvSpPr>
        <p:spPr>
          <a:xfrm>
            <a:off x="341376" y="3507233"/>
            <a:ext cx="8144256" cy="1822426"/>
          </a:xfrm>
          <a:custGeom>
            <a:avLst/>
            <a:gdLst/>
            <a:ahLst/>
            <a:cxnLst/>
            <a:rect l="l" t="t" r="r" b="b"/>
            <a:pathLst>
              <a:path w="8144256" h="1227328">
                <a:moveTo>
                  <a:pt x="32512" y="0"/>
                </a:moveTo>
                <a:lnTo>
                  <a:pt x="8046720" y="0"/>
                </a:lnTo>
                <a:cubicBezTo>
                  <a:pt x="8100588" y="0"/>
                  <a:pt x="8144256" y="43668"/>
                  <a:pt x="8144256" y="97536"/>
                </a:cubicBezTo>
                <a:lnTo>
                  <a:pt x="8144256" y="1129792"/>
                </a:lnTo>
                <a:cubicBezTo>
                  <a:pt x="8144256" y="1183660"/>
                  <a:pt x="8100588" y="1227328"/>
                  <a:pt x="8046720" y="1227328"/>
                </a:cubicBezTo>
                <a:lnTo>
                  <a:pt x="32512" y="1227328"/>
                </a:lnTo>
                <a:cubicBezTo>
                  <a:pt x="14556" y="1227328"/>
                  <a:pt x="0" y="1212772"/>
                  <a:pt x="0" y="1194816"/>
                </a:cubicBezTo>
                <a:lnTo>
                  <a:pt x="0" y="32512"/>
                </a:lnTo>
                <a:cubicBezTo>
                  <a:pt x="0" y="14556"/>
                  <a:pt x="14556" y="0"/>
                  <a:pt x="32512" y="0"/>
                </a:cubicBezTo>
                <a:close/>
              </a:path>
            </a:pathLst>
          </a:custGeom>
          <a:solidFill>
            <a:srgbClr val="5F87A7">
              <a:alpha val="10196"/>
            </a:srgbClr>
          </a:solidFill>
        </p:spPr>
      </p:sp>
      <p:sp>
        <p:nvSpPr>
          <p:cNvPr id="11" name="Shape 9"/>
          <p:cNvSpPr/>
          <p:nvPr/>
        </p:nvSpPr>
        <p:spPr>
          <a:xfrm>
            <a:off x="341376" y="3507233"/>
            <a:ext cx="32512" cy="1822426"/>
          </a:xfrm>
          <a:custGeom>
            <a:avLst/>
            <a:gdLst/>
            <a:ahLst/>
            <a:cxnLst/>
            <a:rect l="l" t="t" r="r" b="b"/>
            <a:pathLst>
              <a:path w="32512" h="1227328">
                <a:moveTo>
                  <a:pt x="32512" y="0"/>
                </a:moveTo>
                <a:lnTo>
                  <a:pt x="32512" y="0"/>
                </a:lnTo>
                <a:lnTo>
                  <a:pt x="32512" y="1227328"/>
                </a:lnTo>
                <a:lnTo>
                  <a:pt x="32512" y="1227328"/>
                </a:lnTo>
                <a:cubicBezTo>
                  <a:pt x="14556" y="1227328"/>
                  <a:pt x="0" y="1212772"/>
                  <a:pt x="0" y="1194816"/>
                </a:cubicBezTo>
                <a:lnTo>
                  <a:pt x="0" y="32512"/>
                </a:lnTo>
                <a:cubicBezTo>
                  <a:pt x="0" y="14568"/>
                  <a:pt x="14568" y="0"/>
                  <a:pt x="32512" y="0"/>
                </a:cubicBezTo>
                <a:close/>
              </a:path>
            </a:pathLst>
          </a:custGeom>
          <a:solidFill>
            <a:srgbClr val="E6B450"/>
          </a:solidFill>
        </p:spPr>
      </p:sp>
      <p:sp>
        <p:nvSpPr>
          <p:cNvPr id="12" name="Shape 10"/>
          <p:cNvSpPr/>
          <p:nvPr/>
        </p:nvSpPr>
        <p:spPr>
          <a:xfrm>
            <a:off x="503936" y="3734817"/>
            <a:ext cx="243840" cy="195072"/>
          </a:xfrm>
          <a:custGeom>
            <a:avLst/>
            <a:gdLst/>
            <a:ahLst/>
            <a:cxnLst/>
            <a:rect l="l" t="t" r="r" b="b"/>
            <a:pathLst>
              <a:path w="243840" h="195072">
                <a:moveTo>
                  <a:pt x="158458" y="80201"/>
                </a:moveTo>
                <a:cubicBezTo>
                  <a:pt x="163106" y="78943"/>
                  <a:pt x="167983" y="81153"/>
                  <a:pt x="170078" y="85458"/>
                </a:cubicBezTo>
                <a:lnTo>
                  <a:pt x="177165" y="99784"/>
                </a:lnTo>
                <a:cubicBezTo>
                  <a:pt x="181089" y="100317"/>
                  <a:pt x="184937" y="101384"/>
                  <a:pt x="188557" y="102870"/>
                </a:cubicBezTo>
                <a:lnTo>
                  <a:pt x="201892" y="93993"/>
                </a:lnTo>
                <a:cubicBezTo>
                  <a:pt x="205892" y="91326"/>
                  <a:pt x="211188" y="91859"/>
                  <a:pt x="214579" y="95250"/>
                </a:cubicBezTo>
                <a:lnTo>
                  <a:pt x="221894" y="102565"/>
                </a:lnTo>
                <a:cubicBezTo>
                  <a:pt x="225285" y="105956"/>
                  <a:pt x="225819" y="111290"/>
                  <a:pt x="223152" y="115253"/>
                </a:cubicBezTo>
                <a:lnTo>
                  <a:pt x="214274" y="128549"/>
                </a:lnTo>
                <a:cubicBezTo>
                  <a:pt x="214998" y="130340"/>
                  <a:pt x="215646" y="132207"/>
                  <a:pt x="216179" y="134150"/>
                </a:cubicBezTo>
                <a:cubicBezTo>
                  <a:pt x="216713" y="136093"/>
                  <a:pt x="217056" y="137998"/>
                  <a:pt x="217322" y="139941"/>
                </a:cubicBezTo>
                <a:lnTo>
                  <a:pt x="231686" y="147028"/>
                </a:lnTo>
                <a:cubicBezTo>
                  <a:pt x="235991" y="149162"/>
                  <a:pt x="238201" y="154038"/>
                  <a:pt x="236944" y="158648"/>
                </a:cubicBezTo>
                <a:lnTo>
                  <a:pt x="234277" y="168631"/>
                </a:lnTo>
                <a:cubicBezTo>
                  <a:pt x="233020" y="173241"/>
                  <a:pt x="228714" y="176365"/>
                  <a:pt x="223914" y="176060"/>
                </a:cubicBezTo>
                <a:lnTo>
                  <a:pt x="207912" y="175031"/>
                </a:lnTo>
                <a:cubicBezTo>
                  <a:pt x="205511" y="178117"/>
                  <a:pt x="202730" y="180975"/>
                  <a:pt x="199568" y="183413"/>
                </a:cubicBezTo>
                <a:lnTo>
                  <a:pt x="200597" y="199377"/>
                </a:lnTo>
                <a:cubicBezTo>
                  <a:pt x="200901" y="204178"/>
                  <a:pt x="197777" y="208521"/>
                  <a:pt x="193167" y="209741"/>
                </a:cubicBezTo>
                <a:lnTo>
                  <a:pt x="183185" y="212407"/>
                </a:lnTo>
                <a:cubicBezTo>
                  <a:pt x="178537" y="213665"/>
                  <a:pt x="173698" y="211455"/>
                  <a:pt x="171564" y="207150"/>
                </a:cubicBezTo>
                <a:lnTo>
                  <a:pt x="164478" y="192824"/>
                </a:lnTo>
                <a:cubicBezTo>
                  <a:pt x="160553" y="192291"/>
                  <a:pt x="156705" y="191224"/>
                  <a:pt x="153086" y="189738"/>
                </a:cubicBezTo>
                <a:lnTo>
                  <a:pt x="139751" y="198615"/>
                </a:lnTo>
                <a:cubicBezTo>
                  <a:pt x="135750" y="201282"/>
                  <a:pt x="130454" y="200749"/>
                  <a:pt x="127063" y="197358"/>
                </a:cubicBezTo>
                <a:lnTo>
                  <a:pt x="119748" y="190043"/>
                </a:lnTo>
                <a:cubicBezTo>
                  <a:pt x="116357" y="186652"/>
                  <a:pt x="115824" y="181356"/>
                  <a:pt x="118491" y="177355"/>
                </a:cubicBezTo>
                <a:lnTo>
                  <a:pt x="127368" y="164021"/>
                </a:lnTo>
                <a:cubicBezTo>
                  <a:pt x="126644" y="162230"/>
                  <a:pt x="125997" y="160363"/>
                  <a:pt x="125463" y="158420"/>
                </a:cubicBezTo>
                <a:cubicBezTo>
                  <a:pt x="124930" y="156477"/>
                  <a:pt x="124587" y="154534"/>
                  <a:pt x="124320" y="152629"/>
                </a:cubicBezTo>
                <a:lnTo>
                  <a:pt x="109957" y="145542"/>
                </a:lnTo>
                <a:cubicBezTo>
                  <a:pt x="105651" y="143408"/>
                  <a:pt x="103480" y="138532"/>
                  <a:pt x="104699" y="133922"/>
                </a:cubicBezTo>
                <a:lnTo>
                  <a:pt x="107366" y="123939"/>
                </a:lnTo>
                <a:cubicBezTo>
                  <a:pt x="108623" y="119329"/>
                  <a:pt x="112928" y="116205"/>
                  <a:pt x="117729" y="116510"/>
                </a:cubicBezTo>
                <a:lnTo>
                  <a:pt x="133693" y="117539"/>
                </a:lnTo>
                <a:cubicBezTo>
                  <a:pt x="136093" y="114452"/>
                  <a:pt x="138874" y="111595"/>
                  <a:pt x="142037" y="109157"/>
                </a:cubicBezTo>
                <a:lnTo>
                  <a:pt x="141008" y="93231"/>
                </a:lnTo>
                <a:cubicBezTo>
                  <a:pt x="140703" y="88430"/>
                  <a:pt x="143827" y="84087"/>
                  <a:pt x="148438" y="82868"/>
                </a:cubicBezTo>
                <a:lnTo>
                  <a:pt x="158420" y="80201"/>
                </a:lnTo>
                <a:close/>
                <a:moveTo>
                  <a:pt x="170840" y="129540"/>
                </a:moveTo>
                <a:cubicBezTo>
                  <a:pt x="161588" y="129551"/>
                  <a:pt x="154085" y="137071"/>
                  <a:pt x="154095" y="146323"/>
                </a:cubicBezTo>
                <a:cubicBezTo>
                  <a:pt x="154106" y="155575"/>
                  <a:pt x="161626" y="163079"/>
                  <a:pt x="170879" y="163068"/>
                </a:cubicBezTo>
                <a:cubicBezTo>
                  <a:pt x="180131" y="163057"/>
                  <a:pt x="187634" y="155537"/>
                  <a:pt x="187623" y="146285"/>
                </a:cubicBezTo>
                <a:cubicBezTo>
                  <a:pt x="187613" y="137033"/>
                  <a:pt x="180093" y="129529"/>
                  <a:pt x="170840" y="129540"/>
                </a:cubicBezTo>
                <a:close/>
                <a:moveTo>
                  <a:pt x="85687" y="-17335"/>
                </a:moveTo>
                <a:lnTo>
                  <a:pt x="95669" y="-14668"/>
                </a:lnTo>
                <a:cubicBezTo>
                  <a:pt x="100279" y="-13411"/>
                  <a:pt x="103403" y="-9068"/>
                  <a:pt x="103099" y="-4305"/>
                </a:cubicBezTo>
                <a:lnTo>
                  <a:pt x="102070" y="11620"/>
                </a:lnTo>
                <a:cubicBezTo>
                  <a:pt x="105232" y="14059"/>
                  <a:pt x="108014" y="16878"/>
                  <a:pt x="110414" y="20003"/>
                </a:cubicBezTo>
                <a:lnTo>
                  <a:pt x="126416" y="18974"/>
                </a:lnTo>
                <a:cubicBezTo>
                  <a:pt x="131178" y="18669"/>
                  <a:pt x="135522" y="21793"/>
                  <a:pt x="136779" y="26403"/>
                </a:cubicBezTo>
                <a:lnTo>
                  <a:pt x="139446" y="36386"/>
                </a:lnTo>
                <a:cubicBezTo>
                  <a:pt x="140665" y="40996"/>
                  <a:pt x="138493" y="45872"/>
                  <a:pt x="134188" y="48006"/>
                </a:cubicBezTo>
                <a:lnTo>
                  <a:pt x="119825" y="55093"/>
                </a:lnTo>
                <a:cubicBezTo>
                  <a:pt x="119558" y="57036"/>
                  <a:pt x="119177" y="58979"/>
                  <a:pt x="118682" y="60884"/>
                </a:cubicBezTo>
                <a:cubicBezTo>
                  <a:pt x="118186" y="62789"/>
                  <a:pt x="117500" y="64694"/>
                  <a:pt x="116777" y="66484"/>
                </a:cubicBezTo>
                <a:lnTo>
                  <a:pt x="125654" y="79819"/>
                </a:lnTo>
                <a:cubicBezTo>
                  <a:pt x="128321" y="83820"/>
                  <a:pt x="127787" y="89116"/>
                  <a:pt x="124397" y="92507"/>
                </a:cubicBezTo>
                <a:lnTo>
                  <a:pt x="117081" y="99822"/>
                </a:lnTo>
                <a:cubicBezTo>
                  <a:pt x="113690" y="103213"/>
                  <a:pt x="108394" y="103746"/>
                  <a:pt x="104394" y="101079"/>
                </a:cubicBezTo>
                <a:lnTo>
                  <a:pt x="91059" y="92202"/>
                </a:lnTo>
                <a:cubicBezTo>
                  <a:pt x="87440" y="93688"/>
                  <a:pt x="83591" y="94755"/>
                  <a:pt x="79667" y="95288"/>
                </a:cubicBezTo>
                <a:lnTo>
                  <a:pt x="72581" y="109614"/>
                </a:lnTo>
                <a:cubicBezTo>
                  <a:pt x="70447" y="113919"/>
                  <a:pt x="65570" y="116091"/>
                  <a:pt x="60960" y="114871"/>
                </a:cubicBezTo>
                <a:lnTo>
                  <a:pt x="50978" y="112204"/>
                </a:lnTo>
                <a:cubicBezTo>
                  <a:pt x="46330" y="110947"/>
                  <a:pt x="43244" y="106604"/>
                  <a:pt x="43548" y="101841"/>
                </a:cubicBezTo>
                <a:lnTo>
                  <a:pt x="44577" y="85877"/>
                </a:lnTo>
                <a:cubicBezTo>
                  <a:pt x="41415" y="83439"/>
                  <a:pt x="38633" y="80620"/>
                  <a:pt x="36233" y="77495"/>
                </a:cubicBezTo>
                <a:lnTo>
                  <a:pt x="20231" y="78524"/>
                </a:lnTo>
                <a:cubicBezTo>
                  <a:pt x="15469" y="78829"/>
                  <a:pt x="11125" y="75705"/>
                  <a:pt x="9868" y="71095"/>
                </a:cubicBezTo>
                <a:lnTo>
                  <a:pt x="7201" y="61112"/>
                </a:lnTo>
                <a:cubicBezTo>
                  <a:pt x="5982" y="56502"/>
                  <a:pt x="8153" y="51626"/>
                  <a:pt x="12459" y="49492"/>
                </a:cubicBezTo>
                <a:lnTo>
                  <a:pt x="26822" y="42405"/>
                </a:lnTo>
                <a:cubicBezTo>
                  <a:pt x="27089" y="40462"/>
                  <a:pt x="27470" y="38557"/>
                  <a:pt x="27965" y="36614"/>
                </a:cubicBezTo>
                <a:cubicBezTo>
                  <a:pt x="28499" y="34671"/>
                  <a:pt x="29108" y="32804"/>
                  <a:pt x="29870" y="31013"/>
                </a:cubicBezTo>
                <a:lnTo>
                  <a:pt x="20993" y="17717"/>
                </a:lnTo>
                <a:cubicBezTo>
                  <a:pt x="18326" y="13716"/>
                  <a:pt x="18859" y="8420"/>
                  <a:pt x="22250" y="5029"/>
                </a:cubicBezTo>
                <a:lnTo>
                  <a:pt x="29566" y="-2286"/>
                </a:lnTo>
                <a:cubicBezTo>
                  <a:pt x="32957" y="-5677"/>
                  <a:pt x="38252" y="-6210"/>
                  <a:pt x="42253" y="-3543"/>
                </a:cubicBezTo>
                <a:lnTo>
                  <a:pt x="55588" y="5334"/>
                </a:lnTo>
                <a:cubicBezTo>
                  <a:pt x="59207" y="3848"/>
                  <a:pt x="63055" y="2781"/>
                  <a:pt x="66980" y="2248"/>
                </a:cubicBezTo>
                <a:lnTo>
                  <a:pt x="74066" y="-12078"/>
                </a:lnTo>
                <a:cubicBezTo>
                  <a:pt x="76200" y="-16383"/>
                  <a:pt x="81039" y="-18555"/>
                  <a:pt x="85687" y="-17335"/>
                </a:cubicBezTo>
                <a:close/>
                <a:moveTo>
                  <a:pt x="73304" y="32004"/>
                </a:moveTo>
                <a:cubicBezTo>
                  <a:pt x="64052" y="32004"/>
                  <a:pt x="56540" y="39516"/>
                  <a:pt x="56540" y="48768"/>
                </a:cubicBezTo>
                <a:cubicBezTo>
                  <a:pt x="56540" y="58020"/>
                  <a:pt x="64052" y="65532"/>
                  <a:pt x="73304" y="65532"/>
                </a:cubicBezTo>
                <a:cubicBezTo>
                  <a:pt x="82557" y="65532"/>
                  <a:pt x="90068" y="58020"/>
                  <a:pt x="90068" y="48768"/>
                </a:cubicBezTo>
                <a:cubicBezTo>
                  <a:pt x="90068" y="39516"/>
                  <a:pt x="82557" y="32004"/>
                  <a:pt x="73304" y="32004"/>
                </a:cubicBezTo>
                <a:close/>
              </a:path>
            </a:pathLst>
          </a:custGeom>
          <a:solidFill>
            <a:srgbClr val="E6B450"/>
          </a:solidFill>
        </p:spPr>
      </p:sp>
      <p:sp>
        <p:nvSpPr>
          <p:cNvPr id="13" name="Text 11"/>
          <p:cNvSpPr/>
          <p:nvPr/>
        </p:nvSpPr>
        <p:spPr>
          <a:xfrm>
            <a:off x="827786" y="3702305"/>
            <a:ext cx="7567168" cy="260096"/>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控制点作用</a:t>
            </a:r>
            <a:endParaRPr lang="en-US" sz="2000" dirty="0"/>
          </a:p>
        </p:txBody>
      </p:sp>
      <p:sp>
        <p:nvSpPr>
          <p:cNvPr id="14" name="Text 12"/>
          <p:cNvSpPr/>
          <p:nvPr/>
        </p:nvSpPr>
        <p:spPr>
          <a:xfrm>
            <a:off x="827786" y="4059937"/>
            <a:ext cx="7542784" cy="90691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控制点的作用是</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控制曲线的弯曲程度</a:t>
            </a:r>
            <a:r>
              <a:rPr lang="en-US" sz="1600" dirty="0">
                <a:latin typeface="微软雅黑" panose="020B0503020204020204" pitchFamily="34" charset="-122"/>
                <a:ea typeface="微软雅黑" panose="020B0503020204020204" pitchFamily="34" charset="-122"/>
                <a:cs typeface="微软雅黑" panose="020B0503020204020204" pitchFamily="34" charset="-122"/>
              </a:rPr>
              <a:t>，其线只需要很少的控制点就能够生成较复杂的平滑曲线。该方法能够保证输入的控制点与生成的曲线之间的关系非常</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简洁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明确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，因此常用于路径平滑。</a:t>
            </a:r>
            <a:endParaRPr lang="en-US" sz="2400" dirty="0"/>
          </a:p>
        </p:txBody>
      </p:sp>
      <p:sp>
        <p:nvSpPr>
          <p:cNvPr id="15" name="Shape 13"/>
          <p:cNvSpPr/>
          <p:nvPr/>
        </p:nvSpPr>
        <p:spPr>
          <a:xfrm>
            <a:off x="8753348" y="1684251"/>
            <a:ext cx="3113024" cy="5047488"/>
          </a:xfrm>
          <a:custGeom>
            <a:avLst/>
            <a:gdLst/>
            <a:ahLst/>
            <a:cxnLst/>
            <a:rect l="l" t="t" r="r" b="b"/>
            <a:pathLst>
              <a:path w="3113024" h="5047488">
                <a:moveTo>
                  <a:pt x="97531" y="0"/>
                </a:moveTo>
                <a:lnTo>
                  <a:pt x="3015493" y="0"/>
                </a:lnTo>
                <a:cubicBezTo>
                  <a:pt x="3069358" y="0"/>
                  <a:pt x="3113024" y="43666"/>
                  <a:pt x="3113024" y="97531"/>
                </a:cubicBezTo>
                <a:lnTo>
                  <a:pt x="3113024" y="4949957"/>
                </a:lnTo>
                <a:cubicBezTo>
                  <a:pt x="3113024" y="5003822"/>
                  <a:pt x="3069358" y="5047488"/>
                  <a:pt x="3015493" y="5047488"/>
                </a:cubicBezTo>
                <a:lnTo>
                  <a:pt x="97531" y="5047488"/>
                </a:lnTo>
                <a:cubicBezTo>
                  <a:pt x="43666" y="5047488"/>
                  <a:pt x="0" y="5003822"/>
                  <a:pt x="0" y="4949957"/>
                </a:cubicBezTo>
                <a:lnTo>
                  <a:pt x="0" y="97531"/>
                </a:lnTo>
                <a:cubicBezTo>
                  <a:pt x="0" y="43702"/>
                  <a:pt x="43702" y="0"/>
                  <a:pt x="97531" y="0"/>
                </a:cubicBezTo>
                <a:close/>
              </a:path>
            </a:pathLst>
          </a:custGeom>
          <a:solidFill>
            <a:srgbClr val="E6B450">
              <a:alpha val="10196"/>
            </a:srgbClr>
          </a:solidFill>
          <a:ln w="12700">
            <a:solidFill>
              <a:srgbClr val="E6B450">
                <a:alpha val="30196"/>
              </a:srgbClr>
            </a:solidFill>
            <a:prstDash val="solid"/>
          </a:ln>
        </p:spPr>
      </p:sp>
      <p:sp>
        <p:nvSpPr>
          <p:cNvPr id="16" name="Shape 14"/>
          <p:cNvSpPr/>
          <p:nvPr/>
        </p:nvSpPr>
        <p:spPr>
          <a:xfrm>
            <a:off x="8972804" y="1915899"/>
            <a:ext cx="162560" cy="162560"/>
          </a:xfrm>
          <a:custGeom>
            <a:avLst/>
            <a:gdLst/>
            <a:ahLst/>
            <a:cxnLst/>
            <a:rect l="l" t="t" r="r" b="b"/>
            <a:pathLst>
              <a:path w="162560" h="162560">
                <a:moveTo>
                  <a:pt x="15240" y="45720"/>
                </a:moveTo>
                <a:cubicBezTo>
                  <a:pt x="23651" y="45720"/>
                  <a:pt x="30480" y="38891"/>
                  <a:pt x="30480" y="30480"/>
                </a:cubicBezTo>
                <a:cubicBezTo>
                  <a:pt x="30480" y="22069"/>
                  <a:pt x="23651" y="15240"/>
                  <a:pt x="15240" y="15240"/>
                </a:cubicBezTo>
                <a:cubicBezTo>
                  <a:pt x="6829" y="15240"/>
                  <a:pt x="0" y="22069"/>
                  <a:pt x="0" y="30480"/>
                </a:cubicBezTo>
                <a:cubicBezTo>
                  <a:pt x="0" y="38891"/>
                  <a:pt x="6829" y="45720"/>
                  <a:pt x="15240" y="45720"/>
                </a:cubicBezTo>
                <a:close/>
                <a:moveTo>
                  <a:pt x="60960" y="20320"/>
                </a:moveTo>
                <a:cubicBezTo>
                  <a:pt x="55340" y="20320"/>
                  <a:pt x="50800" y="24860"/>
                  <a:pt x="50800" y="30480"/>
                </a:cubicBezTo>
                <a:cubicBezTo>
                  <a:pt x="50800" y="36100"/>
                  <a:pt x="55340" y="40640"/>
                  <a:pt x="60960" y="40640"/>
                </a:cubicBezTo>
                <a:lnTo>
                  <a:pt x="152400" y="40640"/>
                </a:lnTo>
                <a:cubicBezTo>
                  <a:pt x="158020" y="40640"/>
                  <a:pt x="162560" y="36100"/>
                  <a:pt x="162560" y="30480"/>
                </a:cubicBezTo>
                <a:cubicBezTo>
                  <a:pt x="162560" y="24860"/>
                  <a:pt x="158020" y="20320"/>
                  <a:pt x="152400" y="20320"/>
                </a:cubicBezTo>
                <a:lnTo>
                  <a:pt x="60960" y="20320"/>
                </a:lnTo>
                <a:close/>
                <a:moveTo>
                  <a:pt x="60960" y="71120"/>
                </a:moveTo>
                <a:cubicBezTo>
                  <a:pt x="55340" y="71120"/>
                  <a:pt x="50800" y="75660"/>
                  <a:pt x="50800" y="81280"/>
                </a:cubicBezTo>
                <a:cubicBezTo>
                  <a:pt x="50800" y="86900"/>
                  <a:pt x="55340" y="91440"/>
                  <a:pt x="60960" y="91440"/>
                </a:cubicBezTo>
                <a:lnTo>
                  <a:pt x="152400" y="91440"/>
                </a:lnTo>
                <a:cubicBezTo>
                  <a:pt x="158020" y="91440"/>
                  <a:pt x="162560" y="86900"/>
                  <a:pt x="162560" y="81280"/>
                </a:cubicBezTo>
                <a:cubicBezTo>
                  <a:pt x="162560" y="75660"/>
                  <a:pt x="158020" y="71120"/>
                  <a:pt x="152400" y="71120"/>
                </a:cubicBezTo>
                <a:lnTo>
                  <a:pt x="60960" y="71120"/>
                </a:lnTo>
                <a:close/>
                <a:moveTo>
                  <a:pt x="60960" y="121920"/>
                </a:moveTo>
                <a:cubicBezTo>
                  <a:pt x="55340" y="121920"/>
                  <a:pt x="50800" y="126460"/>
                  <a:pt x="50800" y="132080"/>
                </a:cubicBezTo>
                <a:cubicBezTo>
                  <a:pt x="50800" y="137700"/>
                  <a:pt x="55340" y="142240"/>
                  <a:pt x="60960" y="142240"/>
                </a:cubicBezTo>
                <a:lnTo>
                  <a:pt x="152400" y="142240"/>
                </a:lnTo>
                <a:cubicBezTo>
                  <a:pt x="158020" y="142240"/>
                  <a:pt x="162560" y="137700"/>
                  <a:pt x="162560" y="132080"/>
                </a:cubicBezTo>
                <a:cubicBezTo>
                  <a:pt x="162560" y="126460"/>
                  <a:pt x="158020" y="121920"/>
                  <a:pt x="152400" y="121920"/>
                </a:cubicBezTo>
                <a:lnTo>
                  <a:pt x="60960" y="121920"/>
                </a:lnTo>
                <a:close/>
                <a:moveTo>
                  <a:pt x="15240" y="147320"/>
                </a:moveTo>
                <a:cubicBezTo>
                  <a:pt x="23651" y="147320"/>
                  <a:pt x="30480" y="140491"/>
                  <a:pt x="30480" y="132080"/>
                </a:cubicBezTo>
                <a:cubicBezTo>
                  <a:pt x="30480" y="123669"/>
                  <a:pt x="23651" y="116840"/>
                  <a:pt x="15240" y="116840"/>
                </a:cubicBezTo>
                <a:cubicBezTo>
                  <a:pt x="6829" y="116840"/>
                  <a:pt x="0" y="123669"/>
                  <a:pt x="0" y="132080"/>
                </a:cubicBezTo>
                <a:cubicBezTo>
                  <a:pt x="0" y="140491"/>
                  <a:pt x="6829" y="147320"/>
                  <a:pt x="15240" y="147320"/>
                </a:cubicBezTo>
                <a:close/>
                <a:moveTo>
                  <a:pt x="30480" y="81280"/>
                </a:moveTo>
                <a:cubicBezTo>
                  <a:pt x="30480" y="72869"/>
                  <a:pt x="23651" y="66040"/>
                  <a:pt x="15240" y="66040"/>
                </a:cubicBezTo>
                <a:cubicBezTo>
                  <a:pt x="6829" y="66040"/>
                  <a:pt x="0" y="72869"/>
                  <a:pt x="0" y="81280"/>
                </a:cubicBezTo>
                <a:cubicBezTo>
                  <a:pt x="0" y="89691"/>
                  <a:pt x="6829" y="96520"/>
                  <a:pt x="15240" y="96520"/>
                </a:cubicBezTo>
                <a:cubicBezTo>
                  <a:pt x="23651" y="96520"/>
                  <a:pt x="30480" y="89691"/>
                  <a:pt x="30480" y="81280"/>
                </a:cubicBezTo>
                <a:close/>
              </a:path>
            </a:pathLst>
          </a:custGeom>
          <a:solidFill>
            <a:srgbClr val="E6B450"/>
          </a:solidFill>
        </p:spPr>
      </p:sp>
      <p:sp>
        <p:nvSpPr>
          <p:cNvPr id="17" name="Text 15"/>
          <p:cNvSpPr/>
          <p:nvPr/>
        </p:nvSpPr>
        <p:spPr>
          <a:xfrm>
            <a:off x="9155684" y="1883387"/>
            <a:ext cx="2592832" cy="227584"/>
          </a:xfrm>
          <a:prstGeom prst="rect">
            <a:avLst/>
          </a:prstGeom>
          <a:noFill/>
        </p:spPr>
        <p:txBody>
          <a:bodyPr wrap="square" lIns="0" tIns="0" rIns="0" bIns="0" rtlCol="0" anchor="ctr"/>
          <a:lstStyle/>
          <a:p>
            <a:pPr>
              <a:lnSpc>
                <a:spcPct val="12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贝塞尔曲线特点</a:t>
            </a:r>
            <a:endParaRPr lang="en-US" sz="1600" dirty="0"/>
          </a:p>
        </p:txBody>
      </p:sp>
      <p:sp>
        <p:nvSpPr>
          <p:cNvPr id="18" name="Shape 16"/>
          <p:cNvSpPr/>
          <p:nvPr/>
        </p:nvSpPr>
        <p:spPr>
          <a:xfrm>
            <a:off x="8952484" y="2273531"/>
            <a:ext cx="2714752" cy="747776"/>
          </a:xfrm>
          <a:custGeom>
            <a:avLst/>
            <a:gdLst/>
            <a:ahLst/>
            <a:cxnLst/>
            <a:rect l="l" t="t" r="r" b="b"/>
            <a:pathLst>
              <a:path w="2714752" h="747776">
                <a:moveTo>
                  <a:pt x="65027" y="0"/>
                </a:moveTo>
                <a:lnTo>
                  <a:pt x="2649725" y="0"/>
                </a:lnTo>
                <a:cubicBezTo>
                  <a:pt x="2685639" y="0"/>
                  <a:pt x="2714752" y="29113"/>
                  <a:pt x="2714752" y="65027"/>
                </a:cubicBezTo>
                <a:lnTo>
                  <a:pt x="2714752" y="682749"/>
                </a:lnTo>
                <a:cubicBezTo>
                  <a:pt x="2714752" y="718663"/>
                  <a:pt x="2685639" y="747776"/>
                  <a:pt x="2649725" y="747776"/>
                </a:cubicBezTo>
                <a:lnTo>
                  <a:pt x="65027" y="747776"/>
                </a:lnTo>
                <a:cubicBezTo>
                  <a:pt x="29113" y="747776"/>
                  <a:pt x="0" y="718663"/>
                  <a:pt x="0" y="682749"/>
                </a:cubicBezTo>
                <a:lnTo>
                  <a:pt x="0" y="65027"/>
                </a:lnTo>
                <a:cubicBezTo>
                  <a:pt x="0" y="29113"/>
                  <a:pt x="29113" y="0"/>
                  <a:pt x="65027" y="0"/>
                </a:cubicBezTo>
                <a:close/>
              </a:path>
            </a:pathLst>
          </a:custGeom>
          <a:solidFill>
            <a:srgbClr val="5F87A7">
              <a:alpha val="20000"/>
            </a:srgbClr>
          </a:solidFill>
        </p:spPr>
      </p:sp>
      <p:sp>
        <p:nvSpPr>
          <p:cNvPr id="19" name="Shape 17"/>
          <p:cNvSpPr/>
          <p:nvPr/>
        </p:nvSpPr>
        <p:spPr>
          <a:xfrm>
            <a:off x="9111996" y="2444219"/>
            <a:ext cx="128016" cy="146304"/>
          </a:xfrm>
          <a:custGeom>
            <a:avLst/>
            <a:gdLst/>
            <a:ahLst/>
            <a:cxnLst/>
            <a:rect l="l" t="t" r="r" b="b"/>
            <a:pathLst>
              <a:path w="128016" h="146304">
                <a:moveTo>
                  <a:pt x="124244" y="20031"/>
                </a:moveTo>
                <a:cubicBezTo>
                  <a:pt x="128330" y="23003"/>
                  <a:pt x="129245" y="28718"/>
                  <a:pt x="126273" y="32804"/>
                </a:cubicBezTo>
                <a:lnTo>
                  <a:pt x="53121" y="133388"/>
                </a:lnTo>
                <a:cubicBezTo>
                  <a:pt x="51549" y="135560"/>
                  <a:pt x="49120" y="136903"/>
                  <a:pt x="46434" y="137131"/>
                </a:cubicBezTo>
                <a:cubicBezTo>
                  <a:pt x="43748" y="137360"/>
                  <a:pt x="41148" y="136360"/>
                  <a:pt x="39262" y="134474"/>
                </a:cubicBezTo>
                <a:lnTo>
                  <a:pt x="2686" y="97898"/>
                </a:lnTo>
                <a:cubicBezTo>
                  <a:pt x="-886" y="94326"/>
                  <a:pt x="-886" y="88525"/>
                  <a:pt x="2686" y="84953"/>
                </a:cubicBezTo>
                <a:cubicBezTo>
                  <a:pt x="6258" y="81382"/>
                  <a:pt x="12059" y="81382"/>
                  <a:pt x="15631" y="84953"/>
                </a:cubicBezTo>
                <a:lnTo>
                  <a:pt x="44634" y="113957"/>
                </a:lnTo>
                <a:lnTo>
                  <a:pt x="111500" y="22031"/>
                </a:lnTo>
                <a:cubicBezTo>
                  <a:pt x="114471" y="17945"/>
                  <a:pt x="120186" y="17031"/>
                  <a:pt x="124273" y="20003"/>
                </a:cubicBezTo>
                <a:close/>
              </a:path>
            </a:pathLst>
          </a:custGeom>
          <a:solidFill>
            <a:srgbClr val="E6B450"/>
          </a:solidFill>
        </p:spPr>
      </p:sp>
      <p:sp>
        <p:nvSpPr>
          <p:cNvPr id="20" name="Text 18"/>
          <p:cNvSpPr/>
          <p:nvPr/>
        </p:nvSpPr>
        <p:spPr>
          <a:xfrm>
            <a:off x="9362948" y="2403579"/>
            <a:ext cx="658368" cy="227584"/>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简洁性</a:t>
            </a:r>
            <a:endParaRPr lang="en-US" sz="1600" dirty="0"/>
          </a:p>
        </p:txBody>
      </p:sp>
      <p:sp>
        <p:nvSpPr>
          <p:cNvPr id="21" name="Text 19"/>
          <p:cNvSpPr/>
          <p:nvPr/>
        </p:nvSpPr>
        <p:spPr>
          <a:xfrm>
            <a:off x="9082532" y="2696187"/>
            <a:ext cx="2519680" cy="195072"/>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控制点与曲线关系明确</a:t>
            </a:r>
            <a:endParaRPr lang="en-US" sz="1600" dirty="0"/>
          </a:p>
        </p:txBody>
      </p:sp>
      <p:sp>
        <p:nvSpPr>
          <p:cNvPr id="22" name="Shape 20"/>
          <p:cNvSpPr/>
          <p:nvPr/>
        </p:nvSpPr>
        <p:spPr>
          <a:xfrm>
            <a:off x="8952484" y="3151355"/>
            <a:ext cx="2714752" cy="747776"/>
          </a:xfrm>
          <a:custGeom>
            <a:avLst/>
            <a:gdLst/>
            <a:ahLst/>
            <a:cxnLst/>
            <a:rect l="l" t="t" r="r" b="b"/>
            <a:pathLst>
              <a:path w="2714752" h="747776">
                <a:moveTo>
                  <a:pt x="65027" y="0"/>
                </a:moveTo>
                <a:lnTo>
                  <a:pt x="2649725" y="0"/>
                </a:lnTo>
                <a:cubicBezTo>
                  <a:pt x="2685639" y="0"/>
                  <a:pt x="2714752" y="29113"/>
                  <a:pt x="2714752" y="65027"/>
                </a:cubicBezTo>
                <a:lnTo>
                  <a:pt x="2714752" y="682749"/>
                </a:lnTo>
                <a:cubicBezTo>
                  <a:pt x="2714752" y="718663"/>
                  <a:pt x="2685639" y="747776"/>
                  <a:pt x="2649725" y="747776"/>
                </a:cubicBezTo>
                <a:lnTo>
                  <a:pt x="65027" y="747776"/>
                </a:lnTo>
                <a:cubicBezTo>
                  <a:pt x="29113" y="747776"/>
                  <a:pt x="0" y="718663"/>
                  <a:pt x="0" y="682749"/>
                </a:cubicBezTo>
                <a:lnTo>
                  <a:pt x="0" y="65027"/>
                </a:lnTo>
                <a:cubicBezTo>
                  <a:pt x="0" y="29113"/>
                  <a:pt x="29113" y="0"/>
                  <a:pt x="65027" y="0"/>
                </a:cubicBezTo>
                <a:close/>
              </a:path>
            </a:pathLst>
          </a:custGeom>
          <a:solidFill>
            <a:srgbClr val="5F87A7">
              <a:alpha val="20000"/>
            </a:srgbClr>
          </a:solidFill>
        </p:spPr>
      </p:sp>
      <p:sp>
        <p:nvSpPr>
          <p:cNvPr id="23" name="Shape 21"/>
          <p:cNvSpPr/>
          <p:nvPr/>
        </p:nvSpPr>
        <p:spPr>
          <a:xfrm>
            <a:off x="9111996" y="3322043"/>
            <a:ext cx="128016" cy="146304"/>
          </a:xfrm>
          <a:custGeom>
            <a:avLst/>
            <a:gdLst/>
            <a:ahLst/>
            <a:cxnLst/>
            <a:rect l="l" t="t" r="r" b="b"/>
            <a:pathLst>
              <a:path w="128016" h="146304">
                <a:moveTo>
                  <a:pt x="124244" y="20031"/>
                </a:moveTo>
                <a:cubicBezTo>
                  <a:pt x="128330" y="23003"/>
                  <a:pt x="129245" y="28718"/>
                  <a:pt x="126273" y="32804"/>
                </a:cubicBezTo>
                <a:lnTo>
                  <a:pt x="53121" y="133388"/>
                </a:lnTo>
                <a:cubicBezTo>
                  <a:pt x="51549" y="135560"/>
                  <a:pt x="49120" y="136903"/>
                  <a:pt x="46434" y="137131"/>
                </a:cubicBezTo>
                <a:cubicBezTo>
                  <a:pt x="43748" y="137360"/>
                  <a:pt x="41148" y="136360"/>
                  <a:pt x="39262" y="134474"/>
                </a:cubicBezTo>
                <a:lnTo>
                  <a:pt x="2686" y="97898"/>
                </a:lnTo>
                <a:cubicBezTo>
                  <a:pt x="-886" y="94326"/>
                  <a:pt x="-886" y="88525"/>
                  <a:pt x="2686" y="84953"/>
                </a:cubicBezTo>
                <a:cubicBezTo>
                  <a:pt x="6258" y="81382"/>
                  <a:pt x="12059" y="81382"/>
                  <a:pt x="15631" y="84953"/>
                </a:cubicBezTo>
                <a:lnTo>
                  <a:pt x="44634" y="113957"/>
                </a:lnTo>
                <a:lnTo>
                  <a:pt x="111500" y="22031"/>
                </a:lnTo>
                <a:cubicBezTo>
                  <a:pt x="114471" y="17945"/>
                  <a:pt x="120186" y="17031"/>
                  <a:pt x="124273" y="20003"/>
                </a:cubicBezTo>
                <a:close/>
              </a:path>
            </a:pathLst>
          </a:custGeom>
          <a:solidFill>
            <a:srgbClr val="E6B450"/>
          </a:solidFill>
        </p:spPr>
      </p:sp>
      <p:sp>
        <p:nvSpPr>
          <p:cNvPr id="24" name="Text 22"/>
          <p:cNvSpPr/>
          <p:nvPr/>
        </p:nvSpPr>
        <p:spPr>
          <a:xfrm>
            <a:off x="9362948" y="3281403"/>
            <a:ext cx="710692" cy="227584"/>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平滑性</a:t>
            </a:r>
            <a:endParaRPr lang="en-US" sz="1600" dirty="0"/>
          </a:p>
        </p:txBody>
      </p:sp>
      <p:sp>
        <p:nvSpPr>
          <p:cNvPr id="25" name="Text 23"/>
          <p:cNvSpPr/>
          <p:nvPr/>
        </p:nvSpPr>
        <p:spPr>
          <a:xfrm>
            <a:off x="9082532" y="3574011"/>
            <a:ext cx="2519680" cy="195072"/>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自动生成平滑连续曲线</a:t>
            </a:r>
            <a:endParaRPr lang="en-US" sz="1600" dirty="0"/>
          </a:p>
        </p:txBody>
      </p:sp>
      <p:sp>
        <p:nvSpPr>
          <p:cNvPr id="26" name="Shape 24"/>
          <p:cNvSpPr/>
          <p:nvPr/>
        </p:nvSpPr>
        <p:spPr>
          <a:xfrm>
            <a:off x="8952484" y="4029179"/>
            <a:ext cx="2714752" cy="747776"/>
          </a:xfrm>
          <a:custGeom>
            <a:avLst/>
            <a:gdLst/>
            <a:ahLst/>
            <a:cxnLst/>
            <a:rect l="l" t="t" r="r" b="b"/>
            <a:pathLst>
              <a:path w="2714752" h="747776">
                <a:moveTo>
                  <a:pt x="65027" y="0"/>
                </a:moveTo>
                <a:lnTo>
                  <a:pt x="2649725" y="0"/>
                </a:lnTo>
                <a:cubicBezTo>
                  <a:pt x="2685639" y="0"/>
                  <a:pt x="2714752" y="29113"/>
                  <a:pt x="2714752" y="65027"/>
                </a:cubicBezTo>
                <a:lnTo>
                  <a:pt x="2714752" y="682749"/>
                </a:lnTo>
                <a:cubicBezTo>
                  <a:pt x="2714752" y="718663"/>
                  <a:pt x="2685639" y="747776"/>
                  <a:pt x="2649725" y="747776"/>
                </a:cubicBezTo>
                <a:lnTo>
                  <a:pt x="65027" y="747776"/>
                </a:lnTo>
                <a:cubicBezTo>
                  <a:pt x="29113" y="747776"/>
                  <a:pt x="0" y="718663"/>
                  <a:pt x="0" y="682749"/>
                </a:cubicBezTo>
                <a:lnTo>
                  <a:pt x="0" y="65027"/>
                </a:lnTo>
                <a:cubicBezTo>
                  <a:pt x="0" y="29113"/>
                  <a:pt x="29113" y="0"/>
                  <a:pt x="65027" y="0"/>
                </a:cubicBezTo>
                <a:close/>
              </a:path>
            </a:pathLst>
          </a:custGeom>
          <a:solidFill>
            <a:srgbClr val="5F87A7">
              <a:alpha val="20000"/>
            </a:srgbClr>
          </a:solidFill>
        </p:spPr>
      </p:sp>
      <p:sp>
        <p:nvSpPr>
          <p:cNvPr id="27" name="Shape 25"/>
          <p:cNvSpPr/>
          <p:nvPr/>
        </p:nvSpPr>
        <p:spPr>
          <a:xfrm>
            <a:off x="9111996" y="4199867"/>
            <a:ext cx="128016" cy="146304"/>
          </a:xfrm>
          <a:custGeom>
            <a:avLst/>
            <a:gdLst/>
            <a:ahLst/>
            <a:cxnLst/>
            <a:rect l="l" t="t" r="r" b="b"/>
            <a:pathLst>
              <a:path w="128016" h="146304">
                <a:moveTo>
                  <a:pt x="124244" y="20031"/>
                </a:moveTo>
                <a:cubicBezTo>
                  <a:pt x="128330" y="23003"/>
                  <a:pt x="129245" y="28718"/>
                  <a:pt x="126273" y="32804"/>
                </a:cubicBezTo>
                <a:lnTo>
                  <a:pt x="53121" y="133388"/>
                </a:lnTo>
                <a:cubicBezTo>
                  <a:pt x="51549" y="135560"/>
                  <a:pt x="49120" y="136903"/>
                  <a:pt x="46434" y="137131"/>
                </a:cubicBezTo>
                <a:cubicBezTo>
                  <a:pt x="43748" y="137360"/>
                  <a:pt x="41148" y="136360"/>
                  <a:pt x="39262" y="134474"/>
                </a:cubicBezTo>
                <a:lnTo>
                  <a:pt x="2686" y="97898"/>
                </a:lnTo>
                <a:cubicBezTo>
                  <a:pt x="-886" y="94326"/>
                  <a:pt x="-886" y="88525"/>
                  <a:pt x="2686" y="84953"/>
                </a:cubicBezTo>
                <a:cubicBezTo>
                  <a:pt x="6258" y="81382"/>
                  <a:pt x="12059" y="81382"/>
                  <a:pt x="15631" y="84953"/>
                </a:cubicBezTo>
                <a:lnTo>
                  <a:pt x="44634" y="113957"/>
                </a:lnTo>
                <a:lnTo>
                  <a:pt x="111500" y="22031"/>
                </a:lnTo>
                <a:cubicBezTo>
                  <a:pt x="114471" y="17945"/>
                  <a:pt x="120186" y="17031"/>
                  <a:pt x="124273" y="20003"/>
                </a:cubicBezTo>
                <a:close/>
              </a:path>
            </a:pathLst>
          </a:custGeom>
          <a:solidFill>
            <a:srgbClr val="E6B450"/>
          </a:solidFill>
        </p:spPr>
      </p:sp>
      <p:sp>
        <p:nvSpPr>
          <p:cNvPr id="28" name="Text 26"/>
          <p:cNvSpPr/>
          <p:nvPr/>
        </p:nvSpPr>
        <p:spPr>
          <a:xfrm>
            <a:off x="9362948" y="4159227"/>
            <a:ext cx="614172" cy="227584"/>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灵活性</a:t>
            </a:r>
            <a:endParaRPr lang="en-US" sz="1600" dirty="0"/>
          </a:p>
        </p:txBody>
      </p:sp>
      <p:sp>
        <p:nvSpPr>
          <p:cNvPr id="29" name="Text 27"/>
          <p:cNvSpPr/>
          <p:nvPr/>
        </p:nvSpPr>
        <p:spPr>
          <a:xfrm>
            <a:off x="9082532" y="4451835"/>
            <a:ext cx="2519680" cy="195072"/>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调整控制点改变曲线形状</a:t>
            </a:r>
            <a:endParaRPr lang="en-US" sz="1600" dirty="0"/>
          </a:p>
        </p:txBody>
      </p:sp>
      <p:sp>
        <p:nvSpPr>
          <p:cNvPr id="30" name="Shape 28"/>
          <p:cNvSpPr/>
          <p:nvPr/>
        </p:nvSpPr>
        <p:spPr>
          <a:xfrm>
            <a:off x="8952484" y="4907003"/>
            <a:ext cx="2714752" cy="747776"/>
          </a:xfrm>
          <a:custGeom>
            <a:avLst/>
            <a:gdLst/>
            <a:ahLst/>
            <a:cxnLst/>
            <a:rect l="l" t="t" r="r" b="b"/>
            <a:pathLst>
              <a:path w="2714752" h="747776">
                <a:moveTo>
                  <a:pt x="65027" y="0"/>
                </a:moveTo>
                <a:lnTo>
                  <a:pt x="2649725" y="0"/>
                </a:lnTo>
                <a:cubicBezTo>
                  <a:pt x="2685639" y="0"/>
                  <a:pt x="2714752" y="29113"/>
                  <a:pt x="2714752" y="65027"/>
                </a:cubicBezTo>
                <a:lnTo>
                  <a:pt x="2714752" y="682749"/>
                </a:lnTo>
                <a:cubicBezTo>
                  <a:pt x="2714752" y="718663"/>
                  <a:pt x="2685639" y="747776"/>
                  <a:pt x="2649725" y="747776"/>
                </a:cubicBezTo>
                <a:lnTo>
                  <a:pt x="65027" y="747776"/>
                </a:lnTo>
                <a:cubicBezTo>
                  <a:pt x="29113" y="747776"/>
                  <a:pt x="0" y="718663"/>
                  <a:pt x="0" y="682749"/>
                </a:cubicBezTo>
                <a:lnTo>
                  <a:pt x="0" y="65027"/>
                </a:lnTo>
                <a:cubicBezTo>
                  <a:pt x="0" y="29113"/>
                  <a:pt x="29113" y="0"/>
                  <a:pt x="65027" y="0"/>
                </a:cubicBezTo>
                <a:close/>
              </a:path>
            </a:pathLst>
          </a:custGeom>
          <a:solidFill>
            <a:srgbClr val="5F87A7">
              <a:alpha val="20000"/>
            </a:srgbClr>
          </a:solidFill>
        </p:spPr>
      </p:sp>
      <p:sp>
        <p:nvSpPr>
          <p:cNvPr id="31" name="Shape 29"/>
          <p:cNvSpPr/>
          <p:nvPr/>
        </p:nvSpPr>
        <p:spPr>
          <a:xfrm>
            <a:off x="9111996" y="5077691"/>
            <a:ext cx="128016" cy="146304"/>
          </a:xfrm>
          <a:custGeom>
            <a:avLst/>
            <a:gdLst/>
            <a:ahLst/>
            <a:cxnLst/>
            <a:rect l="l" t="t" r="r" b="b"/>
            <a:pathLst>
              <a:path w="128016" h="146304">
                <a:moveTo>
                  <a:pt x="124244" y="20031"/>
                </a:moveTo>
                <a:cubicBezTo>
                  <a:pt x="128330" y="23003"/>
                  <a:pt x="129245" y="28718"/>
                  <a:pt x="126273" y="32804"/>
                </a:cubicBezTo>
                <a:lnTo>
                  <a:pt x="53121" y="133388"/>
                </a:lnTo>
                <a:cubicBezTo>
                  <a:pt x="51549" y="135560"/>
                  <a:pt x="49120" y="136903"/>
                  <a:pt x="46434" y="137131"/>
                </a:cubicBezTo>
                <a:cubicBezTo>
                  <a:pt x="43748" y="137360"/>
                  <a:pt x="41148" y="136360"/>
                  <a:pt x="39262" y="134474"/>
                </a:cubicBezTo>
                <a:lnTo>
                  <a:pt x="2686" y="97898"/>
                </a:lnTo>
                <a:cubicBezTo>
                  <a:pt x="-886" y="94326"/>
                  <a:pt x="-886" y="88525"/>
                  <a:pt x="2686" y="84953"/>
                </a:cubicBezTo>
                <a:cubicBezTo>
                  <a:pt x="6258" y="81382"/>
                  <a:pt x="12059" y="81382"/>
                  <a:pt x="15631" y="84953"/>
                </a:cubicBezTo>
                <a:lnTo>
                  <a:pt x="44634" y="113957"/>
                </a:lnTo>
                <a:lnTo>
                  <a:pt x="111500" y="22031"/>
                </a:lnTo>
                <a:cubicBezTo>
                  <a:pt x="114471" y="17945"/>
                  <a:pt x="120186" y="17031"/>
                  <a:pt x="124273" y="20003"/>
                </a:cubicBezTo>
                <a:close/>
              </a:path>
            </a:pathLst>
          </a:custGeom>
          <a:solidFill>
            <a:srgbClr val="E6B450"/>
          </a:solidFill>
        </p:spPr>
      </p:sp>
      <p:sp>
        <p:nvSpPr>
          <p:cNvPr id="32" name="Text 30"/>
          <p:cNvSpPr/>
          <p:nvPr/>
        </p:nvSpPr>
        <p:spPr>
          <a:xfrm>
            <a:off x="9362948" y="5037051"/>
            <a:ext cx="791972" cy="227584"/>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高效性</a:t>
            </a:r>
            <a:endParaRPr lang="en-US" sz="1600" dirty="0"/>
          </a:p>
        </p:txBody>
      </p:sp>
      <p:sp>
        <p:nvSpPr>
          <p:cNvPr id="33" name="Text 31"/>
          <p:cNvSpPr/>
          <p:nvPr/>
        </p:nvSpPr>
        <p:spPr>
          <a:xfrm>
            <a:off x="9082532" y="5329659"/>
            <a:ext cx="2519680" cy="195072"/>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少量控制点生成复杂曲线</a:t>
            </a:r>
            <a:endParaRPr lang="en-US" sz="1600" dirty="0"/>
          </a:p>
        </p:txBody>
      </p:sp>
      <p:sp>
        <p:nvSpPr>
          <p:cNvPr id="34" name="Shape 32"/>
          <p:cNvSpPr/>
          <p:nvPr/>
        </p:nvSpPr>
        <p:spPr>
          <a:xfrm>
            <a:off x="8952484" y="5784827"/>
            <a:ext cx="2714752" cy="747776"/>
          </a:xfrm>
          <a:custGeom>
            <a:avLst/>
            <a:gdLst/>
            <a:ahLst/>
            <a:cxnLst/>
            <a:rect l="l" t="t" r="r" b="b"/>
            <a:pathLst>
              <a:path w="2714752" h="747776">
                <a:moveTo>
                  <a:pt x="65027" y="0"/>
                </a:moveTo>
                <a:lnTo>
                  <a:pt x="2649725" y="0"/>
                </a:lnTo>
                <a:cubicBezTo>
                  <a:pt x="2685639" y="0"/>
                  <a:pt x="2714752" y="29113"/>
                  <a:pt x="2714752" y="65027"/>
                </a:cubicBezTo>
                <a:lnTo>
                  <a:pt x="2714752" y="682749"/>
                </a:lnTo>
                <a:cubicBezTo>
                  <a:pt x="2714752" y="718663"/>
                  <a:pt x="2685639" y="747776"/>
                  <a:pt x="2649725" y="747776"/>
                </a:cubicBezTo>
                <a:lnTo>
                  <a:pt x="65027" y="747776"/>
                </a:lnTo>
                <a:cubicBezTo>
                  <a:pt x="29113" y="747776"/>
                  <a:pt x="0" y="718663"/>
                  <a:pt x="0" y="682749"/>
                </a:cubicBezTo>
                <a:lnTo>
                  <a:pt x="0" y="65027"/>
                </a:lnTo>
                <a:cubicBezTo>
                  <a:pt x="0" y="29113"/>
                  <a:pt x="29113" y="0"/>
                  <a:pt x="65027" y="0"/>
                </a:cubicBezTo>
                <a:close/>
              </a:path>
            </a:pathLst>
          </a:custGeom>
          <a:solidFill>
            <a:srgbClr val="5F87A7">
              <a:alpha val="20000"/>
            </a:srgbClr>
          </a:solidFill>
        </p:spPr>
      </p:sp>
      <p:sp>
        <p:nvSpPr>
          <p:cNvPr id="35" name="Shape 33"/>
          <p:cNvSpPr/>
          <p:nvPr/>
        </p:nvSpPr>
        <p:spPr>
          <a:xfrm>
            <a:off x="9111996" y="5955515"/>
            <a:ext cx="128016" cy="146304"/>
          </a:xfrm>
          <a:custGeom>
            <a:avLst/>
            <a:gdLst/>
            <a:ahLst/>
            <a:cxnLst/>
            <a:rect l="l" t="t" r="r" b="b"/>
            <a:pathLst>
              <a:path w="128016" h="146304">
                <a:moveTo>
                  <a:pt x="124244" y="20031"/>
                </a:moveTo>
                <a:cubicBezTo>
                  <a:pt x="128330" y="23003"/>
                  <a:pt x="129245" y="28718"/>
                  <a:pt x="126273" y="32804"/>
                </a:cubicBezTo>
                <a:lnTo>
                  <a:pt x="53121" y="133388"/>
                </a:lnTo>
                <a:cubicBezTo>
                  <a:pt x="51549" y="135560"/>
                  <a:pt x="49120" y="136903"/>
                  <a:pt x="46434" y="137131"/>
                </a:cubicBezTo>
                <a:cubicBezTo>
                  <a:pt x="43748" y="137360"/>
                  <a:pt x="41148" y="136360"/>
                  <a:pt x="39262" y="134474"/>
                </a:cubicBezTo>
                <a:lnTo>
                  <a:pt x="2686" y="97898"/>
                </a:lnTo>
                <a:cubicBezTo>
                  <a:pt x="-886" y="94326"/>
                  <a:pt x="-886" y="88525"/>
                  <a:pt x="2686" y="84953"/>
                </a:cubicBezTo>
                <a:cubicBezTo>
                  <a:pt x="6258" y="81382"/>
                  <a:pt x="12059" y="81382"/>
                  <a:pt x="15631" y="84953"/>
                </a:cubicBezTo>
                <a:lnTo>
                  <a:pt x="44634" y="113957"/>
                </a:lnTo>
                <a:lnTo>
                  <a:pt x="111500" y="22031"/>
                </a:lnTo>
                <a:cubicBezTo>
                  <a:pt x="114471" y="17945"/>
                  <a:pt x="120186" y="17031"/>
                  <a:pt x="124273" y="20003"/>
                </a:cubicBezTo>
                <a:close/>
              </a:path>
            </a:pathLst>
          </a:custGeom>
          <a:solidFill>
            <a:srgbClr val="E6B450"/>
          </a:solidFill>
        </p:spPr>
      </p:sp>
      <p:sp>
        <p:nvSpPr>
          <p:cNvPr id="36" name="Text 34"/>
          <p:cNvSpPr/>
          <p:nvPr/>
        </p:nvSpPr>
        <p:spPr>
          <a:xfrm>
            <a:off x="9362948" y="5914875"/>
            <a:ext cx="827532" cy="227584"/>
          </a:xfrm>
          <a:prstGeom prst="rect">
            <a:avLst/>
          </a:prstGeom>
          <a:noFill/>
        </p:spPr>
        <p:txBody>
          <a:bodyPr wrap="square" lIns="0" tIns="0" rIns="0" bIns="0" rtlCol="0" anchor="ctr"/>
          <a:lstStyle/>
          <a:p>
            <a:pPr>
              <a:lnSpc>
                <a:spcPct val="13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应用广泛</a:t>
            </a:r>
            <a:endParaRPr lang="en-US" sz="1600" dirty="0"/>
          </a:p>
        </p:txBody>
      </p:sp>
      <p:sp>
        <p:nvSpPr>
          <p:cNvPr id="37" name="Text 35"/>
          <p:cNvSpPr/>
          <p:nvPr/>
        </p:nvSpPr>
        <p:spPr>
          <a:xfrm>
            <a:off x="9082532" y="6207483"/>
            <a:ext cx="2519680" cy="195072"/>
          </a:xfrm>
          <a:prstGeom prst="rect">
            <a:avLst/>
          </a:prstGeom>
          <a:noFill/>
        </p:spPr>
        <p:txBody>
          <a:bodyPr wrap="square" lIns="0" tIns="0" rIns="0" bIns="0" rtlCol="0" anchor="ctr"/>
          <a:lstStyle/>
          <a:p>
            <a:pPr>
              <a:lnSpc>
                <a:spcPct val="13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路径平滑、图形设计等</a:t>
            </a:r>
            <a:endParaRPr lang="en-US" sz="1600" dirty="0"/>
          </a:p>
        </p:txBody>
      </p:sp>
      <p:grpSp>
        <p:nvGrpSpPr>
          <p:cNvPr id="38" name="组合 37">
            <a:extLst>
              <a:ext uri="{FF2B5EF4-FFF2-40B4-BE49-F238E27FC236}">
                <a16:creationId xmlns:a16="http://schemas.microsoft.com/office/drawing/2014/main" id="{9D42306E-F863-C087-A1BB-D8B8AF911B0C}"/>
              </a:ext>
            </a:extLst>
          </p:cNvPr>
          <p:cNvGrpSpPr/>
          <p:nvPr/>
        </p:nvGrpSpPr>
        <p:grpSpPr>
          <a:xfrm>
            <a:off x="0" y="939798"/>
            <a:ext cx="5022850" cy="625474"/>
            <a:chOff x="0" y="1075267"/>
            <a:chExt cx="5022850" cy="625474"/>
          </a:xfrm>
        </p:grpSpPr>
        <p:sp>
          <p:nvSpPr>
            <p:cNvPr id="39" name="矩形 38">
              <a:extLst>
                <a:ext uri="{FF2B5EF4-FFF2-40B4-BE49-F238E27FC236}">
                  <a16:creationId xmlns:a16="http://schemas.microsoft.com/office/drawing/2014/main" id="{01876086-9764-E8D5-2CF5-1CD224ADAAE4}"/>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D9B7449A-46AE-4A4A-816C-D89CB53C9948}"/>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7.3.2 </a:t>
              </a:r>
              <a:r>
                <a:rPr lang="zh-CN" altLang="en-US" sz="2400" b="1" dirty="0">
                  <a:solidFill>
                    <a:schemeClr val="accent1"/>
                  </a:solidFill>
                  <a:latin typeface="+mj-lt"/>
                </a:rPr>
                <a:t>路径平滑</a:t>
              </a:r>
            </a:p>
          </p:txBody>
        </p:sp>
      </p:grpSp>
    </p:spTree>
    <p:extLst>
      <p:ext uri="{BB962C8B-B14F-4D97-AF65-F5344CB8AC3E}">
        <p14:creationId xmlns:p14="http://schemas.microsoft.com/office/powerpoint/2010/main" val="256623339"/>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4">
            <a:extLst>
              <a:ext uri="{FF2B5EF4-FFF2-40B4-BE49-F238E27FC236}">
                <a16:creationId xmlns:a16="http://schemas.microsoft.com/office/drawing/2014/main" id="{7534F584-3720-238F-9EFE-3556FBEE29BB}"/>
              </a:ext>
            </a:extLst>
          </p:cNvPr>
          <p:cNvSpPr/>
          <p:nvPr/>
        </p:nvSpPr>
        <p:spPr>
          <a:xfrm>
            <a:off x="956505" y="6384539"/>
            <a:ext cx="9398227" cy="365294"/>
          </a:xfrm>
          <a:custGeom>
            <a:avLst/>
            <a:gdLst/>
            <a:ahLst/>
            <a:cxnLst/>
            <a:rect l="l" t="t" r="r" b="b"/>
            <a:pathLst>
              <a:path w="2214563" h="706438">
                <a:moveTo>
                  <a:pt x="63502" y="0"/>
                </a:moveTo>
                <a:lnTo>
                  <a:pt x="2151061" y="0"/>
                </a:lnTo>
                <a:cubicBezTo>
                  <a:pt x="2186132" y="0"/>
                  <a:pt x="2214563" y="28431"/>
                  <a:pt x="2214563" y="63502"/>
                </a:cubicBezTo>
                <a:lnTo>
                  <a:pt x="2214563" y="642936"/>
                </a:lnTo>
                <a:cubicBezTo>
                  <a:pt x="2214563" y="678007"/>
                  <a:pt x="2186132" y="706438"/>
                  <a:pt x="2151061" y="706438"/>
                </a:cubicBezTo>
                <a:lnTo>
                  <a:pt x="63502" y="706438"/>
                </a:lnTo>
                <a:cubicBezTo>
                  <a:pt x="28431" y="706438"/>
                  <a:pt x="0" y="678007"/>
                  <a:pt x="0" y="642936"/>
                </a:cubicBezTo>
                <a:lnTo>
                  <a:pt x="0" y="63502"/>
                </a:lnTo>
                <a:cubicBezTo>
                  <a:pt x="0" y="28431"/>
                  <a:pt x="28431" y="0"/>
                  <a:pt x="63502" y="0"/>
                </a:cubicBezTo>
                <a:close/>
              </a:path>
            </a:pathLst>
          </a:custGeom>
          <a:solidFill>
            <a:srgbClr val="E6B450">
              <a:alpha val="10196"/>
            </a:srgbClr>
          </a:solidFill>
          <a:ln w="12700">
            <a:solidFill>
              <a:srgbClr val="E6B450">
                <a:alpha val="30196"/>
              </a:srgbClr>
            </a:solidFill>
            <a:prstDash val="solid"/>
          </a:ln>
        </p:spPr>
      </p:sp>
      <p:sp>
        <p:nvSpPr>
          <p:cNvPr id="5" name="Shape 3"/>
          <p:cNvSpPr/>
          <p:nvPr/>
        </p:nvSpPr>
        <p:spPr>
          <a:xfrm>
            <a:off x="398804" y="1728150"/>
            <a:ext cx="5222430" cy="2776117"/>
          </a:xfrm>
          <a:custGeom>
            <a:avLst/>
            <a:gdLst/>
            <a:ahLst/>
            <a:cxnLst/>
            <a:rect l="l" t="t" r="r" b="b"/>
            <a:pathLst>
              <a:path w="7396860" h="1709159">
                <a:moveTo>
                  <a:pt x="37981" y="0"/>
                </a:moveTo>
                <a:lnTo>
                  <a:pt x="7282910" y="0"/>
                </a:lnTo>
                <a:cubicBezTo>
                  <a:pt x="7345843" y="0"/>
                  <a:pt x="7396860" y="51017"/>
                  <a:pt x="7396860" y="113950"/>
                </a:cubicBezTo>
                <a:lnTo>
                  <a:pt x="7396860" y="1595209"/>
                </a:lnTo>
                <a:cubicBezTo>
                  <a:pt x="7396860" y="1658142"/>
                  <a:pt x="7345843" y="1709159"/>
                  <a:pt x="7282910" y="1709159"/>
                </a:cubicBezTo>
                <a:lnTo>
                  <a:pt x="37981" y="1709159"/>
                </a:lnTo>
                <a:cubicBezTo>
                  <a:pt x="17005" y="1709159"/>
                  <a:pt x="0" y="1692154"/>
                  <a:pt x="0" y="1671178"/>
                </a:cubicBezTo>
                <a:lnTo>
                  <a:pt x="0" y="37981"/>
                </a:lnTo>
                <a:cubicBezTo>
                  <a:pt x="0" y="17005"/>
                  <a:pt x="17005" y="0"/>
                  <a:pt x="37981" y="0"/>
                </a:cubicBezTo>
                <a:close/>
              </a:path>
            </a:pathLst>
          </a:custGeom>
          <a:solidFill>
            <a:srgbClr val="5F87A7">
              <a:alpha val="10196"/>
            </a:srgbClr>
          </a:solidFill>
        </p:spPr>
      </p:sp>
      <p:sp>
        <p:nvSpPr>
          <p:cNvPr id="6" name="Shape 4"/>
          <p:cNvSpPr/>
          <p:nvPr/>
        </p:nvSpPr>
        <p:spPr>
          <a:xfrm>
            <a:off x="398804" y="1728150"/>
            <a:ext cx="37981" cy="2776117"/>
          </a:xfrm>
          <a:custGeom>
            <a:avLst/>
            <a:gdLst/>
            <a:ahLst/>
            <a:cxnLst/>
            <a:rect l="l" t="t" r="r" b="b"/>
            <a:pathLst>
              <a:path w="37981" h="1709159">
                <a:moveTo>
                  <a:pt x="37981" y="0"/>
                </a:moveTo>
                <a:lnTo>
                  <a:pt x="37981" y="0"/>
                </a:lnTo>
                <a:lnTo>
                  <a:pt x="37981" y="1709159"/>
                </a:lnTo>
                <a:lnTo>
                  <a:pt x="37981" y="1709159"/>
                </a:lnTo>
                <a:cubicBezTo>
                  <a:pt x="17005" y="1709159"/>
                  <a:pt x="0" y="1692154"/>
                  <a:pt x="0" y="1671178"/>
                </a:cubicBezTo>
                <a:lnTo>
                  <a:pt x="0" y="37981"/>
                </a:lnTo>
                <a:cubicBezTo>
                  <a:pt x="0" y="17019"/>
                  <a:pt x="17019" y="0"/>
                  <a:pt x="37981" y="0"/>
                </a:cubicBezTo>
                <a:close/>
              </a:path>
            </a:pathLst>
          </a:custGeom>
          <a:solidFill>
            <a:srgbClr val="E6B450"/>
          </a:solidFill>
        </p:spPr>
      </p:sp>
      <p:sp>
        <p:nvSpPr>
          <p:cNvPr id="7" name="Shape 5"/>
          <p:cNvSpPr/>
          <p:nvPr/>
        </p:nvSpPr>
        <p:spPr>
          <a:xfrm>
            <a:off x="612449" y="1994019"/>
            <a:ext cx="227888" cy="227888"/>
          </a:xfrm>
          <a:custGeom>
            <a:avLst/>
            <a:gdLst/>
            <a:ahLst/>
            <a:cxnLst/>
            <a:rect l="l" t="t" r="r" b="b"/>
            <a:pathLst>
              <a:path w="227888" h="227888">
                <a:moveTo>
                  <a:pt x="53411" y="24925"/>
                </a:moveTo>
                <a:cubicBezTo>
                  <a:pt x="53411" y="11172"/>
                  <a:pt x="64583" y="0"/>
                  <a:pt x="78336" y="0"/>
                </a:cubicBezTo>
                <a:lnTo>
                  <a:pt x="89019" y="0"/>
                </a:lnTo>
                <a:cubicBezTo>
                  <a:pt x="96897" y="0"/>
                  <a:pt x="103262" y="6365"/>
                  <a:pt x="103262" y="14243"/>
                </a:cubicBezTo>
                <a:lnTo>
                  <a:pt x="103262" y="213645"/>
                </a:lnTo>
                <a:cubicBezTo>
                  <a:pt x="103262" y="221523"/>
                  <a:pt x="96897" y="227888"/>
                  <a:pt x="89019" y="227888"/>
                </a:cubicBezTo>
                <a:lnTo>
                  <a:pt x="74776" y="227888"/>
                </a:lnTo>
                <a:cubicBezTo>
                  <a:pt x="61512" y="227888"/>
                  <a:pt x="50340" y="218808"/>
                  <a:pt x="47180" y="206523"/>
                </a:cubicBezTo>
                <a:cubicBezTo>
                  <a:pt x="46868" y="206523"/>
                  <a:pt x="46601" y="206523"/>
                  <a:pt x="46290" y="206523"/>
                </a:cubicBezTo>
                <a:cubicBezTo>
                  <a:pt x="26617" y="206523"/>
                  <a:pt x="10682" y="190589"/>
                  <a:pt x="10682" y="170916"/>
                </a:cubicBezTo>
                <a:cubicBezTo>
                  <a:pt x="10682" y="162904"/>
                  <a:pt x="13353" y="155516"/>
                  <a:pt x="17804" y="149551"/>
                </a:cubicBezTo>
                <a:cubicBezTo>
                  <a:pt x="9169" y="143053"/>
                  <a:pt x="3561" y="132727"/>
                  <a:pt x="3561" y="121065"/>
                </a:cubicBezTo>
                <a:cubicBezTo>
                  <a:pt x="3561" y="107312"/>
                  <a:pt x="11394" y="95339"/>
                  <a:pt x="22789" y="89419"/>
                </a:cubicBezTo>
                <a:cubicBezTo>
                  <a:pt x="19629" y="84078"/>
                  <a:pt x="17804" y="77847"/>
                  <a:pt x="17804" y="71215"/>
                </a:cubicBezTo>
                <a:cubicBezTo>
                  <a:pt x="17804" y="51542"/>
                  <a:pt x="33738" y="35607"/>
                  <a:pt x="53411" y="35607"/>
                </a:cubicBezTo>
                <a:lnTo>
                  <a:pt x="53411" y="24925"/>
                </a:lnTo>
                <a:close/>
                <a:moveTo>
                  <a:pt x="174477" y="24925"/>
                </a:moveTo>
                <a:lnTo>
                  <a:pt x="174477" y="35607"/>
                </a:lnTo>
                <a:cubicBezTo>
                  <a:pt x="194150" y="35607"/>
                  <a:pt x="210084" y="51542"/>
                  <a:pt x="210084" y="71215"/>
                </a:cubicBezTo>
                <a:cubicBezTo>
                  <a:pt x="210084" y="77891"/>
                  <a:pt x="208259" y="84123"/>
                  <a:pt x="205099" y="89419"/>
                </a:cubicBezTo>
                <a:cubicBezTo>
                  <a:pt x="216538" y="95339"/>
                  <a:pt x="224327" y="107268"/>
                  <a:pt x="224327" y="121065"/>
                </a:cubicBezTo>
                <a:cubicBezTo>
                  <a:pt x="224327" y="132727"/>
                  <a:pt x="218719" y="143053"/>
                  <a:pt x="210084" y="149551"/>
                </a:cubicBezTo>
                <a:cubicBezTo>
                  <a:pt x="214535" y="155516"/>
                  <a:pt x="217206" y="162904"/>
                  <a:pt x="217206" y="170916"/>
                </a:cubicBezTo>
                <a:cubicBezTo>
                  <a:pt x="217206" y="190589"/>
                  <a:pt x="201271" y="206523"/>
                  <a:pt x="181598" y="206523"/>
                </a:cubicBezTo>
                <a:cubicBezTo>
                  <a:pt x="181287" y="206523"/>
                  <a:pt x="181020" y="206523"/>
                  <a:pt x="180708" y="206523"/>
                </a:cubicBezTo>
                <a:cubicBezTo>
                  <a:pt x="177548" y="218808"/>
                  <a:pt x="166376" y="227888"/>
                  <a:pt x="153112" y="227888"/>
                </a:cubicBezTo>
                <a:lnTo>
                  <a:pt x="138869" y="227888"/>
                </a:lnTo>
                <a:cubicBezTo>
                  <a:pt x="130991" y="227888"/>
                  <a:pt x="124626" y="221523"/>
                  <a:pt x="124626" y="213645"/>
                </a:cubicBezTo>
                <a:lnTo>
                  <a:pt x="124626" y="14243"/>
                </a:lnTo>
                <a:cubicBezTo>
                  <a:pt x="124626" y="6365"/>
                  <a:pt x="130991" y="0"/>
                  <a:pt x="138869" y="0"/>
                </a:cubicBezTo>
                <a:lnTo>
                  <a:pt x="149551" y="0"/>
                </a:lnTo>
                <a:cubicBezTo>
                  <a:pt x="163305" y="0"/>
                  <a:pt x="174477" y="11172"/>
                  <a:pt x="174477" y="24925"/>
                </a:cubicBezTo>
                <a:close/>
              </a:path>
            </a:pathLst>
          </a:custGeom>
          <a:solidFill>
            <a:srgbClr val="E6B450"/>
          </a:solidFill>
        </p:spPr>
      </p:sp>
      <p:sp>
        <p:nvSpPr>
          <p:cNvPr id="8" name="Text 6"/>
          <p:cNvSpPr/>
          <p:nvPr/>
        </p:nvSpPr>
        <p:spPr>
          <a:xfrm>
            <a:off x="956506" y="1956037"/>
            <a:ext cx="2122450" cy="303850"/>
          </a:xfrm>
          <a:prstGeom prst="rect">
            <a:avLst/>
          </a:prstGeom>
          <a:noFill/>
        </p:spPr>
        <p:txBody>
          <a:bodyPr wrap="square" lIns="0" tIns="0" rIns="0" bIns="0" rtlCol="0" anchor="ctr"/>
          <a:lstStyle/>
          <a:p>
            <a:pPr>
              <a:lnSpc>
                <a:spcPct val="110000"/>
              </a:lnSpc>
            </a:pPr>
            <a:r>
              <a:rPr lang="en-US" sz="1795" b="1" dirty="0">
                <a:latin typeface="微软雅黑" panose="020B0503020204020204" pitchFamily="34" charset="-122"/>
                <a:ea typeface="微软雅黑" panose="020B0503020204020204" pitchFamily="34" charset="-122"/>
                <a:cs typeface="微软雅黑" panose="020B0503020204020204" pitchFamily="34" charset="-122"/>
              </a:rPr>
              <a:t>探索决策的重要性</a:t>
            </a:r>
            <a:endParaRPr lang="en-US" sz="1600" dirty="0"/>
          </a:p>
        </p:txBody>
      </p:sp>
      <p:sp>
        <p:nvSpPr>
          <p:cNvPr id="9" name="Text 7"/>
          <p:cNvSpPr/>
          <p:nvPr/>
        </p:nvSpPr>
        <p:spPr>
          <a:xfrm>
            <a:off x="956506" y="2373832"/>
            <a:ext cx="4238151" cy="1916237"/>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自主探索系统中</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探索决策与路径规划</a:t>
            </a:r>
            <a:r>
              <a:rPr lang="en-US" sz="1600" dirty="0">
                <a:latin typeface="微软雅黑" panose="020B0503020204020204" pitchFamily="34" charset="-122"/>
                <a:ea typeface="微软雅黑" panose="020B0503020204020204" pitchFamily="34" charset="-122"/>
                <a:cs typeface="微软雅黑" panose="020B0503020204020204" pitchFamily="34" charset="-122"/>
              </a:rPr>
              <a:t>部分的关系如图7-15所示。探索决策模块在整个自主探索系统的软件框架中占有重要地位，它相当于机器人的</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大脑 </a:t>
            </a:r>
            <a:r>
              <a:rPr lang="en-US" sz="1600" dirty="0">
                <a:latin typeface="微软雅黑" panose="020B0503020204020204" pitchFamily="34" charset="-122"/>
                <a:ea typeface="微软雅黑" panose="020B0503020204020204" pitchFamily="34" charset="-122"/>
                <a:cs typeface="微软雅黑" panose="020B0503020204020204" pitchFamily="34" charset="-122"/>
              </a:rPr>
              <a:t>，需要思考机器人到哪里才能获取到更多的环境信息，所以它是系统实现</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自主移动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的基础。</a:t>
            </a:r>
            <a:endParaRPr lang="en-US" sz="2000" dirty="0"/>
          </a:p>
        </p:txBody>
      </p:sp>
      <p:sp>
        <p:nvSpPr>
          <p:cNvPr id="10" name="Shape 8"/>
          <p:cNvSpPr/>
          <p:nvPr/>
        </p:nvSpPr>
        <p:spPr>
          <a:xfrm>
            <a:off x="398804" y="4670356"/>
            <a:ext cx="5222430" cy="1433794"/>
          </a:xfrm>
          <a:custGeom>
            <a:avLst/>
            <a:gdLst/>
            <a:ahLst/>
            <a:cxnLst/>
            <a:rect l="l" t="t" r="r" b="b"/>
            <a:pathLst>
              <a:path w="7396860" h="1433794">
                <a:moveTo>
                  <a:pt x="37981" y="0"/>
                </a:moveTo>
                <a:lnTo>
                  <a:pt x="7282916" y="0"/>
                </a:lnTo>
                <a:cubicBezTo>
                  <a:pt x="7345846" y="0"/>
                  <a:pt x="7396860" y="51014"/>
                  <a:pt x="7396860" y="113944"/>
                </a:cubicBezTo>
                <a:lnTo>
                  <a:pt x="7396860" y="1319851"/>
                </a:lnTo>
                <a:cubicBezTo>
                  <a:pt x="7396860" y="1382780"/>
                  <a:pt x="7345846" y="1433794"/>
                  <a:pt x="7282916" y="1433794"/>
                </a:cubicBezTo>
                <a:lnTo>
                  <a:pt x="37981" y="1433794"/>
                </a:lnTo>
                <a:cubicBezTo>
                  <a:pt x="17005" y="1433794"/>
                  <a:pt x="0" y="1416790"/>
                  <a:pt x="0" y="1395813"/>
                </a:cubicBezTo>
                <a:lnTo>
                  <a:pt x="0" y="37981"/>
                </a:lnTo>
                <a:cubicBezTo>
                  <a:pt x="0" y="17019"/>
                  <a:pt x="17019" y="0"/>
                  <a:pt x="37981" y="0"/>
                </a:cubicBezTo>
                <a:close/>
              </a:path>
            </a:pathLst>
          </a:custGeom>
          <a:solidFill>
            <a:srgbClr val="5F87A7">
              <a:alpha val="10196"/>
            </a:srgbClr>
          </a:solidFill>
        </p:spPr>
      </p:sp>
      <p:sp>
        <p:nvSpPr>
          <p:cNvPr id="11" name="Shape 9"/>
          <p:cNvSpPr/>
          <p:nvPr/>
        </p:nvSpPr>
        <p:spPr>
          <a:xfrm>
            <a:off x="398804" y="4670356"/>
            <a:ext cx="37981" cy="1433794"/>
          </a:xfrm>
          <a:custGeom>
            <a:avLst/>
            <a:gdLst/>
            <a:ahLst/>
            <a:cxnLst/>
            <a:rect l="l" t="t" r="r" b="b"/>
            <a:pathLst>
              <a:path w="37981" h="1433794">
                <a:moveTo>
                  <a:pt x="37981" y="0"/>
                </a:moveTo>
                <a:lnTo>
                  <a:pt x="37981" y="0"/>
                </a:lnTo>
                <a:lnTo>
                  <a:pt x="37981" y="1433794"/>
                </a:lnTo>
                <a:lnTo>
                  <a:pt x="37981" y="1433794"/>
                </a:lnTo>
                <a:cubicBezTo>
                  <a:pt x="17005" y="1433794"/>
                  <a:pt x="0" y="1416790"/>
                  <a:pt x="0" y="1395813"/>
                </a:cubicBezTo>
                <a:lnTo>
                  <a:pt x="0" y="37981"/>
                </a:lnTo>
                <a:cubicBezTo>
                  <a:pt x="0" y="17019"/>
                  <a:pt x="17019" y="0"/>
                  <a:pt x="37981" y="0"/>
                </a:cubicBezTo>
                <a:close/>
              </a:path>
            </a:pathLst>
          </a:custGeom>
          <a:solidFill>
            <a:srgbClr val="E6B450"/>
          </a:solidFill>
        </p:spPr>
      </p:sp>
      <p:sp>
        <p:nvSpPr>
          <p:cNvPr id="12" name="Shape 10"/>
          <p:cNvSpPr/>
          <p:nvPr/>
        </p:nvSpPr>
        <p:spPr>
          <a:xfrm>
            <a:off x="674168" y="4936226"/>
            <a:ext cx="227888" cy="227888"/>
          </a:xfrm>
          <a:custGeom>
            <a:avLst/>
            <a:gdLst/>
            <a:ahLst/>
            <a:cxnLst/>
            <a:rect l="l" t="t" r="r" b="b"/>
            <a:pathLst>
              <a:path w="227888" h="227888">
                <a:moveTo>
                  <a:pt x="0" y="35607"/>
                </a:moveTo>
                <a:cubicBezTo>
                  <a:pt x="0" y="23812"/>
                  <a:pt x="9570" y="14243"/>
                  <a:pt x="21364" y="14243"/>
                </a:cubicBezTo>
                <a:lnTo>
                  <a:pt x="64093" y="14243"/>
                </a:lnTo>
                <a:cubicBezTo>
                  <a:pt x="75888" y="14243"/>
                  <a:pt x="85458" y="23812"/>
                  <a:pt x="85458" y="35607"/>
                </a:cubicBezTo>
                <a:lnTo>
                  <a:pt x="85458" y="42729"/>
                </a:lnTo>
                <a:lnTo>
                  <a:pt x="142430" y="42729"/>
                </a:lnTo>
                <a:lnTo>
                  <a:pt x="142430" y="35607"/>
                </a:lnTo>
                <a:cubicBezTo>
                  <a:pt x="142430" y="23812"/>
                  <a:pt x="151999" y="14243"/>
                  <a:pt x="163794" y="14243"/>
                </a:cubicBezTo>
                <a:lnTo>
                  <a:pt x="206523" y="14243"/>
                </a:lnTo>
                <a:cubicBezTo>
                  <a:pt x="218318" y="14243"/>
                  <a:pt x="227888" y="23812"/>
                  <a:pt x="227888" y="35607"/>
                </a:cubicBezTo>
                <a:lnTo>
                  <a:pt x="227888" y="78336"/>
                </a:lnTo>
                <a:cubicBezTo>
                  <a:pt x="227888" y="90131"/>
                  <a:pt x="218318" y="99701"/>
                  <a:pt x="206523" y="99701"/>
                </a:cubicBezTo>
                <a:lnTo>
                  <a:pt x="163794" y="99701"/>
                </a:lnTo>
                <a:cubicBezTo>
                  <a:pt x="151999" y="99701"/>
                  <a:pt x="142430" y="90131"/>
                  <a:pt x="142430" y="78336"/>
                </a:cubicBezTo>
                <a:lnTo>
                  <a:pt x="142430" y="71215"/>
                </a:lnTo>
                <a:lnTo>
                  <a:pt x="85458" y="71215"/>
                </a:lnTo>
                <a:lnTo>
                  <a:pt x="85458" y="78336"/>
                </a:lnTo>
                <a:cubicBezTo>
                  <a:pt x="85458" y="81586"/>
                  <a:pt x="84701" y="84701"/>
                  <a:pt x="83411" y="87461"/>
                </a:cubicBezTo>
                <a:lnTo>
                  <a:pt x="113944" y="128187"/>
                </a:lnTo>
                <a:lnTo>
                  <a:pt x="149551" y="128187"/>
                </a:lnTo>
                <a:cubicBezTo>
                  <a:pt x="161346" y="128187"/>
                  <a:pt x="170916" y="137756"/>
                  <a:pt x="170916" y="149551"/>
                </a:cubicBezTo>
                <a:lnTo>
                  <a:pt x="170916" y="192280"/>
                </a:lnTo>
                <a:cubicBezTo>
                  <a:pt x="170916" y="204075"/>
                  <a:pt x="161346" y="213645"/>
                  <a:pt x="149551" y="213645"/>
                </a:cubicBezTo>
                <a:lnTo>
                  <a:pt x="106822" y="213645"/>
                </a:lnTo>
                <a:cubicBezTo>
                  <a:pt x="95027" y="213645"/>
                  <a:pt x="85458" y="204075"/>
                  <a:pt x="85458" y="192280"/>
                </a:cubicBezTo>
                <a:lnTo>
                  <a:pt x="85458" y="149551"/>
                </a:lnTo>
                <a:cubicBezTo>
                  <a:pt x="85458" y="146302"/>
                  <a:pt x="86215" y="143187"/>
                  <a:pt x="87505" y="140427"/>
                </a:cubicBezTo>
                <a:lnTo>
                  <a:pt x="56972" y="99701"/>
                </a:lnTo>
                <a:lnTo>
                  <a:pt x="21364" y="99701"/>
                </a:lnTo>
                <a:cubicBezTo>
                  <a:pt x="9570" y="99701"/>
                  <a:pt x="0" y="90131"/>
                  <a:pt x="0" y="78336"/>
                </a:cubicBezTo>
                <a:lnTo>
                  <a:pt x="0" y="35607"/>
                </a:lnTo>
                <a:close/>
              </a:path>
            </a:pathLst>
          </a:custGeom>
          <a:solidFill>
            <a:srgbClr val="E6B450"/>
          </a:solidFill>
        </p:spPr>
      </p:sp>
      <p:sp>
        <p:nvSpPr>
          <p:cNvPr id="13" name="Text 11"/>
          <p:cNvSpPr/>
          <p:nvPr/>
        </p:nvSpPr>
        <p:spPr>
          <a:xfrm>
            <a:off x="1082319" y="4898244"/>
            <a:ext cx="1508719" cy="303850"/>
          </a:xfrm>
          <a:prstGeom prst="rect">
            <a:avLst/>
          </a:prstGeom>
          <a:noFill/>
        </p:spPr>
        <p:txBody>
          <a:bodyPr wrap="square" lIns="0" tIns="0" rIns="0" bIns="0" rtlCol="0" anchor="ctr"/>
          <a:lstStyle/>
          <a:p>
            <a:pPr>
              <a:lnSpc>
                <a:spcPct val="110000"/>
              </a:lnSpc>
            </a:pPr>
            <a:r>
              <a:rPr lang="en-US" sz="1795" b="1" dirty="0">
                <a:latin typeface="微软雅黑" panose="020B0503020204020204" pitchFamily="34" charset="-122"/>
                <a:ea typeface="微软雅黑" panose="020B0503020204020204" pitchFamily="34" charset="-122"/>
                <a:cs typeface="微软雅黑" panose="020B0503020204020204" pitchFamily="34" charset="-122"/>
              </a:rPr>
              <a:t>系统架构</a:t>
            </a:r>
            <a:endParaRPr lang="en-US" sz="1600" dirty="0"/>
          </a:p>
        </p:txBody>
      </p:sp>
      <p:sp>
        <p:nvSpPr>
          <p:cNvPr id="14" name="Text 12"/>
          <p:cNvSpPr/>
          <p:nvPr/>
        </p:nvSpPr>
        <p:spPr>
          <a:xfrm>
            <a:off x="1082319" y="5316039"/>
            <a:ext cx="4112338" cy="560224"/>
          </a:xfrm>
          <a:prstGeom prst="rect">
            <a:avLst/>
          </a:prstGeom>
          <a:noFill/>
        </p:spPr>
        <p:txBody>
          <a:bodyPr wrap="square" lIns="0" tIns="0" rIns="0" bIns="0" rtlCol="0" anchor="ctr"/>
          <a:lstStyle/>
          <a:p>
            <a:pPr>
              <a:lnSpc>
                <a:spcPct val="140000"/>
              </a:lnSpc>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探索决策和路径规划相互配合实现机器人的自主探索</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000" dirty="0"/>
          </a:p>
        </p:txBody>
      </p:sp>
      <p:sp>
        <p:nvSpPr>
          <p:cNvPr id="19" name="Text 17"/>
          <p:cNvSpPr/>
          <p:nvPr/>
        </p:nvSpPr>
        <p:spPr>
          <a:xfrm>
            <a:off x="1207250" y="6384539"/>
            <a:ext cx="8889249" cy="275364"/>
          </a:xfrm>
          <a:prstGeom prst="rect">
            <a:avLst/>
          </a:prstGeom>
          <a:noFill/>
        </p:spPr>
        <p:txBody>
          <a:bodyPr wrap="square" lIns="0" tIns="0" rIns="0" bIns="0" rtlCol="0" anchor="ctr"/>
          <a:lstStyle/>
          <a:p>
            <a:pPr algn="ct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探索决策负责</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确定探索目标</a:t>
            </a:r>
            <a:r>
              <a:rPr lang="en-US" sz="1600" dirty="0">
                <a:latin typeface="微软雅黑" panose="020B0503020204020204" pitchFamily="34" charset="-122"/>
                <a:ea typeface="微软雅黑" panose="020B0503020204020204" pitchFamily="34" charset="-122"/>
                <a:cs typeface="微软雅黑" panose="020B0503020204020204" pitchFamily="34" charset="-122"/>
              </a:rPr>
              <a:t>，路径规划负责</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计算到达目标的路径</a:t>
            </a:r>
            <a:r>
              <a:rPr lang="en-US" sz="1600" dirty="0">
                <a:latin typeface="微软雅黑" panose="020B0503020204020204" pitchFamily="34" charset="-122"/>
                <a:ea typeface="微软雅黑" panose="020B0503020204020204" pitchFamily="34" charset="-122"/>
                <a:cs typeface="微软雅黑" panose="020B0503020204020204" pitchFamily="34" charset="-122"/>
              </a:rPr>
              <a:t>，两者协同工作。</a:t>
            </a:r>
            <a:endParaRPr lang="en-US" sz="2000" dirty="0"/>
          </a:p>
        </p:txBody>
      </p:sp>
      <p:grpSp>
        <p:nvGrpSpPr>
          <p:cNvPr id="42" name="组合 41">
            <a:extLst>
              <a:ext uri="{FF2B5EF4-FFF2-40B4-BE49-F238E27FC236}">
                <a16:creationId xmlns:a16="http://schemas.microsoft.com/office/drawing/2014/main" id="{46E66522-4D6D-4F3B-E247-AD23710AC840}"/>
              </a:ext>
            </a:extLst>
          </p:cNvPr>
          <p:cNvGrpSpPr/>
          <p:nvPr/>
        </p:nvGrpSpPr>
        <p:grpSpPr>
          <a:xfrm>
            <a:off x="0" y="939798"/>
            <a:ext cx="5022850" cy="625474"/>
            <a:chOff x="0" y="1075267"/>
            <a:chExt cx="5022850" cy="625474"/>
          </a:xfrm>
        </p:grpSpPr>
        <p:sp>
          <p:nvSpPr>
            <p:cNvPr id="43" name="矩形 42">
              <a:extLst>
                <a:ext uri="{FF2B5EF4-FFF2-40B4-BE49-F238E27FC236}">
                  <a16:creationId xmlns:a16="http://schemas.microsoft.com/office/drawing/2014/main" id="{87A960FD-ACC1-A18E-DF66-20CCCF2BE204}"/>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D0087F8A-422B-57DA-6426-5FFC2D369D2B}"/>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7.3.3 </a:t>
              </a:r>
              <a:r>
                <a:rPr lang="zh-CN" altLang="en-US" sz="2400" b="1" dirty="0">
                  <a:solidFill>
                    <a:schemeClr val="accent1"/>
                  </a:solidFill>
                  <a:latin typeface="+mj-lt"/>
                </a:rPr>
                <a:t>未知环境自主探索</a:t>
              </a:r>
            </a:p>
          </p:txBody>
        </p:sp>
      </p:grpSp>
      <p:pic>
        <p:nvPicPr>
          <p:cNvPr id="45" name="图片 44">
            <a:extLst>
              <a:ext uri="{FF2B5EF4-FFF2-40B4-BE49-F238E27FC236}">
                <a16:creationId xmlns:a16="http://schemas.microsoft.com/office/drawing/2014/main" id="{4EBAACE9-A20F-0675-DDED-0735B342788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5621234" y="1679434"/>
            <a:ext cx="6570766" cy="4286005"/>
          </a:xfrm>
          <a:prstGeom prst="rect">
            <a:avLst/>
          </a:prstGeom>
          <a:noFill/>
          <a:ln>
            <a:noFill/>
          </a:ln>
        </p:spPr>
      </p:pic>
    </p:spTree>
    <p:extLst>
      <p:ext uri="{BB962C8B-B14F-4D97-AF65-F5344CB8AC3E}">
        <p14:creationId xmlns:p14="http://schemas.microsoft.com/office/powerpoint/2010/main" val="4278758214"/>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56094" y="1903293"/>
            <a:ext cx="9753105" cy="2152239"/>
          </a:xfrm>
          <a:custGeom>
            <a:avLst/>
            <a:gdLst/>
            <a:ahLst/>
            <a:cxnLst/>
            <a:rect l="l" t="t" r="r" b="b"/>
            <a:pathLst>
              <a:path w="7969736" h="1526120">
                <a:moveTo>
                  <a:pt x="33914" y="0"/>
                </a:moveTo>
                <a:lnTo>
                  <a:pt x="7867989" y="0"/>
                </a:lnTo>
                <a:cubicBezTo>
                  <a:pt x="7924182" y="0"/>
                  <a:pt x="7969736" y="45553"/>
                  <a:pt x="7969736" y="101746"/>
                </a:cubicBezTo>
                <a:lnTo>
                  <a:pt x="7969736" y="1424373"/>
                </a:lnTo>
                <a:cubicBezTo>
                  <a:pt x="7969736" y="1480566"/>
                  <a:pt x="7924182" y="1526120"/>
                  <a:pt x="7867989" y="1526120"/>
                </a:cubicBezTo>
                <a:lnTo>
                  <a:pt x="33914" y="1526120"/>
                </a:lnTo>
                <a:cubicBezTo>
                  <a:pt x="15184" y="1526120"/>
                  <a:pt x="0" y="1510936"/>
                  <a:pt x="0" y="1492206"/>
                </a:cubicBezTo>
                <a:lnTo>
                  <a:pt x="0" y="33914"/>
                </a:lnTo>
                <a:cubicBezTo>
                  <a:pt x="0" y="15196"/>
                  <a:pt x="15196" y="0"/>
                  <a:pt x="33914" y="0"/>
                </a:cubicBezTo>
                <a:close/>
              </a:path>
            </a:pathLst>
          </a:custGeom>
          <a:solidFill>
            <a:srgbClr val="5F87A7">
              <a:alpha val="10196"/>
            </a:srgbClr>
          </a:solidFill>
        </p:spPr>
      </p:sp>
      <p:sp>
        <p:nvSpPr>
          <p:cNvPr id="6" name="Shape 4"/>
          <p:cNvSpPr/>
          <p:nvPr/>
        </p:nvSpPr>
        <p:spPr>
          <a:xfrm>
            <a:off x="356095" y="1903293"/>
            <a:ext cx="33914" cy="2152239"/>
          </a:xfrm>
          <a:custGeom>
            <a:avLst/>
            <a:gdLst/>
            <a:ahLst/>
            <a:cxnLst/>
            <a:rect l="l" t="t" r="r" b="b"/>
            <a:pathLst>
              <a:path w="33914" h="1526120">
                <a:moveTo>
                  <a:pt x="33914" y="0"/>
                </a:moveTo>
                <a:lnTo>
                  <a:pt x="33914" y="0"/>
                </a:lnTo>
                <a:lnTo>
                  <a:pt x="33914" y="1526120"/>
                </a:lnTo>
                <a:lnTo>
                  <a:pt x="33914" y="1526120"/>
                </a:lnTo>
                <a:cubicBezTo>
                  <a:pt x="15184" y="1526120"/>
                  <a:pt x="0" y="1510936"/>
                  <a:pt x="0" y="1492206"/>
                </a:cubicBezTo>
                <a:lnTo>
                  <a:pt x="0" y="33914"/>
                </a:lnTo>
                <a:cubicBezTo>
                  <a:pt x="0" y="15184"/>
                  <a:pt x="15184" y="0"/>
                  <a:pt x="33914" y="0"/>
                </a:cubicBezTo>
                <a:close/>
              </a:path>
            </a:pathLst>
          </a:custGeom>
          <a:solidFill>
            <a:srgbClr val="E6B450"/>
          </a:solidFill>
        </p:spPr>
      </p:sp>
      <p:sp>
        <p:nvSpPr>
          <p:cNvPr id="7" name="Shape 5"/>
          <p:cNvSpPr/>
          <p:nvPr/>
        </p:nvSpPr>
        <p:spPr>
          <a:xfrm>
            <a:off x="559577" y="2140691"/>
            <a:ext cx="178047" cy="203483"/>
          </a:xfrm>
          <a:custGeom>
            <a:avLst/>
            <a:gdLst/>
            <a:ahLst/>
            <a:cxnLst/>
            <a:rect l="l" t="t" r="r" b="b"/>
            <a:pathLst>
              <a:path w="178047" h="203483">
                <a:moveTo>
                  <a:pt x="0" y="178047"/>
                </a:moveTo>
                <a:cubicBezTo>
                  <a:pt x="0" y="185082"/>
                  <a:pt x="5683" y="190765"/>
                  <a:pt x="12718" y="190765"/>
                </a:cubicBezTo>
                <a:cubicBezTo>
                  <a:pt x="19752" y="190765"/>
                  <a:pt x="25435" y="185082"/>
                  <a:pt x="25435" y="178047"/>
                </a:cubicBezTo>
                <a:lnTo>
                  <a:pt x="25435" y="38153"/>
                </a:lnTo>
                <a:lnTo>
                  <a:pt x="165330" y="38153"/>
                </a:lnTo>
                <a:cubicBezTo>
                  <a:pt x="172364" y="38153"/>
                  <a:pt x="178047" y="32470"/>
                  <a:pt x="178047" y="25435"/>
                </a:cubicBezTo>
                <a:cubicBezTo>
                  <a:pt x="178047" y="18401"/>
                  <a:pt x="172364" y="12718"/>
                  <a:pt x="165330" y="12718"/>
                </a:cubicBezTo>
                <a:lnTo>
                  <a:pt x="25435" y="12718"/>
                </a:lnTo>
                <a:cubicBezTo>
                  <a:pt x="11406" y="12718"/>
                  <a:pt x="0" y="24124"/>
                  <a:pt x="0" y="38153"/>
                </a:cubicBezTo>
                <a:lnTo>
                  <a:pt x="0" y="178047"/>
                </a:lnTo>
                <a:close/>
                <a:moveTo>
                  <a:pt x="50871" y="178047"/>
                </a:moveTo>
                <a:cubicBezTo>
                  <a:pt x="50871" y="185082"/>
                  <a:pt x="56554" y="190765"/>
                  <a:pt x="63588" y="190765"/>
                </a:cubicBezTo>
                <a:cubicBezTo>
                  <a:pt x="70623" y="190765"/>
                  <a:pt x="76306" y="185082"/>
                  <a:pt x="76306" y="178047"/>
                </a:cubicBezTo>
                <a:cubicBezTo>
                  <a:pt x="76306" y="171013"/>
                  <a:pt x="70623" y="165330"/>
                  <a:pt x="63588" y="165330"/>
                </a:cubicBezTo>
                <a:cubicBezTo>
                  <a:pt x="56554" y="165330"/>
                  <a:pt x="50871" y="171013"/>
                  <a:pt x="50871" y="178047"/>
                </a:cubicBezTo>
                <a:close/>
                <a:moveTo>
                  <a:pt x="101741" y="178047"/>
                </a:moveTo>
                <a:cubicBezTo>
                  <a:pt x="101741" y="185082"/>
                  <a:pt x="107425" y="190765"/>
                  <a:pt x="114459" y="190765"/>
                </a:cubicBezTo>
                <a:cubicBezTo>
                  <a:pt x="121493" y="190765"/>
                  <a:pt x="127177" y="185082"/>
                  <a:pt x="127177" y="178047"/>
                </a:cubicBezTo>
                <a:cubicBezTo>
                  <a:pt x="127177" y="171013"/>
                  <a:pt x="121493" y="165330"/>
                  <a:pt x="114459" y="165330"/>
                </a:cubicBezTo>
                <a:cubicBezTo>
                  <a:pt x="107425" y="165330"/>
                  <a:pt x="101741" y="171013"/>
                  <a:pt x="101741" y="178047"/>
                </a:cubicBezTo>
                <a:close/>
                <a:moveTo>
                  <a:pt x="165330" y="190765"/>
                </a:moveTo>
                <a:cubicBezTo>
                  <a:pt x="172364" y="190765"/>
                  <a:pt x="178047" y="185082"/>
                  <a:pt x="178047" y="178047"/>
                </a:cubicBezTo>
                <a:cubicBezTo>
                  <a:pt x="178047" y="171013"/>
                  <a:pt x="172364" y="165330"/>
                  <a:pt x="165330" y="165330"/>
                </a:cubicBezTo>
                <a:cubicBezTo>
                  <a:pt x="158295" y="165330"/>
                  <a:pt x="152612" y="171013"/>
                  <a:pt x="152612" y="178047"/>
                </a:cubicBezTo>
                <a:cubicBezTo>
                  <a:pt x="152612" y="185082"/>
                  <a:pt x="158295" y="190765"/>
                  <a:pt x="165330" y="190765"/>
                </a:cubicBezTo>
                <a:close/>
                <a:moveTo>
                  <a:pt x="152612" y="76306"/>
                </a:moveTo>
                <a:cubicBezTo>
                  <a:pt x="152612" y="83325"/>
                  <a:pt x="158311" y="89024"/>
                  <a:pt x="165330" y="89024"/>
                </a:cubicBezTo>
                <a:cubicBezTo>
                  <a:pt x="172349" y="89024"/>
                  <a:pt x="178047" y="83325"/>
                  <a:pt x="178047" y="76306"/>
                </a:cubicBezTo>
                <a:cubicBezTo>
                  <a:pt x="178047" y="69287"/>
                  <a:pt x="172349" y="63588"/>
                  <a:pt x="165330" y="63588"/>
                </a:cubicBezTo>
                <a:cubicBezTo>
                  <a:pt x="158311" y="63588"/>
                  <a:pt x="152612" y="69287"/>
                  <a:pt x="152612" y="76306"/>
                </a:cubicBezTo>
                <a:close/>
                <a:moveTo>
                  <a:pt x="165330" y="139894"/>
                </a:moveTo>
                <a:cubicBezTo>
                  <a:pt x="172349" y="139894"/>
                  <a:pt x="178047" y="134196"/>
                  <a:pt x="178047" y="127177"/>
                </a:cubicBezTo>
                <a:cubicBezTo>
                  <a:pt x="178047" y="120158"/>
                  <a:pt x="172349" y="114459"/>
                  <a:pt x="165330" y="114459"/>
                </a:cubicBezTo>
                <a:cubicBezTo>
                  <a:pt x="158311" y="114459"/>
                  <a:pt x="152612" y="120158"/>
                  <a:pt x="152612" y="127177"/>
                </a:cubicBezTo>
                <a:cubicBezTo>
                  <a:pt x="152612" y="134196"/>
                  <a:pt x="158311" y="139894"/>
                  <a:pt x="165330" y="139894"/>
                </a:cubicBezTo>
                <a:close/>
              </a:path>
            </a:pathLst>
          </a:custGeom>
          <a:solidFill>
            <a:srgbClr val="E6B450"/>
          </a:solidFill>
        </p:spPr>
      </p:sp>
      <p:sp>
        <p:nvSpPr>
          <p:cNvPr id="8" name="Text 6"/>
          <p:cNvSpPr/>
          <p:nvPr/>
        </p:nvSpPr>
        <p:spPr>
          <a:xfrm>
            <a:off x="854071" y="2106777"/>
            <a:ext cx="7367766" cy="27131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边界引导策略</a:t>
            </a:r>
            <a:endParaRPr lang="en-US" dirty="0"/>
          </a:p>
        </p:txBody>
      </p:sp>
      <p:sp>
        <p:nvSpPr>
          <p:cNvPr id="9" name="Text 7"/>
          <p:cNvSpPr/>
          <p:nvPr/>
        </p:nvSpPr>
        <p:spPr>
          <a:xfrm>
            <a:off x="854071" y="2479829"/>
            <a:ext cx="8764062" cy="1347104"/>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传统的探索算法通常利用</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边界（Frontier）</a:t>
            </a:r>
            <a:r>
              <a:rPr lang="en-US" sz="1600" dirty="0">
                <a:latin typeface="微软雅黑" panose="020B0503020204020204" pitchFamily="34" charset="-122"/>
                <a:ea typeface="微软雅黑" panose="020B0503020204020204" pitchFamily="34" charset="-122"/>
                <a:cs typeface="微软雅黑" panose="020B0503020204020204" pitchFamily="34" charset="-122"/>
              </a:rPr>
              <a:t>作为引导，并采取</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贪心策略（Greedy strategy） </a:t>
            </a:r>
            <a:r>
              <a:rPr lang="en-US" sz="1600" dirty="0">
                <a:latin typeface="微软雅黑" panose="020B0503020204020204" pitchFamily="34" charset="-122"/>
                <a:ea typeface="微软雅黑" panose="020B0503020204020204" pitchFamily="34" charset="-122"/>
                <a:cs typeface="微软雅黑" panose="020B0503020204020204" pitchFamily="34" charset="-122"/>
              </a:rPr>
              <a:t>。机器人选择得分最高的边界作为局部目标点，机器人的行进和所建立的地图随之扩大，边界也随之变化，直到某个时刻地图中不再出现新的边界，这表明机器人传感器已经覆盖了所有未知空间，即自主探索已完成。</a:t>
            </a:r>
            <a:endParaRPr lang="en-US" sz="2000" dirty="0"/>
          </a:p>
        </p:txBody>
      </p:sp>
      <p:sp>
        <p:nvSpPr>
          <p:cNvPr id="15" name="Shape 13"/>
          <p:cNvSpPr/>
          <p:nvPr/>
        </p:nvSpPr>
        <p:spPr>
          <a:xfrm>
            <a:off x="356095" y="4399063"/>
            <a:ext cx="9753104" cy="2374270"/>
          </a:xfrm>
          <a:custGeom>
            <a:avLst/>
            <a:gdLst/>
            <a:ahLst/>
            <a:cxnLst/>
            <a:rect l="l" t="t" r="r" b="b"/>
            <a:pathLst>
              <a:path w="7969736" h="1280245">
                <a:moveTo>
                  <a:pt x="33914" y="0"/>
                </a:moveTo>
                <a:lnTo>
                  <a:pt x="7867995" y="0"/>
                </a:lnTo>
                <a:cubicBezTo>
                  <a:pt x="7924185" y="0"/>
                  <a:pt x="7969736" y="45551"/>
                  <a:pt x="7969736" y="101741"/>
                </a:cubicBezTo>
                <a:lnTo>
                  <a:pt x="7969736" y="1178504"/>
                </a:lnTo>
                <a:cubicBezTo>
                  <a:pt x="7969736" y="1234694"/>
                  <a:pt x="7924185" y="1280245"/>
                  <a:pt x="7867995" y="1280245"/>
                </a:cubicBezTo>
                <a:lnTo>
                  <a:pt x="33914" y="1280245"/>
                </a:lnTo>
                <a:cubicBezTo>
                  <a:pt x="15184" y="1280245"/>
                  <a:pt x="0" y="1265061"/>
                  <a:pt x="0" y="1246331"/>
                </a:cubicBezTo>
                <a:lnTo>
                  <a:pt x="0" y="33914"/>
                </a:lnTo>
                <a:cubicBezTo>
                  <a:pt x="0" y="15184"/>
                  <a:pt x="15184" y="0"/>
                  <a:pt x="33914" y="0"/>
                </a:cubicBezTo>
                <a:close/>
              </a:path>
            </a:pathLst>
          </a:custGeom>
          <a:solidFill>
            <a:srgbClr val="5F87A7">
              <a:alpha val="10196"/>
            </a:srgbClr>
          </a:solidFill>
        </p:spPr>
      </p:sp>
      <p:sp>
        <p:nvSpPr>
          <p:cNvPr id="16" name="Shape 14"/>
          <p:cNvSpPr/>
          <p:nvPr/>
        </p:nvSpPr>
        <p:spPr>
          <a:xfrm>
            <a:off x="356095" y="4399063"/>
            <a:ext cx="33914" cy="2374270"/>
          </a:xfrm>
          <a:custGeom>
            <a:avLst/>
            <a:gdLst/>
            <a:ahLst/>
            <a:cxnLst/>
            <a:rect l="l" t="t" r="r" b="b"/>
            <a:pathLst>
              <a:path w="33914" h="1280245">
                <a:moveTo>
                  <a:pt x="33914" y="0"/>
                </a:moveTo>
                <a:lnTo>
                  <a:pt x="33914" y="0"/>
                </a:lnTo>
                <a:lnTo>
                  <a:pt x="33914" y="1280245"/>
                </a:lnTo>
                <a:lnTo>
                  <a:pt x="33914" y="1280245"/>
                </a:lnTo>
                <a:cubicBezTo>
                  <a:pt x="15184" y="1280245"/>
                  <a:pt x="0" y="1265061"/>
                  <a:pt x="0" y="1246331"/>
                </a:cubicBezTo>
                <a:lnTo>
                  <a:pt x="0" y="33914"/>
                </a:lnTo>
                <a:cubicBezTo>
                  <a:pt x="0" y="15184"/>
                  <a:pt x="15184" y="0"/>
                  <a:pt x="33914" y="0"/>
                </a:cubicBezTo>
                <a:close/>
              </a:path>
            </a:pathLst>
          </a:custGeom>
          <a:solidFill>
            <a:srgbClr val="E6B450"/>
          </a:solidFill>
        </p:spPr>
      </p:sp>
      <p:sp>
        <p:nvSpPr>
          <p:cNvPr id="17" name="Shape 15"/>
          <p:cNvSpPr/>
          <p:nvPr/>
        </p:nvSpPr>
        <p:spPr>
          <a:xfrm>
            <a:off x="551099" y="4636460"/>
            <a:ext cx="203483" cy="203483"/>
          </a:xfrm>
          <a:custGeom>
            <a:avLst/>
            <a:gdLst/>
            <a:ahLst/>
            <a:cxnLst/>
            <a:rect l="l" t="t" r="r" b="b"/>
            <a:pathLst>
              <a:path w="203483" h="203483">
                <a:moveTo>
                  <a:pt x="101741" y="0"/>
                </a:moveTo>
                <a:cubicBezTo>
                  <a:pt x="107583" y="0"/>
                  <a:pt x="112949" y="3219"/>
                  <a:pt x="115731" y="8346"/>
                </a:cubicBezTo>
                <a:lnTo>
                  <a:pt x="201575" y="167317"/>
                </a:lnTo>
                <a:cubicBezTo>
                  <a:pt x="204238" y="172245"/>
                  <a:pt x="204118" y="178206"/>
                  <a:pt x="201257" y="183015"/>
                </a:cubicBezTo>
                <a:cubicBezTo>
                  <a:pt x="198396" y="187824"/>
                  <a:pt x="193189" y="190765"/>
                  <a:pt x="187586" y="190765"/>
                </a:cubicBezTo>
                <a:lnTo>
                  <a:pt x="15897" y="190765"/>
                </a:lnTo>
                <a:cubicBezTo>
                  <a:pt x="10293" y="190765"/>
                  <a:pt x="5127" y="187824"/>
                  <a:pt x="2226" y="183015"/>
                </a:cubicBezTo>
                <a:cubicBezTo>
                  <a:pt x="-676" y="178206"/>
                  <a:pt x="-755" y="172245"/>
                  <a:pt x="1908" y="167317"/>
                </a:cubicBezTo>
                <a:lnTo>
                  <a:pt x="87752" y="8346"/>
                </a:lnTo>
                <a:cubicBezTo>
                  <a:pt x="90534" y="3219"/>
                  <a:pt x="95899" y="0"/>
                  <a:pt x="101741" y="0"/>
                </a:cubicBezTo>
                <a:close/>
                <a:moveTo>
                  <a:pt x="101741" y="66768"/>
                </a:moveTo>
                <a:cubicBezTo>
                  <a:pt x="96456" y="66768"/>
                  <a:pt x="92203" y="71020"/>
                  <a:pt x="92203" y="76306"/>
                </a:cubicBezTo>
                <a:lnTo>
                  <a:pt x="92203" y="120818"/>
                </a:lnTo>
                <a:cubicBezTo>
                  <a:pt x="92203" y="126104"/>
                  <a:pt x="96456" y="130356"/>
                  <a:pt x="101741" y="130356"/>
                </a:cubicBezTo>
                <a:cubicBezTo>
                  <a:pt x="107027" y="130356"/>
                  <a:pt x="111280" y="126104"/>
                  <a:pt x="111280" y="120818"/>
                </a:cubicBezTo>
                <a:lnTo>
                  <a:pt x="111280" y="76306"/>
                </a:lnTo>
                <a:cubicBezTo>
                  <a:pt x="111280" y="71020"/>
                  <a:pt x="107027" y="66768"/>
                  <a:pt x="101741" y="66768"/>
                </a:cubicBezTo>
                <a:close/>
                <a:moveTo>
                  <a:pt x="112353" y="152612"/>
                </a:moveTo>
                <a:cubicBezTo>
                  <a:pt x="112594" y="148673"/>
                  <a:pt x="110630" y="144926"/>
                  <a:pt x="107253" y="142883"/>
                </a:cubicBezTo>
                <a:cubicBezTo>
                  <a:pt x="103877" y="140841"/>
                  <a:pt x="99646" y="140841"/>
                  <a:pt x="96269" y="142883"/>
                </a:cubicBezTo>
                <a:cubicBezTo>
                  <a:pt x="92893" y="144926"/>
                  <a:pt x="90928" y="148673"/>
                  <a:pt x="91170" y="152612"/>
                </a:cubicBezTo>
                <a:cubicBezTo>
                  <a:pt x="90928" y="156551"/>
                  <a:pt x="92893" y="160298"/>
                  <a:pt x="96269" y="162341"/>
                </a:cubicBezTo>
                <a:cubicBezTo>
                  <a:pt x="99646" y="164383"/>
                  <a:pt x="103877" y="164383"/>
                  <a:pt x="107253" y="162341"/>
                </a:cubicBezTo>
                <a:cubicBezTo>
                  <a:pt x="110630" y="160298"/>
                  <a:pt x="112594" y="156551"/>
                  <a:pt x="112353" y="152612"/>
                </a:cubicBezTo>
                <a:close/>
              </a:path>
            </a:pathLst>
          </a:custGeom>
          <a:solidFill>
            <a:srgbClr val="E6B450"/>
          </a:solidFill>
        </p:spPr>
      </p:sp>
      <p:sp>
        <p:nvSpPr>
          <p:cNvPr id="18" name="Text 16"/>
          <p:cNvSpPr/>
          <p:nvPr/>
        </p:nvSpPr>
        <p:spPr>
          <a:xfrm>
            <a:off x="867451" y="4602546"/>
            <a:ext cx="7359288" cy="271310"/>
          </a:xfrm>
          <a:prstGeom prst="rect">
            <a:avLst/>
          </a:prstGeom>
          <a:noFill/>
        </p:spPr>
        <p:txBody>
          <a:bodyPr wrap="square" lIns="0" tIns="0" rIns="0" bIns="0" rtlCol="0" anchor="ctr"/>
          <a:lstStyle/>
          <a:p>
            <a:pPr>
              <a:lnSpc>
                <a:spcPct val="110000"/>
              </a:lnSpc>
            </a:pPr>
            <a:r>
              <a:rPr lang="en-US" sz="1600" b="1" dirty="0">
                <a:latin typeface="微软雅黑" panose="020B0503020204020204" pitchFamily="34" charset="-122"/>
                <a:ea typeface="微软雅黑" panose="020B0503020204020204" pitchFamily="34" charset="-122"/>
                <a:cs typeface="微软雅黑" panose="020B0503020204020204" pitchFamily="34" charset="-122"/>
              </a:rPr>
              <a:t>算法局限性</a:t>
            </a:r>
            <a:endParaRPr lang="en-US" sz="1600" dirty="0"/>
          </a:p>
        </p:txBody>
      </p:sp>
      <p:sp>
        <p:nvSpPr>
          <p:cNvPr id="19" name="Text 17"/>
          <p:cNvSpPr/>
          <p:nvPr/>
        </p:nvSpPr>
        <p:spPr>
          <a:xfrm>
            <a:off x="867451" y="4975596"/>
            <a:ext cx="8750682" cy="1526803"/>
          </a:xfrm>
          <a:prstGeom prst="rect">
            <a:avLst/>
          </a:prstGeom>
          <a:noFill/>
        </p:spPr>
        <p:txBody>
          <a:bodyPr wrap="square" lIns="0" tIns="0" rIns="0" bIns="0" rtlCol="0" anchor="ctr"/>
          <a:lstStyle/>
          <a:p>
            <a:pPr>
              <a:lnSpc>
                <a:spcPct val="140000"/>
              </a:lnSpc>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这种算法在</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二维地图</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中能够有较好的效果，但对于</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三维地图</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，受环境和传感器的影响，空间中很容易产生大量无效的边界，导致机器人难以找到有效的探索路径。</a:t>
            </a:r>
            <a:endParaRPr lang="en-US" altLang="zh-CN" sz="1600" dirty="0"/>
          </a:p>
          <a:p>
            <a:pPr>
              <a:lnSpc>
                <a:spcPct val="140000"/>
              </a:lnSpc>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此外，由于计算资源和算法的局限性，很多方法只能通过</a:t>
            </a:r>
            <a:r>
              <a:rPr lang="en-US" sz="1600" b="1" dirty="0" err="1">
                <a:latin typeface="微软雅黑" panose="020B0503020204020204" pitchFamily="34" charset="-122"/>
                <a:ea typeface="微软雅黑" panose="020B0503020204020204" pitchFamily="34" charset="-122"/>
                <a:cs typeface="微软雅黑" panose="020B0503020204020204" pitchFamily="34" charset="-122"/>
              </a:rPr>
              <a:t>随机采样</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生成路径，在每次移动后都需要重新采样，这容易使机器人变得</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短视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，只关注当前最大收益而忽略长远收益。</a:t>
            </a:r>
            <a:endParaRPr lang="en-US" sz="1600" dirty="0"/>
          </a:p>
        </p:txBody>
      </p:sp>
      <p:grpSp>
        <p:nvGrpSpPr>
          <p:cNvPr id="57" name="组合 56">
            <a:extLst>
              <a:ext uri="{FF2B5EF4-FFF2-40B4-BE49-F238E27FC236}">
                <a16:creationId xmlns:a16="http://schemas.microsoft.com/office/drawing/2014/main" id="{0F0FB835-CBF8-F596-E3B0-C9DA70DD8766}"/>
              </a:ext>
            </a:extLst>
          </p:cNvPr>
          <p:cNvGrpSpPr/>
          <p:nvPr/>
        </p:nvGrpSpPr>
        <p:grpSpPr>
          <a:xfrm>
            <a:off x="0" y="939798"/>
            <a:ext cx="5022850" cy="625474"/>
            <a:chOff x="0" y="1075267"/>
            <a:chExt cx="5022850" cy="625474"/>
          </a:xfrm>
        </p:grpSpPr>
        <p:sp>
          <p:nvSpPr>
            <p:cNvPr id="58" name="矩形 57">
              <a:extLst>
                <a:ext uri="{FF2B5EF4-FFF2-40B4-BE49-F238E27FC236}">
                  <a16:creationId xmlns:a16="http://schemas.microsoft.com/office/drawing/2014/main" id="{78DF965A-4F0E-AFC8-6740-291D9B0CDD96}"/>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a:extLst>
                <a:ext uri="{FF2B5EF4-FFF2-40B4-BE49-F238E27FC236}">
                  <a16:creationId xmlns:a16="http://schemas.microsoft.com/office/drawing/2014/main" id="{62FD746A-6C8C-1D6E-BBC9-EBC5FA6145D7}"/>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7.3.3 </a:t>
              </a:r>
              <a:r>
                <a:rPr lang="zh-CN" altLang="en-US" sz="2400" b="1" dirty="0">
                  <a:solidFill>
                    <a:schemeClr val="accent1"/>
                  </a:solidFill>
                  <a:latin typeface="+mj-lt"/>
                </a:rPr>
                <a:t>未知环境自主探索</a:t>
              </a:r>
            </a:p>
          </p:txBody>
        </p:sp>
      </p:grpSp>
    </p:spTree>
    <p:extLst>
      <p:ext uri="{BB962C8B-B14F-4D97-AF65-F5344CB8AC3E}">
        <p14:creationId xmlns:p14="http://schemas.microsoft.com/office/powerpoint/2010/main" val="3197152259"/>
      </p:ext>
    </p:extLst>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38442" y="1826804"/>
            <a:ext cx="10812157" cy="1216783"/>
          </a:xfrm>
          <a:custGeom>
            <a:avLst/>
            <a:gdLst/>
            <a:ahLst/>
            <a:cxnLst/>
            <a:rect l="l" t="t" r="r" b="b"/>
            <a:pathLst>
              <a:path w="7510208" h="1216783">
                <a:moveTo>
                  <a:pt x="32233" y="0"/>
                </a:moveTo>
                <a:lnTo>
                  <a:pt x="7413510" y="0"/>
                </a:lnTo>
                <a:cubicBezTo>
                  <a:pt x="7466914" y="0"/>
                  <a:pt x="7510208" y="43293"/>
                  <a:pt x="7510208" y="96698"/>
                </a:cubicBezTo>
                <a:lnTo>
                  <a:pt x="7510208" y="1120085"/>
                </a:lnTo>
                <a:cubicBezTo>
                  <a:pt x="7510208" y="1173490"/>
                  <a:pt x="7466914" y="1216783"/>
                  <a:pt x="7413510" y="1216783"/>
                </a:cubicBezTo>
                <a:lnTo>
                  <a:pt x="32233" y="1216783"/>
                </a:lnTo>
                <a:cubicBezTo>
                  <a:pt x="14431" y="1216783"/>
                  <a:pt x="0" y="1202352"/>
                  <a:pt x="0" y="1184550"/>
                </a:cubicBezTo>
                <a:lnTo>
                  <a:pt x="0" y="32233"/>
                </a:lnTo>
                <a:cubicBezTo>
                  <a:pt x="0" y="14443"/>
                  <a:pt x="14443" y="0"/>
                  <a:pt x="32233" y="0"/>
                </a:cubicBezTo>
                <a:close/>
              </a:path>
            </a:pathLst>
          </a:custGeom>
          <a:solidFill>
            <a:srgbClr val="5F87A7">
              <a:alpha val="10196"/>
            </a:srgbClr>
          </a:solidFill>
        </p:spPr>
      </p:sp>
      <p:sp>
        <p:nvSpPr>
          <p:cNvPr id="6" name="Shape 4"/>
          <p:cNvSpPr/>
          <p:nvPr/>
        </p:nvSpPr>
        <p:spPr>
          <a:xfrm>
            <a:off x="338443" y="1826804"/>
            <a:ext cx="32233" cy="1216783"/>
          </a:xfrm>
          <a:custGeom>
            <a:avLst/>
            <a:gdLst/>
            <a:ahLst/>
            <a:cxnLst/>
            <a:rect l="l" t="t" r="r" b="b"/>
            <a:pathLst>
              <a:path w="32233" h="1216783">
                <a:moveTo>
                  <a:pt x="32233" y="0"/>
                </a:moveTo>
                <a:lnTo>
                  <a:pt x="32233" y="0"/>
                </a:lnTo>
                <a:lnTo>
                  <a:pt x="32233" y="1216783"/>
                </a:lnTo>
                <a:lnTo>
                  <a:pt x="32233" y="1216783"/>
                </a:lnTo>
                <a:cubicBezTo>
                  <a:pt x="14431" y="1216783"/>
                  <a:pt x="0" y="1202352"/>
                  <a:pt x="0" y="1184550"/>
                </a:cubicBezTo>
                <a:lnTo>
                  <a:pt x="0" y="32233"/>
                </a:lnTo>
                <a:cubicBezTo>
                  <a:pt x="0" y="14443"/>
                  <a:pt x="14443" y="0"/>
                  <a:pt x="32233" y="0"/>
                </a:cubicBezTo>
                <a:close/>
              </a:path>
            </a:pathLst>
          </a:custGeom>
          <a:solidFill>
            <a:srgbClr val="E6B450"/>
          </a:solidFill>
        </p:spPr>
      </p:sp>
      <p:sp>
        <p:nvSpPr>
          <p:cNvPr id="7" name="Shape 5"/>
          <p:cNvSpPr/>
          <p:nvPr/>
        </p:nvSpPr>
        <p:spPr>
          <a:xfrm>
            <a:off x="519751" y="2052432"/>
            <a:ext cx="193396" cy="193396"/>
          </a:xfrm>
          <a:custGeom>
            <a:avLst/>
            <a:gdLst/>
            <a:ahLst/>
            <a:cxnLst/>
            <a:rect l="l" t="t" r="r" b="b"/>
            <a:pathLst>
              <a:path w="193396" h="193396">
                <a:moveTo>
                  <a:pt x="102704" y="7630"/>
                </a:moveTo>
                <a:cubicBezTo>
                  <a:pt x="99002" y="5515"/>
                  <a:pt x="94432" y="5515"/>
                  <a:pt x="90692" y="7630"/>
                </a:cubicBezTo>
                <a:lnTo>
                  <a:pt x="6081" y="55979"/>
                </a:lnTo>
                <a:cubicBezTo>
                  <a:pt x="1322" y="58699"/>
                  <a:pt x="-1020" y="64289"/>
                  <a:pt x="378" y="69577"/>
                </a:cubicBezTo>
                <a:cubicBezTo>
                  <a:pt x="1775" y="74865"/>
                  <a:pt x="6610" y="78567"/>
                  <a:pt x="12087" y="78567"/>
                </a:cubicBezTo>
                <a:lnTo>
                  <a:pt x="24174" y="78567"/>
                </a:lnTo>
                <a:lnTo>
                  <a:pt x="24174" y="157134"/>
                </a:lnTo>
                <a:lnTo>
                  <a:pt x="24174" y="157134"/>
                </a:lnTo>
                <a:lnTo>
                  <a:pt x="4835" y="171639"/>
                </a:lnTo>
                <a:cubicBezTo>
                  <a:pt x="1775" y="173905"/>
                  <a:pt x="0" y="177494"/>
                  <a:pt x="0" y="181309"/>
                </a:cubicBezTo>
                <a:cubicBezTo>
                  <a:pt x="0" y="187994"/>
                  <a:pt x="5401" y="193396"/>
                  <a:pt x="12087" y="193396"/>
                </a:cubicBezTo>
                <a:lnTo>
                  <a:pt x="181309" y="193396"/>
                </a:lnTo>
                <a:cubicBezTo>
                  <a:pt x="187994" y="193396"/>
                  <a:pt x="193396" y="187994"/>
                  <a:pt x="193396" y="181309"/>
                </a:cubicBezTo>
                <a:cubicBezTo>
                  <a:pt x="193396" y="177494"/>
                  <a:pt x="191621" y="173905"/>
                  <a:pt x="188561" y="171639"/>
                </a:cubicBezTo>
                <a:lnTo>
                  <a:pt x="169221" y="157134"/>
                </a:lnTo>
                <a:lnTo>
                  <a:pt x="169221" y="78567"/>
                </a:lnTo>
                <a:lnTo>
                  <a:pt x="181309" y="78567"/>
                </a:lnTo>
                <a:cubicBezTo>
                  <a:pt x="186786" y="78567"/>
                  <a:pt x="191583" y="74865"/>
                  <a:pt x="192980" y="69577"/>
                </a:cubicBezTo>
                <a:cubicBezTo>
                  <a:pt x="194378" y="64289"/>
                  <a:pt x="192036" y="58699"/>
                  <a:pt x="187277" y="55979"/>
                </a:cubicBezTo>
                <a:lnTo>
                  <a:pt x="102666" y="7630"/>
                </a:lnTo>
                <a:close/>
                <a:moveTo>
                  <a:pt x="151091" y="78567"/>
                </a:moveTo>
                <a:lnTo>
                  <a:pt x="151091" y="157134"/>
                </a:lnTo>
                <a:lnTo>
                  <a:pt x="126916" y="157134"/>
                </a:lnTo>
                <a:lnTo>
                  <a:pt x="126916" y="78567"/>
                </a:lnTo>
                <a:lnTo>
                  <a:pt x="151091" y="78567"/>
                </a:lnTo>
                <a:close/>
                <a:moveTo>
                  <a:pt x="108785" y="78567"/>
                </a:moveTo>
                <a:lnTo>
                  <a:pt x="108785" y="157134"/>
                </a:lnTo>
                <a:lnTo>
                  <a:pt x="84611" y="157134"/>
                </a:lnTo>
                <a:lnTo>
                  <a:pt x="84611" y="78567"/>
                </a:lnTo>
                <a:lnTo>
                  <a:pt x="108785" y="78567"/>
                </a:lnTo>
                <a:close/>
                <a:moveTo>
                  <a:pt x="66480" y="78567"/>
                </a:moveTo>
                <a:lnTo>
                  <a:pt x="66480" y="157134"/>
                </a:lnTo>
                <a:lnTo>
                  <a:pt x="42305" y="157134"/>
                </a:lnTo>
                <a:lnTo>
                  <a:pt x="42305" y="78567"/>
                </a:lnTo>
                <a:lnTo>
                  <a:pt x="66480" y="78567"/>
                </a:lnTo>
                <a:close/>
                <a:moveTo>
                  <a:pt x="96698" y="36262"/>
                </a:moveTo>
                <a:cubicBezTo>
                  <a:pt x="103369" y="36262"/>
                  <a:pt x="108785" y="41678"/>
                  <a:pt x="108785" y="48349"/>
                </a:cubicBezTo>
                <a:cubicBezTo>
                  <a:pt x="108785" y="55020"/>
                  <a:pt x="103369" y="60436"/>
                  <a:pt x="96698" y="60436"/>
                </a:cubicBezTo>
                <a:cubicBezTo>
                  <a:pt x="90027" y="60436"/>
                  <a:pt x="84611" y="55020"/>
                  <a:pt x="84611" y="48349"/>
                </a:cubicBezTo>
                <a:cubicBezTo>
                  <a:pt x="84611" y="41678"/>
                  <a:pt x="90027" y="36262"/>
                  <a:pt x="96698" y="36262"/>
                </a:cubicBezTo>
                <a:close/>
              </a:path>
            </a:pathLst>
          </a:custGeom>
          <a:solidFill>
            <a:srgbClr val="E6B450"/>
          </a:solidFill>
        </p:spPr>
      </p:sp>
      <p:sp>
        <p:nvSpPr>
          <p:cNvPr id="8" name="Text 6"/>
          <p:cNvSpPr/>
          <p:nvPr/>
        </p:nvSpPr>
        <p:spPr>
          <a:xfrm>
            <a:off x="811734" y="2020199"/>
            <a:ext cx="6938078" cy="257861"/>
          </a:xfrm>
          <a:prstGeom prst="rect">
            <a:avLst/>
          </a:prstGeom>
          <a:noFill/>
        </p:spPr>
        <p:txBody>
          <a:bodyPr wrap="square" lIns="0" tIns="0" rIns="0" bIns="0" rtlCol="0" anchor="ctr"/>
          <a:lstStyle/>
          <a:p>
            <a:pPr>
              <a:lnSpc>
                <a:spcPct val="110000"/>
              </a:lnSpc>
            </a:pP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TARE</a:t>
            </a:r>
            <a:r>
              <a:rPr lang="en-US" b="1" dirty="0" err="1">
                <a:latin typeface="微软雅黑" panose="020B0503020204020204" pitchFamily="34" charset="-122"/>
                <a:ea typeface="微软雅黑" panose="020B0503020204020204" pitchFamily="34" charset="-122"/>
                <a:cs typeface="微软雅黑" panose="020B0503020204020204" pitchFamily="34" charset="-122"/>
              </a:rPr>
              <a:t>算法来源</a:t>
            </a:r>
            <a:endParaRPr lang="en-US" sz="2000" dirty="0"/>
          </a:p>
        </p:txBody>
      </p:sp>
      <p:sp>
        <p:nvSpPr>
          <p:cNvPr id="9" name="Text 7"/>
          <p:cNvSpPr/>
          <p:nvPr/>
        </p:nvSpPr>
        <p:spPr>
          <a:xfrm>
            <a:off x="811733" y="2374759"/>
            <a:ext cx="9268497" cy="351508"/>
          </a:xfrm>
          <a:prstGeom prst="rect">
            <a:avLst/>
          </a:prstGeom>
          <a:noFill/>
        </p:spPr>
        <p:txBody>
          <a:bodyPr wrap="square" lIns="0" tIns="0" rIns="0" bIns="0" rtlCol="0" anchor="ctr"/>
          <a:lstStyle/>
          <a:p>
            <a:pPr>
              <a:lnSpc>
                <a:spcPct val="140000"/>
              </a:lnSpc>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算法引入</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全局引导 </a:t>
            </a:r>
            <a:r>
              <a:rPr lang="en-US" sz="1600" dirty="0">
                <a:latin typeface="微软雅黑" panose="020B0503020204020204" pitchFamily="34" charset="-122"/>
                <a:ea typeface="微软雅黑" panose="020B0503020204020204" pitchFamily="34" charset="-122"/>
                <a:cs typeface="微软雅黑" panose="020B0503020204020204" pitchFamily="34" charset="-122"/>
              </a:rPr>
              <a:t>来解决贪心策略带来的短视行为，并将探索决策模块分为</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全局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和</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局部 </a:t>
            </a:r>
            <a:r>
              <a:rPr lang="en-US" sz="1600" dirty="0">
                <a:latin typeface="微软雅黑" panose="020B0503020204020204" pitchFamily="34" charset="-122"/>
                <a:ea typeface="微软雅黑" panose="020B0503020204020204" pitchFamily="34" charset="-122"/>
                <a:cs typeface="微软雅黑" panose="020B0503020204020204" pitchFamily="34" charset="-122"/>
              </a:rPr>
              <a:t>两个层次。</a:t>
            </a:r>
            <a:endParaRPr lang="en-US" sz="2400" dirty="0"/>
          </a:p>
        </p:txBody>
      </p:sp>
      <p:sp>
        <p:nvSpPr>
          <p:cNvPr id="10" name="Shape 8"/>
          <p:cNvSpPr/>
          <p:nvPr/>
        </p:nvSpPr>
        <p:spPr>
          <a:xfrm>
            <a:off x="338442" y="3232953"/>
            <a:ext cx="10812157" cy="1547167"/>
          </a:xfrm>
          <a:custGeom>
            <a:avLst/>
            <a:gdLst/>
            <a:ahLst/>
            <a:cxnLst/>
            <a:rect l="l" t="t" r="r" b="b"/>
            <a:pathLst>
              <a:path w="7510208" h="1547167">
                <a:moveTo>
                  <a:pt x="32233" y="0"/>
                </a:moveTo>
                <a:lnTo>
                  <a:pt x="7413510" y="0"/>
                </a:lnTo>
                <a:cubicBezTo>
                  <a:pt x="7466914" y="0"/>
                  <a:pt x="7510208" y="43293"/>
                  <a:pt x="7510208" y="96698"/>
                </a:cubicBezTo>
                <a:lnTo>
                  <a:pt x="7510208" y="1450469"/>
                </a:lnTo>
                <a:cubicBezTo>
                  <a:pt x="7510208" y="1503874"/>
                  <a:pt x="7466914" y="1547167"/>
                  <a:pt x="7413510" y="1547167"/>
                </a:cubicBezTo>
                <a:lnTo>
                  <a:pt x="32233" y="1547167"/>
                </a:lnTo>
                <a:cubicBezTo>
                  <a:pt x="14431" y="1547167"/>
                  <a:pt x="0" y="1532736"/>
                  <a:pt x="0" y="1514935"/>
                </a:cubicBezTo>
                <a:lnTo>
                  <a:pt x="0" y="32233"/>
                </a:lnTo>
                <a:cubicBezTo>
                  <a:pt x="0" y="14443"/>
                  <a:pt x="14443" y="0"/>
                  <a:pt x="32233" y="0"/>
                </a:cubicBezTo>
                <a:close/>
              </a:path>
            </a:pathLst>
          </a:custGeom>
          <a:solidFill>
            <a:srgbClr val="5F87A7">
              <a:alpha val="10196"/>
            </a:srgbClr>
          </a:solidFill>
        </p:spPr>
      </p:sp>
      <p:sp>
        <p:nvSpPr>
          <p:cNvPr id="11" name="Shape 9"/>
          <p:cNvSpPr/>
          <p:nvPr/>
        </p:nvSpPr>
        <p:spPr>
          <a:xfrm>
            <a:off x="338443" y="3232953"/>
            <a:ext cx="32233" cy="1547167"/>
          </a:xfrm>
          <a:custGeom>
            <a:avLst/>
            <a:gdLst/>
            <a:ahLst/>
            <a:cxnLst/>
            <a:rect l="l" t="t" r="r" b="b"/>
            <a:pathLst>
              <a:path w="32233" h="1547167">
                <a:moveTo>
                  <a:pt x="32233" y="0"/>
                </a:moveTo>
                <a:lnTo>
                  <a:pt x="32233" y="0"/>
                </a:lnTo>
                <a:lnTo>
                  <a:pt x="32233" y="1547167"/>
                </a:lnTo>
                <a:lnTo>
                  <a:pt x="32233" y="1547167"/>
                </a:lnTo>
                <a:cubicBezTo>
                  <a:pt x="14431" y="1547167"/>
                  <a:pt x="0" y="1532736"/>
                  <a:pt x="0" y="1514935"/>
                </a:cubicBezTo>
                <a:lnTo>
                  <a:pt x="0" y="32233"/>
                </a:lnTo>
                <a:cubicBezTo>
                  <a:pt x="0" y="14443"/>
                  <a:pt x="14443" y="0"/>
                  <a:pt x="32233" y="0"/>
                </a:cubicBezTo>
                <a:close/>
              </a:path>
            </a:pathLst>
          </a:custGeom>
          <a:solidFill>
            <a:srgbClr val="E6B450"/>
          </a:solidFill>
        </p:spPr>
      </p:sp>
      <p:sp>
        <p:nvSpPr>
          <p:cNvPr id="12" name="Shape 10"/>
          <p:cNvSpPr/>
          <p:nvPr/>
        </p:nvSpPr>
        <p:spPr>
          <a:xfrm>
            <a:off x="519751" y="3458582"/>
            <a:ext cx="193396" cy="193396"/>
          </a:xfrm>
          <a:custGeom>
            <a:avLst/>
            <a:gdLst/>
            <a:ahLst/>
            <a:cxnLst/>
            <a:rect l="l" t="t" r="r" b="b"/>
            <a:pathLst>
              <a:path w="193396" h="193396">
                <a:moveTo>
                  <a:pt x="87821" y="1964"/>
                </a:moveTo>
                <a:cubicBezTo>
                  <a:pt x="93450" y="-642"/>
                  <a:pt x="99946" y="-642"/>
                  <a:pt x="105575" y="1964"/>
                </a:cubicBezTo>
                <a:lnTo>
                  <a:pt x="188146" y="40115"/>
                </a:lnTo>
                <a:cubicBezTo>
                  <a:pt x="191356" y="41588"/>
                  <a:pt x="193396" y="44798"/>
                  <a:pt x="193396" y="48349"/>
                </a:cubicBezTo>
                <a:cubicBezTo>
                  <a:pt x="193396" y="51900"/>
                  <a:pt x="191356" y="55110"/>
                  <a:pt x="188146" y="56583"/>
                </a:cubicBezTo>
                <a:lnTo>
                  <a:pt x="105575" y="94734"/>
                </a:lnTo>
                <a:cubicBezTo>
                  <a:pt x="99946" y="97340"/>
                  <a:pt x="93450" y="97340"/>
                  <a:pt x="87821" y="94734"/>
                </a:cubicBezTo>
                <a:lnTo>
                  <a:pt x="5250" y="56583"/>
                </a:lnTo>
                <a:cubicBezTo>
                  <a:pt x="2040" y="55073"/>
                  <a:pt x="0" y="51862"/>
                  <a:pt x="0" y="48349"/>
                </a:cubicBezTo>
                <a:cubicBezTo>
                  <a:pt x="0" y="44836"/>
                  <a:pt x="2040" y="41588"/>
                  <a:pt x="5250" y="40115"/>
                </a:cubicBezTo>
                <a:lnTo>
                  <a:pt x="87821" y="1964"/>
                </a:lnTo>
                <a:close/>
                <a:moveTo>
                  <a:pt x="18169" y="82495"/>
                </a:moveTo>
                <a:lnTo>
                  <a:pt x="80229" y="111165"/>
                </a:lnTo>
                <a:cubicBezTo>
                  <a:pt x="90692" y="116000"/>
                  <a:pt x="102742" y="116000"/>
                  <a:pt x="113205" y="111165"/>
                </a:cubicBezTo>
                <a:lnTo>
                  <a:pt x="175265" y="82495"/>
                </a:lnTo>
                <a:lnTo>
                  <a:pt x="188146" y="88464"/>
                </a:lnTo>
                <a:cubicBezTo>
                  <a:pt x="191356" y="89937"/>
                  <a:pt x="193396" y="93147"/>
                  <a:pt x="193396" y="96698"/>
                </a:cubicBezTo>
                <a:cubicBezTo>
                  <a:pt x="193396" y="100249"/>
                  <a:pt x="191356" y="103459"/>
                  <a:pt x="188146" y="104932"/>
                </a:cubicBezTo>
                <a:lnTo>
                  <a:pt x="105575" y="143083"/>
                </a:lnTo>
                <a:cubicBezTo>
                  <a:pt x="99946" y="145689"/>
                  <a:pt x="93450" y="145689"/>
                  <a:pt x="87821" y="143083"/>
                </a:cubicBezTo>
                <a:lnTo>
                  <a:pt x="5250" y="104932"/>
                </a:lnTo>
                <a:cubicBezTo>
                  <a:pt x="2040" y="103421"/>
                  <a:pt x="0" y="100211"/>
                  <a:pt x="0" y="96698"/>
                </a:cubicBezTo>
                <a:cubicBezTo>
                  <a:pt x="0" y="93185"/>
                  <a:pt x="2040" y="89937"/>
                  <a:pt x="5250" y="88464"/>
                </a:cubicBezTo>
                <a:lnTo>
                  <a:pt x="18131" y="82495"/>
                </a:lnTo>
                <a:close/>
                <a:moveTo>
                  <a:pt x="5250" y="136812"/>
                </a:moveTo>
                <a:lnTo>
                  <a:pt x="18131" y="130844"/>
                </a:lnTo>
                <a:lnTo>
                  <a:pt x="80191" y="159514"/>
                </a:lnTo>
                <a:cubicBezTo>
                  <a:pt x="90654" y="164349"/>
                  <a:pt x="102704" y="164349"/>
                  <a:pt x="113167" y="159514"/>
                </a:cubicBezTo>
                <a:lnTo>
                  <a:pt x="175227" y="130844"/>
                </a:lnTo>
                <a:lnTo>
                  <a:pt x="188108" y="136812"/>
                </a:lnTo>
                <a:cubicBezTo>
                  <a:pt x="191318" y="138286"/>
                  <a:pt x="193358" y="141496"/>
                  <a:pt x="193358" y="145047"/>
                </a:cubicBezTo>
                <a:cubicBezTo>
                  <a:pt x="193358" y="148598"/>
                  <a:pt x="191318" y="151808"/>
                  <a:pt x="188108" y="153281"/>
                </a:cubicBezTo>
                <a:lnTo>
                  <a:pt x="105537" y="191432"/>
                </a:lnTo>
                <a:cubicBezTo>
                  <a:pt x="99909" y="194038"/>
                  <a:pt x="93412" y="194038"/>
                  <a:pt x="87784" y="191432"/>
                </a:cubicBezTo>
                <a:lnTo>
                  <a:pt x="5250" y="153281"/>
                </a:lnTo>
                <a:cubicBezTo>
                  <a:pt x="2040" y="151770"/>
                  <a:pt x="0" y="148560"/>
                  <a:pt x="0" y="145047"/>
                </a:cubicBezTo>
                <a:cubicBezTo>
                  <a:pt x="0" y="141534"/>
                  <a:pt x="2040" y="138286"/>
                  <a:pt x="5250" y="136812"/>
                </a:cubicBezTo>
                <a:close/>
              </a:path>
            </a:pathLst>
          </a:custGeom>
          <a:solidFill>
            <a:srgbClr val="E6B450"/>
          </a:solidFill>
        </p:spPr>
      </p:sp>
      <p:sp>
        <p:nvSpPr>
          <p:cNvPr id="13" name="Text 11"/>
          <p:cNvSpPr/>
          <p:nvPr/>
        </p:nvSpPr>
        <p:spPr>
          <a:xfrm>
            <a:off x="811734" y="3426349"/>
            <a:ext cx="6938078" cy="257861"/>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层次化结构</a:t>
            </a:r>
            <a:endParaRPr lang="en-US" dirty="0"/>
          </a:p>
        </p:txBody>
      </p:sp>
      <p:sp>
        <p:nvSpPr>
          <p:cNvPr id="14" name="Text 12"/>
          <p:cNvSpPr/>
          <p:nvPr/>
        </p:nvSpPr>
        <p:spPr>
          <a:xfrm>
            <a:off x="811733" y="3780908"/>
            <a:ext cx="9822399" cy="709118"/>
          </a:xfrm>
          <a:prstGeom prst="rect">
            <a:avLst/>
          </a:prstGeom>
          <a:noFill/>
        </p:spPr>
        <p:txBody>
          <a:bodyPr wrap="square" lIns="0" tIns="0" rIns="0" bIns="0" rtlCol="0" anchor="ctr"/>
          <a:lstStyle/>
          <a:p>
            <a:pPr>
              <a:lnSpc>
                <a:spcPct val="140000"/>
              </a:lnSpc>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在全局层，TARE计算一条</a:t>
            </a:r>
            <a:r>
              <a:rPr lang="en-US" sz="1600" b="1" dirty="0" err="1">
                <a:latin typeface="微软雅黑" panose="020B0503020204020204" pitchFamily="34" charset="-122"/>
                <a:ea typeface="微软雅黑" panose="020B0503020204020204" pitchFamily="34" charset="-122"/>
                <a:cs typeface="微软雅黑" panose="020B0503020204020204" pitchFamily="34" charset="-122"/>
              </a:rPr>
              <a:t>粗略的全局路径</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来确定机器人的大致行进方向；在局部层，TARE会寻找一条能让机器人传感器能</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完全覆盖局部探索区域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的路线从而使得机器人的行进路线能够更具目的性，避免了单纯地追求未知区域的大小而忽略探索效率的问题。</a:t>
            </a:r>
            <a:endParaRPr lang="en-US" sz="2400" dirty="0"/>
          </a:p>
        </p:txBody>
      </p:sp>
      <p:sp>
        <p:nvSpPr>
          <p:cNvPr id="15" name="Shape 13"/>
          <p:cNvSpPr/>
          <p:nvPr/>
        </p:nvSpPr>
        <p:spPr>
          <a:xfrm>
            <a:off x="338442" y="4971502"/>
            <a:ext cx="10812157" cy="1450469"/>
          </a:xfrm>
          <a:custGeom>
            <a:avLst/>
            <a:gdLst/>
            <a:ahLst/>
            <a:cxnLst/>
            <a:rect l="l" t="t" r="r" b="b"/>
            <a:pathLst>
              <a:path w="7510208" h="1450469">
                <a:moveTo>
                  <a:pt x="32233" y="0"/>
                </a:moveTo>
                <a:lnTo>
                  <a:pt x="7413505" y="0"/>
                </a:lnTo>
                <a:cubicBezTo>
                  <a:pt x="7466912" y="0"/>
                  <a:pt x="7510208" y="43295"/>
                  <a:pt x="7510208" y="96703"/>
                </a:cubicBezTo>
                <a:lnTo>
                  <a:pt x="7510208" y="1353766"/>
                </a:lnTo>
                <a:cubicBezTo>
                  <a:pt x="7510208" y="1407174"/>
                  <a:pt x="7466912" y="1450469"/>
                  <a:pt x="7413505" y="1450469"/>
                </a:cubicBezTo>
                <a:lnTo>
                  <a:pt x="32233" y="1450469"/>
                </a:lnTo>
                <a:cubicBezTo>
                  <a:pt x="14431" y="1450469"/>
                  <a:pt x="0" y="1436038"/>
                  <a:pt x="0" y="1418237"/>
                </a:cubicBezTo>
                <a:lnTo>
                  <a:pt x="0" y="32233"/>
                </a:lnTo>
                <a:cubicBezTo>
                  <a:pt x="0" y="14443"/>
                  <a:pt x="14443" y="0"/>
                  <a:pt x="32233" y="0"/>
                </a:cubicBezTo>
                <a:close/>
              </a:path>
            </a:pathLst>
          </a:custGeom>
          <a:solidFill>
            <a:srgbClr val="5F87A7">
              <a:alpha val="10196"/>
            </a:srgbClr>
          </a:solidFill>
        </p:spPr>
      </p:sp>
      <p:sp>
        <p:nvSpPr>
          <p:cNvPr id="16" name="Shape 14"/>
          <p:cNvSpPr/>
          <p:nvPr/>
        </p:nvSpPr>
        <p:spPr>
          <a:xfrm>
            <a:off x="338443" y="4971502"/>
            <a:ext cx="32233" cy="1450469"/>
          </a:xfrm>
          <a:custGeom>
            <a:avLst/>
            <a:gdLst/>
            <a:ahLst/>
            <a:cxnLst/>
            <a:rect l="l" t="t" r="r" b="b"/>
            <a:pathLst>
              <a:path w="32233" h="1450469">
                <a:moveTo>
                  <a:pt x="32233" y="0"/>
                </a:moveTo>
                <a:lnTo>
                  <a:pt x="32233" y="0"/>
                </a:lnTo>
                <a:lnTo>
                  <a:pt x="32233" y="1450469"/>
                </a:lnTo>
                <a:lnTo>
                  <a:pt x="32233" y="1450469"/>
                </a:lnTo>
                <a:cubicBezTo>
                  <a:pt x="14431" y="1450469"/>
                  <a:pt x="0" y="1436038"/>
                  <a:pt x="0" y="1418237"/>
                </a:cubicBezTo>
                <a:lnTo>
                  <a:pt x="0" y="32233"/>
                </a:lnTo>
                <a:cubicBezTo>
                  <a:pt x="0" y="14443"/>
                  <a:pt x="14443" y="0"/>
                  <a:pt x="32233" y="0"/>
                </a:cubicBezTo>
                <a:close/>
              </a:path>
            </a:pathLst>
          </a:custGeom>
          <a:solidFill>
            <a:srgbClr val="E6B450"/>
          </a:solidFill>
        </p:spPr>
      </p:sp>
      <p:sp>
        <p:nvSpPr>
          <p:cNvPr id="17" name="Shape 15"/>
          <p:cNvSpPr/>
          <p:nvPr/>
        </p:nvSpPr>
        <p:spPr>
          <a:xfrm>
            <a:off x="519751" y="5197130"/>
            <a:ext cx="193396" cy="193396"/>
          </a:xfrm>
          <a:custGeom>
            <a:avLst/>
            <a:gdLst/>
            <a:ahLst/>
            <a:cxnLst/>
            <a:rect l="l" t="t" r="r" b="b"/>
            <a:pathLst>
              <a:path w="193396" h="193396">
                <a:moveTo>
                  <a:pt x="0" y="96698"/>
                </a:moveTo>
                <a:cubicBezTo>
                  <a:pt x="0" y="43329"/>
                  <a:pt x="43329" y="0"/>
                  <a:pt x="96698" y="0"/>
                </a:cubicBezTo>
                <a:cubicBezTo>
                  <a:pt x="150067" y="0"/>
                  <a:pt x="193396" y="43329"/>
                  <a:pt x="193396" y="96698"/>
                </a:cubicBezTo>
                <a:cubicBezTo>
                  <a:pt x="193396" y="150067"/>
                  <a:pt x="150067" y="193396"/>
                  <a:pt x="96698" y="193396"/>
                </a:cubicBezTo>
                <a:cubicBezTo>
                  <a:pt x="43329" y="193396"/>
                  <a:pt x="0" y="150067"/>
                  <a:pt x="0" y="96698"/>
                </a:cubicBezTo>
                <a:close/>
                <a:moveTo>
                  <a:pt x="108785" y="36262"/>
                </a:moveTo>
                <a:cubicBezTo>
                  <a:pt x="108785" y="29591"/>
                  <a:pt x="103369" y="24174"/>
                  <a:pt x="96698" y="24174"/>
                </a:cubicBezTo>
                <a:cubicBezTo>
                  <a:pt x="90027" y="24174"/>
                  <a:pt x="84611" y="29591"/>
                  <a:pt x="84611" y="36262"/>
                </a:cubicBezTo>
                <a:cubicBezTo>
                  <a:pt x="84611" y="42933"/>
                  <a:pt x="90027" y="48349"/>
                  <a:pt x="96698" y="48349"/>
                </a:cubicBezTo>
                <a:cubicBezTo>
                  <a:pt x="103369" y="48349"/>
                  <a:pt x="108785" y="42933"/>
                  <a:pt x="108785" y="36262"/>
                </a:cubicBezTo>
                <a:close/>
                <a:moveTo>
                  <a:pt x="96698" y="157134"/>
                </a:moveTo>
                <a:cubicBezTo>
                  <a:pt x="110032" y="157134"/>
                  <a:pt x="120872" y="146293"/>
                  <a:pt x="120872" y="132960"/>
                </a:cubicBezTo>
                <a:cubicBezTo>
                  <a:pt x="120872" y="126841"/>
                  <a:pt x="118606" y="121212"/>
                  <a:pt x="114829" y="116982"/>
                </a:cubicBezTo>
                <a:lnTo>
                  <a:pt x="141081" y="64516"/>
                </a:lnTo>
                <a:cubicBezTo>
                  <a:pt x="143309" y="60021"/>
                  <a:pt x="141496" y="54581"/>
                  <a:pt x="137039" y="52353"/>
                </a:cubicBezTo>
                <a:cubicBezTo>
                  <a:pt x="132582" y="50124"/>
                  <a:pt x="127105" y="51937"/>
                  <a:pt x="124876" y="56395"/>
                </a:cubicBezTo>
                <a:lnTo>
                  <a:pt x="98624" y="108861"/>
                </a:lnTo>
                <a:cubicBezTo>
                  <a:pt x="97982" y="108823"/>
                  <a:pt x="97340" y="108785"/>
                  <a:pt x="96698" y="108785"/>
                </a:cubicBezTo>
                <a:cubicBezTo>
                  <a:pt x="83364" y="108785"/>
                  <a:pt x="72523" y="119626"/>
                  <a:pt x="72523" y="132960"/>
                </a:cubicBezTo>
                <a:cubicBezTo>
                  <a:pt x="72523" y="146293"/>
                  <a:pt x="83364" y="157134"/>
                  <a:pt x="96698" y="157134"/>
                </a:cubicBezTo>
                <a:close/>
                <a:moveTo>
                  <a:pt x="66480" y="54393"/>
                </a:moveTo>
                <a:cubicBezTo>
                  <a:pt x="66480" y="47721"/>
                  <a:pt x="61064" y="42305"/>
                  <a:pt x="54393" y="42305"/>
                </a:cubicBezTo>
                <a:cubicBezTo>
                  <a:pt x="47721" y="42305"/>
                  <a:pt x="42305" y="47721"/>
                  <a:pt x="42305" y="54393"/>
                </a:cubicBezTo>
                <a:cubicBezTo>
                  <a:pt x="42305" y="61064"/>
                  <a:pt x="47721" y="66480"/>
                  <a:pt x="54393" y="66480"/>
                </a:cubicBezTo>
                <a:cubicBezTo>
                  <a:pt x="61064" y="66480"/>
                  <a:pt x="66480" y="61064"/>
                  <a:pt x="66480" y="54393"/>
                </a:cubicBezTo>
                <a:close/>
                <a:moveTo>
                  <a:pt x="36262" y="108785"/>
                </a:moveTo>
                <a:cubicBezTo>
                  <a:pt x="42933" y="108785"/>
                  <a:pt x="48349" y="103369"/>
                  <a:pt x="48349" y="96698"/>
                </a:cubicBezTo>
                <a:cubicBezTo>
                  <a:pt x="48349" y="90027"/>
                  <a:pt x="42933" y="84611"/>
                  <a:pt x="36262" y="84611"/>
                </a:cubicBezTo>
                <a:cubicBezTo>
                  <a:pt x="29591" y="84611"/>
                  <a:pt x="24174" y="90027"/>
                  <a:pt x="24174" y="96698"/>
                </a:cubicBezTo>
                <a:cubicBezTo>
                  <a:pt x="24174" y="103369"/>
                  <a:pt x="29591" y="108785"/>
                  <a:pt x="36262" y="108785"/>
                </a:cubicBezTo>
                <a:close/>
                <a:moveTo>
                  <a:pt x="169221" y="96698"/>
                </a:moveTo>
                <a:cubicBezTo>
                  <a:pt x="169221" y="90027"/>
                  <a:pt x="163805" y="84611"/>
                  <a:pt x="157134" y="84611"/>
                </a:cubicBezTo>
                <a:cubicBezTo>
                  <a:pt x="150463" y="84611"/>
                  <a:pt x="145047" y="90027"/>
                  <a:pt x="145047" y="96698"/>
                </a:cubicBezTo>
                <a:cubicBezTo>
                  <a:pt x="145047" y="103369"/>
                  <a:pt x="150463" y="108785"/>
                  <a:pt x="157134" y="108785"/>
                </a:cubicBezTo>
                <a:cubicBezTo>
                  <a:pt x="163805" y="108785"/>
                  <a:pt x="169221" y="103369"/>
                  <a:pt x="169221" y="96698"/>
                </a:cubicBezTo>
                <a:close/>
              </a:path>
            </a:pathLst>
          </a:custGeom>
          <a:solidFill>
            <a:srgbClr val="E6B450"/>
          </a:solidFill>
        </p:spPr>
      </p:sp>
      <p:sp>
        <p:nvSpPr>
          <p:cNvPr id="18" name="Text 16"/>
          <p:cNvSpPr/>
          <p:nvPr/>
        </p:nvSpPr>
        <p:spPr>
          <a:xfrm>
            <a:off x="811734" y="5164897"/>
            <a:ext cx="6938078" cy="257861"/>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性能优势</a:t>
            </a:r>
            <a:endParaRPr lang="en-US" sz="2000" dirty="0"/>
          </a:p>
        </p:txBody>
      </p:sp>
      <p:sp>
        <p:nvSpPr>
          <p:cNvPr id="19" name="Text 17"/>
          <p:cNvSpPr/>
          <p:nvPr/>
        </p:nvSpPr>
        <p:spPr>
          <a:xfrm>
            <a:off x="811734" y="5519457"/>
            <a:ext cx="9822398" cy="70911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由于计算时间和资源的限制，TARE算法能够有效集中主要的计算资源于</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离机器人较近的空间</a:t>
            </a:r>
            <a:r>
              <a:rPr lang="en-US" sz="1600" dirty="0">
                <a:latin typeface="微软雅黑" panose="020B0503020204020204" pitchFamily="34" charset="-122"/>
                <a:ea typeface="微软雅黑" panose="020B0503020204020204" pitchFamily="34" charset="-122"/>
                <a:cs typeface="微软雅黑" panose="020B0503020204020204" pitchFamily="34" charset="-122"/>
              </a:rPr>
              <a:t>之内，避免了浪费在远处不确定性更大的地方的情况发生。因此，TARE算法能够提高探索效率，减少无效探索，从而对于</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三维环境 </a:t>
            </a:r>
            <a:r>
              <a:rPr lang="en-US" sz="1600" dirty="0">
                <a:latin typeface="微软雅黑" panose="020B0503020204020204" pitchFamily="34" charset="-122"/>
                <a:ea typeface="微软雅黑" panose="020B0503020204020204" pitchFamily="34" charset="-122"/>
                <a:cs typeface="微软雅黑" panose="020B0503020204020204" pitchFamily="34" charset="-122"/>
              </a:rPr>
              <a:t>下的机器人探索任务具有重要的应用价值。</a:t>
            </a:r>
            <a:endParaRPr lang="en-US" sz="2400" dirty="0"/>
          </a:p>
        </p:txBody>
      </p:sp>
      <p:grpSp>
        <p:nvGrpSpPr>
          <p:cNvPr id="43" name="组合 42">
            <a:extLst>
              <a:ext uri="{FF2B5EF4-FFF2-40B4-BE49-F238E27FC236}">
                <a16:creationId xmlns:a16="http://schemas.microsoft.com/office/drawing/2014/main" id="{8442BDEB-E0A3-B41E-45D7-D6C99FE15BC3}"/>
              </a:ext>
            </a:extLst>
          </p:cNvPr>
          <p:cNvGrpSpPr/>
          <p:nvPr/>
        </p:nvGrpSpPr>
        <p:grpSpPr>
          <a:xfrm>
            <a:off x="0" y="939798"/>
            <a:ext cx="5022850" cy="625474"/>
            <a:chOff x="0" y="1075267"/>
            <a:chExt cx="5022850" cy="625474"/>
          </a:xfrm>
        </p:grpSpPr>
        <p:sp>
          <p:nvSpPr>
            <p:cNvPr id="44" name="矩形 43">
              <a:extLst>
                <a:ext uri="{FF2B5EF4-FFF2-40B4-BE49-F238E27FC236}">
                  <a16:creationId xmlns:a16="http://schemas.microsoft.com/office/drawing/2014/main" id="{0DD5D719-1D4E-AED0-D0B2-2480C896ED18}"/>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992BB8CC-E403-3403-FCF1-96D2FD44A2B6}"/>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7.3.3 </a:t>
              </a:r>
              <a:r>
                <a:rPr lang="zh-CN" altLang="en-US" sz="2400" b="1" dirty="0">
                  <a:solidFill>
                    <a:schemeClr val="accent1"/>
                  </a:solidFill>
                  <a:latin typeface="+mj-lt"/>
                </a:rPr>
                <a:t>未知环境自主探索</a:t>
              </a:r>
            </a:p>
          </p:txBody>
        </p:sp>
      </p:grpSp>
    </p:spTree>
    <p:extLst>
      <p:ext uri="{BB962C8B-B14F-4D97-AF65-F5344CB8AC3E}">
        <p14:creationId xmlns:p14="http://schemas.microsoft.com/office/powerpoint/2010/main" val="1458506203"/>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91486" y="1696440"/>
            <a:ext cx="5920414" cy="2024660"/>
          </a:xfrm>
          <a:custGeom>
            <a:avLst/>
            <a:gdLst/>
            <a:ahLst/>
            <a:cxnLst/>
            <a:rect l="l" t="t" r="r" b="b"/>
            <a:pathLst>
              <a:path w="7550092" h="1677798">
                <a:moveTo>
                  <a:pt x="37284" y="0"/>
                </a:moveTo>
                <a:lnTo>
                  <a:pt x="7438233" y="0"/>
                </a:lnTo>
                <a:cubicBezTo>
                  <a:pt x="7500011" y="0"/>
                  <a:pt x="7550092" y="50081"/>
                  <a:pt x="7550092" y="111859"/>
                </a:cubicBezTo>
                <a:lnTo>
                  <a:pt x="7550092" y="1565939"/>
                </a:lnTo>
                <a:cubicBezTo>
                  <a:pt x="7550092" y="1627717"/>
                  <a:pt x="7500011" y="1677798"/>
                  <a:pt x="7438233" y="1677798"/>
                </a:cubicBezTo>
                <a:lnTo>
                  <a:pt x="37284" y="1677798"/>
                </a:lnTo>
                <a:cubicBezTo>
                  <a:pt x="16693" y="1677798"/>
                  <a:pt x="0" y="1661105"/>
                  <a:pt x="0" y="1640514"/>
                </a:cubicBezTo>
                <a:lnTo>
                  <a:pt x="0" y="37284"/>
                </a:lnTo>
                <a:cubicBezTo>
                  <a:pt x="0" y="16693"/>
                  <a:pt x="16693" y="0"/>
                  <a:pt x="37284" y="0"/>
                </a:cubicBezTo>
                <a:close/>
              </a:path>
            </a:pathLst>
          </a:custGeom>
          <a:solidFill>
            <a:srgbClr val="5F87A7">
              <a:alpha val="10196"/>
            </a:srgbClr>
          </a:solidFill>
        </p:spPr>
      </p:sp>
      <p:sp>
        <p:nvSpPr>
          <p:cNvPr id="6" name="Shape 4"/>
          <p:cNvSpPr/>
          <p:nvPr/>
        </p:nvSpPr>
        <p:spPr>
          <a:xfrm>
            <a:off x="391486" y="1696440"/>
            <a:ext cx="37284" cy="2024660"/>
          </a:xfrm>
          <a:custGeom>
            <a:avLst/>
            <a:gdLst/>
            <a:ahLst/>
            <a:cxnLst/>
            <a:rect l="l" t="t" r="r" b="b"/>
            <a:pathLst>
              <a:path w="37284" h="1677798">
                <a:moveTo>
                  <a:pt x="37284" y="0"/>
                </a:moveTo>
                <a:lnTo>
                  <a:pt x="37284" y="0"/>
                </a:lnTo>
                <a:lnTo>
                  <a:pt x="37284" y="1677798"/>
                </a:lnTo>
                <a:lnTo>
                  <a:pt x="37284" y="1677798"/>
                </a:lnTo>
                <a:cubicBezTo>
                  <a:pt x="16693" y="1677798"/>
                  <a:pt x="0" y="1661105"/>
                  <a:pt x="0" y="1640514"/>
                </a:cubicBezTo>
                <a:lnTo>
                  <a:pt x="0" y="37284"/>
                </a:lnTo>
                <a:cubicBezTo>
                  <a:pt x="0" y="16693"/>
                  <a:pt x="16693" y="0"/>
                  <a:pt x="37284" y="0"/>
                </a:cubicBezTo>
                <a:close/>
              </a:path>
            </a:pathLst>
          </a:custGeom>
          <a:solidFill>
            <a:srgbClr val="E6B450"/>
          </a:solidFill>
        </p:spPr>
      </p:sp>
      <p:sp>
        <p:nvSpPr>
          <p:cNvPr id="7" name="Shape 5"/>
          <p:cNvSpPr/>
          <p:nvPr/>
        </p:nvSpPr>
        <p:spPr>
          <a:xfrm>
            <a:off x="601211" y="1957431"/>
            <a:ext cx="223706" cy="223706"/>
          </a:xfrm>
          <a:custGeom>
            <a:avLst/>
            <a:gdLst/>
            <a:ahLst/>
            <a:cxnLst/>
            <a:rect l="l" t="t" r="r" b="b"/>
            <a:pathLst>
              <a:path w="223706" h="223706">
                <a:moveTo>
                  <a:pt x="223706" y="20972"/>
                </a:moveTo>
                <a:cubicBezTo>
                  <a:pt x="223706" y="16123"/>
                  <a:pt x="221216" y="11622"/>
                  <a:pt x="217065" y="9088"/>
                </a:cubicBezTo>
                <a:cubicBezTo>
                  <a:pt x="212914" y="6554"/>
                  <a:pt x="207802" y="6292"/>
                  <a:pt x="203477" y="8476"/>
                </a:cubicBezTo>
                <a:lnTo>
                  <a:pt x="152706" y="33862"/>
                </a:lnTo>
                <a:lnTo>
                  <a:pt x="74321" y="7690"/>
                </a:lnTo>
                <a:cubicBezTo>
                  <a:pt x="70782" y="6510"/>
                  <a:pt x="66981" y="6772"/>
                  <a:pt x="63660" y="8433"/>
                </a:cubicBezTo>
                <a:lnTo>
                  <a:pt x="7734" y="36396"/>
                </a:lnTo>
                <a:cubicBezTo>
                  <a:pt x="2971" y="38799"/>
                  <a:pt x="0" y="43649"/>
                  <a:pt x="0" y="48936"/>
                </a:cubicBezTo>
                <a:lnTo>
                  <a:pt x="0" y="202734"/>
                </a:lnTo>
                <a:cubicBezTo>
                  <a:pt x="0" y="207584"/>
                  <a:pt x="2490" y="212084"/>
                  <a:pt x="6641" y="214618"/>
                </a:cubicBezTo>
                <a:cubicBezTo>
                  <a:pt x="10792" y="217153"/>
                  <a:pt x="15904" y="217415"/>
                  <a:pt x="20230" y="215230"/>
                </a:cubicBezTo>
                <a:lnTo>
                  <a:pt x="70957" y="189845"/>
                </a:lnTo>
                <a:lnTo>
                  <a:pt x="149342" y="215973"/>
                </a:lnTo>
                <a:cubicBezTo>
                  <a:pt x="152881" y="217153"/>
                  <a:pt x="156682" y="216890"/>
                  <a:pt x="160003" y="215230"/>
                </a:cubicBezTo>
                <a:lnTo>
                  <a:pt x="215929" y="187267"/>
                </a:lnTo>
                <a:cubicBezTo>
                  <a:pt x="220648" y="184907"/>
                  <a:pt x="223663" y="180057"/>
                  <a:pt x="223663" y="174771"/>
                </a:cubicBezTo>
                <a:lnTo>
                  <a:pt x="223663" y="20972"/>
                </a:lnTo>
                <a:close/>
                <a:moveTo>
                  <a:pt x="83890" y="164678"/>
                </a:moveTo>
                <a:lnTo>
                  <a:pt x="83890" y="40372"/>
                </a:lnTo>
                <a:lnTo>
                  <a:pt x="139817" y="59029"/>
                </a:lnTo>
                <a:lnTo>
                  <a:pt x="139817" y="183334"/>
                </a:lnTo>
                <a:lnTo>
                  <a:pt x="83890" y="164678"/>
                </a:lnTo>
                <a:close/>
              </a:path>
            </a:pathLst>
          </a:custGeom>
          <a:solidFill>
            <a:srgbClr val="E6B450"/>
          </a:solidFill>
        </p:spPr>
      </p:sp>
      <p:sp>
        <p:nvSpPr>
          <p:cNvPr id="8" name="Text 6"/>
          <p:cNvSpPr/>
          <p:nvPr/>
        </p:nvSpPr>
        <p:spPr>
          <a:xfrm>
            <a:off x="938955" y="1920147"/>
            <a:ext cx="1741900" cy="298275"/>
          </a:xfrm>
          <a:prstGeom prst="rect">
            <a:avLst/>
          </a:prstGeom>
          <a:noFill/>
        </p:spPr>
        <p:txBody>
          <a:bodyPr wrap="square" lIns="0" tIns="0" rIns="0" bIns="0" rtlCol="0" anchor="ctr"/>
          <a:lstStyle/>
          <a:p>
            <a:pPr>
              <a:lnSpc>
                <a:spcPct val="110000"/>
              </a:lnSpc>
            </a:pP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TARE </a:t>
            </a:r>
            <a:r>
              <a:rPr lang="en-US" sz="1760" b="1" dirty="0" err="1">
                <a:latin typeface="微软雅黑" panose="020B0503020204020204" pitchFamily="34" charset="-122"/>
                <a:ea typeface="微软雅黑" panose="020B0503020204020204" pitchFamily="34" charset="-122"/>
                <a:cs typeface="微软雅黑" panose="020B0503020204020204" pitchFamily="34" charset="-122"/>
              </a:rPr>
              <a:t>算法示意</a:t>
            </a:r>
            <a:endParaRPr lang="en-US" sz="1600" dirty="0"/>
          </a:p>
        </p:txBody>
      </p:sp>
      <p:sp>
        <p:nvSpPr>
          <p:cNvPr id="9" name="Text 7"/>
          <p:cNvSpPr/>
          <p:nvPr/>
        </p:nvSpPr>
        <p:spPr>
          <a:xfrm>
            <a:off x="938955" y="2330275"/>
            <a:ext cx="5157045" cy="1153486"/>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在一个</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局部区域</a:t>
            </a:r>
            <a:r>
              <a:rPr lang="en-US" sz="1600" dirty="0">
                <a:latin typeface="微软雅黑" panose="020B0503020204020204" pitchFamily="34" charset="-122"/>
                <a:ea typeface="微软雅黑" panose="020B0503020204020204" pitchFamily="34" charset="-122"/>
                <a:cs typeface="微软雅黑" panose="020B0503020204020204" pitchFamily="34" charset="-122"/>
              </a:rPr>
              <a:t>内，机器人会沿着一条由计算机大量计算给出的</a:t>
            </a:r>
            <a:r>
              <a:rPr lang="en-US" sz="1600" dirty="0">
                <a:highlight>
                  <a:srgbClr val="E6B450">
                    <a:alpha val="20000"/>
                  </a:srgbClr>
                </a:highlight>
                <a:latin typeface="微软雅黑" panose="020B0503020204020204" pitchFamily="34" charset="-122"/>
                <a:ea typeface="微软雅黑" panose="020B0503020204020204" pitchFamily="34" charset="-122"/>
              </a:rPr>
              <a:t>精细路径</a:t>
            </a:r>
            <a:r>
              <a:rPr lang="en-US" sz="1600" dirty="0">
                <a:latin typeface="微软雅黑" panose="020B0503020204020204" pitchFamily="34" charset="-122"/>
                <a:ea typeface="微软雅黑" panose="020B0503020204020204" pitchFamily="34" charset="-122"/>
                <a:cs typeface="微软雅黑" panose="020B0503020204020204" pitchFamily="34" charset="-122"/>
              </a:rPr>
              <a:t>进行。而在这个区域之外，则是由一条由计算机少量计算给出的</a:t>
            </a:r>
            <a:r>
              <a:rPr lang="en-US" sz="1600" dirty="0">
                <a:highlight>
                  <a:srgbClr val="E6B450">
                    <a:alpha val="20000"/>
                  </a:srgbClr>
                </a:highlight>
                <a:latin typeface="微软雅黑" panose="020B0503020204020204" pitchFamily="34" charset="-122"/>
                <a:ea typeface="微软雅黑" panose="020B0503020204020204" pitchFamily="34" charset="-122"/>
              </a:rPr>
              <a:t>粗略路径</a:t>
            </a:r>
            <a:r>
              <a:rPr lang="en-US" sz="1600" dirty="0">
                <a:latin typeface="微软雅黑" panose="020B0503020204020204" pitchFamily="34" charset="-122"/>
                <a:ea typeface="微软雅黑" panose="020B0503020204020204" pitchFamily="34" charset="-122"/>
                <a:cs typeface="微软雅黑" panose="020B0503020204020204" pitchFamily="34" charset="-122"/>
              </a:rPr>
              <a:t>引导，此外，还包括未被探索完，但目前机器人并不会对此处精细计算的子空间。</a:t>
            </a:r>
            <a:endParaRPr lang="en-US" sz="2000" dirty="0"/>
          </a:p>
        </p:txBody>
      </p:sp>
      <p:sp>
        <p:nvSpPr>
          <p:cNvPr id="10" name="Shape 8"/>
          <p:cNvSpPr/>
          <p:nvPr/>
        </p:nvSpPr>
        <p:spPr>
          <a:xfrm>
            <a:off x="391486" y="3887714"/>
            <a:ext cx="5920414" cy="2074935"/>
          </a:xfrm>
          <a:custGeom>
            <a:avLst/>
            <a:gdLst/>
            <a:ahLst/>
            <a:cxnLst/>
            <a:rect l="l" t="t" r="r" b="b"/>
            <a:pathLst>
              <a:path w="7550092" h="1677798">
                <a:moveTo>
                  <a:pt x="37284" y="0"/>
                </a:moveTo>
                <a:lnTo>
                  <a:pt x="7438233" y="0"/>
                </a:lnTo>
                <a:cubicBezTo>
                  <a:pt x="7500011" y="0"/>
                  <a:pt x="7550092" y="50081"/>
                  <a:pt x="7550092" y="111859"/>
                </a:cubicBezTo>
                <a:lnTo>
                  <a:pt x="7550092" y="1565939"/>
                </a:lnTo>
                <a:cubicBezTo>
                  <a:pt x="7550092" y="1627717"/>
                  <a:pt x="7500011" y="1677798"/>
                  <a:pt x="7438233" y="1677798"/>
                </a:cubicBezTo>
                <a:lnTo>
                  <a:pt x="37284" y="1677798"/>
                </a:lnTo>
                <a:cubicBezTo>
                  <a:pt x="16693" y="1677798"/>
                  <a:pt x="0" y="1661105"/>
                  <a:pt x="0" y="1640514"/>
                </a:cubicBezTo>
                <a:lnTo>
                  <a:pt x="0" y="37284"/>
                </a:lnTo>
                <a:cubicBezTo>
                  <a:pt x="0" y="16693"/>
                  <a:pt x="16693" y="0"/>
                  <a:pt x="37284" y="0"/>
                </a:cubicBezTo>
                <a:close/>
              </a:path>
            </a:pathLst>
          </a:custGeom>
          <a:solidFill>
            <a:srgbClr val="5F87A7">
              <a:alpha val="10196"/>
            </a:srgbClr>
          </a:solidFill>
        </p:spPr>
      </p:sp>
      <p:sp>
        <p:nvSpPr>
          <p:cNvPr id="11" name="Shape 9"/>
          <p:cNvSpPr/>
          <p:nvPr/>
        </p:nvSpPr>
        <p:spPr>
          <a:xfrm>
            <a:off x="391486" y="3887714"/>
            <a:ext cx="37284" cy="2074935"/>
          </a:xfrm>
          <a:custGeom>
            <a:avLst/>
            <a:gdLst/>
            <a:ahLst/>
            <a:cxnLst/>
            <a:rect l="l" t="t" r="r" b="b"/>
            <a:pathLst>
              <a:path w="37284" h="1677798">
                <a:moveTo>
                  <a:pt x="37284" y="0"/>
                </a:moveTo>
                <a:lnTo>
                  <a:pt x="37284" y="0"/>
                </a:lnTo>
                <a:lnTo>
                  <a:pt x="37284" y="1677798"/>
                </a:lnTo>
                <a:lnTo>
                  <a:pt x="37284" y="1677798"/>
                </a:lnTo>
                <a:cubicBezTo>
                  <a:pt x="16693" y="1677798"/>
                  <a:pt x="0" y="1661105"/>
                  <a:pt x="0" y="1640514"/>
                </a:cubicBezTo>
                <a:lnTo>
                  <a:pt x="0" y="37284"/>
                </a:lnTo>
                <a:cubicBezTo>
                  <a:pt x="0" y="16693"/>
                  <a:pt x="16693" y="0"/>
                  <a:pt x="37284" y="0"/>
                </a:cubicBezTo>
                <a:close/>
              </a:path>
            </a:pathLst>
          </a:custGeom>
          <a:solidFill>
            <a:srgbClr val="E6B450"/>
          </a:solidFill>
        </p:spPr>
      </p:sp>
      <p:sp>
        <p:nvSpPr>
          <p:cNvPr id="12" name="Shape 10"/>
          <p:cNvSpPr/>
          <p:nvPr/>
        </p:nvSpPr>
        <p:spPr>
          <a:xfrm>
            <a:off x="573248" y="4148706"/>
            <a:ext cx="279633" cy="223706"/>
          </a:xfrm>
          <a:custGeom>
            <a:avLst/>
            <a:gdLst/>
            <a:ahLst/>
            <a:cxnLst/>
            <a:rect l="l" t="t" r="r" b="b"/>
            <a:pathLst>
              <a:path w="279633" h="223706">
                <a:moveTo>
                  <a:pt x="167780" y="13982"/>
                </a:moveTo>
                <a:lnTo>
                  <a:pt x="223706" y="13982"/>
                </a:lnTo>
                <a:cubicBezTo>
                  <a:pt x="231440" y="13982"/>
                  <a:pt x="237688" y="20230"/>
                  <a:pt x="237688" y="27963"/>
                </a:cubicBezTo>
                <a:cubicBezTo>
                  <a:pt x="237688" y="35697"/>
                  <a:pt x="231440" y="41945"/>
                  <a:pt x="223706" y="41945"/>
                </a:cubicBezTo>
                <a:lnTo>
                  <a:pt x="174072" y="41945"/>
                </a:lnTo>
                <a:cubicBezTo>
                  <a:pt x="171800" y="53218"/>
                  <a:pt x="164066" y="62524"/>
                  <a:pt x="153798" y="66981"/>
                </a:cubicBezTo>
                <a:lnTo>
                  <a:pt x="153798" y="195743"/>
                </a:lnTo>
                <a:lnTo>
                  <a:pt x="223706" y="195743"/>
                </a:lnTo>
                <a:cubicBezTo>
                  <a:pt x="231440" y="195743"/>
                  <a:pt x="237688" y="201991"/>
                  <a:pt x="237688" y="209725"/>
                </a:cubicBezTo>
                <a:cubicBezTo>
                  <a:pt x="237688" y="217458"/>
                  <a:pt x="231440" y="223706"/>
                  <a:pt x="223706" y="223706"/>
                </a:cubicBezTo>
                <a:lnTo>
                  <a:pt x="55927" y="223706"/>
                </a:lnTo>
                <a:cubicBezTo>
                  <a:pt x="48193" y="223706"/>
                  <a:pt x="41945" y="217458"/>
                  <a:pt x="41945" y="209725"/>
                </a:cubicBezTo>
                <a:cubicBezTo>
                  <a:pt x="41945" y="201991"/>
                  <a:pt x="48193" y="195743"/>
                  <a:pt x="55927" y="195743"/>
                </a:cubicBezTo>
                <a:lnTo>
                  <a:pt x="125835" y="195743"/>
                </a:lnTo>
                <a:lnTo>
                  <a:pt x="125835" y="66981"/>
                </a:lnTo>
                <a:cubicBezTo>
                  <a:pt x="115567" y="62481"/>
                  <a:pt x="107833" y="53174"/>
                  <a:pt x="105561" y="41945"/>
                </a:cubicBezTo>
                <a:lnTo>
                  <a:pt x="55927" y="41945"/>
                </a:lnTo>
                <a:cubicBezTo>
                  <a:pt x="48193" y="41945"/>
                  <a:pt x="41945" y="35697"/>
                  <a:pt x="41945" y="27963"/>
                </a:cubicBezTo>
                <a:cubicBezTo>
                  <a:pt x="41945" y="20230"/>
                  <a:pt x="48193" y="13982"/>
                  <a:pt x="55927" y="13982"/>
                </a:cubicBezTo>
                <a:lnTo>
                  <a:pt x="111853" y="13982"/>
                </a:lnTo>
                <a:cubicBezTo>
                  <a:pt x="118232" y="5505"/>
                  <a:pt x="128369" y="0"/>
                  <a:pt x="139817" y="0"/>
                </a:cubicBezTo>
                <a:cubicBezTo>
                  <a:pt x="151264" y="0"/>
                  <a:pt x="161401" y="5505"/>
                  <a:pt x="167780" y="13982"/>
                </a:cubicBezTo>
                <a:close/>
                <a:moveTo>
                  <a:pt x="192073" y="139817"/>
                </a:moveTo>
                <a:lnTo>
                  <a:pt x="255340" y="139817"/>
                </a:lnTo>
                <a:lnTo>
                  <a:pt x="223706" y="85550"/>
                </a:lnTo>
                <a:lnTo>
                  <a:pt x="192073" y="139817"/>
                </a:lnTo>
                <a:close/>
                <a:moveTo>
                  <a:pt x="223706" y="181761"/>
                </a:moveTo>
                <a:cubicBezTo>
                  <a:pt x="196224" y="181761"/>
                  <a:pt x="173372" y="166906"/>
                  <a:pt x="168654" y="147288"/>
                </a:cubicBezTo>
                <a:cubicBezTo>
                  <a:pt x="167518" y="142482"/>
                  <a:pt x="169091" y="137544"/>
                  <a:pt x="171581" y="133263"/>
                </a:cubicBezTo>
                <a:lnTo>
                  <a:pt x="213176" y="61956"/>
                </a:lnTo>
                <a:cubicBezTo>
                  <a:pt x="215361" y="58199"/>
                  <a:pt x="219381" y="55927"/>
                  <a:pt x="223706" y="55927"/>
                </a:cubicBezTo>
                <a:cubicBezTo>
                  <a:pt x="228032" y="55927"/>
                  <a:pt x="232052" y="58242"/>
                  <a:pt x="234236" y="61956"/>
                </a:cubicBezTo>
                <a:lnTo>
                  <a:pt x="275832" y="133263"/>
                </a:lnTo>
                <a:cubicBezTo>
                  <a:pt x="278322" y="137544"/>
                  <a:pt x="279895" y="142482"/>
                  <a:pt x="278759" y="147288"/>
                </a:cubicBezTo>
                <a:cubicBezTo>
                  <a:pt x="274040" y="166862"/>
                  <a:pt x="251189" y="181761"/>
                  <a:pt x="223706" y="181761"/>
                </a:cubicBezTo>
                <a:close/>
                <a:moveTo>
                  <a:pt x="55402" y="85550"/>
                </a:moveTo>
                <a:lnTo>
                  <a:pt x="23769" y="139817"/>
                </a:lnTo>
                <a:lnTo>
                  <a:pt x="87079" y="139817"/>
                </a:lnTo>
                <a:lnTo>
                  <a:pt x="55402" y="85550"/>
                </a:lnTo>
                <a:close/>
                <a:moveTo>
                  <a:pt x="393" y="147288"/>
                </a:moveTo>
                <a:cubicBezTo>
                  <a:pt x="-743" y="142482"/>
                  <a:pt x="830" y="137544"/>
                  <a:pt x="3321" y="133263"/>
                </a:cubicBezTo>
                <a:lnTo>
                  <a:pt x="44916" y="61956"/>
                </a:lnTo>
                <a:cubicBezTo>
                  <a:pt x="47101" y="58199"/>
                  <a:pt x="51120" y="55927"/>
                  <a:pt x="55446" y="55927"/>
                </a:cubicBezTo>
                <a:cubicBezTo>
                  <a:pt x="59772" y="55927"/>
                  <a:pt x="63791" y="58242"/>
                  <a:pt x="65976" y="61956"/>
                </a:cubicBezTo>
                <a:lnTo>
                  <a:pt x="107571" y="133263"/>
                </a:lnTo>
                <a:cubicBezTo>
                  <a:pt x="110062" y="137544"/>
                  <a:pt x="111635" y="142482"/>
                  <a:pt x="110499" y="147288"/>
                </a:cubicBezTo>
                <a:cubicBezTo>
                  <a:pt x="105780" y="166862"/>
                  <a:pt x="82929" y="181761"/>
                  <a:pt x="55446" y="181761"/>
                </a:cubicBezTo>
                <a:cubicBezTo>
                  <a:pt x="27963" y="181761"/>
                  <a:pt x="5112" y="166906"/>
                  <a:pt x="393" y="147288"/>
                </a:cubicBezTo>
                <a:close/>
              </a:path>
            </a:pathLst>
          </a:custGeom>
          <a:solidFill>
            <a:srgbClr val="E6B450"/>
          </a:solidFill>
        </p:spPr>
      </p:sp>
      <p:sp>
        <p:nvSpPr>
          <p:cNvPr id="13" name="Text 11"/>
          <p:cNvSpPr/>
          <p:nvPr/>
        </p:nvSpPr>
        <p:spPr>
          <a:xfrm>
            <a:off x="938955" y="4111421"/>
            <a:ext cx="1652661" cy="298275"/>
          </a:xfrm>
          <a:prstGeom prst="rect">
            <a:avLst/>
          </a:prstGeom>
          <a:noFill/>
        </p:spPr>
        <p:txBody>
          <a:bodyPr wrap="square" lIns="0" tIns="0" rIns="0" bIns="0" rtlCol="0" anchor="ctr"/>
          <a:lstStyle/>
          <a:p>
            <a:pPr>
              <a:lnSpc>
                <a:spcPct val="110000"/>
              </a:lnSpc>
            </a:pPr>
            <a:r>
              <a:rPr lang="en-US" sz="1760" b="1" dirty="0">
                <a:latin typeface="微软雅黑" panose="020B0503020204020204" pitchFamily="34" charset="-122"/>
                <a:ea typeface="微软雅黑" panose="020B0503020204020204" pitchFamily="34" charset="-122"/>
                <a:cs typeface="微软雅黑" panose="020B0503020204020204" pitchFamily="34" charset="-122"/>
              </a:rPr>
              <a:t>计算资源分配</a:t>
            </a:r>
            <a:endParaRPr lang="en-US" sz="1600" dirty="0"/>
          </a:p>
        </p:txBody>
      </p:sp>
      <p:sp>
        <p:nvSpPr>
          <p:cNvPr id="14" name="Text 12"/>
          <p:cNvSpPr/>
          <p:nvPr/>
        </p:nvSpPr>
        <p:spPr>
          <a:xfrm>
            <a:off x="938955" y="4521550"/>
            <a:ext cx="5157045" cy="1180750"/>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TARE算法通过在不同区域分配不同的计算资源，实现了</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效率与精度的平衡</a:t>
            </a:r>
            <a:r>
              <a:rPr lang="en-US" sz="1600" dirty="0">
                <a:latin typeface="微软雅黑" panose="020B0503020204020204" pitchFamily="34" charset="-122"/>
                <a:ea typeface="微软雅黑" panose="020B0503020204020204" pitchFamily="34" charset="-122"/>
                <a:cs typeface="微软雅黑" panose="020B0503020204020204" pitchFamily="34" charset="-122"/>
              </a:rPr>
              <a:t>。在机器人附近的局部区域进行精细计算，确保探索质量；在远离机器人的区域进行粗略计算，保证全局引导。</a:t>
            </a:r>
            <a:endParaRPr lang="en-US" sz="2000" dirty="0"/>
          </a:p>
        </p:txBody>
      </p:sp>
      <p:sp>
        <p:nvSpPr>
          <p:cNvPr id="23" name="Shape 21"/>
          <p:cNvSpPr/>
          <p:nvPr/>
        </p:nvSpPr>
        <p:spPr>
          <a:xfrm>
            <a:off x="6859369" y="1701102"/>
            <a:ext cx="5154656" cy="4261548"/>
          </a:xfrm>
          <a:custGeom>
            <a:avLst/>
            <a:gdLst/>
            <a:ahLst/>
            <a:cxnLst/>
            <a:rect l="l" t="t" r="r" b="b"/>
            <a:pathLst>
              <a:path w="3569982" h="4781725">
                <a:moveTo>
                  <a:pt x="111848" y="0"/>
                </a:moveTo>
                <a:lnTo>
                  <a:pt x="3458134" y="0"/>
                </a:lnTo>
                <a:cubicBezTo>
                  <a:pt x="3519906" y="0"/>
                  <a:pt x="3569982" y="50076"/>
                  <a:pt x="3569982" y="111848"/>
                </a:cubicBezTo>
                <a:lnTo>
                  <a:pt x="3569982" y="4669877"/>
                </a:lnTo>
                <a:cubicBezTo>
                  <a:pt x="3569982" y="4731649"/>
                  <a:pt x="3519906" y="4781725"/>
                  <a:pt x="3458134" y="4781725"/>
                </a:cubicBezTo>
                <a:lnTo>
                  <a:pt x="111848" y="4781725"/>
                </a:lnTo>
                <a:cubicBezTo>
                  <a:pt x="50076" y="4781725"/>
                  <a:pt x="0" y="4731649"/>
                  <a:pt x="0" y="4669877"/>
                </a:cubicBezTo>
                <a:lnTo>
                  <a:pt x="0" y="111848"/>
                </a:lnTo>
                <a:cubicBezTo>
                  <a:pt x="0" y="50076"/>
                  <a:pt x="50076" y="0"/>
                  <a:pt x="111848" y="0"/>
                </a:cubicBezTo>
                <a:close/>
              </a:path>
            </a:pathLst>
          </a:custGeom>
          <a:solidFill>
            <a:srgbClr val="E6B450">
              <a:alpha val="10196"/>
            </a:srgbClr>
          </a:solidFill>
          <a:ln w="12700">
            <a:solidFill>
              <a:srgbClr val="E6B450">
                <a:alpha val="30196"/>
              </a:srgbClr>
            </a:solidFill>
            <a:prstDash val="solid"/>
          </a:ln>
        </p:spPr>
      </p:sp>
      <p:grpSp>
        <p:nvGrpSpPr>
          <p:cNvPr id="42" name="组合 41">
            <a:extLst>
              <a:ext uri="{FF2B5EF4-FFF2-40B4-BE49-F238E27FC236}">
                <a16:creationId xmlns:a16="http://schemas.microsoft.com/office/drawing/2014/main" id="{6FCB6DC5-A53E-B8BA-E620-BFAA68FE9AA2}"/>
              </a:ext>
            </a:extLst>
          </p:cNvPr>
          <p:cNvGrpSpPr/>
          <p:nvPr/>
        </p:nvGrpSpPr>
        <p:grpSpPr>
          <a:xfrm>
            <a:off x="0" y="939798"/>
            <a:ext cx="5022850" cy="625474"/>
            <a:chOff x="0" y="1075267"/>
            <a:chExt cx="5022850" cy="625474"/>
          </a:xfrm>
        </p:grpSpPr>
        <p:sp>
          <p:nvSpPr>
            <p:cNvPr id="43" name="矩形 42">
              <a:extLst>
                <a:ext uri="{FF2B5EF4-FFF2-40B4-BE49-F238E27FC236}">
                  <a16:creationId xmlns:a16="http://schemas.microsoft.com/office/drawing/2014/main" id="{5A1312E7-9497-E392-451A-3829A81554AB}"/>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88AA9233-E761-096B-A3F2-93ACAA7B67EE}"/>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7.3.3 </a:t>
              </a:r>
              <a:r>
                <a:rPr lang="zh-CN" altLang="en-US" sz="2400" b="1" dirty="0">
                  <a:solidFill>
                    <a:schemeClr val="accent1"/>
                  </a:solidFill>
                  <a:latin typeface="+mj-lt"/>
                </a:rPr>
                <a:t>未知环境自主探索</a:t>
              </a:r>
            </a:p>
          </p:txBody>
        </p:sp>
      </p:grpSp>
      <p:pic>
        <p:nvPicPr>
          <p:cNvPr id="2" name="图片 1">
            <a:extLst>
              <a:ext uri="{FF2B5EF4-FFF2-40B4-BE49-F238E27FC236}">
                <a16:creationId xmlns:a16="http://schemas.microsoft.com/office/drawing/2014/main" id="{045CC22B-8B59-8723-EAEC-18EED8E596D6}"/>
              </a:ext>
            </a:extLst>
          </p:cNvPr>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a:xfrm>
            <a:off x="6845885" y="1858535"/>
            <a:ext cx="5168140" cy="3856464"/>
          </a:xfrm>
          <a:prstGeom prst="rect">
            <a:avLst/>
          </a:prstGeom>
          <a:noFill/>
          <a:ln>
            <a:noFill/>
          </a:ln>
        </p:spPr>
      </p:pic>
    </p:spTree>
    <p:extLst>
      <p:ext uri="{BB962C8B-B14F-4D97-AF65-F5344CB8AC3E}">
        <p14:creationId xmlns:p14="http://schemas.microsoft.com/office/powerpoint/2010/main" val="1580146250"/>
      </p:ext>
    </p:extLst>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69188" y="1766070"/>
            <a:ext cx="7814483" cy="1995439"/>
          </a:xfrm>
          <a:custGeom>
            <a:avLst/>
            <a:gdLst/>
            <a:ahLst/>
            <a:cxnLst/>
            <a:rect l="l" t="t" r="r" b="b"/>
            <a:pathLst>
              <a:path w="7814483" h="1582235">
                <a:moveTo>
                  <a:pt x="35161" y="0"/>
                </a:moveTo>
                <a:lnTo>
                  <a:pt x="7708995" y="0"/>
                </a:lnTo>
                <a:cubicBezTo>
                  <a:pt x="7767255" y="0"/>
                  <a:pt x="7814483" y="47228"/>
                  <a:pt x="7814483" y="105488"/>
                </a:cubicBezTo>
                <a:lnTo>
                  <a:pt x="7814483" y="1476747"/>
                </a:lnTo>
                <a:cubicBezTo>
                  <a:pt x="7814483" y="1535007"/>
                  <a:pt x="7767255" y="1582235"/>
                  <a:pt x="7708995" y="1582235"/>
                </a:cubicBezTo>
                <a:lnTo>
                  <a:pt x="35161" y="1582235"/>
                </a:lnTo>
                <a:cubicBezTo>
                  <a:pt x="15755" y="1582235"/>
                  <a:pt x="0" y="1566480"/>
                  <a:pt x="0" y="1547074"/>
                </a:cubicBezTo>
                <a:lnTo>
                  <a:pt x="0" y="35161"/>
                </a:lnTo>
                <a:cubicBezTo>
                  <a:pt x="0" y="15755"/>
                  <a:pt x="15755" y="0"/>
                  <a:pt x="35161" y="0"/>
                </a:cubicBezTo>
                <a:close/>
              </a:path>
            </a:pathLst>
          </a:custGeom>
          <a:solidFill>
            <a:srgbClr val="5F87A7">
              <a:alpha val="10196"/>
            </a:srgbClr>
          </a:solidFill>
        </p:spPr>
      </p:sp>
      <p:sp>
        <p:nvSpPr>
          <p:cNvPr id="6" name="Shape 4"/>
          <p:cNvSpPr/>
          <p:nvPr/>
        </p:nvSpPr>
        <p:spPr>
          <a:xfrm>
            <a:off x="369188" y="1766070"/>
            <a:ext cx="35161" cy="1995439"/>
          </a:xfrm>
          <a:custGeom>
            <a:avLst/>
            <a:gdLst/>
            <a:ahLst/>
            <a:cxnLst/>
            <a:rect l="l" t="t" r="r" b="b"/>
            <a:pathLst>
              <a:path w="35161" h="1582235">
                <a:moveTo>
                  <a:pt x="35161" y="0"/>
                </a:moveTo>
                <a:lnTo>
                  <a:pt x="35161" y="0"/>
                </a:lnTo>
                <a:lnTo>
                  <a:pt x="35161" y="1582235"/>
                </a:lnTo>
                <a:lnTo>
                  <a:pt x="35161" y="1582235"/>
                </a:lnTo>
                <a:cubicBezTo>
                  <a:pt x="15755" y="1582235"/>
                  <a:pt x="0" y="1566480"/>
                  <a:pt x="0" y="1547074"/>
                </a:cubicBezTo>
                <a:lnTo>
                  <a:pt x="0" y="35161"/>
                </a:lnTo>
                <a:cubicBezTo>
                  <a:pt x="0" y="15755"/>
                  <a:pt x="15755" y="0"/>
                  <a:pt x="35161" y="0"/>
                </a:cubicBezTo>
                <a:close/>
              </a:path>
            </a:pathLst>
          </a:custGeom>
          <a:solidFill>
            <a:srgbClr val="E6B450"/>
          </a:solidFill>
        </p:spPr>
      </p:sp>
      <p:sp>
        <p:nvSpPr>
          <p:cNvPr id="7" name="Shape 5"/>
          <p:cNvSpPr/>
          <p:nvPr/>
        </p:nvSpPr>
        <p:spPr>
          <a:xfrm>
            <a:off x="566968" y="2012196"/>
            <a:ext cx="210965" cy="210965"/>
          </a:xfrm>
          <a:custGeom>
            <a:avLst/>
            <a:gdLst/>
            <a:ahLst/>
            <a:cxnLst/>
            <a:rect l="l" t="t" r="r" b="b"/>
            <a:pathLst>
              <a:path w="210965" h="210965">
                <a:moveTo>
                  <a:pt x="171409" y="85704"/>
                </a:moveTo>
                <a:cubicBezTo>
                  <a:pt x="171409" y="104617"/>
                  <a:pt x="165269" y="122088"/>
                  <a:pt x="154927" y="136262"/>
                </a:cubicBezTo>
                <a:lnTo>
                  <a:pt x="207091" y="188467"/>
                </a:lnTo>
                <a:cubicBezTo>
                  <a:pt x="212242" y="193618"/>
                  <a:pt x="212242" y="201982"/>
                  <a:pt x="207091" y="207133"/>
                </a:cubicBezTo>
                <a:cubicBezTo>
                  <a:pt x="201941" y="212283"/>
                  <a:pt x="193577" y="212283"/>
                  <a:pt x="188426" y="207133"/>
                </a:cubicBezTo>
                <a:lnTo>
                  <a:pt x="136262" y="154927"/>
                </a:lnTo>
                <a:cubicBezTo>
                  <a:pt x="122088" y="165269"/>
                  <a:pt x="104617" y="171409"/>
                  <a:pt x="85704" y="171409"/>
                </a:cubicBezTo>
                <a:cubicBezTo>
                  <a:pt x="38361" y="171409"/>
                  <a:pt x="0" y="133048"/>
                  <a:pt x="0" y="85704"/>
                </a:cubicBezTo>
                <a:cubicBezTo>
                  <a:pt x="0" y="38361"/>
                  <a:pt x="38361" y="0"/>
                  <a:pt x="85704" y="0"/>
                </a:cubicBezTo>
                <a:cubicBezTo>
                  <a:pt x="133048" y="0"/>
                  <a:pt x="171409" y="38361"/>
                  <a:pt x="171409" y="85704"/>
                </a:cubicBezTo>
                <a:close/>
                <a:moveTo>
                  <a:pt x="85704" y="145038"/>
                </a:moveTo>
                <a:cubicBezTo>
                  <a:pt x="118452" y="145038"/>
                  <a:pt x="145038" y="118452"/>
                  <a:pt x="145038" y="85704"/>
                </a:cubicBezTo>
                <a:cubicBezTo>
                  <a:pt x="145038" y="52957"/>
                  <a:pt x="118452" y="26371"/>
                  <a:pt x="85704" y="26371"/>
                </a:cubicBezTo>
                <a:cubicBezTo>
                  <a:pt x="52957" y="26371"/>
                  <a:pt x="26371" y="52957"/>
                  <a:pt x="26371" y="85704"/>
                </a:cubicBezTo>
                <a:cubicBezTo>
                  <a:pt x="26371" y="118452"/>
                  <a:pt x="52957" y="145038"/>
                  <a:pt x="85704" y="145038"/>
                </a:cubicBezTo>
                <a:close/>
              </a:path>
            </a:pathLst>
          </a:custGeom>
          <a:solidFill>
            <a:srgbClr val="E6B450"/>
          </a:solidFill>
        </p:spPr>
      </p:sp>
      <p:sp>
        <p:nvSpPr>
          <p:cNvPr id="8" name="Text 6"/>
          <p:cNvSpPr/>
          <p:nvPr/>
        </p:nvSpPr>
        <p:spPr>
          <a:xfrm>
            <a:off x="885475" y="1977035"/>
            <a:ext cx="7190379" cy="281286"/>
          </a:xfrm>
          <a:prstGeom prst="rect">
            <a:avLst/>
          </a:prstGeom>
          <a:noFill/>
        </p:spPr>
        <p:txBody>
          <a:bodyPr wrap="square" lIns="0" tIns="0" rIns="0" bIns="0" rtlCol="0" anchor="ctr"/>
          <a:lstStyle/>
          <a:p>
            <a:pPr>
              <a:lnSpc>
                <a:spcPct val="11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TARE </a:t>
            </a:r>
            <a:r>
              <a:rPr lang="en-US" b="1" dirty="0" err="1">
                <a:latin typeface="微软雅黑" panose="020B0503020204020204" pitchFamily="34" charset="-122"/>
                <a:ea typeface="微软雅黑" panose="020B0503020204020204" pitchFamily="34" charset="-122"/>
                <a:cs typeface="微软雅黑" panose="020B0503020204020204" pitchFamily="34" charset="-122"/>
              </a:rPr>
              <a:t>局部路径优化策略</a:t>
            </a:r>
            <a:endParaRPr lang="en-US" sz="1600" dirty="0"/>
          </a:p>
        </p:txBody>
      </p:sp>
      <p:sp>
        <p:nvSpPr>
          <p:cNvPr id="9" name="Text 7"/>
          <p:cNvSpPr/>
          <p:nvPr/>
        </p:nvSpPr>
        <p:spPr>
          <a:xfrm>
            <a:off x="885475" y="2363804"/>
            <a:ext cx="7164009" cy="1217596"/>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TARE算法在机器人附近的局部区域内会寻找一条</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最短路径</a:t>
            </a:r>
            <a:r>
              <a:rPr lang="en-US" sz="1600" dirty="0">
                <a:latin typeface="微软雅黑" panose="020B0503020204020204" pitchFamily="34" charset="-122"/>
                <a:ea typeface="微软雅黑" panose="020B0503020204020204" pitchFamily="34" charset="-122"/>
                <a:cs typeface="微软雅黑" panose="020B0503020204020204" pitchFamily="34" charset="-122"/>
              </a:rPr>
              <a:t>，以使传感器能够</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完全覆盖该区域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，并保证地图质量。这一方法不同于传统方法只用边界点引导机器人进行探索，而是采取</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视点循环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的方式寻找能让传感器"看全、看好"的最短路径。</a:t>
            </a:r>
            <a:endParaRPr lang="en-US" sz="2000" dirty="0"/>
          </a:p>
        </p:txBody>
      </p:sp>
      <p:sp>
        <p:nvSpPr>
          <p:cNvPr id="10" name="Shape 8"/>
          <p:cNvSpPr/>
          <p:nvPr/>
        </p:nvSpPr>
        <p:spPr>
          <a:xfrm>
            <a:off x="369188" y="3951928"/>
            <a:ext cx="7814483" cy="1804636"/>
          </a:xfrm>
          <a:custGeom>
            <a:avLst/>
            <a:gdLst/>
            <a:ahLst/>
            <a:cxnLst/>
            <a:rect l="l" t="t" r="r" b="b"/>
            <a:pathLst>
              <a:path w="7814483" h="1582235">
                <a:moveTo>
                  <a:pt x="35161" y="0"/>
                </a:moveTo>
                <a:lnTo>
                  <a:pt x="7708995" y="0"/>
                </a:lnTo>
                <a:cubicBezTo>
                  <a:pt x="7767255" y="0"/>
                  <a:pt x="7814483" y="47228"/>
                  <a:pt x="7814483" y="105488"/>
                </a:cubicBezTo>
                <a:lnTo>
                  <a:pt x="7814483" y="1476747"/>
                </a:lnTo>
                <a:cubicBezTo>
                  <a:pt x="7814483" y="1535007"/>
                  <a:pt x="7767255" y="1582235"/>
                  <a:pt x="7708995" y="1582235"/>
                </a:cubicBezTo>
                <a:lnTo>
                  <a:pt x="35161" y="1582235"/>
                </a:lnTo>
                <a:cubicBezTo>
                  <a:pt x="15755" y="1582235"/>
                  <a:pt x="0" y="1566480"/>
                  <a:pt x="0" y="1547074"/>
                </a:cubicBezTo>
                <a:lnTo>
                  <a:pt x="0" y="35161"/>
                </a:lnTo>
                <a:cubicBezTo>
                  <a:pt x="0" y="15755"/>
                  <a:pt x="15755" y="0"/>
                  <a:pt x="35161" y="0"/>
                </a:cubicBezTo>
                <a:close/>
              </a:path>
            </a:pathLst>
          </a:custGeom>
          <a:solidFill>
            <a:srgbClr val="5F87A7">
              <a:alpha val="10196"/>
            </a:srgbClr>
          </a:solidFill>
        </p:spPr>
      </p:sp>
      <p:sp>
        <p:nvSpPr>
          <p:cNvPr id="11" name="Shape 9"/>
          <p:cNvSpPr/>
          <p:nvPr/>
        </p:nvSpPr>
        <p:spPr>
          <a:xfrm>
            <a:off x="369188" y="3951928"/>
            <a:ext cx="35161" cy="1804636"/>
          </a:xfrm>
          <a:custGeom>
            <a:avLst/>
            <a:gdLst/>
            <a:ahLst/>
            <a:cxnLst/>
            <a:rect l="l" t="t" r="r" b="b"/>
            <a:pathLst>
              <a:path w="35161" h="1582235">
                <a:moveTo>
                  <a:pt x="35161" y="0"/>
                </a:moveTo>
                <a:lnTo>
                  <a:pt x="35161" y="0"/>
                </a:lnTo>
                <a:lnTo>
                  <a:pt x="35161" y="1582235"/>
                </a:lnTo>
                <a:lnTo>
                  <a:pt x="35161" y="1582235"/>
                </a:lnTo>
                <a:cubicBezTo>
                  <a:pt x="15755" y="1582235"/>
                  <a:pt x="0" y="1566480"/>
                  <a:pt x="0" y="1547074"/>
                </a:cubicBezTo>
                <a:lnTo>
                  <a:pt x="0" y="35161"/>
                </a:lnTo>
                <a:cubicBezTo>
                  <a:pt x="0" y="15755"/>
                  <a:pt x="15755" y="0"/>
                  <a:pt x="35161" y="0"/>
                </a:cubicBezTo>
                <a:close/>
              </a:path>
            </a:pathLst>
          </a:custGeom>
          <a:solidFill>
            <a:srgbClr val="E6B450"/>
          </a:solidFill>
        </p:spPr>
      </p:sp>
      <p:sp>
        <p:nvSpPr>
          <p:cNvPr id="12" name="Shape 10"/>
          <p:cNvSpPr/>
          <p:nvPr/>
        </p:nvSpPr>
        <p:spPr>
          <a:xfrm>
            <a:off x="553782" y="4198053"/>
            <a:ext cx="237335" cy="210965"/>
          </a:xfrm>
          <a:custGeom>
            <a:avLst/>
            <a:gdLst/>
            <a:ahLst/>
            <a:cxnLst/>
            <a:rect l="l" t="t" r="r" b="b"/>
            <a:pathLst>
              <a:path w="237335" h="210965">
                <a:moveTo>
                  <a:pt x="118668" y="13185"/>
                </a:moveTo>
                <a:cubicBezTo>
                  <a:pt x="85375" y="13185"/>
                  <a:pt x="58716" y="28348"/>
                  <a:pt x="39309" y="46396"/>
                </a:cubicBezTo>
                <a:cubicBezTo>
                  <a:pt x="20025" y="64320"/>
                  <a:pt x="7128" y="85704"/>
                  <a:pt x="989" y="100414"/>
                </a:cubicBezTo>
                <a:cubicBezTo>
                  <a:pt x="-371" y="103669"/>
                  <a:pt x="-371" y="107295"/>
                  <a:pt x="989" y="110550"/>
                </a:cubicBezTo>
                <a:cubicBezTo>
                  <a:pt x="7128" y="125260"/>
                  <a:pt x="20025" y="146686"/>
                  <a:pt x="39309" y="164569"/>
                </a:cubicBezTo>
                <a:cubicBezTo>
                  <a:pt x="58716" y="182575"/>
                  <a:pt x="85375" y="197779"/>
                  <a:pt x="118668" y="197779"/>
                </a:cubicBezTo>
                <a:cubicBezTo>
                  <a:pt x="151960" y="197779"/>
                  <a:pt x="178620" y="182616"/>
                  <a:pt x="198027" y="164569"/>
                </a:cubicBezTo>
                <a:cubicBezTo>
                  <a:pt x="217310" y="146645"/>
                  <a:pt x="230207" y="125260"/>
                  <a:pt x="236346" y="110550"/>
                </a:cubicBezTo>
                <a:cubicBezTo>
                  <a:pt x="237706" y="107295"/>
                  <a:pt x="237706" y="103669"/>
                  <a:pt x="236346" y="100414"/>
                </a:cubicBezTo>
                <a:cubicBezTo>
                  <a:pt x="230207" y="85704"/>
                  <a:pt x="217310" y="64278"/>
                  <a:pt x="198027" y="46396"/>
                </a:cubicBezTo>
                <a:cubicBezTo>
                  <a:pt x="178620" y="28390"/>
                  <a:pt x="151960" y="13185"/>
                  <a:pt x="118668" y="13185"/>
                </a:cubicBezTo>
                <a:close/>
                <a:moveTo>
                  <a:pt x="59334" y="105482"/>
                </a:moveTo>
                <a:cubicBezTo>
                  <a:pt x="59334" y="72735"/>
                  <a:pt x="85920" y="46149"/>
                  <a:pt x="118668" y="46149"/>
                </a:cubicBezTo>
                <a:cubicBezTo>
                  <a:pt x="151415" y="46149"/>
                  <a:pt x="178001" y="72735"/>
                  <a:pt x="178001" y="105482"/>
                </a:cubicBezTo>
                <a:cubicBezTo>
                  <a:pt x="178001" y="138230"/>
                  <a:pt x="151415" y="164816"/>
                  <a:pt x="118668" y="164816"/>
                </a:cubicBezTo>
                <a:cubicBezTo>
                  <a:pt x="85920" y="164816"/>
                  <a:pt x="59334" y="138230"/>
                  <a:pt x="59334" y="105482"/>
                </a:cubicBezTo>
                <a:close/>
                <a:moveTo>
                  <a:pt x="118668" y="79112"/>
                </a:moveTo>
                <a:cubicBezTo>
                  <a:pt x="118668" y="93657"/>
                  <a:pt x="106842" y="105482"/>
                  <a:pt x="92297" y="105482"/>
                </a:cubicBezTo>
                <a:cubicBezTo>
                  <a:pt x="87559" y="105482"/>
                  <a:pt x="83109" y="104246"/>
                  <a:pt x="79235" y="102021"/>
                </a:cubicBezTo>
                <a:cubicBezTo>
                  <a:pt x="78823" y="106512"/>
                  <a:pt x="79194" y="111127"/>
                  <a:pt x="80430" y="115701"/>
                </a:cubicBezTo>
                <a:cubicBezTo>
                  <a:pt x="86075" y="136797"/>
                  <a:pt x="107790" y="149323"/>
                  <a:pt x="128886" y="143678"/>
                </a:cubicBezTo>
                <a:cubicBezTo>
                  <a:pt x="149983" y="138034"/>
                  <a:pt x="162509" y="116319"/>
                  <a:pt x="156864" y="95223"/>
                </a:cubicBezTo>
                <a:cubicBezTo>
                  <a:pt x="151837" y="76392"/>
                  <a:pt x="133996" y="64402"/>
                  <a:pt x="115206" y="66050"/>
                </a:cubicBezTo>
                <a:cubicBezTo>
                  <a:pt x="117390" y="69882"/>
                  <a:pt x="118668" y="74332"/>
                  <a:pt x="118668" y="79112"/>
                </a:cubicBezTo>
                <a:close/>
              </a:path>
            </a:pathLst>
          </a:custGeom>
          <a:solidFill>
            <a:srgbClr val="E6B450"/>
          </a:solidFill>
        </p:spPr>
      </p:sp>
      <p:sp>
        <p:nvSpPr>
          <p:cNvPr id="13" name="Text 11"/>
          <p:cNvSpPr/>
          <p:nvPr/>
        </p:nvSpPr>
        <p:spPr>
          <a:xfrm>
            <a:off x="885475" y="4162892"/>
            <a:ext cx="7190379" cy="281286"/>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传感器覆盖优化</a:t>
            </a:r>
            <a:endParaRPr lang="en-US" dirty="0"/>
          </a:p>
        </p:txBody>
      </p:sp>
      <p:sp>
        <p:nvSpPr>
          <p:cNvPr id="14" name="Text 12"/>
          <p:cNvSpPr/>
          <p:nvPr/>
        </p:nvSpPr>
        <p:spPr>
          <a:xfrm>
            <a:off x="885475" y="4549661"/>
            <a:ext cx="7164009" cy="91595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在建图时，为了获得高质量的数据，</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激光雷达</a:t>
            </a:r>
            <a:r>
              <a:rPr lang="en-US" sz="1600" dirty="0">
                <a:latin typeface="微软雅黑" panose="020B0503020204020204" pitchFamily="34" charset="-122"/>
                <a:ea typeface="微软雅黑" panose="020B0503020204020204" pitchFamily="34" charset="-122"/>
                <a:cs typeface="微软雅黑" panose="020B0503020204020204" pitchFamily="34" charset="-122"/>
              </a:rPr>
              <a:t>需要从特定范围内的角度和距离观测物体。因此，TARE算法通过</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循环采样视点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，寻找最优路径来最大化传感器对物体表面的覆盖，从而实现</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高质量地图 </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的构建。如图7-17所示。</a:t>
            </a:r>
            <a:endParaRPr lang="en-US" sz="2000" dirty="0"/>
          </a:p>
        </p:txBody>
      </p:sp>
      <p:sp>
        <p:nvSpPr>
          <p:cNvPr id="20" name="Shape 18"/>
          <p:cNvSpPr/>
          <p:nvPr/>
        </p:nvSpPr>
        <p:spPr>
          <a:xfrm>
            <a:off x="8466331" y="1770466"/>
            <a:ext cx="3366645" cy="3986098"/>
          </a:xfrm>
          <a:custGeom>
            <a:avLst/>
            <a:gdLst/>
            <a:ahLst/>
            <a:cxnLst/>
            <a:rect l="l" t="t" r="r" b="b"/>
            <a:pathLst>
              <a:path w="3366645" h="4896138">
                <a:moveTo>
                  <a:pt x="105477" y="0"/>
                </a:moveTo>
                <a:lnTo>
                  <a:pt x="3261168" y="0"/>
                </a:lnTo>
                <a:cubicBezTo>
                  <a:pt x="3319421" y="0"/>
                  <a:pt x="3366645" y="47224"/>
                  <a:pt x="3366645" y="105477"/>
                </a:cubicBezTo>
                <a:lnTo>
                  <a:pt x="3366645" y="4790661"/>
                </a:lnTo>
                <a:cubicBezTo>
                  <a:pt x="3366645" y="4848915"/>
                  <a:pt x="3319421" y="4896138"/>
                  <a:pt x="3261168" y="4896138"/>
                </a:cubicBezTo>
                <a:lnTo>
                  <a:pt x="105477" y="4896138"/>
                </a:lnTo>
                <a:cubicBezTo>
                  <a:pt x="47224" y="4896138"/>
                  <a:pt x="0" y="4848915"/>
                  <a:pt x="0" y="4790661"/>
                </a:cubicBezTo>
                <a:lnTo>
                  <a:pt x="0" y="105477"/>
                </a:lnTo>
                <a:cubicBezTo>
                  <a:pt x="0" y="47263"/>
                  <a:pt x="47263" y="0"/>
                  <a:pt x="105477" y="0"/>
                </a:cubicBezTo>
                <a:close/>
              </a:path>
            </a:pathLst>
          </a:custGeom>
          <a:solidFill>
            <a:srgbClr val="E6B450">
              <a:alpha val="10196"/>
            </a:srgbClr>
          </a:solidFill>
          <a:ln w="12700">
            <a:solidFill>
              <a:srgbClr val="E6B450">
                <a:alpha val="30196"/>
              </a:srgbClr>
            </a:solidFill>
            <a:prstDash val="solid"/>
          </a:ln>
        </p:spPr>
      </p:sp>
      <p:grpSp>
        <p:nvGrpSpPr>
          <p:cNvPr id="38" name="组合 37">
            <a:extLst>
              <a:ext uri="{FF2B5EF4-FFF2-40B4-BE49-F238E27FC236}">
                <a16:creationId xmlns:a16="http://schemas.microsoft.com/office/drawing/2014/main" id="{8EE04168-6108-288F-D243-7B436960D1C6}"/>
              </a:ext>
            </a:extLst>
          </p:cNvPr>
          <p:cNvGrpSpPr/>
          <p:nvPr/>
        </p:nvGrpSpPr>
        <p:grpSpPr>
          <a:xfrm>
            <a:off x="0" y="939798"/>
            <a:ext cx="5022850" cy="625474"/>
            <a:chOff x="0" y="1075267"/>
            <a:chExt cx="5022850" cy="625474"/>
          </a:xfrm>
        </p:grpSpPr>
        <p:sp>
          <p:nvSpPr>
            <p:cNvPr id="39" name="矩形 38">
              <a:extLst>
                <a:ext uri="{FF2B5EF4-FFF2-40B4-BE49-F238E27FC236}">
                  <a16:creationId xmlns:a16="http://schemas.microsoft.com/office/drawing/2014/main" id="{B0E020A0-D1AE-F9D1-731B-5437F2E4EBBD}"/>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E9574F81-F7C3-6A4D-B7B5-5D6F0C248D71}"/>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7.3.3 </a:t>
              </a:r>
              <a:r>
                <a:rPr lang="zh-CN" altLang="en-US" sz="2400" b="1" dirty="0">
                  <a:solidFill>
                    <a:schemeClr val="accent1"/>
                  </a:solidFill>
                  <a:latin typeface="+mj-lt"/>
                </a:rPr>
                <a:t>未知环境自主探索</a:t>
              </a:r>
            </a:p>
          </p:txBody>
        </p:sp>
      </p:grpSp>
      <p:pic>
        <p:nvPicPr>
          <p:cNvPr id="2" name="图片 1">
            <a:extLst>
              <a:ext uri="{FF2B5EF4-FFF2-40B4-BE49-F238E27FC236}">
                <a16:creationId xmlns:a16="http://schemas.microsoft.com/office/drawing/2014/main" id="{749452D7-344F-47DC-AAF4-FE5D856B518D}"/>
              </a:ext>
            </a:extLst>
          </p:cNvPr>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a:xfrm>
            <a:off x="8500966" y="2392662"/>
            <a:ext cx="3288096" cy="2512492"/>
          </a:xfrm>
          <a:prstGeom prst="rect">
            <a:avLst/>
          </a:prstGeom>
          <a:noFill/>
          <a:ln>
            <a:noFill/>
          </a:ln>
        </p:spPr>
      </p:pic>
    </p:spTree>
    <p:extLst>
      <p:ext uri="{BB962C8B-B14F-4D97-AF65-F5344CB8AC3E}">
        <p14:creationId xmlns:p14="http://schemas.microsoft.com/office/powerpoint/2010/main" val="78807707"/>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5"/>
          <p:cNvSpPr/>
          <p:nvPr/>
        </p:nvSpPr>
        <p:spPr>
          <a:xfrm>
            <a:off x="614363" y="2145723"/>
            <a:ext cx="228600" cy="228600"/>
          </a:xfrm>
          <a:custGeom>
            <a:avLst/>
            <a:gdLst/>
            <a:ahLst/>
            <a:cxnLst/>
            <a:rect l="l" t="t" r="r" b="b"/>
            <a:pathLst>
              <a:path w="228600" h="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a:srgbClr val="E6B450"/>
          </a:solidFill>
        </p:spPr>
      </p:sp>
      <p:sp>
        <p:nvSpPr>
          <p:cNvPr id="8" name="Text 6"/>
          <p:cNvSpPr/>
          <p:nvPr/>
        </p:nvSpPr>
        <p:spPr>
          <a:xfrm>
            <a:off x="959495" y="2107623"/>
            <a:ext cx="6772275" cy="304800"/>
          </a:xfrm>
          <a:prstGeom prst="rect">
            <a:avLst/>
          </a:prstGeom>
          <a:noFill/>
        </p:spPr>
        <p:txBody>
          <a:bodyPr wrap="square" lIns="0" tIns="0" rIns="0" bIns="0" rtlCol="0" anchor="ctr"/>
          <a:lstStyle/>
          <a:p>
            <a:pPr>
              <a:lnSpc>
                <a:spcPct val="11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TARE </a:t>
            </a:r>
            <a:r>
              <a:rPr lang="en-US" sz="1800" b="1" dirty="0" err="1">
                <a:latin typeface="微软雅黑" panose="020B0503020204020204" pitchFamily="34" charset="-122"/>
                <a:ea typeface="微软雅黑" panose="020B0503020204020204" pitchFamily="34" charset="-122"/>
                <a:cs typeface="微软雅黑" panose="020B0503020204020204" pitchFamily="34" charset="-122"/>
              </a:rPr>
              <a:t>层级结构优势</a:t>
            </a:r>
            <a:endParaRPr lang="en-US" sz="1600" dirty="0"/>
          </a:p>
        </p:txBody>
      </p:sp>
      <p:sp>
        <p:nvSpPr>
          <p:cNvPr id="9" name="Text 7"/>
          <p:cNvSpPr/>
          <p:nvPr/>
        </p:nvSpPr>
        <p:spPr>
          <a:xfrm>
            <a:off x="1278149" y="2616778"/>
            <a:ext cx="6743700" cy="838200"/>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TARE算法采用了</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层级结构</a:t>
            </a:r>
            <a:r>
              <a:rPr lang="en-US" sz="1600" dirty="0">
                <a:latin typeface="微软雅黑" panose="020B0503020204020204" pitchFamily="34" charset="-122"/>
                <a:ea typeface="微软雅黑" panose="020B0503020204020204" pitchFamily="34" charset="-122"/>
                <a:cs typeface="微软雅黑" panose="020B0503020204020204" pitchFamily="34" charset="-122"/>
              </a:rPr>
              <a:t>，能够在相似的计算资源下处理</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更大范围的环境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，并给出接近最优解的路径。相较于其他前沿方法，TARE算法具有更高的探索效率和更快的计算速度，在实际应用中具有广泛的适用性和重要价值。</a:t>
            </a:r>
            <a:endParaRPr lang="en-US" sz="2000" dirty="0"/>
          </a:p>
        </p:txBody>
      </p:sp>
      <p:sp>
        <p:nvSpPr>
          <p:cNvPr id="14" name="Text 12"/>
          <p:cNvSpPr/>
          <p:nvPr/>
        </p:nvSpPr>
        <p:spPr>
          <a:xfrm>
            <a:off x="1311486" y="3809351"/>
            <a:ext cx="6715125" cy="561975"/>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在每个层级中，TARE利用解决</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旅行商问题（TSP）</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的方法来确定机器人探索目标的顺序。这种优化策略确保了探索路径的高效性。</a:t>
            </a:r>
            <a:endParaRPr lang="en-US" sz="2000" dirty="0"/>
          </a:p>
        </p:txBody>
      </p:sp>
      <p:grpSp>
        <p:nvGrpSpPr>
          <p:cNvPr id="48" name="组合 47">
            <a:extLst>
              <a:ext uri="{FF2B5EF4-FFF2-40B4-BE49-F238E27FC236}">
                <a16:creationId xmlns:a16="http://schemas.microsoft.com/office/drawing/2014/main" id="{970F6083-E3A0-ADDF-E765-C168BDF557FF}"/>
              </a:ext>
            </a:extLst>
          </p:cNvPr>
          <p:cNvGrpSpPr/>
          <p:nvPr/>
        </p:nvGrpSpPr>
        <p:grpSpPr>
          <a:xfrm>
            <a:off x="0" y="939798"/>
            <a:ext cx="5022850" cy="625474"/>
            <a:chOff x="0" y="1075267"/>
            <a:chExt cx="5022850" cy="625474"/>
          </a:xfrm>
        </p:grpSpPr>
        <p:sp>
          <p:nvSpPr>
            <p:cNvPr id="49" name="矩形 48">
              <a:extLst>
                <a:ext uri="{FF2B5EF4-FFF2-40B4-BE49-F238E27FC236}">
                  <a16:creationId xmlns:a16="http://schemas.microsoft.com/office/drawing/2014/main" id="{F52FCA8E-68CB-E84B-0FC1-584F8E9256F4}"/>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BFEFC395-6E42-8B3B-6456-EBEEEDC1CBE3}"/>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7.3.3 </a:t>
              </a:r>
              <a:r>
                <a:rPr lang="zh-CN" altLang="en-US" sz="2400" b="1" dirty="0">
                  <a:solidFill>
                    <a:schemeClr val="accent1"/>
                  </a:solidFill>
                  <a:latin typeface="+mj-lt"/>
                </a:rPr>
                <a:t>未知环境自主探索</a:t>
              </a:r>
            </a:p>
          </p:txBody>
        </p:sp>
      </p:grpSp>
      <p:sp>
        <p:nvSpPr>
          <p:cNvPr id="2" name="Shape 21">
            <a:extLst>
              <a:ext uri="{FF2B5EF4-FFF2-40B4-BE49-F238E27FC236}">
                <a16:creationId xmlns:a16="http://schemas.microsoft.com/office/drawing/2014/main" id="{F2223A5D-38C2-7E68-5D8E-EDB299766547}"/>
              </a:ext>
            </a:extLst>
          </p:cNvPr>
          <p:cNvSpPr/>
          <p:nvPr/>
        </p:nvSpPr>
        <p:spPr>
          <a:xfrm>
            <a:off x="472422" y="1902197"/>
            <a:ext cx="8484541" cy="2884547"/>
          </a:xfrm>
          <a:custGeom>
            <a:avLst/>
            <a:gdLst/>
            <a:ahLst/>
            <a:cxnLst/>
            <a:rect l="l" t="t" r="r" b="b"/>
            <a:pathLst>
              <a:path w="3569982" h="4781725">
                <a:moveTo>
                  <a:pt x="111848" y="0"/>
                </a:moveTo>
                <a:lnTo>
                  <a:pt x="3458134" y="0"/>
                </a:lnTo>
                <a:cubicBezTo>
                  <a:pt x="3519906" y="0"/>
                  <a:pt x="3569982" y="50076"/>
                  <a:pt x="3569982" y="111848"/>
                </a:cubicBezTo>
                <a:lnTo>
                  <a:pt x="3569982" y="4669877"/>
                </a:lnTo>
                <a:cubicBezTo>
                  <a:pt x="3569982" y="4731649"/>
                  <a:pt x="3519906" y="4781725"/>
                  <a:pt x="3458134" y="4781725"/>
                </a:cubicBezTo>
                <a:lnTo>
                  <a:pt x="111848" y="4781725"/>
                </a:lnTo>
                <a:cubicBezTo>
                  <a:pt x="50076" y="4781725"/>
                  <a:pt x="0" y="4731649"/>
                  <a:pt x="0" y="4669877"/>
                </a:cubicBezTo>
                <a:lnTo>
                  <a:pt x="0" y="111848"/>
                </a:lnTo>
                <a:cubicBezTo>
                  <a:pt x="0" y="50076"/>
                  <a:pt x="50076" y="0"/>
                  <a:pt x="111848" y="0"/>
                </a:cubicBezTo>
                <a:close/>
              </a:path>
            </a:pathLst>
          </a:custGeom>
          <a:solidFill>
            <a:srgbClr val="E6B450">
              <a:alpha val="10196"/>
            </a:srgbClr>
          </a:solidFill>
          <a:ln w="12700">
            <a:solidFill>
              <a:srgbClr val="E6B450">
                <a:alpha val="30196"/>
              </a:srgbClr>
            </a:solidFill>
            <a:prstDash val="solid"/>
          </a:ln>
        </p:spPr>
      </p:sp>
      <p:sp>
        <p:nvSpPr>
          <p:cNvPr id="3" name="Shape 13">
            <a:extLst>
              <a:ext uri="{FF2B5EF4-FFF2-40B4-BE49-F238E27FC236}">
                <a16:creationId xmlns:a16="http://schemas.microsoft.com/office/drawing/2014/main" id="{18E7758C-9E0E-0788-68D7-3AAAE0ADA317}"/>
              </a:ext>
            </a:extLst>
          </p:cNvPr>
          <p:cNvSpPr/>
          <p:nvPr/>
        </p:nvSpPr>
        <p:spPr>
          <a:xfrm>
            <a:off x="961592" y="2613963"/>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E6B450"/>
          </a:solidFill>
        </p:spPr>
      </p:sp>
      <p:sp>
        <p:nvSpPr>
          <p:cNvPr id="4" name="Shape 13">
            <a:extLst>
              <a:ext uri="{FF2B5EF4-FFF2-40B4-BE49-F238E27FC236}">
                <a16:creationId xmlns:a16="http://schemas.microsoft.com/office/drawing/2014/main" id="{D332DD9F-DDE2-AC73-DF5C-A73F91AC1646}"/>
              </a:ext>
            </a:extLst>
          </p:cNvPr>
          <p:cNvSpPr/>
          <p:nvPr/>
        </p:nvSpPr>
        <p:spPr>
          <a:xfrm>
            <a:off x="961592" y="3860874"/>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E6B450"/>
          </a:solidFill>
        </p:spPr>
      </p:sp>
    </p:spTree>
    <p:extLst>
      <p:ext uri="{BB962C8B-B14F-4D97-AF65-F5344CB8AC3E}">
        <p14:creationId xmlns:p14="http://schemas.microsoft.com/office/powerpoint/2010/main" val="489290472"/>
      </p:ext>
    </p:extLst>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43206" y="1889010"/>
            <a:ext cx="7501512" cy="1795706"/>
          </a:xfrm>
          <a:custGeom>
            <a:avLst/>
            <a:gdLst/>
            <a:ahLst/>
            <a:cxnLst/>
            <a:rect l="l" t="t" r="r" b="b"/>
            <a:pathLst>
              <a:path w="7501512" h="1470885">
                <a:moveTo>
                  <a:pt x="32686" y="0"/>
                </a:moveTo>
                <a:lnTo>
                  <a:pt x="7403448" y="0"/>
                </a:lnTo>
                <a:cubicBezTo>
                  <a:pt x="7457607" y="0"/>
                  <a:pt x="7501512" y="43905"/>
                  <a:pt x="7501512" y="98064"/>
                </a:cubicBezTo>
                <a:lnTo>
                  <a:pt x="7501512" y="1372821"/>
                </a:lnTo>
                <a:cubicBezTo>
                  <a:pt x="7501512" y="1426980"/>
                  <a:pt x="7457607" y="1470885"/>
                  <a:pt x="7403448" y="1470885"/>
                </a:cubicBezTo>
                <a:lnTo>
                  <a:pt x="32686" y="1470885"/>
                </a:lnTo>
                <a:cubicBezTo>
                  <a:pt x="14634" y="1470885"/>
                  <a:pt x="0" y="1456251"/>
                  <a:pt x="0" y="1438198"/>
                </a:cubicBezTo>
                <a:lnTo>
                  <a:pt x="0" y="32686"/>
                </a:lnTo>
                <a:cubicBezTo>
                  <a:pt x="0" y="14646"/>
                  <a:pt x="14646" y="0"/>
                  <a:pt x="32686" y="0"/>
                </a:cubicBezTo>
                <a:close/>
              </a:path>
            </a:pathLst>
          </a:custGeom>
          <a:solidFill>
            <a:srgbClr val="5F87A7">
              <a:alpha val="10196"/>
            </a:srgbClr>
          </a:solidFill>
        </p:spPr>
      </p:sp>
      <p:sp>
        <p:nvSpPr>
          <p:cNvPr id="6" name="Shape 4"/>
          <p:cNvSpPr/>
          <p:nvPr/>
        </p:nvSpPr>
        <p:spPr>
          <a:xfrm>
            <a:off x="343206" y="1889010"/>
            <a:ext cx="32686" cy="1795706"/>
          </a:xfrm>
          <a:custGeom>
            <a:avLst/>
            <a:gdLst/>
            <a:ahLst/>
            <a:cxnLst/>
            <a:rect l="l" t="t" r="r" b="b"/>
            <a:pathLst>
              <a:path w="32686" h="1470885">
                <a:moveTo>
                  <a:pt x="32686" y="0"/>
                </a:moveTo>
                <a:lnTo>
                  <a:pt x="32686" y="0"/>
                </a:lnTo>
                <a:lnTo>
                  <a:pt x="32686" y="1470885"/>
                </a:lnTo>
                <a:lnTo>
                  <a:pt x="32686" y="1470885"/>
                </a:lnTo>
                <a:cubicBezTo>
                  <a:pt x="14634" y="1470885"/>
                  <a:pt x="0" y="1456251"/>
                  <a:pt x="0" y="1438198"/>
                </a:cubicBezTo>
                <a:lnTo>
                  <a:pt x="0" y="32686"/>
                </a:lnTo>
                <a:cubicBezTo>
                  <a:pt x="0" y="14646"/>
                  <a:pt x="14646" y="0"/>
                  <a:pt x="32686" y="0"/>
                </a:cubicBezTo>
                <a:close/>
              </a:path>
            </a:pathLst>
          </a:custGeom>
          <a:solidFill>
            <a:srgbClr val="E6B450"/>
          </a:solidFill>
        </p:spPr>
      </p:sp>
      <p:sp>
        <p:nvSpPr>
          <p:cNvPr id="7" name="Shape 5"/>
          <p:cNvSpPr/>
          <p:nvPr/>
        </p:nvSpPr>
        <p:spPr>
          <a:xfrm>
            <a:off x="539324" y="2117814"/>
            <a:ext cx="171603" cy="196118"/>
          </a:xfrm>
          <a:custGeom>
            <a:avLst/>
            <a:gdLst/>
            <a:ahLst/>
            <a:cxnLst/>
            <a:rect l="l" t="t" r="r" b="b"/>
            <a:pathLst>
              <a:path w="171603" h="196118">
                <a:moveTo>
                  <a:pt x="147088" y="196118"/>
                </a:moveTo>
                <a:lnTo>
                  <a:pt x="36772" y="196118"/>
                </a:lnTo>
                <a:cubicBezTo>
                  <a:pt x="16471" y="196118"/>
                  <a:pt x="0" y="179647"/>
                  <a:pt x="0" y="159346"/>
                </a:cubicBezTo>
                <a:lnTo>
                  <a:pt x="0" y="36772"/>
                </a:lnTo>
                <a:cubicBezTo>
                  <a:pt x="0" y="16471"/>
                  <a:pt x="16471" y="0"/>
                  <a:pt x="36772" y="0"/>
                </a:cubicBezTo>
                <a:lnTo>
                  <a:pt x="153217" y="0"/>
                </a:lnTo>
                <a:cubicBezTo>
                  <a:pt x="163368" y="0"/>
                  <a:pt x="171603" y="8235"/>
                  <a:pt x="171603" y="18386"/>
                </a:cubicBezTo>
                <a:lnTo>
                  <a:pt x="171603" y="128702"/>
                </a:lnTo>
                <a:cubicBezTo>
                  <a:pt x="171603" y="136708"/>
                  <a:pt x="166470" y="143526"/>
                  <a:pt x="159346" y="146054"/>
                </a:cubicBezTo>
                <a:lnTo>
                  <a:pt x="159346" y="171603"/>
                </a:lnTo>
                <a:cubicBezTo>
                  <a:pt x="166126" y="171603"/>
                  <a:pt x="171603" y="177081"/>
                  <a:pt x="171603" y="183861"/>
                </a:cubicBezTo>
                <a:cubicBezTo>
                  <a:pt x="171603" y="190640"/>
                  <a:pt x="166126" y="196118"/>
                  <a:pt x="159346" y="196118"/>
                </a:cubicBezTo>
                <a:lnTo>
                  <a:pt x="147088" y="196118"/>
                </a:lnTo>
                <a:close/>
                <a:moveTo>
                  <a:pt x="36772" y="147088"/>
                </a:moveTo>
                <a:cubicBezTo>
                  <a:pt x="29992" y="147088"/>
                  <a:pt x="24515" y="152566"/>
                  <a:pt x="24515" y="159346"/>
                </a:cubicBezTo>
                <a:cubicBezTo>
                  <a:pt x="24515" y="166126"/>
                  <a:pt x="29992" y="171603"/>
                  <a:pt x="36772" y="171603"/>
                </a:cubicBezTo>
                <a:lnTo>
                  <a:pt x="134831" y="171603"/>
                </a:lnTo>
                <a:lnTo>
                  <a:pt x="134831" y="147088"/>
                </a:lnTo>
                <a:lnTo>
                  <a:pt x="36772" y="147088"/>
                </a:lnTo>
                <a:close/>
                <a:moveTo>
                  <a:pt x="49029" y="58223"/>
                </a:moveTo>
                <a:cubicBezTo>
                  <a:pt x="49029" y="63317"/>
                  <a:pt x="53128" y="67416"/>
                  <a:pt x="58223" y="67416"/>
                </a:cubicBezTo>
                <a:lnTo>
                  <a:pt x="125638" y="67416"/>
                </a:lnTo>
                <a:cubicBezTo>
                  <a:pt x="130733" y="67416"/>
                  <a:pt x="134831" y="63317"/>
                  <a:pt x="134831" y="58223"/>
                </a:cubicBezTo>
                <a:cubicBezTo>
                  <a:pt x="134831" y="53128"/>
                  <a:pt x="130733" y="49029"/>
                  <a:pt x="125638" y="49029"/>
                </a:cubicBezTo>
                <a:lnTo>
                  <a:pt x="58223" y="49029"/>
                </a:lnTo>
                <a:cubicBezTo>
                  <a:pt x="53128" y="49029"/>
                  <a:pt x="49029" y="53128"/>
                  <a:pt x="49029" y="58223"/>
                </a:cubicBezTo>
                <a:close/>
                <a:moveTo>
                  <a:pt x="58223" y="85802"/>
                </a:moveTo>
                <a:cubicBezTo>
                  <a:pt x="53128" y="85802"/>
                  <a:pt x="49029" y="89900"/>
                  <a:pt x="49029" y="94995"/>
                </a:cubicBezTo>
                <a:cubicBezTo>
                  <a:pt x="49029" y="100089"/>
                  <a:pt x="53128" y="104188"/>
                  <a:pt x="58223" y="104188"/>
                </a:cubicBezTo>
                <a:lnTo>
                  <a:pt x="125638" y="104188"/>
                </a:lnTo>
                <a:cubicBezTo>
                  <a:pt x="130733" y="104188"/>
                  <a:pt x="134831" y="100089"/>
                  <a:pt x="134831" y="94995"/>
                </a:cubicBezTo>
                <a:cubicBezTo>
                  <a:pt x="134831" y="89900"/>
                  <a:pt x="130733" y="85802"/>
                  <a:pt x="125638" y="85802"/>
                </a:cubicBezTo>
                <a:lnTo>
                  <a:pt x="58223" y="85802"/>
                </a:lnTo>
                <a:close/>
              </a:path>
            </a:pathLst>
          </a:custGeom>
          <a:solidFill>
            <a:srgbClr val="E6B450"/>
          </a:solidFill>
        </p:spPr>
      </p:sp>
      <p:sp>
        <p:nvSpPr>
          <p:cNvPr id="8" name="Text 6"/>
          <p:cNvSpPr/>
          <p:nvPr/>
        </p:nvSpPr>
        <p:spPr>
          <a:xfrm>
            <a:off x="823159" y="2085128"/>
            <a:ext cx="6921330" cy="261491"/>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TEB算法定义</a:t>
            </a:r>
            <a:endParaRPr lang="en-US" sz="2000" dirty="0"/>
          </a:p>
        </p:txBody>
      </p:sp>
      <p:sp>
        <p:nvSpPr>
          <p:cNvPr id="9" name="Text 7"/>
          <p:cNvSpPr/>
          <p:nvPr/>
        </p:nvSpPr>
        <p:spPr>
          <a:xfrm>
            <a:off x="823159" y="2444677"/>
            <a:ext cx="6896815" cy="1107250"/>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TEB全称是</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Timed Elastic Band</a:t>
            </a:r>
            <a:r>
              <a:rPr lang="en-US" sz="1600" dirty="0">
                <a:latin typeface="微软雅黑" panose="020B0503020204020204" pitchFamily="34" charset="-122"/>
                <a:ea typeface="微软雅黑" panose="020B0503020204020204" pitchFamily="34" charset="-122"/>
                <a:cs typeface="微软雅黑" panose="020B0503020204020204" pitchFamily="34" charset="-122"/>
              </a:rPr>
              <a:t>，译为</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err="1">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时间橡皮筋</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像</a:t>
            </a:r>
            <a:r>
              <a:rPr lang="en-US" sz="1600" dirty="0">
                <a:latin typeface="微软雅黑" panose="020B0503020204020204" pitchFamily="34" charset="-122"/>
                <a:ea typeface="微软雅黑" panose="020B0503020204020204" pitchFamily="34" charset="-122"/>
                <a:cs typeface="微软雅黑" panose="020B0503020204020204" pitchFamily="34" charset="-122"/>
              </a:rPr>
              <a:t>导航的起点和终点之间拉了一条绷直的橡皮筋作为行走路线，如果路中间有障碍物，就会将橡皮筋撑开，影响行走时的路径。该方法通过对全局轨迹进行修正，从而优化机器人的局部运动轨迹，属于</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局部路径规划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400" dirty="0"/>
          </a:p>
        </p:txBody>
      </p:sp>
      <p:sp>
        <p:nvSpPr>
          <p:cNvPr id="10" name="Shape 8"/>
          <p:cNvSpPr/>
          <p:nvPr/>
        </p:nvSpPr>
        <p:spPr>
          <a:xfrm>
            <a:off x="343206" y="3796423"/>
            <a:ext cx="7501512" cy="1524001"/>
          </a:xfrm>
          <a:custGeom>
            <a:avLst/>
            <a:gdLst/>
            <a:ahLst/>
            <a:cxnLst/>
            <a:rect l="l" t="t" r="r" b="b"/>
            <a:pathLst>
              <a:path w="7501512" h="1233909">
                <a:moveTo>
                  <a:pt x="32686" y="0"/>
                </a:moveTo>
                <a:lnTo>
                  <a:pt x="7403453" y="0"/>
                </a:lnTo>
                <a:cubicBezTo>
                  <a:pt x="7457610" y="0"/>
                  <a:pt x="7501512" y="43902"/>
                  <a:pt x="7501512" y="98059"/>
                </a:cubicBezTo>
                <a:lnTo>
                  <a:pt x="7501512" y="1135850"/>
                </a:lnTo>
                <a:cubicBezTo>
                  <a:pt x="7501512" y="1190006"/>
                  <a:pt x="7457610" y="1233909"/>
                  <a:pt x="7403453" y="1233909"/>
                </a:cubicBezTo>
                <a:lnTo>
                  <a:pt x="32686" y="1233909"/>
                </a:lnTo>
                <a:cubicBezTo>
                  <a:pt x="14634" y="1233909"/>
                  <a:pt x="0" y="1219275"/>
                  <a:pt x="0" y="1201223"/>
                </a:cubicBezTo>
                <a:lnTo>
                  <a:pt x="0" y="32686"/>
                </a:lnTo>
                <a:cubicBezTo>
                  <a:pt x="0" y="14646"/>
                  <a:pt x="14646" y="0"/>
                  <a:pt x="32686" y="0"/>
                </a:cubicBezTo>
                <a:close/>
              </a:path>
            </a:pathLst>
          </a:custGeom>
          <a:solidFill>
            <a:srgbClr val="5F87A7">
              <a:alpha val="10196"/>
            </a:srgbClr>
          </a:solidFill>
        </p:spPr>
      </p:sp>
      <p:sp>
        <p:nvSpPr>
          <p:cNvPr id="11" name="Shape 9"/>
          <p:cNvSpPr/>
          <p:nvPr/>
        </p:nvSpPr>
        <p:spPr>
          <a:xfrm>
            <a:off x="343206" y="3796423"/>
            <a:ext cx="32686" cy="1524001"/>
          </a:xfrm>
          <a:custGeom>
            <a:avLst/>
            <a:gdLst/>
            <a:ahLst/>
            <a:cxnLst/>
            <a:rect l="l" t="t" r="r" b="b"/>
            <a:pathLst>
              <a:path w="32686" h="1233909">
                <a:moveTo>
                  <a:pt x="32686" y="0"/>
                </a:moveTo>
                <a:lnTo>
                  <a:pt x="32686" y="0"/>
                </a:lnTo>
                <a:lnTo>
                  <a:pt x="32686" y="1233909"/>
                </a:lnTo>
                <a:lnTo>
                  <a:pt x="32686" y="1233909"/>
                </a:lnTo>
                <a:cubicBezTo>
                  <a:pt x="14634" y="1233909"/>
                  <a:pt x="0" y="1219275"/>
                  <a:pt x="0" y="1201223"/>
                </a:cubicBezTo>
                <a:lnTo>
                  <a:pt x="0" y="32686"/>
                </a:lnTo>
                <a:cubicBezTo>
                  <a:pt x="0" y="14646"/>
                  <a:pt x="14646" y="0"/>
                  <a:pt x="32686" y="0"/>
                </a:cubicBezTo>
                <a:close/>
              </a:path>
            </a:pathLst>
          </a:custGeom>
          <a:solidFill>
            <a:srgbClr val="E6B450"/>
          </a:solidFill>
        </p:spPr>
      </p:sp>
      <p:sp>
        <p:nvSpPr>
          <p:cNvPr id="12" name="Shape 10"/>
          <p:cNvSpPr/>
          <p:nvPr/>
        </p:nvSpPr>
        <p:spPr>
          <a:xfrm>
            <a:off x="502552" y="4025227"/>
            <a:ext cx="245147" cy="196118"/>
          </a:xfrm>
          <a:custGeom>
            <a:avLst/>
            <a:gdLst/>
            <a:ahLst/>
            <a:cxnLst/>
            <a:rect l="l" t="t" r="r" b="b"/>
            <a:pathLst>
              <a:path w="245147" h="196118">
                <a:moveTo>
                  <a:pt x="159308" y="80631"/>
                </a:moveTo>
                <a:cubicBezTo>
                  <a:pt x="163981" y="79366"/>
                  <a:pt x="168884" y="81588"/>
                  <a:pt x="170990" y="85917"/>
                </a:cubicBezTo>
                <a:lnTo>
                  <a:pt x="178115" y="100319"/>
                </a:lnTo>
                <a:cubicBezTo>
                  <a:pt x="182060" y="100855"/>
                  <a:pt x="185929" y="101928"/>
                  <a:pt x="189568" y="103422"/>
                </a:cubicBezTo>
                <a:lnTo>
                  <a:pt x="202974" y="94497"/>
                </a:lnTo>
                <a:cubicBezTo>
                  <a:pt x="206996" y="91815"/>
                  <a:pt x="212321" y="92352"/>
                  <a:pt x="215730" y="95761"/>
                </a:cubicBezTo>
                <a:lnTo>
                  <a:pt x="223084" y="103115"/>
                </a:lnTo>
                <a:cubicBezTo>
                  <a:pt x="226493" y="106524"/>
                  <a:pt x="227030" y="111887"/>
                  <a:pt x="224348" y="115870"/>
                </a:cubicBezTo>
                <a:lnTo>
                  <a:pt x="215423" y="129239"/>
                </a:lnTo>
                <a:cubicBezTo>
                  <a:pt x="216151" y="131039"/>
                  <a:pt x="216802" y="132916"/>
                  <a:pt x="217339" y="134869"/>
                </a:cubicBezTo>
                <a:cubicBezTo>
                  <a:pt x="217875" y="136823"/>
                  <a:pt x="218220" y="138738"/>
                  <a:pt x="218488" y="140692"/>
                </a:cubicBezTo>
                <a:lnTo>
                  <a:pt x="232928" y="147816"/>
                </a:lnTo>
                <a:cubicBezTo>
                  <a:pt x="237257" y="149961"/>
                  <a:pt x="239478" y="154864"/>
                  <a:pt x="238214" y="159499"/>
                </a:cubicBezTo>
                <a:lnTo>
                  <a:pt x="235533" y="169535"/>
                </a:lnTo>
                <a:cubicBezTo>
                  <a:pt x="234269" y="174170"/>
                  <a:pt x="229941" y="177311"/>
                  <a:pt x="225114" y="177004"/>
                </a:cubicBezTo>
                <a:lnTo>
                  <a:pt x="209027" y="175970"/>
                </a:lnTo>
                <a:cubicBezTo>
                  <a:pt x="206613" y="179073"/>
                  <a:pt x="203817" y="181945"/>
                  <a:pt x="200638" y="184397"/>
                </a:cubicBezTo>
                <a:lnTo>
                  <a:pt x="201672" y="200446"/>
                </a:lnTo>
                <a:cubicBezTo>
                  <a:pt x="201979" y="205273"/>
                  <a:pt x="198838" y="209639"/>
                  <a:pt x="194203" y="210865"/>
                </a:cubicBezTo>
                <a:lnTo>
                  <a:pt x="184167" y="213546"/>
                </a:lnTo>
                <a:cubicBezTo>
                  <a:pt x="179494" y="214810"/>
                  <a:pt x="174629" y="212589"/>
                  <a:pt x="172484" y="208260"/>
                </a:cubicBezTo>
                <a:lnTo>
                  <a:pt x="165360" y="193858"/>
                </a:lnTo>
                <a:cubicBezTo>
                  <a:pt x="161414" y="193322"/>
                  <a:pt x="157546" y="192249"/>
                  <a:pt x="153907" y="190755"/>
                </a:cubicBezTo>
                <a:lnTo>
                  <a:pt x="140500" y="199680"/>
                </a:lnTo>
                <a:cubicBezTo>
                  <a:pt x="136478" y="202362"/>
                  <a:pt x="131154" y="201825"/>
                  <a:pt x="127745" y="198416"/>
                </a:cubicBezTo>
                <a:lnTo>
                  <a:pt x="120390" y="191062"/>
                </a:lnTo>
                <a:cubicBezTo>
                  <a:pt x="116981" y="187653"/>
                  <a:pt x="116445" y="182328"/>
                  <a:pt x="119126" y="178306"/>
                </a:cubicBezTo>
                <a:lnTo>
                  <a:pt x="128051" y="164900"/>
                </a:lnTo>
                <a:cubicBezTo>
                  <a:pt x="127323" y="163100"/>
                  <a:pt x="126672" y="161223"/>
                  <a:pt x="126136" y="159269"/>
                </a:cubicBezTo>
                <a:cubicBezTo>
                  <a:pt x="125600" y="157316"/>
                  <a:pt x="125255" y="155362"/>
                  <a:pt x="124987" y="153447"/>
                </a:cubicBezTo>
                <a:lnTo>
                  <a:pt x="110546" y="146322"/>
                </a:lnTo>
                <a:cubicBezTo>
                  <a:pt x="106218" y="144177"/>
                  <a:pt x="104034" y="139274"/>
                  <a:pt x="105260" y="134640"/>
                </a:cubicBezTo>
                <a:lnTo>
                  <a:pt x="107941" y="124604"/>
                </a:lnTo>
                <a:cubicBezTo>
                  <a:pt x="109206" y="119969"/>
                  <a:pt x="113534" y="116828"/>
                  <a:pt x="118360" y="117135"/>
                </a:cubicBezTo>
                <a:lnTo>
                  <a:pt x="134410" y="118169"/>
                </a:lnTo>
                <a:cubicBezTo>
                  <a:pt x="136823" y="115066"/>
                  <a:pt x="139619" y="112193"/>
                  <a:pt x="142798" y="109742"/>
                </a:cubicBezTo>
                <a:lnTo>
                  <a:pt x="141764" y="93731"/>
                </a:lnTo>
                <a:cubicBezTo>
                  <a:pt x="141458" y="88904"/>
                  <a:pt x="144599" y="84538"/>
                  <a:pt x="149234" y="83312"/>
                </a:cubicBezTo>
                <a:lnTo>
                  <a:pt x="159269" y="80631"/>
                </a:lnTo>
                <a:close/>
                <a:moveTo>
                  <a:pt x="171756" y="130235"/>
                </a:moveTo>
                <a:cubicBezTo>
                  <a:pt x="162455" y="130245"/>
                  <a:pt x="154911" y="137806"/>
                  <a:pt x="154922" y="147108"/>
                </a:cubicBezTo>
                <a:cubicBezTo>
                  <a:pt x="154932" y="156410"/>
                  <a:pt x="162493" y="163953"/>
                  <a:pt x="171795" y="163942"/>
                </a:cubicBezTo>
                <a:cubicBezTo>
                  <a:pt x="181097" y="163932"/>
                  <a:pt x="188640" y="156371"/>
                  <a:pt x="188629" y="147069"/>
                </a:cubicBezTo>
                <a:cubicBezTo>
                  <a:pt x="188619" y="137767"/>
                  <a:pt x="181058" y="130224"/>
                  <a:pt x="171756" y="130235"/>
                </a:cubicBezTo>
                <a:close/>
                <a:moveTo>
                  <a:pt x="86146" y="-17428"/>
                </a:moveTo>
                <a:lnTo>
                  <a:pt x="96182" y="-14747"/>
                </a:lnTo>
                <a:cubicBezTo>
                  <a:pt x="100817" y="-13483"/>
                  <a:pt x="103958" y="-9116"/>
                  <a:pt x="103651" y="-4328"/>
                </a:cubicBezTo>
                <a:lnTo>
                  <a:pt x="102617" y="11683"/>
                </a:lnTo>
                <a:cubicBezTo>
                  <a:pt x="105796" y="14134"/>
                  <a:pt x="108593" y="16969"/>
                  <a:pt x="111006" y="20110"/>
                </a:cubicBezTo>
                <a:lnTo>
                  <a:pt x="127094" y="19076"/>
                </a:lnTo>
                <a:cubicBezTo>
                  <a:pt x="131882" y="18769"/>
                  <a:pt x="136248" y="21910"/>
                  <a:pt x="137512" y="26545"/>
                </a:cubicBezTo>
                <a:lnTo>
                  <a:pt x="140194" y="36581"/>
                </a:lnTo>
                <a:cubicBezTo>
                  <a:pt x="141419" y="41215"/>
                  <a:pt x="139236" y="46118"/>
                  <a:pt x="134908" y="48263"/>
                </a:cubicBezTo>
                <a:lnTo>
                  <a:pt x="120467" y="55388"/>
                </a:lnTo>
                <a:cubicBezTo>
                  <a:pt x="120199" y="57342"/>
                  <a:pt x="119816" y="59295"/>
                  <a:pt x="119318" y="61210"/>
                </a:cubicBezTo>
                <a:cubicBezTo>
                  <a:pt x="118820" y="63125"/>
                  <a:pt x="118130" y="65041"/>
                  <a:pt x="117403" y="66841"/>
                </a:cubicBezTo>
                <a:lnTo>
                  <a:pt x="126328" y="80247"/>
                </a:lnTo>
                <a:cubicBezTo>
                  <a:pt x="129009" y="84269"/>
                  <a:pt x="128473" y="89594"/>
                  <a:pt x="125064" y="93003"/>
                </a:cubicBezTo>
                <a:lnTo>
                  <a:pt x="117709" y="100357"/>
                </a:lnTo>
                <a:cubicBezTo>
                  <a:pt x="114300" y="103766"/>
                  <a:pt x="108976" y="104303"/>
                  <a:pt x="104954" y="101621"/>
                </a:cubicBezTo>
                <a:lnTo>
                  <a:pt x="91547" y="92696"/>
                </a:lnTo>
                <a:cubicBezTo>
                  <a:pt x="87908" y="94190"/>
                  <a:pt x="84040" y="95263"/>
                  <a:pt x="80094" y="95799"/>
                </a:cubicBezTo>
                <a:lnTo>
                  <a:pt x="72970" y="110201"/>
                </a:lnTo>
                <a:cubicBezTo>
                  <a:pt x="70825" y="114530"/>
                  <a:pt x="65922" y="116713"/>
                  <a:pt x="61287" y="115487"/>
                </a:cubicBezTo>
                <a:lnTo>
                  <a:pt x="51251" y="112806"/>
                </a:lnTo>
                <a:cubicBezTo>
                  <a:pt x="46578" y="111542"/>
                  <a:pt x="43475" y="107175"/>
                  <a:pt x="43782" y="102387"/>
                </a:cubicBezTo>
                <a:lnTo>
                  <a:pt x="44816" y="86338"/>
                </a:lnTo>
                <a:cubicBezTo>
                  <a:pt x="41637" y="83886"/>
                  <a:pt x="38841" y="81052"/>
                  <a:pt x="36427" y="77911"/>
                </a:cubicBezTo>
                <a:lnTo>
                  <a:pt x="20340" y="78945"/>
                </a:lnTo>
                <a:cubicBezTo>
                  <a:pt x="15552" y="79252"/>
                  <a:pt x="11185" y="76111"/>
                  <a:pt x="9921" y="71476"/>
                </a:cubicBezTo>
                <a:lnTo>
                  <a:pt x="7240" y="61440"/>
                </a:lnTo>
                <a:cubicBezTo>
                  <a:pt x="6014" y="56805"/>
                  <a:pt x="8197" y="51902"/>
                  <a:pt x="12526" y="49757"/>
                </a:cubicBezTo>
                <a:lnTo>
                  <a:pt x="26966" y="42633"/>
                </a:lnTo>
                <a:cubicBezTo>
                  <a:pt x="27234" y="40679"/>
                  <a:pt x="27617" y="38764"/>
                  <a:pt x="28115" y="36810"/>
                </a:cubicBezTo>
                <a:cubicBezTo>
                  <a:pt x="28652" y="34857"/>
                  <a:pt x="29264" y="32980"/>
                  <a:pt x="30031" y="31180"/>
                </a:cubicBezTo>
                <a:lnTo>
                  <a:pt x="21106" y="17811"/>
                </a:lnTo>
                <a:cubicBezTo>
                  <a:pt x="18424" y="13790"/>
                  <a:pt x="18961" y="8465"/>
                  <a:pt x="22370" y="5056"/>
                </a:cubicBezTo>
                <a:lnTo>
                  <a:pt x="29724" y="-2298"/>
                </a:lnTo>
                <a:cubicBezTo>
                  <a:pt x="33133" y="-5707"/>
                  <a:pt x="38458" y="-6244"/>
                  <a:pt x="42479" y="-3562"/>
                </a:cubicBezTo>
                <a:lnTo>
                  <a:pt x="55886" y="5363"/>
                </a:lnTo>
                <a:cubicBezTo>
                  <a:pt x="59525" y="3869"/>
                  <a:pt x="63394" y="2796"/>
                  <a:pt x="67339" y="2260"/>
                </a:cubicBezTo>
                <a:lnTo>
                  <a:pt x="74464" y="-12142"/>
                </a:lnTo>
                <a:cubicBezTo>
                  <a:pt x="76609" y="-16471"/>
                  <a:pt x="81473" y="-18654"/>
                  <a:pt x="86146" y="-17428"/>
                </a:cubicBezTo>
                <a:close/>
                <a:moveTo>
                  <a:pt x="73697" y="32176"/>
                </a:moveTo>
                <a:cubicBezTo>
                  <a:pt x="64396" y="32176"/>
                  <a:pt x="56844" y="39728"/>
                  <a:pt x="56844" y="49029"/>
                </a:cubicBezTo>
                <a:cubicBezTo>
                  <a:pt x="56844" y="58331"/>
                  <a:pt x="64396" y="65883"/>
                  <a:pt x="73697" y="65883"/>
                </a:cubicBezTo>
                <a:cubicBezTo>
                  <a:pt x="82999" y="65883"/>
                  <a:pt x="90551" y="58331"/>
                  <a:pt x="90551" y="49029"/>
                </a:cubicBezTo>
                <a:cubicBezTo>
                  <a:pt x="90551" y="39728"/>
                  <a:pt x="82999" y="32176"/>
                  <a:pt x="73697" y="32176"/>
                </a:cubicBezTo>
                <a:close/>
              </a:path>
            </a:pathLst>
          </a:custGeom>
          <a:solidFill>
            <a:srgbClr val="E6B450"/>
          </a:solidFill>
        </p:spPr>
      </p:sp>
      <p:sp>
        <p:nvSpPr>
          <p:cNvPr id="13" name="Text 11"/>
          <p:cNvSpPr/>
          <p:nvPr/>
        </p:nvSpPr>
        <p:spPr>
          <a:xfrm>
            <a:off x="823159" y="3992541"/>
            <a:ext cx="6921330" cy="261491"/>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优化目标</a:t>
            </a:r>
            <a:endParaRPr lang="en-US" sz="2000" dirty="0"/>
          </a:p>
        </p:txBody>
      </p:sp>
      <p:sp>
        <p:nvSpPr>
          <p:cNvPr id="14" name="Text 12"/>
          <p:cNvSpPr/>
          <p:nvPr/>
        </p:nvSpPr>
        <p:spPr>
          <a:xfrm>
            <a:off x="823159" y="4352090"/>
            <a:ext cx="6896815" cy="870273"/>
          </a:xfrm>
          <a:prstGeom prst="rect">
            <a:avLst/>
          </a:prstGeom>
          <a:noFill/>
        </p:spPr>
        <p:txBody>
          <a:bodyPr wrap="square" lIns="0" tIns="0" rIns="0" bIns="0" rtlCol="0" anchor="ctr"/>
          <a:lstStyle/>
          <a:p>
            <a:pPr>
              <a:lnSpc>
                <a:spcPct val="140000"/>
              </a:lnSpc>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算法拥有多种优化目标，包括但不限于</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整体路径长度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轨迹运行时间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与障碍物的距离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通过中间路径点 </a:t>
            </a:r>
            <a:r>
              <a:rPr lang="en-US" sz="1600" dirty="0">
                <a:latin typeface="微软雅黑" panose="020B0503020204020204" pitchFamily="34" charset="-122"/>
                <a:ea typeface="微软雅黑" panose="020B0503020204020204" pitchFamily="34" charset="-122"/>
                <a:cs typeface="微软雅黑" panose="020B0503020204020204" pitchFamily="34" charset="-122"/>
              </a:rPr>
              <a:t>以及机器人动力学、运动学以及几何约束的符合性。</a:t>
            </a:r>
            <a:endParaRPr lang="en-US" sz="2400" dirty="0"/>
          </a:p>
        </p:txBody>
      </p:sp>
      <p:sp>
        <p:nvSpPr>
          <p:cNvPr id="15" name="Shape 13"/>
          <p:cNvSpPr/>
          <p:nvPr/>
        </p:nvSpPr>
        <p:spPr>
          <a:xfrm>
            <a:off x="343206" y="5513309"/>
            <a:ext cx="11505588" cy="1233909"/>
          </a:xfrm>
          <a:custGeom>
            <a:avLst/>
            <a:gdLst/>
            <a:ahLst/>
            <a:cxnLst/>
            <a:rect l="l" t="t" r="r" b="b"/>
            <a:pathLst>
              <a:path w="7501512" h="1233909">
                <a:moveTo>
                  <a:pt x="32686" y="0"/>
                </a:moveTo>
                <a:lnTo>
                  <a:pt x="7403453" y="0"/>
                </a:lnTo>
                <a:cubicBezTo>
                  <a:pt x="7457610" y="0"/>
                  <a:pt x="7501512" y="43902"/>
                  <a:pt x="7501512" y="98059"/>
                </a:cubicBezTo>
                <a:lnTo>
                  <a:pt x="7501512" y="1135850"/>
                </a:lnTo>
                <a:cubicBezTo>
                  <a:pt x="7501512" y="1190006"/>
                  <a:pt x="7457610" y="1233909"/>
                  <a:pt x="7403453" y="1233909"/>
                </a:cubicBezTo>
                <a:lnTo>
                  <a:pt x="32686" y="1233909"/>
                </a:lnTo>
                <a:cubicBezTo>
                  <a:pt x="14634" y="1233909"/>
                  <a:pt x="0" y="1219275"/>
                  <a:pt x="0" y="1201223"/>
                </a:cubicBezTo>
                <a:lnTo>
                  <a:pt x="0" y="32686"/>
                </a:lnTo>
                <a:cubicBezTo>
                  <a:pt x="0" y="14646"/>
                  <a:pt x="14646" y="0"/>
                  <a:pt x="32686" y="0"/>
                </a:cubicBezTo>
                <a:close/>
              </a:path>
            </a:pathLst>
          </a:custGeom>
          <a:solidFill>
            <a:srgbClr val="5F87A7">
              <a:alpha val="10196"/>
            </a:srgbClr>
          </a:solidFill>
        </p:spPr>
      </p:sp>
      <p:sp>
        <p:nvSpPr>
          <p:cNvPr id="16" name="Shape 14"/>
          <p:cNvSpPr/>
          <p:nvPr/>
        </p:nvSpPr>
        <p:spPr>
          <a:xfrm>
            <a:off x="343206" y="5513309"/>
            <a:ext cx="32686" cy="1233909"/>
          </a:xfrm>
          <a:custGeom>
            <a:avLst/>
            <a:gdLst/>
            <a:ahLst/>
            <a:cxnLst/>
            <a:rect l="l" t="t" r="r" b="b"/>
            <a:pathLst>
              <a:path w="32686" h="1233909">
                <a:moveTo>
                  <a:pt x="32686" y="0"/>
                </a:moveTo>
                <a:lnTo>
                  <a:pt x="32686" y="0"/>
                </a:lnTo>
                <a:lnTo>
                  <a:pt x="32686" y="1233909"/>
                </a:lnTo>
                <a:lnTo>
                  <a:pt x="32686" y="1233909"/>
                </a:lnTo>
                <a:cubicBezTo>
                  <a:pt x="14634" y="1233909"/>
                  <a:pt x="0" y="1219275"/>
                  <a:pt x="0" y="1201223"/>
                </a:cubicBezTo>
                <a:lnTo>
                  <a:pt x="0" y="32686"/>
                </a:lnTo>
                <a:cubicBezTo>
                  <a:pt x="0" y="14646"/>
                  <a:pt x="14646" y="0"/>
                  <a:pt x="32686" y="0"/>
                </a:cubicBezTo>
                <a:close/>
              </a:path>
            </a:pathLst>
          </a:custGeom>
          <a:solidFill>
            <a:srgbClr val="E6B450"/>
          </a:solidFill>
        </p:spPr>
      </p:sp>
      <p:sp>
        <p:nvSpPr>
          <p:cNvPr id="17" name="Shape 15"/>
          <p:cNvSpPr/>
          <p:nvPr/>
        </p:nvSpPr>
        <p:spPr>
          <a:xfrm>
            <a:off x="502552" y="5742113"/>
            <a:ext cx="245147" cy="196118"/>
          </a:xfrm>
          <a:custGeom>
            <a:avLst/>
            <a:gdLst/>
            <a:ahLst/>
            <a:cxnLst/>
            <a:rect l="l" t="t" r="r" b="b"/>
            <a:pathLst>
              <a:path w="245147" h="196118">
                <a:moveTo>
                  <a:pt x="147088" y="12257"/>
                </a:moveTo>
                <a:lnTo>
                  <a:pt x="196118" y="12257"/>
                </a:lnTo>
                <a:cubicBezTo>
                  <a:pt x="202898" y="12257"/>
                  <a:pt x="208375" y="17735"/>
                  <a:pt x="208375" y="24515"/>
                </a:cubicBezTo>
                <a:cubicBezTo>
                  <a:pt x="208375" y="31295"/>
                  <a:pt x="202898" y="36772"/>
                  <a:pt x="196118" y="36772"/>
                </a:cubicBezTo>
                <a:lnTo>
                  <a:pt x="152604" y="36772"/>
                </a:lnTo>
                <a:cubicBezTo>
                  <a:pt x="150612" y="46655"/>
                  <a:pt x="143833" y="54813"/>
                  <a:pt x="134831" y="58720"/>
                </a:cubicBezTo>
                <a:lnTo>
                  <a:pt x="134831" y="171603"/>
                </a:lnTo>
                <a:lnTo>
                  <a:pt x="196118" y="171603"/>
                </a:lnTo>
                <a:cubicBezTo>
                  <a:pt x="202898" y="171603"/>
                  <a:pt x="208375" y="177081"/>
                  <a:pt x="208375" y="183861"/>
                </a:cubicBezTo>
                <a:cubicBezTo>
                  <a:pt x="208375" y="190640"/>
                  <a:pt x="202898" y="196118"/>
                  <a:pt x="196118" y="196118"/>
                </a:cubicBezTo>
                <a:lnTo>
                  <a:pt x="49029" y="196118"/>
                </a:lnTo>
                <a:cubicBezTo>
                  <a:pt x="42250" y="196118"/>
                  <a:pt x="36772" y="190640"/>
                  <a:pt x="36772" y="183861"/>
                </a:cubicBezTo>
                <a:cubicBezTo>
                  <a:pt x="36772" y="177081"/>
                  <a:pt x="42250" y="171603"/>
                  <a:pt x="49029" y="171603"/>
                </a:cubicBezTo>
                <a:lnTo>
                  <a:pt x="110316" y="171603"/>
                </a:lnTo>
                <a:lnTo>
                  <a:pt x="110316" y="58720"/>
                </a:lnTo>
                <a:cubicBezTo>
                  <a:pt x="101315" y="54775"/>
                  <a:pt x="94535" y="46616"/>
                  <a:pt x="92543" y="36772"/>
                </a:cubicBezTo>
                <a:lnTo>
                  <a:pt x="49029" y="36772"/>
                </a:lnTo>
                <a:cubicBezTo>
                  <a:pt x="42250" y="36772"/>
                  <a:pt x="36772" y="31295"/>
                  <a:pt x="36772" y="24515"/>
                </a:cubicBezTo>
                <a:cubicBezTo>
                  <a:pt x="36772" y="17735"/>
                  <a:pt x="42250" y="12257"/>
                  <a:pt x="49029" y="12257"/>
                </a:cubicBezTo>
                <a:lnTo>
                  <a:pt x="98059" y="12257"/>
                </a:lnTo>
                <a:cubicBezTo>
                  <a:pt x="103651" y="4826"/>
                  <a:pt x="112538" y="0"/>
                  <a:pt x="122574" y="0"/>
                </a:cubicBezTo>
                <a:cubicBezTo>
                  <a:pt x="132609" y="0"/>
                  <a:pt x="141496" y="4826"/>
                  <a:pt x="147088" y="12257"/>
                </a:cubicBezTo>
                <a:close/>
                <a:moveTo>
                  <a:pt x="168386" y="122574"/>
                </a:moveTo>
                <a:lnTo>
                  <a:pt x="223850" y="122574"/>
                </a:lnTo>
                <a:lnTo>
                  <a:pt x="196118" y="75000"/>
                </a:lnTo>
                <a:lnTo>
                  <a:pt x="168386" y="122574"/>
                </a:lnTo>
                <a:close/>
                <a:moveTo>
                  <a:pt x="196118" y="159346"/>
                </a:moveTo>
                <a:cubicBezTo>
                  <a:pt x="172025" y="159346"/>
                  <a:pt x="151991" y="146322"/>
                  <a:pt x="147855" y="129124"/>
                </a:cubicBezTo>
                <a:cubicBezTo>
                  <a:pt x="146859" y="124910"/>
                  <a:pt x="148238" y="120582"/>
                  <a:pt x="150421" y="116828"/>
                </a:cubicBezTo>
                <a:lnTo>
                  <a:pt x="186887" y="54315"/>
                </a:lnTo>
                <a:cubicBezTo>
                  <a:pt x="188802" y="51021"/>
                  <a:pt x="192326" y="49029"/>
                  <a:pt x="196118" y="49029"/>
                </a:cubicBezTo>
                <a:cubicBezTo>
                  <a:pt x="199910" y="49029"/>
                  <a:pt x="203434" y="51060"/>
                  <a:pt x="205349" y="54315"/>
                </a:cubicBezTo>
                <a:lnTo>
                  <a:pt x="241815" y="116828"/>
                </a:lnTo>
                <a:cubicBezTo>
                  <a:pt x="243998" y="120582"/>
                  <a:pt x="245377" y="124910"/>
                  <a:pt x="244381" y="129124"/>
                </a:cubicBezTo>
                <a:cubicBezTo>
                  <a:pt x="240245" y="146284"/>
                  <a:pt x="220211" y="159346"/>
                  <a:pt x="196118" y="159346"/>
                </a:cubicBezTo>
                <a:close/>
                <a:moveTo>
                  <a:pt x="48570" y="75000"/>
                </a:moveTo>
                <a:lnTo>
                  <a:pt x="20838" y="122574"/>
                </a:lnTo>
                <a:lnTo>
                  <a:pt x="76340" y="122574"/>
                </a:lnTo>
                <a:lnTo>
                  <a:pt x="48570" y="75000"/>
                </a:lnTo>
                <a:close/>
                <a:moveTo>
                  <a:pt x="345" y="129124"/>
                </a:moveTo>
                <a:cubicBezTo>
                  <a:pt x="-651" y="124910"/>
                  <a:pt x="728" y="120582"/>
                  <a:pt x="2911" y="116828"/>
                </a:cubicBezTo>
                <a:lnTo>
                  <a:pt x="39377" y="54315"/>
                </a:lnTo>
                <a:cubicBezTo>
                  <a:pt x="41292" y="51021"/>
                  <a:pt x="44816" y="49029"/>
                  <a:pt x="48608" y="49029"/>
                </a:cubicBezTo>
                <a:cubicBezTo>
                  <a:pt x="52400" y="49029"/>
                  <a:pt x="55924" y="51060"/>
                  <a:pt x="57839" y="54315"/>
                </a:cubicBezTo>
                <a:lnTo>
                  <a:pt x="94305" y="116828"/>
                </a:lnTo>
                <a:cubicBezTo>
                  <a:pt x="96489" y="120582"/>
                  <a:pt x="97867" y="124910"/>
                  <a:pt x="96872" y="129124"/>
                </a:cubicBezTo>
                <a:cubicBezTo>
                  <a:pt x="92735" y="146284"/>
                  <a:pt x="72702" y="159346"/>
                  <a:pt x="48608" y="159346"/>
                </a:cubicBezTo>
                <a:cubicBezTo>
                  <a:pt x="24515" y="159346"/>
                  <a:pt x="4482" y="146322"/>
                  <a:pt x="345" y="129124"/>
                </a:cubicBezTo>
                <a:close/>
              </a:path>
            </a:pathLst>
          </a:custGeom>
          <a:solidFill>
            <a:srgbClr val="E6B450"/>
          </a:solidFill>
        </p:spPr>
      </p:sp>
      <p:sp>
        <p:nvSpPr>
          <p:cNvPr id="18" name="Text 16"/>
          <p:cNvSpPr/>
          <p:nvPr/>
        </p:nvSpPr>
        <p:spPr>
          <a:xfrm>
            <a:off x="825968" y="5709427"/>
            <a:ext cx="6921330" cy="261491"/>
          </a:xfrm>
          <a:prstGeom prst="rect">
            <a:avLst/>
          </a:prstGeom>
          <a:noFill/>
        </p:spPr>
        <p:txBody>
          <a:bodyPr wrap="square" lIns="0" tIns="0" rIns="0" bIns="0" rtlCol="0" anchor="ctr"/>
          <a:lstStyle/>
          <a:p>
            <a:pPr>
              <a:lnSpc>
                <a:spcPct val="110000"/>
              </a:lnSpc>
            </a:pPr>
            <a:r>
              <a:rPr lang="en-US" sz="1545" b="1" dirty="0">
                <a:latin typeface="微软雅黑" panose="020B0503020204020204" pitchFamily="34" charset="-122"/>
                <a:ea typeface="微软雅黑" panose="020B0503020204020204" pitchFamily="34" charset="-122"/>
                <a:cs typeface="微软雅黑" panose="020B0503020204020204" pitchFamily="34" charset="-122"/>
              </a:rPr>
              <a:t>与MPC对比</a:t>
            </a:r>
            <a:endParaRPr lang="en-US" sz="1600" dirty="0"/>
          </a:p>
        </p:txBody>
      </p:sp>
      <p:sp>
        <p:nvSpPr>
          <p:cNvPr id="19" name="Text 17"/>
          <p:cNvSpPr/>
          <p:nvPr/>
        </p:nvSpPr>
        <p:spPr>
          <a:xfrm>
            <a:off x="825968" y="6068976"/>
            <a:ext cx="10872080" cy="482123"/>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它和</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MPC</a:t>
            </a:r>
            <a:r>
              <a:rPr lang="en-US" sz="1600" dirty="0">
                <a:latin typeface="微软雅黑" panose="020B0503020204020204" pitchFamily="34" charset="-122"/>
                <a:ea typeface="微软雅黑" panose="020B0503020204020204" pitchFamily="34" charset="-122"/>
                <a:cs typeface="微软雅黑" panose="020B0503020204020204" pitchFamily="34" charset="-122"/>
              </a:rPr>
              <a:t>同属于优化方法，只不过TEB计算</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最优的轨迹 </a:t>
            </a:r>
            <a:r>
              <a:rPr lang="en-US" sz="1600" dirty="0">
                <a:latin typeface="微软雅黑" panose="020B0503020204020204" pitchFamily="34" charset="-122"/>
                <a:ea typeface="微软雅黑" panose="020B0503020204020204" pitchFamily="34" charset="-122"/>
                <a:cs typeface="微软雅黑" panose="020B0503020204020204" pitchFamily="34" charset="-122"/>
              </a:rPr>
              <a:t>，再通过计算得到最优控制量，而MPC可以理解为直接计算最优控制量；MPC使用</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OSPQ </a:t>
            </a:r>
            <a:r>
              <a:rPr lang="en-US" sz="1600" dirty="0">
                <a:latin typeface="微软雅黑" panose="020B0503020204020204" pitchFamily="34" charset="-122"/>
                <a:ea typeface="微软雅黑" panose="020B0503020204020204" pitchFamily="34" charset="-122"/>
                <a:cs typeface="微软雅黑" panose="020B0503020204020204" pitchFamily="34" charset="-122"/>
              </a:rPr>
              <a:t>优化器求解，TEB使用</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g2o </a:t>
            </a:r>
            <a:r>
              <a:rPr lang="en-US" sz="1600" dirty="0">
                <a:latin typeface="微软雅黑" panose="020B0503020204020204" pitchFamily="34" charset="-122"/>
                <a:ea typeface="微软雅黑" panose="020B0503020204020204" pitchFamily="34" charset="-122"/>
                <a:cs typeface="微软雅黑" panose="020B0503020204020204" pitchFamily="34" charset="-122"/>
              </a:rPr>
              <a:t>来求解。</a:t>
            </a:r>
            <a:endParaRPr lang="en-US" sz="2400" dirty="0"/>
          </a:p>
        </p:txBody>
      </p:sp>
      <p:sp>
        <p:nvSpPr>
          <p:cNvPr id="20" name="Shape 18"/>
          <p:cNvSpPr/>
          <p:nvPr/>
        </p:nvSpPr>
        <p:spPr>
          <a:xfrm>
            <a:off x="8107869" y="1893096"/>
            <a:ext cx="3750756" cy="3424093"/>
          </a:xfrm>
          <a:custGeom>
            <a:avLst/>
            <a:gdLst/>
            <a:ahLst/>
            <a:cxnLst/>
            <a:rect l="l" t="t" r="r" b="b"/>
            <a:pathLst>
              <a:path w="3750756" h="4314595">
                <a:moveTo>
                  <a:pt x="98045" y="0"/>
                </a:moveTo>
                <a:lnTo>
                  <a:pt x="3652711" y="0"/>
                </a:lnTo>
                <a:cubicBezTo>
                  <a:pt x="3706860" y="0"/>
                  <a:pt x="3750756" y="43896"/>
                  <a:pt x="3750756" y="98045"/>
                </a:cubicBezTo>
                <a:lnTo>
                  <a:pt x="3750756" y="4216550"/>
                </a:lnTo>
                <a:cubicBezTo>
                  <a:pt x="3750756" y="4270699"/>
                  <a:pt x="3706860" y="4314595"/>
                  <a:pt x="3652711" y="4314595"/>
                </a:cubicBezTo>
                <a:lnTo>
                  <a:pt x="98045" y="4314595"/>
                </a:lnTo>
                <a:cubicBezTo>
                  <a:pt x="43896" y="4314595"/>
                  <a:pt x="0" y="4270699"/>
                  <a:pt x="0" y="4216550"/>
                </a:cubicBezTo>
                <a:lnTo>
                  <a:pt x="0" y="98045"/>
                </a:lnTo>
                <a:cubicBezTo>
                  <a:pt x="0" y="43932"/>
                  <a:pt x="43932" y="0"/>
                  <a:pt x="98045" y="0"/>
                </a:cubicBezTo>
                <a:close/>
              </a:path>
            </a:pathLst>
          </a:custGeom>
          <a:solidFill>
            <a:srgbClr val="E6B450">
              <a:alpha val="10196"/>
            </a:srgbClr>
          </a:solidFill>
          <a:ln w="12700">
            <a:solidFill>
              <a:srgbClr val="E6B450">
                <a:alpha val="30196"/>
              </a:srgbClr>
            </a:solidFill>
            <a:prstDash val="solid"/>
          </a:ln>
        </p:spPr>
      </p:sp>
      <p:sp>
        <p:nvSpPr>
          <p:cNvPr id="21" name="Shape 19"/>
          <p:cNvSpPr/>
          <p:nvPr/>
        </p:nvSpPr>
        <p:spPr>
          <a:xfrm>
            <a:off x="8328502" y="2125986"/>
            <a:ext cx="163432" cy="163432"/>
          </a:xfrm>
          <a:custGeom>
            <a:avLst/>
            <a:gdLst/>
            <a:ahLst/>
            <a:cxnLst/>
            <a:rect l="l" t="t" r="r" b="b"/>
            <a:pathLst>
              <a:path w="163432" h="163432">
                <a:moveTo>
                  <a:pt x="21035" y="72938"/>
                </a:moveTo>
                <a:cubicBezTo>
                  <a:pt x="25281" y="43252"/>
                  <a:pt x="50849" y="20429"/>
                  <a:pt x="81716" y="20429"/>
                </a:cubicBezTo>
                <a:cubicBezTo>
                  <a:pt x="98634" y="20429"/>
                  <a:pt x="113955" y="27292"/>
                  <a:pt x="125064" y="38368"/>
                </a:cubicBezTo>
                <a:cubicBezTo>
                  <a:pt x="125127" y="38432"/>
                  <a:pt x="125191" y="38496"/>
                  <a:pt x="125255" y="38560"/>
                </a:cubicBezTo>
                <a:lnTo>
                  <a:pt x="127681" y="40858"/>
                </a:lnTo>
                <a:lnTo>
                  <a:pt x="112391" y="40858"/>
                </a:lnTo>
                <a:cubicBezTo>
                  <a:pt x="106741" y="40858"/>
                  <a:pt x="102177" y="45423"/>
                  <a:pt x="102177" y="51072"/>
                </a:cubicBezTo>
                <a:cubicBezTo>
                  <a:pt x="102177" y="56722"/>
                  <a:pt x="106741" y="61287"/>
                  <a:pt x="112391" y="61287"/>
                </a:cubicBezTo>
                <a:lnTo>
                  <a:pt x="153249" y="61287"/>
                </a:lnTo>
                <a:cubicBezTo>
                  <a:pt x="158899" y="61287"/>
                  <a:pt x="163464" y="56722"/>
                  <a:pt x="163464" y="51072"/>
                </a:cubicBezTo>
                <a:lnTo>
                  <a:pt x="163464" y="10214"/>
                </a:lnTo>
                <a:cubicBezTo>
                  <a:pt x="163464" y="4565"/>
                  <a:pt x="158899" y="0"/>
                  <a:pt x="153249" y="0"/>
                </a:cubicBezTo>
                <a:cubicBezTo>
                  <a:pt x="147599" y="0"/>
                  <a:pt x="143035" y="4565"/>
                  <a:pt x="143035" y="10214"/>
                </a:cubicBezTo>
                <a:lnTo>
                  <a:pt x="143035" y="27260"/>
                </a:lnTo>
                <a:lnTo>
                  <a:pt x="139428" y="23844"/>
                </a:lnTo>
                <a:cubicBezTo>
                  <a:pt x="124649" y="9129"/>
                  <a:pt x="104220" y="0"/>
                  <a:pt x="81716" y="0"/>
                </a:cubicBezTo>
                <a:cubicBezTo>
                  <a:pt x="40539" y="0"/>
                  <a:pt x="6480" y="30452"/>
                  <a:pt x="830" y="70065"/>
                </a:cubicBezTo>
                <a:cubicBezTo>
                  <a:pt x="32" y="75651"/>
                  <a:pt x="3894" y="80822"/>
                  <a:pt x="9480" y="81620"/>
                </a:cubicBezTo>
                <a:cubicBezTo>
                  <a:pt x="15066" y="82418"/>
                  <a:pt x="20237" y="78524"/>
                  <a:pt x="21035" y="72970"/>
                </a:cubicBezTo>
                <a:close/>
                <a:moveTo>
                  <a:pt x="162602" y="93367"/>
                </a:moveTo>
                <a:cubicBezTo>
                  <a:pt x="163400" y="87781"/>
                  <a:pt x="159505" y="82610"/>
                  <a:pt x="153951" y="81812"/>
                </a:cubicBezTo>
                <a:cubicBezTo>
                  <a:pt x="148397" y="81014"/>
                  <a:pt x="143194" y="84908"/>
                  <a:pt x="142396" y="90462"/>
                </a:cubicBezTo>
                <a:cubicBezTo>
                  <a:pt x="138151" y="120148"/>
                  <a:pt x="112583" y="142971"/>
                  <a:pt x="81716" y="142971"/>
                </a:cubicBezTo>
                <a:cubicBezTo>
                  <a:pt x="64798" y="142971"/>
                  <a:pt x="49476" y="136108"/>
                  <a:pt x="38368" y="125032"/>
                </a:cubicBezTo>
                <a:cubicBezTo>
                  <a:pt x="38304" y="124968"/>
                  <a:pt x="38240" y="124904"/>
                  <a:pt x="38177" y="124840"/>
                </a:cubicBezTo>
                <a:lnTo>
                  <a:pt x="35751" y="122542"/>
                </a:lnTo>
                <a:lnTo>
                  <a:pt x="51040" y="122542"/>
                </a:lnTo>
                <a:cubicBezTo>
                  <a:pt x="56690" y="122542"/>
                  <a:pt x="61255" y="117977"/>
                  <a:pt x="61255" y="112327"/>
                </a:cubicBezTo>
                <a:cubicBezTo>
                  <a:pt x="61255" y="106677"/>
                  <a:pt x="56690" y="102113"/>
                  <a:pt x="51040" y="102113"/>
                </a:cubicBezTo>
                <a:lnTo>
                  <a:pt x="10214" y="102145"/>
                </a:lnTo>
                <a:cubicBezTo>
                  <a:pt x="7501" y="102145"/>
                  <a:pt x="4884" y="103230"/>
                  <a:pt x="2969" y="105177"/>
                </a:cubicBezTo>
                <a:cubicBezTo>
                  <a:pt x="1053" y="107124"/>
                  <a:pt x="-32" y="109710"/>
                  <a:pt x="0" y="112455"/>
                </a:cubicBezTo>
                <a:lnTo>
                  <a:pt x="319" y="152994"/>
                </a:lnTo>
                <a:cubicBezTo>
                  <a:pt x="351" y="158644"/>
                  <a:pt x="4980" y="163176"/>
                  <a:pt x="10629" y="163112"/>
                </a:cubicBezTo>
                <a:cubicBezTo>
                  <a:pt x="16279" y="163049"/>
                  <a:pt x="20812" y="158452"/>
                  <a:pt x="20748" y="152802"/>
                </a:cubicBezTo>
                <a:lnTo>
                  <a:pt x="20620" y="136363"/>
                </a:lnTo>
                <a:lnTo>
                  <a:pt x="24036" y="139587"/>
                </a:lnTo>
                <a:cubicBezTo>
                  <a:pt x="38815" y="154302"/>
                  <a:pt x="59212" y="163432"/>
                  <a:pt x="81716" y="163432"/>
                </a:cubicBezTo>
                <a:cubicBezTo>
                  <a:pt x="122893" y="163432"/>
                  <a:pt x="156952" y="132980"/>
                  <a:pt x="162602" y="93367"/>
                </a:cubicBezTo>
                <a:close/>
              </a:path>
            </a:pathLst>
          </a:custGeom>
          <a:solidFill>
            <a:srgbClr val="E6B450"/>
          </a:solidFill>
        </p:spPr>
      </p:sp>
      <p:sp>
        <p:nvSpPr>
          <p:cNvPr id="22" name="Text 20"/>
          <p:cNvSpPr/>
          <p:nvPr/>
        </p:nvSpPr>
        <p:spPr>
          <a:xfrm>
            <a:off x="8512362" y="2093299"/>
            <a:ext cx="3227775" cy="228804"/>
          </a:xfrm>
          <a:prstGeom prst="rect">
            <a:avLst/>
          </a:prstGeom>
          <a:noFill/>
        </p:spPr>
        <p:txBody>
          <a:bodyPr wrap="square" lIns="0" tIns="0" rIns="0" bIns="0" rtlCol="0" anchor="ctr"/>
          <a:lstStyle/>
          <a:p>
            <a:pPr>
              <a:lnSpc>
                <a:spcPct val="120000"/>
              </a:lnSpc>
            </a:pPr>
            <a:r>
              <a:rPr lang="en-US" sz="1285" b="1" dirty="0" err="1">
                <a:latin typeface="微软雅黑" panose="020B0503020204020204" pitchFamily="34" charset="-122"/>
                <a:ea typeface="微软雅黑" panose="020B0503020204020204" pitchFamily="34" charset="-122"/>
                <a:cs typeface="微软雅黑" panose="020B0503020204020204" pitchFamily="34" charset="-122"/>
              </a:rPr>
              <a:t>橡皮筋</a:t>
            </a:r>
            <a:r>
              <a:rPr lang="zh-CN" altLang="en-US" sz="1285" b="1" dirty="0">
                <a:latin typeface="微软雅黑" panose="020B0503020204020204" pitchFamily="34" charset="-122"/>
                <a:ea typeface="微软雅黑" panose="020B0503020204020204" pitchFamily="34" charset="-122"/>
                <a:cs typeface="微软雅黑" panose="020B0503020204020204" pitchFamily="34" charset="-122"/>
              </a:rPr>
              <a:t>示意的</a:t>
            </a:r>
            <a:r>
              <a:rPr lang="en-US" altLang="zh-CN" sz="1285" b="1" dirty="0">
                <a:latin typeface="微软雅黑" panose="020B0503020204020204" pitchFamily="34" charset="-122"/>
                <a:ea typeface="微软雅黑" panose="020B0503020204020204" pitchFamily="34" charset="-122"/>
                <a:cs typeface="微软雅黑" panose="020B0503020204020204" pitchFamily="34" charset="-122"/>
              </a:rPr>
              <a:t>TEB</a:t>
            </a:r>
            <a:endParaRPr lang="en-US" sz="1600" dirty="0"/>
          </a:p>
        </p:txBody>
      </p:sp>
      <p:grpSp>
        <p:nvGrpSpPr>
          <p:cNvPr id="38" name="组合 37">
            <a:extLst>
              <a:ext uri="{FF2B5EF4-FFF2-40B4-BE49-F238E27FC236}">
                <a16:creationId xmlns:a16="http://schemas.microsoft.com/office/drawing/2014/main" id="{8F2481E5-5B7D-FF64-4D6E-0C5E7F468FB2}"/>
              </a:ext>
            </a:extLst>
          </p:cNvPr>
          <p:cNvGrpSpPr/>
          <p:nvPr/>
        </p:nvGrpSpPr>
        <p:grpSpPr>
          <a:xfrm>
            <a:off x="0" y="939798"/>
            <a:ext cx="5022850" cy="625474"/>
            <a:chOff x="0" y="1075267"/>
            <a:chExt cx="5022850" cy="625474"/>
          </a:xfrm>
        </p:grpSpPr>
        <p:sp>
          <p:nvSpPr>
            <p:cNvPr id="39" name="矩形 38">
              <a:extLst>
                <a:ext uri="{FF2B5EF4-FFF2-40B4-BE49-F238E27FC236}">
                  <a16:creationId xmlns:a16="http://schemas.microsoft.com/office/drawing/2014/main" id="{304CE31C-D23B-2574-FAED-0BBF3260BB63}"/>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6A4BD783-447C-42B7-ABDA-D811CC33989D}"/>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7.3.4 TEB</a:t>
              </a:r>
              <a:r>
                <a:rPr lang="zh-CN" altLang="en-US" sz="2400" b="1" dirty="0">
                  <a:solidFill>
                    <a:schemeClr val="accent1"/>
                  </a:solidFill>
                  <a:latin typeface="+mj-lt"/>
                </a:rPr>
                <a:t>算法</a:t>
              </a:r>
            </a:p>
          </p:txBody>
        </p:sp>
      </p:grpSp>
      <p:pic>
        <p:nvPicPr>
          <p:cNvPr id="2" name="图片 1">
            <a:extLst>
              <a:ext uri="{FF2B5EF4-FFF2-40B4-BE49-F238E27FC236}">
                <a16:creationId xmlns:a16="http://schemas.microsoft.com/office/drawing/2014/main" id="{9F093C15-272F-32A2-B714-4A2C6347A68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8222575" y="2601559"/>
            <a:ext cx="3508159" cy="1969418"/>
          </a:xfrm>
          <a:prstGeom prst="rect">
            <a:avLst/>
          </a:prstGeom>
          <a:noFill/>
          <a:ln>
            <a:noFill/>
          </a:ln>
        </p:spPr>
      </p:pic>
    </p:spTree>
    <p:extLst>
      <p:ext uri="{BB962C8B-B14F-4D97-AF65-F5344CB8AC3E}">
        <p14:creationId xmlns:p14="http://schemas.microsoft.com/office/powerpoint/2010/main" val="4243549928"/>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400050" y="1733550"/>
            <a:ext cx="5543550" cy="2266950"/>
          </a:xfrm>
          <a:custGeom>
            <a:avLst/>
            <a:gdLst/>
            <a:ahLst/>
            <a:cxnLst/>
            <a:rect l="l" t="t" r="r" b="b"/>
            <a:pathLst>
              <a:path w="5543550" h="2266950">
                <a:moveTo>
                  <a:pt x="38100" y="0"/>
                </a:moveTo>
                <a:lnTo>
                  <a:pt x="5429250" y="0"/>
                </a:lnTo>
                <a:cubicBezTo>
                  <a:pt x="5492376" y="0"/>
                  <a:pt x="5543550" y="51174"/>
                  <a:pt x="5543550" y="114300"/>
                </a:cubicBezTo>
                <a:lnTo>
                  <a:pt x="5543550" y="2152650"/>
                </a:lnTo>
                <a:cubicBezTo>
                  <a:pt x="5543550" y="2215776"/>
                  <a:pt x="5492376" y="2266950"/>
                  <a:pt x="5429250" y="2266950"/>
                </a:cubicBezTo>
                <a:lnTo>
                  <a:pt x="38100" y="2266950"/>
                </a:lnTo>
                <a:cubicBezTo>
                  <a:pt x="17072" y="2266950"/>
                  <a:pt x="0" y="2249878"/>
                  <a:pt x="0" y="2228850"/>
                </a:cubicBezTo>
                <a:lnTo>
                  <a:pt x="0" y="38100"/>
                </a:lnTo>
                <a:cubicBezTo>
                  <a:pt x="0" y="17072"/>
                  <a:pt x="17072" y="0"/>
                  <a:pt x="38100" y="0"/>
                </a:cubicBezTo>
                <a:close/>
              </a:path>
            </a:pathLst>
          </a:custGeom>
          <a:solidFill>
            <a:srgbClr val="5F87A7">
              <a:alpha val="10196"/>
            </a:srgbClr>
          </a:solidFill>
        </p:spPr>
      </p:sp>
      <p:sp>
        <p:nvSpPr>
          <p:cNvPr id="6" name="Shape 4"/>
          <p:cNvSpPr/>
          <p:nvPr/>
        </p:nvSpPr>
        <p:spPr>
          <a:xfrm>
            <a:off x="400050" y="1733550"/>
            <a:ext cx="38100" cy="2266950"/>
          </a:xfrm>
          <a:custGeom>
            <a:avLst/>
            <a:gdLst/>
            <a:ahLst/>
            <a:cxnLst/>
            <a:rect l="l" t="t" r="r" b="b"/>
            <a:pathLst>
              <a:path w="38100" h="2266950">
                <a:moveTo>
                  <a:pt x="38100" y="0"/>
                </a:moveTo>
                <a:lnTo>
                  <a:pt x="38100" y="0"/>
                </a:lnTo>
                <a:lnTo>
                  <a:pt x="38100" y="2266950"/>
                </a:lnTo>
                <a:lnTo>
                  <a:pt x="38100" y="2266950"/>
                </a:lnTo>
                <a:cubicBezTo>
                  <a:pt x="17072" y="2266950"/>
                  <a:pt x="0" y="2249878"/>
                  <a:pt x="0" y="2228850"/>
                </a:cubicBezTo>
                <a:lnTo>
                  <a:pt x="0" y="38100"/>
                </a:lnTo>
                <a:cubicBezTo>
                  <a:pt x="0" y="17072"/>
                  <a:pt x="17072" y="0"/>
                  <a:pt x="38100" y="0"/>
                </a:cubicBezTo>
                <a:close/>
              </a:path>
            </a:pathLst>
          </a:custGeom>
          <a:solidFill>
            <a:srgbClr val="E6B450"/>
          </a:solidFill>
        </p:spPr>
      </p:sp>
      <p:sp>
        <p:nvSpPr>
          <p:cNvPr id="7" name="Shape 5"/>
          <p:cNvSpPr/>
          <p:nvPr/>
        </p:nvSpPr>
        <p:spPr>
          <a:xfrm>
            <a:off x="647700" y="19621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E6B450">
              <a:alpha val="20000"/>
            </a:srgbClr>
          </a:solidFill>
        </p:spPr>
      </p:sp>
      <p:sp>
        <p:nvSpPr>
          <p:cNvPr id="8" name="Text 6"/>
          <p:cNvSpPr/>
          <p:nvPr/>
        </p:nvSpPr>
        <p:spPr>
          <a:xfrm>
            <a:off x="830461" y="2038350"/>
            <a:ext cx="209550" cy="304800"/>
          </a:xfrm>
          <a:prstGeom prst="rect">
            <a:avLst/>
          </a:prstGeom>
          <a:noFill/>
        </p:spPr>
        <p:txBody>
          <a:bodyPr wrap="square" lIns="0" tIns="0" rIns="0" bIns="0" rtlCol="0" anchor="ctr"/>
          <a:lstStyle/>
          <a:p>
            <a:pPr>
              <a:lnSpc>
                <a:spcPct val="110000"/>
              </a:lnSpc>
            </a:pPr>
            <a:r>
              <a:rPr lang="en-US" sz="1800" b="1" dirty="0">
                <a:latin typeface="微软雅黑" panose="020B0503020204020204" pitchFamily="34" charset="-122"/>
                <a:ea typeface="微软雅黑" panose="020B0503020204020204" pitchFamily="34" charset="-122"/>
                <a:cs typeface="微软雅黑" panose="020B0503020204020204" pitchFamily="34" charset="-122"/>
              </a:rPr>
              <a:t>1</a:t>
            </a:r>
            <a:endParaRPr lang="en-US" sz="1600" dirty="0"/>
          </a:p>
        </p:txBody>
      </p:sp>
      <p:sp>
        <p:nvSpPr>
          <p:cNvPr id="9" name="Text 7"/>
          <p:cNvSpPr/>
          <p:nvPr/>
        </p:nvSpPr>
        <p:spPr>
          <a:xfrm>
            <a:off x="1257300" y="2038350"/>
            <a:ext cx="4572000" cy="304800"/>
          </a:xfrm>
          <a:prstGeom prst="rect">
            <a:avLst/>
          </a:prstGeom>
          <a:noFill/>
        </p:spPr>
        <p:txBody>
          <a:bodyPr wrap="square" lIns="0" tIns="0" rIns="0" bIns="0" rtlCol="0" anchor="ctr"/>
          <a:lstStyle/>
          <a:p>
            <a:pPr>
              <a:lnSpc>
                <a:spcPct val="110000"/>
              </a:lnSpc>
            </a:pPr>
            <a:r>
              <a:rPr lang="en-US" sz="1800" b="1" dirty="0">
                <a:latin typeface="微软雅黑" panose="020B0503020204020204" pitchFamily="34" charset="-122"/>
                <a:ea typeface="微软雅黑" panose="020B0503020204020204" pitchFamily="34" charset="-122"/>
                <a:cs typeface="微软雅黑" panose="020B0503020204020204" pitchFamily="34" charset="-122"/>
              </a:rPr>
              <a:t>时间弹性</a:t>
            </a:r>
            <a:endParaRPr lang="en-US" sz="1600" dirty="0"/>
          </a:p>
        </p:txBody>
      </p:sp>
      <p:sp>
        <p:nvSpPr>
          <p:cNvPr id="10" name="Text 8"/>
          <p:cNvSpPr/>
          <p:nvPr/>
        </p:nvSpPr>
        <p:spPr>
          <a:xfrm>
            <a:off x="1257300" y="2381250"/>
            <a:ext cx="4543425" cy="1390650"/>
          </a:xfrm>
          <a:prstGeom prst="rect">
            <a:avLst/>
          </a:prstGeom>
          <a:noFill/>
        </p:spPr>
        <p:txBody>
          <a:bodyPr wrap="square" lIns="0" tIns="0" rIns="0" bIns="0" rtlCol="0" anchor="ctr"/>
          <a:lstStyle/>
          <a:p>
            <a:pPr>
              <a:lnSpc>
                <a:spcPct val="140000"/>
              </a:lnSpc>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考虑了机器人在路径规划过程中的</a:t>
            </a:r>
            <a:r>
              <a:rPr lang="en-US" sz="1600" b="1" dirty="0" err="1">
                <a:latin typeface="微软雅黑" panose="020B0503020204020204" pitchFamily="34" charset="-122"/>
                <a:ea typeface="微软雅黑" panose="020B0503020204020204" pitchFamily="34" charset="-122"/>
                <a:cs typeface="微软雅黑" panose="020B0503020204020204" pitchFamily="34" charset="-122"/>
              </a:rPr>
              <a:t>运动时间</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，通过对路径特征进行建模，可以根据不同的速度限制和运动约束生成</a:t>
            </a:r>
            <a:r>
              <a:rPr lang="en-US"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时间弹性的轨迹</a:t>
            </a:r>
            <a:r>
              <a:rPr lang="en-US" sz="1600" dirty="0">
                <a:latin typeface="微软雅黑" panose="020B0503020204020204" pitchFamily="34" charset="-122"/>
                <a:ea typeface="微软雅黑" panose="020B0503020204020204" pitchFamily="34" charset="-122"/>
                <a:cs typeface="微软雅黑" panose="020B0503020204020204" pitchFamily="34" charset="-122"/>
              </a:rPr>
              <a:t> 。</a:t>
            </a:r>
            <a:endParaRPr lang="en-US" sz="2000" dirty="0"/>
          </a:p>
        </p:txBody>
      </p:sp>
      <p:sp>
        <p:nvSpPr>
          <p:cNvPr id="11" name="Shape 9"/>
          <p:cNvSpPr/>
          <p:nvPr/>
        </p:nvSpPr>
        <p:spPr>
          <a:xfrm>
            <a:off x="6267450" y="1733550"/>
            <a:ext cx="5543550" cy="2266950"/>
          </a:xfrm>
          <a:custGeom>
            <a:avLst/>
            <a:gdLst/>
            <a:ahLst/>
            <a:cxnLst/>
            <a:rect l="l" t="t" r="r" b="b"/>
            <a:pathLst>
              <a:path w="5543550" h="2266950">
                <a:moveTo>
                  <a:pt x="38100" y="0"/>
                </a:moveTo>
                <a:lnTo>
                  <a:pt x="5429250" y="0"/>
                </a:lnTo>
                <a:cubicBezTo>
                  <a:pt x="5492376" y="0"/>
                  <a:pt x="5543550" y="51174"/>
                  <a:pt x="5543550" y="114300"/>
                </a:cubicBezTo>
                <a:lnTo>
                  <a:pt x="5543550" y="2152650"/>
                </a:lnTo>
                <a:cubicBezTo>
                  <a:pt x="5543550" y="2215776"/>
                  <a:pt x="5492376" y="2266950"/>
                  <a:pt x="5429250" y="2266950"/>
                </a:cubicBezTo>
                <a:lnTo>
                  <a:pt x="38100" y="2266950"/>
                </a:lnTo>
                <a:cubicBezTo>
                  <a:pt x="17072" y="2266950"/>
                  <a:pt x="0" y="2249878"/>
                  <a:pt x="0" y="2228850"/>
                </a:cubicBezTo>
                <a:lnTo>
                  <a:pt x="0" y="38100"/>
                </a:lnTo>
                <a:cubicBezTo>
                  <a:pt x="0" y="17072"/>
                  <a:pt x="17072" y="0"/>
                  <a:pt x="38100" y="0"/>
                </a:cubicBezTo>
                <a:close/>
              </a:path>
            </a:pathLst>
          </a:custGeom>
          <a:solidFill>
            <a:srgbClr val="5F87A7">
              <a:alpha val="10196"/>
            </a:srgbClr>
          </a:solidFill>
        </p:spPr>
      </p:sp>
      <p:sp>
        <p:nvSpPr>
          <p:cNvPr id="12" name="Shape 10"/>
          <p:cNvSpPr/>
          <p:nvPr/>
        </p:nvSpPr>
        <p:spPr>
          <a:xfrm>
            <a:off x="6267450" y="1733550"/>
            <a:ext cx="38100" cy="2266950"/>
          </a:xfrm>
          <a:custGeom>
            <a:avLst/>
            <a:gdLst/>
            <a:ahLst/>
            <a:cxnLst/>
            <a:rect l="l" t="t" r="r" b="b"/>
            <a:pathLst>
              <a:path w="38100" h="2266950">
                <a:moveTo>
                  <a:pt x="38100" y="0"/>
                </a:moveTo>
                <a:lnTo>
                  <a:pt x="38100" y="0"/>
                </a:lnTo>
                <a:lnTo>
                  <a:pt x="38100" y="2266950"/>
                </a:lnTo>
                <a:lnTo>
                  <a:pt x="38100" y="2266950"/>
                </a:lnTo>
                <a:cubicBezTo>
                  <a:pt x="17072" y="2266950"/>
                  <a:pt x="0" y="2249878"/>
                  <a:pt x="0" y="2228850"/>
                </a:cubicBezTo>
                <a:lnTo>
                  <a:pt x="0" y="38100"/>
                </a:lnTo>
                <a:cubicBezTo>
                  <a:pt x="0" y="17072"/>
                  <a:pt x="17072" y="0"/>
                  <a:pt x="38100" y="0"/>
                </a:cubicBezTo>
                <a:close/>
              </a:path>
            </a:pathLst>
          </a:custGeom>
          <a:solidFill>
            <a:srgbClr val="E6B450"/>
          </a:solidFill>
        </p:spPr>
      </p:sp>
      <p:sp>
        <p:nvSpPr>
          <p:cNvPr id="13" name="Shape 11"/>
          <p:cNvSpPr/>
          <p:nvPr/>
        </p:nvSpPr>
        <p:spPr>
          <a:xfrm>
            <a:off x="6515100" y="19621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E6B450">
              <a:alpha val="20000"/>
            </a:srgbClr>
          </a:solidFill>
        </p:spPr>
      </p:sp>
      <p:sp>
        <p:nvSpPr>
          <p:cNvPr id="14" name="Text 12"/>
          <p:cNvSpPr/>
          <p:nvPr/>
        </p:nvSpPr>
        <p:spPr>
          <a:xfrm>
            <a:off x="6677174" y="2038350"/>
            <a:ext cx="247650" cy="304800"/>
          </a:xfrm>
          <a:prstGeom prst="rect">
            <a:avLst/>
          </a:prstGeom>
          <a:noFill/>
        </p:spPr>
        <p:txBody>
          <a:bodyPr wrap="square" lIns="0" tIns="0" rIns="0" bIns="0" rtlCol="0" anchor="ctr"/>
          <a:lstStyle/>
          <a:p>
            <a:pPr>
              <a:lnSpc>
                <a:spcPct val="110000"/>
              </a:lnSpc>
            </a:pPr>
            <a:r>
              <a:rPr lang="en-US" sz="1800" b="1" dirty="0">
                <a:latin typeface="微软雅黑" panose="020B0503020204020204" pitchFamily="34" charset="-122"/>
                <a:ea typeface="微软雅黑" panose="020B0503020204020204" pitchFamily="34" charset="-122"/>
                <a:cs typeface="微软雅黑" panose="020B0503020204020204" pitchFamily="34" charset="-122"/>
              </a:rPr>
              <a:t>2</a:t>
            </a:r>
            <a:endParaRPr lang="en-US" sz="1600" dirty="0"/>
          </a:p>
        </p:txBody>
      </p:sp>
      <p:sp>
        <p:nvSpPr>
          <p:cNvPr id="15" name="Text 13"/>
          <p:cNvSpPr/>
          <p:nvPr/>
        </p:nvSpPr>
        <p:spPr>
          <a:xfrm>
            <a:off x="7124700" y="2038350"/>
            <a:ext cx="4572000" cy="304800"/>
          </a:xfrm>
          <a:prstGeom prst="rect">
            <a:avLst/>
          </a:prstGeom>
          <a:noFill/>
        </p:spPr>
        <p:txBody>
          <a:bodyPr wrap="square" lIns="0" tIns="0" rIns="0" bIns="0" rtlCol="0" anchor="ctr"/>
          <a:lstStyle/>
          <a:p>
            <a:pPr>
              <a:lnSpc>
                <a:spcPct val="110000"/>
              </a:lnSpc>
            </a:pPr>
            <a:r>
              <a:rPr lang="en-US" sz="1800" b="1" dirty="0">
                <a:latin typeface="微软雅黑" panose="020B0503020204020204" pitchFamily="34" charset="-122"/>
                <a:ea typeface="微软雅黑" panose="020B0503020204020204" pitchFamily="34" charset="-122"/>
                <a:cs typeface="微软雅黑" panose="020B0503020204020204" pitchFamily="34" charset="-122"/>
              </a:rPr>
              <a:t>局部优化</a:t>
            </a:r>
            <a:endParaRPr lang="en-US" sz="1600" dirty="0"/>
          </a:p>
        </p:txBody>
      </p:sp>
      <p:sp>
        <p:nvSpPr>
          <p:cNvPr id="16" name="Text 14"/>
          <p:cNvSpPr/>
          <p:nvPr/>
        </p:nvSpPr>
        <p:spPr>
          <a:xfrm>
            <a:off x="7124700" y="2381250"/>
            <a:ext cx="4543425" cy="1114425"/>
          </a:xfrm>
          <a:prstGeom prst="rect">
            <a:avLst/>
          </a:prstGeom>
          <a:noFill/>
        </p:spPr>
        <p:txBody>
          <a:bodyPr wrap="square" lIns="0" tIns="0" rIns="0" bIns="0" rtlCol="0" anchor="ctr"/>
          <a:lstStyle/>
          <a:p>
            <a:pPr>
              <a:lnSpc>
                <a:spcPct val="140000"/>
              </a:lnSpc>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是一种</a:t>
            </a:r>
            <a:r>
              <a:rPr lang="en-US" sz="1600" b="1" dirty="0" err="1">
                <a:latin typeface="微软雅黑" panose="020B0503020204020204" pitchFamily="34" charset="-122"/>
                <a:ea typeface="微软雅黑" panose="020B0503020204020204" pitchFamily="34" charset="-122"/>
                <a:cs typeface="微软雅黑" panose="020B0503020204020204" pitchFamily="34" charset="-122"/>
              </a:rPr>
              <a:t>局部路径规划算法</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，主要用于解决机器人在具体环境中的</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err="1">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实时路径规划问题</a:t>
            </a:r>
            <a:r>
              <a:rPr lang="en-US" sz="1600" dirty="0">
                <a:highlight>
                  <a:srgbClr val="E6B450">
                    <a:alpha val="20000"/>
                  </a:srgbClr>
                </a:highlight>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000" dirty="0"/>
          </a:p>
        </p:txBody>
      </p:sp>
      <p:sp>
        <p:nvSpPr>
          <p:cNvPr id="17" name="Shape 15"/>
          <p:cNvSpPr/>
          <p:nvPr/>
        </p:nvSpPr>
        <p:spPr>
          <a:xfrm>
            <a:off x="400050" y="4307681"/>
            <a:ext cx="5543550" cy="1990725"/>
          </a:xfrm>
          <a:custGeom>
            <a:avLst/>
            <a:gdLst/>
            <a:ahLst/>
            <a:cxnLst/>
            <a:rect l="l" t="t" r="r" b="b"/>
            <a:pathLst>
              <a:path w="5543550" h="1990725">
                <a:moveTo>
                  <a:pt x="38100" y="0"/>
                </a:moveTo>
                <a:lnTo>
                  <a:pt x="5429243" y="0"/>
                </a:lnTo>
                <a:cubicBezTo>
                  <a:pt x="5492373" y="0"/>
                  <a:pt x="5543550" y="51177"/>
                  <a:pt x="5543550" y="114307"/>
                </a:cubicBezTo>
                <a:lnTo>
                  <a:pt x="5543550" y="1876418"/>
                </a:lnTo>
                <a:cubicBezTo>
                  <a:pt x="5543550" y="1939548"/>
                  <a:pt x="5492373" y="1990725"/>
                  <a:pt x="5429243" y="1990725"/>
                </a:cubicBezTo>
                <a:lnTo>
                  <a:pt x="38100" y="1990725"/>
                </a:lnTo>
                <a:cubicBezTo>
                  <a:pt x="17072" y="1990725"/>
                  <a:pt x="0" y="1973653"/>
                  <a:pt x="0" y="1952625"/>
                </a:cubicBezTo>
                <a:lnTo>
                  <a:pt x="0" y="38100"/>
                </a:lnTo>
                <a:cubicBezTo>
                  <a:pt x="0" y="17072"/>
                  <a:pt x="17072" y="0"/>
                  <a:pt x="38100" y="0"/>
                </a:cubicBezTo>
                <a:close/>
              </a:path>
            </a:pathLst>
          </a:custGeom>
          <a:solidFill>
            <a:srgbClr val="5F87A7">
              <a:alpha val="10196"/>
            </a:srgbClr>
          </a:solidFill>
        </p:spPr>
      </p:sp>
      <p:sp>
        <p:nvSpPr>
          <p:cNvPr id="18" name="Shape 16"/>
          <p:cNvSpPr/>
          <p:nvPr/>
        </p:nvSpPr>
        <p:spPr>
          <a:xfrm>
            <a:off x="400050" y="4307681"/>
            <a:ext cx="38100" cy="1990725"/>
          </a:xfrm>
          <a:custGeom>
            <a:avLst/>
            <a:gdLst/>
            <a:ahLst/>
            <a:cxnLst/>
            <a:rect l="l" t="t" r="r" b="b"/>
            <a:pathLst>
              <a:path w="38100" h="1990725">
                <a:moveTo>
                  <a:pt x="38100" y="0"/>
                </a:moveTo>
                <a:lnTo>
                  <a:pt x="38100" y="0"/>
                </a:lnTo>
                <a:lnTo>
                  <a:pt x="38100" y="1990725"/>
                </a:lnTo>
                <a:lnTo>
                  <a:pt x="38100" y="1990725"/>
                </a:lnTo>
                <a:cubicBezTo>
                  <a:pt x="17072" y="1990725"/>
                  <a:pt x="0" y="1973653"/>
                  <a:pt x="0" y="1952625"/>
                </a:cubicBezTo>
                <a:lnTo>
                  <a:pt x="0" y="38100"/>
                </a:lnTo>
                <a:cubicBezTo>
                  <a:pt x="0" y="17072"/>
                  <a:pt x="17072" y="0"/>
                  <a:pt x="38100" y="0"/>
                </a:cubicBezTo>
                <a:close/>
              </a:path>
            </a:pathLst>
          </a:custGeom>
          <a:solidFill>
            <a:srgbClr val="E6B450"/>
          </a:solidFill>
        </p:spPr>
      </p:sp>
      <p:sp>
        <p:nvSpPr>
          <p:cNvPr id="19" name="Shape 17"/>
          <p:cNvSpPr/>
          <p:nvPr/>
        </p:nvSpPr>
        <p:spPr>
          <a:xfrm>
            <a:off x="647700" y="4536281"/>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E6B450">
              <a:alpha val="20000"/>
            </a:srgbClr>
          </a:solidFill>
        </p:spPr>
      </p:sp>
      <p:sp>
        <p:nvSpPr>
          <p:cNvPr id="20" name="Text 18"/>
          <p:cNvSpPr/>
          <p:nvPr/>
        </p:nvSpPr>
        <p:spPr>
          <a:xfrm>
            <a:off x="808732" y="4612481"/>
            <a:ext cx="247650" cy="304800"/>
          </a:xfrm>
          <a:prstGeom prst="rect">
            <a:avLst/>
          </a:prstGeom>
          <a:noFill/>
        </p:spPr>
        <p:txBody>
          <a:bodyPr wrap="square" lIns="0" tIns="0" rIns="0" bIns="0" rtlCol="0" anchor="ctr"/>
          <a:lstStyle/>
          <a:p>
            <a:pPr>
              <a:lnSpc>
                <a:spcPct val="110000"/>
              </a:lnSpc>
            </a:pPr>
            <a:r>
              <a:rPr lang="en-US" sz="1800" b="1" dirty="0">
                <a:latin typeface="微软雅黑" panose="020B0503020204020204" pitchFamily="34" charset="-122"/>
                <a:ea typeface="微软雅黑" panose="020B0503020204020204" pitchFamily="34" charset="-122"/>
                <a:cs typeface="微软雅黑" panose="020B0503020204020204" pitchFamily="34" charset="-122"/>
              </a:rPr>
              <a:t>3</a:t>
            </a:r>
            <a:endParaRPr lang="en-US" sz="1600" dirty="0"/>
          </a:p>
        </p:txBody>
      </p:sp>
      <p:sp>
        <p:nvSpPr>
          <p:cNvPr id="21" name="Text 19"/>
          <p:cNvSpPr/>
          <p:nvPr/>
        </p:nvSpPr>
        <p:spPr>
          <a:xfrm>
            <a:off x="1257300" y="4612481"/>
            <a:ext cx="4572000" cy="304800"/>
          </a:xfrm>
          <a:prstGeom prst="rect">
            <a:avLst/>
          </a:prstGeom>
          <a:noFill/>
        </p:spPr>
        <p:txBody>
          <a:bodyPr wrap="square" lIns="0" tIns="0" rIns="0" bIns="0" rtlCol="0" anchor="ctr"/>
          <a:lstStyle/>
          <a:p>
            <a:pPr>
              <a:lnSpc>
                <a:spcPct val="110000"/>
              </a:lnSpc>
            </a:pPr>
            <a:r>
              <a:rPr lang="en-US" sz="1800" b="1" dirty="0">
                <a:latin typeface="微软雅黑" panose="020B0503020204020204" pitchFamily="34" charset="-122"/>
                <a:ea typeface="微软雅黑" panose="020B0503020204020204" pitchFamily="34" charset="-122"/>
                <a:cs typeface="微软雅黑" panose="020B0503020204020204" pitchFamily="34" charset="-122"/>
              </a:rPr>
              <a:t>多目标支持</a:t>
            </a:r>
            <a:endParaRPr lang="en-US" sz="1600" dirty="0"/>
          </a:p>
        </p:txBody>
      </p:sp>
      <p:sp>
        <p:nvSpPr>
          <p:cNvPr id="22" name="Text 20"/>
          <p:cNvSpPr/>
          <p:nvPr/>
        </p:nvSpPr>
        <p:spPr>
          <a:xfrm>
            <a:off x="1257300" y="4955381"/>
            <a:ext cx="4543425" cy="1114425"/>
          </a:xfrm>
          <a:prstGeom prst="rect">
            <a:avLst/>
          </a:prstGeom>
          <a:noFill/>
        </p:spPr>
        <p:txBody>
          <a:bodyPr wrap="square" lIns="0" tIns="0" rIns="0" bIns="0" rtlCol="0" anchor="ctr"/>
          <a:lstStyle/>
          <a:p>
            <a:pPr>
              <a:lnSpc>
                <a:spcPct val="140000"/>
              </a:lnSpc>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能够有效处理机器人面临的</a:t>
            </a:r>
            <a:r>
              <a:rPr lang="en-US" sz="1600" b="1" dirty="0" err="1">
                <a:latin typeface="微软雅黑" panose="020B0503020204020204" pitchFamily="34" charset="-122"/>
                <a:ea typeface="微软雅黑" panose="020B0503020204020204" pitchFamily="34" charset="-122"/>
                <a:cs typeface="微软雅黑" panose="020B0503020204020204" pitchFamily="34" charset="-122"/>
              </a:rPr>
              <a:t>多个目标点</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或轨迹约束。通过灵活的轨迹生成和优化策略，可以在考虑多个目标的情况下生成最优的运动轨迹</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000" dirty="0"/>
          </a:p>
        </p:txBody>
      </p:sp>
      <p:sp>
        <p:nvSpPr>
          <p:cNvPr id="23" name="Shape 21"/>
          <p:cNvSpPr/>
          <p:nvPr/>
        </p:nvSpPr>
        <p:spPr>
          <a:xfrm>
            <a:off x="6267450" y="4307681"/>
            <a:ext cx="5543550" cy="1990725"/>
          </a:xfrm>
          <a:custGeom>
            <a:avLst/>
            <a:gdLst/>
            <a:ahLst/>
            <a:cxnLst/>
            <a:rect l="l" t="t" r="r" b="b"/>
            <a:pathLst>
              <a:path w="5543550" h="1990725">
                <a:moveTo>
                  <a:pt x="38100" y="0"/>
                </a:moveTo>
                <a:lnTo>
                  <a:pt x="5429243" y="0"/>
                </a:lnTo>
                <a:cubicBezTo>
                  <a:pt x="5492373" y="0"/>
                  <a:pt x="5543550" y="51177"/>
                  <a:pt x="5543550" y="114307"/>
                </a:cubicBezTo>
                <a:lnTo>
                  <a:pt x="5543550" y="1876418"/>
                </a:lnTo>
                <a:cubicBezTo>
                  <a:pt x="5543550" y="1939548"/>
                  <a:pt x="5492373" y="1990725"/>
                  <a:pt x="5429243" y="1990725"/>
                </a:cubicBezTo>
                <a:lnTo>
                  <a:pt x="38100" y="1990725"/>
                </a:lnTo>
                <a:cubicBezTo>
                  <a:pt x="17072" y="1990725"/>
                  <a:pt x="0" y="1973653"/>
                  <a:pt x="0" y="1952625"/>
                </a:cubicBezTo>
                <a:lnTo>
                  <a:pt x="0" y="38100"/>
                </a:lnTo>
                <a:cubicBezTo>
                  <a:pt x="0" y="17072"/>
                  <a:pt x="17072" y="0"/>
                  <a:pt x="38100" y="0"/>
                </a:cubicBezTo>
                <a:close/>
              </a:path>
            </a:pathLst>
          </a:custGeom>
          <a:solidFill>
            <a:srgbClr val="5F87A7">
              <a:alpha val="10196"/>
            </a:srgbClr>
          </a:solidFill>
        </p:spPr>
      </p:sp>
      <p:sp>
        <p:nvSpPr>
          <p:cNvPr id="24" name="Shape 22"/>
          <p:cNvSpPr/>
          <p:nvPr/>
        </p:nvSpPr>
        <p:spPr>
          <a:xfrm>
            <a:off x="6267450" y="4307681"/>
            <a:ext cx="38100" cy="1990725"/>
          </a:xfrm>
          <a:custGeom>
            <a:avLst/>
            <a:gdLst/>
            <a:ahLst/>
            <a:cxnLst/>
            <a:rect l="l" t="t" r="r" b="b"/>
            <a:pathLst>
              <a:path w="38100" h="1990725">
                <a:moveTo>
                  <a:pt x="38100" y="0"/>
                </a:moveTo>
                <a:lnTo>
                  <a:pt x="38100" y="0"/>
                </a:lnTo>
                <a:lnTo>
                  <a:pt x="38100" y="1990725"/>
                </a:lnTo>
                <a:lnTo>
                  <a:pt x="38100" y="1990725"/>
                </a:lnTo>
                <a:cubicBezTo>
                  <a:pt x="17072" y="1990725"/>
                  <a:pt x="0" y="1973653"/>
                  <a:pt x="0" y="1952625"/>
                </a:cubicBezTo>
                <a:lnTo>
                  <a:pt x="0" y="38100"/>
                </a:lnTo>
                <a:cubicBezTo>
                  <a:pt x="0" y="17072"/>
                  <a:pt x="17072" y="0"/>
                  <a:pt x="38100" y="0"/>
                </a:cubicBezTo>
                <a:close/>
              </a:path>
            </a:pathLst>
          </a:custGeom>
          <a:solidFill>
            <a:srgbClr val="E6B450"/>
          </a:solidFill>
        </p:spPr>
      </p:sp>
      <p:sp>
        <p:nvSpPr>
          <p:cNvPr id="25" name="Shape 23"/>
          <p:cNvSpPr/>
          <p:nvPr/>
        </p:nvSpPr>
        <p:spPr>
          <a:xfrm>
            <a:off x="6515100" y="4536281"/>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E6B450">
              <a:alpha val="20000"/>
            </a:srgbClr>
          </a:solidFill>
        </p:spPr>
      </p:sp>
      <p:sp>
        <p:nvSpPr>
          <p:cNvPr id="26" name="Text 24"/>
          <p:cNvSpPr/>
          <p:nvPr/>
        </p:nvSpPr>
        <p:spPr>
          <a:xfrm>
            <a:off x="6676281" y="4612481"/>
            <a:ext cx="247650" cy="304800"/>
          </a:xfrm>
          <a:prstGeom prst="rect">
            <a:avLst/>
          </a:prstGeom>
          <a:noFill/>
        </p:spPr>
        <p:txBody>
          <a:bodyPr wrap="square" lIns="0" tIns="0" rIns="0" bIns="0" rtlCol="0" anchor="ctr"/>
          <a:lstStyle/>
          <a:p>
            <a:pPr>
              <a:lnSpc>
                <a:spcPct val="110000"/>
              </a:lnSpc>
            </a:pPr>
            <a:r>
              <a:rPr lang="en-US" sz="1800" b="1" dirty="0">
                <a:latin typeface="微软雅黑" panose="020B0503020204020204" pitchFamily="34" charset="-122"/>
                <a:ea typeface="微软雅黑" panose="020B0503020204020204" pitchFamily="34" charset="-122"/>
                <a:cs typeface="微软雅黑" panose="020B0503020204020204" pitchFamily="34" charset="-122"/>
              </a:rPr>
              <a:t>4</a:t>
            </a:r>
            <a:endParaRPr lang="en-US" sz="1600" dirty="0"/>
          </a:p>
        </p:txBody>
      </p:sp>
      <p:sp>
        <p:nvSpPr>
          <p:cNvPr id="27" name="Text 25"/>
          <p:cNvSpPr/>
          <p:nvPr/>
        </p:nvSpPr>
        <p:spPr>
          <a:xfrm>
            <a:off x="7124700" y="4612481"/>
            <a:ext cx="4572000" cy="304800"/>
          </a:xfrm>
          <a:prstGeom prst="rect">
            <a:avLst/>
          </a:prstGeom>
          <a:noFill/>
        </p:spPr>
        <p:txBody>
          <a:bodyPr wrap="square" lIns="0" tIns="0" rIns="0" bIns="0" rtlCol="0" anchor="ctr"/>
          <a:lstStyle/>
          <a:p>
            <a:pPr>
              <a:lnSpc>
                <a:spcPct val="110000"/>
              </a:lnSpc>
            </a:pPr>
            <a:r>
              <a:rPr lang="en-US" sz="1800" b="1" dirty="0">
                <a:latin typeface="微软雅黑" panose="020B0503020204020204" pitchFamily="34" charset="-122"/>
                <a:ea typeface="微软雅黑" panose="020B0503020204020204" pitchFamily="34" charset="-122"/>
                <a:cs typeface="微软雅黑" panose="020B0503020204020204" pitchFamily="34" charset="-122"/>
              </a:rPr>
              <a:t>高效性</a:t>
            </a:r>
            <a:endParaRPr lang="en-US" sz="1600" dirty="0"/>
          </a:p>
        </p:txBody>
      </p:sp>
      <p:sp>
        <p:nvSpPr>
          <p:cNvPr id="28" name="Text 26"/>
          <p:cNvSpPr/>
          <p:nvPr/>
        </p:nvSpPr>
        <p:spPr>
          <a:xfrm>
            <a:off x="7124700" y="4955381"/>
            <a:ext cx="4543425" cy="1114425"/>
          </a:xfrm>
          <a:prstGeom prst="rect">
            <a:avLst/>
          </a:prstGeom>
          <a:noFill/>
        </p:spPr>
        <p:txBody>
          <a:bodyPr wrap="square" lIns="0" tIns="0" rIns="0" bIns="0" rtlCol="0" anchor="ctr"/>
          <a:lstStyle/>
          <a:p>
            <a:pPr>
              <a:lnSpc>
                <a:spcPct val="140000"/>
              </a:lnSpc>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通过合理的优化策略和启发式方法，在保证路径质量的同时，能够实现较高的计算效率</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000" dirty="0"/>
          </a:p>
        </p:txBody>
      </p:sp>
      <p:grpSp>
        <p:nvGrpSpPr>
          <p:cNvPr id="29" name="组合 28">
            <a:extLst>
              <a:ext uri="{FF2B5EF4-FFF2-40B4-BE49-F238E27FC236}">
                <a16:creationId xmlns:a16="http://schemas.microsoft.com/office/drawing/2014/main" id="{B6212B10-539F-68B2-28EE-C1C5EBE196EB}"/>
              </a:ext>
            </a:extLst>
          </p:cNvPr>
          <p:cNvGrpSpPr/>
          <p:nvPr/>
        </p:nvGrpSpPr>
        <p:grpSpPr>
          <a:xfrm>
            <a:off x="0" y="939798"/>
            <a:ext cx="5022850" cy="625474"/>
            <a:chOff x="0" y="1075267"/>
            <a:chExt cx="5022850" cy="625474"/>
          </a:xfrm>
        </p:grpSpPr>
        <p:sp>
          <p:nvSpPr>
            <p:cNvPr id="30" name="矩形 29">
              <a:extLst>
                <a:ext uri="{FF2B5EF4-FFF2-40B4-BE49-F238E27FC236}">
                  <a16:creationId xmlns:a16="http://schemas.microsoft.com/office/drawing/2014/main" id="{70E94061-9449-AB0F-566F-397C4B880A8A}"/>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5EE46E4D-767A-C65E-F0EF-337A3C36BE9A}"/>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7.3.4 TEB</a:t>
              </a:r>
              <a:r>
                <a:rPr lang="zh-CN" altLang="en-US" sz="2400" b="1" dirty="0">
                  <a:solidFill>
                    <a:schemeClr val="accent1"/>
                  </a:solidFill>
                  <a:latin typeface="+mj-lt"/>
                </a:rPr>
                <a:t>算法</a:t>
              </a:r>
            </a:p>
          </p:txBody>
        </p:sp>
      </p:grpSp>
    </p:spTree>
    <p:extLst>
      <p:ext uri="{BB962C8B-B14F-4D97-AF65-F5344CB8AC3E}">
        <p14:creationId xmlns:p14="http://schemas.microsoft.com/office/powerpoint/2010/main" val="150182955"/>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33375" y="1777134"/>
            <a:ext cx="8239125" cy="1801813"/>
          </a:xfrm>
          <a:custGeom>
            <a:avLst/>
            <a:gdLst/>
            <a:ahLst/>
            <a:cxnLst/>
            <a:rect l="l" t="t" r="r" b="b"/>
            <a:pathLst>
              <a:path w="8239125" h="1801813">
                <a:moveTo>
                  <a:pt x="31750" y="0"/>
                </a:moveTo>
                <a:lnTo>
                  <a:pt x="8143881" y="0"/>
                </a:lnTo>
                <a:cubicBezTo>
                  <a:pt x="8196483" y="0"/>
                  <a:pt x="8239125" y="42642"/>
                  <a:pt x="8239125" y="95244"/>
                </a:cubicBezTo>
                <a:lnTo>
                  <a:pt x="8239125" y="1706569"/>
                </a:lnTo>
                <a:cubicBezTo>
                  <a:pt x="8239125" y="1759170"/>
                  <a:pt x="8196483" y="1801813"/>
                  <a:pt x="8143881" y="1801813"/>
                </a:cubicBezTo>
                <a:lnTo>
                  <a:pt x="31750" y="1801813"/>
                </a:lnTo>
                <a:cubicBezTo>
                  <a:pt x="14215" y="1801813"/>
                  <a:pt x="0" y="1787598"/>
                  <a:pt x="0" y="1770063"/>
                </a:cubicBezTo>
                <a:lnTo>
                  <a:pt x="0" y="31750"/>
                </a:lnTo>
                <a:cubicBezTo>
                  <a:pt x="0" y="14227"/>
                  <a:pt x="14227" y="0"/>
                  <a:pt x="31750" y="0"/>
                </a:cubicBezTo>
                <a:close/>
              </a:path>
            </a:pathLst>
          </a:custGeom>
          <a:solidFill>
            <a:srgbClr val="5F87A7">
              <a:alpha val="10196"/>
            </a:srgbClr>
          </a:solidFill>
        </p:spPr>
      </p:sp>
      <p:sp>
        <p:nvSpPr>
          <p:cNvPr id="6" name="Shape 4"/>
          <p:cNvSpPr/>
          <p:nvPr/>
        </p:nvSpPr>
        <p:spPr>
          <a:xfrm>
            <a:off x="333375" y="1777134"/>
            <a:ext cx="31750" cy="1801813"/>
          </a:xfrm>
          <a:custGeom>
            <a:avLst/>
            <a:gdLst/>
            <a:ahLst/>
            <a:cxnLst/>
            <a:rect l="l" t="t" r="r" b="b"/>
            <a:pathLst>
              <a:path w="31750" h="1801813">
                <a:moveTo>
                  <a:pt x="31750" y="0"/>
                </a:moveTo>
                <a:lnTo>
                  <a:pt x="31750" y="0"/>
                </a:lnTo>
                <a:lnTo>
                  <a:pt x="31750" y="1801813"/>
                </a:lnTo>
                <a:lnTo>
                  <a:pt x="31750" y="1801813"/>
                </a:lnTo>
                <a:cubicBezTo>
                  <a:pt x="14227" y="1801813"/>
                  <a:pt x="0" y="1787586"/>
                  <a:pt x="0" y="1770063"/>
                </a:cubicBezTo>
                <a:lnTo>
                  <a:pt x="0" y="31750"/>
                </a:lnTo>
                <a:cubicBezTo>
                  <a:pt x="0" y="14227"/>
                  <a:pt x="14227" y="0"/>
                  <a:pt x="31750" y="0"/>
                </a:cubicBezTo>
                <a:close/>
              </a:path>
            </a:pathLst>
          </a:custGeom>
          <a:solidFill>
            <a:srgbClr val="E6B450"/>
          </a:solidFill>
        </p:spPr>
      </p:sp>
      <p:sp>
        <p:nvSpPr>
          <p:cNvPr id="7" name="Shape 5"/>
          <p:cNvSpPr/>
          <p:nvPr/>
        </p:nvSpPr>
        <p:spPr>
          <a:xfrm>
            <a:off x="563563" y="1999384"/>
            <a:ext cx="190500" cy="190500"/>
          </a:xfrm>
          <a:custGeom>
            <a:avLst/>
            <a:gdLst/>
            <a:ahLst/>
            <a:cxnLst/>
            <a:rect l="l" t="t" r="r" b="b"/>
            <a:pathLst>
              <a:path w="190500" h="190500">
                <a:moveTo>
                  <a:pt x="11906" y="23812"/>
                </a:moveTo>
                <a:cubicBezTo>
                  <a:pt x="5321" y="23812"/>
                  <a:pt x="0" y="29133"/>
                  <a:pt x="0" y="35719"/>
                </a:cubicBezTo>
                <a:cubicBezTo>
                  <a:pt x="0" y="42304"/>
                  <a:pt x="5321" y="47625"/>
                  <a:pt x="11906" y="47625"/>
                </a:cubicBezTo>
                <a:lnTo>
                  <a:pt x="44165" y="47625"/>
                </a:lnTo>
                <a:cubicBezTo>
                  <a:pt x="48741" y="58155"/>
                  <a:pt x="59234" y="65484"/>
                  <a:pt x="71438" y="65484"/>
                </a:cubicBezTo>
                <a:cubicBezTo>
                  <a:pt x="83641" y="65484"/>
                  <a:pt x="94134" y="58155"/>
                  <a:pt x="98710" y="47625"/>
                </a:cubicBezTo>
                <a:lnTo>
                  <a:pt x="178594" y="47625"/>
                </a:lnTo>
                <a:cubicBezTo>
                  <a:pt x="185179" y="47625"/>
                  <a:pt x="190500" y="42304"/>
                  <a:pt x="190500" y="35719"/>
                </a:cubicBezTo>
                <a:cubicBezTo>
                  <a:pt x="190500" y="29133"/>
                  <a:pt x="185179" y="23812"/>
                  <a:pt x="178594" y="23812"/>
                </a:cubicBezTo>
                <a:lnTo>
                  <a:pt x="98710" y="23812"/>
                </a:lnTo>
                <a:cubicBezTo>
                  <a:pt x="94134" y="13283"/>
                  <a:pt x="83641" y="5953"/>
                  <a:pt x="71438" y="5953"/>
                </a:cubicBezTo>
                <a:cubicBezTo>
                  <a:pt x="59234" y="5953"/>
                  <a:pt x="48741" y="13283"/>
                  <a:pt x="44165" y="23812"/>
                </a:cubicBezTo>
                <a:lnTo>
                  <a:pt x="11906" y="23812"/>
                </a:lnTo>
                <a:close/>
                <a:moveTo>
                  <a:pt x="11906" y="83344"/>
                </a:moveTo>
                <a:cubicBezTo>
                  <a:pt x="5321" y="83344"/>
                  <a:pt x="0" y="88664"/>
                  <a:pt x="0" y="95250"/>
                </a:cubicBezTo>
                <a:cubicBezTo>
                  <a:pt x="0" y="101836"/>
                  <a:pt x="5321" y="107156"/>
                  <a:pt x="11906" y="107156"/>
                </a:cubicBezTo>
                <a:lnTo>
                  <a:pt x="103696" y="107156"/>
                </a:lnTo>
                <a:cubicBezTo>
                  <a:pt x="108272" y="117686"/>
                  <a:pt x="118765" y="125016"/>
                  <a:pt x="130969" y="125016"/>
                </a:cubicBezTo>
                <a:cubicBezTo>
                  <a:pt x="143173" y="125016"/>
                  <a:pt x="153665" y="117686"/>
                  <a:pt x="158242" y="107156"/>
                </a:cubicBezTo>
                <a:lnTo>
                  <a:pt x="178594" y="107156"/>
                </a:lnTo>
                <a:cubicBezTo>
                  <a:pt x="185179" y="107156"/>
                  <a:pt x="190500" y="101836"/>
                  <a:pt x="190500" y="95250"/>
                </a:cubicBezTo>
                <a:cubicBezTo>
                  <a:pt x="190500" y="88664"/>
                  <a:pt x="185179" y="83344"/>
                  <a:pt x="178594" y="83344"/>
                </a:cubicBezTo>
                <a:lnTo>
                  <a:pt x="158242" y="83344"/>
                </a:lnTo>
                <a:cubicBezTo>
                  <a:pt x="153665" y="72814"/>
                  <a:pt x="143173" y="65484"/>
                  <a:pt x="130969" y="65484"/>
                </a:cubicBezTo>
                <a:cubicBezTo>
                  <a:pt x="118765" y="65484"/>
                  <a:pt x="108272" y="72814"/>
                  <a:pt x="103696" y="83344"/>
                </a:cubicBezTo>
                <a:lnTo>
                  <a:pt x="11906" y="83344"/>
                </a:lnTo>
                <a:close/>
                <a:moveTo>
                  <a:pt x="11906" y="142875"/>
                </a:moveTo>
                <a:cubicBezTo>
                  <a:pt x="5321" y="142875"/>
                  <a:pt x="0" y="148196"/>
                  <a:pt x="0" y="154781"/>
                </a:cubicBezTo>
                <a:cubicBezTo>
                  <a:pt x="0" y="161367"/>
                  <a:pt x="5321" y="166688"/>
                  <a:pt x="11906" y="166688"/>
                </a:cubicBezTo>
                <a:lnTo>
                  <a:pt x="32258" y="166688"/>
                </a:lnTo>
                <a:cubicBezTo>
                  <a:pt x="36835" y="177217"/>
                  <a:pt x="47327" y="184547"/>
                  <a:pt x="59531" y="184547"/>
                </a:cubicBezTo>
                <a:cubicBezTo>
                  <a:pt x="71735" y="184547"/>
                  <a:pt x="82228" y="177217"/>
                  <a:pt x="86804" y="166688"/>
                </a:cubicBezTo>
                <a:lnTo>
                  <a:pt x="178594" y="166688"/>
                </a:lnTo>
                <a:cubicBezTo>
                  <a:pt x="185179" y="166688"/>
                  <a:pt x="190500" y="161367"/>
                  <a:pt x="190500" y="154781"/>
                </a:cubicBezTo>
                <a:cubicBezTo>
                  <a:pt x="190500" y="148196"/>
                  <a:pt x="185179" y="142875"/>
                  <a:pt x="178594" y="142875"/>
                </a:cubicBezTo>
                <a:lnTo>
                  <a:pt x="86804" y="142875"/>
                </a:lnTo>
                <a:cubicBezTo>
                  <a:pt x="82228" y="132345"/>
                  <a:pt x="71735" y="125016"/>
                  <a:pt x="59531" y="125016"/>
                </a:cubicBezTo>
                <a:cubicBezTo>
                  <a:pt x="47327" y="125016"/>
                  <a:pt x="36835" y="132345"/>
                  <a:pt x="32258" y="142875"/>
                </a:cubicBezTo>
                <a:lnTo>
                  <a:pt x="11906" y="142875"/>
                </a:lnTo>
                <a:close/>
              </a:path>
            </a:pathLst>
          </a:custGeom>
          <a:solidFill>
            <a:srgbClr val="E6B450"/>
          </a:solidFill>
        </p:spPr>
      </p:sp>
      <p:sp>
        <p:nvSpPr>
          <p:cNvPr id="8" name="Text 6"/>
          <p:cNvSpPr/>
          <p:nvPr/>
        </p:nvSpPr>
        <p:spPr>
          <a:xfrm>
            <a:off x="904875" y="1967634"/>
            <a:ext cx="2111375"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TEB算法参数</a:t>
            </a:r>
            <a:endParaRPr lang="en-US" sz="2000" dirty="0"/>
          </a:p>
        </p:txBody>
      </p:sp>
      <p:sp>
        <p:nvSpPr>
          <p:cNvPr id="9" name="Text 7"/>
          <p:cNvSpPr/>
          <p:nvPr/>
        </p:nvSpPr>
        <p:spPr>
          <a:xfrm>
            <a:off x="904875" y="2316884"/>
            <a:ext cx="3245485" cy="23018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TEB算法的参数/决定因素为：</a:t>
            </a:r>
            <a:endParaRPr lang="en-US" sz="2400" dirty="0"/>
          </a:p>
        </p:txBody>
      </p:sp>
      <p:sp>
        <p:nvSpPr>
          <p:cNvPr id="10" name="Shape 8"/>
          <p:cNvSpPr/>
          <p:nvPr/>
        </p:nvSpPr>
        <p:spPr>
          <a:xfrm>
            <a:off x="908844" y="2648275"/>
            <a:ext cx="3708876" cy="738188"/>
          </a:xfrm>
          <a:custGeom>
            <a:avLst/>
            <a:gdLst/>
            <a:ahLst/>
            <a:cxnLst/>
            <a:rect l="l" t="t" r="r" b="b"/>
            <a:pathLst>
              <a:path w="2008187" h="738188">
                <a:moveTo>
                  <a:pt x="63499" y="0"/>
                </a:moveTo>
                <a:lnTo>
                  <a:pt x="1944689" y="0"/>
                </a:lnTo>
                <a:cubicBezTo>
                  <a:pt x="1979758" y="0"/>
                  <a:pt x="2008187" y="28429"/>
                  <a:pt x="2008187" y="63499"/>
                </a:cubicBezTo>
                <a:lnTo>
                  <a:pt x="2008187" y="674689"/>
                </a:lnTo>
                <a:cubicBezTo>
                  <a:pt x="2008187" y="709758"/>
                  <a:pt x="1979758" y="738188"/>
                  <a:pt x="1944689" y="738188"/>
                </a:cubicBezTo>
                <a:lnTo>
                  <a:pt x="63499" y="738188"/>
                </a:lnTo>
                <a:cubicBezTo>
                  <a:pt x="28429" y="738188"/>
                  <a:pt x="0" y="709758"/>
                  <a:pt x="0" y="674689"/>
                </a:cubicBezTo>
                <a:lnTo>
                  <a:pt x="0" y="63499"/>
                </a:lnTo>
                <a:cubicBezTo>
                  <a:pt x="0" y="28453"/>
                  <a:pt x="28453" y="0"/>
                  <a:pt x="63499" y="0"/>
                </a:cubicBezTo>
                <a:close/>
              </a:path>
            </a:pathLst>
          </a:custGeom>
          <a:solidFill>
            <a:srgbClr val="E6B450">
              <a:alpha val="10196"/>
            </a:srgbClr>
          </a:solidFill>
          <a:ln w="12700">
            <a:solidFill>
              <a:srgbClr val="E6B450">
                <a:alpha val="30196"/>
              </a:srgbClr>
            </a:solidFill>
            <a:prstDash val="solid"/>
          </a:ln>
        </p:spPr>
      </p:sp>
      <p:sp>
        <p:nvSpPr>
          <p:cNvPr id="13" name="Shape 11"/>
          <p:cNvSpPr/>
          <p:nvPr/>
        </p:nvSpPr>
        <p:spPr>
          <a:xfrm>
            <a:off x="333375" y="3771431"/>
            <a:ext cx="8239125" cy="2135188"/>
          </a:xfrm>
          <a:custGeom>
            <a:avLst/>
            <a:gdLst/>
            <a:ahLst/>
            <a:cxnLst/>
            <a:rect l="l" t="t" r="r" b="b"/>
            <a:pathLst>
              <a:path w="8239125" h="2135188">
                <a:moveTo>
                  <a:pt x="31750" y="0"/>
                </a:moveTo>
                <a:lnTo>
                  <a:pt x="8143874" y="0"/>
                </a:lnTo>
                <a:cubicBezTo>
                  <a:pt x="8196480" y="0"/>
                  <a:pt x="8239125" y="42645"/>
                  <a:pt x="8239125" y="95251"/>
                </a:cubicBezTo>
                <a:lnTo>
                  <a:pt x="8239125" y="2039937"/>
                </a:lnTo>
                <a:cubicBezTo>
                  <a:pt x="8239125" y="2092542"/>
                  <a:pt x="8196480" y="2135188"/>
                  <a:pt x="8143874" y="2135188"/>
                </a:cubicBezTo>
                <a:lnTo>
                  <a:pt x="31750" y="2135188"/>
                </a:lnTo>
                <a:cubicBezTo>
                  <a:pt x="14227" y="2135188"/>
                  <a:pt x="0" y="2120961"/>
                  <a:pt x="0" y="2103438"/>
                </a:cubicBezTo>
                <a:lnTo>
                  <a:pt x="0" y="31750"/>
                </a:lnTo>
                <a:cubicBezTo>
                  <a:pt x="0" y="14227"/>
                  <a:pt x="14227" y="0"/>
                  <a:pt x="31750" y="0"/>
                </a:cubicBezTo>
                <a:close/>
              </a:path>
            </a:pathLst>
          </a:custGeom>
          <a:solidFill>
            <a:srgbClr val="5F87A7">
              <a:alpha val="10196"/>
            </a:srgbClr>
          </a:solidFill>
        </p:spPr>
      </p:sp>
      <p:sp>
        <p:nvSpPr>
          <p:cNvPr id="14" name="Shape 12"/>
          <p:cNvSpPr/>
          <p:nvPr/>
        </p:nvSpPr>
        <p:spPr>
          <a:xfrm>
            <a:off x="333375" y="3771431"/>
            <a:ext cx="31750" cy="2135188"/>
          </a:xfrm>
          <a:custGeom>
            <a:avLst/>
            <a:gdLst/>
            <a:ahLst/>
            <a:cxnLst/>
            <a:rect l="l" t="t" r="r" b="b"/>
            <a:pathLst>
              <a:path w="31750" h="2135188">
                <a:moveTo>
                  <a:pt x="31750" y="0"/>
                </a:moveTo>
                <a:lnTo>
                  <a:pt x="31750" y="0"/>
                </a:lnTo>
                <a:lnTo>
                  <a:pt x="31750" y="2135188"/>
                </a:lnTo>
                <a:lnTo>
                  <a:pt x="31750" y="2135188"/>
                </a:lnTo>
                <a:cubicBezTo>
                  <a:pt x="14227" y="2135188"/>
                  <a:pt x="0" y="2120961"/>
                  <a:pt x="0" y="2103438"/>
                </a:cubicBezTo>
                <a:lnTo>
                  <a:pt x="0" y="31750"/>
                </a:lnTo>
                <a:cubicBezTo>
                  <a:pt x="0" y="14227"/>
                  <a:pt x="14227" y="0"/>
                  <a:pt x="31750" y="0"/>
                </a:cubicBezTo>
                <a:close/>
              </a:path>
            </a:pathLst>
          </a:custGeom>
          <a:solidFill>
            <a:srgbClr val="E6B450"/>
          </a:solidFill>
        </p:spPr>
      </p:sp>
      <p:sp>
        <p:nvSpPr>
          <p:cNvPr id="15" name="Shape 13"/>
          <p:cNvSpPr/>
          <p:nvPr/>
        </p:nvSpPr>
        <p:spPr>
          <a:xfrm>
            <a:off x="563563" y="3993681"/>
            <a:ext cx="190500" cy="190500"/>
          </a:xfrm>
          <a:custGeom>
            <a:avLst/>
            <a:gdLst/>
            <a:ahLst/>
            <a:cxnLst/>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a:srgbClr val="E6B450"/>
          </a:solidFill>
        </p:spPr>
      </p:sp>
      <p:sp>
        <p:nvSpPr>
          <p:cNvPr id="16" name="Text 14"/>
          <p:cNvSpPr/>
          <p:nvPr/>
        </p:nvSpPr>
        <p:spPr>
          <a:xfrm>
            <a:off x="904875" y="3961931"/>
            <a:ext cx="6421438"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安全限制条件</a:t>
            </a:r>
            <a:endParaRPr lang="en-US" sz="2000" dirty="0"/>
          </a:p>
        </p:txBody>
      </p:sp>
      <p:sp>
        <p:nvSpPr>
          <p:cNvPr id="17" name="Text 15"/>
          <p:cNvSpPr/>
          <p:nvPr/>
        </p:nvSpPr>
        <p:spPr>
          <a:xfrm>
            <a:off x="904875" y="4311181"/>
            <a:ext cx="6397625" cy="23018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TEB算法的安全限制条件为：</a:t>
            </a:r>
            <a:endParaRPr lang="en-US" sz="2400" dirty="0"/>
          </a:p>
        </p:txBody>
      </p:sp>
      <p:sp>
        <p:nvSpPr>
          <p:cNvPr id="18" name="Shape 16"/>
          <p:cNvSpPr/>
          <p:nvPr/>
        </p:nvSpPr>
        <p:spPr>
          <a:xfrm>
            <a:off x="908844" y="4642572"/>
            <a:ext cx="6318250" cy="1073518"/>
          </a:xfrm>
          <a:custGeom>
            <a:avLst/>
            <a:gdLst/>
            <a:ahLst/>
            <a:cxnLst/>
            <a:rect l="l" t="t" r="r" b="b"/>
            <a:pathLst>
              <a:path w="6318250" h="738188">
                <a:moveTo>
                  <a:pt x="63499" y="0"/>
                </a:moveTo>
                <a:lnTo>
                  <a:pt x="6254751" y="0"/>
                </a:lnTo>
                <a:cubicBezTo>
                  <a:pt x="6289821" y="0"/>
                  <a:pt x="6318250" y="28429"/>
                  <a:pt x="6318250" y="63499"/>
                </a:cubicBezTo>
                <a:lnTo>
                  <a:pt x="6318250" y="674689"/>
                </a:lnTo>
                <a:cubicBezTo>
                  <a:pt x="6318250" y="709758"/>
                  <a:pt x="6289821" y="738188"/>
                  <a:pt x="6254751" y="738188"/>
                </a:cubicBezTo>
                <a:lnTo>
                  <a:pt x="63499" y="738188"/>
                </a:lnTo>
                <a:cubicBezTo>
                  <a:pt x="28429" y="738188"/>
                  <a:pt x="0" y="709758"/>
                  <a:pt x="0" y="674689"/>
                </a:cubicBezTo>
                <a:lnTo>
                  <a:pt x="0" y="63499"/>
                </a:lnTo>
                <a:cubicBezTo>
                  <a:pt x="0" y="28453"/>
                  <a:pt x="28453" y="0"/>
                  <a:pt x="63499" y="0"/>
                </a:cubicBezTo>
                <a:close/>
              </a:path>
            </a:pathLst>
          </a:custGeom>
          <a:solidFill>
            <a:srgbClr val="E6B450">
              <a:alpha val="10196"/>
            </a:srgbClr>
          </a:solidFill>
          <a:ln w="12700">
            <a:solidFill>
              <a:srgbClr val="E6B450">
                <a:alpha val="30196"/>
              </a:srgbClr>
            </a:solidFill>
            <a:prstDash val="solid"/>
          </a:ln>
        </p:spPr>
      </p:sp>
      <p:sp>
        <p:nvSpPr>
          <p:cNvPr id="22" name="Shape 20"/>
          <p:cNvSpPr/>
          <p:nvPr/>
        </p:nvSpPr>
        <p:spPr>
          <a:xfrm>
            <a:off x="8922177" y="1777133"/>
            <a:ext cx="3142823" cy="4129485"/>
          </a:xfrm>
          <a:custGeom>
            <a:avLst/>
            <a:gdLst/>
            <a:ahLst/>
            <a:cxnLst/>
            <a:rect l="l" t="t" r="r" b="b"/>
            <a:pathLst>
              <a:path w="8247062" h="1436688">
                <a:moveTo>
                  <a:pt x="95252" y="0"/>
                </a:moveTo>
                <a:lnTo>
                  <a:pt x="8151810" y="0"/>
                </a:lnTo>
                <a:cubicBezTo>
                  <a:pt x="8204417" y="0"/>
                  <a:pt x="8247062" y="42646"/>
                  <a:pt x="8247062" y="95252"/>
                </a:cubicBezTo>
                <a:lnTo>
                  <a:pt x="8247062" y="1341435"/>
                </a:lnTo>
                <a:cubicBezTo>
                  <a:pt x="8247062" y="1394042"/>
                  <a:pt x="8204417" y="1436688"/>
                  <a:pt x="8151810" y="1436688"/>
                </a:cubicBezTo>
                <a:lnTo>
                  <a:pt x="95252" y="1436688"/>
                </a:lnTo>
                <a:cubicBezTo>
                  <a:pt x="42646" y="1436688"/>
                  <a:pt x="0" y="1394042"/>
                  <a:pt x="0" y="1341435"/>
                </a:cubicBezTo>
                <a:lnTo>
                  <a:pt x="0" y="95252"/>
                </a:lnTo>
                <a:cubicBezTo>
                  <a:pt x="0" y="42681"/>
                  <a:pt x="42681" y="0"/>
                  <a:pt x="95252" y="0"/>
                </a:cubicBezTo>
                <a:close/>
              </a:path>
            </a:pathLst>
          </a:custGeom>
          <a:solidFill>
            <a:srgbClr val="E6B450">
              <a:alpha val="10196"/>
            </a:srgbClr>
          </a:solidFill>
          <a:ln w="12700">
            <a:solidFill>
              <a:srgbClr val="E6B450">
                <a:alpha val="30196"/>
              </a:srgbClr>
            </a:solidFill>
            <a:prstDash val="solid"/>
          </a:ln>
        </p:spPr>
      </p:sp>
      <p:sp>
        <p:nvSpPr>
          <p:cNvPr id="23" name="Shape 21"/>
          <p:cNvSpPr/>
          <p:nvPr/>
        </p:nvSpPr>
        <p:spPr>
          <a:xfrm>
            <a:off x="9088864" y="2003353"/>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E6B450"/>
          </a:solidFill>
        </p:spPr>
      </p:sp>
      <p:sp>
        <p:nvSpPr>
          <p:cNvPr id="24" name="Text 22"/>
          <p:cNvSpPr/>
          <p:nvPr/>
        </p:nvSpPr>
        <p:spPr>
          <a:xfrm>
            <a:off x="9968345" y="1971603"/>
            <a:ext cx="2534872" cy="250032"/>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代价函数作用</a:t>
            </a:r>
            <a:endParaRPr lang="en-US" sz="2000" dirty="0"/>
          </a:p>
        </p:txBody>
      </p:sp>
      <p:sp>
        <p:nvSpPr>
          <p:cNvPr id="25" name="Text 23"/>
          <p:cNvSpPr/>
          <p:nvPr/>
        </p:nvSpPr>
        <p:spPr>
          <a:xfrm>
            <a:off x="9234977" y="2320852"/>
            <a:ext cx="2676371" cy="3585766"/>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所以这个代价函数的目的就是计算每一个点和障碍物的距离，如果距离小于dmin这个代价函数就会对整体代价引入新误差，这样计算梯度的时候就会把当前点往</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远离障碍物</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的方向踢，但会出现一个问题，就是当路径点被障碍物包围的时候，优化就会很大概率会失败。</a:t>
            </a:r>
            <a:endParaRPr lang="en-US" sz="1600" dirty="0"/>
          </a:p>
        </p:txBody>
      </p:sp>
      <p:grpSp>
        <p:nvGrpSpPr>
          <p:cNvPr id="45" name="组合 44">
            <a:extLst>
              <a:ext uri="{FF2B5EF4-FFF2-40B4-BE49-F238E27FC236}">
                <a16:creationId xmlns:a16="http://schemas.microsoft.com/office/drawing/2014/main" id="{35D1B1CC-9BDE-F376-1113-D16B1EF15E32}"/>
              </a:ext>
            </a:extLst>
          </p:cNvPr>
          <p:cNvGrpSpPr/>
          <p:nvPr/>
        </p:nvGrpSpPr>
        <p:grpSpPr>
          <a:xfrm>
            <a:off x="0" y="939798"/>
            <a:ext cx="5022850" cy="625474"/>
            <a:chOff x="0" y="1075267"/>
            <a:chExt cx="5022850" cy="625474"/>
          </a:xfrm>
        </p:grpSpPr>
        <p:sp>
          <p:nvSpPr>
            <p:cNvPr id="46" name="矩形 45">
              <a:extLst>
                <a:ext uri="{FF2B5EF4-FFF2-40B4-BE49-F238E27FC236}">
                  <a16:creationId xmlns:a16="http://schemas.microsoft.com/office/drawing/2014/main" id="{BD22704F-8A31-A5AE-DC93-F1B74C4227DD}"/>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E3B81FDB-C820-E0DA-7675-CEE6A365C3C8}"/>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7.3.4 TEB</a:t>
              </a:r>
              <a:r>
                <a:rPr lang="zh-CN" altLang="en-US" sz="2400" b="1" dirty="0">
                  <a:solidFill>
                    <a:schemeClr val="accent1"/>
                  </a:solidFill>
                  <a:latin typeface="+mj-lt"/>
                </a:rPr>
                <a:t>算法</a:t>
              </a:r>
            </a:p>
          </p:txBody>
        </p:sp>
      </p:grpSp>
      <p:graphicFrame>
        <p:nvGraphicFramePr>
          <p:cNvPr id="3" name="对象 2">
            <a:extLst>
              <a:ext uri="{FF2B5EF4-FFF2-40B4-BE49-F238E27FC236}">
                <a16:creationId xmlns:a16="http://schemas.microsoft.com/office/drawing/2014/main" id="{D7048AA0-384D-0E24-AD41-3E0D30B882CC}"/>
              </a:ext>
            </a:extLst>
          </p:cNvPr>
          <p:cNvGraphicFramePr>
            <a:graphicFrameLocks noChangeAspect="1"/>
          </p:cNvGraphicFramePr>
          <p:nvPr>
            <p:extLst>
              <p:ext uri="{D42A27DB-BD31-4B8C-83A1-F6EECF244321}">
                <p14:modId xmlns:p14="http://schemas.microsoft.com/office/powerpoint/2010/main" val="399711641"/>
              </p:ext>
            </p:extLst>
          </p:nvPr>
        </p:nvGraphicFramePr>
        <p:xfrm>
          <a:off x="1571321" y="2735007"/>
          <a:ext cx="2300100" cy="462912"/>
        </p:xfrm>
        <a:graphic>
          <a:graphicData uri="http://schemas.openxmlformats.org/presentationml/2006/ole">
            <mc:AlternateContent xmlns:mc="http://schemas.openxmlformats.org/markup-compatibility/2006">
              <mc:Choice xmlns:v="urn:schemas-microsoft-com:vml" Requires="v">
                <p:oleObj name="Equation" r:id="rId3" imgW="1002865" imgH="203112" progId="Equation.DSMT4">
                  <p:embed/>
                </p:oleObj>
              </mc:Choice>
              <mc:Fallback>
                <p:oleObj name="Equation" r:id="rId3" imgW="1002865" imgH="203112" progId="Equation.DSMT4">
                  <p:embed/>
                  <p:pic>
                    <p:nvPicPr>
                      <p:cNvPr id="3" name="对象 2">
                        <a:extLst>
                          <a:ext uri="{FF2B5EF4-FFF2-40B4-BE49-F238E27FC236}">
                            <a16:creationId xmlns:a16="http://schemas.microsoft.com/office/drawing/2014/main" id="{D7048AA0-384D-0E24-AD41-3E0D30B882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321" y="2735007"/>
                        <a:ext cx="2300100" cy="462912"/>
                      </a:xfrm>
                      <a:prstGeom prst="rect">
                        <a:avLst/>
                      </a:prstGeom>
                      <a:noFill/>
                    </p:spPr>
                  </p:pic>
                </p:oleObj>
              </mc:Fallback>
            </mc:AlternateContent>
          </a:graphicData>
        </a:graphic>
      </p:graphicFrame>
      <p:graphicFrame>
        <p:nvGraphicFramePr>
          <p:cNvPr id="48" name="对象 47">
            <a:extLst>
              <a:ext uri="{FF2B5EF4-FFF2-40B4-BE49-F238E27FC236}">
                <a16:creationId xmlns:a16="http://schemas.microsoft.com/office/drawing/2014/main" id="{C37A53E6-001A-F570-BCB5-31AF3A8FBA7C}"/>
              </a:ext>
            </a:extLst>
          </p:cNvPr>
          <p:cNvGraphicFramePr>
            <a:graphicFrameLocks noChangeAspect="1"/>
          </p:cNvGraphicFramePr>
          <p:nvPr>
            <p:extLst>
              <p:ext uri="{D42A27DB-BD31-4B8C-83A1-F6EECF244321}">
                <p14:modId xmlns:p14="http://schemas.microsoft.com/office/powerpoint/2010/main" val="445965759"/>
              </p:ext>
            </p:extLst>
          </p:nvPr>
        </p:nvGraphicFramePr>
        <p:xfrm>
          <a:off x="1756409" y="4799735"/>
          <a:ext cx="4753274" cy="832138"/>
        </p:xfrm>
        <a:graphic>
          <a:graphicData uri="http://schemas.openxmlformats.org/presentationml/2006/ole">
            <mc:AlternateContent xmlns:mc="http://schemas.openxmlformats.org/markup-compatibility/2006">
              <mc:Choice xmlns:v="urn:schemas-microsoft-com:vml" Requires="v">
                <p:oleObj name="Equation" r:id="rId5" imgW="2387600" imgH="419100" progId="Equation.DSMT4">
                  <p:embed/>
                </p:oleObj>
              </mc:Choice>
              <mc:Fallback>
                <p:oleObj name="Equation" r:id="rId5" imgW="2387600" imgH="419100" progId="Equation.DSMT4">
                  <p:embed/>
                  <p:pic>
                    <p:nvPicPr>
                      <p:cNvPr id="48" name="对象 47">
                        <a:extLst>
                          <a:ext uri="{FF2B5EF4-FFF2-40B4-BE49-F238E27FC236}">
                            <a16:creationId xmlns:a16="http://schemas.microsoft.com/office/drawing/2014/main" id="{C37A53E6-001A-F570-BCB5-31AF3A8FBA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6409" y="4799735"/>
                        <a:ext cx="4753274" cy="832138"/>
                      </a:xfrm>
                      <a:prstGeom prst="rect">
                        <a:avLst/>
                      </a:prstGeom>
                      <a:noFill/>
                    </p:spPr>
                  </p:pic>
                </p:oleObj>
              </mc:Fallback>
            </mc:AlternateContent>
          </a:graphicData>
        </a:graphic>
      </p:graphicFrame>
      <p:graphicFrame>
        <p:nvGraphicFramePr>
          <p:cNvPr id="50" name="对象 49">
            <a:extLst>
              <a:ext uri="{FF2B5EF4-FFF2-40B4-BE49-F238E27FC236}">
                <a16:creationId xmlns:a16="http://schemas.microsoft.com/office/drawing/2014/main" id="{B9586F17-228D-AFEF-CDE1-1E0A9F5DA769}"/>
              </a:ext>
            </a:extLst>
          </p:cNvPr>
          <p:cNvGraphicFramePr>
            <a:graphicFrameLocks noChangeAspect="1"/>
          </p:cNvGraphicFramePr>
          <p:nvPr>
            <p:extLst>
              <p:ext uri="{D42A27DB-BD31-4B8C-83A1-F6EECF244321}">
                <p14:modId xmlns:p14="http://schemas.microsoft.com/office/powerpoint/2010/main" val="1038080048"/>
              </p:ext>
            </p:extLst>
          </p:nvPr>
        </p:nvGraphicFramePr>
        <p:xfrm>
          <a:off x="9337530" y="1826275"/>
          <a:ext cx="630816" cy="517592"/>
        </p:xfrm>
        <a:graphic>
          <a:graphicData uri="http://schemas.openxmlformats.org/presentationml/2006/ole">
            <mc:AlternateContent xmlns:mc="http://schemas.openxmlformats.org/markup-compatibility/2006">
              <mc:Choice xmlns:v="urn:schemas-microsoft-com:vml" Requires="v">
                <p:oleObj name="Equation" r:id="rId7" imgW="241195" imgH="203112" progId="Equation.DSMT4">
                  <p:embed/>
                </p:oleObj>
              </mc:Choice>
              <mc:Fallback>
                <p:oleObj name="Equation" r:id="rId7" imgW="241195" imgH="203112" progId="Equation.DSMT4">
                  <p:embed/>
                  <p:pic>
                    <p:nvPicPr>
                      <p:cNvPr id="50" name="对象 49">
                        <a:extLst>
                          <a:ext uri="{FF2B5EF4-FFF2-40B4-BE49-F238E27FC236}">
                            <a16:creationId xmlns:a16="http://schemas.microsoft.com/office/drawing/2014/main" id="{B9586F17-228D-AFEF-CDE1-1E0A9F5DA76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37530" y="1826275"/>
                        <a:ext cx="630816" cy="517592"/>
                      </a:xfrm>
                      <a:prstGeom prst="rect">
                        <a:avLst/>
                      </a:prstGeom>
                      <a:noFill/>
                    </p:spPr>
                  </p:pic>
                </p:oleObj>
              </mc:Fallback>
            </mc:AlternateContent>
          </a:graphicData>
        </a:graphic>
      </p:graphicFrame>
    </p:spTree>
    <p:extLst>
      <p:ext uri="{BB962C8B-B14F-4D97-AF65-F5344CB8AC3E}">
        <p14:creationId xmlns:p14="http://schemas.microsoft.com/office/powerpoint/2010/main" val="2251830183"/>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67334" y="1792673"/>
            <a:ext cx="4906539" cy="2859960"/>
          </a:xfrm>
          <a:custGeom>
            <a:avLst/>
            <a:gdLst/>
            <a:ahLst/>
            <a:cxnLst/>
            <a:rect l="l" t="t" r="r" b="b"/>
            <a:pathLst>
              <a:path w="5588729" h="2859960">
                <a:moveTo>
                  <a:pt x="34984" y="0"/>
                </a:moveTo>
                <a:lnTo>
                  <a:pt x="5483768" y="0"/>
                </a:lnTo>
                <a:cubicBezTo>
                  <a:pt x="5541736" y="0"/>
                  <a:pt x="5588729" y="46992"/>
                  <a:pt x="5588729" y="104961"/>
                </a:cubicBezTo>
                <a:lnTo>
                  <a:pt x="5588729" y="2754999"/>
                </a:lnTo>
                <a:cubicBezTo>
                  <a:pt x="5588729" y="2812967"/>
                  <a:pt x="5541736" y="2859960"/>
                  <a:pt x="5483768" y="2859960"/>
                </a:cubicBezTo>
                <a:lnTo>
                  <a:pt x="34984" y="2859960"/>
                </a:lnTo>
                <a:cubicBezTo>
                  <a:pt x="15663" y="2859960"/>
                  <a:pt x="0" y="2844297"/>
                  <a:pt x="0" y="2824976"/>
                </a:cubicBezTo>
                <a:lnTo>
                  <a:pt x="0" y="34984"/>
                </a:lnTo>
                <a:cubicBezTo>
                  <a:pt x="0" y="15676"/>
                  <a:pt x="15676" y="0"/>
                  <a:pt x="34984" y="0"/>
                </a:cubicBezTo>
                <a:close/>
              </a:path>
            </a:pathLst>
          </a:custGeom>
          <a:solidFill>
            <a:srgbClr val="5F87A7">
              <a:alpha val="10196"/>
            </a:srgbClr>
          </a:solidFill>
        </p:spPr>
      </p:sp>
      <p:sp>
        <p:nvSpPr>
          <p:cNvPr id="6" name="Shape 4"/>
          <p:cNvSpPr/>
          <p:nvPr/>
        </p:nvSpPr>
        <p:spPr>
          <a:xfrm>
            <a:off x="367334" y="1792673"/>
            <a:ext cx="34984" cy="2859960"/>
          </a:xfrm>
          <a:custGeom>
            <a:avLst/>
            <a:gdLst/>
            <a:ahLst/>
            <a:cxnLst/>
            <a:rect l="l" t="t" r="r" b="b"/>
            <a:pathLst>
              <a:path w="34984" h="2859960">
                <a:moveTo>
                  <a:pt x="34984" y="0"/>
                </a:moveTo>
                <a:lnTo>
                  <a:pt x="34984" y="0"/>
                </a:lnTo>
                <a:lnTo>
                  <a:pt x="34984" y="2859960"/>
                </a:lnTo>
                <a:lnTo>
                  <a:pt x="34984" y="2859960"/>
                </a:lnTo>
                <a:cubicBezTo>
                  <a:pt x="15663" y="2859960"/>
                  <a:pt x="0" y="2844297"/>
                  <a:pt x="0" y="2824976"/>
                </a:cubicBezTo>
                <a:lnTo>
                  <a:pt x="0" y="34984"/>
                </a:lnTo>
                <a:cubicBezTo>
                  <a:pt x="0" y="15676"/>
                  <a:pt x="15676" y="0"/>
                  <a:pt x="34984" y="0"/>
                </a:cubicBezTo>
                <a:close/>
              </a:path>
            </a:pathLst>
          </a:custGeom>
          <a:solidFill>
            <a:srgbClr val="E6B450"/>
          </a:solidFill>
        </p:spPr>
      </p:sp>
      <p:sp>
        <p:nvSpPr>
          <p:cNvPr id="7" name="Shape 5"/>
          <p:cNvSpPr/>
          <p:nvPr/>
        </p:nvSpPr>
        <p:spPr>
          <a:xfrm>
            <a:off x="590359" y="2037562"/>
            <a:ext cx="157429" cy="209905"/>
          </a:xfrm>
          <a:custGeom>
            <a:avLst/>
            <a:gdLst/>
            <a:ahLst/>
            <a:cxnLst/>
            <a:rect l="l" t="t" r="r" b="b"/>
            <a:pathLst>
              <a:path w="157429" h="209905">
                <a:moveTo>
                  <a:pt x="0" y="77321"/>
                </a:moveTo>
                <a:cubicBezTo>
                  <a:pt x="0" y="34602"/>
                  <a:pt x="35258" y="0"/>
                  <a:pt x="78714" y="0"/>
                </a:cubicBezTo>
                <a:cubicBezTo>
                  <a:pt x="122171" y="0"/>
                  <a:pt x="157429" y="34602"/>
                  <a:pt x="157429" y="77321"/>
                </a:cubicBezTo>
                <a:cubicBezTo>
                  <a:pt x="157429" y="126230"/>
                  <a:pt x="108150" y="184856"/>
                  <a:pt x="87570" y="207199"/>
                </a:cubicBezTo>
                <a:cubicBezTo>
                  <a:pt x="82732" y="212447"/>
                  <a:pt x="74656" y="212447"/>
                  <a:pt x="69818" y="207199"/>
                </a:cubicBezTo>
                <a:cubicBezTo>
                  <a:pt x="49238" y="184856"/>
                  <a:pt x="-41" y="126230"/>
                  <a:pt x="-41" y="77321"/>
                </a:cubicBezTo>
                <a:close/>
                <a:moveTo>
                  <a:pt x="78714" y="104953"/>
                </a:moveTo>
                <a:cubicBezTo>
                  <a:pt x="93196" y="104953"/>
                  <a:pt x="104953" y="93196"/>
                  <a:pt x="104953" y="78714"/>
                </a:cubicBezTo>
                <a:cubicBezTo>
                  <a:pt x="104953" y="64233"/>
                  <a:pt x="93196" y="52476"/>
                  <a:pt x="78714" y="52476"/>
                </a:cubicBezTo>
                <a:cubicBezTo>
                  <a:pt x="64233" y="52476"/>
                  <a:pt x="52476" y="64233"/>
                  <a:pt x="52476" y="78714"/>
                </a:cubicBezTo>
                <a:cubicBezTo>
                  <a:pt x="52476" y="93196"/>
                  <a:pt x="64233" y="104953"/>
                  <a:pt x="78714" y="104953"/>
                </a:cubicBezTo>
                <a:close/>
              </a:path>
            </a:pathLst>
          </a:custGeom>
          <a:solidFill>
            <a:srgbClr val="E6B450"/>
          </a:solidFill>
        </p:spPr>
      </p:sp>
      <p:sp>
        <p:nvSpPr>
          <p:cNvPr id="8" name="Text 6"/>
          <p:cNvSpPr/>
          <p:nvPr/>
        </p:nvSpPr>
        <p:spPr>
          <a:xfrm>
            <a:off x="881028" y="2002578"/>
            <a:ext cx="4967759" cy="279874"/>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途径点限制条件</a:t>
            </a:r>
            <a:endParaRPr lang="en-US" dirty="0"/>
          </a:p>
        </p:txBody>
      </p:sp>
      <p:sp>
        <p:nvSpPr>
          <p:cNvPr id="9" name="Text 7"/>
          <p:cNvSpPr/>
          <p:nvPr/>
        </p:nvSpPr>
        <p:spPr>
          <a:xfrm>
            <a:off x="881028" y="2387405"/>
            <a:ext cx="4941521" cy="253636"/>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TEB算法的途径点限制条件为：</a:t>
            </a:r>
            <a:endParaRPr lang="en-US" sz="2000" dirty="0"/>
          </a:p>
        </p:txBody>
      </p:sp>
      <p:sp>
        <p:nvSpPr>
          <p:cNvPr id="10" name="Shape 8"/>
          <p:cNvSpPr/>
          <p:nvPr/>
        </p:nvSpPr>
        <p:spPr>
          <a:xfrm>
            <a:off x="885401" y="2752552"/>
            <a:ext cx="4007215" cy="813383"/>
          </a:xfrm>
          <a:custGeom>
            <a:avLst/>
            <a:gdLst/>
            <a:ahLst/>
            <a:cxnLst/>
            <a:rect l="l" t="t" r="r" b="b"/>
            <a:pathLst>
              <a:path w="4854060" h="813383">
                <a:moveTo>
                  <a:pt x="69967" y="0"/>
                </a:moveTo>
                <a:lnTo>
                  <a:pt x="4784093" y="0"/>
                </a:lnTo>
                <a:cubicBezTo>
                  <a:pt x="4822735" y="0"/>
                  <a:pt x="4854060" y="31325"/>
                  <a:pt x="4854060" y="69967"/>
                </a:cubicBezTo>
                <a:lnTo>
                  <a:pt x="4854060" y="743416"/>
                </a:lnTo>
                <a:cubicBezTo>
                  <a:pt x="4854060" y="782058"/>
                  <a:pt x="4822735" y="813383"/>
                  <a:pt x="4784093" y="813383"/>
                </a:cubicBezTo>
                <a:lnTo>
                  <a:pt x="69967" y="813383"/>
                </a:lnTo>
                <a:cubicBezTo>
                  <a:pt x="31325" y="813383"/>
                  <a:pt x="0" y="782058"/>
                  <a:pt x="0" y="743416"/>
                </a:cubicBezTo>
                <a:lnTo>
                  <a:pt x="0" y="69967"/>
                </a:lnTo>
                <a:cubicBezTo>
                  <a:pt x="0" y="31325"/>
                  <a:pt x="31325" y="0"/>
                  <a:pt x="69967" y="0"/>
                </a:cubicBezTo>
                <a:close/>
              </a:path>
            </a:pathLst>
          </a:custGeom>
          <a:solidFill>
            <a:srgbClr val="E6B450">
              <a:alpha val="10196"/>
            </a:srgbClr>
          </a:solidFill>
          <a:ln w="12700">
            <a:solidFill>
              <a:srgbClr val="E6B450">
                <a:alpha val="30196"/>
              </a:srgbClr>
            </a:solidFill>
            <a:prstDash val="solid"/>
          </a:ln>
        </p:spPr>
      </p:sp>
      <p:sp>
        <p:nvSpPr>
          <p:cNvPr id="18" name="Shape 16"/>
          <p:cNvSpPr/>
          <p:nvPr/>
        </p:nvSpPr>
        <p:spPr>
          <a:xfrm>
            <a:off x="5761405" y="1792673"/>
            <a:ext cx="5588729" cy="2859960"/>
          </a:xfrm>
          <a:custGeom>
            <a:avLst/>
            <a:gdLst/>
            <a:ahLst/>
            <a:cxnLst/>
            <a:rect l="l" t="t" r="r" b="b"/>
            <a:pathLst>
              <a:path w="5588729" h="2501372">
                <a:moveTo>
                  <a:pt x="34984" y="0"/>
                </a:moveTo>
                <a:lnTo>
                  <a:pt x="5483771" y="0"/>
                </a:lnTo>
                <a:cubicBezTo>
                  <a:pt x="5541699" y="0"/>
                  <a:pt x="5588729" y="47030"/>
                  <a:pt x="5588729" y="104958"/>
                </a:cubicBezTo>
                <a:lnTo>
                  <a:pt x="5588729" y="2396414"/>
                </a:lnTo>
                <a:cubicBezTo>
                  <a:pt x="5588729" y="2454342"/>
                  <a:pt x="5541699" y="2501372"/>
                  <a:pt x="5483771" y="2501372"/>
                </a:cubicBezTo>
                <a:lnTo>
                  <a:pt x="34984" y="2501372"/>
                </a:lnTo>
                <a:cubicBezTo>
                  <a:pt x="15663" y="2501372"/>
                  <a:pt x="0" y="2485709"/>
                  <a:pt x="0" y="2466387"/>
                </a:cubicBezTo>
                <a:lnTo>
                  <a:pt x="0" y="34984"/>
                </a:lnTo>
                <a:cubicBezTo>
                  <a:pt x="0" y="15676"/>
                  <a:pt x="15676" y="0"/>
                  <a:pt x="34984" y="0"/>
                </a:cubicBezTo>
                <a:close/>
              </a:path>
            </a:pathLst>
          </a:custGeom>
          <a:solidFill>
            <a:srgbClr val="5F87A7">
              <a:alpha val="10196"/>
            </a:srgbClr>
          </a:solidFill>
        </p:spPr>
      </p:sp>
      <p:sp>
        <p:nvSpPr>
          <p:cNvPr id="19" name="Shape 17"/>
          <p:cNvSpPr/>
          <p:nvPr/>
        </p:nvSpPr>
        <p:spPr>
          <a:xfrm>
            <a:off x="5761405" y="1792673"/>
            <a:ext cx="34984" cy="2859960"/>
          </a:xfrm>
          <a:custGeom>
            <a:avLst/>
            <a:gdLst/>
            <a:ahLst/>
            <a:cxnLst/>
            <a:rect l="l" t="t" r="r" b="b"/>
            <a:pathLst>
              <a:path w="34984" h="2501372">
                <a:moveTo>
                  <a:pt x="34984" y="0"/>
                </a:moveTo>
                <a:lnTo>
                  <a:pt x="34984" y="0"/>
                </a:lnTo>
                <a:lnTo>
                  <a:pt x="34984" y="2501372"/>
                </a:lnTo>
                <a:lnTo>
                  <a:pt x="34984" y="2501372"/>
                </a:lnTo>
                <a:cubicBezTo>
                  <a:pt x="15663" y="2501372"/>
                  <a:pt x="0" y="2485709"/>
                  <a:pt x="0" y="2466387"/>
                </a:cubicBezTo>
                <a:lnTo>
                  <a:pt x="0" y="34984"/>
                </a:lnTo>
                <a:cubicBezTo>
                  <a:pt x="0" y="15676"/>
                  <a:pt x="15676" y="0"/>
                  <a:pt x="34984" y="0"/>
                </a:cubicBezTo>
                <a:close/>
              </a:path>
            </a:pathLst>
          </a:custGeom>
          <a:solidFill>
            <a:srgbClr val="E6B450"/>
          </a:solidFill>
        </p:spPr>
      </p:sp>
      <p:sp>
        <p:nvSpPr>
          <p:cNvPr id="20" name="Shape 18"/>
          <p:cNvSpPr/>
          <p:nvPr/>
        </p:nvSpPr>
        <p:spPr>
          <a:xfrm>
            <a:off x="5993176" y="2037562"/>
            <a:ext cx="209905" cy="209905"/>
          </a:xfrm>
          <a:custGeom>
            <a:avLst/>
            <a:gdLst/>
            <a:ahLst/>
            <a:cxnLst/>
            <a:rect l="l" t="t" r="r" b="b"/>
            <a:pathLst>
              <a:path w="209905" h="209905">
                <a:moveTo>
                  <a:pt x="0" y="104953"/>
                </a:moveTo>
                <a:cubicBezTo>
                  <a:pt x="0" y="47028"/>
                  <a:pt x="47028" y="0"/>
                  <a:pt x="104953" y="0"/>
                </a:cubicBezTo>
                <a:cubicBezTo>
                  <a:pt x="162878" y="0"/>
                  <a:pt x="209905" y="47028"/>
                  <a:pt x="209905" y="104953"/>
                </a:cubicBezTo>
                <a:cubicBezTo>
                  <a:pt x="209905" y="162878"/>
                  <a:pt x="162878" y="209905"/>
                  <a:pt x="104953" y="209905"/>
                </a:cubicBezTo>
                <a:cubicBezTo>
                  <a:pt x="47028" y="209905"/>
                  <a:pt x="0" y="162878"/>
                  <a:pt x="0" y="104953"/>
                </a:cubicBezTo>
                <a:close/>
                <a:moveTo>
                  <a:pt x="118072" y="39357"/>
                </a:moveTo>
                <a:cubicBezTo>
                  <a:pt x="118072" y="32117"/>
                  <a:pt x="112193" y="26238"/>
                  <a:pt x="104953" y="26238"/>
                </a:cubicBezTo>
                <a:cubicBezTo>
                  <a:pt x="97712" y="26238"/>
                  <a:pt x="91834" y="32117"/>
                  <a:pt x="91834" y="39357"/>
                </a:cubicBezTo>
                <a:cubicBezTo>
                  <a:pt x="91834" y="46598"/>
                  <a:pt x="97712" y="52476"/>
                  <a:pt x="104953" y="52476"/>
                </a:cubicBezTo>
                <a:cubicBezTo>
                  <a:pt x="112193" y="52476"/>
                  <a:pt x="118072" y="46598"/>
                  <a:pt x="118072" y="39357"/>
                </a:cubicBezTo>
                <a:close/>
                <a:moveTo>
                  <a:pt x="104953" y="170548"/>
                </a:moveTo>
                <a:cubicBezTo>
                  <a:pt x="119425" y="170548"/>
                  <a:pt x="131191" y="158782"/>
                  <a:pt x="131191" y="144310"/>
                </a:cubicBezTo>
                <a:cubicBezTo>
                  <a:pt x="131191" y="137668"/>
                  <a:pt x="128731" y="131560"/>
                  <a:pt x="124631" y="126968"/>
                </a:cubicBezTo>
                <a:lnTo>
                  <a:pt x="153124" y="70023"/>
                </a:lnTo>
                <a:cubicBezTo>
                  <a:pt x="155543" y="65144"/>
                  <a:pt x="153575" y="59241"/>
                  <a:pt x="148738" y="56822"/>
                </a:cubicBezTo>
                <a:cubicBezTo>
                  <a:pt x="143900" y="54403"/>
                  <a:pt x="137955" y="56371"/>
                  <a:pt x="135537" y="61209"/>
                </a:cubicBezTo>
                <a:lnTo>
                  <a:pt x="107044" y="118154"/>
                </a:lnTo>
                <a:cubicBezTo>
                  <a:pt x="106347" y="118113"/>
                  <a:pt x="105650" y="118072"/>
                  <a:pt x="104953" y="118072"/>
                </a:cubicBezTo>
                <a:cubicBezTo>
                  <a:pt x="90481" y="118072"/>
                  <a:pt x="78714" y="129838"/>
                  <a:pt x="78714" y="144310"/>
                </a:cubicBezTo>
                <a:cubicBezTo>
                  <a:pt x="78714" y="158782"/>
                  <a:pt x="90481" y="170548"/>
                  <a:pt x="104953" y="170548"/>
                </a:cubicBezTo>
                <a:close/>
                <a:moveTo>
                  <a:pt x="72155" y="59036"/>
                </a:moveTo>
                <a:cubicBezTo>
                  <a:pt x="72155" y="51795"/>
                  <a:pt x="66276" y="45917"/>
                  <a:pt x="59036" y="45917"/>
                </a:cubicBezTo>
                <a:cubicBezTo>
                  <a:pt x="51795" y="45917"/>
                  <a:pt x="45917" y="51795"/>
                  <a:pt x="45917" y="59036"/>
                </a:cubicBezTo>
                <a:cubicBezTo>
                  <a:pt x="45917" y="66276"/>
                  <a:pt x="51795" y="72155"/>
                  <a:pt x="59036" y="72155"/>
                </a:cubicBezTo>
                <a:cubicBezTo>
                  <a:pt x="66276" y="72155"/>
                  <a:pt x="72155" y="66276"/>
                  <a:pt x="72155" y="59036"/>
                </a:cubicBezTo>
                <a:close/>
                <a:moveTo>
                  <a:pt x="39357" y="118072"/>
                </a:moveTo>
                <a:cubicBezTo>
                  <a:pt x="46598" y="118072"/>
                  <a:pt x="52476" y="112193"/>
                  <a:pt x="52476" y="104953"/>
                </a:cubicBezTo>
                <a:cubicBezTo>
                  <a:pt x="52476" y="97712"/>
                  <a:pt x="46598" y="91834"/>
                  <a:pt x="39357" y="91834"/>
                </a:cubicBezTo>
                <a:cubicBezTo>
                  <a:pt x="32117" y="91834"/>
                  <a:pt x="26238" y="97712"/>
                  <a:pt x="26238" y="104953"/>
                </a:cubicBezTo>
                <a:cubicBezTo>
                  <a:pt x="26238" y="112193"/>
                  <a:pt x="32117" y="118072"/>
                  <a:pt x="39357" y="118072"/>
                </a:cubicBezTo>
                <a:close/>
                <a:moveTo>
                  <a:pt x="183667" y="104953"/>
                </a:moveTo>
                <a:cubicBezTo>
                  <a:pt x="183667" y="97712"/>
                  <a:pt x="177789" y="91834"/>
                  <a:pt x="170548" y="91834"/>
                </a:cubicBezTo>
                <a:cubicBezTo>
                  <a:pt x="163307" y="91834"/>
                  <a:pt x="157429" y="97712"/>
                  <a:pt x="157429" y="104953"/>
                </a:cubicBezTo>
                <a:cubicBezTo>
                  <a:pt x="157429" y="112193"/>
                  <a:pt x="163307" y="118072"/>
                  <a:pt x="170548" y="118072"/>
                </a:cubicBezTo>
                <a:cubicBezTo>
                  <a:pt x="177789" y="118072"/>
                  <a:pt x="183667" y="112193"/>
                  <a:pt x="183667" y="104953"/>
                </a:cubicBezTo>
                <a:close/>
              </a:path>
            </a:pathLst>
          </a:custGeom>
          <a:solidFill>
            <a:srgbClr val="E6B450"/>
          </a:solidFill>
        </p:spPr>
      </p:sp>
      <p:sp>
        <p:nvSpPr>
          <p:cNvPr id="21" name="Text 19"/>
          <p:cNvSpPr/>
          <p:nvPr/>
        </p:nvSpPr>
        <p:spPr>
          <a:xfrm>
            <a:off x="6350261" y="2002578"/>
            <a:ext cx="4897791" cy="279874"/>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速度限制条件</a:t>
            </a:r>
            <a:endParaRPr lang="en-US" dirty="0"/>
          </a:p>
        </p:txBody>
      </p:sp>
      <p:sp>
        <p:nvSpPr>
          <p:cNvPr id="22" name="Text 20"/>
          <p:cNvSpPr/>
          <p:nvPr/>
        </p:nvSpPr>
        <p:spPr>
          <a:xfrm>
            <a:off x="6350261" y="2387405"/>
            <a:ext cx="4871552" cy="253636"/>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TEB算法的速度限制条件为：</a:t>
            </a:r>
            <a:endParaRPr lang="en-US" sz="2000" dirty="0"/>
          </a:p>
        </p:txBody>
      </p:sp>
      <p:sp>
        <p:nvSpPr>
          <p:cNvPr id="23" name="Shape 21"/>
          <p:cNvSpPr/>
          <p:nvPr/>
        </p:nvSpPr>
        <p:spPr>
          <a:xfrm>
            <a:off x="6354634" y="2752552"/>
            <a:ext cx="2045621" cy="874606"/>
          </a:xfrm>
          <a:custGeom>
            <a:avLst/>
            <a:gdLst/>
            <a:ahLst/>
            <a:cxnLst/>
            <a:rect l="l" t="t" r="r" b="b"/>
            <a:pathLst>
              <a:path w="2335197" h="708430">
                <a:moveTo>
                  <a:pt x="69972" y="0"/>
                </a:moveTo>
                <a:lnTo>
                  <a:pt x="2265225" y="0"/>
                </a:lnTo>
                <a:cubicBezTo>
                  <a:pt x="2303869" y="0"/>
                  <a:pt x="2335197" y="31327"/>
                  <a:pt x="2335197" y="69972"/>
                </a:cubicBezTo>
                <a:lnTo>
                  <a:pt x="2335197" y="638459"/>
                </a:lnTo>
                <a:cubicBezTo>
                  <a:pt x="2335197" y="677103"/>
                  <a:pt x="2303869" y="708430"/>
                  <a:pt x="2265225" y="708430"/>
                </a:cubicBezTo>
                <a:lnTo>
                  <a:pt x="69972" y="708430"/>
                </a:lnTo>
                <a:cubicBezTo>
                  <a:pt x="31327" y="708430"/>
                  <a:pt x="0" y="677103"/>
                  <a:pt x="0" y="638459"/>
                </a:cubicBezTo>
                <a:lnTo>
                  <a:pt x="0" y="69972"/>
                </a:lnTo>
                <a:cubicBezTo>
                  <a:pt x="0" y="31327"/>
                  <a:pt x="31327" y="0"/>
                  <a:pt x="69972" y="0"/>
                </a:cubicBezTo>
                <a:close/>
              </a:path>
            </a:pathLst>
          </a:custGeom>
          <a:solidFill>
            <a:srgbClr val="E6B450">
              <a:alpha val="10196"/>
            </a:srgbClr>
          </a:solidFill>
          <a:ln w="12700">
            <a:solidFill>
              <a:srgbClr val="E6B450">
                <a:alpha val="30196"/>
              </a:srgbClr>
            </a:solidFill>
            <a:prstDash val="solid"/>
          </a:ln>
        </p:spPr>
      </p:sp>
      <p:sp>
        <p:nvSpPr>
          <p:cNvPr id="26" name="Shape 24"/>
          <p:cNvSpPr/>
          <p:nvPr/>
        </p:nvSpPr>
        <p:spPr>
          <a:xfrm>
            <a:off x="8551842" y="2752551"/>
            <a:ext cx="2691016" cy="874607"/>
          </a:xfrm>
          <a:custGeom>
            <a:avLst/>
            <a:gdLst/>
            <a:ahLst/>
            <a:cxnLst/>
            <a:rect l="l" t="t" r="r" b="b"/>
            <a:pathLst>
              <a:path w="2335197" h="708430">
                <a:moveTo>
                  <a:pt x="69972" y="0"/>
                </a:moveTo>
                <a:lnTo>
                  <a:pt x="2265225" y="0"/>
                </a:lnTo>
                <a:cubicBezTo>
                  <a:pt x="2303869" y="0"/>
                  <a:pt x="2335197" y="31327"/>
                  <a:pt x="2335197" y="69972"/>
                </a:cubicBezTo>
                <a:lnTo>
                  <a:pt x="2335197" y="638459"/>
                </a:lnTo>
                <a:cubicBezTo>
                  <a:pt x="2335197" y="677103"/>
                  <a:pt x="2303869" y="708430"/>
                  <a:pt x="2265225" y="708430"/>
                </a:cubicBezTo>
                <a:lnTo>
                  <a:pt x="69972" y="708430"/>
                </a:lnTo>
                <a:cubicBezTo>
                  <a:pt x="31327" y="708430"/>
                  <a:pt x="0" y="677103"/>
                  <a:pt x="0" y="638459"/>
                </a:cubicBezTo>
                <a:lnTo>
                  <a:pt x="0" y="69972"/>
                </a:lnTo>
                <a:cubicBezTo>
                  <a:pt x="0" y="31327"/>
                  <a:pt x="31327" y="0"/>
                  <a:pt x="69972" y="0"/>
                </a:cubicBezTo>
                <a:close/>
              </a:path>
            </a:pathLst>
          </a:custGeom>
          <a:solidFill>
            <a:srgbClr val="E6B450">
              <a:alpha val="10196"/>
            </a:srgbClr>
          </a:solidFill>
          <a:ln w="12700">
            <a:solidFill>
              <a:srgbClr val="E6B450">
                <a:alpha val="30196"/>
              </a:srgbClr>
            </a:solidFill>
            <a:prstDash val="solid"/>
          </a:ln>
        </p:spPr>
      </p:sp>
      <p:sp>
        <p:nvSpPr>
          <p:cNvPr id="29" name="Text 27"/>
          <p:cNvSpPr/>
          <p:nvPr/>
        </p:nvSpPr>
        <p:spPr>
          <a:xfrm>
            <a:off x="6350261" y="3762803"/>
            <a:ext cx="4871552" cy="792264"/>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函数Normalize()是把角度插值限定在</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[-π, π]</a:t>
            </a:r>
            <a:r>
              <a:rPr lang="en-US" sz="1600" dirty="0">
                <a:latin typeface="微软雅黑" panose="020B0503020204020204" pitchFamily="34" charset="-122"/>
                <a:ea typeface="微软雅黑" panose="020B0503020204020204" pitchFamily="34" charset="-122"/>
                <a:cs typeface="微软雅黑" panose="020B0503020204020204" pitchFamily="34" charset="-122"/>
              </a:rPr>
              <a:t>之间，否则会导致角速度的计算问题。</a:t>
            </a:r>
            <a:endParaRPr lang="en-US" sz="2000" dirty="0"/>
          </a:p>
        </p:txBody>
      </p:sp>
      <p:grpSp>
        <p:nvGrpSpPr>
          <p:cNvPr id="35" name="组合 34">
            <a:extLst>
              <a:ext uri="{FF2B5EF4-FFF2-40B4-BE49-F238E27FC236}">
                <a16:creationId xmlns:a16="http://schemas.microsoft.com/office/drawing/2014/main" id="{D3B8B19E-3EC8-6FC0-2B5A-36CFC43A12F4}"/>
              </a:ext>
            </a:extLst>
          </p:cNvPr>
          <p:cNvGrpSpPr/>
          <p:nvPr/>
        </p:nvGrpSpPr>
        <p:grpSpPr>
          <a:xfrm>
            <a:off x="0" y="939798"/>
            <a:ext cx="5022850" cy="625474"/>
            <a:chOff x="0" y="1075267"/>
            <a:chExt cx="5022850" cy="625474"/>
          </a:xfrm>
        </p:grpSpPr>
        <p:sp>
          <p:nvSpPr>
            <p:cNvPr id="36" name="矩形 35">
              <a:extLst>
                <a:ext uri="{FF2B5EF4-FFF2-40B4-BE49-F238E27FC236}">
                  <a16:creationId xmlns:a16="http://schemas.microsoft.com/office/drawing/2014/main" id="{9ADBEA1F-49C3-5F9A-AFE8-ECEE846BC21B}"/>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D6C6C3C1-9143-FDC4-3D42-94BE22FA24A9}"/>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7.3.4 TEB</a:t>
              </a:r>
              <a:r>
                <a:rPr lang="zh-CN" altLang="en-US" sz="2400" b="1" dirty="0">
                  <a:solidFill>
                    <a:schemeClr val="accent1"/>
                  </a:solidFill>
                  <a:latin typeface="+mj-lt"/>
                </a:rPr>
                <a:t>算法</a:t>
              </a:r>
            </a:p>
          </p:txBody>
        </p:sp>
      </p:grpSp>
      <p:graphicFrame>
        <p:nvGraphicFramePr>
          <p:cNvPr id="3" name="对象 2">
            <a:extLst>
              <a:ext uri="{FF2B5EF4-FFF2-40B4-BE49-F238E27FC236}">
                <a16:creationId xmlns:a16="http://schemas.microsoft.com/office/drawing/2014/main" id="{FBA70012-C364-57D0-F8F9-D24345CE94EA}"/>
              </a:ext>
            </a:extLst>
          </p:cNvPr>
          <p:cNvGraphicFramePr>
            <a:graphicFrameLocks noChangeAspect="1"/>
          </p:cNvGraphicFramePr>
          <p:nvPr>
            <p:extLst>
              <p:ext uri="{D42A27DB-BD31-4B8C-83A1-F6EECF244321}">
                <p14:modId xmlns:p14="http://schemas.microsoft.com/office/powerpoint/2010/main" val="2579508354"/>
              </p:ext>
            </p:extLst>
          </p:nvPr>
        </p:nvGraphicFramePr>
        <p:xfrm>
          <a:off x="1600198" y="2983448"/>
          <a:ext cx="1782209" cy="445552"/>
        </p:xfrm>
        <a:graphic>
          <a:graphicData uri="http://schemas.openxmlformats.org/presentationml/2006/ole">
            <mc:AlternateContent xmlns:mc="http://schemas.openxmlformats.org/markup-compatibility/2006">
              <mc:Choice xmlns:v="urn:schemas-microsoft-com:vml" Requires="v">
                <p:oleObj name="Equation" r:id="rId3" imgW="812447" imgH="203112" progId="Equation.DSMT4">
                  <p:embed/>
                </p:oleObj>
              </mc:Choice>
              <mc:Fallback>
                <p:oleObj name="Equation" r:id="rId3" imgW="812447" imgH="203112" progId="Equation.DSMT4">
                  <p:embed/>
                  <p:pic>
                    <p:nvPicPr>
                      <p:cNvPr id="3" name="对象 2">
                        <a:extLst>
                          <a:ext uri="{FF2B5EF4-FFF2-40B4-BE49-F238E27FC236}">
                            <a16:creationId xmlns:a16="http://schemas.microsoft.com/office/drawing/2014/main" id="{FBA70012-C364-57D0-F8F9-D24345CE94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198" y="2983448"/>
                        <a:ext cx="1782209" cy="445552"/>
                      </a:xfrm>
                      <a:prstGeom prst="rect">
                        <a:avLst/>
                      </a:prstGeom>
                      <a:noFill/>
                    </p:spPr>
                  </p:pic>
                </p:oleObj>
              </mc:Fallback>
            </mc:AlternateContent>
          </a:graphicData>
        </a:graphic>
      </p:graphicFrame>
      <p:graphicFrame>
        <p:nvGraphicFramePr>
          <p:cNvPr id="38" name="对象 37">
            <a:extLst>
              <a:ext uri="{FF2B5EF4-FFF2-40B4-BE49-F238E27FC236}">
                <a16:creationId xmlns:a16="http://schemas.microsoft.com/office/drawing/2014/main" id="{072BA64C-D551-37A1-C91A-76046ED2E9E3}"/>
              </a:ext>
            </a:extLst>
          </p:cNvPr>
          <p:cNvGraphicFramePr>
            <a:graphicFrameLocks noChangeAspect="1"/>
          </p:cNvGraphicFramePr>
          <p:nvPr>
            <p:extLst>
              <p:ext uri="{D42A27DB-BD31-4B8C-83A1-F6EECF244321}">
                <p14:modId xmlns:p14="http://schemas.microsoft.com/office/powerpoint/2010/main" val="342983645"/>
              </p:ext>
            </p:extLst>
          </p:nvPr>
        </p:nvGraphicFramePr>
        <p:xfrm>
          <a:off x="6506221" y="2888197"/>
          <a:ext cx="1709673" cy="780503"/>
        </p:xfrm>
        <a:graphic>
          <a:graphicData uri="http://schemas.openxmlformats.org/presentationml/2006/ole">
            <mc:AlternateContent xmlns:mc="http://schemas.openxmlformats.org/markup-compatibility/2006">
              <mc:Choice xmlns:v="urn:schemas-microsoft-com:vml" Requires="v">
                <p:oleObj name="Equation" r:id="rId5" imgW="875920" imgH="393529" progId="Equation.DSMT4">
                  <p:embed/>
                </p:oleObj>
              </mc:Choice>
              <mc:Fallback>
                <p:oleObj name="Equation" r:id="rId5" imgW="875920" imgH="393529" progId="Equation.DSMT4">
                  <p:embed/>
                  <p:pic>
                    <p:nvPicPr>
                      <p:cNvPr id="38" name="对象 37">
                        <a:extLst>
                          <a:ext uri="{FF2B5EF4-FFF2-40B4-BE49-F238E27FC236}">
                            <a16:creationId xmlns:a16="http://schemas.microsoft.com/office/drawing/2014/main" id="{072BA64C-D551-37A1-C91A-76046ED2E9E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6221" y="2888197"/>
                        <a:ext cx="1709673" cy="780503"/>
                      </a:xfrm>
                      <a:prstGeom prst="rect">
                        <a:avLst/>
                      </a:prstGeom>
                      <a:noFill/>
                    </p:spPr>
                  </p:pic>
                </p:oleObj>
              </mc:Fallback>
            </mc:AlternateContent>
          </a:graphicData>
        </a:graphic>
      </p:graphicFrame>
      <p:graphicFrame>
        <p:nvGraphicFramePr>
          <p:cNvPr id="40" name="对象 39">
            <a:extLst>
              <a:ext uri="{FF2B5EF4-FFF2-40B4-BE49-F238E27FC236}">
                <a16:creationId xmlns:a16="http://schemas.microsoft.com/office/drawing/2014/main" id="{871F922C-351C-C25C-536F-6F135D065C70}"/>
              </a:ext>
            </a:extLst>
          </p:cNvPr>
          <p:cNvGraphicFramePr>
            <a:graphicFrameLocks noChangeAspect="1"/>
          </p:cNvGraphicFramePr>
          <p:nvPr>
            <p:extLst>
              <p:ext uri="{D42A27DB-BD31-4B8C-83A1-F6EECF244321}">
                <p14:modId xmlns:p14="http://schemas.microsoft.com/office/powerpoint/2010/main" val="2805627642"/>
              </p:ext>
            </p:extLst>
          </p:nvPr>
        </p:nvGraphicFramePr>
        <p:xfrm>
          <a:off x="8660237" y="2918728"/>
          <a:ext cx="2583237" cy="749972"/>
        </p:xfrm>
        <a:graphic>
          <a:graphicData uri="http://schemas.openxmlformats.org/presentationml/2006/ole">
            <mc:AlternateContent xmlns:mc="http://schemas.openxmlformats.org/markup-compatibility/2006">
              <mc:Choice xmlns:v="urn:schemas-microsoft-com:vml" Requires="v">
                <p:oleObj name="Equation" r:id="rId7" imgW="1384300" imgH="393700" progId="Equation.DSMT4">
                  <p:embed/>
                </p:oleObj>
              </mc:Choice>
              <mc:Fallback>
                <p:oleObj name="Equation" r:id="rId7" imgW="1384300" imgH="393700" progId="Equation.DSMT4">
                  <p:embed/>
                  <p:pic>
                    <p:nvPicPr>
                      <p:cNvPr id="40" name="对象 39">
                        <a:extLst>
                          <a:ext uri="{FF2B5EF4-FFF2-40B4-BE49-F238E27FC236}">
                            <a16:creationId xmlns:a16="http://schemas.microsoft.com/office/drawing/2014/main" id="{871F922C-351C-C25C-536F-6F135D065C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60237" y="2918728"/>
                        <a:ext cx="2583237" cy="749972"/>
                      </a:xfrm>
                      <a:prstGeom prst="rect">
                        <a:avLst/>
                      </a:prstGeom>
                      <a:noFill/>
                    </p:spPr>
                  </p:pic>
                </p:oleObj>
              </mc:Fallback>
            </mc:AlternateContent>
          </a:graphicData>
        </a:graphic>
      </p:graphicFrame>
    </p:spTree>
    <p:extLst>
      <p:ext uri="{BB962C8B-B14F-4D97-AF65-F5344CB8AC3E}">
        <p14:creationId xmlns:p14="http://schemas.microsoft.com/office/powerpoint/2010/main" val="2265330517"/>
      </p:ext>
    </p:extLst>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400050" y="2093768"/>
            <a:ext cx="5886450" cy="3299499"/>
          </a:xfrm>
          <a:custGeom>
            <a:avLst/>
            <a:gdLst/>
            <a:ahLst/>
            <a:cxnLst/>
            <a:rect l="l" t="t" r="r" b="b"/>
            <a:pathLst>
              <a:path w="7448550" h="2562225">
                <a:moveTo>
                  <a:pt x="38100" y="0"/>
                </a:moveTo>
                <a:lnTo>
                  <a:pt x="7334249" y="0"/>
                </a:lnTo>
                <a:cubicBezTo>
                  <a:pt x="7397376" y="0"/>
                  <a:pt x="7448550" y="51174"/>
                  <a:pt x="7448550" y="114301"/>
                </a:cubicBezTo>
                <a:lnTo>
                  <a:pt x="7448550" y="2447924"/>
                </a:lnTo>
                <a:cubicBezTo>
                  <a:pt x="7448550" y="2511051"/>
                  <a:pt x="7397376" y="2562225"/>
                  <a:pt x="7334249" y="2562225"/>
                </a:cubicBezTo>
                <a:lnTo>
                  <a:pt x="38100" y="2562225"/>
                </a:lnTo>
                <a:cubicBezTo>
                  <a:pt x="17072" y="2562225"/>
                  <a:pt x="0" y="2545153"/>
                  <a:pt x="0" y="2524125"/>
                </a:cubicBezTo>
                <a:lnTo>
                  <a:pt x="0" y="38100"/>
                </a:lnTo>
                <a:cubicBezTo>
                  <a:pt x="0" y="17072"/>
                  <a:pt x="17072" y="0"/>
                  <a:pt x="38100" y="0"/>
                </a:cubicBezTo>
                <a:close/>
              </a:path>
            </a:pathLst>
          </a:custGeom>
          <a:solidFill>
            <a:srgbClr val="5F87A7">
              <a:alpha val="10196"/>
            </a:srgbClr>
          </a:solidFill>
        </p:spPr>
      </p:sp>
      <p:sp>
        <p:nvSpPr>
          <p:cNvPr id="6" name="Shape 4"/>
          <p:cNvSpPr/>
          <p:nvPr/>
        </p:nvSpPr>
        <p:spPr>
          <a:xfrm>
            <a:off x="400050" y="2093768"/>
            <a:ext cx="38100" cy="3299499"/>
          </a:xfrm>
          <a:custGeom>
            <a:avLst/>
            <a:gdLst/>
            <a:ahLst/>
            <a:cxnLst/>
            <a:rect l="l" t="t" r="r" b="b"/>
            <a:pathLst>
              <a:path w="38100" h="2562225">
                <a:moveTo>
                  <a:pt x="38100" y="0"/>
                </a:moveTo>
                <a:lnTo>
                  <a:pt x="38100" y="0"/>
                </a:lnTo>
                <a:lnTo>
                  <a:pt x="38100" y="2562225"/>
                </a:lnTo>
                <a:lnTo>
                  <a:pt x="38100" y="2562225"/>
                </a:lnTo>
                <a:cubicBezTo>
                  <a:pt x="17072" y="2562225"/>
                  <a:pt x="0" y="2545153"/>
                  <a:pt x="0" y="2524125"/>
                </a:cubicBezTo>
                <a:lnTo>
                  <a:pt x="0" y="38100"/>
                </a:lnTo>
                <a:cubicBezTo>
                  <a:pt x="0" y="17072"/>
                  <a:pt x="17072" y="0"/>
                  <a:pt x="38100" y="0"/>
                </a:cubicBezTo>
                <a:close/>
              </a:path>
            </a:pathLst>
          </a:custGeom>
          <a:solidFill>
            <a:srgbClr val="E6B450"/>
          </a:solidFill>
        </p:spPr>
      </p:sp>
      <p:sp>
        <p:nvSpPr>
          <p:cNvPr id="7" name="Shape 5"/>
          <p:cNvSpPr/>
          <p:nvPr/>
        </p:nvSpPr>
        <p:spPr>
          <a:xfrm>
            <a:off x="704850" y="2360468"/>
            <a:ext cx="171450" cy="228600"/>
          </a:xfrm>
          <a:custGeom>
            <a:avLst/>
            <a:gdLst/>
            <a:ahLst/>
            <a:cxnLst/>
            <a:rect l="l" t="t" r="r" b="b"/>
            <a:pathLst>
              <a:path w="171450" h="228600">
                <a:moveTo>
                  <a:pt x="28575" y="0"/>
                </a:moveTo>
                <a:cubicBezTo>
                  <a:pt x="12814" y="0"/>
                  <a:pt x="0" y="12814"/>
                  <a:pt x="0" y="28575"/>
                </a:cubicBezTo>
                <a:lnTo>
                  <a:pt x="0" y="200025"/>
                </a:lnTo>
                <a:cubicBezTo>
                  <a:pt x="0" y="215786"/>
                  <a:pt x="12814" y="228600"/>
                  <a:pt x="28575" y="228600"/>
                </a:cubicBezTo>
                <a:lnTo>
                  <a:pt x="142875" y="228600"/>
                </a:lnTo>
                <a:cubicBezTo>
                  <a:pt x="158636" y="228600"/>
                  <a:pt x="171450" y="215786"/>
                  <a:pt x="171450" y="200025"/>
                </a:cubicBezTo>
                <a:lnTo>
                  <a:pt x="171450" y="28575"/>
                </a:lnTo>
                <a:cubicBezTo>
                  <a:pt x="171450" y="12814"/>
                  <a:pt x="158636" y="0"/>
                  <a:pt x="142875" y="0"/>
                </a:cubicBezTo>
                <a:lnTo>
                  <a:pt x="28575" y="0"/>
                </a:lnTo>
                <a:close/>
                <a:moveTo>
                  <a:pt x="42863" y="28575"/>
                </a:moveTo>
                <a:lnTo>
                  <a:pt x="128588" y="28575"/>
                </a:lnTo>
                <a:cubicBezTo>
                  <a:pt x="136490" y="28575"/>
                  <a:pt x="142875" y="34960"/>
                  <a:pt x="142875" y="42863"/>
                </a:cubicBezTo>
                <a:lnTo>
                  <a:pt x="142875" y="57150"/>
                </a:lnTo>
                <a:cubicBezTo>
                  <a:pt x="142875" y="65053"/>
                  <a:pt x="136490" y="71438"/>
                  <a:pt x="128588" y="71438"/>
                </a:cubicBezTo>
                <a:lnTo>
                  <a:pt x="42863" y="71438"/>
                </a:lnTo>
                <a:cubicBezTo>
                  <a:pt x="34960" y="71438"/>
                  <a:pt x="28575" y="65053"/>
                  <a:pt x="28575" y="57150"/>
                </a:cubicBezTo>
                <a:lnTo>
                  <a:pt x="28575" y="42863"/>
                </a:lnTo>
                <a:cubicBezTo>
                  <a:pt x="28575" y="34960"/>
                  <a:pt x="34960" y="28575"/>
                  <a:pt x="42863" y="28575"/>
                </a:cubicBezTo>
                <a:close/>
                <a:moveTo>
                  <a:pt x="50006" y="103584"/>
                </a:moveTo>
                <a:cubicBezTo>
                  <a:pt x="50006" y="109498"/>
                  <a:pt x="45205" y="114300"/>
                  <a:pt x="39291" y="114300"/>
                </a:cubicBezTo>
                <a:cubicBezTo>
                  <a:pt x="33377" y="114300"/>
                  <a:pt x="28575" y="109498"/>
                  <a:pt x="28575" y="103584"/>
                </a:cubicBezTo>
                <a:cubicBezTo>
                  <a:pt x="28575" y="97670"/>
                  <a:pt x="33377" y="92869"/>
                  <a:pt x="39291" y="92869"/>
                </a:cubicBezTo>
                <a:cubicBezTo>
                  <a:pt x="45205" y="92869"/>
                  <a:pt x="50006" y="97670"/>
                  <a:pt x="50006" y="103584"/>
                </a:cubicBezTo>
                <a:close/>
                <a:moveTo>
                  <a:pt x="85725" y="114300"/>
                </a:moveTo>
                <a:cubicBezTo>
                  <a:pt x="79811" y="114300"/>
                  <a:pt x="75009" y="109498"/>
                  <a:pt x="75009" y="103584"/>
                </a:cubicBezTo>
                <a:cubicBezTo>
                  <a:pt x="75009" y="97670"/>
                  <a:pt x="79811" y="92869"/>
                  <a:pt x="85725" y="92869"/>
                </a:cubicBezTo>
                <a:cubicBezTo>
                  <a:pt x="91639" y="92869"/>
                  <a:pt x="96441" y="97670"/>
                  <a:pt x="96441" y="103584"/>
                </a:cubicBezTo>
                <a:cubicBezTo>
                  <a:pt x="96441" y="109498"/>
                  <a:pt x="91639" y="114300"/>
                  <a:pt x="85725" y="114300"/>
                </a:cubicBezTo>
                <a:close/>
                <a:moveTo>
                  <a:pt x="142875" y="103584"/>
                </a:moveTo>
                <a:cubicBezTo>
                  <a:pt x="142875" y="109498"/>
                  <a:pt x="138073" y="114300"/>
                  <a:pt x="132159" y="114300"/>
                </a:cubicBezTo>
                <a:cubicBezTo>
                  <a:pt x="126245" y="114300"/>
                  <a:pt x="121444" y="109498"/>
                  <a:pt x="121444" y="103584"/>
                </a:cubicBezTo>
                <a:cubicBezTo>
                  <a:pt x="121444" y="97670"/>
                  <a:pt x="126245" y="92869"/>
                  <a:pt x="132159" y="92869"/>
                </a:cubicBezTo>
                <a:cubicBezTo>
                  <a:pt x="138073" y="92869"/>
                  <a:pt x="142875" y="97670"/>
                  <a:pt x="142875" y="103584"/>
                </a:cubicBezTo>
                <a:close/>
                <a:moveTo>
                  <a:pt x="39291" y="157163"/>
                </a:moveTo>
                <a:cubicBezTo>
                  <a:pt x="33377" y="157163"/>
                  <a:pt x="28575" y="152361"/>
                  <a:pt x="28575" y="146447"/>
                </a:cubicBezTo>
                <a:cubicBezTo>
                  <a:pt x="28575" y="140533"/>
                  <a:pt x="33377" y="135731"/>
                  <a:pt x="39291" y="135731"/>
                </a:cubicBezTo>
                <a:cubicBezTo>
                  <a:pt x="45205" y="135731"/>
                  <a:pt x="50006" y="140533"/>
                  <a:pt x="50006" y="146447"/>
                </a:cubicBezTo>
                <a:cubicBezTo>
                  <a:pt x="50006" y="152361"/>
                  <a:pt x="45205" y="157163"/>
                  <a:pt x="39291" y="157163"/>
                </a:cubicBezTo>
                <a:close/>
                <a:moveTo>
                  <a:pt x="96441" y="146447"/>
                </a:moveTo>
                <a:cubicBezTo>
                  <a:pt x="96441" y="152361"/>
                  <a:pt x="91639" y="157163"/>
                  <a:pt x="85725" y="157163"/>
                </a:cubicBezTo>
                <a:cubicBezTo>
                  <a:pt x="79811" y="157163"/>
                  <a:pt x="75009" y="152361"/>
                  <a:pt x="75009" y="146447"/>
                </a:cubicBezTo>
                <a:cubicBezTo>
                  <a:pt x="75009" y="140533"/>
                  <a:pt x="79811" y="135731"/>
                  <a:pt x="85725" y="135731"/>
                </a:cubicBezTo>
                <a:cubicBezTo>
                  <a:pt x="91639" y="135731"/>
                  <a:pt x="96441" y="140533"/>
                  <a:pt x="96441" y="146447"/>
                </a:cubicBezTo>
                <a:close/>
                <a:moveTo>
                  <a:pt x="132159" y="157163"/>
                </a:moveTo>
                <a:cubicBezTo>
                  <a:pt x="126245" y="157163"/>
                  <a:pt x="121444" y="152361"/>
                  <a:pt x="121444" y="146447"/>
                </a:cubicBezTo>
                <a:cubicBezTo>
                  <a:pt x="121444" y="140533"/>
                  <a:pt x="126245" y="135731"/>
                  <a:pt x="132159" y="135731"/>
                </a:cubicBezTo>
                <a:cubicBezTo>
                  <a:pt x="138073" y="135731"/>
                  <a:pt x="142875" y="140533"/>
                  <a:pt x="142875" y="146447"/>
                </a:cubicBezTo>
                <a:cubicBezTo>
                  <a:pt x="142875" y="152361"/>
                  <a:pt x="138073" y="157163"/>
                  <a:pt x="132159" y="157163"/>
                </a:cubicBezTo>
                <a:close/>
                <a:moveTo>
                  <a:pt x="28575" y="189309"/>
                </a:moveTo>
                <a:cubicBezTo>
                  <a:pt x="28575" y="183371"/>
                  <a:pt x="33352" y="178594"/>
                  <a:pt x="39291" y="178594"/>
                </a:cubicBezTo>
                <a:lnTo>
                  <a:pt x="89297" y="178594"/>
                </a:lnTo>
                <a:cubicBezTo>
                  <a:pt x="95235" y="178594"/>
                  <a:pt x="100013" y="183371"/>
                  <a:pt x="100013" y="189309"/>
                </a:cubicBezTo>
                <a:cubicBezTo>
                  <a:pt x="100013" y="195248"/>
                  <a:pt x="95235" y="200025"/>
                  <a:pt x="89297" y="200025"/>
                </a:cubicBezTo>
                <a:lnTo>
                  <a:pt x="39291" y="200025"/>
                </a:lnTo>
                <a:cubicBezTo>
                  <a:pt x="33352" y="200025"/>
                  <a:pt x="28575" y="195248"/>
                  <a:pt x="28575" y="189309"/>
                </a:cubicBezTo>
                <a:close/>
                <a:moveTo>
                  <a:pt x="132159" y="178594"/>
                </a:moveTo>
                <a:cubicBezTo>
                  <a:pt x="138098" y="178594"/>
                  <a:pt x="142875" y="183371"/>
                  <a:pt x="142875" y="189309"/>
                </a:cubicBezTo>
                <a:cubicBezTo>
                  <a:pt x="142875" y="195248"/>
                  <a:pt x="138098" y="200025"/>
                  <a:pt x="132159" y="200025"/>
                </a:cubicBezTo>
                <a:cubicBezTo>
                  <a:pt x="126221" y="200025"/>
                  <a:pt x="121444" y="195248"/>
                  <a:pt x="121444" y="189309"/>
                </a:cubicBezTo>
                <a:cubicBezTo>
                  <a:pt x="121444" y="183371"/>
                  <a:pt x="126221" y="178594"/>
                  <a:pt x="132159" y="178594"/>
                </a:cubicBezTo>
                <a:close/>
              </a:path>
            </a:pathLst>
          </a:custGeom>
          <a:solidFill>
            <a:srgbClr val="E6B450"/>
          </a:solidFill>
        </p:spPr>
      </p:sp>
      <p:sp>
        <p:nvSpPr>
          <p:cNvPr id="8" name="Text 6"/>
          <p:cNvSpPr/>
          <p:nvPr/>
        </p:nvSpPr>
        <p:spPr>
          <a:xfrm>
            <a:off x="1085850" y="2322368"/>
            <a:ext cx="4752975" cy="304800"/>
          </a:xfrm>
          <a:prstGeom prst="rect">
            <a:avLst/>
          </a:prstGeom>
          <a:noFill/>
        </p:spPr>
        <p:txBody>
          <a:bodyPr wrap="square" lIns="0" tIns="0" rIns="0" bIns="0" rtlCol="0" anchor="ctr"/>
          <a:lstStyle/>
          <a:p>
            <a:pPr>
              <a:lnSpc>
                <a:spcPct val="110000"/>
              </a:lnSpc>
            </a:pPr>
            <a:r>
              <a:rPr lang="en-US" sz="1800" b="1" dirty="0">
                <a:latin typeface="微软雅黑" panose="020B0503020204020204" pitchFamily="34" charset="-122"/>
                <a:ea typeface="微软雅黑" panose="020B0503020204020204" pitchFamily="34" charset="-122"/>
                <a:cs typeface="微软雅黑" panose="020B0503020204020204" pitchFamily="34" charset="-122"/>
              </a:rPr>
              <a:t>代价函数</a:t>
            </a:r>
            <a:endParaRPr lang="en-US" sz="1600" dirty="0"/>
          </a:p>
        </p:txBody>
      </p:sp>
      <p:sp>
        <p:nvSpPr>
          <p:cNvPr id="9" name="Text 7"/>
          <p:cNvSpPr/>
          <p:nvPr/>
        </p:nvSpPr>
        <p:spPr>
          <a:xfrm>
            <a:off x="1085850" y="2741468"/>
            <a:ext cx="4724400" cy="276225"/>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TEB算法的代价函数为：</a:t>
            </a:r>
            <a:endParaRPr lang="en-US" sz="2000" dirty="0"/>
          </a:p>
        </p:txBody>
      </p:sp>
      <p:sp>
        <p:nvSpPr>
          <p:cNvPr id="10" name="Shape 8"/>
          <p:cNvSpPr/>
          <p:nvPr/>
        </p:nvSpPr>
        <p:spPr>
          <a:xfrm>
            <a:off x="1090613" y="3139137"/>
            <a:ext cx="4629150" cy="885825"/>
          </a:xfrm>
          <a:custGeom>
            <a:avLst/>
            <a:gdLst/>
            <a:ahLst/>
            <a:cxnLst/>
            <a:rect l="l" t="t" r="r" b="b"/>
            <a:pathLst>
              <a:path w="4629150" h="885825">
                <a:moveTo>
                  <a:pt x="76199" y="0"/>
                </a:moveTo>
                <a:lnTo>
                  <a:pt x="4552951" y="0"/>
                </a:lnTo>
                <a:cubicBezTo>
                  <a:pt x="4595035" y="0"/>
                  <a:pt x="4629150" y="34115"/>
                  <a:pt x="4629150" y="76199"/>
                </a:cubicBezTo>
                <a:lnTo>
                  <a:pt x="4629150" y="809626"/>
                </a:lnTo>
                <a:cubicBezTo>
                  <a:pt x="4629150" y="851710"/>
                  <a:pt x="4595035" y="885825"/>
                  <a:pt x="4552951" y="885825"/>
                </a:cubicBezTo>
                <a:lnTo>
                  <a:pt x="76199" y="885825"/>
                </a:lnTo>
                <a:cubicBezTo>
                  <a:pt x="34115" y="885825"/>
                  <a:pt x="0" y="851710"/>
                  <a:pt x="0" y="809626"/>
                </a:cubicBezTo>
                <a:lnTo>
                  <a:pt x="0" y="76199"/>
                </a:lnTo>
                <a:cubicBezTo>
                  <a:pt x="0" y="34143"/>
                  <a:pt x="34143" y="0"/>
                  <a:pt x="76199" y="0"/>
                </a:cubicBezTo>
                <a:close/>
              </a:path>
            </a:pathLst>
          </a:custGeom>
          <a:solidFill>
            <a:srgbClr val="E6B450">
              <a:alpha val="10196"/>
            </a:srgbClr>
          </a:solidFill>
          <a:ln w="12700">
            <a:solidFill>
              <a:srgbClr val="E6B450">
                <a:alpha val="30196"/>
              </a:srgbClr>
            </a:solidFill>
            <a:prstDash val="solid"/>
          </a:ln>
        </p:spPr>
      </p:sp>
      <p:grpSp>
        <p:nvGrpSpPr>
          <p:cNvPr id="34" name="组合 33">
            <a:extLst>
              <a:ext uri="{FF2B5EF4-FFF2-40B4-BE49-F238E27FC236}">
                <a16:creationId xmlns:a16="http://schemas.microsoft.com/office/drawing/2014/main" id="{135B8172-8965-6944-A525-3B7511BC2A5A}"/>
              </a:ext>
            </a:extLst>
          </p:cNvPr>
          <p:cNvGrpSpPr/>
          <p:nvPr/>
        </p:nvGrpSpPr>
        <p:grpSpPr>
          <a:xfrm>
            <a:off x="0" y="939798"/>
            <a:ext cx="5022850" cy="625474"/>
            <a:chOff x="0" y="1075267"/>
            <a:chExt cx="5022850" cy="625474"/>
          </a:xfrm>
        </p:grpSpPr>
        <p:sp>
          <p:nvSpPr>
            <p:cNvPr id="35" name="矩形 34">
              <a:extLst>
                <a:ext uri="{FF2B5EF4-FFF2-40B4-BE49-F238E27FC236}">
                  <a16:creationId xmlns:a16="http://schemas.microsoft.com/office/drawing/2014/main" id="{482000B4-E38B-6ECA-EEB8-6A4708EA5599}"/>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C5C772B8-EF20-38F1-1EE1-04B3BA55DE4A}"/>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7.3.4 TEB</a:t>
              </a:r>
              <a:r>
                <a:rPr lang="zh-CN" altLang="en-US" sz="2400" b="1" dirty="0">
                  <a:solidFill>
                    <a:schemeClr val="accent1"/>
                  </a:solidFill>
                  <a:latin typeface="+mj-lt"/>
                </a:rPr>
                <a:t>算法</a:t>
              </a:r>
            </a:p>
          </p:txBody>
        </p:sp>
      </p:grpSp>
      <p:graphicFrame>
        <p:nvGraphicFramePr>
          <p:cNvPr id="3" name="对象 2">
            <a:extLst>
              <a:ext uri="{FF2B5EF4-FFF2-40B4-BE49-F238E27FC236}">
                <a16:creationId xmlns:a16="http://schemas.microsoft.com/office/drawing/2014/main" id="{E7320BDC-9922-7E89-5130-818FD18B3682}"/>
              </a:ext>
            </a:extLst>
          </p:cNvPr>
          <p:cNvGraphicFramePr>
            <a:graphicFrameLocks noChangeAspect="1"/>
          </p:cNvGraphicFramePr>
          <p:nvPr>
            <p:extLst>
              <p:ext uri="{D42A27DB-BD31-4B8C-83A1-F6EECF244321}">
                <p14:modId xmlns:p14="http://schemas.microsoft.com/office/powerpoint/2010/main" val="2822715319"/>
              </p:ext>
            </p:extLst>
          </p:nvPr>
        </p:nvGraphicFramePr>
        <p:xfrm>
          <a:off x="1958838" y="3310467"/>
          <a:ext cx="3308720" cy="771645"/>
        </p:xfrm>
        <a:graphic>
          <a:graphicData uri="http://schemas.openxmlformats.org/presentationml/2006/ole">
            <mc:AlternateContent xmlns:mc="http://schemas.openxmlformats.org/markup-compatibility/2006">
              <mc:Choice xmlns:v="urn:schemas-microsoft-com:vml" Requires="v">
                <p:oleObj name="Equation" r:id="rId3" imgW="1803400" imgH="419100" progId="Equation.DSMT4">
                  <p:embed/>
                </p:oleObj>
              </mc:Choice>
              <mc:Fallback>
                <p:oleObj name="Equation" r:id="rId3" imgW="1803400" imgH="419100" progId="Equation.DSMT4">
                  <p:embed/>
                  <p:pic>
                    <p:nvPicPr>
                      <p:cNvPr id="3" name="对象 2">
                        <a:extLst>
                          <a:ext uri="{FF2B5EF4-FFF2-40B4-BE49-F238E27FC236}">
                            <a16:creationId xmlns:a16="http://schemas.microsoft.com/office/drawing/2014/main" id="{E7320BDC-9922-7E89-5130-818FD18B36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8838" y="3310467"/>
                        <a:ext cx="3308720" cy="771645"/>
                      </a:xfrm>
                      <a:prstGeom prst="rect">
                        <a:avLst/>
                      </a:prstGeom>
                      <a:noFill/>
                    </p:spPr>
                  </p:pic>
                </p:oleObj>
              </mc:Fallback>
            </mc:AlternateContent>
          </a:graphicData>
        </a:graphic>
      </p:graphicFrame>
      <p:graphicFrame>
        <p:nvGraphicFramePr>
          <p:cNvPr id="37" name="对象 36">
            <a:extLst>
              <a:ext uri="{FF2B5EF4-FFF2-40B4-BE49-F238E27FC236}">
                <a16:creationId xmlns:a16="http://schemas.microsoft.com/office/drawing/2014/main" id="{C42F5F97-D0CF-051E-4CFD-54236E7B82C8}"/>
              </a:ext>
            </a:extLst>
          </p:cNvPr>
          <p:cNvGraphicFramePr>
            <a:graphicFrameLocks noChangeAspect="1"/>
          </p:cNvGraphicFramePr>
          <p:nvPr>
            <p:extLst>
              <p:ext uri="{D42A27DB-BD31-4B8C-83A1-F6EECF244321}">
                <p14:modId xmlns:p14="http://schemas.microsoft.com/office/powerpoint/2010/main" val="2338056689"/>
              </p:ext>
            </p:extLst>
          </p:nvPr>
        </p:nvGraphicFramePr>
        <p:xfrm>
          <a:off x="1675194" y="4230833"/>
          <a:ext cx="3869912" cy="771644"/>
        </p:xfrm>
        <a:graphic>
          <a:graphicData uri="http://schemas.openxmlformats.org/presentationml/2006/ole">
            <mc:AlternateContent xmlns:mc="http://schemas.openxmlformats.org/markup-compatibility/2006">
              <mc:Choice xmlns:v="urn:schemas-microsoft-com:vml" Requires="v">
                <p:oleObj name="Equation" r:id="rId5" imgW="2108200" imgH="419100" progId="Equation.DSMT4">
                  <p:embed/>
                </p:oleObj>
              </mc:Choice>
              <mc:Fallback>
                <p:oleObj name="Equation" r:id="rId5" imgW="2108200" imgH="419100" progId="Equation.DSMT4">
                  <p:embed/>
                  <p:pic>
                    <p:nvPicPr>
                      <p:cNvPr id="37" name="对象 36">
                        <a:extLst>
                          <a:ext uri="{FF2B5EF4-FFF2-40B4-BE49-F238E27FC236}">
                            <a16:creationId xmlns:a16="http://schemas.microsoft.com/office/drawing/2014/main" id="{C42F5F97-D0CF-051E-4CFD-54236E7B82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5194" y="4230833"/>
                        <a:ext cx="3869912" cy="771644"/>
                      </a:xfrm>
                      <a:prstGeom prst="rect">
                        <a:avLst/>
                      </a:prstGeom>
                      <a:noFill/>
                    </p:spPr>
                  </p:pic>
                </p:oleObj>
              </mc:Fallback>
            </mc:AlternateContent>
          </a:graphicData>
        </a:graphic>
      </p:graphicFrame>
      <p:sp>
        <p:nvSpPr>
          <p:cNvPr id="38" name="Shape 3"/>
          <p:cNvSpPr/>
          <p:nvPr/>
        </p:nvSpPr>
        <p:spPr>
          <a:xfrm>
            <a:off x="6810929" y="2115199"/>
            <a:ext cx="4290458" cy="3278068"/>
          </a:xfrm>
          <a:custGeom>
            <a:avLst/>
            <a:gdLst/>
            <a:ahLst/>
            <a:cxnLst/>
            <a:rect l="l" t="t" r="r" b="b"/>
            <a:pathLst>
              <a:path w="7448550" h="2047875">
                <a:moveTo>
                  <a:pt x="38100" y="0"/>
                </a:moveTo>
                <a:lnTo>
                  <a:pt x="7334258" y="0"/>
                </a:lnTo>
                <a:cubicBezTo>
                  <a:pt x="7397380" y="0"/>
                  <a:pt x="7448550" y="51170"/>
                  <a:pt x="7448550" y="114292"/>
                </a:cubicBezTo>
                <a:lnTo>
                  <a:pt x="7448550" y="1933583"/>
                </a:lnTo>
                <a:cubicBezTo>
                  <a:pt x="7448550" y="1996705"/>
                  <a:pt x="7397380" y="2047875"/>
                  <a:pt x="7334258" y="2047875"/>
                </a:cubicBezTo>
                <a:lnTo>
                  <a:pt x="38100" y="2047875"/>
                </a:lnTo>
                <a:cubicBezTo>
                  <a:pt x="17072" y="2047875"/>
                  <a:pt x="0" y="2030803"/>
                  <a:pt x="0" y="2009775"/>
                </a:cubicBezTo>
                <a:lnTo>
                  <a:pt x="0" y="38100"/>
                </a:lnTo>
                <a:cubicBezTo>
                  <a:pt x="0" y="17072"/>
                  <a:pt x="17072" y="0"/>
                  <a:pt x="38100" y="0"/>
                </a:cubicBezTo>
                <a:close/>
              </a:path>
            </a:pathLst>
          </a:custGeom>
          <a:solidFill>
            <a:srgbClr val="5F87A7">
              <a:alpha val="10196"/>
            </a:srgbClr>
          </a:solidFill>
        </p:spPr>
      </p:sp>
      <p:sp>
        <p:nvSpPr>
          <p:cNvPr id="39" name="Shape 4"/>
          <p:cNvSpPr/>
          <p:nvPr/>
        </p:nvSpPr>
        <p:spPr>
          <a:xfrm>
            <a:off x="6810929" y="2115199"/>
            <a:ext cx="38100" cy="3278068"/>
          </a:xfrm>
          <a:custGeom>
            <a:avLst/>
            <a:gdLst/>
            <a:ahLst/>
            <a:cxnLst/>
            <a:rect l="l" t="t" r="r" b="b"/>
            <a:pathLst>
              <a:path w="38100" h="2047875">
                <a:moveTo>
                  <a:pt x="38100" y="0"/>
                </a:moveTo>
                <a:lnTo>
                  <a:pt x="38100" y="0"/>
                </a:lnTo>
                <a:lnTo>
                  <a:pt x="38100" y="2047875"/>
                </a:lnTo>
                <a:lnTo>
                  <a:pt x="38100" y="2047875"/>
                </a:lnTo>
                <a:cubicBezTo>
                  <a:pt x="17072" y="2047875"/>
                  <a:pt x="0" y="2030803"/>
                  <a:pt x="0" y="2009775"/>
                </a:cubicBezTo>
                <a:lnTo>
                  <a:pt x="0" y="38100"/>
                </a:lnTo>
                <a:cubicBezTo>
                  <a:pt x="0" y="17072"/>
                  <a:pt x="17072" y="0"/>
                  <a:pt x="38100" y="0"/>
                </a:cubicBezTo>
                <a:close/>
              </a:path>
            </a:pathLst>
          </a:custGeom>
          <a:solidFill>
            <a:srgbClr val="E6B450"/>
          </a:solidFill>
        </p:spPr>
      </p:sp>
      <p:sp>
        <p:nvSpPr>
          <p:cNvPr id="40" name="Shape 5"/>
          <p:cNvSpPr/>
          <p:nvPr/>
        </p:nvSpPr>
        <p:spPr>
          <a:xfrm>
            <a:off x="7087154" y="2381899"/>
            <a:ext cx="228600" cy="228600"/>
          </a:xfrm>
          <a:custGeom>
            <a:avLst/>
            <a:gdLst/>
            <a:ahLst/>
            <a:cxnLst/>
            <a:rect l="l" t="t" r="r" b="b"/>
            <a:pathLst>
              <a:path w="228600" h="228600">
                <a:moveTo>
                  <a:pt x="57150" y="142875"/>
                </a:moveTo>
                <a:lnTo>
                  <a:pt x="10939" y="142875"/>
                </a:lnTo>
                <a:cubicBezTo>
                  <a:pt x="-179" y="142875"/>
                  <a:pt x="-7010" y="130775"/>
                  <a:pt x="-1295" y="121221"/>
                </a:cubicBezTo>
                <a:lnTo>
                  <a:pt x="22324" y="81841"/>
                </a:lnTo>
                <a:cubicBezTo>
                  <a:pt x="26209" y="75367"/>
                  <a:pt x="33174" y="71438"/>
                  <a:pt x="40719" y="71438"/>
                </a:cubicBezTo>
                <a:lnTo>
                  <a:pt x="83135" y="71438"/>
                </a:lnTo>
                <a:cubicBezTo>
                  <a:pt x="117113" y="13886"/>
                  <a:pt x="167789" y="10984"/>
                  <a:pt x="201677" y="15939"/>
                </a:cubicBezTo>
                <a:cubicBezTo>
                  <a:pt x="207392" y="16788"/>
                  <a:pt x="211857" y="21253"/>
                  <a:pt x="212661" y="26923"/>
                </a:cubicBezTo>
                <a:cubicBezTo>
                  <a:pt x="217616" y="60811"/>
                  <a:pt x="214714" y="111487"/>
                  <a:pt x="157163" y="145465"/>
                </a:cubicBezTo>
                <a:lnTo>
                  <a:pt x="157163" y="187881"/>
                </a:lnTo>
                <a:cubicBezTo>
                  <a:pt x="157163" y="195426"/>
                  <a:pt x="153233" y="202391"/>
                  <a:pt x="146759" y="206276"/>
                </a:cubicBezTo>
                <a:lnTo>
                  <a:pt x="107379" y="229895"/>
                </a:lnTo>
                <a:cubicBezTo>
                  <a:pt x="97869" y="235610"/>
                  <a:pt x="85725" y="228734"/>
                  <a:pt x="85725" y="217661"/>
                </a:cubicBezTo>
                <a:lnTo>
                  <a:pt x="85725" y="171450"/>
                </a:lnTo>
                <a:cubicBezTo>
                  <a:pt x="85725" y="155689"/>
                  <a:pt x="72911" y="142875"/>
                  <a:pt x="57150" y="142875"/>
                </a:cubicBezTo>
                <a:lnTo>
                  <a:pt x="57105" y="142875"/>
                </a:lnTo>
                <a:close/>
                <a:moveTo>
                  <a:pt x="178594" y="71438"/>
                </a:moveTo>
                <a:cubicBezTo>
                  <a:pt x="178594" y="59609"/>
                  <a:pt x="168991" y="50006"/>
                  <a:pt x="157163" y="50006"/>
                </a:cubicBezTo>
                <a:cubicBezTo>
                  <a:pt x="145334" y="50006"/>
                  <a:pt x="135731" y="59609"/>
                  <a:pt x="135731" y="71438"/>
                </a:cubicBezTo>
                <a:cubicBezTo>
                  <a:pt x="135731" y="83266"/>
                  <a:pt x="145334" y="92869"/>
                  <a:pt x="157163" y="92869"/>
                </a:cubicBezTo>
                <a:cubicBezTo>
                  <a:pt x="168991" y="92869"/>
                  <a:pt x="178594" y="83266"/>
                  <a:pt x="178594" y="71438"/>
                </a:cubicBezTo>
                <a:close/>
              </a:path>
            </a:pathLst>
          </a:custGeom>
          <a:solidFill>
            <a:srgbClr val="E6B450"/>
          </a:solidFill>
        </p:spPr>
      </p:sp>
      <p:sp>
        <p:nvSpPr>
          <p:cNvPr id="41" name="Text 6"/>
          <p:cNvSpPr/>
          <p:nvPr/>
        </p:nvSpPr>
        <p:spPr>
          <a:xfrm>
            <a:off x="7496729" y="2343799"/>
            <a:ext cx="3228975" cy="304800"/>
          </a:xfrm>
          <a:prstGeom prst="rect">
            <a:avLst/>
          </a:prstGeom>
          <a:noFill/>
        </p:spPr>
        <p:txBody>
          <a:bodyPr wrap="square" lIns="0" tIns="0" rIns="0" bIns="0" rtlCol="0" anchor="ctr"/>
          <a:lstStyle/>
          <a:p>
            <a:pPr>
              <a:lnSpc>
                <a:spcPct val="110000"/>
              </a:lnSpc>
            </a:pPr>
            <a:r>
              <a:rPr lang="en-US" sz="1800" b="1" dirty="0">
                <a:latin typeface="微软雅黑" panose="020B0503020204020204" pitchFamily="34" charset="-122"/>
                <a:ea typeface="微软雅黑" panose="020B0503020204020204" pitchFamily="34" charset="-122"/>
                <a:cs typeface="微软雅黑" panose="020B0503020204020204" pitchFamily="34" charset="-122"/>
              </a:rPr>
              <a:t>加速度限制条件</a:t>
            </a:r>
            <a:endParaRPr lang="en-US" sz="1600" dirty="0"/>
          </a:p>
        </p:txBody>
      </p:sp>
      <p:sp>
        <p:nvSpPr>
          <p:cNvPr id="42" name="Text 7"/>
          <p:cNvSpPr/>
          <p:nvPr/>
        </p:nvSpPr>
        <p:spPr>
          <a:xfrm>
            <a:off x="7496729" y="2762899"/>
            <a:ext cx="3200400" cy="276225"/>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TEB算法的加速度限制条件为：</a:t>
            </a:r>
            <a:endParaRPr lang="en-US" sz="2000" dirty="0"/>
          </a:p>
        </p:txBody>
      </p:sp>
      <p:sp>
        <p:nvSpPr>
          <p:cNvPr id="43" name="Shape 8"/>
          <p:cNvSpPr/>
          <p:nvPr/>
        </p:nvSpPr>
        <p:spPr>
          <a:xfrm>
            <a:off x="7501492" y="3160568"/>
            <a:ext cx="2620408" cy="771525"/>
          </a:xfrm>
          <a:custGeom>
            <a:avLst/>
            <a:gdLst/>
            <a:ahLst/>
            <a:cxnLst/>
            <a:rect l="l" t="t" r="r" b="b"/>
            <a:pathLst>
              <a:path w="1495425" h="771525">
                <a:moveTo>
                  <a:pt x="76204" y="0"/>
                </a:moveTo>
                <a:lnTo>
                  <a:pt x="1419221" y="0"/>
                </a:lnTo>
                <a:cubicBezTo>
                  <a:pt x="1461308" y="0"/>
                  <a:pt x="1495425" y="34117"/>
                  <a:pt x="1495425" y="76204"/>
                </a:cubicBezTo>
                <a:lnTo>
                  <a:pt x="1495425" y="695321"/>
                </a:lnTo>
                <a:cubicBezTo>
                  <a:pt x="1495425" y="737408"/>
                  <a:pt x="1461308" y="771525"/>
                  <a:pt x="1419221" y="771525"/>
                </a:cubicBezTo>
                <a:lnTo>
                  <a:pt x="76204" y="771525"/>
                </a:lnTo>
                <a:cubicBezTo>
                  <a:pt x="34117" y="771525"/>
                  <a:pt x="0" y="737408"/>
                  <a:pt x="0" y="695321"/>
                </a:cubicBezTo>
                <a:lnTo>
                  <a:pt x="0" y="76204"/>
                </a:lnTo>
                <a:cubicBezTo>
                  <a:pt x="0" y="34146"/>
                  <a:pt x="34146" y="0"/>
                  <a:pt x="76204" y="0"/>
                </a:cubicBezTo>
                <a:close/>
              </a:path>
            </a:pathLst>
          </a:custGeom>
          <a:solidFill>
            <a:srgbClr val="E6B450">
              <a:alpha val="10196"/>
            </a:srgbClr>
          </a:solidFill>
          <a:ln w="12700">
            <a:solidFill>
              <a:srgbClr val="E6B450">
                <a:alpha val="30196"/>
              </a:srgbClr>
            </a:solidFill>
            <a:prstDash val="solid"/>
          </a:ln>
        </p:spPr>
      </p:sp>
      <p:sp>
        <p:nvSpPr>
          <p:cNvPr id="46" name="Shape 11"/>
          <p:cNvSpPr/>
          <p:nvPr/>
        </p:nvSpPr>
        <p:spPr>
          <a:xfrm>
            <a:off x="7496729" y="4277374"/>
            <a:ext cx="2625171" cy="771525"/>
          </a:xfrm>
          <a:custGeom>
            <a:avLst/>
            <a:gdLst/>
            <a:ahLst/>
            <a:cxnLst/>
            <a:rect l="l" t="t" r="r" b="b"/>
            <a:pathLst>
              <a:path w="1495425" h="771525">
                <a:moveTo>
                  <a:pt x="76204" y="0"/>
                </a:moveTo>
                <a:lnTo>
                  <a:pt x="1419221" y="0"/>
                </a:lnTo>
                <a:cubicBezTo>
                  <a:pt x="1461308" y="0"/>
                  <a:pt x="1495425" y="34117"/>
                  <a:pt x="1495425" y="76204"/>
                </a:cubicBezTo>
                <a:lnTo>
                  <a:pt x="1495425" y="695321"/>
                </a:lnTo>
                <a:cubicBezTo>
                  <a:pt x="1495425" y="737408"/>
                  <a:pt x="1461308" y="771525"/>
                  <a:pt x="1419221" y="771525"/>
                </a:cubicBezTo>
                <a:lnTo>
                  <a:pt x="76204" y="771525"/>
                </a:lnTo>
                <a:cubicBezTo>
                  <a:pt x="34117" y="771525"/>
                  <a:pt x="0" y="737408"/>
                  <a:pt x="0" y="695321"/>
                </a:cubicBezTo>
                <a:lnTo>
                  <a:pt x="0" y="76204"/>
                </a:lnTo>
                <a:cubicBezTo>
                  <a:pt x="0" y="34146"/>
                  <a:pt x="34146" y="0"/>
                  <a:pt x="76204" y="0"/>
                </a:cubicBezTo>
                <a:close/>
              </a:path>
            </a:pathLst>
          </a:custGeom>
          <a:solidFill>
            <a:srgbClr val="E6B450">
              <a:alpha val="10196"/>
            </a:srgbClr>
          </a:solidFill>
          <a:ln w="12700">
            <a:solidFill>
              <a:srgbClr val="E6B450">
                <a:alpha val="30196"/>
              </a:srgbClr>
            </a:solidFill>
            <a:prstDash val="solid"/>
          </a:ln>
        </p:spPr>
      </p:sp>
      <p:sp>
        <p:nvSpPr>
          <p:cNvPr id="49" name="Shape 8">
            <a:extLst>
              <a:ext uri="{FF2B5EF4-FFF2-40B4-BE49-F238E27FC236}">
                <a16:creationId xmlns:a16="http://schemas.microsoft.com/office/drawing/2014/main" id="{5710007E-6DC5-E496-CA25-30F3F88B89D1}"/>
              </a:ext>
            </a:extLst>
          </p:cNvPr>
          <p:cNvSpPr/>
          <p:nvPr/>
        </p:nvSpPr>
        <p:spPr>
          <a:xfrm>
            <a:off x="1133475" y="4170892"/>
            <a:ext cx="4629150" cy="885825"/>
          </a:xfrm>
          <a:custGeom>
            <a:avLst/>
            <a:gdLst/>
            <a:ahLst/>
            <a:cxnLst/>
            <a:rect l="l" t="t" r="r" b="b"/>
            <a:pathLst>
              <a:path w="4629150" h="885825">
                <a:moveTo>
                  <a:pt x="76199" y="0"/>
                </a:moveTo>
                <a:lnTo>
                  <a:pt x="4552951" y="0"/>
                </a:lnTo>
                <a:cubicBezTo>
                  <a:pt x="4595035" y="0"/>
                  <a:pt x="4629150" y="34115"/>
                  <a:pt x="4629150" y="76199"/>
                </a:cubicBezTo>
                <a:lnTo>
                  <a:pt x="4629150" y="809626"/>
                </a:lnTo>
                <a:cubicBezTo>
                  <a:pt x="4629150" y="851710"/>
                  <a:pt x="4595035" y="885825"/>
                  <a:pt x="4552951" y="885825"/>
                </a:cubicBezTo>
                <a:lnTo>
                  <a:pt x="76199" y="885825"/>
                </a:lnTo>
                <a:cubicBezTo>
                  <a:pt x="34115" y="885825"/>
                  <a:pt x="0" y="851710"/>
                  <a:pt x="0" y="809626"/>
                </a:cubicBezTo>
                <a:lnTo>
                  <a:pt x="0" y="76199"/>
                </a:lnTo>
                <a:cubicBezTo>
                  <a:pt x="0" y="34143"/>
                  <a:pt x="34143" y="0"/>
                  <a:pt x="76199" y="0"/>
                </a:cubicBezTo>
                <a:close/>
              </a:path>
            </a:pathLst>
          </a:custGeom>
          <a:solidFill>
            <a:srgbClr val="E6B450">
              <a:alpha val="10196"/>
            </a:srgbClr>
          </a:solidFill>
          <a:ln w="12700">
            <a:solidFill>
              <a:srgbClr val="E6B450">
                <a:alpha val="30196"/>
              </a:srgbClr>
            </a:solidFill>
            <a:prstDash val="solid"/>
          </a:ln>
        </p:spPr>
      </p:sp>
      <p:graphicFrame>
        <p:nvGraphicFramePr>
          <p:cNvPr id="51" name="对象 50">
            <a:extLst>
              <a:ext uri="{FF2B5EF4-FFF2-40B4-BE49-F238E27FC236}">
                <a16:creationId xmlns:a16="http://schemas.microsoft.com/office/drawing/2014/main" id="{EFA7755C-2C97-9D20-981D-C40B41CF929B}"/>
              </a:ext>
            </a:extLst>
          </p:cNvPr>
          <p:cNvGraphicFramePr>
            <a:graphicFrameLocks noChangeAspect="1"/>
          </p:cNvGraphicFramePr>
          <p:nvPr>
            <p:extLst>
              <p:ext uri="{D42A27DB-BD31-4B8C-83A1-F6EECF244321}">
                <p14:modId xmlns:p14="http://schemas.microsoft.com/office/powerpoint/2010/main" val="2732179451"/>
              </p:ext>
            </p:extLst>
          </p:nvPr>
        </p:nvGraphicFramePr>
        <p:xfrm>
          <a:off x="7867059" y="3234267"/>
          <a:ext cx="1628068" cy="621626"/>
        </p:xfrm>
        <a:graphic>
          <a:graphicData uri="http://schemas.openxmlformats.org/presentationml/2006/ole">
            <mc:AlternateContent xmlns:mc="http://schemas.openxmlformats.org/markup-compatibility/2006">
              <mc:Choice xmlns:v="urn:schemas-microsoft-com:vml" Requires="v">
                <p:oleObj name="Equation" r:id="rId7" imgW="1041120" imgH="393480" progId="Equation.DSMT4">
                  <p:embed/>
                </p:oleObj>
              </mc:Choice>
              <mc:Fallback>
                <p:oleObj name="Equation" r:id="rId7" imgW="1041120" imgH="393480" progId="Equation.DSMT4">
                  <p:embed/>
                  <p:pic>
                    <p:nvPicPr>
                      <p:cNvPr id="51" name="对象 50">
                        <a:extLst>
                          <a:ext uri="{FF2B5EF4-FFF2-40B4-BE49-F238E27FC236}">
                            <a16:creationId xmlns:a16="http://schemas.microsoft.com/office/drawing/2014/main" id="{EFA7755C-2C97-9D20-981D-C40B41CF929B}"/>
                          </a:ext>
                        </a:extLst>
                      </p:cNvPr>
                      <p:cNvPicPr>
                        <a:picLocks noChangeAspect="1" noChangeArrowheads="1"/>
                      </p:cNvPicPr>
                      <p:nvPr/>
                    </p:nvPicPr>
                    <p:blipFill>
                      <a:blip r:embed="rId8"/>
                      <a:srcRect/>
                      <a:stretch>
                        <a:fillRect/>
                      </a:stretch>
                    </p:blipFill>
                    <p:spPr bwMode="auto">
                      <a:xfrm>
                        <a:off x="7867059" y="3234267"/>
                        <a:ext cx="1628068" cy="621626"/>
                      </a:xfrm>
                      <a:prstGeom prst="rect">
                        <a:avLst/>
                      </a:prstGeom>
                      <a:noFill/>
                    </p:spPr>
                  </p:pic>
                </p:oleObj>
              </mc:Fallback>
            </mc:AlternateContent>
          </a:graphicData>
        </a:graphic>
      </p:graphicFrame>
      <p:graphicFrame>
        <p:nvGraphicFramePr>
          <p:cNvPr id="53" name="对象 52">
            <a:extLst>
              <a:ext uri="{FF2B5EF4-FFF2-40B4-BE49-F238E27FC236}">
                <a16:creationId xmlns:a16="http://schemas.microsoft.com/office/drawing/2014/main" id="{639D56D1-0917-3FB0-9165-888F3C136E6C}"/>
              </a:ext>
            </a:extLst>
          </p:cNvPr>
          <p:cNvGraphicFramePr>
            <a:graphicFrameLocks noChangeAspect="1"/>
          </p:cNvGraphicFramePr>
          <p:nvPr>
            <p:extLst>
              <p:ext uri="{D42A27DB-BD31-4B8C-83A1-F6EECF244321}">
                <p14:modId xmlns:p14="http://schemas.microsoft.com/office/powerpoint/2010/main" val="1138818881"/>
              </p:ext>
            </p:extLst>
          </p:nvPr>
        </p:nvGraphicFramePr>
        <p:xfrm>
          <a:off x="7802330" y="4284518"/>
          <a:ext cx="2018732" cy="714495"/>
        </p:xfrm>
        <a:graphic>
          <a:graphicData uri="http://schemas.openxmlformats.org/presentationml/2006/ole">
            <mc:AlternateContent xmlns:mc="http://schemas.openxmlformats.org/markup-compatibility/2006">
              <mc:Choice xmlns:v="urn:schemas-microsoft-com:vml" Requires="v">
                <p:oleObj name="Equation" r:id="rId9" imgW="1129810" imgH="393529" progId="Equation.DSMT4">
                  <p:embed/>
                </p:oleObj>
              </mc:Choice>
              <mc:Fallback>
                <p:oleObj name="Equation" r:id="rId9" imgW="1129810" imgH="393529" progId="Equation.DSMT4">
                  <p:embed/>
                  <p:pic>
                    <p:nvPicPr>
                      <p:cNvPr id="53" name="对象 52">
                        <a:extLst>
                          <a:ext uri="{FF2B5EF4-FFF2-40B4-BE49-F238E27FC236}">
                            <a16:creationId xmlns:a16="http://schemas.microsoft.com/office/drawing/2014/main" id="{639D56D1-0917-3FB0-9165-888F3C136E6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02330" y="4284518"/>
                        <a:ext cx="2018732" cy="714495"/>
                      </a:xfrm>
                      <a:prstGeom prst="rect">
                        <a:avLst/>
                      </a:prstGeom>
                      <a:noFill/>
                    </p:spPr>
                  </p:pic>
                </p:oleObj>
              </mc:Fallback>
            </mc:AlternateContent>
          </a:graphicData>
        </a:graphic>
      </p:graphicFrame>
    </p:spTree>
    <p:extLst>
      <p:ext uri="{BB962C8B-B14F-4D97-AF65-F5344CB8AC3E}">
        <p14:creationId xmlns:p14="http://schemas.microsoft.com/office/powerpoint/2010/main" val="1508638709"/>
      </p:ext>
    </p:extLst>
  </p:cSld>
  <p:clrMapOvr>
    <a:masterClrMapping/>
  </p:clrMapOvr>
  <p:transition>
    <p:fad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 14"/>
          <p:cNvSpPr/>
          <p:nvPr/>
        </p:nvSpPr>
        <p:spPr>
          <a:xfrm>
            <a:off x="400050" y="1789905"/>
            <a:ext cx="8443382" cy="3679561"/>
          </a:xfrm>
          <a:custGeom>
            <a:avLst/>
            <a:gdLst/>
            <a:ahLst/>
            <a:cxnLst/>
            <a:rect l="l" t="t" r="r" b="b"/>
            <a:pathLst>
              <a:path w="7448550" h="2333625">
                <a:moveTo>
                  <a:pt x="38100" y="0"/>
                </a:moveTo>
                <a:lnTo>
                  <a:pt x="7334249" y="0"/>
                </a:lnTo>
                <a:cubicBezTo>
                  <a:pt x="7397376" y="0"/>
                  <a:pt x="7448550" y="51174"/>
                  <a:pt x="7448550" y="114301"/>
                </a:cubicBezTo>
                <a:lnTo>
                  <a:pt x="7448550" y="2219324"/>
                </a:lnTo>
                <a:cubicBezTo>
                  <a:pt x="7448550" y="2282451"/>
                  <a:pt x="7397376" y="2333625"/>
                  <a:pt x="7334249" y="2333625"/>
                </a:cubicBezTo>
                <a:lnTo>
                  <a:pt x="38100" y="2333625"/>
                </a:lnTo>
                <a:cubicBezTo>
                  <a:pt x="17072" y="2333625"/>
                  <a:pt x="0" y="2316553"/>
                  <a:pt x="0" y="2295525"/>
                </a:cubicBezTo>
                <a:lnTo>
                  <a:pt x="0" y="38100"/>
                </a:lnTo>
                <a:cubicBezTo>
                  <a:pt x="0" y="17072"/>
                  <a:pt x="17072" y="0"/>
                  <a:pt x="38100" y="0"/>
                </a:cubicBezTo>
                <a:close/>
              </a:path>
            </a:pathLst>
          </a:custGeom>
          <a:solidFill>
            <a:srgbClr val="5F87A7">
              <a:alpha val="10196"/>
            </a:srgbClr>
          </a:solidFill>
        </p:spPr>
      </p:sp>
      <p:sp>
        <p:nvSpPr>
          <p:cNvPr id="17" name="Shape 15"/>
          <p:cNvSpPr/>
          <p:nvPr/>
        </p:nvSpPr>
        <p:spPr>
          <a:xfrm>
            <a:off x="400050" y="1789905"/>
            <a:ext cx="38100" cy="3679561"/>
          </a:xfrm>
          <a:custGeom>
            <a:avLst/>
            <a:gdLst/>
            <a:ahLst/>
            <a:cxnLst/>
            <a:rect l="l" t="t" r="r" b="b"/>
            <a:pathLst>
              <a:path w="38100" h="2333625">
                <a:moveTo>
                  <a:pt x="38100" y="0"/>
                </a:moveTo>
                <a:lnTo>
                  <a:pt x="38100" y="0"/>
                </a:lnTo>
                <a:lnTo>
                  <a:pt x="38100" y="2333625"/>
                </a:lnTo>
                <a:lnTo>
                  <a:pt x="38100" y="2333625"/>
                </a:lnTo>
                <a:cubicBezTo>
                  <a:pt x="17072" y="2333625"/>
                  <a:pt x="0" y="2316553"/>
                  <a:pt x="0" y="2295525"/>
                </a:cubicBezTo>
                <a:lnTo>
                  <a:pt x="0" y="38100"/>
                </a:lnTo>
                <a:cubicBezTo>
                  <a:pt x="0" y="17072"/>
                  <a:pt x="17072" y="0"/>
                  <a:pt x="38100" y="0"/>
                </a:cubicBezTo>
                <a:close/>
              </a:path>
            </a:pathLst>
          </a:custGeom>
          <a:solidFill>
            <a:srgbClr val="E6B450"/>
          </a:solidFill>
        </p:spPr>
      </p:sp>
      <p:sp>
        <p:nvSpPr>
          <p:cNvPr id="18" name="Shape 16"/>
          <p:cNvSpPr/>
          <p:nvPr/>
        </p:nvSpPr>
        <p:spPr>
          <a:xfrm>
            <a:off x="647700" y="2056606"/>
            <a:ext cx="171450" cy="228600"/>
          </a:xfrm>
          <a:custGeom>
            <a:avLst/>
            <a:gdLst/>
            <a:ahLst/>
            <a:cxnLst/>
            <a:rect l="l" t="t" r="r" b="b"/>
            <a:pathLst>
              <a:path w="171450" h="228600">
                <a:moveTo>
                  <a:pt x="28575" y="0"/>
                </a:moveTo>
                <a:cubicBezTo>
                  <a:pt x="12814" y="0"/>
                  <a:pt x="0" y="12814"/>
                  <a:pt x="0" y="28575"/>
                </a:cubicBezTo>
                <a:lnTo>
                  <a:pt x="0" y="200025"/>
                </a:lnTo>
                <a:cubicBezTo>
                  <a:pt x="0" y="215786"/>
                  <a:pt x="12814" y="228600"/>
                  <a:pt x="28575" y="228600"/>
                </a:cubicBezTo>
                <a:lnTo>
                  <a:pt x="142875" y="228600"/>
                </a:lnTo>
                <a:cubicBezTo>
                  <a:pt x="158636" y="228600"/>
                  <a:pt x="171450" y="215786"/>
                  <a:pt x="171450" y="200025"/>
                </a:cubicBezTo>
                <a:lnTo>
                  <a:pt x="171450" y="28575"/>
                </a:lnTo>
                <a:cubicBezTo>
                  <a:pt x="171450" y="12814"/>
                  <a:pt x="158636" y="0"/>
                  <a:pt x="142875" y="0"/>
                </a:cubicBezTo>
                <a:lnTo>
                  <a:pt x="28575" y="0"/>
                </a:lnTo>
                <a:close/>
                <a:moveTo>
                  <a:pt x="42863" y="28575"/>
                </a:moveTo>
                <a:lnTo>
                  <a:pt x="128588" y="28575"/>
                </a:lnTo>
                <a:cubicBezTo>
                  <a:pt x="136490" y="28575"/>
                  <a:pt x="142875" y="34960"/>
                  <a:pt x="142875" y="42863"/>
                </a:cubicBezTo>
                <a:lnTo>
                  <a:pt x="142875" y="57150"/>
                </a:lnTo>
                <a:cubicBezTo>
                  <a:pt x="142875" y="65053"/>
                  <a:pt x="136490" y="71438"/>
                  <a:pt x="128588" y="71438"/>
                </a:cubicBezTo>
                <a:lnTo>
                  <a:pt x="42863" y="71438"/>
                </a:lnTo>
                <a:cubicBezTo>
                  <a:pt x="34960" y="71438"/>
                  <a:pt x="28575" y="65053"/>
                  <a:pt x="28575" y="57150"/>
                </a:cubicBezTo>
                <a:lnTo>
                  <a:pt x="28575" y="42863"/>
                </a:lnTo>
                <a:cubicBezTo>
                  <a:pt x="28575" y="34960"/>
                  <a:pt x="34960" y="28575"/>
                  <a:pt x="42863" y="28575"/>
                </a:cubicBezTo>
                <a:close/>
                <a:moveTo>
                  <a:pt x="50006" y="103584"/>
                </a:moveTo>
                <a:cubicBezTo>
                  <a:pt x="50006" y="109498"/>
                  <a:pt x="45205" y="114300"/>
                  <a:pt x="39291" y="114300"/>
                </a:cubicBezTo>
                <a:cubicBezTo>
                  <a:pt x="33377" y="114300"/>
                  <a:pt x="28575" y="109498"/>
                  <a:pt x="28575" y="103584"/>
                </a:cubicBezTo>
                <a:cubicBezTo>
                  <a:pt x="28575" y="97670"/>
                  <a:pt x="33377" y="92869"/>
                  <a:pt x="39291" y="92869"/>
                </a:cubicBezTo>
                <a:cubicBezTo>
                  <a:pt x="45205" y="92869"/>
                  <a:pt x="50006" y="97670"/>
                  <a:pt x="50006" y="103584"/>
                </a:cubicBezTo>
                <a:close/>
                <a:moveTo>
                  <a:pt x="85725" y="114300"/>
                </a:moveTo>
                <a:cubicBezTo>
                  <a:pt x="79811" y="114300"/>
                  <a:pt x="75009" y="109498"/>
                  <a:pt x="75009" y="103584"/>
                </a:cubicBezTo>
                <a:cubicBezTo>
                  <a:pt x="75009" y="97670"/>
                  <a:pt x="79811" y="92869"/>
                  <a:pt x="85725" y="92869"/>
                </a:cubicBezTo>
                <a:cubicBezTo>
                  <a:pt x="91639" y="92869"/>
                  <a:pt x="96441" y="97670"/>
                  <a:pt x="96441" y="103584"/>
                </a:cubicBezTo>
                <a:cubicBezTo>
                  <a:pt x="96441" y="109498"/>
                  <a:pt x="91639" y="114300"/>
                  <a:pt x="85725" y="114300"/>
                </a:cubicBezTo>
                <a:close/>
                <a:moveTo>
                  <a:pt x="142875" y="103584"/>
                </a:moveTo>
                <a:cubicBezTo>
                  <a:pt x="142875" y="109498"/>
                  <a:pt x="138073" y="114300"/>
                  <a:pt x="132159" y="114300"/>
                </a:cubicBezTo>
                <a:cubicBezTo>
                  <a:pt x="126245" y="114300"/>
                  <a:pt x="121444" y="109498"/>
                  <a:pt x="121444" y="103584"/>
                </a:cubicBezTo>
                <a:cubicBezTo>
                  <a:pt x="121444" y="97670"/>
                  <a:pt x="126245" y="92869"/>
                  <a:pt x="132159" y="92869"/>
                </a:cubicBezTo>
                <a:cubicBezTo>
                  <a:pt x="138073" y="92869"/>
                  <a:pt x="142875" y="97670"/>
                  <a:pt x="142875" y="103584"/>
                </a:cubicBezTo>
                <a:close/>
                <a:moveTo>
                  <a:pt x="39291" y="157163"/>
                </a:moveTo>
                <a:cubicBezTo>
                  <a:pt x="33377" y="157163"/>
                  <a:pt x="28575" y="152361"/>
                  <a:pt x="28575" y="146447"/>
                </a:cubicBezTo>
                <a:cubicBezTo>
                  <a:pt x="28575" y="140533"/>
                  <a:pt x="33377" y="135731"/>
                  <a:pt x="39291" y="135731"/>
                </a:cubicBezTo>
                <a:cubicBezTo>
                  <a:pt x="45205" y="135731"/>
                  <a:pt x="50006" y="140533"/>
                  <a:pt x="50006" y="146447"/>
                </a:cubicBezTo>
                <a:cubicBezTo>
                  <a:pt x="50006" y="152361"/>
                  <a:pt x="45205" y="157163"/>
                  <a:pt x="39291" y="157163"/>
                </a:cubicBezTo>
                <a:close/>
                <a:moveTo>
                  <a:pt x="96441" y="146447"/>
                </a:moveTo>
                <a:cubicBezTo>
                  <a:pt x="96441" y="152361"/>
                  <a:pt x="91639" y="157163"/>
                  <a:pt x="85725" y="157163"/>
                </a:cubicBezTo>
                <a:cubicBezTo>
                  <a:pt x="79811" y="157163"/>
                  <a:pt x="75009" y="152361"/>
                  <a:pt x="75009" y="146447"/>
                </a:cubicBezTo>
                <a:cubicBezTo>
                  <a:pt x="75009" y="140533"/>
                  <a:pt x="79811" y="135731"/>
                  <a:pt x="85725" y="135731"/>
                </a:cubicBezTo>
                <a:cubicBezTo>
                  <a:pt x="91639" y="135731"/>
                  <a:pt x="96441" y="140533"/>
                  <a:pt x="96441" y="146447"/>
                </a:cubicBezTo>
                <a:close/>
                <a:moveTo>
                  <a:pt x="132159" y="157163"/>
                </a:moveTo>
                <a:cubicBezTo>
                  <a:pt x="126245" y="157163"/>
                  <a:pt x="121444" y="152361"/>
                  <a:pt x="121444" y="146447"/>
                </a:cubicBezTo>
                <a:cubicBezTo>
                  <a:pt x="121444" y="140533"/>
                  <a:pt x="126245" y="135731"/>
                  <a:pt x="132159" y="135731"/>
                </a:cubicBezTo>
                <a:cubicBezTo>
                  <a:pt x="138073" y="135731"/>
                  <a:pt x="142875" y="140533"/>
                  <a:pt x="142875" y="146447"/>
                </a:cubicBezTo>
                <a:cubicBezTo>
                  <a:pt x="142875" y="152361"/>
                  <a:pt x="138073" y="157163"/>
                  <a:pt x="132159" y="157163"/>
                </a:cubicBezTo>
                <a:close/>
                <a:moveTo>
                  <a:pt x="28575" y="189309"/>
                </a:moveTo>
                <a:cubicBezTo>
                  <a:pt x="28575" y="183371"/>
                  <a:pt x="33352" y="178594"/>
                  <a:pt x="39291" y="178594"/>
                </a:cubicBezTo>
                <a:lnTo>
                  <a:pt x="89297" y="178594"/>
                </a:lnTo>
                <a:cubicBezTo>
                  <a:pt x="95235" y="178594"/>
                  <a:pt x="100013" y="183371"/>
                  <a:pt x="100013" y="189309"/>
                </a:cubicBezTo>
                <a:cubicBezTo>
                  <a:pt x="100013" y="195248"/>
                  <a:pt x="95235" y="200025"/>
                  <a:pt x="89297" y="200025"/>
                </a:cubicBezTo>
                <a:lnTo>
                  <a:pt x="39291" y="200025"/>
                </a:lnTo>
                <a:cubicBezTo>
                  <a:pt x="33352" y="200025"/>
                  <a:pt x="28575" y="195248"/>
                  <a:pt x="28575" y="189309"/>
                </a:cubicBezTo>
                <a:close/>
                <a:moveTo>
                  <a:pt x="132159" y="178594"/>
                </a:moveTo>
                <a:cubicBezTo>
                  <a:pt x="138098" y="178594"/>
                  <a:pt x="142875" y="183371"/>
                  <a:pt x="142875" y="189309"/>
                </a:cubicBezTo>
                <a:cubicBezTo>
                  <a:pt x="142875" y="195248"/>
                  <a:pt x="138098" y="200025"/>
                  <a:pt x="132159" y="200025"/>
                </a:cubicBezTo>
                <a:cubicBezTo>
                  <a:pt x="126221" y="200025"/>
                  <a:pt x="121444" y="195248"/>
                  <a:pt x="121444" y="189309"/>
                </a:cubicBezTo>
                <a:cubicBezTo>
                  <a:pt x="121444" y="183371"/>
                  <a:pt x="126221" y="178594"/>
                  <a:pt x="132159" y="178594"/>
                </a:cubicBezTo>
                <a:close/>
              </a:path>
            </a:pathLst>
          </a:custGeom>
          <a:solidFill>
            <a:srgbClr val="E6B450"/>
          </a:solidFill>
        </p:spPr>
      </p:sp>
      <p:sp>
        <p:nvSpPr>
          <p:cNvPr id="19" name="Text 17"/>
          <p:cNvSpPr/>
          <p:nvPr/>
        </p:nvSpPr>
        <p:spPr>
          <a:xfrm>
            <a:off x="975866" y="2018506"/>
            <a:ext cx="6762750" cy="304800"/>
          </a:xfrm>
          <a:prstGeom prst="rect">
            <a:avLst/>
          </a:prstGeom>
          <a:noFill/>
        </p:spPr>
        <p:txBody>
          <a:bodyPr wrap="square" lIns="0" tIns="0" rIns="0" bIns="0" rtlCol="0" anchor="ctr"/>
          <a:lstStyle/>
          <a:p>
            <a:pPr>
              <a:lnSpc>
                <a:spcPct val="110000"/>
              </a:lnSpc>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加速度</a:t>
            </a:r>
            <a:r>
              <a:rPr lang="en-US" sz="1800" b="1" dirty="0" err="1">
                <a:latin typeface="微软雅黑" panose="020B0503020204020204" pitchFamily="34" charset="-122"/>
                <a:ea typeface="微软雅黑" panose="020B0503020204020204" pitchFamily="34" charset="-122"/>
                <a:cs typeface="微软雅黑" panose="020B0503020204020204" pitchFamily="34" charset="-122"/>
              </a:rPr>
              <a:t>代价函数</a:t>
            </a:r>
            <a:endParaRPr lang="en-US" sz="1600" dirty="0"/>
          </a:p>
        </p:txBody>
      </p:sp>
      <p:sp>
        <p:nvSpPr>
          <p:cNvPr id="20" name="Text 18"/>
          <p:cNvSpPr/>
          <p:nvPr/>
        </p:nvSpPr>
        <p:spPr>
          <a:xfrm>
            <a:off x="975866" y="2437606"/>
            <a:ext cx="6734175" cy="561975"/>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这里求线性加速度的时候就需要考虑线速度的正负了，使用</a:t>
            </a:r>
            <a:r>
              <a:rPr lang="en-US" sz="1600" b="1" dirty="0">
                <a:latin typeface="微软雅黑" panose="020B0503020204020204" pitchFamily="34" charset="-122"/>
                <a:ea typeface="微软雅黑" panose="020B0503020204020204" pitchFamily="34" charset="-122"/>
                <a:cs typeface="微软雅黑" panose="020B0503020204020204" pitchFamily="34" charset="-122"/>
              </a:rPr>
              <a:t>点乘</a:t>
            </a:r>
            <a:r>
              <a:rPr lang="en-US" sz="1600" dirty="0">
                <a:latin typeface="微软雅黑" panose="020B0503020204020204" pitchFamily="34" charset="-122"/>
                <a:ea typeface="微软雅黑" panose="020B0503020204020204" pitchFamily="34" charset="-122"/>
                <a:cs typeface="微软雅黑" panose="020B0503020204020204" pitchFamily="34" charset="-122"/>
              </a:rPr>
              <a:t>的方法来确定线速度的方向即可。得到加速度公式后即可写出相应的代价函数：</a:t>
            </a:r>
            <a:endParaRPr lang="en-US" sz="2000" dirty="0"/>
          </a:p>
        </p:txBody>
      </p:sp>
      <p:sp>
        <p:nvSpPr>
          <p:cNvPr id="21" name="Shape 19"/>
          <p:cNvSpPr/>
          <p:nvPr/>
        </p:nvSpPr>
        <p:spPr>
          <a:xfrm>
            <a:off x="980628" y="3113881"/>
            <a:ext cx="6867971" cy="1002905"/>
          </a:xfrm>
          <a:custGeom>
            <a:avLst/>
            <a:gdLst/>
            <a:ahLst/>
            <a:cxnLst/>
            <a:rect l="l" t="t" r="r" b="b"/>
            <a:pathLst>
              <a:path w="3257550" h="771525">
                <a:moveTo>
                  <a:pt x="76204" y="0"/>
                </a:moveTo>
                <a:lnTo>
                  <a:pt x="3181346" y="0"/>
                </a:lnTo>
                <a:cubicBezTo>
                  <a:pt x="3223433" y="0"/>
                  <a:pt x="3257550" y="34117"/>
                  <a:pt x="3257550" y="76204"/>
                </a:cubicBezTo>
                <a:lnTo>
                  <a:pt x="3257550" y="695321"/>
                </a:lnTo>
                <a:cubicBezTo>
                  <a:pt x="3257550" y="737408"/>
                  <a:pt x="3223433" y="771525"/>
                  <a:pt x="3181346" y="771525"/>
                </a:cubicBezTo>
                <a:lnTo>
                  <a:pt x="76204" y="771525"/>
                </a:lnTo>
                <a:cubicBezTo>
                  <a:pt x="34117" y="771525"/>
                  <a:pt x="0" y="737408"/>
                  <a:pt x="0" y="695321"/>
                </a:cubicBezTo>
                <a:lnTo>
                  <a:pt x="0" y="76204"/>
                </a:lnTo>
                <a:cubicBezTo>
                  <a:pt x="0" y="34146"/>
                  <a:pt x="34146" y="0"/>
                  <a:pt x="76204" y="0"/>
                </a:cubicBezTo>
                <a:close/>
              </a:path>
            </a:pathLst>
          </a:custGeom>
          <a:solidFill>
            <a:srgbClr val="E6B450">
              <a:alpha val="10196"/>
            </a:srgbClr>
          </a:solidFill>
          <a:ln w="12700">
            <a:solidFill>
              <a:srgbClr val="E6B450">
                <a:alpha val="30196"/>
              </a:srgbClr>
            </a:solidFill>
            <a:prstDash val="solid"/>
          </a:ln>
        </p:spPr>
      </p:sp>
      <p:sp>
        <p:nvSpPr>
          <p:cNvPr id="24" name="Shape 22"/>
          <p:cNvSpPr/>
          <p:nvPr/>
        </p:nvSpPr>
        <p:spPr>
          <a:xfrm>
            <a:off x="980628" y="4238626"/>
            <a:ext cx="6867971" cy="1002905"/>
          </a:xfrm>
          <a:custGeom>
            <a:avLst/>
            <a:gdLst/>
            <a:ahLst/>
            <a:cxnLst/>
            <a:rect l="l" t="t" r="r" b="b"/>
            <a:pathLst>
              <a:path w="3257550" h="771525">
                <a:moveTo>
                  <a:pt x="76204" y="0"/>
                </a:moveTo>
                <a:lnTo>
                  <a:pt x="3181346" y="0"/>
                </a:lnTo>
                <a:cubicBezTo>
                  <a:pt x="3223433" y="0"/>
                  <a:pt x="3257550" y="34117"/>
                  <a:pt x="3257550" y="76204"/>
                </a:cubicBezTo>
                <a:lnTo>
                  <a:pt x="3257550" y="695321"/>
                </a:lnTo>
                <a:cubicBezTo>
                  <a:pt x="3257550" y="737408"/>
                  <a:pt x="3223433" y="771525"/>
                  <a:pt x="3181346" y="771525"/>
                </a:cubicBezTo>
                <a:lnTo>
                  <a:pt x="76204" y="771525"/>
                </a:lnTo>
                <a:cubicBezTo>
                  <a:pt x="34117" y="771525"/>
                  <a:pt x="0" y="737408"/>
                  <a:pt x="0" y="695321"/>
                </a:cubicBezTo>
                <a:lnTo>
                  <a:pt x="0" y="76204"/>
                </a:lnTo>
                <a:cubicBezTo>
                  <a:pt x="0" y="34146"/>
                  <a:pt x="34146" y="0"/>
                  <a:pt x="76204" y="0"/>
                </a:cubicBezTo>
                <a:close/>
              </a:path>
            </a:pathLst>
          </a:custGeom>
          <a:solidFill>
            <a:srgbClr val="E6B450">
              <a:alpha val="10196"/>
            </a:srgbClr>
          </a:solidFill>
          <a:ln w="12700">
            <a:solidFill>
              <a:srgbClr val="E6B450">
                <a:alpha val="30196"/>
              </a:srgbClr>
            </a:solidFill>
            <a:prstDash val="solid"/>
          </a:ln>
        </p:spPr>
      </p:sp>
      <p:grpSp>
        <p:nvGrpSpPr>
          <p:cNvPr id="45" name="组合 44">
            <a:extLst>
              <a:ext uri="{FF2B5EF4-FFF2-40B4-BE49-F238E27FC236}">
                <a16:creationId xmlns:a16="http://schemas.microsoft.com/office/drawing/2014/main" id="{D055604A-4AC5-8B94-880B-DB3C679C1342}"/>
              </a:ext>
            </a:extLst>
          </p:cNvPr>
          <p:cNvGrpSpPr/>
          <p:nvPr/>
        </p:nvGrpSpPr>
        <p:grpSpPr>
          <a:xfrm>
            <a:off x="0" y="939798"/>
            <a:ext cx="5022850" cy="625474"/>
            <a:chOff x="0" y="1075267"/>
            <a:chExt cx="5022850" cy="625474"/>
          </a:xfrm>
        </p:grpSpPr>
        <p:sp>
          <p:nvSpPr>
            <p:cNvPr id="46" name="矩形 45">
              <a:extLst>
                <a:ext uri="{FF2B5EF4-FFF2-40B4-BE49-F238E27FC236}">
                  <a16:creationId xmlns:a16="http://schemas.microsoft.com/office/drawing/2014/main" id="{FD2C2E90-1AFB-72BE-4625-2C11ED6F44FB}"/>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3576D714-AA64-CB54-E560-E5DE533A4C6A}"/>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7.3.4 TEB</a:t>
              </a:r>
              <a:r>
                <a:rPr lang="zh-CN" altLang="en-US" sz="2400" b="1" dirty="0">
                  <a:solidFill>
                    <a:schemeClr val="accent1"/>
                  </a:solidFill>
                  <a:latin typeface="+mj-lt"/>
                </a:rPr>
                <a:t>算法</a:t>
              </a:r>
            </a:p>
          </p:txBody>
        </p:sp>
      </p:grpSp>
      <p:graphicFrame>
        <p:nvGraphicFramePr>
          <p:cNvPr id="3" name="对象 2">
            <a:extLst>
              <a:ext uri="{FF2B5EF4-FFF2-40B4-BE49-F238E27FC236}">
                <a16:creationId xmlns:a16="http://schemas.microsoft.com/office/drawing/2014/main" id="{4123BF1C-32E6-7E35-3B88-FE245BAA42A1}"/>
              </a:ext>
            </a:extLst>
          </p:cNvPr>
          <p:cNvGraphicFramePr>
            <a:graphicFrameLocks noChangeAspect="1"/>
          </p:cNvGraphicFramePr>
          <p:nvPr>
            <p:extLst>
              <p:ext uri="{D42A27DB-BD31-4B8C-83A1-F6EECF244321}">
                <p14:modId xmlns:p14="http://schemas.microsoft.com/office/powerpoint/2010/main" val="1263293552"/>
              </p:ext>
            </p:extLst>
          </p:nvPr>
        </p:nvGraphicFramePr>
        <p:xfrm>
          <a:off x="1472349" y="3159519"/>
          <a:ext cx="5884528" cy="915988"/>
        </p:xfrm>
        <a:graphic>
          <a:graphicData uri="http://schemas.openxmlformats.org/presentationml/2006/ole">
            <mc:AlternateContent xmlns:mc="http://schemas.openxmlformats.org/markup-compatibility/2006">
              <mc:Choice xmlns:v="urn:schemas-microsoft-com:vml" Requires="v">
                <p:oleObj name="Equation" r:id="rId3" imgW="2692400" imgH="419100" progId="Equation.DSMT4">
                  <p:embed/>
                </p:oleObj>
              </mc:Choice>
              <mc:Fallback>
                <p:oleObj name="Equation" r:id="rId3" imgW="2692400" imgH="419100" progId="Equation.DSMT4">
                  <p:embed/>
                  <p:pic>
                    <p:nvPicPr>
                      <p:cNvPr id="3" name="对象 2">
                        <a:extLst>
                          <a:ext uri="{FF2B5EF4-FFF2-40B4-BE49-F238E27FC236}">
                            <a16:creationId xmlns:a16="http://schemas.microsoft.com/office/drawing/2014/main" id="{4123BF1C-32E6-7E35-3B88-FE245BAA42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2349" y="3159519"/>
                        <a:ext cx="5884528" cy="915988"/>
                      </a:xfrm>
                      <a:prstGeom prst="rect">
                        <a:avLst/>
                      </a:prstGeom>
                      <a:noFill/>
                    </p:spPr>
                  </p:pic>
                </p:oleObj>
              </mc:Fallback>
            </mc:AlternateContent>
          </a:graphicData>
        </a:graphic>
      </p:graphicFrame>
      <p:graphicFrame>
        <p:nvGraphicFramePr>
          <p:cNvPr id="48" name="对象 47">
            <a:extLst>
              <a:ext uri="{FF2B5EF4-FFF2-40B4-BE49-F238E27FC236}">
                <a16:creationId xmlns:a16="http://schemas.microsoft.com/office/drawing/2014/main" id="{79AA9264-06AE-4B0B-8DBB-7BFED7A3B869}"/>
              </a:ext>
            </a:extLst>
          </p:cNvPr>
          <p:cNvGraphicFramePr>
            <a:graphicFrameLocks noChangeAspect="1"/>
          </p:cNvGraphicFramePr>
          <p:nvPr>
            <p:extLst>
              <p:ext uri="{D42A27DB-BD31-4B8C-83A1-F6EECF244321}">
                <p14:modId xmlns:p14="http://schemas.microsoft.com/office/powerpoint/2010/main" val="3492809363"/>
              </p:ext>
            </p:extLst>
          </p:nvPr>
        </p:nvGraphicFramePr>
        <p:xfrm>
          <a:off x="1285765" y="4300538"/>
          <a:ext cx="5698452" cy="850900"/>
        </p:xfrm>
        <a:graphic>
          <a:graphicData uri="http://schemas.openxmlformats.org/presentationml/2006/ole">
            <mc:AlternateContent xmlns:mc="http://schemas.openxmlformats.org/markup-compatibility/2006">
              <mc:Choice xmlns:v="urn:schemas-microsoft-com:vml" Requires="v">
                <p:oleObj name="Equation" r:id="rId5" imgW="2819400" imgH="419100" progId="Equation.DSMT4">
                  <p:embed/>
                </p:oleObj>
              </mc:Choice>
              <mc:Fallback>
                <p:oleObj name="Equation" r:id="rId5" imgW="2819400" imgH="419100" progId="Equation.DSMT4">
                  <p:embed/>
                  <p:pic>
                    <p:nvPicPr>
                      <p:cNvPr id="48" name="对象 47">
                        <a:extLst>
                          <a:ext uri="{FF2B5EF4-FFF2-40B4-BE49-F238E27FC236}">
                            <a16:creationId xmlns:a16="http://schemas.microsoft.com/office/drawing/2014/main" id="{79AA9264-06AE-4B0B-8DBB-7BFED7A3B8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5765" y="4300538"/>
                        <a:ext cx="5698452" cy="850900"/>
                      </a:xfrm>
                      <a:prstGeom prst="rect">
                        <a:avLst/>
                      </a:prstGeom>
                      <a:noFill/>
                    </p:spPr>
                  </p:pic>
                </p:oleObj>
              </mc:Fallback>
            </mc:AlternateContent>
          </a:graphicData>
        </a:graphic>
      </p:graphicFrame>
    </p:spTree>
    <p:extLst>
      <p:ext uri="{BB962C8B-B14F-4D97-AF65-F5344CB8AC3E}">
        <p14:creationId xmlns:p14="http://schemas.microsoft.com/office/powerpoint/2010/main" val="283492743"/>
      </p:ext>
    </p:extLst>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33375" y="1694008"/>
            <a:ext cx="8239125" cy="1898752"/>
          </a:xfrm>
          <a:custGeom>
            <a:avLst/>
            <a:gdLst/>
            <a:ahLst/>
            <a:cxnLst/>
            <a:rect l="l" t="t" r="r" b="b"/>
            <a:pathLst>
              <a:path w="8239125" h="2365375">
                <a:moveTo>
                  <a:pt x="31750" y="0"/>
                </a:moveTo>
                <a:lnTo>
                  <a:pt x="8143871" y="0"/>
                </a:lnTo>
                <a:cubicBezTo>
                  <a:pt x="8196478" y="0"/>
                  <a:pt x="8239125" y="42647"/>
                  <a:pt x="8239125" y="95254"/>
                </a:cubicBezTo>
                <a:lnTo>
                  <a:pt x="8239125" y="2270121"/>
                </a:lnTo>
                <a:cubicBezTo>
                  <a:pt x="8239125" y="2322728"/>
                  <a:pt x="8196478" y="2365375"/>
                  <a:pt x="8143871" y="2365375"/>
                </a:cubicBezTo>
                <a:lnTo>
                  <a:pt x="31750" y="2365375"/>
                </a:lnTo>
                <a:cubicBezTo>
                  <a:pt x="14227" y="2365375"/>
                  <a:pt x="0" y="2351148"/>
                  <a:pt x="0" y="2333625"/>
                </a:cubicBezTo>
                <a:lnTo>
                  <a:pt x="0" y="31750"/>
                </a:lnTo>
                <a:cubicBezTo>
                  <a:pt x="0" y="14227"/>
                  <a:pt x="14227" y="0"/>
                  <a:pt x="31750" y="0"/>
                </a:cubicBezTo>
                <a:close/>
              </a:path>
            </a:pathLst>
          </a:custGeom>
          <a:solidFill>
            <a:srgbClr val="5F87A7">
              <a:alpha val="10196"/>
            </a:srgbClr>
          </a:solidFill>
        </p:spPr>
      </p:sp>
      <p:sp>
        <p:nvSpPr>
          <p:cNvPr id="6" name="Shape 4"/>
          <p:cNvSpPr/>
          <p:nvPr/>
        </p:nvSpPr>
        <p:spPr>
          <a:xfrm>
            <a:off x="333375" y="1694008"/>
            <a:ext cx="31750" cy="1898752"/>
          </a:xfrm>
          <a:custGeom>
            <a:avLst/>
            <a:gdLst/>
            <a:ahLst/>
            <a:cxnLst/>
            <a:rect l="l" t="t" r="r" b="b"/>
            <a:pathLst>
              <a:path w="31750" h="2365375">
                <a:moveTo>
                  <a:pt x="31750" y="0"/>
                </a:moveTo>
                <a:lnTo>
                  <a:pt x="31750" y="0"/>
                </a:lnTo>
                <a:lnTo>
                  <a:pt x="31750" y="2365375"/>
                </a:lnTo>
                <a:lnTo>
                  <a:pt x="31750" y="2365375"/>
                </a:lnTo>
                <a:cubicBezTo>
                  <a:pt x="14227" y="2365375"/>
                  <a:pt x="0" y="2351148"/>
                  <a:pt x="0" y="2333625"/>
                </a:cubicBezTo>
                <a:lnTo>
                  <a:pt x="0" y="31750"/>
                </a:lnTo>
                <a:cubicBezTo>
                  <a:pt x="0" y="14227"/>
                  <a:pt x="14227" y="0"/>
                  <a:pt x="31750" y="0"/>
                </a:cubicBezTo>
                <a:close/>
              </a:path>
            </a:pathLst>
          </a:custGeom>
          <a:solidFill>
            <a:srgbClr val="E6B450"/>
          </a:solidFill>
        </p:spPr>
      </p:sp>
      <p:sp>
        <p:nvSpPr>
          <p:cNvPr id="7" name="Shape 5"/>
          <p:cNvSpPr/>
          <p:nvPr/>
        </p:nvSpPr>
        <p:spPr>
          <a:xfrm>
            <a:off x="523875" y="1916257"/>
            <a:ext cx="190500" cy="190500"/>
          </a:xfrm>
          <a:custGeom>
            <a:avLst/>
            <a:gdLst/>
            <a:ahLst/>
            <a:cxnLst/>
            <a:rect l="l" t="t" r="r" b="b"/>
            <a:pathLst>
              <a:path w="190500" h="190500">
                <a:moveTo>
                  <a:pt x="72591" y="3535"/>
                </a:moveTo>
                <a:cubicBezTo>
                  <a:pt x="73707" y="-1972"/>
                  <a:pt x="78581" y="-5953"/>
                  <a:pt x="84237" y="-5953"/>
                </a:cubicBezTo>
                <a:lnTo>
                  <a:pt x="106487" y="-5953"/>
                </a:lnTo>
                <a:cubicBezTo>
                  <a:pt x="112142" y="-5953"/>
                  <a:pt x="117016" y="-1972"/>
                  <a:pt x="118132" y="3535"/>
                </a:cubicBezTo>
                <a:lnTo>
                  <a:pt x="123527" y="29580"/>
                </a:lnTo>
                <a:cubicBezTo>
                  <a:pt x="128774" y="31812"/>
                  <a:pt x="133685" y="34677"/>
                  <a:pt x="138150" y="38063"/>
                </a:cubicBezTo>
                <a:lnTo>
                  <a:pt x="163376" y="29691"/>
                </a:lnTo>
                <a:cubicBezTo>
                  <a:pt x="168734" y="27905"/>
                  <a:pt x="174613" y="30138"/>
                  <a:pt x="177440" y="35049"/>
                </a:cubicBezTo>
                <a:lnTo>
                  <a:pt x="188565" y="54322"/>
                </a:lnTo>
                <a:cubicBezTo>
                  <a:pt x="191393" y="59234"/>
                  <a:pt x="190388" y="65410"/>
                  <a:pt x="186147" y="69168"/>
                </a:cubicBezTo>
                <a:lnTo>
                  <a:pt x="166315" y="86804"/>
                </a:lnTo>
                <a:cubicBezTo>
                  <a:pt x="166650" y="89557"/>
                  <a:pt x="166799" y="92385"/>
                  <a:pt x="166799" y="95250"/>
                </a:cubicBezTo>
                <a:cubicBezTo>
                  <a:pt x="166799" y="98115"/>
                  <a:pt x="166613" y="100943"/>
                  <a:pt x="166315" y="103696"/>
                </a:cubicBezTo>
                <a:lnTo>
                  <a:pt x="186184" y="121369"/>
                </a:lnTo>
                <a:cubicBezTo>
                  <a:pt x="190426" y="125127"/>
                  <a:pt x="191393" y="131341"/>
                  <a:pt x="188602" y="136215"/>
                </a:cubicBezTo>
                <a:lnTo>
                  <a:pt x="177478" y="155488"/>
                </a:lnTo>
                <a:cubicBezTo>
                  <a:pt x="174650" y="160362"/>
                  <a:pt x="168771" y="162632"/>
                  <a:pt x="163413" y="160846"/>
                </a:cubicBezTo>
                <a:lnTo>
                  <a:pt x="138187" y="152474"/>
                </a:lnTo>
                <a:cubicBezTo>
                  <a:pt x="133685" y="155860"/>
                  <a:pt x="128774" y="158688"/>
                  <a:pt x="123565" y="160958"/>
                </a:cubicBezTo>
                <a:lnTo>
                  <a:pt x="118207" y="186965"/>
                </a:lnTo>
                <a:cubicBezTo>
                  <a:pt x="117053" y="192509"/>
                  <a:pt x="112179" y="196453"/>
                  <a:pt x="106561" y="196453"/>
                </a:cubicBezTo>
                <a:lnTo>
                  <a:pt x="84311" y="196453"/>
                </a:lnTo>
                <a:cubicBezTo>
                  <a:pt x="78656" y="196453"/>
                  <a:pt x="73782" y="192472"/>
                  <a:pt x="72665" y="186965"/>
                </a:cubicBezTo>
                <a:lnTo>
                  <a:pt x="67308" y="160958"/>
                </a:lnTo>
                <a:cubicBezTo>
                  <a:pt x="62061" y="158725"/>
                  <a:pt x="57187" y="155860"/>
                  <a:pt x="52685" y="152474"/>
                </a:cubicBezTo>
                <a:lnTo>
                  <a:pt x="27347" y="160846"/>
                </a:lnTo>
                <a:cubicBezTo>
                  <a:pt x="21989" y="162632"/>
                  <a:pt x="16111" y="160400"/>
                  <a:pt x="13283" y="155488"/>
                </a:cubicBezTo>
                <a:lnTo>
                  <a:pt x="2158" y="136215"/>
                </a:lnTo>
                <a:cubicBezTo>
                  <a:pt x="-670" y="131304"/>
                  <a:pt x="335" y="125127"/>
                  <a:pt x="4576" y="121369"/>
                </a:cubicBezTo>
                <a:lnTo>
                  <a:pt x="24445" y="103696"/>
                </a:lnTo>
                <a:cubicBezTo>
                  <a:pt x="24110" y="100943"/>
                  <a:pt x="23961" y="98115"/>
                  <a:pt x="23961" y="95250"/>
                </a:cubicBezTo>
                <a:cubicBezTo>
                  <a:pt x="23961" y="92385"/>
                  <a:pt x="24147" y="89557"/>
                  <a:pt x="24445" y="86804"/>
                </a:cubicBezTo>
                <a:lnTo>
                  <a:pt x="4576" y="69131"/>
                </a:lnTo>
                <a:cubicBezTo>
                  <a:pt x="335" y="65373"/>
                  <a:pt x="-633" y="59159"/>
                  <a:pt x="2158" y="54285"/>
                </a:cubicBezTo>
                <a:lnTo>
                  <a:pt x="13283" y="35012"/>
                </a:lnTo>
                <a:cubicBezTo>
                  <a:pt x="16111" y="30100"/>
                  <a:pt x="21989" y="27868"/>
                  <a:pt x="27347" y="29654"/>
                </a:cubicBezTo>
                <a:lnTo>
                  <a:pt x="52574" y="38026"/>
                </a:lnTo>
                <a:cubicBezTo>
                  <a:pt x="57076" y="34640"/>
                  <a:pt x="61987" y="31812"/>
                  <a:pt x="67196" y="29542"/>
                </a:cubicBezTo>
                <a:lnTo>
                  <a:pt x="72591" y="3535"/>
                </a:lnTo>
                <a:close/>
                <a:moveTo>
                  <a:pt x="95362" y="125016"/>
                </a:moveTo>
                <a:cubicBezTo>
                  <a:pt x="105996" y="124976"/>
                  <a:pt x="115801" y="119266"/>
                  <a:pt x="121084" y="110036"/>
                </a:cubicBezTo>
                <a:cubicBezTo>
                  <a:pt x="126366" y="100807"/>
                  <a:pt x="126324" y="89460"/>
                  <a:pt x="120972" y="80271"/>
                </a:cubicBezTo>
                <a:cubicBezTo>
                  <a:pt x="115620" y="71081"/>
                  <a:pt x="105773" y="65444"/>
                  <a:pt x="95138" y="65484"/>
                </a:cubicBezTo>
                <a:cubicBezTo>
                  <a:pt x="84504" y="65524"/>
                  <a:pt x="74699" y="71234"/>
                  <a:pt x="69416" y="80464"/>
                </a:cubicBezTo>
                <a:cubicBezTo>
                  <a:pt x="64134" y="89693"/>
                  <a:pt x="64176" y="101040"/>
                  <a:pt x="69528" y="110229"/>
                </a:cubicBezTo>
                <a:cubicBezTo>
                  <a:pt x="74880" y="119419"/>
                  <a:pt x="84727" y="125056"/>
                  <a:pt x="95362" y="125016"/>
                </a:cubicBezTo>
                <a:close/>
              </a:path>
            </a:pathLst>
          </a:custGeom>
          <a:solidFill>
            <a:srgbClr val="E6B450"/>
          </a:solidFill>
        </p:spPr>
      </p:sp>
      <p:sp>
        <p:nvSpPr>
          <p:cNvPr id="8" name="Text 6"/>
          <p:cNvSpPr/>
          <p:nvPr/>
        </p:nvSpPr>
        <p:spPr>
          <a:xfrm>
            <a:off x="825500" y="1884507"/>
            <a:ext cx="7651750"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非完整运动学约束</a:t>
            </a:r>
            <a:endParaRPr lang="en-US" sz="2000" dirty="0"/>
          </a:p>
        </p:txBody>
      </p:sp>
      <p:sp>
        <p:nvSpPr>
          <p:cNvPr id="9" name="Text 7"/>
          <p:cNvSpPr/>
          <p:nvPr/>
        </p:nvSpPr>
        <p:spPr>
          <a:xfrm>
            <a:off x="825500" y="2233757"/>
            <a:ext cx="7627938" cy="23018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TEB算法的非完整运动学为：</a:t>
            </a:r>
            <a:endParaRPr lang="en-US" sz="2400" dirty="0"/>
          </a:p>
        </p:txBody>
      </p:sp>
      <p:sp>
        <p:nvSpPr>
          <p:cNvPr id="10" name="Shape 8"/>
          <p:cNvSpPr/>
          <p:nvPr/>
        </p:nvSpPr>
        <p:spPr>
          <a:xfrm>
            <a:off x="829469" y="2565148"/>
            <a:ext cx="7548563" cy="738188"/>
          </a:xfrm>
          <a:custGeom>
            <a:avLst/>
            <a:gdLst/>
            <a:ahLst/>
            <a:cxnLst/>
            <a:rect l="l" t="t" r="r" b="b"/>
            <a:pathLst>
              <a:path w="7548563" h="738188">
                <a:moveTo>
                  <a:pt x="63499" y="0"/>
                </a:moveTo>
                <a:lnTo>
                  <a:pt x="7485064" y="0"/>
                </a:lnTo>
                <a:cubicBezTo>
                  <a:pt x="7520133" y="0"/>
                  <a:pt x="7548563" y="28429"/>
                  <a:pt x="7548563" y="63499"/>
                </a:cubicBezTo>
                <a:lnTo>
                  <a:pt x="7548563" y="674689"/>
                </a:lnTo>
                <a:cubicBezTo>
                  <a:pt x="7548563" y="709758"/>
                  <a:pt x="7520133" y="738187"/>
                  <a:pt x="7485064" y="738188"/>
                </a:cubicBezTo>
                <a:lnTo>
                  <a:pt x="63499" y="738188"/>
                </a:lnTo>
                <a:cubicBezTo>
                  <a:pt x="28429" y="738188"/>
                  <a:pt x="0" y="709758"/>
                  <a:pt x="0" y="674689"/>
                </a:cubicBezTo>
                <a:lnTo>
                  <a:pt x="0" y="63499"/>
                </a:lnTo>
                <a:cubicBezTo>
                  <a:pt x="0" y="28453"/>
                  <a:pt x="28453" y="0"/>
                  <a:pt x="63499" y="0"/>
                </a:cubicBezTo>
                <a:close/>
              </a:path>
            </a:pathLst>
          </a:custGeom>
          <a:solidFill>
            <a:srgbClr val="E6B450">
              <a:alpha val="10196"/>
            </a:srgbClr>
          </a:solidFill>
          <a:ln w="12700">
            <a:solidFill>
              <a:srgbClr val="E6B450">
                <a:alpha val="30196"/>
              </a:srgbClr>
            </a:solidFill>
            <a:prstDash val="solid"/>
          </a:ln>
        </p:spPr>
      </p:sp>
      <p:sp>
        <p:nvSpPr>
          <p:cNvPr id="14" name="Shape 12"/>
          <p:cNvSpPr/>
          <p:nvPr/>
        </p:nvSpPr>
        <p:spPr>
          <a:xfrm>
            <a:off x="333375" y="3943096"/>
            <a:ext cx="8239125" cy="2430067"/>
          </a:xfrm>
          <a:custGeom>
            <a:avLst/>
            <a:gdLst/>
            <a:ahLst/>
            <a:cxnLst/>
            <a:rect l="l" t="t" r="r" b="b"/>
            <a:pathLst>
              <a:path w="8239125" h="2135188">
                <a:moveTo>
                  <a:pt x="31750" y="0"/>
                </a:moveTo>
                <a:lnTo>
                  <a:pt x="8143874" y="0"/>
                </a:lnTo>
                <a:cubicBezTo>
                  <a:pt x="8196480" y="0"/>
                  <a:pt x="8239125" y="42645"/>
                  <a:pt x="8239125" y="95251"/>
                </a:cubicBezTo>
                <a:lnTo>
                  <a:pt x="8239125" y="2039937"/>
                </a:lnTo>
                <a:cubicBezTo>
                  <a:pt x="8239125" y="2092542"/>
                  <a:pt x="8196480" y="2135188"/>
                  <a:pt x="8143874" y="2135188"/>
                </a:cubicBezTo>
                <a:lnTo>
                  <a:pt x="31750" y="2135188"/>
                </a:lnTo>
                <a:cubicBezTo>
                  <a:pt x="14227" y="2135188"/>
                  <a:pt x="0" y="2120961"/>
                  <a:pt x="0" y="2103438"/>
                </a:cubicBezTo>
                <a:lnTo>
                  <a:pt x="0" y="31750"/>
                </a:lnTo>
                <a:cubicBezTo>
                  <a:pt x="0" y="14227"/>
                  <a:pt x="14227" y="0"/>
                  <a:pt x="31750" y="0"/>
                </a:cubicBezTo>
                <a:close/>
              </a:path>
            </a:pathLst>
          </a:custGeom>
          <a:solidFill>
            <a:srgbClr val="5F87A7">
              <a:alpha val="10196"/>
            </a:srgbClr>
          </a:solidFill>
        </p:spPr>
      </p:sp>
      <p:sp>
        <p:nvSpPr>
          <p:cNvPr id="15" name="Shape 13"/>
          <p:cNvSpPr/>
          <p:nvPr/>
        </p:nvSpPr>
        <p:spPr>
          <a:xfrm>
            <a:off x="333375" y="3943096"/>
            <a:ext cx="31750" cy="2430067"/>
          </a:xfrm>
          <a:custGeom>
            <a:avLst/>
            <a:gdLst/>
            <a:ahLst/>
            <a:cxnLst/>
            <a:rect l="l" t="t" r="r" b="b"/>
            <a:pathLst>
              <a:path w="31750" h="2135188">
                <a:moveTo>
                  <a:pt x="31750" y="0"/>
                </a:moveTo>
                <a:lnTo>
                  <a:pt x="31750" y="0"/>
                </a:lnTo>
                <a:lnTo>
                  <a:pt x="31750" y="2135188"/>
                </a:lnTo>
                <a:lnTo>
                  <a:pt x="31750" y="2135188"/>
                </a:lnTo>
                <a:cubicBezTo>
                  <a:pt x="14227" y="2135188"/>
                  <a:pt x="0" y="2120961"/>
                  <a:pt x="0" y="2103438"/>
                </a:cubicBezTo>
                <a:lnTo>
                  <a:pt x="0" y="31750"/>
                </a:lnTo>
                <a:cubicBezTo>
                  <a:pt x="0" y="14227"/>
                  <a:pt x="14227" y="0"/>
                  <a:pt x="31750" y="0"/>
                </a:cubicBezTo>
                <a:close/>
              </a:path>
            </a:pathLst>
          </a:custGeom>
          <a:solidFill>
            <a:srgbClr val="E6B450"/>
          </a:solidFill>
        </p:spPr>
      </p:sp>
      <p:sp>
        <p:nvSpPr>
          <p:cNvPr id="16" name="Shape 14"/>
          <p:cNvSpPr/>
          <p:nvPr/>
        </p:nvSpPr>
        <p:spPr>
          <a:xfrm>
            <a:off x="575469" y="4165347"/>
            <a:ext cx="166688" cy="190500"/>
          </a:xfrm>
          <a:custGeom>
            <a:avLst/>
            <a:gdLst/>
            <a:ahLst/>
            <a:cxnLst/>
            <a:rect l="l" t="t" r="r" b="b"/>
            <a:pathLst>
              <a:path w="166688" h="190500">
                <a:moveTo>
                  <a:pt x="126057" y="-3683"/>
                </a:moveTo>
                <a:cubicBezTo>
                  <a:pt x="130485" y="-484"/>
                  <a:pt x="132122" y="5321"/>
                  <a:pt x="130113" y="10381"/>
                </a:cubicBezTo>
                <a:lnTo>
                  <a:pt x="100943" y="83344"/>
                </a:lnTo>
                <a:lnTo>
                  <a:pt x="154781" y="83344"/>
                </a:lnTo>
                <a:cubicBezTo>
                  <a:pt x="159804" y="83344"/>
                  <a:pt x="164269" y="86469"/>
                  <a:pt x="165981" y="91194"/>
                </a:cubicBezTo>
                <a:cubicBezTo>
                  <a:pt x="167692" y="95920"/>
                  <a:pt x="166241" y="101203"/>
                  <a:pt x="162409" y="104403"/>
                </a:cubicBezTo>
                <a:lnTo>
                  <a:pt x="55252" y="193700"/>
                </a:lnTo>
                <a:cubicBezTo>
                  <a:pt x="51048" y="197197"/>
                  <a:pt x="45058" y="197383"/>
                  <a:pt x="40630" y="194183"/>
                </a:cubicBezTo>
                <a:cubicBezTo>
                  <a:pt x="36202" y="190984"/>
                  <a:pt x="34565" y="185179"/>
                  <a:pt x="36575" y="180119"/>
                </a:cubicBezTo>
                <a:lnTo>
                  <a:pt x="65745" y="107156"/>
                </a:lnTo>
                <a:lnTo>
                  <a:pt x="11906" y="107156"/>
                </a:lnTo>
                <a:cubicBezTo>
                  <a:pt x="6883" y="107156"/>
                  <a:pt x="2418" y="104031"/>
                  <a:pt x="707" y="99306"/>
                </a:cubicBezTo>
                <a:cubicBezTo>
                  <a:pt x="-1005" y="94580"/>
                  <a:pt x="446" y="89297"/>
                  <a:pt x="4279" y="86097"/>
                </a:cubicBezTo>
                <a:lnTo>
                  <a:pt x="111435" y="-3200"/>
                </a:lnTo>
                <a:cubicBezTo>
                  <a:pt x="115639" y="-6697"/>
                  <a:pt x="121630" y="-6883"/>
                  <a:pt x="126057" y="-3683"/>
                </a:cubicBezTo>
                <a:close/>
              </a:path>
            </a:pathLst>
          </a:custGeom>
          <a:solidFill>
            <a:srgbClr val="E6B450"/>
          </a:solidFill>
        </p:spPr>
      </p:sp>
      <p:sp>
        <p:nvSpPr>
          <p:cNvPr id="17" name="Text 15"/>
          <p:cNvSpPr/>
          <p:nvPr/>
        </p:nvSpPr>
        <p:spPr>
          <a:xfrm>
            <a:off x="904875" y="4133597"/>
            <a:ext cx="7318375" cy="254000"/>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最快约束</a:t>
            </a:r>
            <a:endParaRPr lang="en-US" sz="2000" dirty="0"/>
          </a:p>
        </p:txBody>
      </p:sp>
      <p:sp>
        <p:nvSpPr>
          <p:cNvPr id="18" name="Text 16"/>
          <p:cNvSpPr/>
          <p:nvPr/>
        </p:nvSpPr>
        <p:spPr>
          <a:xfrm>
            <a:off x="904875" y="4482847"/>
            <a:ext cx="7294563" cy="230188"/>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TEB算法的最快约束为：</a:t>
            </a:r>
            <a:endParaRPr lang="en-US" sz="2400" dirty="0"/>
          </a:p>
        </p:txBody>
      </p:sp>
      <p:sp>
        <p:nvSpPr>
          <p:cNvPr id="19" name="Shape 17"/>
          <p:cNvSpPr/>
          <p:nvPr/>
        </p:nvSpPr>
        <p:spPr>
          <a:xfrm>
            <a:off x="908844" y="4814237"/>
            <a:ext cx="7215188" cy="738188"/>
          </a:xfrm>
          <a:custGeom>
            <a:avLst/>
            <a:gdLst/>
            <a:ahLst/>
            <a:cxnLst/>
            <a:rect l="l" t="t" r="r" b="b"/>
            <a:pathLst>
              <a:path w="7215188" h="738188">
                <a:moveTo>
                  <a:pt x="63499" y="0"/>
                </a:moveTo>
                <a:lnTo>
                  <a:pt x="7151689" y="0"/>
                </a:lnTo>
                <a:cubicBezTo>
                  <a:pt x="7186758" y="0"/>
                  <a:pt x="7215188" y="28429"/>
                  <a:pt x="7215188" y="63499"/>
                </a:cubicBezTo>
                <a:lnTo>
                  <a:pt x="7215188" y="674689"/>
                </a:lnTo>
                <a:cubicBezTo>
                  <a:pt x="7215188" y="709758"/>
                  <a:pt x="7186758" y="738187"/>
                  <a:pt x="7151689" y="738188"/>
                </a:cubicBezTo>
                <a:lnTo>
                  <a:pt x="63499" y="738188"/>
                </a:lnTo>
                <a:cubicBezTo>
                  <a:pt x="28429" y="738188"/>
                  <a:pt x="0" y="709758"/>
                  <a:pt x="0" y="674689"/>
                </a:cubicBezTo>
                <a:lnTo>
                  <a:pt x="0" y="63499"/>
                </a:lnTo>
                <a:cubicBezTo>
                  <a:pt x="0" y="28453"/>
                  <a:pt x="28453" y="0"/>
                  <a:pt x="63499" y="0"/>
                </a:cubicBezTo>
                <a:close/>
              </a:path>
            </a:pathLst>
          </a:custGeom>
          <a:solidFill>
            <a:srgbClr val="E6B450">
              <a:alpha val="10196"/>
            </a:srgbClr>
          </a:solidFill>
          <a:ln w="12700">
            <a:solidFill>
              <a:srgbClr val="E6B450">
                <a:alpha val="30196"/>
              </a:srgbClr>
            </a:solidFill>
            <a:prstDash val="solid"/>
          </a:ln>
        </p:spPr>
      </p:sp>
      <p:sp>
        <p:nvSpPr>
          <p:cNvPr id="22" name="Text 20"/>
          <p:cNvSpPr/>
          <p:nvPr/>
        </p:nvSpPr>
        <p:spPr>
          <a:xfrm>
            <a:off x="904875" y="5651643"/>
            <a:ext cx="7294563" cy="512089"/>
          </a:xfrm>
          <a:prstGeom prst="rect">
            <a:avLst/>
          </a:prstGeom>
          <a:noFill/>
        </p:spPr>
        <p:txBody>
          <a:bodyPr wrap="square" lIns="0" tIns="0" rIns="0" bIns="0" rtlCol="0" anchor="ctr"/>
          <a:lstStyle/>
          <a:p>
            <a:pPr>
              <a:lnSpc>
                <a:spcPct val="140000"/>
              </a:lnSpc>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这个约束的目的就是让优化出来的轨迹在符合运动学约束的情况下，轨迹的</a:t>
            </a:r>
            <a:r>
              <a:rPr lang="en-US" sz="1600" b="1" dirty="0" err="1">
                <a:latin typeface="微软雅黑" panose="020B0503020204020204" pitchFamily="34" charset="-122"/>
                <a:ea typeface="微软雅黑" panose="020B0503020204020204" pitchFamily="34" charset="-122"/>
                <a:cs typeface="微软雅黑" panose="020B0503020204020204" pitchFamily="34" charset="-122"/>
              </a:rPr>
              <a:t>速度要尽可能大</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400" dirty="0"/>
          </a:p>
        </p:txBody>
      </p:sp>
      <p:grpSp>
        <p:nvGrpSpPr>
          <p:cNvPr id="32" name="组合 31">
            <a:extLst>
              <a:ext uri="{FF2B5EF4-FFF2-40B4-BE49-F238E27FC236}">
                <a16:creationId xmlns:a16="http://schemas.microsoft.com/office/drawing/2014/main" id="{983E0AF0-1C0F-8928-31FE-F360590F2DAE}"/>
              </a:ext>
            </a:extLst>
          </p:cNvPr>
          <p:cNvGrpSpPr/>
          <p:nvPr/>
        </p:nvGrpSpPr>
        <p:grpSpPr>
          <a:xfrm>
            <a:off x="0" y="939798"/>
            <a:ext cx="5022850" cy="625474"/>
            <a:chOff x="0" y="1075267"/>
            <a:chExt cx="5022850" cy="625474"/>
          </a:xfrm>
        </p:grpSpPr>
        <p:sp>
          <p:nvSpPr>
            <p:cNvPr id="33" name="矩形 32">
              <a:extLst>
                <a:ext uri="{FF2B5EF4-FFF2-40B4-BE49-F238E27FC236}">
                  <a16:creationId xmlns:a16="http://schemas.microsoft.com/office/drawing/2014/main" id="{A19965C8-0EB0-9EEF-9C2A-2EC9D008A3BE}"/>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6B1F409C-FC3E-29F0-1D6F-00C9477A213E}"/>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7.3.4 TEB</a:t>
              </a:r>
              <a:r>
                <a:rPr lang="zh-CN" altLang="en-US" sz="2400" b="1" dirty="0">
                  <a:solidFill>
                    <a:schemeClr val="accent1"/>
                  </a:solidFill>
                  <a:latin typeface="+mj-lt"/>
                </a:rPr>
                <a:t>算法</a:t>
              </a:r>
            </a:p>
          </p:txBody>
        </p:sp>
      </p:grpSp>
      <p:graphicFrame>
        <p:nvGraphicFramePr>
          <p:cNvPr id="3" name="对象 2">
            <a:extLst>
              <a:ext uri="{FF2B5EF4-FFF2-40B4-BE49-F238E27FC236}">
                <a16:creationId xmlns:a16="http://schemas.microsoft.com/office/drawing/2014/main" id="{000331BC-5135-FF6D-016B-DD63DA784020}"/>
              </a:ext>
            </a:extLst>
          </p:cNvPr>
          <p:cNvGraphicFramePr>
            <a:graphicFrameLocks noChangeAspect="1"/>
          </p:cNvGraphicFramePr>
          <p:nvPr>
            <p:extLst>
              <p:ext uri="{D42A27DB-BD31-4B8C-83A1-F6EECF244321}">
                <p14:modId xmlns:p14="http://schemas.microsoft.com/office/powerpoint/2010/main" val="2007211421"/>
              </p:ext>
            </p:extLst>
          </p:nvPr>
        </p:nvGraphicFramePr>
        <p:xfrm>
          <a:off x="1127300" y="2770713"/>
          <a:ext cx="6509606" cy="424276"/>
        </p:xfrm>
        <a:graphic>
          <a:graphicData uri="http://schemas.openxmlformats.org/presentationml/2006/ole">
            <mc:AlternateContent xmlns:mc="http://schemas.openxmlformats.org/markup-compatibility/2006">
              <mc:Choice xmlns:v="urn:schemas-microsoft-com:vml" Requires="v">
                <p:oleObj name="Equation" r:id="rId3" imgW="3403600" imgH="215900" progId="Equation.DSMT4">
                  <p:embed/>
                </p:oleObj>
              </mc:Choice>
              <mc:Fallback>
                <p:oleObj name="Equation" r:id="rId3" imgW="3403600" imgH="215900" progId="Equation.DSMT4">
                  <p:embed/>
                  <p:pic>
                    <p:nvPicPr>
                      <p:cNvPr id="3" name="对象 2">
                        <a:extLst>
                          <a:ext uri="{FF2B5EF4-FFF2-40B4-BE49-F238E27FC236}">
                            <a16:creationId xmlns:a16="http://schemas.microsoft.com/office/drawing/2014/main" id="{000331BC-5135-FF6D-016B-DD63DA7840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7300" y="2770713"/>
                        <a:ext cx="6509606" cy="424276"/>
                      </a:xfrm>
                      <a:prstGeom prst="rect">
                        <a:avLst/>
                      </a:prstGeom>
                      <a:noFill/>
                    </p:spPr>
                  </p:pic>
                </p:oleObj>
              </mc:Fallback>
            </mc:AlternateContent>
          </a:graphicData>
        </a:graphic>
      </p:graphicFrame>
      <p:graphicFrame>
        <p:nvGraphicFramePr>
          <p:cNvPr id="35" name="对象 34">
            <a:extLst>
              <a:ext uri="{FF2B5EF4-FFF2-40B4-BE49-F238E27FC236}">
                <a16:creationId xmlns:a16="http://schemas.microsoft.com/office/drawing/2014/main" id="{71F9E8B9-02AC-B5D5-80B5-6749911F1264}"/>
              </a:ext>
            </a:extLst>
          </p:cNvPr>
          <p:cNvGraphicFramePr>
            <a:graphicFrameLocks noChangeAspect="1"/>
          </p:cNvGraphicFramePr>
          <p:nvPr>
            <p:extLst>
              <p:ext uri="{D42A27DB-BD31-4B8C-83A1-F6EECF244321}">
                <p14:modId xmlns:p14="http://schemas.microsoft.com/office/powerpoint/2010/main" val="3500257603"/>
              </p:ext>
            </p:extLst>
          </p:nvPr>
        </p:nvGraphicFramePr>
        <p:xfrm>
          <a:off x="2074332" y="4979138"/>
          <a:ext cx="1432636" cy="463074"/>
        </p:xfrm>
        <a:graphic>
          <a:graphicData uri="http://schemas.openxmlformats.org/presentationml/2006/ole">
            <mc:AlternateContent xmlns:mc="http://schemas.openxmlformats.org/markup-compatibility/2006">
              <mc:Choice xmlns:v="urn:schemas-microsoft-com:vml" Requires="v">
                <p:oleObj name="Equation" r:id="rId5" imgW="622030" imgH="203112" progId="Equation.DSMT4">
                  <p:embed/>
                </p:oleObj>
              </mc:Choice>
              <mc:Fallback>
                <p:oleObj name="Equation" r:id="rId5" imgW="622030" imgH="203112" progId="Equation.DSMT4">
                  <p:embed/>
                  <p:pic>
                    <p:nvPicPr>
                      <p:cNvPr id="35" name="对象 34">
                        <a:extLst>
                          <a:ext uri="{FF2B5EF4-FFF2-40B4-BE49-F238E27FC236}">
                            <a16:creationId xmlns:a16="http://schemas.microsoft.com/office/drawing/2014/main" id="{71F9E8B9-02AC-B5D5-80B5-6749911F126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4332" y="4979138"/>
                        <a:ext cx="1432636" cy="463074"/>
                      </a:xfrm>
                      <a:prstGeom prst="rect">
                        <a:avLst/>
                      </a:prstGeom>
                      <a:noFill/>
                    </p:spPr>
                  </p:pic>
                </p:oleObj>
              </mc:Fallback>
            </mc:AlternateContent>
          </a:graphicData>
        </a:graphic>
      </p:graphicFrame>
    </p:spTree>
    <p:extLst>
      <p:ext uri="{BB962C8B-B14F-4D97-AF65-F5344CB8AC3E}">
        <p14:creationId xmlns:p14="http://schemas.microsoft.com/office/powerpoint/2010/main" val="998694539"/>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42060" y="1787061"/>
            <a:ext cx="8136144" cy="2190814"/>
          </a:xfrm>
          <a:custGeom>
            <a:avLst/>
            <a:gdLst/>
            <a:ahLst/>
            <a:cxnLst/>
            <a:rect l="l" t="t" r="r" b="b"/>
            <a:pathLst>
              <a:path w="8136144" h="2190814">
                <a:moveTo>
                  <a:pt x="32577" y="0"/>
                </a:moveTo>
                <a:lnTo>
                  <a:pt x="8038412" y="0"/>
                </a:lnTo>
                <a:cubicBezTo>
                  <a:pt x="8092388" y="0"/>
                  <a:pt x="8136144" y="43756"/>
                  <a:pt x="8136144" y="97732"/>
                </a:cubicBezTo>
                <a:lnTo>
                  <a:pt x="8136144" y="2093081"/>
                </a:lnTo>
                <a:cubicBezTo>
                  <a:pt x="8136144" y="2147057"/>
                  <a:pt x="8092388" y="2190814"/>
                  <a:pt x="8038412" y="2190814"/>
                </a:cubicBezTo>
                <a:lnTo>
                  <a:pt x="32577" y="2190814"/>
                </a:lnTo>
                <a:cubicBezTo>
                  <a:pt x="14585" y="2190814"/>
                  <a:pt x="0" y="2176228"/>
                  <a:pt x="0" y="2158236"/>
                </a:cubicBezTo>
                <a:lnTo>
                  <a:pt x="0" y="32577"/>
                </a:lnTo>
                <a:cubicBezTo>
                  <a:pt x="0" y="14597"/>
                  <a:pt x="14597" y="0"/>
                  <a:pt x="32577" y="0"/>
                </a:cubicBezTo>
                <a:close/>
              </a:path>
            </a:pathLst>
          </a:custGeom>
          <a:solidFill>
            <a:srgbClr val="5F87A7">
              <a:alpha val="10196"/>
            </a:srgbClr>
          </a:solidFill>
        </p:spPr>
      </p:sp>
      <p:sp>
        <p:nvSpPr>
          <p:cNvPr id="6" name="Shape 4"/>
          <p:cNvSpPr/>
          <p:nvPr/>
        </p:nvSpPr>
        <p:spPr>
          <a:xfrm>
            <a:off x="342060" y="1787061"/>
            <a:ext cx="32577" cy="2190814"/>
          </a:xfrm>
          <a:custGeom>
            <a:avLst/>
            <a:gdLst/>
            <a:ahLst/>
            <a:cxnLst/>
            <a:rect l="l" t="t" r="r" b="b"/>
            <a:pathLst>
              <a:path w="32577" h="2190814">
                <a:moveTo>
                  <a:pt x="32577" y="0"/>
                </a:moveTo>
                <a:lnTo>
                  <a:pt x="32577" y="0"/>
                </a:lnTo>
                <a:lnTo>
                  <a:pt x="32577" y="2190814"/>
                </a:lnTo>
                <a:lnTo>
                  <a:pt x="32577" y="2190814"/>
                </a:lnTo>
                <a:cubicBezTo>
                  <a:pt x="14585" y="2190814"/>
                  <a:pt x="0" y="2176228"/>
                  <a:pt x="0" y="2158236"/>
                </a:cubicBezTo>
                <a:lnTo>
                  <a:pt x="0" y="32577"/>
                </a:lnTo>
                <a:cubicBezTo>
                  <a:pt x="0" y="14597"/>
                  <a:pt x="14597" y="0"/>
                  <a:pt x="32577" y="0"/>
                </a:cubicBezTo>
                <a:close/>
              </a:path>
            </a:pathLst>
          </a:custGeom>
          <a:solidFill>
            <a:srgbClr val="E6B450"/>
          </a:solidFill>
        </p:spPr>
      </p:sp>
      <p:sp>
        <p:nvSpPr>
          <p:cNvPr id="7" name="Shape 5"/>
          <p:cNvSpPr/>
          <p:nvPr/>
        </p:nvSpPr>
        <p:spPr>
          <a:xfrm>
            <a:off x="578244" y="2015101"/>
            <a:ext cx="195463" cy="195463"/>
          </a:xfrm>
          <a:custGeom>
            <a:avLst/>
            <a:gdLst/>
            <a:ahLst/>
            <a:cxnLst/>
            <a:rect l="l" t="t" r="r" b="b"/>
            <a:pathLst>
              <a:path w="195463" h="195463">
                <a:moveTo>
                  <a:pt x="167785" y="2672"/>
                </a:moveTo>
                <a:cubicBezTo>
                  <a:pt x="171374" y="-916"/>
                  <a:pt x="177176" y="-916"/>
                  <a:pt x="180727" y="2672"/>
                </a:cubicBezTo>
                <a:lnTo>
                  <a:pt x="192943" y="14889"/>
                </a:lnTo>
                <a:cubicBezTo>
                  <a:pt x="196532" y="18477"/>
                  <a:pt x="196532" y="24280"/>
                  <a:pt x="192943" y="27831"/>
                </a:cubicBezTo>
                <a:lnTo>
                  <a:pt x="159730" y="61044"/>
                </a:lnTo>
                <a:lnTo>
                  <a:pt x="174619" y="75933"/>
                </a:lnTo>
                <a:cubicBezTo>
                  <a:pt x="177253" y="78567"/>
                  <a:pt x="178016" y="82499"/>
                  <a:pt x="176604" y="85935"/>
                </a:cubicBezTo>
                <a:cubicBezTo>
                  <a:pt x="175191" y="89371"/>
                  <a:pt x="171870" y="91623"/>
                  <a:pt x="168167" y="91623"/>
                </a:cubicBezTo>
                <a:lnTo>
                  <a:pt x="113193" y="91623"/>
                </a:lnTo>
                <a:cubicBezTo>
                  <a:pt x="108115" y="91623"/>
                  <a:pt x="104031" y="87538"/>
                  <a:pt x="104031" y="82461"/>
                </a:cubicBezTo>
                <a:lnTo>
                  <a:pt x="104031" y="27487"/>
                </a:lnTo>
                <a:cubicBezTo>
                  <a:pt x="104031" y="23784"/>
                  <a:pt x="106245" y="20424"/>
                  <a:pt x="109681" y="19012"/>
                </a:cubicBezTo>
                <a:cubicBezTo>
                  <a:pt x="113117" y="17599"/>
                  <a:pt x="117049" y="18363"/>
                  <a:pt x="119683" y="20997"/>
                </a:cubicBezTo>
                <a:lnTo>
                  <a:pt x="134572" y="35886"/>
                </a:lnTo>
                <a:lnTo>
                  <a:pt x="167785" y="2672"/>
                </a:lnTo>
                <a:close/>
                <a:moveTo>
                  <a:pt x="27678" y="103840"/>
                </a:moveTo>
                <a:lnTo>
                  <a:pt x="82652" y="103840"/>
                </a:lnTo>
                <a:cubicBezTo>
                  <a:pt x="87729" y="103840"/>
                  <a:pt x="91814" y="107925"/>
                  <a:pt x="91814" y="113002"/>
                </a:cubicBezTo>
                <a:lnTo>
                  <a:pt x="91814" y="167976"/>
                </a:lnTo>
                <a:cubicBezTo>
                  <a:pt x="91814" y="171679"/>
                  <a:pt x="89600" y="175039"/>
                  <a:pt x="86164" y="176451"/>
                </a:cubicBezTo>
                <a:cubicBezTo>
                  <a:pt x="82728" y="177864"/>
                  <a:pt x="78796" y="177100"/>
                  <a:pt x="76162" y="174466"/>
                </a:cubicBezTo>
                <a:lnTo>
                  <a:pt x="61273" y="159577"/>
                </a:lnTo>
                <a:lnTo>
                  <a:pt x="28060" y="192791"/>
                </a:lnTo>
                <a:cubicBezTo>
                  <a:pt x="24471" y="196379"/>
                  <a:pt x="18668" y="196379"/>
                  <a:pt x="15118" y="192791"/>
                </a:cubicBezTo>
                <a:lnTo>
                  <a:pt x="2901" y="180574"/>
                </a:lnTo>
                <a:cubicBezTo>
                  <a:pt x="-687" y="176986"/>
                  <a:pt x="-687" y="171183"/>
                  <a:pt x="2901" y="167632"/>
                </a:cubicBezTo>
                <a:lnTo>
                  <a:pt x="36115" y="134419"/>
                </a:lnTo>
                <a:lnTo>
                  <a:pt x="21226" y="119530"/>
                </a:lnTo>
                <a:cubicBezTo>
                  <a:pt x="18592" y="116896"/>
                  <a:pt x="17828" y="112964"/>
                  <a:pt x="19241" y="109528"/>
                </a:cubicBezTo>
                <a:cubicBezTo>
                  <a:pt x="20653" y="106092"/>
                  <a:pt x="23975" y="103840"/>
                  <a:pt x="27678" y="103840"/>
                </a:cubicBezTo>
                <a:close/>
              </a:path>
            </a:pathLst>
          </a:custGeom>
          <a:solidFill>
            <a:srgbClr val="E6B450"/>
          </a:solidFill>
        </p:spPr>
      </p:sp>
      <p:sp>
        <p:nvSpPr>
          <p:cNvPr id="8" name="Text 6"/>
          <p:cNvSpPr/>
          <p:nvPr/>
        </p:nvSpPr>
        <p:spPr>
          <a:xfrm>
            <a:off x="928449" y="1982523"/>
            <a:ext cx="6694605" cy="260617"/>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最短约束</a:t>
            </a:r>
            <a:endParaRPr lang="en-US" sz="2000" dirty="0"/>
          </a:p>
        </p:txBody>
      </p:sp>
      <p:sp>
        <p:nvSpPr>
          <p:cNvPr id="9" name="Text 7"/>
          <p:cNvSpPr/>
          <p:nvPr/>
        </p:nvSpPr>
        <p:spPr>
          <a:xfrm>
            <a:off x="928449" y="2340872"/>
            <a:ext cx="6670172" cy="236184"/>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TEB算法的最短约束为：</a:t>
            </a:r>
            <a:endParaRPr lang="en-US" sz="2400" dirty="0"/>
          </a:p>
        </p:txBody>
      </p:sp>
      <p:sp>
        <p:nvSpPr>
          <p:cNvPr id="10" name="Shape 8"/>
          <p:cNvSpPr/>
          <p:nvPr/>
        </p:nvSpPr>
        <p:spPr>
          <a:xfrm>
            <a:off x="932521" y="2680896"/>
            <a:ext cx="6588729" cy="757419"/>
          </a:xfrm>
          <a:custGeom>
            <a:avLst/>
            <a:gdLst/>
            <a:ahLst/>
            <a:cxnLst/>
            <a:rect l="l" t="t" r="r" b="b"/>
            <a:pathLst>
              <a:path w="6588729" h="757419">
                <a:moveTo>
                  <a:pt x="65153" y="0"/>
                </a:moveTo>
                <a:lnTo>
                  <a:pt x="6523576" y="0"/>
                </a:lnTo>
                <a:cubicBezTo>
                  <a:pt x="6559559" y="0"/>
                  <a:pt x="6588729" y="29170"/>
                  <a:pt x="6588729" y="65153"/>
                </a:cubicBezTo>
                <a:lnTo>
                  <a:pt x="6588729" y="692266"/>
                </a:lnTo>
                <a:cubicBezTo>
                  <a:pt x="6588729" y="728249"/>
                  <a:pt x="6559559" y="757419"/>
                  <a:pt x="6523576" y="757419"/>
                </a:cubicBezTo>
                <a:lnTo>
                  <a:pt x="65153" y="757419"/>
                </a:lnTo>
                <a:cubicBezTo>
                  <a:pt x="29170" y="757419"/>
                  <a:pt x="0" y="728249"/>
                  <a:pt x="0" y="692266"/>
                </a:cubicBezTo>
                <a:lnTo>
                  <a:pt x="0" y="65153"/>
                </a:lnTo>
                <a:cubicBezTo>
                  <a:pt x="0" y="29170"/>
                  <a:pt x="29170" y="0"/>
                  <a:pt x="65153" y="0"/>
                </a:cubicBezTo>
                <a:close/>
              </a:path>
            </a:pathLst>
          </a:custGeom>
          <a:solidFill>
            <a:srgbClr val="E6B450">
              <a:alpha val="10196"/>
            </a:srgbClr>
          </a:solidFill>
          <a:ln w="12700">
            <a:solidFill>
              <a:srgbClr val="E6B450">
                <a:alpha val="30196"/>
              </a:srgbClr>
            </a:solidFill>
            <a:prstDash val="solid"/>
          </a:ln>
        </p:spPr>
      </p:sp>
      <p:sp>
        <p:nvSpPr>
          <p:cNvPr id="14" name="Shape 12"/>
          <p:cNvSpPr/>
          <p:nvPr/>
        </p:nvSpPr>
        <p:spPr>
          <a:xfrm>
            <a:off x="342060" y="4169265"/>
            <a:ext cx="8136144" cy="2426998"/>
          </a:xfrm>
          <a:custGeom>
            <a:avLst/>
            <a:gdLst/>
            <a:ahLst/>
            <a:cxnLst/>
            <a:rect l="l" t="t" r="r" b="b"/>
            <a:pathLst>
              <a:path w="8136144" h="2426998">
                <a:moveTo>
                  <a:pt x="32577" y="0"/>
                </a:moveTo>
                <a:lnTo>
                  <a:pt x="8038409" y="0"/>
                </a:lnTo>
                <a:cubicBezTo>
                  <a:pt x="8092387" y="0"/>
                  <a:pt x="8136144" y="43758"/>
                  <a:pt x="8136144" y="97735"/>
                </a:cubicBezTo>
                <a:lnTo>
                  <a:pt x="8136144" y="2329263"/>
                </a:lnTo>
                <a:cubicBezTo>
                  <a:pt x="8136144" y="2383240"/>
                  <a:pt x="8092387" y="2426998"/>
                  <a:pt x="8038409" y="2426998"/>
                </a:cubicBezTo>
                <a:lnTo>
                  <a:pt x="32577" y="2426998"/>
                </a:lnTo>
                <a:cubicBezTo>
                  <a:pt x="14585" y="2426998"/>
                  <a:pt x="0" y="2412413"/>
                  <a:pt x="0" y="2394421"/>
                </a:cubicBezTo>
                <a:lnTo>
                  <a:pt x="0" y="32577"/>
                </a:lnTo>
                <a:cubicBezTo>
                  <a:pt x="0" y="14597"/>
                  <a:pt x="14597" y="0"/>
                  <a:pt x="32577" y="0"/>
                </a:cubicBezTo>
                <a:close/>
              </a:path>
            </a:pathLst>
          </a:custGeom>
          <a:solidFill>
            <a:srgbClr val="5F87A7">
              <a:alpha val="10196"/>
            </a:srgbClr>
          </a:solidFill>
        </p:spPr>
      </p:sp>
      <p:sp>
        <p:nvSpPr>
          <p:cNvPr id="15" name="Shape 13"/>
          <p:cNvSpPr/>
          <p:nvPr/>
        </p:nvSpPr>
        <p:spPr>
          <a:xfrm>
            <a:off x="342060" y="4169265"/>
            <a:ext cx="32577" cy="2426998"/>
          </a:xfrm>
          <a:custGeom>
            <a:avLst/>
            <a:gdLst/>
            <a:ahLst/>
            <a:cxnLst/>
            <a:rect l="l" t="t" r="r" b="b"/>
            <a:pathLst>
              <a:path w="32577" h="2426998">
                <a:moveTo>
                  <a:pt x="32577" y="0"/>
                </a:moveTo>
                <a:lnTo>
                  <a:pt x="32577" y="0"/>
                </a:lnTo>
                <a:lnTo>
                  <a:pt x="32577" y="2426998"/>
                </a:lnTo>
                <a:lnTo>
                  <a:pt x="32577" y="2426998"/>
                </a:lnTo>
                <a:cubicBezTo>
                  <a:pt x="14585" y="2426998"/>
                  <a:pt x="0" y="2412413"/>
                  <a:pt x="0" y="2394421"/>
                </a:cubicBezTo>
                <a:lnTo>
                  <a:pt x="0" y="32577"/>
                </a:lnTo>
                <a:cubicBezTo>
                  <a:pt x="0" y="14597"/>
                  <a:pt x="14597" y="0"/>
                  <a:pt x="32577" y="0"/>
                </a:cubicBezTo>
                <a:close/>
              </a:path>
            </a:pathLst>
          </a:custGeom>
          <a:solidFill>
            <a:srgbClr val="E6B450"/>
          </a:solidFill>
        </p:spPr>
      </p:sp>
      <p:sp>
        <p:nvSpPr>
          <p:cNvPr id="16" name="Shape 14"/>
          <p:cNvSpPr/>
          <p:nvPr/>
        </p:nvSpPr>
        <p:spPr>
          <a:xfrm>
            <a:off x="549739" y="4397305"/>
            <a:ext cx="195463" cy="195463"/>
          </a:xfrm>
          <a:custGeom>
            <a:avLst/>
            <a:gdLst/>
            <a:ahLst/>
            <a:cxnLst/>
            <a:rect l="l" t="t" r="r" b="b"/>
            <a:pathLst>
              <a:path w="195463" h="195463">
                <a:moveTo>
                  <a:pt x="24433" y="36649"/>
                </a:moveTo>
                <a:cubicBezTo>
                  <a:pt x="24433" y="29892"/>
                  <a:pt x="29892" y="24433"/>
                  <a:pt x="36649" y="24433"/>
                </a:cubicBezTo>
                <a:lnTo>
                  <a:pt x="97731" y="24433"/>
                </a:lnTo>
                <a:cubicBezTo>
                  <a:pt x="104489" y="24433"/>
                  <a:pt x="109948" y="29892"/>
                  <a:pt x="109948" y="36649"/>
                </a:cubicBezTo>
                <a:lnTo>
                  <a:pt x="109948" y="146597"/>
                </a:lnTo>
                <a:lnTo>
                  <a:pt x="146597" y="146597"/>
                </a:lnTo>
                <a:lnTo>
                  <a:pt x="146597" y="97731"/>
                </a:lnTo>
                <a:cubicBezTo>
                  <a:pt x="146597" y="90974"/>
                  <a:pt x="152056" y="85515"/>
                  <a:pt x="158814" y="85515"/>
                </a:cubicBezTo>
                <a:lnTo>
                  <a:pt x="183246" y="85515"/>
                </a:lnTo>
                <a:cubicBezTo>
                  <a:pt x="190004" y="85515"/>
                  <a:pt x="195463" y="90974"/>
                  <a:pt x="195463" y="97731"/>
                </a:cubicBezTo>
                <a:cubicBezTo>
                  <a:pt x="195463" y="104489"/>
                  <a:pt x="190004" y="109948"/>
                  <a:pt x="183246" y="109948"/>
                </a:cubicBezTo>
                <a:lnTo>
                  <a:pt x="171030" y="109948"/>
                </a:lnTo>
                <a:lnTo>
                  <a:pt x="171030" y="158814"/>
                </a:lnTo>
                <a:cubicBezTo>
                  <a:pt x="171030" y="165571"/>
                  <a:pt x="165571" y="171030"/>
                  <a:pt x="158814" y="171030"/>
                </a:cubicBezTo>
                <a:lnTo>
                  <a:pt x="97731" y="171030"/>
                </a:lnTo>
                <a:cubicBezTo>
                  <a:pt x="90974" y="171030"/>
                  <a:pt x="85515" y="165571"/>
                  <a:pt x="85515" y="158814"/>
                </a:cubicBezTo>
                <a:lnTo>
                  <a:pt x="85515" y="48866"/>
                </a:lnTo>
                <a:lnTo>
                  <a:pt x="48866" y="48866"/>
                </a:lnTo>
                <a:lnTo>
                  <a:pt x="48866" y="97731"/>
                </a:lnTo>
                <a:cubicBezTo>
                  <a:pt x="48866" y="104489"/>
                  <a:pt x="43407" y="109948"/>
                  <a:pt x="36649" y="109948"/>
                </a:cubicBezTo>
                <a:lnTo>
                  <a:pt x="12216" y="109948"/>
                </a:lnTo>
                <a:cubicBezTo>
                  <a:pt x="5459" y="109948"/>
                  <a:pt x="0" y="104489"/>
                  <a:pt x="0" y="97731"/>
                </a:cubicBezTo>
                <a:cubicBezTo>
                  <a:pt x="0" y="90974"/>
                  <a:pt x="5459" y="85515"/>
                  <a:pt x="12216" y="85515"/>
                </a:cubicBezTo>
                <a:lnTo>
                  <a:pt x="24433" y="85515"/>
                </a:lnTo>
                <a:lnTo>
                  <a:pt x="24433" y="36649"/>
                </a:lnTo>
                <a:close/>
              </a:path>
            </a:pathLst>
          </a:custGeom>
          <a:solidFill>
            <a:srgbClr val="E6B450"/>
          </a:solidFill>
        </p:spPr>
      </p:sp>
      <p:sp>
        <p:nvSpPr>
          <p:cNvPr id="17" name="Text 15"/>
          <p:cNvSpPr/>
          <p:nvPr/>
        </p:nvSpPr>
        <p:spPr>
          <a:xfrm>
            <a:off x="868258" y="4364728"/>
            <a:ext cx="7509034" cy="260617"/>
          </a:xfrm>
          <a:prstGeom prst="rect">
            <a:avLst/>
          </a:prstGeom>
          <a:noFill/>
        </p:spPr>
        <p:txBody>
          <a:bodyPr wrap="square" lIns="0" tIns="0" rIns="0" bIns="0" rtlCol="0" anchor="ctr"/>
          <a:lstStyle/>
          <a:p>
            <a:pPr>
              <a:lnSpc>
                <a:spcPct val="110000"/>
              </a:lnSpc>
            </a:pPr>
            <a:r>
              <a:rPr lang="en-US" b="1" dirty="0">
                <a:latin typeface="微软雅黑" panose="020B0503020204020204" pitchFamily="34" charset="-122"/>
                <a:ea typeface="微软雅黑" panose="020B0503020204020204" pitchFamily="34" charset="-122"/>
                <a:cs typeface="微软雅黑" panose="020B0503020204020204" pitchFamily="34" charset="-122"/>
              </a:rPr>
              <a:t>加速度变化率约束</a:t>
            </a:r>
            <a:endParaRPr lang="en-US" sz="2000" dirty="0"/>
          </a:p>
        </p:txBody>
      </p:sp>
      <p:sp>
        <p:nvSpPr>
          <p:cNvPr id="18" name="Text 16"/>
          <p:cNvSpPr/>
          <p:nvPr/>
        </p:nvSpPr>
        <p:spPr>
          <a:xfrm>
            <a:off x="868258" y="4723077"/>
            <a:ext cx="7484601" cy="236184"/>
          </a:xfrm>
          <a:prstGeom prst="rect">
            <a:avLst/>
          </a:prstGeom>
          <a:noFill/>
        </p:spPr>
        <p:txBody>
          <a:bodyPr wrap="square" lIns="0" tIns="0" rIns="0" bIns="0" rtlCol="0" anchor="ctr"/>
          <a:lstStyle/>
          <a:p>
            <a:pPr>
              <a:lnSpc>
                <a:spcPct val="140000"/>
              </a:lnSpc>
            </a:pPr>
            <a:r>
              <a:rPr lang="en-US" sz="1600" dirty="0">
                <a:latin typeface="微软雅黑" panose="020B0503020204020204" pitchFamily="34" charset="-122"/>
                <a:ea typeface="微软雅黑" panose="020B0503020204020204" pitchFamily="34" charset="-122"/>
                <a:cs typeface="微软雅黑" panose="020B0503020204020204" pitchFamily="34" charset="-122"/>
              </a:rPr>
              <a:t>TEB算法的加速度变化率约束为：</a:t>
            </a:r>
            <a:endParaRPr lang="en-US" sz="2400" dirty="0"/>
          </a:p>
        </p:txBody>
      </p:sp>
      <p:sp>
        <p:nvSpPr>
          <p:cNvPr id="19" name="Shape 17"/>
          <p:cNvSpPr/>
          <p:nvPr/>
        </p:nvSpPr>
        <p:spPr>
          <a:xfrm>
            <a:off x="872330" y="5092424"/>
            <a:ext cx="7403158" cy="986646"/>
          </a:xfrm>
          <a:custGeom>
            <a:avLst/>
            <a:gdLst/>
            <a:ahLst/>
            <a:cxnLst/>
            <a:rect l="l" t="t" r="r" b="b"/>
            <a:pathLst>
              <a:path w="7403158" h="757419">
                <a:moveTo>
                  <a:pt x="65153" y="0"/>
                </a:moveTo>
                <a:lnTo>
                  <a:pt x="7338005" y="0"/>
                </a:lnTo>
                <a:cubicBezTo>
                  <a:pt x="7373988" y="0"/>
                  <a:pt x="7403158" y="29170"/>
                  <a:pt x="7403158" y="65153"/>
                </a:cubicBezTo>
                <a:lnTo>
                  <a:pt x="7403158" y="692266"/>
                </a:lnTo>
                <a:cubicBezTo>
                  <a:pt x="7403158" y="728249"/>
                  <a:pt x="7373988" y="757419"/>
                  <a:pt x="7338005" y="757419"/>
                </a:cubicBezTo>
                <a:lnTo>
                  <a:pt x="65153" y="757419"/>
                </a:lnTo>
                <a:cubicBezTo>
                  <a:pt x="29170" y="757419"/>
                  <a:pt x="0" y="728249"/>
                  <a:pt x="0" y="692266"/>
                </a:cubicBezTo>
                <a:lnTo>
                  <a:pt x="0" y="65153"/>
                </a:lnTo>
                <a:cubicBezTo>
                  <a:pt x="0" y="29170"/>
                  <a:pt x="29170" y="0"/>
                  <a:pt x="65153" y="0"/>
                </a:cubicBezTo>
                <a:close/>
              </a:path>
            </a:pathLst>
          </a:custGeom>
          <a:solidFill>
            <a:srgbClr val="E6B450">
              <a:alpha val="10196"/>
            </a:srgbClr>
          </a:solidFill>
          <a:ln w="12700">
            <a:solidFill>
              <a:srgbClr val="E6B450">
                <a:alpha val="30196"/>
              </a:srgbClr>
            </a:solidFill>
            <a:prstDash val="solid"/>
          </a:ln>
        </p:spPr>
      </p:sp>
      <p:grpSp>
        <p:nvGrpSpPr>
          <p:cNvPr id="42" name="组合 41">
            <a:extLst>
              <a:ext uri="{FF2B5EF4-FFF2-40B4-BE49-F238E27FC236}">
                <a16:creationId xmlns:a16="http://schemas.microsoft.com/office/drawing/2014/main" id="{18861A41-CB4F-9880-E706-FBC6D21588F1}"/>
              </a:ext>
            </a:extLst>
          </p:cNvPr>
          <p:cNvGrpSpPr/>
          <p:nvPr/>
        </p:nvGrpSpPr>
        <p:grpSpPr>
          <a:xfrm>
            <a:off x="0" y="939798"/>
            <a:ext cx="5022850" cy="625474"/>
            <a:chOff x="0" y="1075267"/>
            <a:chExt cx="5022850" cy="625474"/>
          </a:xfrm>
        </p:grpSpPr>
        <p:sp>
          <p:nvSpPr>
            <p:cNvPr id="43" name="矩形 42">
              <a:extLst>
                <a:ext uri="{FF2B5EF4-FFF2-40B4-BE49-F238E27FC236}">
                  <a16:creationId xmlns:a16="http://schemas.microsoft.com/office/drawing/2014/main" id="{991AB4F3-8B5D-77FA-DC9F-98333333B5E0}"/>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F38AA97A-AC72-29E3-3853-EFA021454C02}"/>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7.3.4 TEB</a:t>
              </a:r>
              <a:r>
                <a:rPr lang="zh-CN" altLang="en-US" sz="2400" b="1" dirty="0">
                  <a:solidFill>
                    <a:schemeClr val="accent1"/>
                  </a:solidFill>
                  <a:latin typeface="+mj-lt"/>
                </a:rPr>
                <a:t>算法</a:t>
              </a:r>
            </a:p>
          </p:txBody>
        </p:sp>
      </p:grpSp>
      <p:graphicFrame>
        <p:nvGraphicFramePr>
          <p:cNvPr id="3" name="对象 2">
            <a:extLst>
              <a:ext uri="{FF2B5EF4-FFF2-40B4-BE49-F238E27FC236}">
                <a16:creationId xmlns:a16="http://schemas.microsoft.com/office/drawing/2014/main" id="{849F6941-0B0D-0122-186D-FA448CD145A4}"/>
              </a:ext>
            </a:extLst>
          </p:cNvPr>
          <p:cNvGraphicFramePr>
            <a:graphicFrameLocks noChangeAspect="1"/>
          </p:cNvGraphicFramePr>
          <p:nvPr>
            <p:extLst>
              <p:ext uri="{D42A27DB-BD31-4B8C-83A1-F6EECF244321}">
                <p14:modId xmlns:p14="http://schemas.microsoft.com/office/powerpoint/2010/main" val="3011111706"/>
              </p:ext>
            </p:extLst>
          </p:nvPr>
        </p:nvGraphicFramePr>
        <p:xfrm>
          <a:off x="2168273" y="2837422"/>
          <a:ext cx="2316590" cy="463318"/>
        </p:xfrm>
        <a:graphic>
          <a:graphicData uri="http://schemas.openxmlformats.org/presentationml/2006/ole">
            <mc:AlternateContent xmlns:mc="http://schemas.openxmlformats.org/markup-compatibility/2006">
              <mc:Choice xmlns:v="urn:schemas-microsoft-com:vml" Requires="v">
                <p:oleObj name="Equation" r:id="rId3" imgW="1016000" imgH="203200" progId="Equation.DSMT4">
                  <p:embed/>
                </p:oleObj>
              </mc:Choice>
              <mc:Fallback>
                <p:oleObj name="Equation" r:id="rId3" imgW="1016000" imgH="203200" progId="Equation.DSMT4">
                  <p:embed/>
                  <p:pic>
                    <p:nvPicPr>
                      <p:cNvPr id="3" name="对象 2">
                        <a:extLst>
                          <a:ext uri="{FF2B5EF4-FFF2-40B4-BE49-F238E27FC236}">
                            <a16:creationId xmlns:a16="http://schemas.microsoft.com/office/drawing/2014/main" id="{849F6941-0B0D-0122-186D-FA448CD145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8273" y="2837422"/>
                        <a:ext cx="2316590" cy="463318"/>
                      </a:xfrm>
                      <a:prstGeom prst="rect">
                        <a:avLst/>
                      </a:prstGeom>
                      <a:noFill/>
                    </p:spPr>
                  </p:pic>
                </p:oleObj>
              </mc:Fallback>
            </mc:AlternateContent>
          </a:graphicData>
        </a:graphic>
      </p:graphicFrame>
      <p:graphicFrame>
        <p:nvGraphicFramePr>
          <p:cNvPr id="47" name="对象 46">
            <a:extLst>
              <a:ext uri="{FF2B5EF4-FFF2-40B4-BE49-F238E27FC236}">
                <a16:creationId xmlns:a16="http://schemas.microsoft.com/office/drawing/2014/main" id="{2CC13773-37A7-4844-3C6A-9387DDF0DA54}"/>
              </a:ext>
            </a:extLst>
          </p:cNvPr>
          <p:cNvGraphicFramePr>
            <a:graphicFrameLocks noChangeAspect="1"/>
          </p:cNvGraphicFramePr>
          <p:nvPr>
            <p:extLst>
              <p:ext uri="{D42A27DB-BD31-4B8C-83A1-F6EECF244321}">
                <p14:modId xmlns:p14="http://schemas.microsoft.com/office/powerpoint/2010/main" val="1003139898"/>
              </p:ext>
            </p:extLst>
          </p:nvPr>
        </p:nvGraphicFramePr>
        <p:xfrm>
          <a:off x="1772628" y="5211108"/>
          <a:ext cx="2594866" cy="753348"/>
        </p:xfrm>
        <a:graphic>
          <a:graphicData uri="http://schemas.openxmlformats.org/presentationml/2006/ole">
            <mc:AlternateContent xmlns:mc="http://schemas.openxmlformats.org/markup-compatibility/2006">
              <mc:Choice xmlns:v="urn:schemas-microsoft-com:vml" Requires="v">
                <p:oleObj name="Equation" r:id="rId5" imgW="1371600" imgH="393700" progId="Equation.DSMT4">
                  <p:embed/>
                </p:oleObj>
              </mc:Choice>
              <mc:Fallback>
                <p:oleObj name="Equation" r:id="rId5" imgW="1371600" imgH="393700" progId="Equation.DSMT4">
                  <p:embed/>
                  <p:pic>
                    <p:nvPicPr>
                      <p:cNvPr id="47" name="对象 46">
                        <a:extLst>
                          <a:ext uri="{FF2B5EF4-FFF2-40B4-BE49-F238E27FC236}">
                            <a16:creationId xmlns:a16="http://schemas.microsoft.com/office/drawing/2014/main" id="{2CC13773-37A7-4844-3C6A-9387DDF0DA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2628" y="5211108"/>
                        <a:ext cx="2594866" cy="753348"/>
                      </a:xfrm>
                      <a:prstGeom prst="rect">
                        <a:avLst/>
                      </a:prstGeom>
                      <a:noFill/>
                    </p:spPr>
                  </p:pic>
                </p:oleObj>
              </mc:Fallback>
            </mc:AlternateContent>
          </a:graphicData>
        </a:graphic>
      </p:graphicFrame>
    </p:spTree>
    <p:extLst>
      <p:ext uri="{BB962C8B-B14F-4D97-AF65-F5344CB8AC3E}">
        <p14:creationId xmlns:p14="http://schemas.microsoft.com/office/powerpoint/2010/main" val="1882394322"/>
      </p:ext>
    </p:extLst>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 14"/>
          <p:cNvSpPr/>
          <p:nvPr/>
        </p:nvSpPr>
        <p:spPr>
          <a:xfrm>
            <a:off x="400049" y="1789905"/>
            <a:ext cx="11292417" cy="4492362"/>
          </a:xfrm>
          <a:custGeom>
            <a:avLst/>
            <a:gdLst/>
            <a:ahLst/>
            <a:cxnLst/>
            <a:rect l="l" t="t" r="r" b="b"/>
            <a:pathLst>
              <a:path w="7448550" h="2333625">
                <a:moveTo>
                  <a:pt x="38100" y="0"/>
                </a:moveTo>
                <a:lnTo>
                  <a:pt x="7334249" y="0"/>
                </a:lnTo>
                <a:cubicBezTo>
                  <a:pt x="7397376" y="0"/>
                  <a:pt x="7448550" y="51174"/>
                  <a:pt x="7448550" y="114301"/>
                </a:cubicBezTo>
                <a:lnTo>
                  <a:pt x="7448550" y="2219324"/>
                </a:lnTo>
                <a:cubicBezTo>
                  <a:pt x="7448550" y="2282451"/>
                  <a:pt x="7397376" y="2333625"/>
                  <a:pt x="7334249" y="2333625"/>
                </a:cubicBezTo>
                <a:lnTo>
                  <a:pt x="38100" y="2333625"/>
                </a:lnTo>
                <a:cubicBezTo>
                  <a:pt x="17072" y="2333625"/>
                  <a:pt x="0" y="2316553"/>
                  <a:pt x="0" y="2295525"/>
                </a:cubicBezTo>
                <a:lnTo>
                  <a:pt x="0" y="38100"/>
                </a:lnTo>
                <a:cubicBezTo>
                  <a:pt x="0" y="17072"/>
                  <a:pt x="17072" y="0"/>
                  <a:pt x="38100" y="0"/>
                </a:cubicBezTo>
                <a:close/>
              </a:path>
            </a:pathLst>
          </a:custGeom>
          <a:solidFill>
            <a:srgbClr val="5F87A7">
              <a:alpha val="10196"/>
            </a:srgbClr>
          </a:solidFill>
        </p:spPr>
      </p:sp>
      <p:sp>
        <p:nvSpPr>
          <p:cNvPr id="17" name="Shape 15"/>
          <p:cNvSpPr/>
          <p:nvPr/>
        </p:nvSpPr>
        <p:spPr>
          <a:xfrm>
            <a:off x="400050" y="1789905"/>
            <a:ext cx="38100" cy="4492362"/>
          </a:xfrm>
          <a:custGeom>
            <a:avLst/>
            <a:gdLst/>
            <a:ahLst/>
            <a:cxnLst/>
            <a:rect l="l" t="t" r="r" b="b"/>
            <a:pathLst>
              <a:path w="38100" h="2333625">
                <a:moveTo>
                  <a:pt x="38100" y="0"/>
                </a:moveTo>
                <a:lnTo>
                  <a:pt x="38100" y="0"/>
                </a:lnTo>
                <a:lnTo>
                  <a:pt x="38100" y="2333625"/>
                </a:lnTo>
                <a:lnTo>
                  <a:pt x="38100" y="2333625"/>
                </a:lnTo>
                <a:cubicBezTo>
                  <a:pt x="17072" y="2333625"/>
                  <a:pt x="0" y="2316553"/>
                  <a:pt x="0" y="2295525"/>
                </a:cubicBezTo>
                <a:lnTo>
                  <a:pt x="0" y="38100"/>
                </a:lnTo>
                <a:cubicBezTo>
                  <a:pt x="0" y="17072"/>
                  <a:pt x="17072" y="0"/>
                  <a:pt x="38100" y="0"/>
                </a:cubicBezTo>
                <a:close/>
              </a:path>
            </a:pathLst>
          </a:custGeom>
          <a:solidFill>
            <a:srgbClr val="E6B450"/>
          </a:solidFill>
        </p:spPr>
      </p:sp>
      <p:sp>
        <p:nvSpPr>
          <p:cNvPr id="18" name="Shape 16"/>
          <p:cNvSpPr/>
          <p:nvPr/>
        </p:nvSpPr>
        <p:spPr>
          <a:xfrm>
            <a:off x="647700" y="2056606"/>
            <a:ext cx="171450" cy="228600"/>
          </a:xfrm>
          <a:custGeom>
            <a:avLst/>
            <a:gdLst/>
            <a:ahLst/>
            <a:cxnLst/>
            <a:rect l="l" t="t" r="r" b="b"/>
            <a:pathLst>
              <a:path w="171450" h="228600">
                <a:moveTo>
                  <a:pt x="28575" y="0"/>
                </a:moveTo>
                <a:cubicBezTo>
                  <a:pt x="12814" y="0"/>
                  <a:pt x="0" y="12814"/>
                  <a:pt x="0" y="28575"/>
                </a:cubicBezTo>
                <a:lnTo>
                  <a:pt x="0" y="200025"/>
                </a:lnTo>
                <a:cubicBezTo>
                  <a:pt x="0" y="215786"/>
                  <a:pt x="12814" y="228600"/>
                  <a:pt x="28575" y="228600"/>
                </a:cubicBezTo>
                <a:lnTo>
                  <a:pt x="142875" y="228600"/>
                </a:lnTo>
                <a:cubicBezTo>
                  <a:pt x="158636" y="228600"/>
                  <a:pt x="171450" y="215786"/>
                  <a:pt x="171450" y="200025"/>
                </a:cubicBezTo>
                <a:lnTo>
                  <a:pt x="171450" y="28575"/>
                </a:lnTo>
                <a:cubicBezTo>
                  <a:pt x="171450" y="12814"/>
                  <a:pt x="158636" y="0"/>
                  <a:pt x="142875" y="0"/>
                </a:cubicBezTo>
                <a:lnTo>
                  <a:pt x="28575" y="0"/>
                </a:lnTo>
                <a:close/>
                <a:moveTo>
                  <a:pt x="42863" y="28575"/>
                </a:moveTo>
                <a:lnTo>
                  <a:pt x="128588" y="28575"/>
                </a:lnTo>
                <a:cubicBezTo>
                  <a:pt x="136490" y="28575"/>
                  <a:pt x="142875" y="34960"/>
                  <a:pt x="142875" y="42863"/>
                </a:cubicBezTo>
                <a:lnTo>
                  <a:pt x="142875" y="57150"/>
                </a:lnTo>
                <a:cubicBezTo>
                  <a:pt x="142875" y="65053"/>
                  <a:pt x="136490" y="71438"/>
                  <a:pt x="128588" y="71438"/>
                </a:cubicBezTo>
                <a:lnTo>
                  <a:pt x="42863" y="71438"/>
                </a:lnTo>
                <a:cubicBezTo>
                  <a:pt x="34960" y="71438"/>
                  <a:pt x="28575" y="65053"/>
                  <a:pt x="28575" y="57150"/>
                </a:cubicBezTo>
                <a:lnTo>
                  <a:pt x="28575" y="42863"/>
                </a:lnTo>
                <a:cubicBezTo>
                  <a:pt x="28575" y="34960"/>
                  <a:pt x="34960" y="28575"/>
                  <a:pt x="42863" y="28575"/>
                </a:cubicBezTo>
                <a:close/>
                <a:moveTo>
                  <a:pt x="50006" y="103584"/>
                </a:moveTo>
                <a:cubicBezTo>
                  <a:pt x="50006" y="109498"/>
                  <a:pt x="45205" y="114300"/>
                  <a:pt x="39291" y="114300"/>
                </a:cubicBezTo>
                <a:cubicBezTo>
                  <a:pt x="33377" y="114300"/>
                  <a:pt x="28575" y="109498"/>
                  <a:pt x="28575" y="103584"/>
                </a:cubicBezTo>
                <a:cubicBezTo>
                  <a:pt x="28575" y="97670"/>
                  <a:pt x="33377" y="92869"/>
                  <a:pt x="39291" y="92869"/>
                </a:cubicBezTo>
                <a:cubicBezTo>
                  <a:pt x="45205" y="92869"/>
                  <a:pt x="50006" y="97670"/>
                  <a:pt x="50006" y="103584"/>
                </a:cubicBezTo>
                <a:close/>
                <a:moveTo>
                  <a:pt x="85725" y="114300"/>
                </a:moveTo>
                <a:cubicBezTo>
                  <a:pt x="79811" y="114300"/>
                  <a:pt x="75009" y="109498"/>
                  <a:pt x="75009" y="103584"/>
                </a:cubicBezTo>
                <a:cubicBezTo>
                  <a:pt x="75009" y="97670"/>
                  <a:pt x="79811" y="92869"/>
                  <a:pt x="85725" y="92869"/>
                </a:cubicBezTo>
                <a:cubicBezTo>
                  <a:pt x="91639" y="92869"/>
                  <a:pt x="96441" y="97670"/>
                  <a:pt x="96441" y="103584"/>
                </a:cubicBezTo>
                <a:cubicBezTo>
                  <a:pt x="96441" y="109498"/>
                  <a:pt x="91639" y="114300"/>
                  <a:pt x="85725" y="114300"/>
                </a:cubicBezTo>
                <a:close/>
                <a:moveTo>
                  <a:pt x="142875" y="103584"/>
                </a:moveTo>
                <a:cubicBezTo>
                  <a:pt x="142875" y="109498"/>
                  <a:pt x="138073" y="114300"/>
                  <a:pt x="132159" y="114300"/>
                </a:cubicBezTo>
                <a:cubicBezTo>
                  <a:pt x="126245" y="114300"/>
                  <a:pt x="121444" y="109498"/>
                  <a:pt x="121444" y="103584"/>
                </a:cubicBezTo>
                <a:cubicBezTo>
                  <a:pt x="121444" y="97670"/>
                  <a:pt x="126245" y="92869"/>
                  <a:pt x="132159" y="92869"/>
                </a:cubicBezTo>
                <a:cubicBezTo>
                  <a:pt x="138073" y="92869"/>
                  <a:pt x="142875" y="97670"/>
                  <a:pt x="142875" y="103584"/>
                </a:cubicBezTo>
                <a:close/>
                <a:moveTo>
                  <a:pt x="39291" y="157163"/>
                </a:moveTo>
                <a:cubicBezTo>
                  <a:pt x="33377" y="157163"/>
                  <a:pt x="28575" y="152361"/>
                  <a:pt x="28575" y="146447"/>
                </a:cubicBezTo>
                <a:cubicBezTo>
                  <a:pt x="28575" y="140533"/>
                  <a:pt x="33377" y="135731"/>
                  <a:pt x="39291" y="135731"/>
                </a:cubicBezTo>
                <a:cubicBezTo>
                  <a:pt x="45205" y="135731"/>
                  <a:pt x="50006" y="140533"/>
                  <a:pt x="50006" y="146447"/>
                </a:cubicBezTo>
                <a:cubicBezTo>
                  <a:pt x="50006" y="152361"/>
                  <a:pt x="45205" y="157163"/>
                  <a:pt x="39291" y="157163"/>
                </a:cubicBezTo>
                <a:close/>
                <a:moveTo>
                  <a:pt x="96441" y="146447"/>
                </a:moveTo>
                <a:cubicBezTo>
                  <a:pt x="96441" y="152361"/>
                  <a:pt x="91639" y="157163"/>
                  <a:pt x="85725" y="157163"/>
                </a:cubicBezTo>
                <a:cubicBezTo>
                  <a:pt x="79811" y="157163"/>
                  <a:pt x="75009" y="152361"/>
                  <a:pt x="75009" y="146447"/>
                </a:cubicBezTo>
                <a:cubicBezTo>
                  <a:pt x="75009" y="140533"/>
                  <a:pt x="79811" y="135731"/>
                  <a:pt x="85725" y="135731"/>
                </a:cubicBezTo>
                <a:cubicBezTo>
                  <a:pt x="91639" y="135731"/>
                  <a:pt x="96441" y="140533"/>
                  <a:pt x="96441" y="146447"/>
                </a:cubicBezTo>
                <a:close/>
                <a:moveTo>
                  <a:pt x="132159" y="157163"/>
                </a:moveTo>
                <a:cubicBezTo>
                  <a:pt x="126245" y="157163"/>
                  <a:pt x="121444" y="152361"/>
                  <a:pt x="121444" y="146447"/>
                </a:cubicBezTo>
                <a:cubicBezTo>
                  <a:pt x="121444" y="140533"/>
                  <a:pt x="126245" y="135731"/>
                  <a:pt x="132159" y="135731"/>
                </a:cubicBezTo>
                <a:cubicBezTo>
                  <a:pt x="138073" y="135731"/>
                  <a:pt x="142875" y="140533"/>
                  <a:pt x="142875" y="146447"/>
                </a:cubicBezTo>
                <a:cubicBezTo>
                  <a:pt x="142875" y="152361"/>
                  <a:pt x="138073" y="157163"/>
                  <a:pt x="132159" y="157163"/>
                </a:cubicBezTo>
                <a:close/>
                <a:moveTo>
                  <a:pt x="28575" y="189309"/>
                </a:moveTo>
                <a:cubicBezTo>
                  <a:pt x="28575" y="183371"/>
                  <a:pt x="33352" y="178594"/>
                  <a:pt x="39291" y="178594"/>
                </a:cubicBezTo>
                <a:lnTo>
                  <a:pt x="89297" y="178594"/>
                </a:lnTo>
                <a:cubicBezTo>
                  <a:pt x="95235" y="178594"/>
                  <a:pt x="100013" y="183371"/>
                  <a:pt x="100013" y="189309"/>
                </a:cubicBezTo>
                <a:cubicBezTo>
                  <a:pt x="100013" y="195248"/>
                  <a:pt x="95235" y="200025"/>
                  <a:pt x="89297" y="200025"/>
                </a:cubicBezTo>
                <a:lnTo>
                  <a:pt x="39291" y="200025"/>
                </a:lnTo>
                <a:cubicBezTo>
                  <a:pt x="33352" y="200025"/>
                  <a:pt x="28575" y="195248"/>
                  <a:pt x="28575" y="189309"/>
                </a:cubicBezTo>
                <a:close/>
                <a:moveTo>
                  <a:pt x="132159" y="178594"/>
                </a:moveTo>
                <a:cubicBezTo>
                  <a:pt x="138098" y="178594"/>
                  <a:pt x="142875" y="183371"/>
                  <a:pt x="142875" y="189309"/>
                </a:cubicBezTo>
                <a:cubicBezTo>
                  <a:pt x="142875" y="195248"/>
                  <a:pt x="138098" y="200025"/>
                  <a:pt x="132159" y="200025"/>
                </a:cubicBezTo>
                <a:cubicBezTo>
                  <a:pt x="126221" y="200025"/>
                  <a:pt x="121444" y="195248"/>
                  <a:pt x="121444" y="189309"/>
                </a:cubicBezTo>
                <a:cubicBezTo>
                  <a:pt x="121444" y="183371"/>
                  <a:pt x="126221" y="178594"/>
                  <a:pt x="132159" y="178594"/>
                </a:cubicBezTo>
                <a:close/>
              </a:path>
            </a:pathLst>
          </a:custGeom>
          <a:solidFill>
            <a:srgbClr val="E6B450"/>
          </a:solidFill>
        </p:spPr>
      </p:sp>
      <p:sp>
        <p:nvSpPr>
          <p:cNvPr id="19" name="Text 17"/>
          <p:cNvSpPr/>
          <p:nvPr/>
        </p:nvSpPr>
        <p:spPr>
          <a:xfrm>
            <a:off x="975866" y="2018506"/>
            <a:ext cx="6762750" cy="304800"/>
          </a:xfrm>
          <a:prstGeom prst="rect">
            <a:avLst/>
          </a:prstGeom>
          <a:noFill/>
        </p:spPr>
        <p:txBody>
          <a:bodyPr wrap="square" lIns="0" tIns="0" rIns="0" bIns="0" rtlCol="0" anchor="ctr"/>
          <a:lstStyle/>
          <a:p>
            <a:pPr>
              <a:lnSpc>
                <a:spcPct val="11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TEB</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算法的最小二乘问题</a:t>
            </a:r>
            <a:endParaRPr lang="en-US" sz="1600" dirty="0"/>
          </a:p>
        </p:txBody>
      </p:sp>
      <p:sp>
        <p:nvSpPr>
          <p:cNvPr id="20" name="Text 18"/>
          <p:cNvSpPr/>
          <p:nvPr/>
        </p:nvSpPr>
        <p:spPr>
          <a:xfrm>
            <a:off x="990153" y="2509574"/>
            <a:ext cx="8814247" cy="224633"/>
          </a:xfrm>
          <a:prstGeom prst="rect">
            <a:avLst/>
          </a:prstGeom>
          <a:noFill/>
        </p:spPr>
        <p:txBody>
          <a:bodyPr wrap="square" lIns="0" tIns="0" rIns="0" bIns="0" rtlCol="0" anchor="ctr"/>
          <a:lstStyle/>
          <a:p>
            <a:pPr>
              <a:lnSpc>
                <a:spcPct val="140000"/>
              </a:lnSpc>
            </a:pPr>
            <a:r>
              <a:rPr lang="zh-CN" altLang="zh-CN" sz="1600" dirty="0"/>
              <a:t>代价函数整理完过后，需要做的就是如何把这些代价函数给建模成最小二乘问题</a:t>
            </a:r>
            <a:endParaRPr lang="en-US" dirty="0"/>
          </a:p>
        </p:txBody>
      </p:sp>
      <p:sp>
        <p:nvSpPr>
          <p:cNvPr id="21" name="Shape 19"/>
          <p:cNvSpPr/>
          <p:nvPr/>
        </p:nvSpPr>
        <p:spPr>
          <a:xfrm>
            <a:off x="975866" y="2920476"/>
            <a:ext cx="10428205" cy="3146160"/>
          </a:xfrm>
          <a:custGeom>
            <a:avLst/>
            <a:gdLst/>
            <a:ahLst/>
            <a:cxnLst/>
            <a:rect l="l" t="t" r="r" b="b"/>
            <a:pathLst>
              <a:path w="3257550" h="771525">
                <a:moveTo>
                  <a:pt x="76204" y="0"/>
                </a:moveTo>
                <a:lnTo>
                  <a:pt x="3181346" y="0"/>
                </a:lnTo>
                <a:cubicBezTo>
                  <a:pt x="3223433" y="0"/>
                  <a:pt x="3257550" y="34117"/>
                  <a:pt x="3257550" y="76204"/>
                </a:cubicBezTo>
                <a:lnTo>
                  <a:pt x="3257550" y="695321"/>
                </a:lnTo>
                <a:cubicBezTo>
                  <a:pt x="3257550" y="737408"/>
                  <a:pt x="3223433" y="771525"/>
                  <a:pt x="3181346" y="771525"/>
                </a:cubicBezTo>
                <a:lnTo>
                  <a:pt x="76204" y="771525"/>
                </a:lnTo>
                <a:cubicBezTo>
                  <a:pt x="34117" y="771525"/>
                  <a:pt x="0" y="737408"/>
                  <a:pt x="0" y="695321"/>
                </a:cubicBezTo>
                <a:lnTo>
                  <a:pt x="0" y="76204"/>
                </a:lnTo>
                <a:cubicBezTo>
                  <a:pt x="0" y="34146"/>
                  <a:pt x="34146" y="0"/>
                  <a:pt x="76204" y="0"/>
                </a:cubicBezTo>
                <a:close/>
              </a:path>
            </a:pathLst>
          </a:custGeom>
          <a:solidFill>
            <a:srgbClr val="E6B450">
              <a:alpha val="10196"/>
            </a:srgbClr>
          </a:solidFill>
          <a:ln w="12700">
            <a:solidFill>
              <a:srgbClr val="E6B450">
                <a:alpha val="30196"/>
              </a:srgbClr>
            </a:solidFill>
            <a:prstDash val="solid"/>
          </a:ln>
        </p:spPr>
      </p:sp>
      <p:grpSp>
        <p:nvGrpSpPr>
          <p:cNvPr id="45" name="组合 44">
            <a:extLst>
              <a:ext uri="{FF2B5EF4-FFF2-40B4-BE49-F238E27FC236}">
                <a16:creationId xmlns:a16="http://schemas.microsoft.com/office/drawing/2014/main" id="{D055604A-4AC5-8B94-880B-DB3C679C1342}"/>
              </a:ext>
            </a:extLst>
          </p:cNvPr>
          <p:cNvGrpSpPr/>
          <p:nvPr/>
        </p:nvGrpSpPr>
        <p:grpSpPr>
          <a:xfrm>
            <a:off x="0" y="939798"/>
            <a:ext cx="5022850" cy="625474"/>
            <a:chOff x="0" y="1075267"/>
            <a:chExt cx="5022850" cy="625474"/>
          </a:xfrm>
        </p:grpSpPr>
        <p:sp>
          <p:nvSpPr>
            <p:cNvPr id="46" name="矩形 45">
              <a:extLst>
                <a:ext uri="{FF2B5EF4-FFF2-40B4-BE49-F238E27FC236}">
                  <a16:creationId xmlns:a16="http://schemas.microsoft.com/office/drawing/2014/main" id="{FD2C2E90-1AFB-72BE-4625-2C11ED6F44FB}"/>
                </a:ext>
              </a:extLst>
            </p:cNvPr>
            <p:cNvSpPr/>
            <p:nvPr/>
          </p:nvSpPr>
          <p:spPr>
            <a:xfrm>
              <a:off x="0" y="1075267"/>
              <a:ext cx="5022850" cy="625474"/>
            </a:xfrm>
            <a:prstGeom prst="rect">
              <a:avLst/>
            </a:prstGeom>
            <a:gradFill>
              <a:gsLst>
                <a:gs pos="0">
                  <a:schemeClr val="accent3">
                    <a:lumMod val="20000"/>
                    <a:lumOff val="80000"/>
                  </a:schemeClr>
                </a:gs>
                <a:gs pos="93000">
                  <a:schemeClr val="accent3">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3576D714-AA64-CB54-E560-E5DE533A4C6A}"/>
                </a:ext>
              </a:extLst>
            </p:cNvPr>
            <p:cNvSpPr txBox="1"/>
            <p:nvPr/>
          </p:nvSpPr>
          <p:spPr>
            <a:xfrm>
              <a:off x="270933" y="1157172"/>
              <a:ext cx="3992148" cy="461665"/>
            </a:xfrm>
            <a:prstGeom prst="rect">
              <a:avLst/>
            </a:prstGeom>
            <a:noFill/>
          </p:spPr>
          <p:txBody>
            <a:bodyPr wrap="square">
              <a:spAutoFit/>
            </a:bodyPr>
            <a:lstStyle/>
            <a:p>
              <a:r>
                <a:rPr lang="en-US" altLang="zh-CN" sz="2400" b="1" dirty="0">
                  <a:solidFill>
                    <a:schemeClr val="accent1"/>
                  </a:solidFill>
                  <a:latin typeface="+mj-lt"/>
                </a:rPr>
                <a:t>7.3.4 TEB</a:t>
              </a:r>
              <a:r>
                <a:rPr lang="zh-CN" altLang="en-US" sz="2400" b="1" dirty="0">
                  <a:solidFill>
                    <a:schemeClr val="accent1"/>
                  </a:solidFill>
                  <a:latin typeface="+mj-lt"/>
                </a:rPr>
                <a:t>算法</a:t>
              </a:r>
            </a:p>
          </p:txBody>
        </p:sp>
      </p:grpSp>
      <p:pic>
        <p:nvPicPr>
          <p:cNvPr id="2" name="图片 1">
            <a:extLst>
              <a:ext uri="{FF2B5EF4-FFF2-40B4-BE49-F238E27FC236}">
                <a16:creationId xmlns:a16="http://schemas.microsoft.com/office/drawing/2014/main" id="{B0A8DC0F-2D15-F5F7-BBB9-F05E02FE5503}"/>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r="8463"/>
          <a:stretch>
            <a:fillRect/>
          </a:stretch>
        </p:blipFill>
        <p:spPr>
          <a:xfrm>
            <a:off x="1042504" y="3011488"/>
            <a:ext cx="10361567" cy="2796648"/>
          </a:xfrm>
          <a:prstGeom prst="rect">
            <a:avLst/>
          </a:prstGeom>
          <a:noFill/>
          <a:ln>
            <a:noFill/>
          </a:ln>
          <a:effectLst/>
        </p:spPr>
      </p:pic>
    </p:spTree>
    <p:extLst>
      <p:ext uri="{BB962C8B-B14F-4D97-AF65-F5344CB8AC3E}">
        <p14:creationId xmlns:p14="http://schemas.microsoft.com/office/powerpoint/2010/main" val="4194892011"/>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PA" val="v5.2.3"/>
</p:tagLst>
</file>

<file path=ppt/tags/tag2.xml><?xml version="1.0" encoding="utf-8"?>
<p:tagLst xmlns:a="http://schemas.openxmlformats.org/drawingml/2006/main" xmlns:r="http://schemas.openxmlformats.org/officeDocument/2006/relationships" xmlns:p="http://schemas.openxmlformats.org/presentationml/2006/main">
  <p:tag name="PA" val="v5.2.3"/>
</p:tagLst>
</file>

<file path=ppt/tags/tag3.xml><?xml version="1.0" encoding="utf-8"?>
<p:tagLst xmlns:a="http://schemas.openxmlformats.org/drawingml/2006/main" xmlns:r="http://schemas.openxmlformats.org/officeDocument/2006/relationships" xmlns:p="http://schemas.openxmlformats.org/presentationml/2006/main">
  <p:tag name="PA" val="v5.2.3"/>
</p:tagLst>
</file>

<file path=ppt/tags/tag4.xml><?xml version="1.0" encoding="utf-8"?>
<p:tagLst xmlns:a="http://schemas.openxmlformats.org/drawingml/2006/main" xmlns:r="http://schemas.openxmlformats.org/officeDocument/2006/relationships" xmlns:p="http://schemas.openxmlformats.org/presentationml/2006/main">
  <p:tag name="PA" val="v5.2.3"/>
</p:tagLst>
</file>

<file path=ppt/tags/tag5.xml><?xml version="1.0" encoding="utf-8"?>
<p:tagLst xmlns:a="http://schemas.openxmlformats.org/drawingml/2006/main" xmlns:r="http://schemas.openxmlformats.org/officeDocument/2006/relationships" xmlns:p="http://schemas.openxmlformats.org/presentationml/2006/main">
  <p:tag name="PA" val="v5.2.3"/>
</p:tagLst>
</file>

<file path=ppt/tags/tag6.xml><?xml version="1.0" encoding="utf-8"?>
<p:tagLst xmlns:a="http://schemas.openxmlformats.org/drawingml/2006/main" xmlns:r="http://schemas.openxmlformats.org/officeDocument/2006/relationships" xmlns:p="http://schemas.openxmlformats.org/presentationml/2006/main">
  <p:tag name="PA" val="v5.2.3"/>
</p:tagLst>
</file>

<file path=ppt/tags/tag7.xml><?xml version="1.0" encoding="utf-8"?>
<p:tagLst xmlns:a="http://schemas.openxmlformats.org/drawingml/2006/main" xmlns:r="http://schemas.openxmlformats.org/officeDocument/2006/relationships" xmlns:p="http://schemas.openxmlformats.org/presentationml/2006/main">
  <p:tag name="PA" val="v5.2.3"/>
</p:tagLst>
</file>

<file path=ppt/tags/tag8.xml><?xml version="1.0" encoding="utf-8"?>
<p:tagLst xmlns:a="http://schemas.openxmlformats.org/drawingml/2006/main" xmlns:r="http://schemas.openxmlformats.org/officeDocument/2006/relationships" xmlns:p="http://schemas.openxmlformats.org/presentationml/2006/main">
  <p:tag name="PA" val="v5.2.3"/>
</p:tagLst>
</file>

<file path=ppt/tags/tag9.xml><?xml version="1.0" encoding="utf-8"?>
<p:tagLst xmlns:a="http://schemas.openxmlformats.org/drawingml/2006/main" xmlns:r="http://schemas.openxmlformats.org/officeDocument/2006/relationships" xmlns:p="http://schemas.openxmlformats.org/presentationml/2006/main">
  <p:tag name="PA" val="v5.2.3"/>
</p:tagLst>
</file>

<file path=ppt/tags/tag10.xml><?xml version="1.0" encoding="utf-8"?>
<p:tagLst xmlns:a="http://schemas.openxmlformats.org/drawingml/2006/main" xmlns:r="http://schemas.openxmlformats.org/officeDocument/2006/relationships" xmlns:p="http://schemas.openxmlformats.org/presentationml/2006/main">
  <p:tag name="PA" val="v5.2.3"/>
</p:tagLst>
</file>

<file path=ppt/tags/tag11.xml><?xml version="1.0" encoding="utf-8"?>
<p:tagLst xmlns:a="http://schemas.openxmlformats.org/drawingml/2006/main" xmlns:r="http://schemas.openxmlformats.org/officeDocument/2006/relationships" xmlns:p="http://schemas.openxmlformats.org/presentationml/2006/main">
  <p:tag name="PA" val="v5.2.3"/>
</p:tagLst>
</file>

<file path=ppt/tags/tag12.xml><?xml version="1.0" encoding="utf-8"?>
<p:tagLst xmlns:a="http://schemas.openxmlformats.org/drawingml/2006/main" xmlns:r="http://schemas.openxmlformats.org/officeDocument/2006/relationships" xmlns:p="http://schemas.openxmlformats.org/presentationml/2006/main">
  <p:tag name="PA" val="v5.2.3"/>
</p:tagLst>
</file>

<file path=ppt/tags/tag13.xml><?xml version="1.0" encoding="utf-8"?>
<p:tagLst xmlns:a="http://schemas.openxmlformats.org/drawingml/2006/main" xmlns:r="http://schemas.openxmlformats.org/officeDocument/2006/relationships" xmlns:p="http://schemas.openxmlformats.org/presentationml/2006/main">
  <p:tag name="PA" val="v5.2.3"/>
</p:tagLst>
</file>

<file path=ppt/tags/tag14.xml><?xml version="1.0" encoding="utf-8"?>
<p:tagLst xmlns:a="http://schemas.openxmlformats.org/drawingml/2006/main" xmlns:r="http://schemas.openxmlformats.org/officeDocument/2006/relationships" xmlns:p="http://schemas.openxmlformats.org/presentationml/2006/main">
  <p:tag name="PA" val="v5.2.3"/>
</p:tagLst>
</file>

<file path=ppt/tags/tag15.xml><?xml version="1.0" encoding="utf-8"?>
<p:tagLst xmlns:a="http://schemas.openxmlformats.org/drawingml/2006/main" xmlns:r="http://schemas.openxmlformats.org/officeDocument/2006/relationships" xmlns:p="http://schemas.openxmlformats.org/presentationml/2006/main">
  <p:tag name="PA" val="v5.2.3"/>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19.46803149606296,&quot;left&quot;:16.730157480314972,&quot;top&quot;:176.18196850393704,&quot;width&quot;:890.539606299212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19.46803149606296,&quot;left&quot;:16.730157480314972,&quot;top&quot;:176.18196850393704,&quot;width&quot;:890.539606299212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19.46803149606296,&quot;left&quot;:16.730157480314972,&quot;top&quot;:176.18196850393704,&quot;width&quot;:890.539606299212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19.46803149606296,&quot;left&quot;:16.730157480314972,&quot;top&quot;:176.18196850393704,&quot;width&quot;:890.5396062992126}"/>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19.46803149606296,&quot;left&quot;:16.730157480314972,&quot;top&quot;:176.18196850393704,&quot;width&quot;:890.539606299212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19.46803149606296,&quot;left&quot;:16.730157480314972,&quot;top&quot;:176.18196850393704,&quot;width&quot;:890.5396062992126}"/>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19.46803149606296,&quot;left&quot;:16.730157480314972,&quot;top&quot;:176.18196850393704,&quot;width&quot;:890.539606299212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19.46803149606296,&quot;left&quot;:16.730157480314972,&quot;top&quot;:176.18196850393704,&quot;width&quot;:890.539606299212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19.46803149606296,&quot;left&quot;:16.730157480314972,&quot;top&quot;:176.18196850393704,&quot;width&quot;:890.5396062992126}"/>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19.46803149606296,&quot;left&quot;:16.730157480314972,&quot;top&quot;:176.18196850393704,&quot;width&quot;:890.5396062992126}"/>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19.46803149606296,&quot;left&quot;:16.730157480314972,&quot;top&quot;:176.18196850393704,&quot;width&quot;:890.539606299212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19.46803149606296,&quot;left&quot;:16.730157480314972,&quot;top&quot;:176.18196850393704,&quot;width&quot;:890.539606299212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19.46803149606296,&quot;left&quot;:16.730157480314972,&quot;top&quot;:176.18196850393704,&quot;width&quot;:890.539606299212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97.75,&quot;left&quot;:52.5,&quot;top&quot;:206.25,&quot;width&quot;:408.7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93.8,&quot;left&quot;:45,&quot;top&quot;:123.25,&quot;width&quot;:899.8}"/>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93.8,&quot;left&quot;:45,&quot;top&quot;:123.25,&quot;width&quot;:899.8}"/>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93.8,&quot;left&quot;:45,&quot;top&quot;:123.25,&quot;width&quot;:899.8}"/>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93.8,&quot;left&quot;:45,&quot;top&quot;:123.25,&quot;width&quot;:899.8}"/>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93.8,&quot;left&quot;:45,&quot;top&quot;:123.25,&quot;width&quot;:899.8}"/>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93.8,&quot;left&quot;:45,&quot;top&quot;:123.25,&quot;width&quot;:899.8}"/>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93.8,&quot;left&quot;:45,&quot;top&quot;:123.25,&quot;width&quot;:899.8}"/>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93.8,&quot;left&quot;:45,&quot;top&quot;:123.25,&quot;width&quot;:899.8}"/>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93.8,&quot;left&quot;:45,&quot;top&quot;:123.25,&quot;width&quot;:899.8}"/>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93.8,&quot;left&quot;:45,&quot;top&quot;:123.25,&quot;width&quot;:899.8}"/>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93.8,&quot;left&quot;:45,&quot;top&quot;:123.25,&quot;width&quot;:899.8}"/>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93.8,&quot;left&quot;:45,&quot;top&quot;:123.25,&quot;width&quot;:899.8}"/>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97.75,&quot;left&quot;:52.5,&quot;top&quot;:206.25,&quot;width&quot;:408.75}"/>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97.75,&quot;left&quot;:52.5,&quot;top&quot;:206.25,&quot;width&quot;:408.75}"/>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97.75,&quot;left&quot;:52.5,&quot;top&quot;:206.25,&quot;width&quot;:408.75}"/>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97.75,&quot;left&quot;:52.5,&quot;top&quot;:206.25,&quot;width&quot;:408.75}"/>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97.75,&quot;left&quot;:52.5,&quot;top&quot;:206.25,&quot;width&quot;:408.75}"/>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97.75,&quot;left&quot;:52.5,&quot;top&quot;:206.25,&quot;width&quot;:408.75}"/>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97.75,&quot;left&quot;:52.5,&quot;top&quot;:206.25,&quot;width&quot;:408.75}"/>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97.75,&quot;left&quot;:52.5,&quot;top&quot;:206.25,&quot;width&quot;:408.7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97.75,&quot;left&quot;:52.5,&quot;top&quot;:206.25,&quot;width&quot;:408.75}"/>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97.75,&quot;left&quot;:52.5,&quot;top&quot;:206.25,&quot;width&quot;:408.75}"/>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97.75,&quot;left&quot;:52.5,&quot;top&quot;:206.25,&quot;width&quot;:408.75}"/>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97.75,&quot;left&quot;:52.5,&quot;top&quot;:206.25,&quot;width&quot;:408.75}"/>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46.07897637795276,&quot;left&quot;:14.25,&quot;top&quot;:182.12102362204723,&quot;width&quot;:920.9749606299213}"/>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46.07897637795276,&quot;left&quot;:14.25,&quot;top&quot;:182.12102362204723,&quot;width&quot;:920.9749606299213}"/>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46.07897637795276,&quot;left&quot;:14.25,&quot;top&quot;:182.12102362204723,&quot;width&quot;:920.9749606299213}"/>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46.07897637795276,&quot;left&quot;:14.25,&quot;top&quot;:182.12102362204723,&quot;width&quot;:920.9749606299213}"/>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46.07897637795276,&quot;left&quot;:14.25,&quot;top&quot;:182.12102362204723,&quot;width&quot;:920.9749606299213}"/>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46.07897637795276,&quot;left&quot;:14.25,&quot;top&quot;:182.12102362204723,&quot;width&quot;:920.9749606299213}"/>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46.07897637795276,&quot;left&quot;:14.25,&quot;top&quot;:182.12102362204723,&quot;width&quot;:920.9749606299213}"/>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46.07897637795276,&quot;left&quot;:14.25,&quot;top&quot;:182.12102362204723,&quot;width&quot;:920.9749606299213}"/>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46.07897637795276,&quot;left&quot;:14.25,&quot;top&quot;:182.12102362204723,&quot;width&quot;:920.9749606299213}"/>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174,&quot;left&quot;:75,&quot;top&quot;:233.06244094488187,&quot;width&quot;:840}"/>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174,&quot;left&quot;:75,&quot;top&quot;:233.06244094488187,&quot;width&quot;:840}"/>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174,&quot;left&quot;:75,&quot;top&quot;:233.06244094488187,&quot;width&quot;:840}"/>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174,&quot;left&quot;:75,&quot;top&quot;:233.06244094488187,&quot;width&quot;:840}"/>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174,&quot;left&quot;:75,&quot;top&quot;:233.06244094488187,&quot;width&quot;:840}"/>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174,&quot;left&quot;:75,&quot;top&quot;:233.06244094488187,&quot;width&quot;:840}"/>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174,&quot;left&quot;:75,&quot;top&quot;:233.06244094488187,&quot;width&quot;:840}"/>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174,&quot;left&quot;:75,&quot;top&quot;:233.06244094488187,&quot;width&quot;:840}"/>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174,&quot;left&quot;:75,&quot;top&quot;:233.06244094488187,&quot;width&quot;:840}"/>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174,&quot;left&quot;:75,&quot;top&quot;:233.06244094488187,&quot;width&quot;:840}"/>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64.50000000000003,&quot;left&quot;:519.75,&quot;top&quot;:190.82811023622045,&quot;width&quot;:395.25}"/>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64.50000000000003,&quot;left&quot;:519.75,&quot;top&quot;:190.82811023622045,&quot;width&quot;:395.25}"/>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64.50000000000003,&quot;left&quot;:519.75,&quot;top&quot;:190.82811023622045,&quot;width&quot;:395.25}"/>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166.5,&quot;left&quot;:54.75,&quot;top&quot;:267.31637795275594,&quot;width&quot;:406.5}"/>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166.5,&quot;left&quot;:54.75,&quot;top&quot;:267.31637795275594,&quot;width&quot;:406.5}"/>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166.5,&quot;left&quot;:54.75,&quot;top&quot;:267.31637795275594,&quot;width&quot;:406.5}"/>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46.07897637795276,&quot;left&quot;:14.25,&quot;top&quot;:182.12102362204723,&quot;width&quot;:920.9749606299213}"/>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46.07897637795276,&quot;left&quot;:14.25,&quot;top&quot;:182.12102362204723,&quot;width&quot;:920.9749606299213}"/>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46.07897637795276,&quot;left&quot;:14.25,&quot;top&quot;:182.12102362204723,&quot;width&quot;:920.9749606299213}"/>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46.07897637795276,&quot;left&quot;:14.25,&quot;top&quot;:182.12102362204723,&quot;width&quot;:920.9749606299213}"/>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46.07897637795276,&quot;left&quot;:14.25,&quot;top&quot;:182.12102362204723,&quot;width&quot;:920.9749606299213}"/>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46.07897637795276,&quot;left&quot;:14.25,&quot;top&quot;:182.12102362204723,&quot;width&quot;:920.9749606299213}"/>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166.5,&quot;left&quot;:54.75,&quot;top&quot;:267.31637795275594,&quot;width&quot;:406.5}"/>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166.5,&quot;left&quot;:54.75,&quot;top&quot;:267.31637795275594,&quot;width&quot;:406.5}"/>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166.5,&quot;left&quot;:54.75,&quot;top&quot;:267.31637795275594,&quot;width&quot;:406.5}"/>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166.5,&quot;left&quot;:54.75,&quot;top&quot;:267.31637795275594,&quot;width&quot;:406.5}"/>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166.5,&quot;left&quot;:54.75,&quot;top&quot;:267.31637795275594,&quot;width&quot;:406.5}"/>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166.5,&quot;left&quot;:54.75,&quot;top&quot;:267.31637795275594,&quot;width&quot;:406.5}"/>
</p:tagLst>
</file>

<file path=ppt/tags/tag91.xml><?xml version="1.0" encoding="utf-8"?>
<p:tagLst xmlns:a="http://schemas.openxmlformats.org/drawingml/2006/main" xmlns:r="http://schemas.openxmlformats.org/officeDocument/2006/relationships" xmlns:p="http://schemas.openxmlformats.org/presentationml/2006/main">
  <p:tag name="PA" val="v5.2.3"/>
</p:tagLst>
</file>

<file path=ppt/tags/tag92.xml><?xml version="1.0" encoding="utf-8"?>
<p:tagLst xmlns:a="http://schemas.openxmlformats.org/drawingml/2006/main" xmlns:r="http://schemas.openxmlformats.org/officeDocument/2006/relationships" xmlns:p="http://schemas.openxmlformats.org/presentationml/2006/main">
  <p:tag name="KSO_WM_UNIT_TABLE_BEAUTIFY" val="smartTable{efcc9b33-ab9d-4f35-9362-bd60af949e89}"/>
  <p:tag name="TABLE_ENDDRAG_ORIGIN_RECT" val="345*129"/>
  <p:tag name="TABLE_ENDDRAG_RECT" val="80*329*345*129"/>
</p:tagLst>
</file>

<file path=ppt/tags/tag93.xml><?xml version="1.0" encoding="utf-8"?>
<p:tagLst xmlns:a="http://schemas.openxmlformats.org/drawingml/2006/main" xmlns:r="http://schemas.openxmlformats.org/officeDocument/2006/relationships" xmlns:p="http://schemas.openxmlformats.org/presentationml/2006/main">
  <p:tag name="KSO_WM_UNIT_TABLE_BEAUTIFY" val="smartTable{a778964c-2231-4f26-ae91-aee4827aab0a}"/>
  <p:tag name="TABLE_ENDDRAG_ORIGIN_RECT" val="507*116"/>
  <p:tag name="TABLE_ENDDRAG_RECT" val="411*96*507*116"/>
</p:tagLst>
</file>

<file path=ppt/theme/theme1.xml><?xml version="1.0" encoding="utf-8"?>
<a:theme xmlns:a="http://schemas.openxmlformats.org/drawingml/2006/main" name="Office 主题​​">
  <a:themeElements>
    <a:clrScheme name="0718">
      <a:dk1>
        <a:sysClr val="windowText" lastClr="000000"/>
      </a:dk1>
      <a:lt1>
        <a:sysClr val="window" lastClr="FFFFFF"/>
      </a:lt1>
      <a:dk2>
        <a:srgbClr val="000000"/>
      </a:dk2>
      <a:lt2>
        <a:srgbClr val="FFFFFF"/>
      </a:lt2>
      <a:accent1>
        <a:srgbClr val="0D2D7F"/>
      </a:accent1>
      <a:accent2>
        <a:srgbClr val="0C47AF"/>
      </a:accent2>
      <a:accent3>
        <a:srgbClr val="00BBFB"/>
      </a:accent3>
      <a:accent4>
        <a:srgbClr val="FFC000"/>
      </a:accent4>
      <a:accent5>
        <a:srgbClr val="5B9BD5"/>
      </a:accent5>
      <a:accent6>
        <a:srgbClr val="70AD47"/>
      </a:accent6>
      <a:hlink>
        <a:srgbClr val="0563C1"/>
      </a:hlink>
      <a:folHlink>
        <a:srgbClr val="954F72"/>
      </a:folHlink>
    </a:clrScheme>
    <a:fontScheme name="自定义 11">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8453</TotalTime>
  <Words>15100</Words>
  <Application>Microsoft Office PowerPoint</Application>
  <PresentationFormat>Widescreen</PresentationFormat>
  <Paragraphs>1244</Paragraphs>
  <Slides>139</Slides>
  <Notes>120</Notes>
  <HiddenSlides>0</HiddenSlides>
  <MMClips>1</MMClips>
  <ScaleCrop>false</ScaleCrop>
  <HeadingPairs>
    <vt:vector size="8" baseType="variant">
      <vt:variant>
        <vt:lpstr>Fonts Used</vt:lpstr>
      </vt:variant>
      <vt:variant>
        <vt:i4>18</vt:i4>
      </vt:variant>
      <vt:variant>
        <vt:lpstr>Theme</vt:lpstr>
      </vt:variant>
      <vt:variant>
        <vt:i4>1</vt:i4>
      </vt:variant>
      <vt:variant>
        <vt:lpstr>Embedded OLE Servers</vt:lpstr>
      </vt:variant>
      <vt:variant>
        <vt:i4>1</vt:i4>
      </vt:variant>
      <vt:variant>
        <vt:lpstr>Slide Titles</vt:lpstr>
      </vt:variant>
      <vt:variant>
        <vt:i4>139</vt:i4>
      </vt:variant>
    </vt:vector>
  </HeadingPairs>
  <TitlesOfParts>
    <vt:vector size="159" baseType="lpstr">
      <vt:lpstr>宋体</vt:lpstr>
      <vt:lpstr>微软雅黑</vt:lpstr>
      <vt:lpstr>Wingdings</vt:lpstr>
      <vt:lpstr>黑体</vt:lpstr>
      <vt:lpstr>Times New Roman</vt:lpstr>
      <vt:lpstr>Calibri</vt:lpstr>
      <vt:lpstr>等线</vt:lpstr>
      <vt:lpstr>Arial</vt:lpstr>
      <vt:lpstr>MS Gothic</vt:lpstr>
      <vt:lpstr>Noto Sans SC</vt:lpstr>
      <vt:lpstr>Urbanist</vt:lpstr>
      <vt:lpstr>Arial Black</vt:lpstr>
      <vt:lpstr>DM Sans</vt:lpstr>
      <vt:lpstr>Cambria Math</vt:lpstr>
      <vt:lpstr>Lato</vt:lpstr>
      <vt:lpstr>DejaVu Math TeX Gyre</vt:lpstr>
      <vt:lpstr>Poppins</vt:lpstr>
      <vt:lpstr>TimesNewRomanPSMT</vt:lpstr>
      <vt:lpstr>Office 主题​​</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天赐 宋</dc:creator>
  <cp:lastModifiedBy>Chuyuan Tao</cp:lastModifiedBy>
  <cp:revision>280</cp:revision>
  <cp:lastPrinted>2026-02-04T01:37:47Z</cp:lastPrinted>
  <dcterms:created xsi:type="dcterms:W3CDTF">2025-07-18T09:34:49Z</dcterms:created>
  <dcterms:modified xsi:type="dcterms:W3CDTF">2026-10-11T07:52:03Z</dcterms:modified>
</cp:coreProperties>
</file>