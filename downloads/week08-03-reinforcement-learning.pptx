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4"/>
  </p:notesMasterIdLst>
  <p:sldIdLst>
    <p:sldId id="38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92" r:id="rId1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10"/>
  </p:normalViewPr>
  <p:slideViewPr>
    <p:cSldViewPr snapToGrid="0" snapToObjects="1">
      <p:cViewPr varScale="1">
        <p:scale>
          <a:sx n="86" d="100"/>
          <a:sy n="86" d="100"/>
        </p:scale>
        <p:origin x="564"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051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31599B"/>
          </a:solidFill>
          <a:ln w="12700">
            <a:solidFill>
              <a:srgbClr val="31599B"/>
            </a:solidFill>
            <a:prstDash val="solid"/>
          </a:ln>
        </p:spPr>
      </p:sp>
      <p:sp>
        <p:nvSpPr>
          <p:cNvPr id="3" name="Shape 1"/>
          <p:cNvSpPr/>
          <p:nvPr/>
        </p:nvSpPr>
        <p:spPr>
          <a:xfrm>
            <a:off x="118872" y="0"/>
            <a:ext cx="41148" cy="6858000"/>
          </a:xfrm>
          <a:prstGeom prst="rect">
            <a:avLst/>
          </a:prstGeom>
          <a:solidFill>
            <a:srgbClr val="AFC0DF"/>
          </a:solidFill>
          <a:ln w="12700">
            <a:solidFill>
              <a:srgbClr val="AFC0DF"/>
            </a:solidFill>
            <a:prstDash val="solid"/>
          </a:ln>
        </p:spPr>
      </p:sp>
      <p:sp>
        <p:nvSpPr>
          <p:cNvPr id="4" name="Text 2"/>
          <p:cNvSpPr/>
          <p:nvPr/>
        </p:nvSpPr>
        <p:spPr>
          <a:xfrm>
            <a:off x="438912" y="164592"/>
            <a:ext cx="3017520" cy="219456"/>
          </a:xfrm>
          <a:prstGeom prst="rect">
            <a:avLst/>
          </a:prstGeom>
          <a:noFill/>
          <a:ln/>
        </p:spPr>
        <p:txBody>
          <a:bodyPr wrap="square" lIns="0" tIns="0" rIns="0" bIns="0" rtlCol="0" anchor="ctr"/>
          <a:lstStyle/>
          <a:p>
            <a:pPr marL="0" indent="0">
              <a:buNone/>
            </a:pPr>
            <a:r>
              <a:rPr lang="en-US" sz="900" dirty="0">
                <a:solidFill>
                  <a:srgbClr val="65738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900" dirty="0">
              <a:latin typeface="微软雅黑" panose="020B0503020204020204" pitchFamily="34" charset="-122"/>
            </a:endParaRPr>
          </a:p>
        </p:txBody>
      </p:sp>
      <p:sp>
        <p:nvSpPr>
          <p:cNvPr id="5" name="Text 3"/>
          <p:cNvSpPr/>
          <p:nvPr/>
        </p:nvSpPr>
        <p:spPr>
          <a:xfrm>
            <a:off x="9144000" y="164592"/>
            <a:ext cx="2423160" cy="219456"/>
          </a:xfrm>
          <a:prstGeom prst="rect">
            <a:avLst/>
          </a:prstGeom>
          <a:noFill/>
          <a:ln/>
        </p:spPr>
        <p:txBody>
          <a:bodyPr wrap="square" lIns="0" tIns="0" rIns="0" bIns="0" rtlCol="0" anchor="ctr"/>
          <a:lstStyle/>
          <a:p>
            <a:pPr marL="0" indent="0" algn="r">
              <a:buNone/>
            </a:pPr>
            <a:r>
              <a:rPr lang="en-US" sz="900" dirty="0">
                <a:solidFill>
                  <a:srgbClr val="8C98AA"/>
                </a:solidFill>
                <a:latin typeface="微软雅黑" panose="020B0503020204020204" pitchFamily="34" charset="-122"/>
                <a:ea typeface="微软雅黑" panose="020B0503020204020204" pitchFamily="34" charset="-122"/>
                <a:cs typeface="Noto Sans CJK SC" pitchFamily="34" charset="-120"/>
              </a:rPr>
              <a:t>强化学习</a:t>
            </a:r>
            <a:endParaRPr lang="en-US" sz="9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r"/>
            <a:fld id="{F7021451-1387-4CA6-816F-3879F97B5CBC}" type="slidenum">
              <a:rPr lang="en-US" smtClean="0"/>
              <a:pPr algn="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r"/>
            <a:fld id="{F7021451-1387-4CA6-816F-3879F97B5CBC}" type="slidenum">
              <a:rPr lang="en-US" smtClean="0"/>
              <a:pPr algn="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9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51560" cy="6858000"/>
          </a:xfrm>
          <a:prstGeom prst="parallelogram">
            <a:avLst/>
          </a:prstGeom>
          <a:solidFill>
            <a:srgbClr val="31599B"/>
          </a:solidFill>
          <a:ln w="12700">
            <a:solidFill>
              <a:srgbClr val="31599B"/>
            </a:solidFill>
            <a:prstDash val="solid"/>
          </a:ln>
        </p:spPr>
        <p:txBody>
          <a:bodyPr/>
          <a:lstStyle/>
          <a:p>
            <a:endParaRPr lang="zh-CN" altLang="en-US" dirty="0">
              <a:latin typeface="微软雅黑" panose="020B0503020204020204" pitchFamily="34" charset="-122"/>
            </a:endParaRPr>
          </a:p>
        </p:txBody>
      </p:sp>
      <p:sp>
        <p:nvSpPr>
          <p:cNvPr id="3" name="Shape 1"/>
          <p:cNvSpPr/>
          <p:nvPr/>
        </p:nvSpPr>
        <p:spPr>
          <a:xfrm>
            <a:off x="804672" y="0"/>
            <a:ext cx="219456" cy="6858000"/>
          </a:xfrm>
          <a:prstGeom prst="parallelogram">
            <a:avLst/>
          </a:prstGeom>
          <a:solidFill>
            <a:srgbClr val="B6C5E0"/>
          </a:solidFill>
          <a:ln w="12700">
            <a:solidFill>
              <a:srgbClr val="B6C5E0"/>
            </a:solidFill>
            <a:prstDash val="solid"/>
          </a:ln>
        </p:spPr>
        <p:txBody>
          <a:bodyPr/>
          <a:lstStyle/>
          <a:p>
            <a:endParaRPr lang="zh-CN" altLang="en-US" dirty="0">
              <a:latin typeface="微软雅黑" panose="020B0503020204020204" pitchFamily="34" charset="-122"/>
            </a:endParaRPr>
          </a:p>
        </p:txBody>
      </p:sp>
      <p:sp>
        <p:nvSpPr>
          <p:cNvPr id="4" name="Text 2"/>
          <p:cNvSpPr/>
          <p:nvPr/>
        </p:nvSpPr>
        <p:spPr>
          <a:xfrm>
            <a:off x="1325880" y="749808"/>
            <a:ext cx="5303520" cy="329184"/>
          </a:xfrm>
          <a:prstGeom prst="rect">
            <a:avLst/>
          </a:prstGeom>
          <a:noFill/>
          <a:ln/>
        </p:spPr>
        <p:txBody>
          <a:bodyPr wrap="square" lIns="0" tIns="0" rIns="0" bIns="0" rtlCol="0" anchor="ctr"/>
          <a:lstStyle/>
          <a:p>
            <a:pPr marL="0" indent="0">
              <a:buNone/>
            </a:pPr>
            <a:r>
              <a:rPr lang="en-US" sz="1500" b="1" dirty="0">
                <a:solidFill>
                  <a:srgbClr val="31599B"/>
                </a:solidFill>
                <a:latin typeface="微软雅黑" panose="020B0503020204020204" pitchFamily="34" charset="-122"/>
                <a:ea typeface="微软雅黑" panose="020B0503020204020204" pitchFamily="34" charset="-122"/>
                <a:cs typeface="Noto Sans CJK SC" pitchFamily="34" charset="-120"/>
              </a:rPr>
              <a:t>普通高等教育新工科具身智能系列教材</a:t>
            </a:r>
            <a:endParaRPr lang="en-US" sz="1500" dirty="0">
              <a:latin typeface="微软雅黑" panose="020B0503020204020204" pitchFamily="34" charset="-122"/>
            </a:endParaRPr>
          </a:p>
        </p:txBody>
      </p:sp>
      <p:sp>
        <p:nvSpPr>
          <p:cNvPr id="5" name="Text 3"/>
          <p:cNvSpPr/>
          <p:nvPr/>
        </p:nvSpPr>
        <p:spPr>
          <a:xfrm>
            <a:off x="3774440" y="1867152"/>
            <a:ext cx="5303520" cy="594360"/>
          </a:xfrm>
          <a:prstGeom prst="rect">
            <a:avLst/>
          </a:prstGeom>
          <a:noFill/>
          <a:ln/>
        </p:spPr>
        <p:txBody>
          <a:bodyPr wrap="square" lIns="0" tIns="0" rIns="0" bIns="0" rtlCol="0" anchor="ctr"/>
          <a:lstStyle/>
          <a:p>
            <a:pPr marL="0" indent="0" algn="ctr">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具身智能导论</a:t>
            </a:r>
            <a:endParaRPr lang="en-US" sz="2800" dirty="0">
              <a:latin typeface="微软雅黑" panose="020B0503020204020204" pitchFamily="34" charset="-122"/>
            </a:endParaRPr>
          </a:p>
        </p:txBody>
      </p:sp>
      <p:sp>
        <p:nvSpPr>
          <p:cNvPr id="6" name="Text 4"/>
          <p:cNvSpPr/>
          <p:nvPr/>
        </p:nvSpPr>
        <p:spPr>
          <a:xfrm>
            <a:off x="3530600" y="2940304"/>
            <a:ext cx="6197600" cy="658368"/>
          </a:xfrm>
          <a:prstGeom prst="rect">
            <a:avLst/>
          </a:prstGeom>
          <a:noFill/>
          <a:ln/>
        </p:spPr>
        <p:txBody>
          <a:bodyPr wrap="square" lIns="0" tIns="0" rIns="0" bIns="0" rtlCol="0" anchor="ctr"/>
          <a:lstStyle/>
          <a:p>
            <a:pPr marL="0" indent="0" algn="ctr">
              <a:buNone/>
            </a:pPr>
            <a:r>
              <a:rPr lang="en-US" sz="3600" b="1" dirty="0">
                <a:solidFill>
                  <a:srgbClr val="24477D"/>
                </a:solidFill>
                <a:latin typeface="微软雅黑" panose="020B0503020204020204" pitchFamily="34" charset="-122"/>
                <a:ea typeface="微软雅黑" panose="020B0503020204020204" pitchFamily="34" charset="-122"/>
                <a:cs typeface="Noto Sans CJK SC" pitchFamily="34" charset="-120"/>
              </a:rPr>
              <a:t>第 </a:t>
            </a:r>
            <a:r>
              <a:rPr lang="en-US" altLang="zh-CN" sz="3600" b="1" dirty="0">
                <a:solidFill>
                  <a:srgbClr val="24477D"/>
                </a:solidFill>
                <a:latin typeface="微软雅黑" panose="020B0503020204020204" pitchFamily="34" charset="-122"/>
                <a:ea typeface="微软雅黑" panose="020B0503020204020204" pitchFamily="34" charset="-122"/>
                <a:cs typeface="Noto Sans CJK SC" pitchFamily="34" charset="-120"/>
              </a:rPr>
              <a:t>3 </a:t>
            </a:r>
            <a:r>
              <a:rPr lang="en-US" sz="3600" b="1" dirty="0">
                <a:solidFill>
                  <a:srgbClr val="24477D"/>
                </a:solidFill>
                <a:latin typeface="微软雅黑" panose="020B0503020204020204" pitchFamily="34" charset="-122"/>
                <a:ea typeface="微软雅黑" panose="020B0503020204020204" pitchFamily="34" charset="-122"/>
                <a:cs typeface="Noto Sans CJK SC" pitchFamily="34" charset="-120"/>
              </a:rPr>
              <a:t>章  </a:t>
            </a:r>
            <a:r>
              <a:rPr lang="zh-CN" altLang="en-US" sz="3600" b="1" dirty="0">
                <a:solidFill>
                  <a:srgbClr val="24477D"/>
                </a:solidFill>
                <a:latin typeface="微软雅黑" panose="020B0503020204020204" pitchFamily="34" charset="-122"/>
                <a:ea typeface="微软雅黑" panose="020B0503020204020204" pitchFamily="34" charset="-122"/>
                <a:cs typeface="Noto Sans CJK SC" pitchFamily="34" charset="-120"/>
              </a:rPr>
              <a:t>强化学习</a:t>
            </a:r>
            <a:endParaRPr lang="en-US" sz="3600" dirty="0">
              <a:latin typeface="微软雅黑" panose="020B0503020204020204" pitchFamily="34" charset="-122"/>
            </a:endParaRPr>
          </a:p>
        </p:txBody>
      </p:sp>
      <p:sp>
        <p:nvSpPr>
          <p:cNvPr id="7" name="Text 5"/>
          <p:cNvSpPr/>
          <p:nvPr/>
        </p:nvSpPr>
        <p:spPr>
          <a:xfrm>
            <a:off x="3739896" y="4183888"/>
            <a:ext cx="5779008" cy="347472"/>
          </a:xfrm>
          <a:prstGeom prst="rect">
            <a:avLst/>
          </a:prstGeom>
          <a:noFill/>
          <a:ln/>
        </p:spPr>
        <p:txBody>
          <a:bodyPr wrap="square" lIns="0" tIns="0" rIns="0" bIns="0" rtlCol="0" anchor="ctr"/>
          <a:lstStyle/>
          <a:p>
            <a:pPr algn="ctr"/>
            <a:r>
              <a:rPr lang="en-US" altLang="zh-CN" dirty="0">
                <a:solidFill>
                  <a:srgbClr val="5B5B5B"/>
                </a:solidFill>
                <a:latin typeface="微软雅黑" pitchFamily="34" charset="0"/>
                <a:ea typeface="微软雅黑" pitchFamily="34" charset="-122"/>
                <a:cs typeface="微软雅黑" pitchFamily="34" charset="-120"/>
              </a:rPr>
              <a:t>秦建军  </a:t>
            </a:r>
            <a:r>
              <a:rPr lang="en-US" altLang="zh-CN" dirty="0" err="1">
                <a:solidFill>
                  <a:srgbClr val="5B5B5B"/>
                </a:solidFill>
                <a:latin typeface="微软雅黑" pitchFamily="34" charset="0"/>
                <a:ea typeface="微软雅黑" pitchFamily="34" charset="-122"/>
                <a:cs typeface="微软雅黑" pitchFamily="34" charset="-120"/>
              </a:rPr>
              <a:t>江磊</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刘宇飞</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邢伯阳</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王陆旸</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李国通</a:t>
            </a:r>
            <a:endParaRPr lang="en-US" altLang="zh-CN" dirty="0">
              <a:latin typeface="微软雅黑" panose="020B0503020204020204" pitchFamily="34" charset="-122"/>
            </a:endParaRPr>
          </a:p>
        </p:txBody>
      </p:sp>
      <p:sp>
        <p:nvSpPr>
          <p:cNvPr id="8" name="Text 6"/>
          <p:cNvSpPr/>
          <p:nvPr/>
        </p:nvSpPr>
        <p:spPr>
          <a:xfrm>
            <a:off x="8814994" y="824736"/>
            <a:ext cx="3035812" cy="310896"/>
          </a:xfrm>
          <a:prstGeom prst="rect">
            <a:avLst/>
          </a:prstGeom>
          <a:noFill/>
          <a:ln/>
        </p:spPr>
        <p:txBody>
          <a:bodyPr wrap="square" lIns="0" tIns="0" rIns="0" bIns="0" rtlCol="0" anchor="ctr"/>
          <a:lstStyle/>
          <a:p>
            <a:r>
              <a:rPr lang="zh-CN" altLang="en-US" sz="1200" dirty="0">
                <a:solidFill>
                  <a:srgbClr val="5B5B5B"/>
                </a:solidFill>
                <a:latin typeface="微软雅黑" pitchFamily="34" charset="0"/>
                <a:ea typeface="微软雅黑" pitchFamily="34" charset="-122"/>
                <a:cs typeface="微软雅黑" pitchFamily="34" charset="-120"/>
              </a:rPr>
              <a:t>国家地方共建人形机器人创新中心组织编写</a:t>
            </a:r>
            <a:endParaRPr lang="en-US" altLang="zh-CN" sz="1200" dirty="0">
              <a:latin typeface="微软雅黑" panose="020B0503020204020204" pitchFamily="34" charset="-122"/>
            </a:endParaRPr>
          </a:p>
        </p:txBody>
      </p:sp>
      <p:sp>
        <p:nvSpPr>
          <p:cNvPr id="12" name="Text 6">
            <a:extLst>
              <a:ext uri="{FF2B5EF4-FFF2-40B4-BE49-F238E27FC236}">
                <a16:creationId xmlns:a16="http://schemas.microsoft.com/office/drawing/2014/main" id="{CE2C3258-81C6-0D2D-C4FD-891592355382}"/>
              </a:ext>
            </a:extLst>
          </p:cNvPr>
          <p:cNvSpPr/>
          <p:nvPr/>
        </p:nvSpPr>
        <p:spPr>
          <a:xfrm>
            <a:off x="4379976" y="4805680"/>
            <a:ext cx="4367784" cy="310896"/>
          </a:xfrm>
          <a:prstGeom prst="rect">
            <a:avLst/>
          </a:prstGeom>
          <a:noFill/>
          <a:ln/>
        </p:spPr>
        <p:txBody>
          <a:bodyPr wrap="square" lIns="0" tIns="0" rIns="0" bIns="0" rtlCol="0" anchor="ctr"/>
          <a:lstStyle/>
          <a:p>
            <a:pPr marL="0" indent="0" algn="ctr">
              <a:buNone/>
            </a:pPr>
            <a:r>
              <a:rPr lang="en-US" sz="1250" b="1" dirty="0">
                <a:solidFill>
                  <a:srgbClr val="7B8798"/>
                </a:solidFill>
                <a:latin typeface="微软雅黑" panose="020B0503020204020204" pitchFamily="34" charset="-122"/>
                <a:ea typeface="微软雅黑" panose="020B0503020204020204" pitchFamily="34" charset="-122"/>
                <a:cs typeface="Noto Sans CJK SC" pitchFamily="34" charset="-120"/>
              </a:rPr>
              <a:t>机械工业出版社 · 《具身智能导论》配套课件</a:t>
            </a:r>
            <a:endParaRPr lang="en-US" sz="1250" b="1" dirty="0">
              <a:latin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914400" y="1664208"/>
            <a:ext cx="10241280" cy="841248"/>
          </a:xfrm>
          <a:prstGeom prst="rect">
            <a:avLst/>
          </a:prstGeom>
          <a:noFill/>
          <a:ln/>
        </p:spPr>
        <p:txBody>
          <a:bodyPr wrap="square" lIns="0" tIns="0" rIns="0" bIns="0" rtlCol="0" anchor="ctr"/>
          <a:lstStyle/>
          <a:p>
            <a:pPr marL="0" indent="0" algn="ctr">
              <a:buNone/>
            </a:pPr>
            <a:r>
              <a:rPr lang="en-US" sz="3000" b="1" dirty="0">
                <a:solidFill>
                  <a:srgbClr val="24477D"/>
                </a:solidFill>
                <a:latin typeface="Noto Serif CJK SC" pitchFamily="34" charset="0"/>
                <a:ea typeface="Noto Serif CJK SC" pitchFamily="34" charset="-122"/>
                <a:cs typeface="Noto Serif CJK SC" pitchFamily="34" charset="-120"/>
              </a:rPr>
              <a:t>“经一蹶者长一智，今日之失，未必不为后日之得。”</a:t>
            </a:r>
            <a:endParaRPr lang="en-US" sz="3000" dirty="0">
              <a:latin typeface="微软雅黑" panose="020B0503020204020204" pitchFamily="34" charset="-122"/>
            </a:endParaRPr>
          </a:p>
        </p:txBody>
      </p:sp>
      <p:sp>
        <p:nvSpPr>
          <p:cNvPr id="5" name="Text 3"/>
          <p:cNvSpPr/>
          <p:nvPr/>
        </p:nvSpPr>
        <p:spPr>
          <a:xfrm>
            <a:off x="7406640" y="2606040"/>
            <a:ext cx="3063240" cy="310896"/>
          </a:xfrm>
          <a:prstGeom prst="rect">
            <a:avLst/>
          </a:prstGeom>
          <a:noFill/>
          <a:ln/>
        </p:spPr>
        <p:txBody>
          <a:bodyPr wrap="square" lIns="0" tIns="0" rIns="0" bIns="0" rtlCol="0" anchor="ctr"/>
          <a:lstStyle/>
          <a:p>
            <a:pPr marL="0" indent="0" algn="r">
              <a:buNone/>
            </a:pPr>
            <a:r>
              <a:rPr lang="en-US" sz="1400" dirty="0">
                <a:solidFill>
                  <a:srgbClr val="667085"/>
                </a:solidFill>
                <a:latin typeface="Noto Serif CJK SC" pitchFamily="34" charset="0"/>
                <a:ea typeface="Noto Serif CJK SC" pitchFamily="34" charset="-122"/>
                <a:cs typeface="Noto Serif CJK SC" pitchFamily="34" charset="-120"/>
              </a:rPr>
              <a:t>—— 王阳明《与薛尚谦书》</a:t>
            </a:r>
            <a:endParaRPr lang="en-US" sz="1400" dirty="0">
              <a:latin typeface="微软雅黑" panose="020B0503020204020204" pitchFamily="34" charset="-122"/>
            </a:endParaRPr>
          </a:p>
        </p:txBody>
      </p:sp>
      <p:sp>
        <p:nvSpPr>
          <p:cNvPr id="6" name="Shape 4"/>
          <p:cNvSpPr/>
          <p:nvPr/>
        </p:nvSpPr>
        <p:spPr>
          <a:xfrm>
            <a:off x="1051560" y="3246120"/>
            <a:ext cx="10058400" cy="1993392"/>
          </a:xfrm>
          <a:prstGeom prst="roundRect">
            <a:avLst>
              <a:gd name="adj" fmla="val 229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5"/>
          <p:cNvSpPr/>
          <p:nvPr/>
        </p:nvSpPr>
        <p:spPr>
          <a:xfrm>
            <a:off x="1051560" y="3246120"/>
            <a:ext cx="64008" cy="1993392"/>
          </a:xfrm>
          <a:prstGeom prst="rect">
            <a:avLst/>
          </a:prstGeom>
          <a:solidFill>
            <a:srgbClr val="C63F45"/>
          </a:solidFill>
          <a:ln w="12700">
            <a:solidFill>
              <a:srgbClr val="C63F45"/>
            </a:solidFill>
            <a:prstDash val="solid"/>
          </a:ln>
        </p:spPr>
      </p:sp>
      <p:sp>
        <p:nvSpPr>
          <p:cNvPr id="8" name="Text 6"/>
          <p:cNvSpPr/>
          <p:nvPr/>
        </p:nvSpPr>
        <p:spPr>
          <a:xfrm>
            <a:off x="1261872" y="3392424"/>
            <a:ext cx="9674352" cy="329184"/>
          </a:xfrm>
          <a:prstGeom prst="rect">
            <a:avLst/>
          </a:prstGeom>
          <a:noFill/>
          <a:ln/>
        </p:spPr>
        <p:txBody>
          <a:bodyPr wrap="square" lIns="0" tIns="0" rIns="0" bIns="0" rtlCol="0" anchor="ctr">
            <a:normAutofit/>
          </a:bodyPr>
          <a:lstStyle/>
          <a:p>
            <a:pPr marL="0" indent="0">
              <a:buNone/>
            </a:pPr>
            <a:r>
              <a:rPr lang="en-US" sz="1750" b="1" dirty="0">
                <a:solidFill>
                  <a:srgbClr val="C63F45"/>
                </a:solidFill>
                <a:latin typeface="微软雅黑" panose="020B0503020204020204" pitchFamily="34" charset="-122"/>
                <a:ea typeface="微软雅黑" panose="020B0503020204020204" pitchFamily="34" charset="-122"/>
                <a:cs typeface="Noto Sans CJK SC" pitchFamily="34" charset="-120"/>
              </a:rPr>
              <a:t>强化学习的基本思想</a:t>
            </a:r>
            <a:endParaRPr lang="en-US" sz="1750" dirty="0">
              <a:latin typeface="微软雅黑" panose="020B0503020204020204" pitchFamily="34" charset="-122"/>
            </a:endParaRPr>
          </a:p>
        </p:txBody>
      </p:sp>
      <p:sp>
        <p:nvSpPr>
          <p:cNvPr id="9" name="Text 7"/>
          <p:cNvSpPr/>
          <p:nvPr/>
        </p:nvSpPr>
        <p:spPr>
          <a:xfrm>
            <a:off x="1261872" y="3901828"/>
            <a:ext cx="9674352" cy="821096"/>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机器人通过与环境实时互动、自我探索或人类示范，逐步积累知识并提升自身行为决策能力。强化学习</a:t>
            </a:r>
            <a:r>
              <a:rPr lang="zh-CN" alt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也是</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具身智能进步的核心</a:t>
            </a:r>
            <a:r>
              <a:rPr lang="zh-CN" alt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技术</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之一</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强化学习</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特点</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3246120" cy="2788920"/>
          </a:xfrm>
          <a:prstGeom prst="roundRect">
            <a:avLst>
              <a:gd name="adj" fmla="val 163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13232" y="1627632"/>
            <a:ext cx="64008" cy="2788920"/>
          </a:xfrm>
          <a:prstGeom prst="rect">
            <a:avLst/>
          </a:prstGeom>
          <a:solidFill>
            <a:srgbClr val="31599B"/>
          </a:solidFill>
          <a:ln w="12700">
            <a:solidFill>
              <a:srgbClr val="31599B"/>
            </a:solidFill>
            <a:prstDash val="solid"/>
          </a:ln>
        </p:spPr>
      </p:sp>
      <p:sp>
        <p:nvSpPr>
          <p:cNvPr id="6" name="Text 4"/>
          <p:cNvSpPr/>
          <p:nvPr/>
        </p:nvSpPr>
        <p:spPr>
          <a:xfrm>
            <a:off x="923544" y="1773936"/>
            <a:ext cx="28620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实时互动</a:t>
            </a:r>
            <a:endParaRPr lang="en-US" sz="2000" dirty="0">
              <a:latin typeface="微软雅黑" panose="020B0503020204020204" pitchFamily="34" charset="-122"/>
            </a:endParaRPr>
          </a:p>
        </p:txBody>
      </p:sp>
      <p:sp>
        <p:nvSpPr>
          <p:cNvPr id="7" name="Text 5"/>
          <p:cNvSpPr/>
          <p:nvPr/>
        </p:nvSpPr>
        <p:spPr>
          <a:xfrm>
            <a:off x="923544" y="2327728"/>
            <a:ext cx="2862072" cy="974768"/>
          </a:xfrm>
          <a:prstGeom prst="rect">
            <a:avLst/>
          </a:prstGeom>
          <a:noFill/>
          <a:ln/>
        </p:spPr>
        <p:txBody>
          <a:bodyPr wrap="square" lIns="254" tIns="254" rIns="254" bIns="254" rtlCol="0" anchor="t">
            <a:normAutofit/>
          </a:bodyPr>
          <a:lstStyle/>
          <a:p>
            <a:pPr marL="0" indent="0">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智能体在环境中持续感知状态、执行动作并接收奖励反馈，形成闭环</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4160520" y="1627632"/>
            <a:ext cx="3246120" cy="2788920"/>
          </a:xfrm>
          <a:prstGeom prst="roundRect">
            <a:avLst>
              <a:gd name="adj" fmla="val 163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160520" y="1627632"/>
            <a:ext cx="64008" cy="2788920"/>
          </a:xfrm>
          <a:prstGeom prst="rect">
            <a:avLst/>
          </a:prstGeom>
          <a:solidFill>
            <a:srgbClr val="2F8E72"/>
          </a:solidFill>
          <a:ln w="12700">
            <a:solidFill>
              <a:srgbClr val="2F8E72"/>
            </a:solidFill>
            <a:prstDash val="solid"/>
          </a:ln>
        </p:spPr>
      </p:sp>
      <p:sp>
        <p:nvSpPr>
          <p:cNvPr id="10" name="Text 8"/>
          <p:cNvSpPr/>
          <p:nvPr/>
        </p:nvSpPr>
        <p:spPr>
          <a:xfrm>
            <a:off x="4370832" y="1773936"/>
            <a:ext cx="28620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试错与探索</a:t>
            </a:r>
            <a:endParaRPr lang="en-US" sz="2000" dirty="0">
              <a:latin typeface="微软雅黑" panose="020B0503020204020204" pitchFamily="34" charset="-122"/>
            </a:endParaRPr>
          </a:p>
        </p:txBody>
      </p:sp>
      <p:sp>
        <p:nvSpPr>
          <p:cNvPr id="11" name="Text 9"/>
          <p:cNvSpPr/>
          <p:nvPr/>
        </p:nvSpPr>
        <p:spPr>
          <a:xfrm>
            <a:off x="4370832" y="2327728"/>
            <a:ext cx="2862072" cy="712877"/>
          </a:xfrm>
          <a:prstGeom prst="rect">
            <a:avLst/>
          </a:prstGeom>
          <a:noFill/>
          <a:ln/>
        </p:spPr>
        <p:txBody>
          <a:bodyPr wrap="square" lIns="254" tIns="254" rIns="254" bIns="254" rtlCol="0" anchor="t">
            <a:noAutofit/>
          </a:bodyPr>
          <a:lstStyle/>
          <a:p>
            <a:pPr marL="0" indent="0">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无需预设标注样本，通过反复尝试和纠错逐步完善行为</a:t>
            </a:r>
            <a:endParaRPr lang="en-US" dirty="0">
              <a:latin typeface="微软雅黑" panose="020B0503020204020204" pitchFamily="34" charset="-122"/>
              <a:ea typeface="微软雅黑" panose="020B0503020204020204" pitchFamily="34" charset="-122"/>
            </a:endParaRPr>
          </a:p>
        </p:txBody>
      </p:sp>
      <p:sp>
        <p:nvSpPr>
          <p:cNvPr id="12" name="Shape 10"/>
          <p:cNvSpPr/>
          <p:nvPr/>
        </p:nvSpPr>
        <p:spPr>
          <a:xfrm>
            <a:off x="7607808" y="1627632"/>
            <a:ext cx="3246120" cy="2788920"/>
          </a:xfrm>
          <a:prstGeom prst="roundRect">
            <a:avLst>
              <a:gd name="adj" fmla="val 163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7607808" y="1627632"/>
            <a:ext cx="64008" cy="2788920"/>
          </a:xfrm>
          <a:prstGeom prst="rect">
            <a:avLst/>
          </a:prstGeom>
          <a:solidFill>
            <a:srgbClr val="C58A24"/>
          </a:solidFill>
          <a:ln w="12700">
            <a:solidFill>
              <a:srgbClr val="C58A24"/>
            </a:solidFill>
            <a:prstDash val="solid"/>
          </a:ln>
        </p:spPr>
      </p:sp>
      <p:sp>
        <p:nvSpPr>
          <p:cNvPr id="14" name="Text 12"/>
          <p:cNvSpPr/>
          <p:nvPr/>
        </p:nvSpPr>
        <p:spPr>
          <a:xfrm>
            <a:off x="7818120" y="1773936"/>
            <a:ext cx="286207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长期收益</a:t>
            </a:r>
            <a:endParaRPr lang="en-US" sz="2000" dirty="0">
              <a:latin typeface="微软雅黑" panose="020B0503020204020204" pitchFamily="34" charset="-122"/>
            </a:endParaRPr>
          </a:p>
        </p:txBody>
      </p:sp>
      <p:sp>
        <p:nvSpPr>
          <p:cNvPr id="15" name="Text 13"/>
          <p:cNvSpPr/>
          <p:nvPr/>
        </p:nvSpPr>
        <p:spPr>
          <a:xfrm>
            <a:off x="7818120" y="2327728"/>
            <a:ext cx="2862072" cy="801654"/>
          </a:xfrm>
          <a:prstGeom prst="rect">
            <a:avLst/>
          </a:prstGeom>
          <a:noFill/>
          <a:ln/>
        </p:spPr>
        <p:txBody>
          <a:bodyPr wrap="square" lIns="254" tIns="254" rIns="254" bIns="254" rtlCol="0" anchor="t">
            <a:normAutofit lnSpcReduction="10000"/>
          </a:bodyPr>
          <a:lstStyle/>
          <a:p>
            <a:pPr marL="0" indent="0">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目标不是只追求即时奖励，而是最大化总折扣奖励与长期行为效果</a:t>
            </a:r>
            <a:endParaRPr lang="en-US"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Times New Roman" panose="02020603050405020304" pitchFamily="18" charset="0"/>
                <a:ea typeface="微软雅黑" panose="020B0503020204020204" pitchFamily="34" charset="-122"/>
                <a:cs typeface="Times New Roman" panose="02020603050405020304" pitchFamily="18" charset="0"/>
              </a:rPr>
              <a:t>学习目标</a:t>
            </a:r>
            <a:endParaRPr lang="en-US" sz="35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21792" y="1554480"/>
            <a:ext cx="3547872" cy="1700784"/>
          </a:xfrm>
          <a:prstGeom prst="roundRect">
            <a:avLst>
              <a:gd name="adj" fmla="val 268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621792" y="1554480"/>
            <a:ext cx="64008" cy="1700784"/>
          </a:xfrm>
          <a:prstGeom prst="rect">
            <a:avLst/>
          </a:prstGeom>
          <a:solidFill>
            <a:srgbClr val="31599B"/>
          </a:solidFill>
          <a:ln w="12700">
            <a:solidFill>
              <a:srgbClr val="31599B"/>
            </a:solidFill>
            <a:prstDash val="solid"/>
          </a:ln>
        </p:spPr>
      </p:sp>
      <p:sp>
        <p:nvSpPr>
          <p:cNvPr id="6" name="Text 4"/>
          <p:cNvSpPr/>
          <p:nvPr/>
        </p:nvSpPr>
        <p:spPr>
          <a:xfrm>
            <a:off x="832104" y="1700784"/>
            <a:ext cx="3163824"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Times New Roman" panose="02020603050405020304" pitchFamily="18" charset="0"/>
                <a:ea typeface="微软雅黑" panose="020B0503020204020204" pitchFamily="34" charset="-122"/>
                <a:cs typeface="Times New Roman" panose="02020603050405020304" pitchFamily="18" charset="0"/>
              </a:rPr>
              <a:t>01  基础框架</a:t>
            </a:r>
            <a:endParaRPr lang="en-US" sz="17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5"/>
          <p:cNvSpPr/>
          <p:nvPr/>
        </p:nvSpPr>
        <p:spPr>
          <a:xfrm>
            <a:off x="832104" y="2121408"/>
            <a:ext cx="3163824" cy="987552"/>
          </a:xfrm>
          <a:prstGeom prst="rect">
            <a:avLst/>
          </a:prstGeom>
          <a:noFill/>
          <a:ln/>
        </p:spPr>
        <p:txBody>
          <a:bodyPr wrap="square" lIns="254" tIns="254" rIns="254" bIns="254" rtlCol="0" anchor="t">
            <a:normAutofit/>
          </a:bodyPr>
          <a:lstStyle/>
          <a:p>
            <a:pPr marL="0" indent="0">
              <a:buNone/>
            </a:pPr>
            <a:r>
              <a:rPr lang="en-US" sz="16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了解强化学习基本框架与马尔可夫决策过程，掌握贝尔曼方程在价值评估与最优策略求解中的作用</a:t>
            </a:r>
            <a:endParaRPr 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Shape 6"/>
          <p:cNvSpPr/>
          <p:nvPr/>
        </p:nvSpPr>
        <p:spPr>
          <a:xfrm>
            <a:off x="4443984" y="1554480"/>
            <a:ext cx="3547872" cy="1700784"/>
          </a:xfrm>
          <a:prstGeom prst="roundRect">
            <a:avLst>
              <a:gd name="adj" fmla="val 268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43984" y="1554480"/>
            <a:ext cx="64008" cy="1700784"/>
          </a:xfrm>
          <a:prstGeom prst="rect">
            <a:avLst/>
          </a:prstGeom>
          <a:solidFill>
            <a:srgbClr val="2F8E72"/>
          </a:solidFill>
          <a:ln w="12700">
            <a:solidFill>
              <a:srgbClr val="2F8E72"/>
            </a:solidFill>
            <a:prstDash val="solid"/>
          </a:ln>
        </p:spPr>
      </p:sp>
      <p:sp>
        <p:nvSpPr>
          <p:cNvPr id="10" name="Text 8"/>
          <p:cNvSpPr/>
          <p:nvPr/>
        </p:nvSpPr>
        <p:spPr>
          <a:xfrm>
            <a:off x="4654296" y="1700784"/>
            <a:ext cx="3163824"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Times New Roman" panose="02020603050405020304" pitchFamily="18" charset="0"/>
                <a:ea typeface="微软雅黑" panose="020B0503020204020204" pitchFamily="34" charset="-122"/>
                <a:cs typeface="Times New Roman" panose="02020603050405020304" pitchFamily="18" charset="0"/>
              </a:rPr>
              <a:t>02  Q 学习</a:t>
            </a:r>
            <a:endParaRPr lang="en-US" sz="17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 9"/>
          <p:cNvSpPr/>
          <p:nvPr/>
        </p:nvSpPr>
        <p:spPr>
          <a:xfrm>
            <a:off x="4654296" y="2121408"/>
            <a:ext cx="3163824" cy="987552"/>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掌握时序差分更新机制与 </a:t>
            </a:r>
            <a:r>
              <a:rPr lang="en-US" sz="16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ε-贪婪策略，理解机器人任务中的优势与局限</a:t>
            </a:r>
            <a:endParaRPr 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Shape 10"/>
          <p:cNvSpPr/>
          <p:nvPr/>
        </p:nvSpPr>
        <p:spPr>
          <a:xfrm>
            <a:off x="8266176" y="1554480"/>
            <a:ext cx="3547872" cy="1700784"/>
          </a:xfrm>
          <a:prstGeom prst="roundRect">
            <a:avLst>
              <a:gd name="adj" fmla="val 268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266176" y="1554480"/>
            <a:ext cx="64008" cy="1700784"/>
          </a:xfrm>
          <a:prstGeom prst="rect">
            <a:avLst/>
          </a:prstGeom>
          <a:solidFill>
            <a:srgbClr val="C58A24"/>
          </a:solidFill>
          <a:ln w="12700">
            <a:solidFill>
              <a:srgbClr val="C58A24"/>
            </a:solidFill>
            <a:prstDash val="solid"/>
          </a:ln>
        </p:spPr>
      </p:sp>
      <p:sp>
        <p:nvSpPr>
          <p:cNvPr id="14" name="Text 12"/>
          <p:cNvSpPr/>
          <p:nvPr/>
        </p:nvSpPr>
        <p:spPr>
          <a:xfrm>
            <a:off x="8476488" y="1700784"/>
            <a:ext cx="3163824"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Times New Roman" panose="02020603050405020304" pitchFamily="18" charset="0"/>
                <a:ea typeface="微软雅黑" panose="020B0503020204020204" pitchFamily="34" charset="-122"/>
                <a:cs typeface="Times New Roman" panose="02020603050405020304" pitchFamily="18" charset="0"/>
              </a:rPr>
              <a:t>03  策略类算法</a:t>
            </a:r>
            <a:endParaRPr lang="en-US" sz="17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Text 13"/>
          <p:cNvSpPr/>
          <p:nvPr/>
        </p:nvSpPr>
        <p:spPr>
          <a:xfrm>
            <a:off x="8476488" y="2121408"/>
            <a:ext cx="3163824" cy="987552"/>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区分策略梯度与 Actor-Critic，理解 REINFORCE、A3C、SAC、PPO、DDPG </a:t>
            </a:r>
            <a:r>
              <a:rPr lang="en-US" sz="16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的原理与适用性</a:t>
            </a:r>
            <a:endParaRPr 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Shape 14"/>
          <p:cNvSpPr/>
          <p:nvPr/>
        </p:nvSpPr>
        <p:spPr>
          <a:xfrm>
            <a:off x="621792" y="3584448"/>
            <a:ext cx="3547872" cy="1700784"/>
          </a:xfrm>
          <a:prstGeom prst="roundRect">
            <a:avLst>
              <a:gd name="adj" fmla="val 268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621792" y="3584448"/>
            <a:ext cx="64008" cy="1700784"/>
          </a:xfrm>
          <a:prstGeom prst="rect">
            <a:avLst/>
          </a:prstGeom>
          <a:solidFill>
            <a:srgbClr val="C63F45"/>
          </a:solidFill>
          <a:ln w="12700">
            <a:solidFill>
              <a:srgbClr val="C63F45"/>
            </a:solidFill>
            <a:prstDash val="solid"/>
          </a:ln>
        </p:spPr>
      </p:sp>
      <p:sp>
        <p:nvSpPr>
          <p:cNvPr id="18" name="Text 16"/>
          <p:cNvSpPr/>
          <p:nvPr/>
        </p:nvSpPr>
        <p:spPr>
          <a:xfrm>
            <a:off x="832104" y="3730752"/>
            <a:ext cx="3163824" cy="329184"/>
          </a:xfrm>
          <a:prstGeom prst="rect">
            <a:avLst/>
          </a:prstGeom>
          <a:noFill/>
          <a:ln/>
        </p:spPr>
        <p:txBody>
          <a:bodyPr wrap="square" lIns="0" tIns="0" rIns="0" bIns="0" rtlCol="0" anchor="ctr">
            <a:normAutofit/>
          </a:bodyPr>
          <a:lstStyle/>
          <a:p>
            <a:pPr marL="0" indent="0">
              <a:buNone/>
            </a:pPr>
            <a:r>
              <a:rPr lang="en-US" sz="2000" b="1" dirty="0">
                <a:solidFill>
                  <a:srgbClr val="C63F45"/>
                </a:solidFill>
                <a:latin typeface="Times New Roman" panose="02020603050405020304" pitchFamily="18" charset="0"/>
                <a:ea typeface="微软雅黑" panose="020B0503020204020204" pitchFamily="34" charset="-122"/>
                <a:cs typeface="Times New Roman" panose="02020603050405020304" pitchFamily="18" charset="0"/>
              </a:rPr>
              <a:t>04  基于模型方法</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Text 17"/>
          <p:cNvSpPr/>
          <p:nvPr/>
        </p:nvSpPr>
        <p:spPr>
          <a:xfrm>
            <a:off x="832104" y="4151376"/>
            <a:ext cx="3163824" cy="987552"/>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了解 Dyna-Q </a:t>
            </a:r>
            <a:r>
              <a:rPr lang="en-US" sz="16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等混合框架与规划流程，比较与无模型方法的样本效率</a:t>
            </a:r>
            <a:endParaRPr 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Shape 18"/>
          <p:cNvSpPr/>
          <p:nvPr/>
        </p:nvSpPr>
        <p:spPr>
          <a:xfrm>
            <a:off x="4443984" y="3584448"/>
            <a:ext cx="3547872" cy="1700784"/>
          </a:xfrm>
          <a:prstGeom prst="roundRect">
            <a:avLst>
              <a:gd name="adj" fmla="val 268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1" name="Shape 19"/>
          <p:cNvSpPr/>
          <p:nvPr/>
        </p:nvSpPr>
        <p:spPr>
          <a:xfrm>
            <a:off x="4443984" y="3584448"/>
            <a:ext cx="64008" cy="1700784"/>
          </a:xfrm>
          <a:prstGeom prst="rect">
            <a:avLst/>
          </a:prstGeom>
          <a:solidFill>
            <a:srgbClr val="7558A8"/>
          </a:solidFill>
          <a:ln w="12700">
            <a:solidFill>
              <a:srgbClr val="7558A8"/>
            </a:solidFill>
            <a:prstDash val="solid"/>
          </a:ln>
        </p:spPr>
      </p:sp>
      <p:sp>
        <p:nvSpPr>
          <p:cNvPr id="22" name="Text 20"/>
          <p:cNvSpPr/>
          <p:nvPr/>
        </p:nvSpPr>
        <p:spPr>
          <a:xfrm>
            <a:off x="4654296" y="3730752"/>
            <a:ext cx="3163824" cy="329184"/>
          </a:xfrm>
          <a:prstGeom prst="rect">
            <a:avLst/>
          </a:prstGeom>
          <a:noFill/>
          <a:ln/>
        </p:spPr>
        <p:txBody>
          <a:bodyPr wrap="square" lIns="0" tIns="0" rIns="0" bIns="0" rtlCol="0" anchor="ctr">
            <a:normAutofit/>
          </a:bodyPr>
          <a:lstStyle/>
          <a:p>
            <a:pPr marL="0" indent="0">
              <a:buNone/>
            </a:pPr>
            <a:r>
              <a:rPr lang="en-US" sz="2000" b="1" dirty="0">
                <a:solidFill>
                  <a:srgbClr val="7558A8"/>
                </a:solidFill>
                <a:latin typeface="Times New Roman" panose="02020603050405020304" pitchFamily="18" charset="0"/>
                <a:ea typeface="微软雅黑" panose="020B0503020204020204" pitchFamily="34" charset="-122"/>
                <a:cs typeface="Times New Roman" panose="02020603050405020304" pitchFamily="18" charset="0"/>
              </a:rPr>
              <a:t>05  仿真实践</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 21"/>
          <p:cNvSpPr/>
          <p:nvPr/>
        </p:nvSpPr>
        <p:spPr>
          <a:xfrm>
            <a:off x="4654296" y="4151376"/>
            <a:ext cx="3163824" cy="987552"/>
          </a:xfrm>
          <a:prstGeom prst="rect">
            <a:avLst/>
          </a:prstGeom>
          <a:noFill/>
          <a:ln/>
        </p:spPr>
        <p:txBody>
          <a:bodyPr wrap="square" lIns="254" tIns="254" rIns="254" bIns="254" rtlCol="0" anchor="t">
            <a:normAutofit/>
          </a:bodyPr>
          <a:lstStyle/>
          <a:p>
            <a:pPr marL="0" indent="0">
              <a:buNone/>
            </a:pPr>
            <a:r>
              <a:rPr lang="en-US" sz="16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基于开源框架实现简单机器人强化学习训练，评估收敛性、探索效率与虚实迁移挑战</a:t>
            </a:r>
            <a:endParaRPr 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Times New Roman" panose="02020603050405020304" pitchFamily="18" charset="0"/>
                <a:ea typeface="微软雅黑" panose="020B0503020204020204" pitchFamily="34" charset="-122"/>
                <a:cs typeface="Times New Roman" panose="02020603050405020304" pitchFamily="18" charset="0"/>
              </a:rPr>
              <a:t>4</a:t>
            </a:fld>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本章</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目录</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31520" y="153619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3.1</a:t>
            </a:r>
            <a:endParaRPr lang="en-US" sz="2800" dirty="0">
              <a:latin typeface="微软雅黑" panose="020B0503020204020204" pitchFamily="34" charset="-122"/>
              <a:ea typeface="微软雅黑" panose="020B0503020204020204" pitchFamily="34" charset="-122"/>
            </a:endParaRPr>
          </a:p>
        </p:txBody>
      </p:sp>
      <p:sp>
        <p:nvSpPr>
          <p:cNvPr id="5" name="Text 3"/>
          <p:cNvSpPr/>
          <p:nvPr/>
        </p:nvSpPr>
        <p:spPr>
          <a:xfrm>
            <a:off x="1508760" y="1536192"/>
            <a:ext cx="260604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强化学习基础</a:t>
            </a:r>
            <a:endParaRPr lang="en-US" sz="2800" dirty="0">
              <a:latin typeface="微软雅黑" panose="020B0503020204020204" pitchFamily="34" charset="-122"/>
              <a:ea typeface="微软雅黑" panose="020B0503020204020204" pitchFamily="34" charset="-122"/>
            </a:endParaRPr>
          </a:p>
        </p:txBody>
      </p:sp>
      <p:sp>
        <p:nvSpPr>
          <p:cNvPr id="7" name="Shape 5"/>
          <p:cNvSpPr/>
          <p:nvPr/>
        </p:nvSpPr>
        <p:spPr>
          <a:xfrm>
            <a:off x="731520" y="1920240"/>
            <a:ext cx="10241280" cy="0"/>
          </a:xfrm>
          <a:prstGeom prst="line">
            <a:avLst/>
          </a:prstGeom>
          <a:noFill/>
          <a:ln w="12700">
            <a:solidFill>
              <a:srgbClr val="E3E7EE"/>
            </a:solidFill>
            <a:prstDash val="solid"/>
          </a:ln>
        </p:spPr>
      </p:sp>
      <p:sp>
        <p:nvSpPr>
          <p:cNvPr id="8" name="Text 6"/>
          <p:cNvSpPr/>
          <p:nvPr/>
        </p:nvSpPr>
        <p:spPr>
          <a:xfrm>
            <a:off x="731520" y="217627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3.2</a:t>
            </a:r>
            <a:endParaRPr lang="en-US" sz="2800" dirty="0">
              <a:latin typeface="微软雅黑" panose="020B0503020204020204" pitchFamily="34" charset="-122"/>
              <a:ea typeface="微软雅黑" panose="020B0503020204020204" pitchFamily="34" charset="-122"/>
            </a:endParaRPr>
          </a:p>
        </p:txBody>
      </p:sp>
      <p:sp>
        <p:nvSpPr>
          <p:cNvPr id="9" name="Text 7"/>
          <p:cNvSpPr/>
          <p:nvPr/>
        </p:nvSpPr>
        <p:spPr>
          <a:xfrm>
            <a:off x="1508760" y="2176272"/>
            <a:ext cx="2606040" cy="274320"/>
          </a:xfrm>
          <a:prstGeom prst="rect">
            <a:avLst/>
          </a:prstGeom>
          <a:noFill/>
          <a:ln/>
        </p:spPr>
        <p:txBody>
          <a:bodyPr wrap="square" lIns="0" tIns="0" rIns="0" bIns="0" rtlCol="0" anchor="ctr"/>
          <a:lstStyle/>
          <a:p>
            <a:pPr marL="0" indent="0">
              <a:buNone/>
            </a:pPr>
            <a:r>
              <a:rPr lang="en-US" sz="2800" b="1" dirty="0" err="1">
                <a:solidFill>
                  <a:srgbClr val="222833"/>
                </a:solidFill>
                <a:latin typeface="微软雅黑" panose="020B0503020204020204" pitchFamily="34" charset="-122"/>
                <a:ea typeface="微软雅黑" panose="020B0503020204020204" pitchFamily="34" charset="-122"/>
                <a:cs typeface="Noto Sans CJK SC" pitchFamily="34" charset="-120"/>
              </a:rPr>
              <a:t>Q学习</a:t>
            </a:r>
            <a:endParaRPr lang="en-US" sz="2800" dirty="0">
              <a:latin typeface="微软雅黑" panose="020B0503020204020204" pitchFamily="34" charset="-122"/>
              <a:ea typeface="微软雅黑" panose="020B0503020204020204" pitchFamily="34" charset="-122"/>
            </a:endParaRPr>
          </a:p>
        </p:txBody>
      </p:sp>
      <p:sp>
        <p:nvSpPr>
          <p:cNvPr id="11" name="Shape 9"/>
          <p:cNvSpPr/>
          <p:nvPr/>
        </p:nvSpPr>
        <p:spPr>
          <a:xfrm>
            <a:off x="731520" y="2560320"/>
            <a:ext cx="10241280" cy="0"/>
          </a:xfrm>
          <a:prstGeom prst="line">
            <a:avLst/>
          </a:prstGeom>
          <a:noFill/>
          <a:ln w="12700">
            <a:solidFill>
              <a:srgbClr val="E3E7EE"/>
            </a:solidFill>
            <a:prstDash val="solid"/>
          </a:ln>
        </p:spPr>
      </p:sp>
      <p:sp>
        <p:nvSpPr>
          <p:cNvPr id="12" name="Text 10"/>
          <p:cNvSpPr/>
          <p:nvPr/>
        </p:nvSpPr>
        <p:spPr>
          <a:xfrm>
            <a:off x="731520" y="281635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3.3</a:t>
            </a:r>
            <a:endParaRPr lang="en-US" sz="2800" dirty="0">
              <a:latin typeface="微软雅黑" panose="020B0503020204020204" pitchFamily="34" charset="-122"/>
              <a:ea typeface="微软雅黑" panose="020B0503020204020204" pitchFamily="34" charset="-122"/>
            </a:endParaRPr>
          </a:p>
        </p:txBody>
      </p:sp>
      <p:sp>
        <p:nvSpPr>
          <p:cNvPr id="13" name="Text 11"/>
          <p:cNvSpPr/>
          <p:nvPr/>
        </p:nvSpPr>
        <p:spPr>
          <a:xfrm>
            <a:off x="1508760" y="2816352"/>
            <a:ext cx="260604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策略梯度</a:t>
            </a:r>
            <a:endParaRPr lang="en-US" sz="2800" dirty="0">
              <a:latin typeface="微软雅黑" panose="020B0503020204020204" pitchFamily="34" charset="-122"/>
              <a:ea typeface="微软雅黑" panose="020B0503020204020204" pitchFamily="34" charset="-122"/>
            </a:endParaRPr>
          </a:p>
        </p:txBody>
      </p:sp>
      <p:sp>
        <p:nvSpPr>
          <p:cNvPr id="15" name="Shape 13"/>
          <p:cNvSpPr/>
          <p:nvPr/>
        </p:nvSpPr>
        <p:spPr>
          <a:xfrm>
            <a:off x="731520" y="3200400"/>
            <a:ext cx="10241280" cy="0"/>
          </a:xfrm>
          <a:prstGeom prst="line">
            <a:avLst/>
          </a:prstGeom>
          <a:noFill/>
          <a:ln w="12700">
            <a:solidFill>
              <a:srgbClr val="E3E7EE"/>
            </a:solidFill>
            <a:prstDash val="solid"/>
          </a:ln>
        </p:spPr>
      </p:sp>
      <p:sp>
        <p:nvSpPr>
          <p:cNvPr id="16" name="Text 14"/>
          <p:cNvSpPr/>
          <p:nvPr/>
        </p:nvSpPr>
        <p:spPr>
          <a:xfrm>
            <a:off x="731520" y="345643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3.4</a:t>
            </a:r>
            <a:endParaRPr lang="en-US" sz="2800" dirty="0">
              <a:latin typeface="微软雅黑" panose="020B0503020204020204" pitchFamily="34" charset="-122"/>
              <a:ea typeface="微软雅黑" panose="020B0503020204020204" pitchFamily="34" charset="-122"/>
            </a:endParaRPr>
          </a:p>
        </p:txBody>
      </p:sp>
      <p:sp>
        <p:nvSpPr>
          <p:cNvPr id="17" name="Text 15"/>
          <p:cNvSpPr/>
          <p:nvPr/>
        </p:nvSpPr>
        <p:spPr>
          <a:xfrm>
            <a:off x="1508760" y="3456432"/>
            <a:ext cx="3666922"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Actor-Critic 及扩展</a:t>
            </a:r>
            <a:endParaRPr lang="en-US" sz="2800" dirty="0">
              <a:latin typeface="微软雅黑" panose="020B0503020204020204" pitchFamily="34" charset="-122"/>
              <a:ea typeface="微软雅黑" panose="020B0503020204020204" pitchFamily="34" charset="-122"/>
            </a:endParaRPr>
          </a:p>
        </p:txBody>
      </p:sp>
      <p:sp>
        <p:nvSpPr>
          <p:cNvPr id="19" name="Shape 17"/>
          <p:cNvSpPr/>
          <p:nvPr/>
        </p:nvSpPr>
        <p:spPr>
          <a:xfrm>
            <a:off x="731520" y="3840480"/>
            <a:ext cx="10241280" cy="0"/>
          </a:xfrm>
          <a:prstGeom prst="line">
            <a:avLst/>
          </a:prstGeom>
          <a:noFill/>
          <a:ln w="12700">
            <a:solidFill>
              <a:srgbClr val="E3E7EE"/>
            </a:solidFill>
            <a:prstDash val="solid"/>
          </a:ln>
        </p:spPr>
      </p:sp>
      <p:sp>
        <p:nvSpPr>
          <p:cNvPr id="20" name="Text 18"/>
          <p:cNvSpPr/>
          <p:nvPr/>
        </p:nvSpPr>
        <p:spPr>
          <a:xfrm>
            <a:off x="731520" y="409651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3.5</a:t>
            </a:r>
            <a:endParaRPr lang="en-US" sz="2800" dirty="0">
              <a:latin typeface="微软雅黑" panose="020B0503020204020204" pitchFamily="34" charset="-122"/>
              <a:ea typeface="微软雅黑" panose="020B0503020204020204" pitchFamily="34" charset="-122"/>
            </a:endParaRPr>
          </a:p>
        </p:txBody>
      </p:sp>
      <p:sp>
        <p:nvSpPr>
          <p:cNvPr id="21" name="Text 19"/>
          <p:cNvSpPr/>
          <p:nvPr/>
        </p:nvSpPr>
        <p:spPr>
          <a:xfrm>
            <a:off x="1508760" y="4096512"/>
            <a:ext cx="3817842"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基于模型强化学习</a:t>
            </a:r>
            <a:endParaRPr lang="en-US" sz="2800" dirty="0">
              <a:latin typeface="微软雅黑" panose="020B0503020204020204" pitchFamily="34" charset="-122"/>
              <a:ea typeface="微软雅黑" panose="020B0503020204020204" pitchFamily="34" charset="-122"/>
            </a:endParaRPr>
          </a:p>
        </p:txBody>
      </p:sp>
      <p:sp>
        <p:nvSpPr>
          <p:cNvPr id="23" name="Shape 21"/>
          <p:cNvSpPr/>
          <p:nvPr/>
        </p:nvSpPr>
        <p:spPr>
          <a:xfrm>
            <a:off x="731520" y="4480560"/>
            <a:ext cx="10241280" cy="0"/>
          </a:xfrm>
          <a:prstGeom prst="line">
            <a:avLst/>
          </a:prstGeom>
          <a:noFill/>
          <a:ln w="12700">
            <a:solidFill>
              <a:srgbClr val="E3E7EE"/>
            </a:solidFill>
            <a:prstDash val="solid"/>
          </a:ln>
        </p:spPr>
      </p:sp>
      <p:sp>
        <p:nvSpPr>
          <p:cNvPr id="24" name="Text 22"/>
          <p:cNvSpPr/>
          <p:nvPr/>
        </p:nvSpPr>
        <p:spPr>
          <a:xfrm>
            <a:off x="731520" y="473659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3.6</a:t>
            </a:r>
            <a:endParaRPr lang="en-US" sz="2800" dirty="0">
              <a:latin typeface="微软雅黑" panose="020B0503020204020204" pitchFamily="34" charset="-122"/>
              <a:ea typeface="微软雅黑" panose="020B0503020204020204" pitchFamily="34" charset="-122"/>
            </a:endParaRPr>
          </a:p>
        </p:txBody>
      </p:sp>
      <p:sp>
        <p:nvSpPr>
          <p:cNvPr id="25" name="Text 23"/>
          <p:cNvSpPr/>
          <p:nvPr/>
        </p:nvSpPr>
        <p:spPr>
          <a:xfrm>
            <a:off x="1508760" y="4736592"/>
            <a:ext cx="260604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实践案例</a:t>
            </a:r>
            <a:endParaRPr lang="en-US" sz="2800" dirty="0">
              <a:latin typeface="微软雅黑" panose="020B0503020204020204" pitchFamily="34" charset="-122"/>
              <a:ea typeface="微软雅黑" panose="020B0503020204020204" pitchFamily="34" charset="-122"/>
            </a:endParaRPr>
          </a:p>
        </p:txBody>
      </p:sp>
      <p:sp>
        <p:nvSpPr>
          <p:cNvPr id="27" name="Shape 25"/>
          <p:cNvSpPr/>
          <p:nvPr/>
        </p:nvSpPr>
        <p:spPr>
          <a:xfrm>
            <a:off x="731520" y="5120640"/>
            <a:ext cx="10241280" cy="0"/>
          </a:xfrm>
          <a:prstGeom prst="line">
            <a:avLst/>
          </a:prstGeom>
          <a:noFill/>
          <a:ln w="12700">
            <a:solidFill>
              <a:srgbClr val="E3E7EE"/>
            </a:solidFill>
            <a:prstDash val="solid"/>
          </a:ln>
        </p:spPr>
      </p:sp>
      <p:sp>
        <p:nvSpPr>
          <p:cNvPr id="28" name="Text 26"/>
          <p:cNvSpPr/>
          <p:nvPr/>
        </p:nvSpPr>
        <p:spPr>
          <a:xfrm>
            <a:off x="731520" y="5376672"/>
            <a:ext cx="685800"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rPr>
              <a:t>3.7</a:t>
            </a:r>
          </a:p>
        </p:txBody>
      </p:sp>
      <p:sp>
        <p:nvSpPr>
          <p:cNvPr id="29" name="Text 27"/>
          <p:cNvSpPr/>
          <p:nvPr/>
        </p:nvSpPr>
        <p:spPr>
          <a:xfrm>
            <a:off x="1508760" y="5376672"/>
            <a:ext cx="2606040" cy="274320"/>
          </a:xfrm>
          <a:prstGeom prst="rect">
            <a:avLst/>
          </a:prstGeom>
          <a:noFill/>
          <a:ln/>
        </p:spPr>
        <p:txBody>
          <a:bodyPr wrap="square" lIns="0" tIns="0" rIns="0" bIns="0" rtlCol="0" anchor="ctr"/>
          <a:lstStyle/>
          <a:p>
            <a:pPr marL="0" indent="0">
              <a:buNone/>
            </a:pPr>
            <a:r>
              <a:rPr lang="en-US" sz="2800" b="1" dirty="0" err="1">
                <a:solidFill>
                  <a:srgbClr val="222833"/>
                </a:solidFill>
                <a:latin typeface="微软雅黑" panose="020B0503020204020204" pitchFamily="34" charset="-122"/>
                <a:ea typeface="微软雅黑" panose="020B0503020204020204" pitchFamily="34" charset="-122"/>
                <a:cs typeface="Noto Sans CJK SC" pitchFamily="34" charset="-120"/>
              </a:rPr>
              <a:t>小结</a:t>
            </a:r>
            <a:endParaRPr lang="en-US" sz="2800" dirty="0">
              <a:latin typeface="微软雅黑" panose="020B0503020204020204" pitchFamily="34" charset="-122"/>
              <a:ea typeface="微软雅黑" panose="020B0503020204020204" pitchFamily="34" charset="-122"/>
            </a:endParaRPr>
          </a:p>
        </p:txBody>
      </p:sp>
      <p:sp>
        <p:nvSpPr>
          <p:cNvPr id="31" name="Shape 29"/>
          <p:cNvSpPr/>
          <p:nvPr/>
        </p:nvSpPr>
        <p:spPr>
          <a:xfrm>
            <a:off x="731520" y="5760720"/>
            <a:ext cx="10241280" cy="0"/>
          </a:xfrm>
          <a:prstGeom prst="line">
            <a:avLst/>
          </a:prstGeom>
          <a:noFill/>
          <a:ln w="12700">
            <a:solidFill>
              <a:srgbClr val="E3E7EE"/>
            </a:solidFill>
            <a:prstDash val="solid"/>
          </a:ln>
        </p:spPr>
      </p:sp>
      <p:sp>
        <p:nvSpPr>
          <p:cNvPr id="32"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微软雅黑" panose="020B0503020204020204" pitchFamily="34" charset="-122"/>
                <a:ea typeface="微软雅黑" panose="020B0503020204020204" pitchFamily="34" charset="-122"/>
                <a:cs typeface="Noto Sans CJK SC" pitchFamily="34" charset="-120"/>
              </a:rPr>
              <a:t>强化学习基础</a:t>
            </a:r>
            <a:endParaRPr lang="en-US" sz="390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
        <p:nvSpPr>
          <p:cNvPr id="19" name="Text 2">
            <a:extLst>
              <a:ext uri="{FF2B5EF4-FFF2-40B4-BE49-F238E27FC236}">
                <a16:creationId xmlns:a16="http://schemas.microsoft.com/office/drawing/2014/main" id="{4ED9FD33-C3C7-BB70-3A89-A2375194E903}"/>
              </a:ext>
            </a:extLst>
          </p:cNvPr>
          <p:cNvSpPr/>
          <p:nvPr/>
        </p:nvSpPr>
        <p:spPr>
          <a:xfrm>
            <a:off x="1310640" y="1486565"/>
            <a:ext cx="1691640" cy="1097280"/>
          </a:xfrm>
          <a:prstGeom prst="rect">
            <a:avLst/>
          </a:prstGeom>
          <a:noFill/>
          <a:ln/>
        </p:spPr>
        <p:txBody>
          <a:bodyPr wrap="square" lIns="0" tIns="0" rIns="0" bIns="0" rtlCol="0" anchor="ctr"/>
          <a:lstStyle/>
          <a:p>
            <a:pPr marL="0" indent="0" algn="r">
              <a:buNone/>
            </a:pPr>
            <a:r>
              <a:rPr lang="en-US" sz="7200" b="1" dirty="0">
                <a:solidFill>
                  <a:srgbClr val="31599B"/>
                </a:solidFill>
                <a:latin typeface="微软雅黑" panose="020B0503020204020204" pitchFamily="34" charset="-122"/>
                <a:ea typeface="微软雅黑" panose="020B0503020204020204" pitchFamily="34" charset="-122"/>
                <a:cs typeface="Noto Sans CJK SC" pitchFamily="34" charset="-120"/>
              </a:rPr>
              <a:t>01</a:t>
            </a:r>
            <a:endParaRPr lang="en-US" sz="7200" dirty="0">
              <a:latin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3.1 强化学习：通过互动学习最佳行动方案</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13232" y="1627632"/>
            <a:ext cx="5976092" cy="4251960"/>
          </a:xfrm>
          <a:prstGeom prst="rect">
            <a:avLst/>
          </a:prstGeom>
          <a:noFill/>
          <a:ln/>
        </p:spPr>
        <p:txBody>
          <a:bodyPr wrap="square" lIns="635" tIns="635" rIns="635" bIns="635" rtlCol="0" anchor="t">
            <a:normAutofit/>
          </a:bodyPr>
          <a:lstStyle/>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强化学习（RL）是一种机器学习方法：智能体通过与环境互动，学习最佳行动方案</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学习目标是最大化总折扣奖励，而不是仅追求某一步的即时收益</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学习过程以离散或连续时序展开：感知状态</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 执行动作 → 获得奖励 →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更新行为</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强化学习不需要预设标注样本，强调通过反复尝试和纠错逐步完善行为</a:t>
            </a:r>
            <a:endParaRPr lang="en-US" sz="2400" dirty="0">
              <a:latin typeface="微软雅黑" panose="020B0503020204020204" pitchFamily="34" charset="-122"/>
              <a:ea typeface="微软雅黑" panose="020B0503020204020204" pitchFamily="34" charset="-122"/>
            </a:endParaRPr>
          </a:p>
        </p:txBody>
      </p:sp>
      <p:pic>
        <p:nvPicPr>
          <p:cNvPr id="5" name="Image 0" descr="/mnt/data/ch3_pdfimages/img-001.png"/>
          <p:cNvPicPr>
            <a:picLocks noChangeAspect="1"/>
          </p:cNvPicPr>
          <p:nvPr/>
        </p:nvPicPr>
        <p:blipFill>
          <a:blip r:embed="rId3"/>
          <a:stretch>
            <a:fillRect/>
          </a:stretch>
        </p:blipFill>
        <p:spPr>
          <a:xfrm>
            <a:off x="6818495" y="1904370"/>
            <a:ext cx="4480560" cy="2243968"/>
          </a:xfrm>
          <a:prstGeom prst="rect">
            <a:avLst/>
          </a:prstGeom>
        </p:spPr>
      </p:pic>
      <p:sp>
        <p:nvSpPr>
          <p:cNvPr id="6" name="Text 3"/>
          <p:cNvSpPr/>
          <p:nvPr/>
        </p:nvSpPr>
        <p:spPr>
          <a:xfrm>
            <a:off x="6998208" y="4344909"/>
            <a:ext cx="448056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强化学习框架简化示意图</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613448"/>
            <a:ext cx="10927080" cy="585216"/>
          </a:xfrm>
          <a:prstGeom prst="rect">
            <a:avLst/>
          </a:prstGeom>
          <a:noFill/>
          <a:ln/>
        </p:spPr>
        <p:txBody>
          <a:bodyPr wrap="square" lIns="0" tIns="0" rIns="0" bIns="0" rtlCol="0" anchor="ctr">
            <a:normAutofit/>
          </a:bodyPr>
          <a:lstStyle/>
          <a:p>
            <a:pPr marL="0" indent="0">
              <a:buNone/>
            </a:pP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不同学习方式的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关注点</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45920"/>
            <a:ext cx="3246120" cy="2852928"/>
          </a:xfrm>
          <a:prstGeom prst="roundRect">
            <a:avLst>
              <a:gd name="adj" fmla="val 160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13232" y="1645920"/>
            <a:ext cx="64008" cy="2852928"/>
          </a:xfrm>
          <a:prstGeom prst="rect">
            <a:avLst/>
          </a:prstGeom>
          <a:solidFill>
            <a:srgbClr val="31599B"/>
          </a:solidFill>
          <a:ln w="12700">
            <a:solidFill>
              <a:srgbClr val="31599B"/>
            </a:solidFill>
            <a:prstDash val="solid"/>
          </a:ln>
        </p:spPr>
      </p:sp>
      <p:sp>
        <p:nvSpPr>
          <p:cNvPr id="6" name="Text 4"/>
          <p:cNvSpPr/>
          <p:nvPr/>
        </p:nvSpPr>
        <p:spPr>
          <a:xfrm>
            <a:off x="923544"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监督学习</a:t>
            </a:r>
            <a:endParaRPr lang="en-US" sz="2000" dirty="0">
              <a:latin typeface="微软雅黑" panose="020B0503020204020204" pitchFamily="34" charset="-122"/>
            </a:endParaRPr>
          </a:p>
        </p:txBody>
      </p:sp>
      <p:sp>
        <p:nvSpPr>
          <p:cNvPr id="7" name="Text 5"/>
          <p:cNvSpPr/>
          <p:nvPr/>
        </p:nvSpPr>
        <p:spPr>
          <a:xfrm>
            <a:off x="923544" y="2422893"/>
            <a:ext cx="2862072" cy="858826"/>
          </a:xfrm>
          <a:prstGeom prst="rect">
            <a:avLst/>
          </a:prstGeom>
          <a:noFill/>
          <a:ln/>
        </p:spPr>
        <p:txBody>
          <a:bodyPr wrap="square" lIns="254" tIns="254" rIns="254" bIns="254" rtlCol="0" anchor="t">
            <a:no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依赖标签指导。强化学习则不依赖预先标注样本，而是从交互反馈中学习</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160520" y="1645920"/>
            <a:ext cx="3246120" cy="2852928"/>
          </a:xfrm>
          <a:prstGeom prst="roundRect">
            <a:avLst>
              <a:gd name="adj" fmla="val 160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160520" y="1645920"/>
            <a:ext cx="64008" cy="2852928"/>
          </a:xfrm>
          <a:prstGeom prst="rect">
            <a:avLst/>
          </a:prstGeom>
          <a:solidFill>
            <a:srgbClr val="2F8E72"/>
          </a:solidFill>
          <a:ln w="12700">
            <a:solidFill>
              <a:srgbClr val="2F8E72"/>
            </a:solidFill>
            <a:prstDash val="solid"/>
          </a:ln>
        </p:spPr>
      </p:sp>
      <p:sp>
        <p:nvSpPr>
          <p:cNvPr id="10" name="Text 8"/>
          <p:cNvSpPr/>
          <p:nvPr/>
        </p:nvSpPr>
        <p:spPr>
          <a:xfrm>
            <a:off x="4370832"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无监督学习</a:t>
            </a:r>
            <a:endParaRPr lang="en-US" sz="2000" dirty="0">
              <a:latin typeface="微软雅黑" panose="020B0503020204020204" pitchFamily="34" charset="-122"/>
            </a:endParaRPr>
          </a:p>
        </p:txBody>
      </p:sp>
      <p:sp>
        <p:nvSpPr>
          <p:cNvPr id="11" name="Text 9"/>
          <p:cNvSpPr/>
          <p:nvPr/>
        </p:nvSpPr>
        <p:spPr>
          <a:xfrm>
            <a:off x="4370832" y="2422893"/>
            <a:ext cx="2862072" cy="667956"/>
          </a:xfrm>
          <a:prstGeom prst="rect">
            <a:avLst/>
          </a:prstGeom>
          <a:noFill/>
          <a:ln/>
        </p:spPr>
        <p:txBody>
          <a:bodyPr wrap="square" lIns="254" tIns="254" rIns="254" bIns="254" rtlCol="0" anchor="t">
            <a:no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关注从数据中发现结构；强化学习的焦点是长期收益最大化</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7607808" y="1645920"/>
            <a:ext cx="3246120" cy="2852928"/>
          </a:xfrm>
          <a:prstGeom prst="roundRect">
            <a:avLst>
              <a:gd name="adj" fmla="val 160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7607808" y="1645920"/>
            <a:ext cx="64008" cy="2852928"/>
          </a:xfrm>
          <a:prstGeom prst="rect">
            <a:avLst/>
          </a:prstGeom>
          <a:solidFill>
            <a:srgbClr val="C58A24"/>
          </a:solidFill>
          <a:ln w="12700">
            <a:solidFill>
              <a:srgbClr val="C58A24"/>
            </a:solidFill>
            <a:prstDash val="solid"/>
          </a:ln>
        </p:spPr>
      </p:sp>
      <p:sp>
        <p:nvSpPr>
          <p:cNvPr id="14" name="Text 12"/>
          <p:cNvSpPr/>
          <p:nvPr/>
        </p:nvSpPr>
        <p:spPr>
          <a:xfrm>
            <a:off x="7818120"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强化学习</a:t>
            </a:r>
            <a:endParaRPr lang="en-US" sz="2000" dirty="0">
              <a:latin typeface="微软雅黑" panose="020B0503020204020204" pitchFamily="34" charset="-122"/>
            </a:endParaRPr>
          </a:p>
        </p:txBody>
      </p:sp>
      <p:sp>
        <p:nvSpPr>
          <p:cNvPr id="15" name="Text 13"/>
          <p:cNvSpPr/>
          <p:nvPr/>
        </p:nvSpPr>
        <p:spPr>
          <a:xfrm>
            <a:off x="7818120" y="2422893"/>
            <a:ext cx="2862072" cy="58361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需要同时处理探索—</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利用权衡、数据利用效率和算法稳健性</a:t>
            </a:r>
            <a:endParaRPr lang="en-US" sz="2000" dirty="0">
              <a:latin typeface="微软雅黑" panose="020B0503020204020204" pitchFamily="34" charset="-122"/>
              <a:ea typeface="微软雅黑" panose="020B0503020204020204" pitchFamily="34" charset="-122"/>
            </a:endParaRPr>
          </a:p>
        </p:txBody>
      </p:sp>
      <p:sp>
        <p:nvSpPr>
          <p:cNvPr id="16" name="Text 14"/>
          <p:cNvSpPr/>
          <p:nvPr/>
        </p:nvSpPr>
        <p:spPr>
          <a:xfrm>
            <a:off x="617220" y="4986232"/>
            <a:ext cx="10698480" cy="329184"/>
          </a:xfrm>
          <a:prstGeom prst="rect">
            <a:avLst/>
          </a:prstGeom>
          <a:noFill/>
          <a:ln/>
        </p:spPr>
        <p:txBody>
          <a:bodyPr wrap="square" lIns="0" tIns="0" rIns="0" bIns="0" rtlCol="0" anchor="ctr">
            <a:normAutofit lnSpcReduction="10000"/>
          </a:bodyPr>
          <a:lstStyle/>
          <a:p>
            <a:pPr marL="0" indent="0" algn="ctr">
              <a:buNone/>
            </a:pPr>
            <a:r>
              <a:rPr lang="zh-CN" altLang="en-US" sz="2400" b="1" dirty="0">
                <a:solidFill>
                  <a:srgbClr val="002060"/>
                </a:solidFill>
                <a:latin typeface="微软雅黑" panose="020B0503020204020204" pitchFamily="34" charset="-122"/>
                <a:ea typeface="微软雅黑" panose="020B0503020204020204" pitchFamily="34" charset="-122"/>
                <a:cs typeface="Noto Sans CJK SC" pitchFamily="34" charset="-120"/>
              </a:rPr>
              <a:t>本章主要</a:t>
            </a:r>
            <a:r>
              <a:rPr lang="en-US" sz="2400" b="1" dirty="0" err="1">
                <a:solidFill>
                  <a:srgbClr val="002060"/>
                </a:solidFill>
                <a:latin typeface="微软雅黑" panose="020B0503020204020204" pitchFamily="34" charset="-122"/>
                <a:ea typeface="微软雅黑" panose="020B0503020204020204" pitchFamily="34" charset="-122"/>
                <a:cs typeface="Noto Sans CJK SC" pitchFamily="34" charset="-120"/>
              </a:rPr>
              <a:t>围绕“如何更稳定、更高效地改进策略”展开</a:t>
            </a:r>
            <a:endParaRPr lang="en-US" sz="24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强化学习</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基本思路</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：状态—动作—奖励</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01.png"/>
          <p:cNvPicPr>
            <a:picLocks noChangeAspect="1"/>
          </p:cNvPicPr>
          <p:nvPr/>
        </p:nvPicPr>
        <p:blipFill>
          <a:blip r:embed="rId3"/>
          <a:stretch>
            <a:fillRect/>
          </a:stretch>
        </p:blipFill>
        <p:spPr>
          <a:xfrm>
            <a:off x="868680" y="2295078"/>
            <a:ext cx="5715000" cy="2862204"/>
          </a:xfrm>
          <a:prstGeom prst="rect">
            <a:avLst/>
          </a:prstGeom>
        </p:spPr>
      </p:pic>
      <p:sp>
        <p:nvSpPr>
          <p:cNvPr id="6" name="Shape 3"/>
          <p:cNvSpPr/>
          <p:nvPr/>
        </p:nvSpPr>
        <p:spPr>
          <a:xfrm>
            <a:off x="6903720" y="1600200"/>
            <a:ext cx="4295460" cy="1188720"/>
          </a:xfrm>
          <a:prstGeom prst="roundRect">
            <a:avLst>
              <a:gd name="adj" fmla="val 38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6903720" y="1600200"/>
            <a:ext cx="64008" cy="1188720"/>
          </a:xfrm>
          <a:prstGeom prst="rect">
            <a:avLst/>
          </a:prstGeom>
          <a:solidFill>
            <a:srgbClr val="31599B"/>
          </a:solidFill>
          <a:ln w="12700">
            <a:solidFill>
              <a:srgbClr val="31599B"/>
            </a:solidFill>
            <a:prstDash val="solid"/>
          </a:ln>
        </p:spPr>
      </p:sp>
      <p:sp>
        <p:nvSpPr>
          <p:cNvPr id="8" name="Text 5"/>
          <p:cNvSpPr/>
          <p:nvPr/>
        </p:nvSpPr>
        <p:spPr>
          <a:xfrm>
            <a:off x="7114032" y="1746504"/>
            <a:ext cx="377647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1  感知状态</a:t>
            </a:r>
            <a:endParaRPr lang="en-US" sz="1750" dirty="0">
              <a:latin typeface="微软雅黑" panose="020B0503020204020204" pitchFamily="34" charset="-122"/>
            </a:endParaRPr>
          </a:p>
        </p:txBody>
      </p:sp>
      <p:sp>
        <p:nvSpPr>
          <p:cNvPr id="9" name="Text 6"/>
          <p:cNvSpPr/>
          <p:nvPr/>
        </p:nvSpPr>
        <p:spPr>
          <a:xfrm>
            <a:off x="7114032" y="2167128"/>
            <a:ext cx="3776472" cy="475488"/>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智能体获得当前状态</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 s</a:t>
            </a:r>
            <a:endParaRPr lang="en-US" sz="2000" dirty="0">
              <a:latin typeface="微软雅黑" panose="020B0503020204020204" pitchFamily="34" charset="-122"/>
              <a:ea typeface="微软雅黑" panose="020B0503020204020204" pitchFamily="34" charset="-122"/>
            </a:endParaRPr>
          </a:p>
        </p:txBody>
      </p:sp>
      <p:sp>
        <p:nvSpPr>
          <p:cNvPr id="10" name="Shape 7"/>
          <p:cNvSpPr/>
          <p:nvPr/>
        </p:nvSpPr>
        <p:spPr>
          <a:xfrm>
            <a:off x="6903719" y="2907792"/>
            <a:ext cx="4295461" cy="1188720"/>
          </a:xfrm>
          <a:prstGeom prst="roundRect">
            <a:avLst>
              <a:gd name="adj" fmla="val 38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6903720" y="2907792"/>
            <a:ext cx="64008" cy="1188720"/>
          </a:xfrm>
          <a:prstGeom prst="rect">
            <a:avLst/>
          </a:prstGeom>
          <a:solidFill>
            <a:srgbClr val="2F8E72"/>
          </a:solidFill>
          <a:ln w="12700">
            <a:solidFill>
              <a:srgbClr val="2F8E72"/>
            </a:solidFill>
            <a:prstDash val="solid"/>
          </a:ln>
        </p:spPr>
      </p:sp>
      <p:sp>
        <p:nvSpPr>
          <p:cNvPr id="12" name="Text 9"/>
          <p:cNvSpPr/>
          <p:nvPr/>
        </p:nvSpPr>
        <p:spPr>
          <a:xfrm>
            <a:off x="7114032" y="3054096"/>
            <a:ext cx="377647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2  选择动作</a:t>
            </a:r>
            <a:endParaRPr lang="en-US" sz="1750" dirty="0">
              <a:latin typeface="微软雅黑" panose="020B0503020204020204" pitchFamily="34" charset="-122"/>
            </a:endParaRPr>
          </a:p>
        </p:txBody>
      </p:sp>
      <p:sp>
        <p:nvSpPr>
          <p:cNvPr id="13" name="Text 10"/>
          <p:cNvSpPr/>
          <p:nvPr/>
        </p:nvSpPr>
        <p:spPr>
          <a:xfrm>
            <a:off x="7114032" y="3474720"/>
            <a:ext cx="3776472" cy="475488"/>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依据策略选择动作</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 a</a:t>
            </a:r>
            <a:endParaRPr lang="en-US" sz="2000" dirty="0">
              <a:latin typeface="微软雅黑" panose="020B0503020204020204" pitchFamily="34" charset="-122"/>
              <a:ea typeface="微软雅黑" panose="020B0503020204020204" pitchFamily="34" charset="-122"/>
            </a:endParaRPr>
          </a:p>
        </p:txBody>
      </p:sp>
      <p:sp>
        <p:nvSpPr>
          <p:cNvPr id="14" name="Shape 11"/>
          <p:cNvSpPr/>
          <p:nvPr/>
        </p:nvSpPr>
        <p:spPr>
          <a:xfrm>
            <a:off x="6903719" y="4215384"/>
            <a:ext cx="4330971" cy="1188720"/>
          </a:xfrm>
          <a:prstGeom prst="roundRect">
            <a:avLst>
              <a:gd name="adj" fmla="val 38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6903720" y="4215384"/>
            <a:ext cx="64008" cy="1188720"/>
          </a:xfrm>
          <a:prstGeom prst="rect">
            <a:avLst/>
          </a:prstGeom>
          <a:solidFill>
            <a:srgbClr val="C58A24"/>
          </a:solidFill>
          <a:ln w="12700">
            <a:solidFill>
              <a:srgbClr val="C58A24"/>
            </a:solidFill>
            <a:prstDash val="solid"/>
          </a:ln>
        </p:spPr>
      </p:sp>
      <p:sp>
        <p:nvSpPr>
          <p:cNvPr id="16" name="Text 13"/>
          <p:cNvSpPr/>
          <p:nvPr/>
        </p:nvSpPr>
        <p:spPr>
          <a:xfrm>
            <a:off x="7114032" y="4361688"/>
            <a:ext cx="377647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3  环境反馈</a:t>
            </a:r>
            <a:endParaRPr lang="en-US" sz="1750" dirty="0">
              <a:latin typeface="微软雅黑" panose="020B0503020204020204" pitchFamily="34" charset="-122"/>
            </a:endParaRPr>
          </a:p>
        </p:txBody>
      </p:sp>
      <p:sp>
        <p:nvSpPr>
          <p:cNvPr id="17" name="Text 14"/>
          <p:cNvSpPr/>
          <p:nvPr/>
        </p:nvSpPr>
        <p:spPr>
          <a:xfrm>
            <a:off x="7114031" y="4782312"/>
            <a:ext cx="4120659" cy="47548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环境转移到新状态 s′，</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并给出奖励</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 r</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强化学习框架的基本组成</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58368" y="1627632"/>
            <a:ext cx="2523744"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658368" y="1627632"/>
            <a:ext cx="64008" cy="1572768"/>
          </a:xfrm>
          <a:prstGeom prst="rect">
            <a:avLst/>
          </a:prstGeom>
          <a:solidFill>
            <a:srgbClr val="31599B"/>
          </a:solidFill>
          <a:ln w="12700">
            <a:solidFill>
              <a:srgbClr val="31599B"/>
            </a:solidFill>
            <a:prstDash val="solid"/>
          </a:ln>
        </p:spPr>
      </p:sp>
      <p:sp>
        <p:nvSpPr>
          <p:cNvPr id="6" name="Text 4"/>
          <p:cNvSpPr/>
          <p:nvPr/>
        </p:nvSpPr>
        <p:spPr>
          <a:xfrm>
            <a:off x="868680" y="1773936"/>
            <a:ext cx="2139696"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状态 State</a:t>
            </a:r>
            <a:endParaRPr lang="en-US" sz="1750" dirty="0">
              <a:latin typeface="微软雅黑" panose="020B0503020204020204" pitchFamily="34" charset="-122"/>
            </a:endParaRPr>
          </a:p>
        </p:txBody>
      </p:sp>
      <p:sp>
        <p:nvSpPr>
          <p:cNvPr id="7" name="Text 5"/>
          <p:cNvSpPr/>
          <p:nvPr/>
        </p:nvSpPr>
        <p:spPr>
          <a:xfrm>
            <a:off x="868680" y="2194560"/>
            <a:ext cx="2139696" cy="859536"/>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描述环境当前状况</a:t>
            </a:r>
            <a:endParaRPr lang="en-US" dirty="0">
              <a:latin typeface="微软雅黑" panose="020B0503020204020204" pitchFamily="34" charset="-122"/>
            </a:endParaRPr>
          </a:p>
        </p:txBody>
      </p:sp>
      <p:sp>
        <p:nvSpPr>
          <p:cNvPr id="8" name="Shape 6"/>
          <p:cNvSpPr/>
          <p:nvPr/>
        </p:nvSpPr>
        <p:spPr>
          <a:xfrm>
            <a:off x="3447288" y="1627632"/>
            <a:ext cx="2523744"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3447288" y="1627632"/>
            <a:ext cx="64008" cy="1572768"/>
          </a:xfrm>
          <a:prstGeom prst="rect">
            <a:avLst/>
          </a:prstGeom>
          <a:solidFill>
            <a:srgbClr val="2F8E72"/>
          </a:solidFill>
          <a:ln w="12700">
            <a:solidFill>
              <a:srgbClr val="2F8E72"/>
            </a:solidFill>
            <a:prstDash val="solid"/>
          </a:ln>
        </p:spPr>
      </p:sp>
      <p:sp>
        <p:nvSpPr>
          <p:cNvPr id="10" name="Text 8"/>
          <p:cNvSpPr/>
          <p:nvPr/>
        </p:nvSpPr>
        <p:spPr>
          <a:xfrm>
            <a:off x="3657600" y="1773936"/>
            <a:ext cx="2139696"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动作 Action</a:t>
            </a:r>
            <a:endParaRPr lang="en-US" sz="1750" dirty="0">
              <a:latin typeface="微软雅黑" panose="020B0503020204020204" pitchFamily="34" charset="-122"/>
            </a:endParaRPr>
          </a:p>
        </p:txBody>
      </p:sp>
      <p:sp>
        <p:nvSpPr>
          <p:cNvPr id="11" name="Text 9"/>
          <p:cNvSpPr/>
          <p:nvPr/>
        </p:nvSpPr>
        <p:spPr>
          <a:xfrm>
            <a:off x="3657600" y="2194560"/>
            <a:ext cx="2139696" cy="859536"/>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智能体可执行的操作</a:t>
            </a:r>
            <a:endParaRPr lang="en-US" dirty="0">
              <a:latin typeface="微软雅黑" panose="020B0503020204020204" pitchFamily="34" charset="-122"/>
            </a:endParaRPr>
          </a:p>
        </p:txBody>
      </p:sp>
      <p:sp>
        <p:nvSpPr>
          <p:cNvPr id="12" name="Shape 10"/>
          <p:cNvSpPr/>
          <p:nvPr/>
        </p:nvSpPr>
        <p:spPr>
          <a:xfrm>
            <a:off x="6236208" y="1627632"/>
            <a:ext cx="2523744"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6236208" y="1627632"/>
            <a:ext cx="64008" cy="1572768"/>
          </a:xfrm>
          <a:prstGeom prst="rect">
            <a:avLst/>
          </a:prstGeom>
          <a:solidFill>
            <a:srgbClr val="C58A24"/>
          </a:solidFill>
          <a:ln w="12700">
            <a:solidFill>
              <a:srgbClr val="C58A24"/>
            </a:solidFill>
            <a:prstDash val="solid"/>
          </a:ln>
        </p:spPr>
      </p:sp>
      <p:sp>
        <p:nvSpPr>
          <p:cNvPr id="14" name="Text 12"/>
          <p:cNvSpPr/>
          <p:nvPr/>
        </p:nvSpPr>
        <p:spPr>
          <a:xfrm>
            <a:off x="6446520" y="1773936"/>
            <a:ext cx="2139696"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奖励 Reward</a:t>
            </a:r>
            <a:endParaRPr lang="en-US" sz="1750" dirty="0">
              <a:latin typeface="微软雅黑" panose="020B0503020204020204" pitchFamily="34" charset="-122"/>
            </a:endParaRPr>
          </a:p>
        </p:txBody>
      </p:sp>
      <p:sp>
        <p:nvSpPr>
          <p:cNvPr id="15" name="Text 13"/>
          <p:cNvSpPr/>
          <p:nvPr/>
        </p:nvSpPr>
        <p:spPr>
          <a:xfrm>
            <a:off x="6446520" y="2194560"/>
            <a:ext cx="2139696" cy="859536"/>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对行动效果的即时反馈</a:t>
            </a:r>
            <a:endParaRPr lang="en-US" dirty="0">
              <a:latin typeface="微软雅黑" panose="020B0503020204020204" pitchFamily="34" charset="-122"/>
            </a:endParaRPr>
          </a:p>
        </p:txBody>
      </p:sp>
      <p:sp>
        <p:nvSpPr>
          <p:cNvPr id="16" name="Shape 14"/>
          <p:cNvSpPr/>
          <p:nvPr/>
        </p:nvSpPr>
        <p:spPr>
          <a:xfrm>
            <a:off x="9025128" y="1627632"/>
            <a:ext cx="2523744"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9025128" y="1627632"/>
            <a:ext cx="64008" cy="1572768"/>
          </a:xfrm>
          <a:prstGeom prst="rect">
            <a:avLst/>
          </a:prstGeom>
          <a:solidFill>
            <a:srgbClr val="C63F45"/>
          </a:solidFill>
          <a:ln w="12700">
            <a:solidFill>
              <a:srgbClr val="C63F45"/>
            </a:solidFill>
            <a:prstDash val="solid"/>
          </a:ln>
        </p:spPr>
      </p:sp>
      <p:sp>
        <p:nvSpPr>
          <p:cNvPr id="18" name="Text 16"/>
          <p:cNvSpPr/>
          <p:nvPr/>
        </p:nvSpPr>
        <p:spPr>
          <a:xfrm>
            <a:off x="9235440" y="1773936"/>
            <a:ext cx="2139696" cy="329184"/>
          </a:xfrm>
          <a:prstGeom prst="rect">
            <a:avLst/>
          </a:prstGeom>
          <a:noFill/>
          <a:ln/>
        </p:spPr>
        <p:txBody>
          <a:bodyPr wrap="square" lIns="0" tIns="0" rIns="0" bIns="0" rtlCol="0" anchor="ctr">
            <a:normAutofit/>
          </a:bodyPr>
          <a:lstStyle/>
          <a:p>
            <a:pPr marL="0" indent="0">
              <a:buNone/>
            </a:pPr>
            <a:r>
              <a:rPr lang="en-US" sz="1750" b="1" dirty="0">
                <a:solidFill>
                  <a:srgbClr val="C63F45"/>
                </a:solidFill>
                <a:latin typeface="微软雅黑" panose="020B0503020204020204" pitchFamily="34" charset="-122"/>
                <a:ea typeface="微软雅黑" panose="020B0503020204020204" pitchFamily="34" charset="-122"/>
                <a:cs typeface="Noto Sans CJK SC" pitchFamily="34" charset="-120"/>
              </a:rPr>
              <a:t>策略 Policy</a:t>
            </a:r>
            <a:endParaRPr lang="en-US" sz="1750" dirty="0">
              <a:latin typeface="微软雅黑" panose="020B0503020204020204" pitchFamily="34" charset="-122"/>
            </a:endParaRPr>
          </a:p>
        </p:txBody>
      </p:sp>
      <p:sp>
        <p:nvSpPr>
          <p:cNvPr id="19" name="Text 17"/>
          <p:cNvSpPr/>
          <p:nvPr/>
        </p:nvSpPr>
        <p:spPr>
          <a:xfrm>
            <a:off x="9235440" y="2194560"/>
            <a:ext cx="2139696" cy="859536"/>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状态到动作的选择规则</a:t>
            </a:r>
            <a:endParaRPr lang="en-US" dirty="0">
              <a:latin typeface="微软雅黑" panose="020B0503020204020204" pitchFamily="34" charset="-122"/>
            </a:endParaRPr>
          </a:p>
        </p:txBody>
      </p:sp>
      <p:sp>
        <p:nvSpPr>
          <p:cNvPr id="20" name="Shape 18"/>
          <p:cNvSpPr/>
          <p:nvPr/>
        </p:nvSpPr>
        <p:spPr>
          <a:xfrm>
            <a:off x="658368" y="3621024"/>
            <a:ext cx="3291840"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1" name="Shape 19"/>
          <p:cNvSpPr/>
          <p:nvPr/>
        </p:nvSpPr>
        <p:spPr>
          <a:xfrm>
            <a:off x="658368" y="3621024"/>
            <a:ext cx="64008" cy="1572768"/>
          </a:xfrm>
          <a:prstGeom prst="rect">
            <a:avLst/>
          </a:prstGeom>
          <a:solidFill>
            <a:srgbClr val="7558A8"/>
          </a:solidFill>
          <a:ln w="12700">
            <a:solidFill>
              <a:srgbClr val="7558A8"/>
            </a:solidFill>
            <a:prstDash val="solid"/>
          </a:ln>
        </p:spPr>
      </p:sp>
      <p:sp>
        <p:nvSpPr>
          <p:cNvPr id="22" name="Text 20"/>
          <p:cNvSpPr/>
          <p:nvPr/>
        </p:nvSpPr>
        <p:spPr>
          <a:xfrm>
            <a:off x="868680" y="3767328"/>
            <a:ext cx="2907792" cy="329184"/>
          </a:xfrm>
          <a:prstGeom prst="rect">
            <a:avLst/>
          </a:prstGeom>
          <a:noFill/>
          <a:ln/>
        </p:spPr>
        <p:txBody>
          <a:bodyPr wrap="square" lIns="0" tIns="0" rIns="0" bIns="0" rtlCol="0" anchor="ctr">
            <a:normAutofit/>
          </a:bodyPr>
          <a:lstStyle/>
          <a:p>
            <a:pPr marL="0" indent="0">
              <a:buNone/>
            </a:pPr>
            <a:r>
              <a:rPr lang="en-US" sz="1750" b="1" dirty="0">
                <a:solidFill>
                  <a:srgbClr val="7558A8"/>
                </a:solidFill>
                <a:latin typeface="微软雅黑" panose="020B0503020204020204" pitchFamily="34" charset="-122"/>
                <a:ea typeface="微软雅黑" panose="020B0503020204020204" pitchFamily="34" charset="-122"/>
                <a:cs typeface="Noto Sans CJK SC" pitchFamily="34" charset="-120"/>
              </a:rPr>
              <a:t>价值函数 Value</a:t>
            </a:r>
            <a:endParaRPr lang="en-US" sz="1750" dirty="0">
              <a:latin typeface="微软雅黑" panose="020B0503020204020204" pitchFamily="34" charset="-122"/>
            </a:endParaRPr>
          </a:p>
        </p:txBody>
      </p:sp>
      <p:sp>
        <p:nvSpPr>
          <p:cNvPr id="23" name="Text 21"/>
          <p:cNvSpPr/>
          <p:nvPr/>
        </p:nvSpPr>
        <p:spPr>
          <a:xfrm>
            <a:off x="868680" y="4187952"/>
            <a:ext cx="2907792" cy="859536"/>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长期收益的期望</a:t>
            </a:r>
            <a:endParaRPr lang="en-US" sz="1600" dirty="0">
              <a:latin typeface="微软雅黑" panose="020B0503020204020204" pitchFamily="34" charset="-122"/>
            </a:endParaRPr>
          </a:p>
        </p:txBody>
      </p:sp>
      <p:sp>
        <p:nvSpPr>
          <p:cNvPr id="24" name="Shape 22"/>
          <p:cNvSpPr/>
          <p:nvPr/>
        </p:nvSpPr>
        <p:spPr>
          <a:xfrm>
            <a:off x="3447288" y="3621024"/>
            <a:ext cx="3291840"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5" name="Shape 23"/>
          <p:cNvSpPr/>
          <p:nvPr/>
        </p:nvSpPr>
        <p:spPr>
          <a:xfrm>
            <a:off x="3447288" y="3621024"/>
            <a:ext cx="64008" cy="1572768"/>
          </a:xfrm>
          <a:prstGeom prst="rect">
            <a:avLst/>
          </a:prstGeom>
          <a:solidFill>
            <a:srgbClr val="4F73B5"/>
          </a:solidFill>
          <a:ln w="12700">
            <a:solidFill>
              <a:srgbClr val="4F73B5"/>
            </a:solidFill>
            <a:prstDash val="solid"/>
          </a:ln>
        </p:spPr>
      </p:sp>
      <p:sp>
        <p:nvSpPr>
          <p:cNvPr id="26" name="Text 24"/>
          <p:cNvSpPr/>
          <p:nvPr/>
        </p:nvSpPr>
        <p:spPr>
          <a:xfrm>
            <a:off x="3657600" y="3767328"/>
            <a:ext cx="2907792" cy="329184"/>
          </a:xfrm>
          <a:prstGeom prst="rect">
            <a:avLst/>
          </a:prstGeom>
          <a:noFill/>
          <a:ln/>
        </p:spPr>
        <p:txBody>
          <a:bodyPr wrap="square" lIns="0" tIns="0" rIns="0" bIns="0" rtlCol="0" anchor="ctr">
            <a:normAutofit/>
          </a:bodyPr>
          <a:lstStyle/>
          <a:p>
            <a:pPr marL="0" indent="0">
              <a:buNone/>
            </a:pPr>
            <a:r>
              <a:rPr lang="en-US" sz="1750" b="1" dirty="0">
                <a:solidFill>
                  <a:srgbClr val="4F73B5"/>
                </a:solidFill>
                <a:latin typeface="微软雅黑" panose="020B0503020204020204" pitchFamily="34" charset="-122"/>
                <a:ea typeface="微软雅黑" panose="020B0503020204020204" pitchFamily="34" charset="-122"/>
                <a:cs typeface="Noto Sans CJK SC" pitchFamily="34" charset="-120"/>
              </a:rPr>
              <a:t>环境动态 Dynamics</a:t>
            </a:r>
            <a:endParaRPr lang="en-US" sz="1750" dirty="0">
              <a:latin typeface="微软雅黑" panose="020B0503020204020204" pitchFamily="34" charset="-122"/>
            </a:endParaRPr>
          </a:p>
        </p:txBody>
      </p:sp>
      <p:sp>
        <p:nvSpPr>
          <p:cNvPr id="27" name="Text 25"/>
          <p:cNvSpPr/>
          <p:nvPr/>
        </p:nvSpPr>
        <p:spPr>
          <a:xfrm>
            <a:off x="3657600" y="4187952"/>
            <a:ext cx="2907792" cy="859536"/>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状态转移与奖励规律</a:t>
            </a:r>
            <a:endParaRPr lang="en-US" sz="1600" dirty="0">
              <a:latin typeface="微软雅黑" panose="020B0503020204020204" pitchFamily="34" charset="-122"/>
            </a:endParaRPr>
          </a:p>
        </p:txBody>
      </p:sp>
      <p:sp>
        <p:nvSpPr>
          <p:cNvPr id="28" name="Shape 26"/>
          <p:cNvSpPr/>
          <p:nvPr/>
        </p:nvSpPr>
        <p:spPr>
          <a:xfrm>
            <a:off x="6236208" y="3621024"/>
            <a:ext cx="3291840" cy="1572768"/>
          </a:xfrm>
          <a:prstGeom prst="roundRect">
            <a:avLst>
              <a:gd name="adj" fmla="val 290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9" name="Shape 27"/>
          <p:cNvSpPr/>
          <p:nvPr/>
        </p:nvSpPr>
        <p:spPr>
          <a:xfrm>
            <a:off x="6236208" y="3621024"/>
            <a:ext cx="64008" cy="1572768"/>
          </a:xfrm>
          <a:prstGeom prst="rect">
            <a:avLst/>
          </a:prstGeom>
          <a:solidFill>
            <a:srgbClr val="24477D"/>
          </a:solidFill>
          <a:ln w="12700">
            <a:solidFill>
              <a:srgbClr val="24477D"/>
            </a:solidFill>
            <a:prstDash val="solid"/>
          </a:ln>
        </p:spPr>
      </p:sp>
      <p:sp>
        <p:nvSpPr>
          <p:cNvPr id="30" name="Text 28"/>
          <p:cNvSpPr/>
          <p:nvPr/>
        </p:nvSpPr>
        <p:spPr>
          <a:xfrm>
            <a:off x="6446520" y="3767328"/>
            <a:ext cx="2907792" cy="329184"/>
          </a:xfrm>
          <a:prstGeom prst="rect">
            <a:avLst/>
          </a:prstGeom>
          <a:noFill/>
          <a:ln/>
        </p:spPr>
        <p:txBody>
          <a:bodyPr wrap="square" lIns="0" tIns="0" rIns="0" bIns="0" rtlCol="0" anchor="ctr">
            <a:normAutofit/>
          </a:bodyPr>
          <a:lstStyle/>
          <a:p>
            <a:pPr marL="0" indent="0">
              <a:buNone/>
            </a:pPr>
            <a:r>
              <a:rPr lang="en-US" sz="1750" b="1" dirty="0">
                <a:solidFill>
                  <a:srgbClr val="24477D"/>
                </a:solidFill>
                <a:latin typeface="微软雅黑" panose="020B0503020204020204" pitchFamily="34" charset="-122"/>
                <a:ea typeface="微软雅黑" panose="020B0503020204020204" pitchFamily="34" charset="-122"/>
                <a:cs typeface="Noto Sans CJK SC" pitchFamily="34" charset="-120"/>
              </a:rPr>
              <a:t>Episode / Trajectory</a:t>
            </a:r>
            <a:endParaRPr lang="en-US" sz="1750" dirty="0">
              <a:latin typeface="微软雅黑" panose="020B0503020204020204" pitchFamily="34" charset="-122"/>
            </a:endParaRPr>
          </a:p>
        </p:txBody>
      </p:sp>
      <p:sp>
        <p:nvSpPr>
          <p:cNvPr id="31" name="Text 29"/>
          <p:cNvSpPr/>
          <p:nvPr/>
        </p:nvSpPr>
        <p:spPr>
          <a:xfrm>
            <a:off x="6446520" y="4187952"/>
            <a:ext cx="2907792" cy="859536"/>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一段完整交互及其经验序列</a:t>
            </a:r>
            <a:endParaRPr lang="en-US" sz="1600" dirty="0">
              <a:latin typeface="微软雅黑" panose="020B0503020204020204" pitchFamily="34" charset="-122"/>
            </a:endParaRPr>
          </a:p>
        </p:txBody>
      </p:sp>
      <p:sp>
        <p:nvSpPr>
          <p:cNvPr id="32"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状态与动作：描述“在哪里”与“做什么”</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91640"/>
            <a:ext cx="5166360" cy="3337560"/>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91640"/>
            <a:ext cx="64008" cy="3337560"/>
          </a:xfrm>
          <a:prstGeom prst="rect">
            <a:avLst/>
          </a:prstGeom>
          <a:solidFill>
            <a:srgbClr val="31599B"/>
          </a:solidFill>
          <a:ln w="12700">
            <a:solidFill>
              <a:srgbClr val="31599B"/>
            </a:solidFill>
            <a:prstDash val="solid"/>
          </a:ln>
        </p:spPr>
      </p:sp>
      <p:sp>
        <p:nvSpPr>
          <p:cNvPr id="6" name="Text 4"/>
          <p:cNvSpPr/>
          <p:nvPr/>
        </p:nvSpPr>
        <p:spPr>
          <a:xfrm>
            <a:off x="987552" y="1837944"/>
            <a:ext cx="478231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状态 State</a:t>
            </a:r>
            <a:endParaRPr lang="en-US" sz="2400" dirty="0">
              <a:latin typeface="微软雅黑" panose="020B0503020204020204" pitchFamily="34" charset="-122"/>
            </a:endParaRPr>
          </a:p>
        </p:txBody>
      </p:sp>
      <p:sp>
        <p:nvSpPr>
          <p:cNvPr id="7" name="Text 5"/>
          <p:cNvSpPr/>
          <p:nvPr/>
        </p:nvSpPr>
        <p:spPr>
          <a:xfrm>
            <a:off x="987552" y="2382856"/>
            <a:ext cx="4782312" cy="149224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记为</a:t>
            </a: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s∈S，其中</a:t>
            </a: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S </a:t>
            </a: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是状态空间。状态既可以是离散型，例如棋局布局；也可以是连续型，例如机器人位置坐标</a:t>
            </a: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Shape 6"/>
          <p:cNvSpPr/>
          <p:nvPr/>
        </p:nvSpPr>
        <p:spPr>
          <a:xfrm>
            <a:off x="6236208" y="1691640"/>
            <a:ext cx="5166360" cy="3337560"/>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236208" y="1691640"/>
            <a:ext cx="64008" cy="3337560"/>
          </a:xfrm>
          <a:prstGeom prst="rect">
            <a:avLst/>
          </a:prstGeom>
          <a:solidFill>
            <a:srgbClr val="2F8E72"/>
          </a:solidFill>
          <a:ln w="12700">
            <a:solidFill>
              <a:srgbClr val="2F8E72"/>
            </a:solidFill>
            <a:prstDash val="solid"/>
          </a:ln>
        </p:spPr>
      </p:sp>
      <p:sp>
        <p:nvSpPr>
          <p:cNvPr id="10" name="Text 8"/>
          <p:cNvSpPr/>
          <p:nvPr/>
        </p:nvSpPr>
        <p:spPr>
          <a:xfrm>
            <a:off x="6446520" y="1837944"/>
            <a:ext cx="478231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动作 Action</a:t>
            </a:r>
            <a:endParaRPr lang="en-US" sz="2400" dirty="0">
              <a:latin typeface="微软雅黑" panose="020B0503020204020204" pitchFamily="34" charset="-122"/>
            </a:endParaRPr>
          </a:p>
        </p:txBody>
      </p:sp>
      <p:sp>
        <p:nvSpPr>
          <p:cNvPr id="11" name="Text 9"/>
          <p:cNvSpPr/>
          <p:nvPr/>
        </p:nvSpPr>
        <p:spPr>
          <a:xfrm>
            <a:off x="6446520" y="2417256"/>
            <a:ext cx="4782312" cy="1310255"/>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记为 a∈A，其中 A 是动作空间。动作描述智能体在当前状态下可执行的操作。</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Text 10"/>
          <p:cNvSpPr/>
          <p:nvPr/>
        </p:nvSpPr>
        <p:spPr>
          <a:xfrm>
            <a:off x="1143000" y="5376672"/>
            <a:ext cx="9875520" cy="384048"/>
          </a:xfrm>
          <a:prstGeom prst="rect">
            <a:avLst/>
          </a:prstGeom>
          <a:noFill/>
          <a:ln/>
        </p:spPr>
        <p:txBody>
          <a:bodyPr wrap="square" lIns="0" tIns="0" rIns="0" bIns="0" rtlCol="0" anchor="ctr"/>
          <a:lstStyle/>
          <a:p>
            <a:pPr marL="0" indent="0" algn="ctr">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状态空间与动作空间的形式，直接影响后续算法表示与求解方式。</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奖励Reward</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5074920" cy="1938528"/>
          </a:xfrm>
          <a:prstGeom prst="roundRect">
            <a:avLst>
              <a:gd name="adj" fmla="val 235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13232" y="1627632"/>
            <a:ext cx="64008" cy="1938528"/>
          </a:xfrm>
          <a:prstGeom prst="rect">
            <a:avLst/>
          </a:prstGeom>
          <a:solidFill>
            <a:srgbClr val="C58A24"/>
          </a:solidFill>
          <a:ln w="12700">
            <a:solidFill>
              <a:srgbClr val="C58A24"/>
            </a:solidFill>
            <a:prstDash val="solid"/>
          </a:ln>
        </p:spPr>
      </p:sp>
      <p:sp>
        <p:nvSpPr>
          <p:cNvPr id="6" name="Text 4"/>
          <p:cNvSpPr/>
          <p:nvPr/>
        </p:nvSpPr>
        <p:spPr>
          <a:xfrm>
            <a:off x="923544" y="1773936"/>
            <a:ext cx="46908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即时奖励</a:t>
            </a:r>
            <a:endParaRPr lang="en-US" sz="2400" dirty="0">
              <a:latin typeface="微软雅黑" panose="020B0503020204020204" pitchFamily="34" charset="-122"/>
            </a:endParaRPr>
          </a:p>
        </p:txBody>
      </p:sp>
      <p:sp>
        <p:nvSpPr>
          <p:cNvPr id="7" name="Text 5"/>
          <p:cNvSpPr/>
          <p:nvPr/>
        </p:nvSpPr>
        <p:spPr>
          <a:xfrm>
            <a:off x="923544" y="2194560"/>
            <a:ext cx="4690872" cy="122529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奖励反馈值记为 r。若只依赖状态和动作，可写为 r(s,a)；若还与后续状态有关，可写为 r(s,a,s′)。</a:t>
            </a:r>
            <a:endParaRPr lang="en-US" sz="2400" dirty="0">
              <a:latin typeface="微软雅黑" panose="020B0503020204020204" pitchFamily="34" charset="-122"/>
            </a:endParaRPr>
          </a:p>
        </p:txBody>
      </p:sp>
      <p:sp>
        <p:nvSpPr>
          <p:cNvPr id="8" name="Shape 6"/>
          <p:cNvSpPr/>
          <p:nvPr/>
        </p:nvSpPr>
        <p:spPr>
          <a:xfrm>
            <a:off x="6053328" y="1627632"/>
            <a:ext cx="5074920" cy="1938528"/>
          </a:xfrm>
          <a:prstGeom prst="roundRect">
            <a:avLst>
              <a:gd name="adj" fmla="val 235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053328" y="1627632"/>
            <a:ext cx="64008" cy="1938528"/>
          </a:xfrm>
          <a:prstGeom prst="rect">
            <a:avLst/>
          </a:prstGeom>
          <a:solidFill>
            <a:srgbClr val="C63F45"/>
          </a:solidFill>
          <a:ln w="12700">
            <a:solidFill>
              <a:srgbClr val="C63F45"/>
            </a:solidFill>
            <a:prstDash val="solid"/>
          </a:ln>
        </p:spPr>
      </p:sp>
      <p:sp>
        <p:nvSpPr>
          <p:cNvPr id="10" name="Text 8"/>
          <p:cNvSpPr/>
          <p:nvPr/>
        </p:nvSpPr>
        <p:spPr>
          <a:xfrm>
            <a:off x="6263640" y="1773936"/>
            <a:ext cx="46908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奖励的困难</a:t>
            </a:r>
            <a:endParaRPr lang="en-US" sz="2400" dirty="0">
              <a:latin typeface="微软雅黑" panose="020B0503020204020204" pitchFamily="34" charset="-122"/>
            </a:endParaRPr>
          </a:p>
        </p:txBody>
      </p:sp>
      <p:sp>
        <p:nvSpPr>
          <p:cNvPr id="11" name="Text 9"/>
          <p:cNvSpPr/>
          <p:nvPr/>
        </p:nvSpPr>
        <p:spPr>
          <a:xfrm>
            <a:off x="6263640" y="2194560"/>
            <a:ext cx="4690872" cy="122529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奖励可能稀缺或滞后，因此智能体需要借助价值函数判断当前动作对长远收益的影响。</a:t>
            </a:r>
            <a:endParaRPr lang="en-US" sz="2400" dirty="0">
              <a:latin typeface="微软雅黑" panose="020B0503020204020204" pitchFamily="34" charset="-122"/>
            </a:endParaRPr>
          </a:p>
        </p:txBody>
      </p:sp>
      <p:sp>
        <p:nvSpPr>
          <p:cNvPr id="12" name="Shape 10"/>
          <p:cNvSpPr/>
          <p:nvPr/>
        </p:nvSpPr>
        <p:spPr>
          <a:xfrm>
            <a:off x="1920239" y="3977639"/>
            <a:ext cx="8715209" cy="1735141"/>
          </a:xfrm>
          <a:prstGeom prst="roundRect">
            <a:avLst/>
          </a:prstGeom>
          <a:solidFill>
            <a:srgbClr val="FFFFFF"/>
          </a:solidFill>
          <a:ln w="12700">
            <a:solidFill>
              <a:srgbClr val="D6DCE6"/>
            </a:solidFill>
            <a:prstDash val="solid"/>
          </a:ln>
        </p:spPr>
      </p:sp>
      <p:pic>
        <p:nvPicPr>
          <p:cNvPr id="13" name="Image 0" descr="/mnt/data/ch3_formula_clean/eq-return.png"/>
          <p:cNvPicPr>
            <a:picLocks noChangeAspect="1"/>
          </p:cNvPicPr>
          <p:nvPr/>
        </p:nvPicPr>
        <p:blipFill>
          <a:blip r:embed="rId3"/>
          <a:srcRect l="35840" r="36441"/>
          <a:stretch>
            <a:fillRect/>
          </a:stretch>
        </p:blipFill>
        <p:spPr>
          <a:xfrm>
            <a:off x="3235911" y="4211301"/>
            <a:ext cx="1833239" cy="1192181"/>
          </a:xfrm>
          <a:prstGeom prst="rect">
            <a:avLst/>
          </a:prstGeom>
        </p:spPr>
      </p:pic>
      <p:sp>
        <p:nvSpPr>
          <p:cNvPr id="14" name="Text 11"/>
          <p:cNvSpPr/>
          <p:nvPr/>
        </p:nvSpPr>
        <p:spPr>
          <a:xfrm>
            <a:off x="5535227" y="4610839"/>
            <a:ext cx="4966168" cy="256032"/>
          </a:xfrm>
          <a:prstGeom prst="rect">
            <a:avLst/>
          </a:prstGeom>
          <a:noFill/>
          <a:ln/>
        </p:spPr>
        <p:txBody>
          <a:bodyPr wrap="square" lIns="0" tIns="0" rIns="0" bIns="0" rtlCol="0" anchor="ctr"/>
          <a:lstStyle/>
          <a:p>
            <a:pPr marL="0" indent="0">
              <a:buNone/>
            </a:pPr>
            <a:r>
              <a:rPr lang="en-US" sz="2400" dirty="0">
                <a:latin typeface="微软雅黑" panose="020B0503020204020204" pitchFamily="34" charset="-122"/>
                <a:ea typeface="微软雅黑" panose="020B0503020204020204" pitchFamily="34" charset="-122"/>
                <a:cs typeface="Noto Sans CJK SC" pitchFamily="34" charset="-120"/>
              </a:rPr>
              <a:t>折扣回报：γ∈[0,1] 为折扣因子</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策略 Policy：智能体“如何选择动作”</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pSp>
        <p:nvGrpSpPr>
          <p:cNvPr id="13" name="组合 12">
            <a:extLst>
              <a:ext uri="{FF2B5EF4-FFF2-40B4-BE49-F238E27FC236}">
                <a16:creationId xmlns:a16="http://schemas.microsoft.com/office/drawing/2014/main" id="{1983F888-1BD4-0931-624C-84A9FB111C18}"/>
              </a:ext>
            </a:extLst>
          </p:cNvPr>
          <p:cNvGrpSpPr/>
          <p:nvPr/>
        </p:nvGrpSpPr>
        <p:grpSpPr>
          <a:xfrm>
            <a:off x="841248" y="2579407"/>
            <a:ext cx="5074920" cy="2090247"/>
            <a:chOff x="777240" y="1691640"/>
            <a:chExt cx="5074920" cy="3520440"/>
          </a:xfrm>
        </p:grpSpPr>
        <p:sp>
          <p:nvSpPr>
            <p:cNvPr id="4" name="Shape 2"/>
            <p:cNvSpPr/>
            <p:nvPr/>
          </p:nvSpPr>
          <p:spPr>
            <a:xfrm>
              <a:off x="777240" y="1691640"/>
              <a:ext cx="5074920" cy="3520440"/>
            </a:xfrm>
            <a:prstGeom prst="roundRect">
              <a:avLst>
                <a:gd name="adj" fmla="val 12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91640"/>
              <a:ext cx="64008" cy="3520440"/>
            </a:xfrm>
            <a:prstGeom prst="rect">
              <a:avLst/>
            </a:prstGeom>
            <a:solidFill>
              <a:srgbClr val="31599B"/>
            </a:solidFill>
            <a:ln w="12700">
              <a:solidFill>
                <a:srgbClr val="31599B"/>
              </a:solidFill>
              <a:prstDash val="solid"/>
            </a:ln>
          </p:spPr>
        </p:sp>
      </p:grpSp>
      <p:sp>
        <p:nvSpPr>
          <p:cNvPr id="6" name="Text 4"/>
          <p:cNvSpPr/>
          <p:nvPr/>
        </p:nvSpPr>
        <p:spPr>
          <a:xfrm>
            <a:off x="1051560" y="2725711"/>
            <a:ext cx="46908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随机型策略</a:t>
            </a:r>
            <a:endParaRPr lang="en-US" sz="2000" dirty="0">
              <a:latin typeface="微软雅黑" panose="020B0503020204020204" pitchFamily="34" charset="-122"/>
            </a:endParaRPr>
          </a:p>
        </p:txBody>
      </p:sp>
      <p:sp>
        <p:nvSpPr>
          <p:cNvPr id="7" name="Text 5"/>
          <p:cNvSpPr/>
          <p:nvPr/>
        </p:nvSpPr>
        <p:spPr>
          <a:xfrm>
            <a:off x="1100387" y="3337205"/>
            <a:ext cx="4690872" cy="711013"/>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策略以概率形式给出动作选择，可记为 π(a|s)。</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在相同状态下可能选择不同动作</a:t>
            </a:r>
            <a:endParaRPr lang="en-US" sz="2000" dirty="0">
              <a:latin typeface="微软雅黑" panose="020B0503020204020204" pitchFamily="34" charset="-122"/>
            </a:endParaRPr>
          </a:p>
        </p:txBody>
      </p:sp>
      <p:grpSp>
        <p:nvGrpSpPr>
          <p:cNvPr id="14" name="组合 13">
            <a:extLst>
              <a:ext uri="{FF2B5EF4-FFF2-40B4-BE49-F238E27FC236}">
                <a16:creationId xmlns:a16="http://schemas.microsoft.com/office/drawing/2014/main" id="{CB057D44-D314-FD34-6890-E1FA4F66ACE3}"/>
              </a:ext>
            </a:extLst>
          </p:cNvPr>
          <p:cNvGrpSpPr/>
          <p:nvPr/>
        </p:nvGrpSpPr>
        <p:grpSpPr>
          <a:xfrm>
            <a:off x="6236208" y="2579407"/>
            <a:ext cx="5074920" cy="2090247"/>
            <a:chOff x="6172200" y="1691640"/>
            <a:chExt cx="5074920" cy="3520440"/>
          </a:xfrm>
        </p:grpSpPr>
        <p:sp>
          <p:nvSpPr>
            <p:cNvPr id="8" name="Shape 6"/>
            <p:cNvSpPr/>
            <p:nvPr/>
          </p:nvSpPr>
          <p:spPr>
            <a:xfrm>
              <a:off x="6172200" y="1691640"/>
              <a:ext cx="5074920" cy="3520440"/>
            </a:xfrm>
            <a:prstGeom prst="roundRect">
              <a:avLst>
                <a:gd name="adj" fmla="val 12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91640"/>
              <a:ext cx="64008" cy="3520440"/>
            </a:xfrm>
            <a:prstGeom prst="rect">
              <a:avLst/>
            </a:prstGeom>
            <a:solidFill>
              <a:srgbClr val="2F8E72"/>
            </a:solidFill>
            <a:ln w="12700">
              <a:solidFill>
                <a:srgbClr val="2F8E72"/>
              </a:solidFill>
              <a:prstDash val="solid"/>
            </a:ln>
          </p:spPr>
        </p:sp>
      </p:grpSp>
      <p:sp>
        <p:nvSpPr>
          <p:cNvPr id="10" name="Text 8"/>
          <p:cNvSpPr/>
          <p:nvPr/>
        </p:nvSpPr>
        <p:spPr>
          <a:xfrm>
            <a:off x="6446520" y="2725711"/>
            <a:ext cx="46908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确定型策略</a:t>
            </a:r>
            <a:endParaRPr lang="en-US" sz="2000" dirty="0">
              <a:latin typeface="微软雅黑" panose="020B0503020204020204" pitchFamily="34" charset="-122"/>
            </a:endParaRPr>
          </a:p>
        </p:txBody>
      </p:sp>
      <p:sp>
        <p:nvSpPr>
          <p:cNvPr id="11" name="Text 9"/>
          <p:cNvSpPr/>
          <p:nvPr/>
        </p:nvSpPr>
        <p:spPr>
          <a:xfrm>
            <a:off x="6460236" y="3279233"/>
            <a:ext cx="4690872" cy="711013"/>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策略直接给出动作，可记为 π(s)。</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在同一状态下输出确定的动作</a:t>
            </a:r>
            <a:endParaRPr lang="en-US" sz="2000" dirty="0">
              <a:latin typeface="微软雅黑" panose="020B0503020204020204" pitchFamily="34" charset="-122"/>
            </a:endParaRPr>
          </a:p>
        </p:txBody>
      </p:sp>
      <p:sp>
        <p:nvSpPr>
          <p:cNvPr id="12" name="Text 10"/>
          <p:cNvSpPr/>
          <p:nvPr/>
        </p:nvSpPr>
        <p:spPr>
          <a:xfrm>
            <a:off x="685800" y="6144768"/>
            <a:ext cx="10698480" cy="329184"/>
          </a:xfrm>
          <a:prstGeom prst="rect">
            <a:avLst/>
          </a:prstGeom>
          <a:noFill/>
          <a:ln/>
        </p:spPr>
        <p:txBody>
          <a:bodyPr wrap="square" lIns="0" tIns="0" rIns="0" bIns="0" rtlCol="0" anchor="ctr">
            <a:normAutofit/>
          </a:bodyPr>
          <a:lstStyle/>
          <a:p>
            <a:pPr marL="0" indent="0" algn="ctr">
              <a:buNone/>
            </a:pPr>
            <a:endParaRPr lang="en-US" sz="11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13</a:t>
            </a:fld>
            <a:endParaRPr lang="en-US" dirty="0">
              <a:latin typeface="微软雅黑" panose="020B0503020204020204" pitchFamily="34" charset="-122"/>
              <a:ea typeface="微软雅黑" panose="020B0503020204020204" pitchFamily="34" charset="-122"/>
            </a:endParaRPr>
          </a:p>
        </p:txBody>
      </p:sp>
      <p:sp>
        <p:nvSpPr>
          <p:cNvPr id="16" name="Text 2">
            <a:extLst>
              <a:ext uri="{FF2B5EF4-FFF2-40B4-BE49-F238E27FC236}">
                <a16:creationId xmlns:a16="http://schemas.microsoft.com/office/drawing/2014/main" id="{E438A179-2D9D-9808-C5F5-36D97028F41A}"/>
              </a:ext>
            </a:extLst>
          </p:cNvPr>
          <p:cNvSpPr/>
          <p:nvPr/>
        </p:nvSpPr>
        <p:spPr>
          <a:xfrm>
            <a:off x="731520" y="1650492"/>
            <a:ext cx="10607040" cy="475488"/>
          </a:xfrm>
          <a:prstGeom prst="rect">
            <a:avLst/>
          </a:prstGeom>
          <a:noFill/>
          <a:ln/>
        </p:spPr>
        <p:txBody>
          <a:bodyPr wrap="square" lIns="0" tIns="0" rIns="0" bIns="0" rtlCol="0" anchor="ctr"/>
          <a:lstStyle/>
          <a:p>
            <a:pPr marL="0" indent="0" algn="ctr">
              <a:buNone/>
            </a:pP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策略可以采用确定形式（</a:t>
            </a: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Deterministic）</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或概率形式（</a:t>
            </a: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Stochastic）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价值函数：从“即时奖励”走向“预期长期收益”</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pSp>
        <p:nvGrpSpPr>
          <p:cNvPr id="14" name="组合 13">
            <a:extLst>
              <a:ext uri="{FF2B5EF4-FFF2-40B4-BE49-F238E27FC236}">
                <a16:creationId xmlns:a16="http://schemas.microsoft.com/office/drawing/2014/main" id="{C3AC3407-CB2A-3677-4EA9-4F12A8D6A440}"/>
              </a:ext>
            </a:extLst>
          </p:cNvPr>
          <p:cNvGrpSpPr/>
          <p:nvPr/>
        </p:nvGrpSpPr>
        <p:grpSpPr>
          <a:xfrm>
            <a:off x="758952" y="2160015"/>
            <a:ext cx="5074920" cy="1801368"/>
            <a:chOff x="731520" y="1627632"/>
            <a:chExt cx="5074920" cy="3310128"/>
          </a:xfrm>
        </p:grpSpPr>
        <p:sp>
          <p:nvSpPr>
            <p:cNvPr id="4" name="Shape 2"/>
            <p:cNvSpPr/>
            <p:nvPr/>
          </p:nvSpPr>
          <p:spPr>
            <a:xfrm>
              <a:off x="731520" y="1627632"/>
              <a:ext cx="5074920" cy="3310128"/>
            </a:xfrm>
            <a:prstGeom prst="roundRect">
              <a:avLst>
                <a:gd name="adj" fmla="val 138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31520" y="1627632"/>
              <a:ext cx="64008" cy="3310128"/>
            </a:xfrm>
            <a:prstGeom prst="rect">
              <a:avLst/>
            </a:prstGeom>
            <a:solidFill>
              <a:srgbClr val="31599B"/>
            </a:solidFill>
            <a:ln w="12700">
              <a:solidFill>
                <a:srgbClr val="31599B"/>
              </a:solidFill>
              <a:prstDash val="solid"/>
            </a:ln>
          </p:spPr>
        </p:sp>
      </p:grpSp>
      <p:sp>
        <p:nvSpPr>
          <p:cNvPr id="6" name="Text 4"/>
          <p:cNvSpPr/>
          <p:nvPr/>
        </p:nvSpPr>
        <p:spPr>
          <a:xfrm>
            <a:off x="969264" y="2306319"/>
            <a:ext cx="46908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状态价值函数 V</a:t>
            </a:r>
            <a:r>
              <a:rPr lang="en-US" sz="2000" b="1" baseline="30000" dirty="0">
                <a:solidFill>
                  <a:srgbClr val="31599B"/>
                </a:solidFill>
                <a:latin typeface="微软雅黑" panose="020B0503020204020204" pitchFamily="34" charset="-122"/>
                <a:ea typeface="微软雅黑" panose="020B0503020204020204" pitchFamily="34" charset="-122"/>
                <a:cs typeface="Noto Sans CJK SC" pitchFamily="34" charset="-120"/>
              </a:rPr>
              <a:t>π</a:t>
            </a: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(s)</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969264" y="2930142"/>
            <a:ext cx="4690872" cy="93472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衡量在状态 s 下遵循策略 π 时，未来能够获得的累积奖励期望。</a:t>
            </a:r>
            <a:endParaRPr lang="en-US" sz="2000" dirty="0">
              <a:latin typeface="微软雅黑" panose="020B0503020204020204" pitchFamily="34" charset="-122"/>
            </a:endParaRPr>
          </a:p>
        </p:txBody>
      </p:sp>
      <p:grpSp>
        <p:nvGrpSpPr>
          <p:cNvPr id="13" name="组合 12">
            <a:extLst>
              <a:ext uri="{FF2B5EF4-FFF2-40B4-BE49-F238E27FC236}">
                <a16:creationId xmlns:a16="http://schemas.microsoft.com/office/drawing/2014/main" id="{3CF98634-8E99-1BEA-65B0-B764D91BEF3F}"/>
              </a:ext>
            </a:extLst>
          </p:cNvPr>
          <p:cNvGrpSpPr/>
          <p:nvPr/>
        </p:nvGrpSpPr>
        <p:grpSpPr>
          <a:xfrm>
            <a:off x="6153912" y="2160015"/>
            <a:ext cx="5074920" cy="1801368"/>
            <a:chOff x="6126480" y="1627632"/>
            <a:chExt cx="5074920" cy="3310128"/>
          </a:xfrm>
        </p:grpSpPr>
        <p:sp>
          <p:nvSpPr>
            <p:cNvPr id="8" name="Shape 6"/>
            <p:cNvSpPr/>
            <p:nvPr/>
          </p:nvSpPr>
          <p:spPr>
            <a:xfrm>
              <a:off x="6126480" y="1627632"/>
              <a:ext cx="5074920" cy="3310128"/>
            </a:xfrm>
            <a:prstGeom prst="roundRect">
              <a:avLst>
                <a:gd name="adj" fmla="val 138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26480" y="1627632"/>
              <a:ext cx="64008" cy="3310128"/>
            </a:xfrm>
            <a:prstGeom prst="rect">
              <a:avLst/>
            </a:prstGeom>
            <a:solidFill>
              <a:srgbClr val="2F8E72"/>
            </a:solidFill>
            <a:ln w="12700">
              <a:solidFill>
                <a:srgbClr val="2F8E72"/>
              </a:solidFill>
              <a:prstDash val="solid"/>
            </a:ln>
          </p:spPr>
        </p:sp>
      </p:grpSp>
      <p:sp>
        <p:nvSpPr>
          <p:cNvPr id="10" name="Text 8"/>
          <p:cNvSpPr/>
          <p:nvPr/>
        </p:nvSpPr>
        <p:spPr>
          <a:xfrm>
            <a:off x="6364224" y="2306319"/>
            <a:ext cx="46908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动作价值函数 Q</a:t>
            </a:r>
            <a:r>
              <a:rPr lang="en-US" sz="2000" b="1" baseline="30000" dirty="0">
                <a:solidFill>
                  <a:srgbClr val="2F8E72"/>
                </a:solidFill>
                <a:latin typeface="微软雅黑" panose="020B0503020204020204" pitchFamily="34" charset="-122"/>
                <a:ea typeface="微软雅黑" panose="020B0503020204020204" pitchFamily="34" charset="-122"/>
                <a:cs typeface="Noto Sans CJK SC" pitchFamily="34" charset="-120"/>
              </a:rPr>
              <a:t>π</a:t>
            </a: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(s,a)</a:t>
            </a:r>
            <a:endParaRPr lang="en-US" sz="2000" dirty="0">
              <a:latin typeface="微软雅黑" panose="020B0503020204020204" pitchFamily="34" charset="-122"/>
            </a:endParaRPr>
          </a:p>
        </p:txBody>
      </p:sp>
      <p:sp>
        <p:nvSpPr>
          <p:cNvPr id="11" name="Text 9"/>
          <p:cNvSpPr/>
          <p:nvPr/>
        </p:nvSpPr>
        <p:spPr>
          <a:xfrm>
            <a:off x="6420104" y="2885439"/>
            <a:ext cx="4690872" cy="92964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在状态 s 下先采取动作 a，再遵循策略 π 时，未来能够获得的累积奖励期望。</a:t>
            </a:r>
            <a:endParaRPr lang="en-US" sz="2000" dirty="0">
              <a:latin typeface="微软雅黑" panose="020B0503020204020204" pitchFamily="34" charset="-122"/>
            </a:endParaRPr>
          </a:p>
        </p:txBody>
      </p:sp>
      <p:sp>
        <p:nvSpPr>
          <p:cNvPr id="12" name="Text 10"/>
          <p:cNvSpPr/>
          <p:nvPr/>
        </p:nvSpPr>
        <p:spPr>
          <a:xfrm>
            <a:off x="1061720" y="4917440"/>
            <a:ext cx="9875520" cy="384048"/>
          </a:xfrm>
          <a:prstGeom prst="rect">
            <a:avLst/>
          </a:prstGeom>
          <a:noFill/>
          <a:ln/>
        </p:spPr>
        <p:txBody>
          <a:bodyPr wrap="square" lIns="0" tIns="0" rIns="0" bIns="0" rtlCol="0" anchor="ctr"/>
          <a:lstStyle/>
          <a:p>
            <a:pPr marL="0" indent="0" algn="ctr">
              <a:buNone/>
            </a:pPr>
            <a:r>
              <a:rPr lang="en-US" sz="2800" b="1" dirty="0" err="1">
                <a:solidFill>
                  <a:srgbClr val="C63F45"/>
                </a:solidFill>
                <a:latin typeface="微软雅黑" panose="020B0503020204020204" pitchFamily="34" charset="-122"/>
                <a:ea typeface="微软雅黑" panose="020B0503020204020204" pitchFamily="34" charset="-122"/>
                <a:cs typeface="Noto Sans CJK SC" pitchFamily="34" charset="-120"/>
              </a:rPr>
              <a:t>回答：当前选择会给长期收益带来什么影响</a:t>
            </a: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a:t>
            </a:r>
            <a:endParaRPr lang="en-US" sz="28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Times New Roman" panose="02020603050405020304" pitchFamily="18" charset="0"/>
                <a:ea typeface="微软雅黑" panose="020B0503020204020204" pitchFamily="34" charset="-122"/>
                <a:cs typeface="Times New Roman" panose="02020603050405020304" pitchFamily="18" charset="0"/>
              </a:rPr>
              <a:t>状态价值函数 V</a:t>
            </a:r>
            <a:r>
              <a:rPr lang="en-US" sz="3500" b="1" baseline="30000" dirty="0">
                <a:solidFill>
                  <a:srgbClr val="24477D"/>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sz="3500" b="1" dirty="0">
                <a:solidFill>
                  <a:srgbClr val="24477D"/>
                </a:solidFill>
                <a:latin typeface="Times New Roman" panose="02020603050405020304" pitchFamily="18" charset="0"/>
                <a:ea typeface="微软雅黑" panose="020B0503020204020204" pitchFamily="34" charset="-122"/>
                <a:cs typeface="Times New Roman" panose="02020603050405020304" pitchFamily="18" charset="0"/>
              </a:rPr>
              <a:t>(s)</a:t>
            </a:r>
            <a:endParaRPr lang="en-US" sz="35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639699" y="1529193"/>
            <a:ext cx="5303520" cy="256032"/>
          </a:xfrm>
          <a:prstGeom prst="rect">
            <a:avLst/>
          </a:prstGeom>
          <a:noFill/>
          <a:ln/>
        </p:spPr>
        <p:txBody>
          <a:bodyPr wrap="square" lIns="0" tIns="0" rIns="0" bIns="0" rtlCol="0" anchor="ctr"/>
          <a:lstStyle/>
          <a:p>
            <a:pPr marL="0" indent="0">
              <a:buNone/>
            </a:pPr>
            <a:r>
              <a:rPr lang="en-US" sz="2800" b="1" dirty="0">
                <a:solidFill>
                  <a:srgbClr val="4F73B5"/>
                </a:solidFill>
                <a:latin typeface="Times New Roman" panose="02020603050405020304" pitchFamily="18" charset="0"/>
                <a:ea typeface="微软雅黑" panose="020B0503020204020204" pitchFamily="34" charset="-122"/>
                <a:cs typeface="Times New Roman" panose="02020603050405020304" pitchFamily="18" charset="0"/>
              </a:rPr>
              <a:t>3.1.1 概念</a:t>
            </a:r>
            <a:endParaRPr 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92480" y="2015140"/>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状态价值函数对“从状态 s 出发并遵循策略 π”后的折扣回报取期望。</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Shape 4"/>
          <p:cNvSpPr/>
          <p:nvPr/>
        </p:nvSpPr>
        <p:spPr>
          <a:xfrm>
            <a:off x="2065020" y="2792635"/>
            <a:ext cx="7635240" cy="1268666"/>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1.png"/>
          <p:cNvPicPr>
            <a:picLocks noChangeAspect="1"/>
          </p:cNvPicPr>
          <p:nvPr/>
        </p:nvPicPr>
        <p:blipFill>
          <a:blip r:embed="rId3"/>
          <a:srcRect l="32944" t="12308" r="32585"/>
          <a:stretch>
            <a:fillRect/>
          </a:stretch>
        </p:blipFill>
        <p:spPr>
          <a:xfrm>
            <a:off x="4094480" y="2958750"/>
            <a:ext cx="3576320" cy="1042415"/>
          </a:xfrm>
          <a:prstGeom prst="rect">
            <a:avLst/>
          </a:prstGeom>
        </p:spPr>
      </p:pic>
      <p:sp>
        <p:nvSpPr>
          <p:cNvPr id="13" name="Shape 10"/>
          <p:cNvSpPr/>
          <p:nvPr/>
        </p:nvSpPr>
        <p:spPr>
          <a:xfrm>
            <a:off x="713232" y="5431536"/>
            <a:ext cx="10716768" cy="90525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7260" y="5504688"/>
            <a:ext cx="10241280"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把未来多个时间步的奖励压缩为当前状态的长期价值</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Times New Roman" panose="02020603050405020304" pitchFamily="18" charset="0"/>
                <a:ea typeface="微软雅黑" panose="020B0503020204020204" pitchFamily="34" charset="-122"/>
                <a:cs typeface="Times New Roman" panose="02020603050405020304" pitchFamily="18" charset="0"/>
              </a:rPr>
              <a:t>15</a:t>
            </a:fld>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6">
            <a:extLst>
              <a:ext uri="{FF2B5EF4-FFF2-40B4-BE49-F238E27FC236}">
                <a16:creationId xmlns:a16="http://schemas.microsoft.com/office/drawing/2014/main" id="{0EC16F0F-DC03-B1A0-777E-94507B6148E2}"/>
              </a:ext>
            </a:extLst>
          </p:cNvPr>
          <p:cNvSpPr/>
          <p:nvPr/>
        </p:nvSpPr>
        <p:spPr>
          <a:xfrm>
            <a:off x="639699" y="4506471"/>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Times New Roman" panose="02020603050405020304" pitchFamily="18" charset="0"/>
                <a:ea typeface="微软雅黑" panose="020B0503020204020204" pitchFamily="34" charset="-122"/>
                <a:cs typeface="Times New Roman" panose="02020603050405020304" pitchFamily="18" charset="0"/>
              </a:rPr>
              <a:t>符号意义</a:t>
            </a:r>
            <a:r>
              <a:rPr lang="zh-CN" altLang="en-US" sz="2400" b="1" dirty="0">
                <a:solidFill>
                  <a:srgbClr val="31599B"/>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Text 7">
            <a:extLst>
              <a:ext uri="{FF2B5EF4-FFF2-40B4-BE49-F238E27FC236}">
                <a16:creationId xmlns:a16="http://schemas.microsoft.com/office/drawing/2014/main" id="{120F4B05-041D-B59B-34A0-597001E9DA91}"/>
              </a:ext>
            </a:extLst>
          </p:cNvPr>
          <p:cNvSpPr/>
          <p:nvPr/>
        </p:nvSpPr>
        <p:spPr>
          <a:xfrm>
            <a:off x="2136304" y="4432808"/>
            <a:ext cx="9989656" cy="487678"/>
          </a:xfrm>
          <a:prstGeom prst="rect">
            <a:avLst/>
          </a:prstGeom>
          <a:noFill/>
          <a:ln/>
        </p:spPr>
        <p:txBody>
          <a:bodyPr wrap="square" lIns="127" tIns="127" rIns="127" bIns="127" rtlCol="0" anchor="t">
            <a:noAutofit/>
          </a:bodyPr>
          <a:lstStyle/>
          <a:p>
            <a:r>
              <a:rPr lang="en-US" altLang="zh-CN"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策略</a:t>
            </a:r>
            <a:r>
              <a:rPr lang="en-US" altLang="zh-CN"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s：当前状态</a:t>
            </a:r>
            <a:r>
              <a:rPr lang="en-US" altLang="zh-CN"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γ：折扣因子</a:t>
            </a:r>
            <a:r>
              <a:rPr lang="en-US" altLang="zh-CN"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aseline="-250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时刻奖励</a:t>
            </a:r>
            <a:r>
              <a:rPr lang="en-US" altLang="zh-CN"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E：期望</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buNone/>
            </a:pP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592216"/>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动作价值函数 Q</a:t>
            </a:r>
            <a:r>
              <a:rPr lang="en-US" sz="3500" b="1" baseline="30000" dirty="0">
                <a:solidFill>
                  <a:srgbClr val="24477D"/>
                </a:solidFill>
                <a:latin typeface="微软雅黑" panose="020B0503020204020204" pitchFamily="34" charset="-122"/>
                <a:ea typeface="微软雅黑" panose="020B0503020204020204" pitchFamily="34" charset="-122"/>
                <a:cs typeface="Noto Sans CJK SC" pitchFamily="34" charset="-120"/>
              </a:rPr>
              <a:t>π</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(s,a)</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850392" y="2040372"/>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动作价值函数在状态 s 下固定首个动作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a，再评估后续折扣回报</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186866" y="2948046"/>
            <a:ext cx="7635240" cy="1037219"/>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2.png"/>
          <p:cNvPicPr>
            <a:picLocks noChangeAspect="1"/>
          </p:cNvPicPr>
          <p:nvPr/>
        </p:nvPicPr>
        <p:blipFill>
          <a:blip r:embed="rId3"/>
          <a:srcRect l="27116" t="15382" r="27597" b="17210"/>
          <a:stretch>
            <a:fillRect/>
          </a:stretch>
        </p:blipFill>
        <p:spPr>
          <a:xfrm>
            <a:off x="3067235" y="3025278"/>
            <a:ext cx="5679685" cy="923278"/>
          </a:xfrm>
          <a:prstGeom prst="rect">
            <a:avLst/>
          </a:prstGeom>
        </p:spPr>
      </p:pic>
      <p:sp>
        <p:nvSpPr>
          <p:cNvPr id="13" name="Shape 10"/>
          <p:cNvSpPr/>
          <p:nvPr/>
        </p:nvSpPr>
        <p:spPr>
          <a:xfrm>
            <a:off x="797037" y="4417177"/>
            <a:ext cx="10716768" cy="80467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1034781" y="4490329"/>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Q</a:t>
            </a:r>
            <a:r>
              <a:rPr lang="en-US" sz="2400" baseline="300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(s,a) 比 V</a:t>
            </a:r>
            <a:r>
              <a:rPr lang="en-US" sz="2400" baseline="300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(s) </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增加了</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当前动作</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维度</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16</a:t>
            </a:fld>
            <a:endParaRPr lang="en-US" dirty="0">
              <a:latin typeface="微软雅黑" panose="020B0503020204020204" pitchFamily="34" charset="-122"/>
              <a:ea typeface="微软雅黑" panose="020B0503020204020204" pitchFamily="34" charset="-122"/>
            </a:endParaRPr>
          </a:p>
        </p:txBody>
      </p:sp>
      <p:sp>
        <p:nvSpPr>
          <p:cNvPr id="16" name="Text 1">
            <a:extLst>
              <a:ext uri="{FF2B5EF4-FFF2-40B4-BE49-F238E27FC236}">
                <a16:creationId xmlns:a16="http://schemas.microsoft.com/office/drawing/2014/main" id="{46AA17E3-32F3-5559-26BF-BEAB68464567}"/>
              </a:ext>
            </a:extLst>
          </p:cNvPr>
          <p:cNvSpPr/>
          <p:nvPr/>
        </p:nvSpPr>
        <p:spPr>
          <a:xfrm>
            <a:off x="639699" y="1529193"/>
            <a:ext cx="5303520" cy="256032"/>
          </a:xfrm>
          <a:prstGeom prst="rect">
            <a:avLst/>
          </a:prstGeom>
          <a:noFill/>
          <a:ln/>
        </p:spPr>
        <p:txBody>
          <a:bodyPr wrap="square" lIns="0" tIns="0" rIns="0" bIns="0" rtlCol="0" anchor="ctr"/>
          <a:lstStyle/>
          <a:p>
            <a:pPr marL="0" indent="0">
              <a:buNone/>
            </a:pPr>
            <a:r>
              <a:rPr lang="en-US" sz="2800" b="1" dirty="0">
                <a:solidFill>
                  <a:srgbClr val="4F73B5"/>
                </a:solidFill>
                <a:latin typeface="微软雅黑" panose="020B0503020204020204" pitchFamily="34" charset="-122"/>
                <a:ea typeface="微软雅黑" panose="020B0503020204020204" pitchFamily="34" charset="-122"/>
                <a:cs typeface="Noto Sans CJK SC" pitchFamily="34" charset="-120"/>
              </a:rPr>
              <a:t>3.1.1 概念</a:t>
            </a:r>
            <a:endParaRPr lang="en-US" sz="2800" b="1" dirty="0">
              <a:latin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V 与 Q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的关系</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793051396"/>
              </p:ext>
            </p:extLst>
          </p:nvPr>
        </p:nvGraphicFramePr>
        <p:xfrm>
          <a:off x="777240" y="1691640"/>
          <a:ext cx="10607040" cy="3221373"/>
        </p:xfrm>
        <a:graphic>
          <a:graphicData uri="http://schemas.openxmlformats.org/drawingml/2006/table">
            <a:tbl>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81043">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比较维度</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状态价值 Vπ(s)</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动作价值 Qπ(s,a)</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8011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输入</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状态 s</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状态 s + 动作 a</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8011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评价对象</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当前状态的长期收益</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当前动作选择的长期收益</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8011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用途</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评估状态</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比较动作并支持策略改进</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777240" y="1691640"/>
            <a:ext cx="10607040" cy="502920"/>
          </a:xfrm>
          <a:prstGeom prst="rect">
            <a:avLst/>
          </a:prstGeom>
          <a:solidFill>
            <a:srgbClr val="31599B"/>
          </a:solidFill>
          <a:ln w="12700">
            <a:solidFill>
              <a:srgbClr val="31599B"/>
            </a:solidFill>
            <a:prstDash val="solid"/>
          </a:ln>
        </p:spPr>
      </p:sp>
      <p:sp>
        <p:nvSpPr>
          <p:cNvPr id="6" name="Text 3"/>
          <p:cNvSpPr/>
          <p:nvPr/>
        </p:nvSpPr>
        <p:spPr>
          <a:xfrm>
            <a:off x="795528" y="1801368"/>
            <a:ext cx="234086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比较维度</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4"/>
          <p:cNvSpPr/>
          <p:nvPr/>
        </p:nvSpPr>
        <p:spPr>
          <a:xfrm>
            <a:off x="3172968" y="1801368"/>
            <a:ext cx="407822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状态价值 V</a:t>
            </a:r>
            <a:r>
              <a:rPr lang="en-US" sz="2000" b="1" baseline="300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sz="2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(s)</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5"/>
          <p:cNvSpPr/>
          <p:nvPr/>
        </p:nvSpPr>
        <p:spPr>
          <a:xfrm>
            <a:off x="7287768" y="1801368"/>
            <a:ext cx="407822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动作价值 Q</a:t>
            </a:r>
            <a:r>
              <a:rPr lang="en-US" sz="2000" b="1" baseline="300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sz="2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(s,a)</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676656"/>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MDP 与 POMDP</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pSp>
        <p:nvGrpSpPr>
          <p:cNvPr id="12" name="组合 11">
            <a:extLst>
              <a:ext uri="{FF2B5EF4-FFF2-40B4-BE49-F238E27FC236}">
                <a16:creationId xmlns:a16="http://schemas.microsoft.com/office/drawing/2014/main" id="{808FE366-1466-6658-6FE4-CBE1C272F39F}"/>
              </a:ext>
            </a:extLst>
          </p:cNvPr>
          <p:cNvGrpSpPr/>
          <p:nvPr/>
        </p:nvGrpSpPr>
        <p:grpSpPr>
          <a:xfrm>
            <a:off x="713231" y="1664208"/>
            <a:ext cx="10551999" cy="1965960"/>
            <a:chOff x="713232" y="1664208"/>
            <a:chExt cx="5212080" cy="3584448"/>
          </a:xfrm>
        </p:grpSpPr>
        <p:sp>
          <p:nvSpPr>
            <p:cNvPr id="4" name="Shape 2"/>
            <p:cNvSpPr/>
            <p:nvPr/>
          </p:nvSpPr>
          <p:spPr>
            <a:xfrm>
              <a:off x="713232" y="1664208"/>
              <a:ext cx="5212080" cy="3584448"/>
            </a:xfrm>
            <a:prstGeom prst="roundRect">
              <a:avLst>
                <a:gd name="adj" fmla="val 127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13232" y="1664208"/>
              <a:ext cx="64008" cy="3584448"/>
            </a:xfrm>
            <a:prstGeom prst="rect">
              <a:avLst/>
            </a:prstGeom>
            <a:solidFill>
              <a:srgbClr val="31599B"/>
            </a:solidFill>
            <a:ln w="12700">
              <a:solidFill>
                <a:srgbClr val="31599B"/>
              </a:solidFill>
              <a:prstDash val="solid"/>
            </a:ln>
          </p:spPr>
        </p:sp>
      </p:grpSp>
      <p:sp>
        <p:nvSpPr>
          <p:cNvPr id="6" name="Text 4"/>
          <p:cNvSpPr/>
          <p:nvPr/>
        </p:nvSpPr>
        <p:spPr>
          <a:xfrm>
            <a:off x="923544" y="1810512"/>
            <a:ext cx="4828032" cy="329184"/>
          </a:xfrm>
          <a:prstGeom prst="rect">
            <a:avLst/>
          </a:prstGeom>
          <a:noFill/>
          <a:ln/>
        </p:spPr>
        <p:txBody>
          <a:bodyPr wrap="square" lIns="0" tIns="0" rIns="0" bIns="0" rtlCol="0" anchor="ctr">
            <a:normAutofit fontScale="92500"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Times New Roman" panose="02020603050405020304" pitchFamily="18" charset="0"/>
              </a:rPr>
              <a:t>马尔可夫决策过程 MDP</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 5"/>
          <p:cNvSpPr/>
          <p:nvPr/>
        </p:nvSpPr>
        <p:spPr>
          <a:xfrm>
            <a:off x="923544" y="2364123"/>
            <a:ext cx="10027062" cy="867171"/>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记为（S, A, P, r, γ）。其中 P(s′|s,a) </a:t>
            </a:r>
            <a:r>
              <a:rPr lang="en-US" sz="2400" dirty="0" err="1">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是环境转移概率</a:t>
            </a: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a:t>
            </a:r>
          </a:p>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马尔可夫性质强调：未来状态只依赖当前状态和动作，而非完整历史</a:t>
            </a: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 name="组合 12">
            <a:extLst>
              <a:ext uri="{FF2B5EF4-FFF2-40B4-BE49-F238E27FC236}">
                <a16:creationId xmlns:a16="http://schemas.microsoft.com/office/drawing/2014/main" id="{63BFC70A-D50D-D3AF-350F-CC07F2EFEDA9}"/>
              </a:ext>
            </a:extLst>
          </p:cNvPr>
          <p:cNvGrpSpPr/>
          <p:nvPr/>
        </p:nvGrpSpPr>
        <p:grpSpPr>
          <a:xfrm>
            <a:off x="664936" y="3941063"/>
            <a:ext cx="10551999" cy="1931248"/>
            <a:chOff x="6217920" y="1664208"/>
            <a:chExt cx="5212080" cy="3584448"/>
          </a:xfrm>
        </p:grpSpPr>
        <p:sp>
          <p:nvSpPr>
            <p:cNvPr id="8" name="Shape 6"/>
            <p:cNvSpPr/>
            <p:nvPr/>
          </p:nvSpPr>
          <p:spPr>
            <a:xfrm>
              <a:off x="6217920" y="1664208"/>
              <a:ext cx="5212080" cy="3584448"/>
            </a:xfrm>
            <a:prstGeom prst="roundRect">
              <a:avLst>
                <a:gd name="adj" fmla="val 127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217920" y="1664208"/>
              <a:ext cx="64008" cy="3584448"/>
            </a:xfrm>
            <a:prstGeom prst="rect">
              <a:avLst/>
            </a:prstGeom>
            <a:solidFill>
              <a:srgbClr val="7558A8"/>
            </a:solidFill>
            <a:ln w="12700">
              <a:solidFill>
                <a:srgbClr val="7558A8"/>
              </a:solidFill>
              <a:prstDash val="solid"/>
            </a:ln>
          </p:spPr>
        </p:sp>
      </p:grpSp>
      <p:sp>
        <p:nvSpPr>
          <p:cNvPr id="10" name="Text 8"/>
          <p:cNvSpPr/>
          <p:nvPr/>
        </p:nvSpPr>
        <p:spPr>
          <a:xfrm>
            <a:off x="875249" y="4087367"/>
            <a:ext cx="4828032" cy="329184"/>
          </a:xfrm>
          <a:prstGeom prst="rect">
            <a:avLst/>
          </a:prstGeom>
          <a:noFill/>
          <a:ln/>
        </p:spPr>
        <p:txBody>
          <a:bodyPr wrap="square" lIns="0" tIns="0" rIns="0" bIns="0" rtlCol="0" anchor="ctr">
            <a:normAutofit fontScale="92500" lnSpcReduction="10000"/>
          </a:bodyPr>
          <a:lstStyle/>
          <a:p>
            <a:pPr marL="0" indent="0">
              <a:buNone/>
            </a:pPr>
            <a:r>
              <a:rPr lang="en-US" sz="2400" b="1" dirty="0" err="1">
                <a:solidFill>
                  <a:srgbClr val="7558A8"/>
                </a:solidFill>
                <a:latin typeface="微软雅黑" panose="020B0503020204020204" pitchFamily="34" charset="-122"/>
                <a:ea typeface="微软雅黑" panose="020B0503020204020204" pitchFamily="34" charset="-122"/>
                <a:cs typeface="Times New Roman" panose="02020603050405020304" pitchFamily="18" charset="0"/>
              </a:rPr>
              <a:t>部分可观测</a:t>
            </a:r>
            <a:r>
              <a:rPr lang="en-US" sz="2400" b="1" dirty="0">
                <a:solidFill>
                  <a:srgbClr val="7558A8"/>
                </a:solidFill>
                <a:latin typeface="微软雅黑" panose="020B0503020204020204" pitchFamily="34" charset="-122"/>
                <a:ea typeface="微软雅黑" panose="020B0503020204020204" pitchFamily="34" charset="-122"/>
                <a:cs typeface="Times New Roman" panose="02020603050405020304" pitchFamily="18" charset="0"/>
              </a:rPr>
              <a:t> MDP</a:t>
            </a:r>
            <a:r>
              <a:rPr lang="zh-CN" altLang="en-US" sz="2400" b="1" dirty="0">
                <a:solidFill>
                  <a:srgbClr val="7558A8"/>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solidFill>
                  <a:srgbClr val="7558A8"/>
                </a:solidFill>
                <a:latin typeface="微软雅黑" panose="020B0503020204020204" pitchFamily="34" charset="-122"/>
                <a:ea typeface="微软雅黑" panose="020B0503020204020204" pitchFamily="34" charset="-122"/>
                <a:cs typeface="Times New Roman" panose="02020603050405020304" pitchFamily="18" charset="0"/>
              </a:rPr>
              <a:t>POMDP</a:t>
            </a:r>
            <a:r>
              <a:rPr lang="zh-CN" altLang="en-US" sz="2400" b="1" dirty="0">
                <a:solidFill>
                  <a:srgbClr val="7558A8"/>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9"/>
          <p:cNvSpPr/>
          <p:nvPr/>
        </p:nvSpPr>
        <p:spPr>
          <a:xfrm>
            <a:off x="923543" y="4622069"/>
            <a:ext cx="9774483" cy="1044724"/>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在 MDP 基础上额外包含观测空间 O 与观测模型 O(o|s)。当智能体无法直接获得完整状态时，需要利用观测进行决策。</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Episode 与 </a:t>
            </a:r>
            <a:r>
              <a:rPr lang="en-US" sz="3500" b="1" dirty="0" err="1">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Trajectory：交互</a:t>
            </a:r>
            <a:r>
              <a:rPr lang="zh-CN" alt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形成</a:t>
            </a:r>
            <a:r>
              <a:rPr 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a:t>
            </a:r>
            <a:r>
              <a:rPr lang="en-US" sz="3500" b="1" dirty="0" err="1">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经验</a:t>
            </a:r>
            <a:r>
              <a:rPr 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的过程</a:t>
            </a:r>
            <a:endParaRPr lang="en-US" sz="3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822960" y="1691640"/>
            <a:ext cx="4983480" cy="3337560"/>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822960" y="1691640"/>
            <a:ext cx="64008" cy="3337560"/>
          </a:xfrm>
          <a:prstGeom prst="rect">
            <a:avLst/>
          </a:prstGeom>
          <a:solidFill>
            <a:srgbClr val="31599B"/>
          </a:solidFill>
          <a:ln w="12700">
            <a:solidFill>
              <a:srgbClr val="31599B"/>
            </a:solidFill>
            <a:prstDash val="solid"/>
          </a:ln>
        </p:spPr>
      </p:sp>
      <p:sp>
        <p:nvSpPr>
          <p:cNvPr id="6" name="Text 4"/>
          <p:cNvSpPr/>
          <p:nvPr/>
        </p:nvSpPr>
        <p:spPr>
          <a:xfrm>
            <a:off x="1033272" y="1837944"/>
            <a:ext cx="459943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Episode</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1046988" y="2370160"/>
            <a:ext cx="4599432" cy="10039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智能体与环境进行交互，直到交互结束的完整过程。</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355080" y="1691640"/>
            <a:ext cx="4983480" cy="3337560"/>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355080" y="1691640"/>
            <a:ext cx="64008" cy="3337560"/>
          </a:xfrm>
          <a:prstGeom prst="rect">
            <a:avLst/>
          </a:prstGeom>
          <a:solidFill>
            <a:srgbClr val="2F8E72"/>
          </a:solidFill>
          <a:ln w="12700">
            <a:solidFill>
              <a:srgbClr val="2F8E72"/>
            </a:solidFill>
            <a:prstDash val="solid"/>
          </a:ln>
        </p:spPr>
      </p:sp>
      <p:sp>
        <p:nvSpPr>
          <p:cNvPr id="10" name="Text 8"/>
          <p:cNvSpPr/>
          <p:nvPr/>
        </p:nvSpPr>
        <p:spPr>
          <a:xfrm>
            <a:off x="6565392" y="1837944"/>
            <a:ext cx="459943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Trajectory</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565392" y="2258568"/>
            <a:ext cx="4599432" cy="1385715"/>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一个 episode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中经历的状态、动作、奖励等连续经验序列</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572610" y="5394960"/>
            <a:ext cx="10445910" cy="402336"/>
          </a:xfrm>
          <a:prstGeom prst="rect">
            <a:avLst/>
          </a:prstGeom>
          <a:noFill/>
          <a:ln/>
        </p:spPr>
        <p:txBody>
          <a:bodyPr wrap="square" lIns="0" tIns="0" rIns="0" bIns="0" rtlCol="0" anchor="ctr"/>
          <a:lstStyle/>
          <a:p>
            <a:pPr marL="0" indent="0" algn="ctr">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后续策略梯度与 REINFORCE </a:t>
            </a:r>
            <a:r>
              <a:rPr lang="en-US" sz="2800" b="1" dirty="0" err="1">
                <a:solidFill>
                  <a:srgbClr val="C63F45"/>
                </a:solidFill>
                <a:latin typeface="微软雅黑" panose="020B0503020204020204" pitchFamily="34" charset="-122"/>
                <a:ea typeface="微软雅黑" panose="020B0503020204020204" pitchFamily="34" charset="-122"/>
                <a:cs typeface="Noto Sans CJK SC" pitchFamily="34" charset="-120"/>
              </a:rPr>
              <a:t>都会直接从轨迹采样中估计优化方向</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94360" y="61335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探索—</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利用</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之间的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权衡</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2068941"/>
            <a:ext cx="5074920" cy="2068051"/>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2068941"/>
            <a:ext cx="64008" cy="2068051"/>
          </a:xfrm>
          <a:prstGeom prst="rect">
            <a:avLst/>
          </a:prstGeom>
          <a:solidFill>
            <a:srgbClr val="2F8E72"/>
          </a:solidFill>
          <a:ln w="12700">
            <a:solidFill>
              <a:srgbClr val="2F8E72"/>
            </a:solidFill>
            <a:prstDash val="solid"/>
          </a:ln>
        </p:spPr>
      </p:sp>
      <p:sp>
        <p:nvSpPr>
          <p:cNvPr id="6" name="Text 4"/>
          <p:cNvSpPr/>
          <p:nvPr/>
        </p:nvSpPr>
        <p:spPr>
          <a:xfrm>
            <a:off x="987552" y="2215245"/>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利用 Exploitation</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773475"/>
            <a:ext cx="4690872" cy="817545"/>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选用当前已知的最佳动作，获取较高即时收益。</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2068941"/>
            <a:ext cx="5074920" cy="2068049"/>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2068941"/>
            <a:ext cx="64008" cy="2068049"/>
          </a:xfrm>
          <a:prstGeom prst="rect">
            <a:avLst/>
          </a:prstGeom>
          <a:solidFill>
            <a:srgbClr val="C58A24"/>
          </a:solidFill>
          <a:ln w="12700">
            <a:solidFill>
              <a:srgbClr val="C58A24"/>
            </a:solidFill>
            <a:prstDash val="solid"/>
          </a:ln>
        </p:spPr>
      </p:sp>
      <p:sp>
        <p:nvSpPr>
          <p:cNvPr id="10" name="Text 8"/>
          <p:cNvSpPr/>
          <p:nvPr/>
        </p:nvSpPr>
        <p:spPr>
          <a:xfrm>
            <a:off x="6382512" y="2215245"/>
            <a:ext cx="46908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探索 Exploration</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773475"/>
            <a:ext cx="4690872" cy="786473"/>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尝试新的动作，获取未知经验，为发现更优策略创造可能。</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708660" y="4924089"/>
            <a:ext cx="10698480" cy="329184"/>
          </a:xfrm>
          <a:prstGeom prst="rect">
            <a:avLst/>
          </a:prstGeom>
          <a:noFill/>
          <a:ln/>
        </p:spPr>
        <p:txBody>
          <a:bodyPr wrap="square" lIns="0" tIns="0" rIns="0" bIns="0" rtlCol="0" anchor="ctr">
            <a:noAutofit/>
          </a:bodyPr>
          <a:lstStyle/>
          <a:p>
            <a:pPr marL="0" indent="0" algn="ctr">
              <a:buNone/>
            </a:pPr>
            <a:r>
              <a:rPr lang="en-US" sz="2800" b="1" dirty="0" err="1">
                <a:solidFill>
                  <a:srgbClr val="C63F45"/>
                </a:solidFill>
                <a:latin typeface="微软雅黑" panose="020B0503020204020204" pitchFamily="34" charset="-122"/>
                <a:ea typeface="微软雅黑" panose="020B0503020204020204" pitchFamily="34" charset="-122"/>
              </a:rPr>
              <a:t>强化学习</a:t>
            </a:r>
            <a:r>
              <a:rPr lang="zh-CN" altLang="en-US" sz="2800" b="1" dirty="0">
                <a:solidFill>
                  <a:srgbClr val="C63F45"/>
                </a:solidFill>
                <a:latin typeface="微软雅黑" panose="020B0503020204020204" pitchFamily="34" charset="-122"/>
                <a:ea typeface="微软雅黑" panose="020B0503020204020204" pitchFamily="34" charset="-122"/>
              </a:rPr>
              <a:t>往往需要</a:t>
            </a:r>
            <a:r>
              <a:rPr lang="en-US" sz="2800" b="1" dirty="0" err="1">
                <a:solidFill>
                  <a:srgbClr val="C63F45"/>
                </a:solidFill>
                <a:latin typeface="微软雅黑" panose="020B0503020204020204" pitchFamily="34" charset="-122"/>
                <a:ea typeface="微软雅黑" panose="020B0503020204020204" pitchFamily="34" charset="-122"/>
              </a:rPr>
              <a:t>在“已知最优”与“继续探索”之间取得平衡</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ε-贪婪策略：用概率机制协调探索与利用</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1975104" y="1965960"/>
            <a:ext cx="3017520" cy="1325880"/>
          </a:xfrm>
          <a:prstGeom prst="roundRect">
            <a:avLst/>
          </a:prstGeom>
          <a:solidFill>
            <a:srgbClr val="EAF5F1"/>
          </a:solidFill>
          <a:ln w="12700">
            <a:solidFill>
              <a:srgbClr val="C8E4DA"/>
            </a:solidFill>
            <a:prstDash val="solid"/>
          </a:ln>
        </p:spPr>
      </p:sp>
      <p:sp>
        <p:nvSpPr>
          <p:cNvPr id="5" name="Text 3"/>
          <p:cNvSpPr/>
          <p:nvPr/>
        </p:nvSpPr>
        <p:spPr>
          <a:xfrm>
            <a:off x="2203704" y="2212848"/>
            <a:ext cx="2560320" cy="329184"/>
          </a:xfrm>
          <a:prstGeom prst="rect">
            <a:avLst/>
          </a:prstGeom>
          <a:noFill/>
          <a:ln/>
        </p:spPr>
        <p:txBody>
          <a:bodyPr wrap="square" lIns="0" tIns="0" rIns="0" bIns="0" rtlCol="0" anchor="ctr"/>
          <a:lstStyle/>
          <a:p>
            <a:pPr marL="0" indent="0" algn="ctr">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概率 1-ε</a:t>
            </a:r>
            <a:endParaRPr lang="en-US" sz="2400" dirty="0">
              <a:latin typeface="微软雅黑" panose="020B0503020204020204" pitchFamily="34" charset="-122"/>
            </a:endParaRPr>
          </a:p>
        </p:txBody>
      </p:sp>
      <p:sp>
        <p:nvSpPr>
          <p:cNvPr id="6" name="Text 4"/>
          <p:cNvSpPr/>
          <p:nvPr/>
        </p:nvSpPr>
        <p:spPr>
          <a:xfrm>
            <a:off x="2176272" y="2788920"/>
            <a:ext cx="2560320" cy="237744"/>
          </a:xfrm>
          <a:prstGeom prst="rect">
            <a:avLst/>
          </a:prstGeom>
          <a:noFill/>
          <a:ln/>
        </p:spPr>
        <p:txBody>
          <a:bodyPr wrap="square" lIns="0" tIns="0" rIns="0" bIns="0" rtlCol="0" anchor="ct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选择当前最优动作</a:t>
            </a:r>
            <a:endParaRPr lang="en-US" sz="2400" dirty="0">
              <a:latin typeface="微软雅黑" panose="020B0503020204020204" pitchFamily="34" charset="-122"/>
            </a:endParaRPr>
          </a:p>
        </p:txBody>
      </p:sp>
      <p:sp>
        <p:nvSpPr>
          <p:cNvPr id="7" name="Shape 5"/>
          <p:cNvSpPr/>
          <p:nvPr/>
        </p:nvSpPr>
        <p:spPr>
          <a:xfrm>
            <a:off x="5312664" y="2313432"/>
            <a:ext cx="1371600" cy="502920"/>
          </a:xfrm>
          <a:prstGeom prst="chevron">
            <a:avLst/>
          </a:prstGeom>
          <a:solidFill>
            <a:srgbClr val="EDF2FA"/>
          </a:solidFill>
          <a:ln w="12700">
            <a:solidFill>
              <a:srgbClr val="D2DDEA"/>
            </a:solidFill>
            <a:prstDash val="solid"/>
          </a:ln>
        </p:spPr>
      </p:sp>
      <p:sp>
        <p:nvSpPr>
          <p:cNvPr id="8" name="Text 6"/>
          <p:cNvSpPr/>
          <p:nvPr/>
        </p:nvSpPr>
        <p:spPr>
          <a:xfrm>
            <a:off x="5495544" y="2450592"/>
            <a:ext cx="1005840" cy="201168"/>
          </a:xfrm>
          <a:prstGeom prst="rect">
            <a:avLst/>
          </a:prstGeom>
          <a:noFill/>
          <a:ln/>
        </p:spPr>
        <p:txBody>
          <a:bodyPr wrap="square" lIns="0" tIns="0" rIns="0" bIns="0" rtlCol="0" anchor="ctr"/>
          <a:lstStyle/>
          <a:p>
            <a:pPr marL="0" indent="0" algn="ctr">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动作选择</a:t>
            </a:r>
            <a:endParaRPr lang="en-US" sz="1400" dirty="0">
              <a:latin typeface="微软雅黑" panose="020B0503020204020204" pitchFamily="34" charset="-122"/>
            </a:endParaRPr>
          </a:p>
        </p:txBody>
      </p:sp>
      <p:sp>
        <p:nvSpPr>
          <p:cNvPr id="9" name="Shape 7"/>
          <p:cNvSpPr/>
          <p:nvPr/>
        </p:nvSpPr>
        <p:spPr>
          <a:xfrm>
            <a:off x="6958584" y="1965960"/>
            <a:ext cx="3017520" cy="1325880"/>
          </a:xfrm>
          <a:prstGeom prst="roundRect">
            <a:avLst/>
          </a:prstGeom>
          <a:solidFill>
            <a:srgbClr val="FFF4DE"/>
          </a:solidFill>
          <a:ln w="12700">
            <a:solidFill>
              <a:srgbClr val="F0D89A"/>
            </a:solidFill>
            <a:prstDash val="solid"/>
          </a:ln>
        </p:spPr>
      </p:sp>
      <p:sp>
        <p:nvSpPr>
          <p:cNvPr id="10" name="Text 8"/>
          <p:cNvSpPr/>
          <p:nvPr/>
        </p:nvSpPr>
        <p:spPr>
          <a:xfrm>
            <a:off x="7187184" y="2212848"/>
            <a:ext cx="2560320" cy="329184"/>
          </a:xfrm>
          <a:prstGeom prst="rect">
            <a:avLst/>
          </a:prstGeom>
          <a:noFill/>
          <a:ln/>
        </p:spPr>
        <p:txBody>
          <a:bodyPr wrap="square" lIns="0" tIns="0" rIns="0" bIns="0" rtlCol="0" anchor="ctr"/>
          <a:lstStyle/>
          <a:p>
            <a:pPr marL="0" indent="0" algn="ctr">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概率 ε</a:t>
            </a:r>
            <a:endParaRPr lang="en-US" sz="2400" dirty="0">
              <a:latin typeface="微软雅黑" panose="020B0503020204020204" pitchFamily="34" charset="-122"/>
            </a:endParaRPr>
          </a:p>
        </p:txBody>
      </p:sp>
      <p:sp>
        <p:nvSpPr>
          <p:cNvPr id="11" name="Text 9"/>
          <p:cNvSpPr/>
          <p:nvPr/>
        </p:nvSpPr>
        <p:spPr>
          <a:xfrm>
            <a:off x="7187184" y="2752344"/>
            <a:ext cx="2560320" cy="237744"/>
          </a:xfrm>
          <a:prstGeom prst="rect">
            <a:avLst/>
          </a:prstGeom>
          <a:noFill/>
          <a:ln/>
        </p:spPr>
        <p:txBody>
          <a:bodyPr wrap="square" lIns="0" tIns="0" rIns="0" bIns="0" rtlCol="0" anchor="ct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随机尝试其他动作</a:t>
            </a:r>
            <a:endParaRPr lang="en-US" dirty="0">
              <a:latin typeface="微软雅黑" panose="020B0503020204020204" pitchFamily="34" charset="-122"/>
            </a:endParaRPr>
          </a:p>
        </p:txBody>
      </p:sp>
      <p:sp>
        <p:nvSpPr>
          <p:cNvPr id="12" name="Shape 10"/>
          <p:cNvSpPr/>
          <p:nvPr/>
        </p:nvSpPr>
        <p:spPr>
          <a:xfrm>
            <a:off x="1965960" y="3703320"/>
            <a:ext cx="8183880" cy="1600200"/>
          </a:xfrm>
          <a:prstGeom prst="roundRect">
            <a:avLst>
              <a:gd name="adj" fmla="val 285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1965960" y="3703320"/>
            <a:ext cx="64008" cy="1600200"/>
          </a:xfrm>
          <a:prstGeom prst="rect">
            <a:avLst/>
          </a:prstGeom>
          <a:solidFill>
            <a:srgbClr val="31599B"/>
          </a:solidFill>
          <a:ln w="12700">
            <a:solidFill>
              <a:srgbClr val="31599B"/>
            </a:solidFill>
            <a:prstDash val="solid"/>
          </a:ln>
        </p:spPr>
      </p:sp>
      <p:sp>
        <p:nvSpPr>
          <p:cNvPr id="14" name="Text 12"/>
          <p:cNvSpPr/>
          <p:nvPr/>
        </p:nvSpPr>
        <p:spPr>
          <a:xfrm>
            <a:off x="2176272" y="3849624"/>
            <a:ext cx="779983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作用</a:t>
            </a:r>
            <a:endParaRPr lang="en-US" sz="2400" dirty="0">
              <a:latin typeface="微软雅黑" panose="020B0503020204020204" pitchFamily="34" charset="-122"/>
            </a:endParaRPr>
          </a:p>
        </p:txBody>
      </p:sp>
      <p:sp>
        <p:nvSpPr>
          <p:cNvPr id="15" name="Text 13"/>
          <p:cNvSpPr/>
          <p:nvPr/>
        </p:nvSpPr>
        <p:spPr>
          <a:xfrm>
            <a:off x="2176272" y="4270248"/>
            <a:ext cx="7799832" cy="88696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ε-贪婪让智能体大多数时候利用已知较优动作，同时保留一定概率探索新选项</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例：4×4 网格世界“觅食”问题</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13232" y="1719072"/>
            <a:ext cx="5486400" cy="3840480"/>
          </a:xfrm>
          <a:prstGeom prst="rect">
            <a:avLst/>
          </a:prstGeom>
          <a:noFill/>
          <a:ln/>
        </p:spPr>
        <p:txBody>
          <a:bodyPr wrap="square" lIns="635" tIns="635" rIns="635" bIns="635" rtlCol="0" anchor="t">
            <a:normAutofit/>
          </a:bodyPr>
          <a:lstStyle/>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智能体从左上角起点出发。</a:t>
            </a:r>
            <a:endParaRPr lang="en-US" sz="2400" dirty="0">
              <a:latin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目标是在最短时间内吃到价值最高的水果，并获得最大累积奖励。</a:t>
            </a:r>
            <a:endParaRPr lang="en-US" sz="2400" dirty="0">
              <a:latin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每走一步都会“饥饿”，奖励 -1；吃到梨子奖励 +5；吃到苹果奖励 +10。</a:t>
            </a:r>
            <a:endParaRPr lang="en-US" sz="2400" dirty="0">
              <a:latin typeface="微软雅黑" panose="020B0503020204020204" pitchFamily="34" charset="-122"/>
            </a:endParaRPr>
          </a:p>
        </p:txBody>
      </p:sp>
      <p:pic>
        <p:nvPicPr>
          <p:cNvPr id="5" name="Image 0" descr="/mnt/data/ch3_pdfimages/img-002.png"/>
          <p:cNvPicPr>
            <a:picLocks noChangeAspect="1"/>
          </p:cNvPicPr>
          <p:nvPr/>
        </p:nvPicPr>
        <p:blipFill>
          <a:blip r:embed="rId3"/>
          <a:stretch>
            <a:fillRect/>
          </a:stretch>
        </p:blipFill>
        <p:spPr>
          <a:xfrm>
            <a:off x="6852586" y="1664208"/>
            <a:ext cx="3942748" cy="3977640"/>
          </a:xfrm>
          <a:prstGeom prst="rect">
            <a:avLst/>
          </a:prstGeom>
        </p:spPr>
      </p:pic>
      <p:sp>
        <p:nvSpPr>
          <p:cNvPr id="6" name="Text 3"/>
          <p:cNvSpPr/>
          <p:nvPr/>
        </p:nvSpPr>
        <p:spPr>
          <a:xfrm>
            <a:off x="6629400" y="5687568"/>
            <a:ext cx="438912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智能体觅食的初始状态</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例：把问题写成（S</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A, P, R）</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31520" y="1572768"/>
            <a:ext cx="4377578" cy="1632071"/>
          </a:xfrm>
          <a:prstGeom prst="roundRect">
            <a:avLst>
              <a:gd name="adj" fmla="val 2222"/>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31520" y="1572768"/>
            <a:ext cx="64008" cy="1632071"/>
          </a:xfrm>
          <a:prstGeom prst="rect">
            <a:avLst/>
          </a:prstGeom>
          <a:solidFill>
            <a:srgbClr val="31599B"/>
          </a:solidFill>
          <a:ln w="12700">
            <a:solidFill>
              <a:srgbClr val="31599B"/>
            </a:solidFill>
            <a:prstDash val="solid"/>
          </a:ln>
        </p:spPr>
      </p:sp>
      <p:sp>
        <p:nvSpPr>
          <p:cNvPr id="6" name="Text 4"/>
          <p:cNvSpPr/>
          <p:nvPr/>
        </p:nvSpPr>
        <p:spPr>
          <a:xfrm>
            <a:off x="941832" y="1719072"/>
            <a:ext cx="2203704" cy="329184"/>
          </a:xfrm>
          <a:prstGeom prst="rect">
            <a:avLst/>
          </a:prstGeom>
          <a:noFill/>
          <a:ln/>
        </p:spPr>
        <p:txBody>
          <a:bodyPr wrap="square" lIns="0" tIns="0" rIns="0" bIns="0" rtlCol="0" anchor="ctr">
            <a:normAutofit/>
          </a:bodyPr>
          <a:lstStyle/>
          <a:p>
            <a:pPr marL="0" indent="0">
              <a:buNone/>
            </a:pPr>
            <a:r>
              <a:rPr lang="en-US" b="1" dirty="0">
                <a:solidFill>
                  <a:srgbClr val="31599B"/>
                </a:solidFill>
                <a:latin typeface="微软雅黑" panose="020B0503020204020204" pitchFamily="34" charset="-122"/>
                <a:ea typeface="微软雅黑" panose="020B0503020204020204" pitchFamily="34" charset="-122"/>
                <a:cs typeface="Noto Sans CJK SC" pitchFamily="34" charset="-120"/>
              </a:rPr>
              <a:t>状态空间 S</a:t>
            </a:r>
            <a:endParaRPr lang="en-US" dirty="0">
              <a:latin typeface="微软雅黑" panose="020B0503020204020204" pitchFamily="34" charset="-122"/>
              <a:ea typeface="微软雅黑" panose="020B0503020204020204" pitchFamily="34" charset="-122"/>
            </a:endParaRPr>
          </a:p>
        </p:txBody>
      </p:sp>
      <p:sp>
        <p:nvSpPr>
          <p:cNvPr id="7" name="Text 5"/>
          <p:cNvSpPr/>
          <p:nvPr/>
        </p:nvSpPr>
        <p:spPr>
          <a:xfrm>
            <a:off x="941832" y="2139696"/>
            <a:ext cx="2203704" cy="13441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 = {s₁, s₂}</a:t>
            </a:r>
            <a:endParaRPr lang="en-US" sz="2000" dirty="0">
              <a:latin typeface="微软雅黑" panose="020B0503020204020204" pitchFamily="34" charset="-122"/>
              <a:ea typeface="微软雅黑" panose="020B0503020204020204" pitchFamily="34" charset="-122"/>
            </a:endParaRPr>
          </a:p>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s₁：起点</a:t>
            </a:r>
            <a:endParaRPr lang="en-US" sz="2000" dirty="0">
              <a:latin typeface="微软雅黑" panose="020B0503020204020204" pitchFamily="34" charset="-122"/>
              <a:ea typeface="微软雅黑" panose="020B0503020204020204" pitchFamily="34" charset="-122"/>
            </a:endParaRPr>
          </a:p>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s₂：水果所在终点</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5743496" y="1579603"/>
            <a:ext cx="3690145" cy="1596604"/>
          </a:xfrm>
          <a:prstGeom prst="roundRect">
            <a:avLst>
              <a:gd name="adj" fmla="val 2222"/>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5743497" y="1579603"/>
            <a:ext cx="91276" cy="1596604"/>
          </a:xfrm>
          <a:prstGeom prst="rect">
            <a:avLst/>
          </a:prstGeom>
          <a:solidFill>
            <a:srgbClr val="2F8E72"/>
          </a:solidFill>
          <a:ln w="12700">
            <a:solidFill>
              <a:srgbClr val="2F8E72"/>
            </a:solidFill>
            <a:prstDash val="solid"/>
          </a:ln>
        </p:spPr>
      </p:sp>
      <p:sp>
        <p:nvSpPr>
          <p:cNvPr id="10" name="Text 8"/>
          <p:cNvSpPr/>
          <p:nvPr/>
        </p:nvSpPr>
        <p:spPr>
          <a:xfrm>
            <a:off x="5953808" y="1725907"/>
            <a:ext cx="3142491" cy="329184"/>
          </a:xfrm>
          <a:prstGeom prst="rect">
            <a:avLst/>
          </a:prstGeom>
          <a:noFill/>
          <a:ln/>
        </p:spPr>
        <p:txBody>
          <a:bodyPr wrap="square" lIns="0" tIns="0" rIns="0" bIns="0" rtlCol="0" anchor="ctr">
            <a:normAutofit/>
          </a:bodyPr>
          <a:lstStyle/>
          <a:p>
            <a:pPr marL="0" indent="0">
              <a:buNone/>
            </a:pPr>
            <a:r>
              <a:rPr lang="en-US" b="1" dirty="0">
                <a:solidFill>
                  <a:srgbClr val="2F8E72"/>
                </a:solidFill>
                <a:latin typeface="微软雅黑" panose="020B0503020204020204" pitchFamily="34" charset="-122"/>
                <a:ea typeface="微软雅黑" panose="020B0503020204020204" pitchFamily="34" charset="-122"/>
                <a:cs typeface="Noto Sans CJK SC" pitchFamily="34" charset="-120"/>
              </a:rPr>
              <a:t>动作空间 A</a:t>
            </a:r>
            <a:endParaRPr lang="en-US" dirty="0">
              <a:latin typeface="微软雅黑" panose="020B0503020204020204" pitchFamily="34" charset="-122"/>
              <a:ea typeface="微软雅黑" panose="020B0503020204020204" pitchFamily="34" charset="-122"/>
            </a:endParaRPr>
          </a:p>
        </p:txBody>
      </p:sp>
      <p:sp>
        <p:nvSpPr>
          <p:cNvPr id="11" name="Text 9"/>
          <p:cNvSpPr/>
          <p:nvPr/>
        </p:nvSpPr>
        <p:spPr>
          <a:xfrm>
            <a:off x="5953808" y="2146531"/>
            <a:ext cx="3142491" cy="13441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 = {上、下、左、右}</a:t>
            </a:r>
            <a:endParaRPr lang="en-US" sz="2000" dirty="0">
              <a:latin typeface="微软雅黑" panose="020B0503020204020204" pitchFamily="34" charset="-122"/>
              <a:ea typeface="微软雅黑" panose="020B0503020204020204" pitchFamily="34" charset="-122"/>
            </a:endParaRPr>
          </a:p>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共 4 个动作</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731519" y="3721608"/>
            <a:ext cx="4377579" cy="1563624"/>
          </a:xfrm>
          <a:prstGeom prst="roundRect">
            <a:avLst>
              <a:gd name="adj" fmla="val 2222"/>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731520" y="3721608"/>
            <a:ext cx="64008" cy="1563624"/>
          </a:xfrm>
          <a:prstGeom prst="rect">
            <a:avLst/>
          </a:prstGeom>
          <a:solidFill>
            <a:srgbClr val="C58A24"/>
          </a:solidFill>
          <a:ln w="12700">
            <a:solidFill>
              <a:srgbClr val="C58A24"/>
            </a:solidFill>
            <a:prstDash val="solid"/>
          </a:ln>
        </p:spPr>
      </p:sp>
      <p:sp>
        <p:nvSpPr>
          <p:cNvPr id="14" name="Text 12"/>
          <p:cNvSpPr/>
          <p:nvPr/>
        </p:nvSpPr>
        <p:spPr>
          <a:xfrm>
            <a:off x="941832" y="3867912"/>
            <a:ext cx="2203704" cy="329184"/>
          </a:xfrm>
          <a:prstGeom prst="rect">
            <a:avLst/>
          </a:prstGeom>
          <a:noFill/>
          <a:ln/>
        </p:spPr>
        <p:txBody>
          <a:bodyPr wrap="square" lIns="0" tIns="0" rIns="0" bIns="0" rtlCol="0" anchor="ctr">
            <a:normAutofit/>
          </a:bodyPr>
          <a:lstStyle/>
          <a:p>
            <a:pPr marL="0" indent="0">
              <a:buNone/>
            </a:pPr>
            <a:r>
              <a:rPr lang="en-US" b="1" dirty="0">
                <a:solidFill>
                  <a:srgbClr val="C58A24"/>
                </a:solidFill>
                <a:latin typeface="微软雅黑" panose="020B0503020204020204" pitchFamily="34" charset="-122"/>
                <a:ea typeface="微软雅黑" panose="020B0503020204020204" pitchFamily="34" charset="-122"/>
                <a:cs typeface="Noto Sans CJK SC" pitchFamily="34" charset="-120"/>
              </a:rPr>
              <a:t>转移概率 P</a:t>
            </a:r>
            <a:endParaRPr lang="en-US" dirty="0">
              <a:latin typeface="微软雅黑" panose="020B0503020204020204" pitchFamily="34" charset="-122"/>
              <a:ea typeface="微软雅黑" panose="020B0503020204020204" pitchFamily="34" charset="-122"/>
            </a:endParaRPr>
          </a:p>
        </p:txBody>
      </p:sp>
      <p:sp>
        <p:nvSpPr>
          <p:cNvPr id="15" name="Text 13"/>
          <p:cNvSpPr/>
          <p:nvPr/>
        </p:nvSpPr>
        <p:spPr>
          <a:xfrm>
            <a:off x="941832" y="4288536"/>
            <a:ext cx="3796978" cy="1042505"/>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从 s₁ 执行动作后：0.5 到达 s₂；0.5 留在 s₁。用于模拟风吹、打滑等不确定性。</a:t>
            </a:r>
            <a:endParaRPr lang="en-US" sz="2000" dirty="0">
              <a:latin typeface="微软雅黑" panose="020B0503020204020204" pitchFamily="34" charset="-122"/>
              <a:ea typeface="微软雅黑" panose="020B0503020204020204" pitchFamily="34" charset="-122"/>
            </a:endParaRPr>
          </a:p>
        </p:txBody>
      </p:sp>
      <p:sp>
        <p:nvSpPr>
          <p:cNvPr id="16" name="Shape 14"/>
          <p:cNvSpPr/>
          <p:nvPr/>
        </p:nvSpPr>
        <p:spPr>
          <a:xfrm>
            <a:off x="5743497" y="3728443"/>
            <a:ext cx="3690144" cy="1528158"/>
          </a:xfrm>
          <a:prstGeom prst="roundRect">
            <a:avLst>
              <a:gd name="adj" fmla="val 2222"/>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5743497" y="3728443"/>
            <a:ext cx="91276" cy="1528158"/>
          </a:xfrm>
          <a:prstGeom prst="rect">
            <a:avLst/>
          </a:prstGeom>
          <a:solidFill>
            <a:srgbClr val="C63F45"/>
          </a:solidFill>
          <a:ln w="12700">
            <a:solidFill>
              <a:srgbClr val="C63F45"/>
            </a:solidFill>
            <a:prstDash val="solid"/>
          </a:ln>
        </p:spPr>
      </p:sp>
      <p:sp>
        <p:nvSpPr>
          <p:cNvPr id="18" name="Text 16"/>
          <p:cNvSpPr/>
          <p:nvPr/>
        </p:nvSpPr>
        <p:spPr>
          <a:xfrm>
            <a:off x="5953809" y="3874747"/>
            <a:ext cx="2777388" cy="329184"/>
          </a:xfrm>
          <a:prstGeom prst="rect">
            <a:avLst/>
          </a:prstGeom>
          <a:noFill/>
          <a:ln/>
        </p:spPr>
        <p:txBody>
          <a:bodyPr wrap="square" lIns="0" tIns="0" rIns="0" bIns="0" rtlCol="0" anchor="ctr">
            <a:normAutofit/>
          </a:bodyPr>
          <a:lstStyle/>
          <a:p>
            <a:pPr marL="0" indent="0">
              <a:buNone/>
            </a:pPr>
            <a:r>
              <a:rPr lang="en-US" b="1" dirty="0">
                <a:solidFill>
                  <a:srgbClr val="C63F45"/>
                </a:solidFill>
                <a:latin typeface="微软雅黑" panose="020B0503020204020204" pitchFamily="34" charset="-122"/>
                <a:ea typeface="微软雅黑" panose="020B0503020204020204" pitchFamily="34" charset="-122"/>
                <a:cs typeface="Noto Sans CJK SC" pitchFamily="34" charset="-120"/>
              </a:rPr>
              <a:t>终止条件</a:t>
            </a:r>
            <a:endParaRPr lang="en-US" dirty="0">
              <a:latin typeface="微软雅黑" panose="020B0503020204020204" pitchFamily="34" charset="-122"/>
              <a:ea typeface="微软雅黑" panose="020B0503020204020204" pitchFamily="34" charset="-122"/>
            </a:endParaRPr>
          </a:p>
        </p:txBody>
      </p:sp>
      <p:sp>
        <p:nvSpPr>
          <p:cNvPr id="19" name="Text 17"/>
          <p:cNvSpPr/>
          <p:nvPr/>
        </p:nvSpPr>
        <p:spPr>
          <a:xfrm>
            <a:off x="5953809" y="4295371"/>
            <a:ext cx="3323356" cy="68300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到达 s₂（吃到水果）后，过程终止。</a:t>
            </a:r>
            <a:endParaRPr lang="en-US" sz="2000" dirty="0">
              <a:latin typeface="微软雅黑" panose="020B0503020204020204" pitchFamily="34" charset="-122"/>
              <a:ea typeface="微软雅黑" panose="020B0503020204020204" pitchFamily="34" charset="-122"/>
            </a:endParaRPr>
          </a:p>
        </p:txBody>
      </p:sp>
      <p:sp>
        <p:nvSpPr>
          <p:cNvPr id="20" name="Text 18"/>
          <p:cNvSpPr/>
          <p:nvPr/>
        </p:nvSpPr>
        <p:spPr>
          <a:xfrm>
            <a:off x="1185169" y="5568695"/>
            <a:ext cx="10058400" cy="566928"/>
          </a:xfrm>
          <a:prstGeom prst="rect">
            <a:avLst/>
          </a:prstGeom>
          <a:noFill/>
          <a:ln/>
        </p:spPr>
        <p:txBody>
          <a:bodyPr wrap="square" lIns="0" tIns="0" rIns="0" bIns="0" rtlCol="0" anchor="ctr">
            <a:normAutofit/>
          </a:bodyPr>
          <a:lstStyle/>
          <a:p>
            <a:pPr marL="0" indent="0" algn="ctr">
              <a:buNone/>
            </a:pPr>
            <a:r>
              <a:rPr lang="en-US" sz="1800" b="1" dirty="0">
                <a:solidFill>
                  <a:srgbClr val="24477D"/>
                </a:solidFill>
                <a:latin typeface="微软雅黑" panose="020B0503020204020204" pitchFamily="34" charset="-122"/>
                <a:ea typeface="微软雅黑" panose="020B0503020204020204" pitchFamily="34" charset="-122"/>
                <a:cs typeface="Noto Sans CJK SC" pitchFamily="34" charset="-120"/>
              </a:rPr>
              <a:t>将现实任务抽象成有限状态、有限动作与概率转移，是后续策略评估的基础。</a:t>
            </a:r>
            <a:endParaRPr lang="en-US" sz="1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r>
              <a:rPr lang="en-US" altLang="zh-CN" sz="3500" b="1" dirty="0">
                <a:solidFill>
                  <a:srgbClr val="24477D"/>
                </a:solidFill>
                <a:latin typeface="微软雅黑" panose="020B0503020204020204" pitchFamily="34" charset="-122"/>
                <a:ea typeface="微软雅黑" panose="020B0503020204020204" pitchFamily="34" charset="-122"/>
                <a:cs typeface="Noto Sans CJK SC" pitchFamily="34" charset="-120"/>
              </a:rPr>
              <a:t>例：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奖励函数</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2361461"/>
            <a:ext cx="5486400" cy="2325950"/>
          </a:xfrm>
          <a:prstGeom prst="roundRect">
            <a:avLst/>
          </a:prstGeom>
          <a:solidFill>
            <a:srgbClr val="FFFFFF"/>
          </a:solidFill>
          <a:ln w="12700">
            <a:solidFill>
              <a:srgbClr val="D6DCE6"/>
            </a:solidFill>
            <a:prstDash val="solid"/>
          </a:ln>
        </p:spPr>
      </p:sp>
      <p:pic>
        <p:nvPicPr>
          <p:cNvPr id="5" name="Image 0" descr="/mnt/data/ch3_formula_imgs_tight/eq-reward-piecewise.png"/>
          <p:cNvPicPr>
            <a:picLocks noChangeAspect="1"/>
          </p:cNvPicPr>
          <p:nvPr/>
        </p:nvPicPr>
        <p:blipFill>
          <a:blip r:embed="rId3"/>
          <a:srcRect t="31325" b="-1"/>
          <a:stretch>
            <a:fillRect/>
          </a:stretch>
        </p:blipFill>
        <p:spPr>
          <a:xfrm>
            <a:off x="1024128" y="2854171"/>
            <a:ext cx="4983480" cy="1424479"/>
          </a:xfrm>
          <a:prstGeom prst="rect">
            <a:avLst/>
          </a:prstGeom>
        </p:spPr>
      </p:pic>
      <p:sp>
        <p:nvSpPr>
          <p:cNvPr id="6" name="Shape 3"/>
          <p:cNvSpPr/>
          <p:nvPr/>
        </p:nvSpPr>
        <p:spPr>
          <a:xfrm>
            <a:off x="6583680" y="1664208"/>
            <a:ext cx="4617720"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6583680" y="1664208"/>
            <a:ext cx="64008" cy="1234440"/>
          </a:xfrm>
          <a:prstGeom prst="rect">
            <a:avLst/>
          </a:prstGeom>
          <a:solidFill>
            <a:srgbClr val="C63F45"/>
          </a:solidFill>
          <a:ln w="12700">
            <a:solidFill>
              <a:srgbClr val="C63F45"/>
            </a:solidFill>
            <a:prstDash val="solid"/>
          </a:ln>
        </p:spPr>
      </p:sp>
      <p:sp>
        <p:nvSpPr>
          <p:cNvPr id="8" name="Text 5"/>
          <p:cNvSpPr/>
          <p:nvPr/>
        </p:nvSpPr>
        <p:spPr>
          <a:xfrm>
            <a:off x="6793992" y="1810512"/>
            <a:ext cx="4233672" cy="329184"/>
          </a:xfrm>
          <a:prstGeom prst="rect">
            <a:avLst/>
          </a:prstGeom>
          <a:noFill/>
          <a:ln/>
        </p:spPr>
        <p:txBody>
          <a:bodyPr wrap="square" lIns="0" tIns="0" rIns="0" bIns="0" rtlCol="0" anchor="ctr">
            <a:noAutofit/>
          </a:bodyPr>
          <a:lstStyle/>
          <a:p>
            <a:pPr marL="0" indent="0">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s = s₁</a:t>
            </a:r>
            <a:endParaRPr lang="en-US" sz="2800" dirty="0">
              <a:latin typeface="微软雅黑" panose="020B0503020204020204" pitchFamily="34" charset="-122"/>
            </a:endParaRPr>
          </a:p>
        </p:txBody>
      </p:sp>
      <p:sp>
        <p:nvSpPr>
          <p:cNvPr id="9" name="Text 6"/>
          <p:cNvSpPr/>
          <p:nvPr/>
        </p:nvSpPr>
        <p:spPr>
          <a:xfrm>
            <a:off x="6793992" y="2231136"/>
            <a:ext cx="4233672" cy="521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奖励 -1：对应“饥饿”状态。</a:t>
            </a:r>
            <a:endParaRPr lang="en-US" sz="2400" dirty="0">
              <a:latin typeface="微软雅黑" panose="020B0503020204020204" pitchFamily="34" charset="-122"/>
            </a:endParaRPr>
          </a:p>
        </p:txBody>
      </p:sp>
      <p:sp>
        <p:nvSpPr>
          <p:cNvPr id="10" name="Shape 7"/>
          <p:cNvSpPr/>
          <p:nvPr/>
        </p:nvSpPr>
        <p:spPr>
          <a:xfrm>
            <a:off x="6583680" y="3035808"/>
            <a:ext cx="4617720"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6583680" y="3035808"/>
            <a:ext cx="64008" cy="1234440"/>
          </a:xfrm>
          <a:prstGeom prst="rect">
            <a:avLst/>
          </a:prstGeom>
          <a:solidFill>
            <a:srgbClr val="C58A24"/>
          </a:solidFill>
          <a:ln w="12700">
            <a:solidFill>
              <a:srgbClr val="C58A24"/>
            </a:solidFill>
            <a:prstDash val="solid"/>
          </a:ln>
        </p:spPr>
      </p:sp>
      <p:sp>
        <p:nvSpPr>
          <p:cNvPr id="12" name="Text 9"/>
          <p:cNvSpPr/>
          <p:nvPr/>
        </p:nvSpPr>
        <p:spPr>
          <a:xfrm>
            <a:off x="6793992" y="3182112"/>
            <a:ext cx="4233672" cy="329184"/>
          </a:xfrm>
          <a:prstGeom prst="rect">
            <a:avLst/>
          </a:prstGeom>
          <a:noFill/>
          <a:ln/>
        </p:spPr>
        <p:txBody>
          <a:bodyPr wrap="square" lIns="0" tIns="0" rIns="0" bIns="0" rtlCol="0" anchor="ctr">
            <a:noAutofit/>
          </a:bodyPr>
          <a:lstStyle/>
          <a:p>
            <a:pPr marL="0" indent="0">
              <a:buNone/>
            </a:pPr>
            <a:r>
              <a:rPr lang="en-US" sz="2800" b="1" dirty="0">
                <a:solidFill>
                  <a:srgbClr val="C58A24"/>
                </a:solidFill>
                <a:latin typeface="微软雅黑" panose="020B0503020204020204" pitchFamily="34" charset="-122"/>
                <a:ea typeface="微软雅黑" panose="020B0503020204020204" pitchFamily="34" charset="-122"/>
                <a:cs typeface="Noto Sans CJK SC" pitchFamily="34" charset="-120"/>
              </a:rPr>
              <a:t>s = s₂，梨子</a:t>
            </a:r>
            <a:endParaRPr lang="en-US" sz="2800" dirty="0">
              <a:latin typeface="微软雅黑" panose="020B0503020204020204" pitchFamily="34" charset="-122"/>
            </a:endParaRPr>
          </a:p>
        </p:txBody>
      </p:sp>
      <p:sp>
        <p:nvSpPr>
          <p:cNvPr id="13" name="Text 10"/>
          <p:cNvSpPr/>
          <p:nvPr/>
        </p:nvSpPr>
        <p:spPr>
          <a:xfrm>
            <a:off x="6793992" y="3602736"/>
            <a:ext cx="4233672" cy="521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奖励 +5。</a:t>
            </a:r>
            <a:endParaRPr lang="en-US" sz="2400" dirty="0">
              <a:latin typeface="微软雅黑" panose="020B0503020204020204" pitchFamily="34" charset="-122"/>
            </a:endParaRPr>
          </a:p>
        </p:txBody>
      </p:sp>
      <p:sp>
        <p:nvSpPr>
          <p:cNvPr id="14" name="Shape 11"/>
          <p:cNvSpPr/>
          <p:nvPr/>
        </p:nvSpPr>
        <p:spPr>
          <a:xfrm>
            <a:off x="6583680" y="4407408"/>
            <a:ext cx="4617720"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6583680" y="4407408"/>
            <a:ext cx="64008" cy="1234440"/>
          </a:xfrm>
          <a:prstGeom prst="rect">
            <a:avLst/>
          </a:prstGeom>
          <a:solidFill>
            <a:srgbClr val="2F8E72"/>
          </a:solidFill>
          <a:ln w="12700">
            <a:solidFill>
              <a:srgbClr val="2F8E72"/>
            </a:solidFill>
            <a:prstDash val="solid"/>
          </a:ln>
        </p:spPr>
      </p:sp>
      <p:sp>
        <p:nvSpPr>
          <p:cNvPr id="16" name="Text 13"/>
          <p:cNvSpPr/>
          <p:nvPr/>
        </p:nvSpPr>
        <p:spPr>
          <a:xfrm>
            <a:off x="6793992" y="4553712"/>
            <a:ext cx="4233672" cy="329184"/>
          </a:xfrm>
          <a:prstGeom prst="rect">
            <a:avLst/>
          </a:prstGeom>
          <a:noFill/>
          <a:ln/>
        </p:spPr>
        <p:txBody>
          <a:bodyPr wrap="square" lIns="0" tIns="0" rIns="0" bIns="0" rtlCol="0" anchor="ctr">
            <a:noAutofit/>
          </a:bodyPr>
          <a:lstStyle/>
          <a:p>
            <a:pPr marL="0" indent="0">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s = s₂，苹果</a:t>
            </a:r>
            <a:endParaRPr lang="en-US" sz="2800" dirty="0">
              <a:latin typeface="微软雅黑" panose="020B0503020204020204" pitchFamily="34" charset="-122"/>
            </a:endParaRPr>
          </a:p>
        </p:txBody>
      </p:sp>
      <p:sp>
        <p:nvSpPr>
          <p:cNvPr id="17" name="Text 14"/>
          <p:cNvSpPr/>
          <p:nvPr/>
        </p:nvSpPr>
        <p:spPr>
          <a:xfrm>
            <a:off x="6793992" y="4974336"/>
            <a:ext cx="4233672" cy="521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奖励 +10。</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r>
              <a:rPr lang="en-US" altLang="zh-CN" sz="3500" b="1" dirty="0">
                <a:solidFill>
                  <a:srgbClr val="24477D"/>
                </a:solidFill>
                <a:latin typeface="微软雅黑" panose="020B0503020204020204" pitchFamily="34" charset="-122"/>
                <a:ea typeface="微软雅黑" panose="020B0503020204020204" pitchFamily="34" charset="-122"/>
                <a:cs typeface="Noto Sans CJK SC" pitchFamily="34" charset="-120"/>
              </a:rPr>
              <a:t>例：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策略</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从起点的动作序列</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892186"/>
            <a:ext cx="3931920" cy="851013"/>
          </a:xfrm>
          <a:prstGeom prst="roundRect">
            <a:avLst/>
          </a:prstGeom>
          <a:solidFill>
            <a:srgbClr val="FFFFFF"/>
          </a:solidFill>
          <a:ln w="12700">
            <a:solidFill>
              <a:srgbClr val="D6DCE6"/>
            </a:solidFill>
            <a:prstDash val="solid"/>
          </a:ln>
        </p:spPr>
      </p:sp>
      <p:pic>
        <p:nvPicPr>
          <p:cNvPr id="5" name="Image 0" descr="/mnt/data/ch3_formula_clean/eq-example-policy.png"/>
          <p:cNvPicPr>
            <a:picLocks noChangeAspect="1"/>
          </p:cNvPicPr>
          <p:nvPr/>
        </p:nvPicPr>
        <p:blipFill>
          <a:blip r:embed="rId3"/>
          <a:srcRect l="29388" t="24818" r="24219" b="29773"/>
          <a:stretch>
            <a:fillRect/>
          </a:stretch>
        </p:blipFill>
        <p:spPr>
          <a:xfrm>
            <a:off x="887915" y="1930893"/>
            <a:ext cx="3747146" cy="639192"/>
          </a:xfrm>
          <a:prstGeom prst="rect">
            <a:avLst/>
          </a:prstGeom>
        </p:spPr>
      </p:pic>
      <p:pic>
        <p:nvPicPr>
          <p:cNvPr id="6" name="Image 1" descr="/mnt/data/ch3_pdfimages/img-003.png"/>
          <p:cNvPicPr>
            <a:picLocks noChangeAspect="1"/>
          </p:cNvPicPr>
          <p:nvPr/>
        </p:nvPicPr>
        <p:blipFill>
          <a:blip r:embed="rId4"/>
          <a:stretch>
            <a:fillRect/>
          </a:stretch>
        </p:blipFill>
        <p:spPr>
          <a:xfrm>
            <a:off x="5212524" y="2221992"/>
            <a:ext cx="5897880" cy="3142893"/>
          </a:xfrm>
          <a:prstGeom prst="rect">
            <a:avLst/>
          </a:prstGeom>
        </p:spPr>
      </p:pic>
      <p:sp>
        <p:nvSpPr>
          <p:cNvPr id="7" name="Text 3"/>
          <p:cNvSpPr/>
          <p:nvPr/>
        </p:nvSpPr>
        <p:spPr>
          <a:xfrm>
            <a:off x="5168135" y="5603230"/>
            <a:ext cx="589788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两条典型觅食路径</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8" name="Shape 4"/>
          <p:cNvSpPr/>
          <p:nvPr/>
        </p:nvSpPr>
        <p:spPr>
          <a:xfrm>
            <a:off x="777240" y="3401568"/>
            <a:ext cx="393192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5"/>
          <p:cNvSpPr/>
          <p:nvPr/>
        </p:nvSpPr>
        <p:spPr>
          <a:xfrm>
            <a:off x="777240" y="3401568"/>
            <a:ext cx="64008" cy="1143000"/>
          </a:xfrm>
          <a:prstGeom prst="rect">
            <a:avLst/>
          </a:prstGeom>
          <a:solidFill>
            <a:srgbClr val="C58A24"/>
          </a:solidFill>
          <a:ln w="12700">
            <a:solidFill>
              <a:srgbClr val="C58A24"/>
            </a:solidFill>
            <a:prstDash val="solid"/>
          </a:ln>
        </p:spPr>
      </p:sp>
      <p:sp>
        <p:nvSpPr>
          <p:cNvPr id="10" name="Text 6"/>
          <p:cNvSpPr/>
          <p:nvPr/>
        </p:nvSpPr>
        <p:spPr>
          <a:xfrm>
            <a:off x="987552" y="3547872"/>
            <a:ext cx="3547872" cy="329184"/>
          </a:xfrm>
          <a:prstGeom prst="rect">
            <a:avLst/>
          </a:prstGeom>
          <a:noFill/>
          <a:ln/>
        </p:spPr>
        <p:txBody>
          <a:bodyPr wrap="square" lIns="0" tIns="0" rIns="0" bIns="0" rtlCol="0" anchor="ctr">
            <a:noAutofit/>
          </a:bodyPr>
          <a:lstStyle/>
          <a:p>
            <a:pPr marL="0" indent="0">
              <a:buNone/>
            </a:pPr>
            <a:r>
              <a:rPr lang="en-US" sz="2800" b="1" dirty="0">
                <a:solidFill>
                  <a:srgbClr val="C58A24"/>
                </a:solidFill>
                <a:latin typeface="微软雅黑" panose="020B0503020204020204" pitchFamily="34" charset="-122"/>
                <a:ea typeface="微软雅黑" panose="020B0503020204020204" pitchFamily="34" charset="-122"/>
                <a:cs typeface="Noto Sans CJK SC" pitchFamily="34" charset="-120"/>
              </a:rPr>
              <a:t>π₁</a:t>
            </a:r>
            <a:endParaRPr lang="en-US" sz="2800" dirty="0">
              <a:latin typeface="微软雅黑" panose="020B0503020204020204" pitchFamily="34" charset="-122"/>
            </a:endParaRPr>
          </a:p>
        </p:txBody>
      </p:sp>
      <p:sp>
        <p:nvSpPr>
          <p:cNvPr id="11" name="Text 7"/>
          <p:cNvSpPr/>
          <p:nvPr/>
        </p:nvSpPr>
        <p:spPr>
          <a:xfrm>
            <a:off x="987552" y="3968496"/>
            <a:ext cx="3547872" cy="429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较近路径：先吃梨子。</a:t>
            </a:r>
            <a:endParaRPr lang="en-US" sz="2400" dirty="0">
              <a:latin typeface="微软雅黑" panose="020B0503020204020204" pitchFamily="34" charset="-122"/>
            </a:endParaRPr>
          </a:p>
        </p:txBody>
      </p:sp>
      <p:sp>
        <p:nvSpPr>
          <p:cNvPr id="12" name="Shape 8"/>
          <p:cNvSpPr/>
          <p:nvPr/>
        </p:nvSpPr>
        <p:spPr>
          <a:xfrm>
            <a:off x="777240" y="4709160"/>
            <a:ext cx="393192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9"/>
          <p:cNvSpPr/>
          <p:nvPr/>
        </p:nvSpPr>
        <p:spPr>
          <a:xfrm>
            <a:off x="777240" y="4709160"/>
            <a:ext cx="64008" cy="1143000"/>
          </a:xfrm>
          <a:prstGeom prst="rect">
            <a:avLst/>
          </a:prstGeom>
          <a:solidFill>
            <a:srgbClr val="2F8E72"/>
          </a:solidFill>
          <a:ln w="12700">
            <a:solidFill>
              <a:srgbClr val="2F8E72"/>
            </a:solidFill>
            <a:prstDash val="solid"/>
          </a:ln>
        </p:spPr>
      </p:sp>
      <p:sp>
        <p:nvSpPr>
          <p:cNvPr id="14" name="Text 10"/>
          <p:cNvSpPr/>
          <p:nvPr/>
        </p:nvSpPr>
        <p:spPr>
          <a:xfrm>
            <a:off x="987552" y="4855464"/>
            <a:ext cx="3547872" cy="329184"/>
          </a:xfrm>
          <a:prstGeom prst="rect">
            <a:avLst/>
          </a:prstGeom>
          <a:noFill/>
          <a:ln/>
        </p:spPr>
        <p:txBody>
          <a:bodyPr wrap="square" lIns="0" tIns="0" rIns="0" bIns="0" rtlCol="0" anchor="ctr">
            <a:noAutofit/>
          </a:bodyPr>
          <a:lstStyle/>
          <a:p>
            <a:pPr marL="0" indent="0">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π₂</a:t>
            </a:r>
            <a:endParaRPr lang="en-US" sz="2800" dirty="0">
              <a:latin typeface="微软雅黑" panose="020B0503020204020204" pitchFamily="34" charset="-122"/>
            </a:endParaRPr>
          </a:p>
        </p:txBody>
      </p:sp>
      <p:sp>
        <p:nvSpPr>
          <p:cNvPr id="15" name="Text 11"/>
          <p:cNvSpPr/>
          <p:nvPr/>
        </p:nvSpPr>
        <p:spPr>
          <a:xfrm>
            <a:off x="987552" y="5276088"/>
            <a:ext cx="3547872" cy="429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较远路径：吃苹果。</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r>
              <a:rPr lang="en-US" altLang="zh-CN"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例：</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策略评估</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819923"/>
            <a:ext cx="10607040" cy="878888"/>
          </a:xfrm>
          <a:prstGeom prst="roundRect">
            <a:avLst/>
          </a:prstGeom>
          <a:solidFill>
            <a:srgbClr val="FFFFFF"/>
          </a:solidFill>
          <a:ln w="12700">
            <a:solidFill>
              <a:srgbClr val="D6DCE6"/>
            </a:solidFill>
            <a:prstDash val="solid"/>
          </a:ln>
        </p:spPr>
      </p:sp>
      <p:pic>
        <p:nvPicPr>
          <p:cNvPr id="5" name="Image 0" descr="/mnt/data/ch3_formula_clean/eq-example-returns.png"/>
          <p:cNvPicPr>
            <a:picLocks noChangeAspect="1"/>
          </p:cNvPicPr>
          <p:nvPr/>
        </p:nvPicPr>
        <p:blipFill>
          <a:blip r:embed="rId3"/>
          <a:srcRect t="26730" b="28421"/>
          <a:stretch>
            <a:fillRect/>
          </a:stretch>
        </p:blipFill>
        <p:spPr>
          <a:xfrm>
            <a:off x="898147" y="1819923"/>
            <a:ext cx="10319506" cy="692457"/>
          </a:xfrm>
          <a:prstGeom prst="rect">
            <a:avLst/>
          </a:prstGeom>
        </p:spPr>
      </p:pic>
      <p:pic>
        <p:nvPicPr>
          <p:cNvPr id="6" name="Image 1" descr="/mnt/data/ch3_pdfimages/img-004.png"/>
          <p:cNvPicPr>
            <a:picLocks noChangeAspect="1"/>
          </p:cNvPicPr>
          <p:nvPr/>
        </p:nvPicPr>
        <p:blipFill>
          <a:blip r:embed="rId4"/>
          <a:stretch>
            <a:fillRect/>
          </a:stretch>
        </p:blipFill>
        <p:spPr>
          <a:xfrm>
            <a:off x="898147" y="2875831"/>
            <a:ext cx="4934482" cy="2629513"/>
          </a:xfrm>
          <a:prstGeom prst="rect">
            <a:avLst/>
          </a:prstGeom>
        </p:spPr>
      </p:pic>
      <p:sp>
        <p:nvSpPr>
          <p:cNvPr id="7" name="Text 3"/>
          <p:cNvSpPr/>
          <p:nvPr/>
        </p:nvSpPr>
        <p:spPr>
          <a:xfrm>
            <a:off x="164988" y="5686448"/>
            <a:ext cx="640080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两条觅食路径的效用对比</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8" name="Shape 4"/>
          <p:cNvSpPr/>
          <p:nvPr/>
        </p:nvSpPr>
        <p:spPr>
          <a:xfrm>
            <a:off x="6670237" y="3089341"/>
            <a:ext cx="4422412" cy="2103120"/>
          </a:xfrm>
          <a:prstGeom prst="roundRect">
            <a:avLst>
              <a:gd name="adj" fmla="val 217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5"/>
          <p:cNvSpPr/>
          <p:nvPr/>
        </p:nvSpPr>
        <p:spPr>
          <a:xfrm>
            <a:off x="6670237" y="3089341"/>
            <a:ext cx="64008" cy="2103120"/>
          </a:xfrm>
          <a:prstGeom prst="rect">
            <a:avLst/>
          </a:prstGeom>
          <a:solidFill>
            <a:srgbClr val="C63F45"/>
          </a:solidFill>
          <a:ln w="12700">
            <a:solidFill>
              <a:srgbClr val="C63F45"/>
            </a:solidFill>
            <a:prstDash val="solid"/>
          </a:ln>
        </p:spPr>
      </p:sp>
      <p:sp>
        <p:nvSpPr>
          <p:cNvPr id="10" name="Text 6"/>
          <p:cNvSpPr/>
          <p:nvPr/>
        </p:nvSpPr>
        <p:spPr>
          <a:xfrm>
            <a:off x="6880549" y="3235645"/>
            <a:ext cx="3044952" cy="329184"/>
          </a:xfrm>
          <a:prstGeom prst="rect">
            <a:avLst/>
          </a:prstGeom>
          <a:noFill/>
          <a:ln/>
        </p:spPr>
        <p:txBody>
          <a:bodyPr wrap="square" lIns="0" tIns="0" rIns="0" bIns="0" rtlCol="0" anchor="ctr">
            <a:normAutofit lnSpcReduction="10000"/>
          </a:bodyPr>
          <a:lstStyle/>
          <a:p>
            <a:pPr marL="0" indent="0">
              <a:buNone/>
            </a:pPr>
            <a:r>
              <a:rPr lang="en-US" sz="2400" b="1" dirty="0" err="1">
                <a:solidFill>
                  <a:srgbClr val="C63F45"/>
                </a:solidFill>
                <a:latin typeface="微软雅黑" panose="020B0503020204020204" pitchFamily="34" charset="-122"/>
                <a:ea typeface="微软雅黑" panose="020B0503020204020204" pitchFamily="34" charset="-122"/>
                <a:cs typeface="Noto Sans CJK SC" pitchFamily="34" charset="-120"/>
              </a:rPr>
              <a:t>比较</a:t>
            </a:r>
            <a:endParaRPr lang="en-US" sz="2400" dirty="0">
              <a:latin typeface="微软雅黑" panose="020B0503020204020204" pitchFamily="34" charset="-122"/>
              <a:ea typeface="微软雅黑" panose="020B0503020204020204" pitchFamily="34" charset="-122"/>
            </a:endParaRPr>
          </a:p>
        </p:txBody>
      </p:sp>
      <p:sp>
        <p:nvSpPr>
          <p:cNvPr id="11" name="Text 7"/>
          <p:cNvSpPr/>
          <p:nvPr/>
        </p:nvSpPr>
        <p:spPr>
          <a:xfrm>
            <a:off x="6880549" y="3656269"/>
            <a:ext cx="4096690" cy="1389888"/>
          </a:xfrm>
          <a:prstGeom prst="rect">
            <a:avLst/>
          </a:prstGeom>
          <a:noFill/>
          <a:ln/>
        </p:spPr>
        <p:txBody>
          <a:bodyPr wrap="square" lIns="254" tIns="254" rIns="254" bIns="254" rtlCol="0" anchor="t">
            <a:normAutofit lnSpcReduction="10000"/>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π₁ 的累积奖励为 3；π₂ 的累积奖励为 5。</a:t>
            </a:r>
          </a:p>
          <a:p>
            <a:pPr marL="0" indent="0">
              <a:buNone/>
            </a:pP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虽然</a:t>
            </a: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 π₂ 路径更远，但长期收益更高。</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r>
              <a:rPr lang="en-US" altLang="zh-CN" sz="3500" b="1" dirty="0">
                <a:solidFill>
                  <a:srgbClr val="24477D"/>
                </a:solidFill>
                <a:latin typeface="微软雅黑" panose="020B0503020204020204" pitchFamily="34" charset="-122"/>
                <a:ea typeface="微软雅黑" panose="020B0503020204020204" pitchFamily="34" charset="-122"/>
                <a:cs typeface="Noto Sans CJK SC" pitchFamily="34" charset="-120"/>
              </a:rPr>
              <a:t>例</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最短路径不一定等于最优策略</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94944" y="1966226"/>
            <a:ext cx="3246120" cy="195264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694944" y="1966226"/>
            <a:ext cx="64008" cy="1952640"/>
          </a:xfrm>
          <a:prstGeom prst="rect">
            <a:avLst/>
          </a:prstGeom>
          <a:solidFill>
            <a:srgbClr val="31599B"/>
          </a:solidFill>
          <a:ln w="12700">
            <a:solidFill>
              <a:srgbClr val="31599B"/>
            </a:solidFill>
            <a:prstDash val="solid"/>
          </a:ln>
        </p:spPr>
      </p:sp>
      <p:sp>
        <p:nvSpPr>
          <p:cNvPr id="6" name="Text 4"/>
          <p:cNvSpPr/>
          <p:nvPr/>
        </p:nvSpPr>
        <p:spPr>
          <a:xfrm>
            <a:off x="886968" y="1985978"/>
            <a:ext cx="2862072" cy="527955"/>
          </a:xfrm>
          <a:prstGeom prst="rect">
            <a:avLst/>
          </a:prstGeom>
          <a:noFill/>
          <a:ln/>
        </p:spPr>
        <p:txBody>
          <a:bodyPr wrap="square" lIns="0" tIns="0" rIns="0" bIns="0" rtlCol="0" anchor="ctr">
            <a:normAutofit/>
          </a:bodyP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路径长度</a:t>
            </a:r>
            <a:endParaRPr lang="en-US" sz="2800" dirty="0">
              <a:latin typeface="微软雅黑" panose="020B0503020204020204" pitchFamily="34" charset="-122"/>
              <a:ea typeface="微软雅黑" panose="020B0503020204020204" pitchFamily="34" charset="-122"/>
            </a:endParaRPr>
          </a:p>
        </p:txBody>
      </p:sp>
      <p:sp>
        <p:nvSpPr>
          <p:cNvPr id="7" name="Text 5"/>
          <p:cNvSpPr/>
          <p:nvPr/>
        </p:nvSpPr>
        <p:spPr>
          <a:xfrm>
            <a:off x="905256" y="2834996"/>
            <a:ext cx="2862072" cy="870811"/>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π₁ </a:t>
            </a: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更近，行动步数更少</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Shape 6"/>
          <p:cNvSpPr/>
          <p:nvPr/>
        </p:nvSpPr>
        <p:spPr>
          <a:xfrm>
            <a:off x="4306824" y="1966226"/>
            <a:ext cx="3246120" cy="195264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306824" y="1966226"/>
            <a:ext cx="64008" cy="1952640"/>
          </a:xfrm>
          <a:prstGeom prst="rect">
            <a:avLst/>
          </a:prstGeom>
          <a:solidFill>
            <a:srgbClr val="2F8E72"/>
          </a:solidFill>
          <a:ln w="12700">
            <a:solidFill>
              <a:srgbClr val="2F8E72"/>
            </a:solidFill>
            <a:prstDash val="solid"/>
          </a:ln>
        </p:spPr>
      </p:sp>
      <p:sp>
        <p:nvSpPr>
          <p:cNvPr id="10" name="Text 8"/>
          <p:cNvSpPr/>
          <p:nvPr/>
        </p:nvSpPr>
        <p:spPr>
          <a:xfrm>
            <a:off x="4623668" y="2002001"/>
            <a:ext cx="2862072" cy="474689"/>
          </a:xfrm>
          <a:prstGeom prst="rect">
            <a:avLst/>
          </a:prstGeom>
          <a:noFill/>
          <a:ln/>
        </p:spPr>
        <p:txBody>
          <a:bodyPr wrap="square" lIns="0" tIns="0" rIns="0" bIns="0" rtlCol="0" anchor="ctr">
            <a:norm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终点奖励</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517136" y="2848313"/>
            <a:ext cx="2862072" cy="924077"/>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π₂ </a:t>
            </a: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对应苹果，终点奖励更高</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Shape 10"/>
          <p:cNvSpPr/>
          <p:nvPr/>
        </p:nvSpPr>
        <p:spPr>
          <a:xfrm>
            <a:off x="7918704" y="1966226"/>
            <a:ext cx="3246120" cy="1952639"/>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7918704" y="1966226"/>
            <a:ext cx="64008" cy="1952639"/>
          </a:xfrm>
          <a:prstGeom prst="rect">
            <a:avLst/>
          </a:prstGeom>
          <a:solidFill>
            <a:srgbClr val="C58A24"/>
          </a:solidFill>
          <a:ln w="12700">
            <a:solidFill>
              <a:srgbClr val="C58A24"/>
            </a:solidFill>
            <a:prstDash val="solid"/>
          </a:ln>
        </p:spPr>
      </p:sp>
      <p:sp>
        <p:nvSpPr>
          <p:cNvPr id="14" name="Text 12"/>
          <p:cNvSpPr/>
          <p:nvPr/>
        </p:nvSpPr>
        <p:spPr>
          <a:xfrm>
            <a:off x="8110728" y="1975369"/>
            <a:ext cx="2862072" cy="527955"/>
          </a:xfrm>
          <a:prstGeom prst="rect">
            <a:avLst/>
          </a:prstGeom>
          <a:noFill/>
          <a:ln/>
        </p:spPr>
        <p:txBody>
          <a:bodyPr wrap="square" lIns="0" tIns="0" rIns="0" bIns="0" rtlCol="0" anchor="ctr">
            <a:norm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长期收益</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168640" y="2631702"/>
            <a:ext cx="2862072" cy="1496685"/>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累积奖励比较后，π₂ 的长期收益更高，因此应优先选择 π₂</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14"/>
          <p:cNvSpPr/>
          <p:nvPr/>
        </p:nvSpPr>
        <p:spPr>
          <a:xfrm>
            <a:off x="332232" y="4489885"/>
            <a:ext cx="10698480" cy="329184"/>
          </a:xfrm>
          <a:prstGeom prst="rect">
            <a:avLst/>
          </a:prstGeom>
          <a:noFill/>
          <a:ln/>
        </p:spPr>
        <p:txBody>
          <a:bodyPr wrap="square" lIns="0" tIns="0" rIns="0" bIns="0" rtlCol="0" anchor="ctr">
            <a:normAutofit/>
          </a:bodyPr>
          <a:lstStyle/>
          <a:p>
            <a:pPr algn="ctr"/>
            <a:r>
              <a:rPr lang="en-US" b="1" dirty="0" err="1">
                <a:solidFill>
                  <a:srgbClr val="24477D"/>
                </a:solidFill>
                <a:latin typeface="微软雅黑" panose="020B0503020204020204" pitchFamily="34" charset="-122"/>
                <a:ea typeface="微软雅黑" panose="020B0503020204020204" pitchFamily="34" charset="-122"/>
              </a:rPr>
              <a:t>强化学习优化的是长期回报，而不是单独的距离、步数或即时奖励</a:t>
            </a:r>
            <a:r>
              <a:rPr lang="en-US"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581444"/>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强化学习</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发展的代表性节点</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914400" y="3246120"/>
            <a:ext cx="10058400" cy="0"/>
          </a:xfrm>
          <a:prstGeom prst="line">
            <a:avLst/>
          </a:prstGeom>
          <a:noFill/>
          <a:ln w="31750">
            <a:solidFill>
              <a:srgbClr val="4F73B5"/>
            </a:solidFill>
            <a:prstDash val="solid"/>
          </a:ln>
        </p:spPr>
      </p:sp>
      <p:sp>
        <p:nvSpPr>
          <p:cNvPr id="5" name="Shape 3"/>
          <p:cNvSpPr/>
          <p:nvPr/>
        </p:nvSpPr>
        <p:spPr>
          <a:xfrm>
            <a:off x="950976" y="3145536"/>
            <a:ext cx="201168" cy="201168"/>
          </a:xfrm>
          <a:prstGeom prst="ellipse">
            <a:avLst/>
          </a:prstGeom>
          <a:solidFill>
            <a:srgbClr val="31599B"/>
          </a:solidFill>
          <a:ln w="12700">
            <a:solidFill>
              <a:srgbClr val="31599B"/>
            </a:solidFill>
            <a:prstDash val="solid"/>
          </a:ln>
        </p:spPr>
      </p:sp>
      <p:sp>
        <p:nvSpPr>
          <p:cNvPr id="6" name="Text 4"/>
          <p:cNvSpPr/>
          <p:nvPr/>
        </p:nvSpPr>
        <p:spPr>
          <a:xfrm>
            <a:off x="411480" y="2532888"/>
            <a:ext cx="1280160" cy="274320"/>
          </a:xfrm>
          <a:prstGeom prst="rect">
            <a:avLst/>
          </a:prstGeom>
          <a:noFill/>
          <a:ln/>
        </p:spPr>
        <p:txBody>
          <a:bodyPr wrap="square" lIns="0" tIns="0" rIns="0" bIns="0" rtlCol="0" anchor="ctr"/>
          <a:lstStyle/>
          <a:p>
            <a:pPr marL="0" indent="0" algn="ctr">
              <a:buNone/>
            </a:pPr>
            <a:r>
              <a:rPr lang="en-US" sz="1500" b="1" dirty="0">
                <a:solidFill>
                  <a:srgbClr val="31599B"/>
                </a:solidFill>
                <a:latin typeface="微软雅黑" panose="020B0503020204020204" pitchFamily="34" charset="-122"/>
                <a:ea typeface="微软雅黑" panose="020B0503020204020204" pitchFamily="34" charset="-122"/>
                <a:cs typeface="Noto Sans CJK SC" pitchFamily="34" charset="-120"/>
              </a:rPr>
              <a:t>1957</a:t>
            </a:r>
            <a:endParaRPr lang="en-US" sz="1500" dirty="0">
              <a:latin typeface="微软雅黑" panose="020B0503020204020204" pitchFamily="34" charset="-122"/>
              <a:ea typeface="微软雅黑" panose="020B0503020204020204" pitchFamily="34" charset="-122"/>
            </a:endParaRPr>
          </a:p>
        </p:txBody>
      </p:sp>
      <p:sp>
        <p:nvSpPr>
          <p:cNvPr id="7" name="Text 5"/>
          <p:cNvSpPr/>
          <p:nvPr/>
        </p:nvSpPr>
        <p:spPr>
          <a:xfrm>
            <a:off x="228600" y="3483864"/>
            <a:ext cx="1645920" cy="914400"/>
          </a:xfrm>
          <a:prstGeom prst="rect">
            <a:avLst/>
          </a:prstGeom>
          <a:noFill/>
          <a:ln/>
        </p:spPr>
        <p:txBody>
          <a:bodyPr wrap="square" lIns="127" tIns="127" rIns="127" bIns="127"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Bellman：动态规划与 MDP 奠定理论基础</a:t>
            </a:r>
            <a:endParaRPr lang="en-US" sz="1600" dirty="0">
              <a:latin typeface="微软雅黑" panose="020B0503020204020204" pitchFamily="34" charset="-122"/>
              <a:ea typeface="微软雅黑" panose="020B0503020204020204" pitchFamily="34" charset="-122"/>
            </a:endParaRPr>
          </a:p>
        </p:txBody>
      </p:sp>
      <p:sp>
        <p:nvSpPr>
          <p:cNvPr id="8" name="Shape 6"/>
          <p:cNvSpPr/>
          <p:nvPr/>
        </p:nvSpPr>
        <p:spPr>
          <a:xfrm>
            <a:off x="2907792" y="3145536"/>
            <a:ext cx="201168" cy="201168"/>
          </a:xfrm>
          <a:prstGeom prst="ellipse">
            <a:avLst/>
          </a:prstGeom>
          <a:solidFill>
            <a:srgbClr val="2F8E72"/>
          </a:solidFill>
          <a:ln w="12700">
            <a:solidFill>
              <a:srgbClr val="2F8E72"/>
            </a:solidFill>
            <a:prstDash val="solid"/>
          </a:ln>
        </p:spPr>
      </p:sp>
      <p:sp>
        <p:nvSpPr>
          <p:cNvPr id="9" name="Text 7"/>
          <p:cNvSpPr/>
          <p:nvPr/>
        </p:nvSpPr>
        <p:spPr>
          <a:xfrm>
            <a:off x="2368296" y="2532888"/>
            <a:ext cx="1280160" cy="274320"/>
          </a:xfrm>
          <a:prstGeom prst="rect">
            <a:avLst/>
          </a:prstGeom>
          <a:noFill/>
          <a:ln/>
        </p:spPr>
        <p:txBody>
          <a:bodyPr wrap="square" lIns="0" tIns="0" rIns="0" bIns="0" rtlCol="0" anchor="ctr"/>
          <a:lstStyle/>
          <a:p>
            <a:pPr marL="0" indent="0" algn="ctr">
              <a:buNone/>
            </a:pPr>
            <a:r>
              <a:rPr lang="en-US" sz="1500" b="1" dirty="0">
                <a:solidFill>
                  <a:srgbClr val="2F8E72"/>
                </a:solidFill>
                <a:latin typeface="微软雅黑" panose="020B0503020204020204" pitchFamily="34" charset="-122"/>
                <a:ea typeface="微软雅黑" panose="020B0503020204020204" pitchFamily="34" charset="-122"/>
                <a:cs typeface="Noto Sans CJK SC" pitchFamily="34" charset="-120"/>
              </a:rPr>
              <a:t>1988</a:t>
            </a:r>
            <a:endParaRPr lang="en-US" sz="1500" dirty="0">
              <a:latin typeface="微软雅黑" panose="020B0503020204020204" pitchFamily="34" charset="-122"/>
              <a:ea typeface="微软雅黑" panose="020B0503020204020204" pitchFamily="34" charset="-122"/>
            </a:endParaRPr>
          </a:p>
        </p:txBody>
      </p:sp>
      <p:sp>
        <p:nvSpPr>
          <p:cNvPr id="10" name="Text 8"/>
          <p:cNvSpPr/>
          <p:nvPr/>
        </p:nvSpPr>
        <p:spPr>
          <a:xfrm>
            <a:off x="2185416" y="3483864"/>
            <a:ext cx="1645920" cy="914400"/>
          </a:xfrm>
          <a:prstGeom prst="rect">
            <a:avLst/>
          </a:prstGeom>
          <a:noFill/>
          <a:ln/>
        </p:spPr>
        <p:txBody>
          <a:bodyPr wrap="square" lIns="127" tIns="127" rIns="127" bIns="127"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Sutton 与 Barto：强化学习范式</a:t>
            </a:r>
            <a:endParaRPr lang="en-US" sz="1600" dirty="0">
              <a:latin typeface="微软雅黑" panose="020B0503020204020204" pitchFamily="34" charset="-122"/>
              <a:ea typeface="微软雅黑" panose="020B0503020204020204" pitchFamily="34" charset="-122"/>
            </a:endParaRPr>
          </a:p>
        </p:txBody>
      </p:sp>
      <p:sp>
        <p:nvSpPr>
          <p:cNvPr id="11" name="Shape 9"/>
          <p:cNvSpPr/>
          <p:nvPr/>
        </p:nvSpPr>
        <p:spPr>
          <a:xfrm>
            <a:off x="4864608" y="3145536"/>
            <a:ext cx="201168" cy="201168"/>
          </a:xfrm>
          <a:prstGeom prst="ellipse">
            <a:avLst/>
          </a:prstGeom>
          <a:solidFill>
            <a:srgbClr val="C58A24"/>
          </a:solidFill>
          <a:ln w="12700">
            <a:solidFill>
              <a:srgbClr val="C58A24"/>
            </a:solidFill>
            <a:prstDash val="solid"/>
          </a:ln>
        </p:spPr>
      </p:sp>
      <p:sp>
        <p:nvSpPr>
          <p:cNvPr id="12" name="Text 10"/>
          <p:cNvSpPr/>
          <p:nvPr/>
        </p:nvSpPr>
        <p:spPr>
          <a:xfrm>
            <a:off x="4325112" y="2532888"/>
            <a:ext cx="1280160" cy="274320"/>
          </a:xfrm>
          <a:prstGeom prst="rect">
            <a:avLst/>
          </a:prstGeom>
          <a:noFill/>
          <a:ln/>
        </p:spPr>
        <p:txBody>
          <a:bodyPr wrap="square" lIns="0" tIns="0" rIns="0" bIns="0" rtlCol="0" anchor="ctr"/>
          <a:lstStyle/>
          <a:p>
            <a:pPr marL="0" indent="0" algn="ctr">
              <a:buNone/>
            </a:pPr>
            <a:r>
              <a:rPr lang="en-US" sz="1500" b="1" dirty="0">
                <a:solidFill>
                  <a:srgbClr val="C58A24"/>
                </a:solidFill>
                <a:latin typeface="微软雅黑" panose="020B0503020204020204" pitchFamily="34" charset="-122"/>
                <a:ea typeface="微软雅黑" panose="020B0503020204020204" pitchFamily="34" charset="-122"/>
                <a:cs typeface="Noto Sans CJK SC" pitchFamily="34" charset="-120"/>
              </a:rPr>
              <a:t>1992</a:t>
            </a:r>
            <a:endParaRPr lang="en-US" sz="1500" dirty="0">
              <a:latin typeface="微软雅黑" panose="020B0503020204020204" pitchFamily="34" charset="-122"/>
              <a:ea typeface="微软雅黑" panose="020B0503020204020204" pitchFamily="34" charset="-122"/>
            </a:endParaRPr>
          </a:p>
        </p:txBody>
      </p:sp>
      <p:sp>
        <p:nvSpPr>
          <p:cNvPr id="13" name="Text 11"/>
          <p:cNvSpPr/>
          <p:nvPr/>
        </p:nvSpPr>
        <p:spPr>
          <a:xfrm>
            <a:off x="4142232" y="3483864"/>
            <a:ext cx="1645920" cy="914400"/>
          </a:xfrm>
          <a:prstGeom prst="rect">
            <a:avLst/>
          </a:prstGeom>
          <a:noFill/>
          <a:ln/>
        </p:spPr>
        <p:txBody>
          <a:bodyPr wrap="square" lIns="127" tIns="127" rIns="127" bIns="127"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TD-Gammon 展现实战能力</a:t>
            </a:r>
            <a:endParaRPr lang="en-US" sz="1600" dirty="0">
              <a:latin typeface="微软雅黑" panose="020B0503020204020204" pitchFamily="34" charset="-122"/>
              <a:ea typeface="微软雅黑" panose="020B0503020204020204" pitchFamily="34" charset="-122"/>
            </a:endParaRPr>
          </a:p>
        </p:txBody>
      </p:sp>
      <p:sp>
        <p:nvSpPr>
          <p:cNvPr id="14" name="Shape 12"/>
          <p:cNvSpPr/>
          <p:nvPr/>
        </p:nvSpPr>
        <p:spPr>
          <a:xfrm>
            <a:off x="6821424" y="3145536"/>
            <a:ext cx="201168" cy="201168"/>
          </a:xfrm>
          <a:prstGeom prst="ellipse">
            <a:avLst/>
          </a:prstGeom>
          <a:solidFill>
            <a:srgbClr val="C63F45"/>
          </a:solidFill>
          <a:ln w="12700">
            <a:solidFill>
              <a:srgbClr val="C63F45"/>
            </a:solidFill>
            <a:prstDash val="solid"/>
          </a:ln>
        </p:spPr>
      </p:sp>
      <p:sp>
        <p:nvSpPr>
          <p:cNvPr id="15" name="Text 13"/>
          <p:cNvSpPr/>
          <p:nvPr/>
        </p:nvSpPr>
        <p:spPr>
          <a:xfrm>
            <a:off x="6281928" y="2532888"/>
            <a:ext cx="1280160" cy="274320"/>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2013</a:t>
            </a:r>
            <a:endParaRPr lang="en-US" sz="1500" dirty="0">
              <a:latin typeface="微软雅黑" panose="020B0503020204020204" pitchFamily="34" charset="-122"/>
              <a:ea typeface="微软雅黑" panose="020B0503020204020204" pitchFamily="34" charset="-122"/>
            </a:endParaRPr>
          </a:p>
        </p:txBody>
      </p:sp>
      <p:sp>
        <p:nvSpPr>
          <p:cNvPr id="16" name="Text 14"/>
          <p:cNvSpPr/>
          <p:nvPr/>
        </p:nvSpPr>
        <p:spPr>
          <a:xfrm>
            <a:off x="6099048" y="3483864"/>
            <a:ext cx="1645920" cy="914400"/>
          </a:xfrm>
          <a:prstGeom prst="rect">
            <a:avLst/>
          </a:prstGeom>
          <a:noFill/>
          <a:ln/>
        </p:spPr>
        <p:txBody>
          <a:bodyPr wrap="square" lIns="127" tIns="127" rIns="127" bIns="127"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DQN 推动深度强化学习</a:t>
            </a:r>
            <a:endParaRPr lang="en-US" sz="1600" dirty="0">
              <a:latin typeface="微软雅黑" panose="020B0503020204020204" pitchFamily="34" charset="-122"/>
              <a:ea typeface="微软雅黑" panose="020B0503020204020204" pitchFamily="34" charset="-122"/>
            </a:endParaRPr>
          </a:p>
        </p:txBody>
      </p:sp>
      <p:sp>
        <p:nvSpPr>
          <p:cNvPr id="17" name="Shape 15"/>
          <p:cNvSpPr/>
          <p:nvPr/>
        </p:nvSpPr>
        <p:spPr>
          <a:xfrm>
            <a:off x="8778240" y="3145536"/>
            <a:ext cx="201168" cy="201168"/>
          </a:xfrm>
          <a:prstGeom prst="ellipse">
            <a:avLst/>
          </a:prstGeom>
          <a:solidFill>
            <a:srgbClr val="7558A8"/>
          </a:solidFill>
          <a:ln w="12700">
            <a:solidFill>
              <a:srgbClr val="7558A8"/>
            </a:solidFill>
            <a:prstDash val="solid"/>
          </a:ln>
        </p:spPr>
      </p:sp>
      <p:sp>
        <p:nvSpPr>
          <p:cNvPr id="18" name="Text 16"/>
          <p:cNvSpPr/>
          <p:nvPr/>
        </p:nvSpPr>
        <p:spPr>
          <a:xfrm>
            <a:off x="8238744" y="2532888"/>
            <a:ext cx="1280160" cy="274320"/>
          </a:xfrm>
          <a:prstGeom prst="rect">
            <a:avLst/>
          </a:prstGeom>
          <a:noFill/>
          <a:ln/>
        </p:spPr>
        <p:txBody>
          <a:bodyPr wrap="square" lIns="0" tIns="0" rIns="0" bIns="0" rtlCol="0" anchor="ctr"/>
          <a:lstStyle/>
          <a:p>
            <a:pPr marL="0" indent="0" algn="ctr">
              <a:buNone/>
            </a:pPr>
            <a:r>
              <a:rPr lang="en-US" sz="1500" b="1" dirty="0">
                <a:solidFill>
                  <a:srgbClr val="7558A8"/>
                </a:solidFill>
                <a:latin typeface="微软雅黑" panose="020B0503020204020204" pitchFamily="34" charset="-122"/>
                <a:ea typeface="微软雅黑" panose="020B0503020204020204" pitchFamily="34" charset="-122"/>
                <a:cs typeface="Noto Sans CJK SC" pitchFamily="34" charset="-120"/>
              </a:rPr>
              <a:t>2016</a:t>
            </a:r>
            <a:endParaRPr lang="en-US" sz="1500" dirty="0">
              <a:latin typeface="微软雅黑" panose="020B0503020204020204" pitchFamily="34" charset="-122"/>
              <a:ea typeface="微软雅黑" panose="020B0503020204020204" pitchFamily="34" charset="-122"/>
            </a:endParaRPr>
          </a:p>
        </p:txBody>
      </p:sp>
      <p:sp>
        <p:nvSpPr>
          <p:cNvPr id="19" name="Text 17"/>
          <p:cNvSpPr/>
          <p:nvPr/>
        </p:nvSpPr>
        <p:spPr>
          <a:xfrm>
            <a:off x="8055864" y="3483864"/>
            <a:ext cx="1645920" cy="914400"/>
          </a:xfrm>
          <a:prstGeom prst="rect">
            <a:avLst/>
          </a:prstGeom>
          <a:noFill/>
          <a:ln/>
        </p:spPr>
        <p:txBody>
          <a:bodyPr wrap="square" lIns="127" tIns="127" rIns="127" bIns="127"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AlphaGo 将强化学习推向世界舞台</a:t>
            </a:r>
            <a:endParaRPr lang="en-US" sz="1600" dirty="0">
              <a:latin typeface="微软雅黑" panose="020B0503020204020204" pitchFamily="34" charset="-122"/>
              <a:ea typeface="微软雅黑" panose="020B0503020204020204" pitchFamily="34" charset="-122"/>
            </a:endParaRPr>
          </a:p>
        </p:txBody>
      </p:sp>
      <p:sp>
        <p:nvSpPr>
          <p:cNvPr id="20" name="Shape 18"/>
          <p:cNvSpPr/>
          <p:nvPr/>
        </p:nvSpPr>
        <p:spPr>
          <a:xfrm>
            <a:off x="10735056" y="3145536"/>
            <a:ext cx="201168" cy="201168"/>
          </a:xfrm>
          <a:prstGeom prst="ellipse">
            <a:avLst/>
          </a:prstGeom>
          <a:solidFill>
            <a:srgbClr val="4F73B5"/>
          </a:solidFill>
          <a:ln w="12700">
            <a:solidFill>
              <a:srgbClr val="4F73B5"/>
            </a:solidFill>
            <a:prstDash val="solid"/>
          </a:ln>
        </p:spPr>
      </p:sp>
      <p:sp>
        <p:nvSpPr>
          <p:cNvPr id="21" name="Text 19"/>
          <p:cNvSpPr/>
          <p:nvPr/>
        </p:nvSpPr>
        <p:spPr>
          <a:xfrm>
            <a:off x="10195560" y="2532888"/>
            <a:ext cx="1280160" cy="274320"/>
          </a:xfrm>
          <a:prstGeom prst="rect">
            <a:avLst/>
          </a:prstGeom>
          <a:noFill/>
          <a:ln/>
        </p:spPr>
        <p:txBody>
          <a:bodyPr wrap="square" lIns="0" tIns="0" rIns="0" bIns="0" rtlCol="0" anchor="ctr"/>
          <a:lstStyle/>
          <a:p>
            <a:pPr marL="0" indent="0" algn="ctr">
              <a:buNone/>
            </a:pPr>
            <a:r>
              <a:rPr lang="en-US" sz="1500" b="1" dirty="0">
                <a:solidFill>
                  <a:srgbClr val="4F73B5"/>
                </a:solidFill>
                <a:latin typeface="微软雅黑" panose="020B0503020204020204" pitchFamily="34" charset="-122"/>
                <a:ea typeface="微软雅黑" panose="020B0503020204020204" pitchFamily="34" charset="-122"/>
                <a:cs typeface="Noto Sans CJK SC" pitchFamily="34" charset="-120"/>
              </a:rPr>
              <a:t>2024</a:t>
            </a:r>
            <a:endParaRPr lang="en-US" sz="1500" dirty="0">
              <a:latin typeface="微软雅黑" panose="020B0503020204020204" pitchFamily="34" charset="-122"/>
              <a:ea typeface="微软雅黑" panose="020B0503020204020204" pitchFamily="34" charset="-122"/>
            </a:endParaRPr>
          </a:p>
        </p:txBody>
      </p:sp>
      <p:sp>
        <p:nvSpPr>
          <p:cNvPr id="22" name="Text 20"/>
          <p:cNvSpPr/>
          <p:nvPr/>
        </p:nvSpPr>
        <p:spPr>
          <a:xfrm>
            <a:off x="10012680" y="3483864"/>
            <a:ext cx="1792224" cy="914400"/>
          </a:xfrm>
          <a:prstGeom prst="rect">
            <a:avLst/>
          </a:prstGeom>
          <a:noFill/>
          <a:ln/>
        </p:spPr>
        <p:txBody>
          <a:bodyPr wrap="square" lIns="127" tIns="127" rIns="127" bIns="127"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 Sutton 与 Barto 获图灵奖</a:t>
            </a:r>
            <a:endParaRPr lang="en-US" sz="1600" dirty="0">
              <a:latin typeface="微软雅黑" panose="020B0503020204020204" pitchFamily="34" charset="-122"/>
              <a:ea typeface="微软雅黑" panose="020B0503020204020204" pitchFamily="34" charset="-122"/>
            </a:endParaRPr>
          </a:p>
        </p:txBody>
      </p:sp>
      <p:sp>
        <p:nvSpPr>
          <p:cNvPr id="23" name="Text 21"/>
          <p:cNvSpPr/>
          <p:nvPr/>
        </p:nvSpPr>
        <p:spPr>
          <a:xfrm>
            <a:off x="914400" y="1664208"/>
            <a:ext cx="10241280" cy="621792"/>
          </a:xfrm>
          <a:prstGeom prst="rect">
            <a:avLst/>
          </a:prstGeom>
          <a:noFill/>
          <a:ln/>
        </p:spPr>
        <p:txBody>
          <a:bodyPr wrap="square" lIns="0" tIns="0" rIns="0" bIns="0" rtlCol="0" anchor="ctr">
            <a:normAutofit/>
          </a:bodyPr>
          <a:lstStyle/>
          <a:p>
            <a:pPr marL="0" indent="0" algn="ctr">
              <a:buNone/>
            </a:pPr>
            <a:r>
              <a:rPr lang="en-US" sz="1900" b="1" dirty="0">
                <a:solidFill>
                  <a:srgbClr val="24477D"/>
                </a:solidFill>
                <a:latin typeface="微软雅黑" panose="020B0503020204020204" pitchFamily="34" charset="-122"/>
                <a:ea typeface="微软雅黑" panose="020B0503020204020204" pitchFamily="34" charset="-122"/>
                <a:cs typeface="Noto Sans CJK SC" pitchFamily="34" charset="-120"/>
              </a:rPr>
              <a:t>强化学习已从仿真与游戏扩展到人形机器人动作学习、机械臂通用操作及大模型对齐。</a:t>
            </a:r>
            <a:endParaRPr lang="en-US" sz="19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3.1.2 原理与数学框架：马尔可夫性质</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868680" y="1691640"/>
            <a:ext cx="10104120" cy="1442720"/>
          </a:xfrm>
          <a:prstGeom prst="roundRect">
            <a:avLst>
              <a:gd name="adj" fmla="val 232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868680" y="1691640"/>
            <a:ext cx="64008" cy="1442719"/>
          </a:xfrm>
          <a:prstGeom prst="rect">
            <a:avLst/>
          </a:prstGeom>
          <a:solidFill>
            <a:srgbClr val="31599B"/>
          </a:solidFill>
          <a:ln w="12700">
            <a:solidFill>
              <a:srgbClr val="31599B"/>
            </a:solidFill>
            <a:prstDash val="solid"/>
          </a:ln>
        </p:spPr>
      </p:sp>
      <p:sp>
        <p:nvSpPr>
          <p:cNvPr id="6" name="Text 4"/>
          <p:cNvSpPr/>
          <p:nvPr/>
        </p:nvSpPr>
        <p:spPr>
          <a:xfrm>
            <a:off x="1078992" y="1837944"/>
            <a:ext cx="9720072" cy="329184"/>
          </a:xfrm>
          <a:prstGeom prst="rect">
            <a:avLst/>
          </a:prstGeom>
          <a:noFill/>
          <a:ln/>
        </p:spPr>
        <p:txBody>
          <a:bodyPr wrap="square" lIns="0" tIns="0" rIns="0" bIns="0" rtlCol="0" anchor="ctr">
            <a:normAutofit fontScale="92500" lnSpcReduction="20000"/>
          </a:bodyPr>
          <a:lstStyle/>
          <a:p>
            <a:pPr marL="0" indent="0">
              <a:buNone/>
            </a:pPr>
            <a:r>
              <a:rPr lang="en-US" sz="2800" b="1" dirty="0" err="1">
                <a:solidFill>
                  <a:srgbClr val="31599B"/>
                </a:solidFill>
                <a:latin typeface="微软雅黑" panose="020B0503020204020204" pitchFamily="34" charset="-122"/>
                <a:ea typeface="微软雅黑" panose="020B0503020204020204" pitchFamily="34" charset="-122"/>
                <a:cs typeface="Noto Sans CJK SC" pitchFamily="34" charset="-120"/>
              </a:rPr>
              <a:t>假设</a:t>
            </a:r>
            <a:endParaRPr lang="en-US" sz="2800" dirty="0">
              <a:latin typeface="微软雅黑" panose="020B0503020204020204" pitchFamily="34" charset="-122"/>
            </a:endParaRPr>
          </a:p>
        </p:txBody>
      </p:sp>
      <p:sp>
        <p:nvSpPr>
          <p:cNvPr id="7" name="Text 5"/>
          <p:cNvSpPr/>
          <p:nvPr/>
        </p:nvSpPr>
        <p:spPr>
          <a:xfrm>
            <a:off x="1078992" y="2263007"/>
            <a:ext cx="9720072" cy="595603"/>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未来状态仅依赖当前状态和动作，而不依赖完整历史序列。</a:t>
            </a:r>
            <a:endParaRPr lang="en-US" sz="2400" dirty="0">
              <a:latin typeface="微软雅黑" panose="020B0503020204020204" pitchFamily="34" charset="-122"/>
            </a:endParaRPr>
          </a:p>
        </p:txBody>
      </p:sp>
      <p:sp>
        <p:nvSpPr>
          <p:cNvPr id="8" name="Shape 6"/>
          <p:cNvSpPr/>
          <p:nvPr/>
        </p:nvSpPr>
        <p:spPr>
          <a:xfrm>
            <a:off x="2931160" y="3472308"/>
            <a:ext cx="2194560" cy="658368"/>
          </a:xfrm>
          <a:prstGeom prst="chevron">
            <a:avLst/>
          </a:prstGeom>
          <a:solidFill>
            <a:srgbClr val="EDF2FA"/>
          </a:solidFill>
          <a:ln w="12700">
            <a:solidFill>
              <a:srgbClr val="D2DDEA"/>
            </a:solidFill>
            <a:prstDash val="solid"/>
          </a:ln>
        </p:spPr>
      </p:sp>
      <p:sp>
        <p:nvSpPr>
          <p:cNvPr id="9" name="Text 7"/>
          <p:cNvSpPr/>
          <p:nvPr/>
        </p:nvSpPr>
        <p:spPr>
          <a:xfrm>
            <a:off x="3251200" y="3673476"/>
            <a:ext cx="1554480" cy="228600"/>
          </a:xfrm>
          <a:prstGeom prst="rect">
            <a:avLst/>
          </a:prstGeom>
          <a:noFill/>
          <a:ln/>
        </p:spPr>
        <p:txBody>
          <a:bodyPr wrap="square" lIns="0" tIns="0" rIns="0" bIns="0" rtlCol="0" anchor="ctr"/>
          <a:lstStyle/>
          <a:p>
            <a:pPr marL="0" indent="0" algn="ctr">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当前状态 s</a:t>
            </a:r>
            <a:endParaRPr lang="en-US" sz="2000" dirty="0">
              <a:latin typeface="微软雅黑" panose="020B0503020204020204" pitchFamily="34" charset="-122"/>
            </a:endParaRPr>
          </a:p>
        </p:txBody>
      </p:sp>
      <p:sp>
        <p:nvSpPr>
          <p:cNvPr id="10" name="Shape 8"/>
          <p:cNvSpPr/>
          <p:nvPr/>
        </p:nvSpPr>
        <p:spPr>
          <a:xfrm>
            <a:off x="4866640" y="3482468"/>
            <a:ext cx="2194560" cy="658368"/>
          </a:xfrm>
          <a:prstGeom prst="chevron">
            <a:avLst/>
          </a:prstGeom>
          <a:solidFill>
            <a:srgbClr val="EAF5F1"/>
          </a:solidFill>
          <a:ln w="12700">
            <a:solidFill>
              <a:srgbClr val="C8E4DA"/>
            </a:solidFill>
            <a:prstDash val="solid"/>
          </a:ln>
        </p:spPr>
      </p:sp>
      <p:sp>
        <p:nvSpPr>
          <p:cNvPr id="11" name="Text 9"/>
          <p:cNvSpPr/>
          <p:nvPr/>
        </p:nvSpPr>
        <p:spPr>
          <a:xfrm>
            <a:off x="5278120" y="3683636"/>
            <a:ext cx="1371600" cy="228600"/>
          </a:xfrm>
          <a:prstGeom prst="rect">
            <a:avLst/>
          </a:prstGeom>
          <a:noFill/>
          <a:ln/>
        </p:spPr>
        <p:txBody>
          <a:bodyPr wrap="square" lIns="0" tIns="0" rIns="0" bIns="0" rtlCol="0" anchor="ctr"/>
          <a:lstStyle/>
          <a:p>
            <a:pPr marL="0" indent="0" algn="ctr">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动作 a</a:t>
            </a:r>
            <a:endParaRPr lang="en-US" sz="2000" dirty="0">
              <a:latin typeface="微软雅黑" panose="020B0503020204020204" pitchFamily="34" charset="-122"/>
            </a:endParaRPr>
          </a:p>
        </p:txBody>
      </p:sp>
      <p:sp>
        <p:nvSpPr>
          <p:cNvPr id="12" name="Shape 10"/>
          <p:cNvSpPr/>
          <p:nvPr/>
        </p:nvSpPr>
        <p:spPr>
          <a:xfrm>
            <a:off x="6842760" y="3472308"/>
            <a:ext cx="2194560" cy="658368"/>
          </a:xfrm>
          <a:prstGeom prst="chevron">
            <a:avLst/>
          </a:prstGeom>
          <a:solidFill>
            <a:srgbClr val="FFF4DE"/>
          </a:solidFill>
          <a:ln w="12700">
            <a:solidFill>
              <a:srgbClr val="F0D89A"/>
            </a:solidFill>
            <a:prstDash val="solid"/>
          </a:ln>
        </p:spPr>
      </p:sp>
      <p:sp>
        <p:nvSpPr>
          <p:cNvPr id="13" name="Text 11"/>
          <p:cNvSpPr/>
          <p:nvPr/>
        </p:nvSpPr>
        <p:spPr>
          <a:xfrm>
            <a:off x="7135368" y="3673476"/>
            <a:ext cx="1627632" cy="228600"/>
          </a:xfrm>
          <a:prstGeom prst="rect">
            <a:avLst/>
          </a:prstGeom>
          <a:noFill/>
          <a:ln/>
        </p:spPr>
        <p:txBody>
          <a:bodyPr wrap="square" lIns="0" tIns="0" rIns="0" bIns="0" rtlCol="0" anchor="ctr"/>
          <a:lstStyle/>
          <a:p>
            <a:pPr marL="0" indent="0" algn="ctr">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下一状态 s′</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29</a:t>
            </a:fld>
            <a:endParaRPr lang="en-US" dirty="0">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E0ED1210-2982-4A5E-00C7-493316B9D5B0}"/>
              </a:ext>
            </a:extLst>
          </p:cNvPr>
          <p:cNvPicPr>
            <a:picLocks noChangeAspect="1"/>
          </p:cNvPicPr>
          <p:nvPr/>
        </p:nvPicPr>
        <p:blipFill>
          <a:blip r:embed="rId3"/>
          <a:stretch>
            <a:fillRect/>
          </a:stretch>
        </p:blipFill>
        <p:spPr>
          <a:xfrm>
            <a:off x="1019048" y="4631728"/>
            <a:ext cx="10153904" cy="8729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30352" y="596839"/>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贝尔曼方程</a:t>
            </a:r>
            <a:endParaRPr lang="en-US" sz="3500" dirty="0">
              <a:latin typeface="微软雅黑" panose="020B0503020204020204" pitchFamily="34" charset="-122"/>
            </a:endParaRPr>
          </a:p>
        </p:txBody>
      </p:sp>
      <p:sp>
        <p:nvSpPr>
          <p:cNvPr id="3" name="Text 1"/>
          <p:cNvSpPr/>
          <p:nvPr/>
        </p:nvSpPr>
        <p:spPr>
          <a:xfrm>
            <a:off x="596135" y="1524570"/>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微软雅黑" panose="020B0503020204020204" pitchFamily="34" charset="-122"/>
                <a:ea typeface="微软雅黑" panose="020B0503020204020204" pitchFamily="34" charset="-122"/>
                <a:cs typeface="Noto Sans CJK SC" pitchFamily="34" charset="-120"/>
              </a:rPr>
              <a:t>3.1.2 原理与数学框架</a:t>
            </a:r>
            <a:endParaRPr lang="en-US" sz="2400" dirty="0">
              <a:latin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192423"/>
            <a:ext cx="10607040" cy="493776"/>
          </a:xfrm>
          <a:prstGeom prst="rect">
            <a:avLst/>
          </a:prstGeom>
          <a:noFill/>
          <a:ln/>
        </p:spPr>
        <p:txBody>
          <a:bodyPr wrap="square" lIns="0" tIns="0" rIns="0" bIns="0" rtlCol="0" anchor="ctr">
            <a:normAutofit/>
          </a:bodyPr>
          <a:lstStyle/>
          <a:p>
            <a:pPr marL="285750" indent="-28575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贝尔曼方程把当前价值分解为“即时奖励 + 折扣后的下一状态价值”。</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898223" y="3187083"/>
            <a:ext cx="7635240" cy="86575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3.png"/>
          <p:cNvPicPr>
            <a:picLocks noChangeAspect="1"/>
          </p:cNvPicPr>
          <p:nvPr/>
        </p:nvPicPr>
        <p:blipFill>
          <a:blip r:embed="rId3"/>
          <a:srcRect l="28942" t="19595" r="28270" b="28642"/>
          <a:stretch>
            <a:fillRect/>
          </a:stretch>
        </p:blipFill>
        <p:spPr>
          <a:xfrm>
            <a:off x="2822921" y="3248162"/>
            <a:ext cx="5801558" cy="766508"/>
          </a:xfrm>
          <a:prstGeom prst="rect">
            <a:avLst/>
          </a:prstGeom>
        </p:spPr>
      </p:pic>
      <p:sp>
        <p:nvSpPr>
          <p:cNvPr id="13" name="Shape 10"/>
          <p:cNvSpPr/>
          <p:nvPr/>
        </p:nvSpPr>
        <p:spPr>
          <a:xfrm>
            <a:off x="713232" y="5410942"/>
            <a:ext cx="10716768" cy="699915"/>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379338"/>
            <a:ext cx="10241280"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价值函数</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为</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递归结构</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形式</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，为值迭代、策略迭代等方法提供基础。</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30</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2ADC38B0-AB62-5874-935B-3CB1FEE7E84D}"/>
              </a:ext>
            </a:extLst>
          </p:cNvPr>
          <p:cNvSpPr/>
          <p:nvPr/>
        </p:nvSpPr>
        <p:spPr>
          <a:xfrm>
            <a:off x="639699" y="4506471"/>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ndParaRPr>
          </a:p>
        </p:txBody>
      </p:sp>
      <p:sp>
        <p:nvSpPr>
          <p:cNvPr id="18" name="Text 7">
            <a:extLst>
              <a:ext uri="{FF2B5EF4-FFF2-40B4-BE49-F238E27FC236}">
                <a16:creationId xmlns:a16="http://schemas.microsoft.com/office/drawing/2014/main" id="{26ADAF69-305B-1A93-850D-5C006AE528AF}"/>
              </a:ext>
            </a:extLst>
          </p:cNvPr>
          <p:cNvSpPr/>
          <p:nvPr/>
        </p:nvSpPr>
        <p:spPr>
          <a:xfrm>
            <a:off x="2136303" y="4432808"/>
            <a:ext cx="8836497" cy="487678"/>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a：当前动作</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s′：</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下一状态</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P：</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状态</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转移</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V</a:t>
            </a:r>
            <a:r>
              <a:rPr lang="en-US" altLang="zh-CN" sz="2400" baseline="300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策略下状态价值</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贝尔曼最优方程</a:t>
            </a:r>
            <a:endParaRPr lang="en-US" sz="3500" dirty="0">
              <a:latin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649224" y="1936308"/>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最优价值函数在每个状态上选择能够带来最大期望回报的动作。</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713232" y="2715768"/>
            <a:ext cx="7635240" cy="804673"/>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4.png"/>
          <p:cNvPicPr>
            <a:picLocks noChangeAspect="1"/>
          </p:cNvPicPr>
          <p:nvPr/>
        </p:nvPicPr>
        <p:blipFill>
          <a:blip r:embed="rId3"/>
          <a:srcRect l="28143" t="22190" r="26631" b="28260"/>
          <a:stretch>
            <a:fillRect/>
          </a:stretch>
        </p:blipFill>
        <p:spPr>
          <a:xfrm>
            <a:off x="1566908" y="2717676"/>
            <a:ext cx="6082535" cy="736847"/>
          </a:xfrm>
          <a:prstGeom prst="rect">
            <a:avLst/>
          </a:prstGeom>
        </p:spPr>
      </p:pic>
      <p:sp>
        <p:nvSpPr>
          <p:cNvPr id="13" name="Shape 10"/>
          <p:cNvSpPr/>
          <p:nvPr/>
        </p:nvSpPr>
        <p:spPr>
          <a:xfrm>
            <a:off x="713232" y="5184559"/>
            <a:ext cx="10716768" cy="825624"/>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148516"/>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最优策略的求解，本质上与寻找满足贝尔曼最优关系的价值函数紧密相关。</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31</a:t>
            </a:fld>
            <a:endParaRPr lang="en-US" dirty="0">
              <a:latin typeface="微软雅黑" panose="020B0503020204020204" pitchFamily="34" charset="-122"/>
              <a:ea typeface="微软雅黑" panose="020B0503020204020204" pitchFamily="34" charset="-122"/>
            </a:endParaRPr>
          </a:p>
        </p:txBody>
      </p:sp>
      <p:sp>
        <p:nvSpPr>
          <p:cNvPr id="16" name="Text 1">
            <a:extLst>
              <a:ext uri="{FF2B5EF4-FFF2-40B4-BE49-F238E27FC236}">
                <a16:creationId xmlns:a16="http://schemas.microsoft.com/office/drawing/2014/main" id="{EBBA9412-C3DE-6C53-C419-BED5BC352633}"/>
              </a:ext>
            </a:extLst>
          </p:cNvPr>
          <p:cNvSpPr/>
          <p:nvPr/>
        </p:nvSpPr>
        <p:spPr>
          <a:xfrm>
            <a:off x="596135" y="1524570"/>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微软雅黑" panose="020B0503020204020204" pitchFamily="34" charset="-122"/>
                <a:ea typeface="微软雅黑" panose="020B0503020204020204" pitchFamily="34" charset="-122"/>
                <a:cs typeface="Noto Sans CJK SC" pitchFamily="34" charset="-120"/>
              </a:rPr>
              <a:t>3.1.2 原理与数学框架</a:t>
            </a:r>
            <a:endParaRPr lang="en-US" sz="2400" dirty="0">
              <a:latin typeface="微软雅黑" panose="020B0503020204020204" pitchFamily="34" charset="-122"/>
            </a:endParaRPr>
          </a:p>
        </p:txBody>
      </p:sp>
      <p:sp>
        <p:nvSpPr>
          <p:cNvPr id="18" name="Text 6">
            <a:extLst>
              <a:ext uri="{FF2B5EF4-FFF2-40B4-BE49-F238E27FC236}">
                <a16:creationId xmlns:a16="http://schemas.microsoft.com/office/drawing/2014/main" id="{F9487338-B9B1-134B-0C78-049650C93F3E}"/>
              </a:ext>
            </a:extLst>
          </p:cNvPr>
          <p:cNvSpPr/>
          <p:nvPr/>
        </p:nvSpPr>
        <p:spPr>
          <a:xfrm>
            <a:off x="639699" y="4131822"/>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ndParaRPr>
          </a:p>
        </p:txBody>
      </p:sp>
      <p:sp>
        <p:nvSpPr>
          <p:cNvPr id="20" name="Text 7">
            <a:extLst>
              <a:ext uri="{FF2B5EF4-FFF2-40B4-BE49-F238E27FC236}">
                <a16:creationId xmlns:a16="http://schemas.microsoft.com/office/drawing/2014/main" id="{D80412C8-A451-FC1C-BBE5-AF176CA8BF52}"/>
              </a:ext>
            </a:extLst>
          </p:cNvPr>
          <p:cNvSpPr/>
          <p:nvPr/>
        </p:nvSpPr>
        <p:spPr>
          <a:xfrm>
            <a:off x="2136303" y="4058159"/>
            <a:ext cx="8836497" cy="487678"/>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maxₐ：</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对动作取最大</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V*：</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最优状态价值</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P：状态转移</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模型已知</a:t>
            </a:r>
            <a:r>
              <a:rPr lang="en-US" altLang="zh-CN"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VS</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模型未知</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pSp>
        <p:nvGrpSpPr>
          <p:cNvPr id="13" name="组合 12">
            <a:extLst>
              <a:ext uri="{FF2B5EF4-FFF2-40B4-BE49-F238E27FC236}">
                <a16:creationId xmlns:a16="http://schemas.microsoft.com/office/drawing/2014/main" id="{301C3FE4-AB69-B6DB-447E-AEA0FCB476BA}"/>
              </a:ext>
            </a:extLst>
          </p:cNvPr>
          <p:cNvGrpSpPr/>
          <p:nvPr/>
        </p:nvGrpSpPr>
        <p:grpSpPr>
          <a:xfrm>
            <a:off x="777240" y="1664208"/>
            <a:ext cx="5074920" cy="2092452"/>
            <a:chOff x="777240" y="1664208"/>
            <a:chExt cx="5074920" cy="3401568"/>
          </a:xfrm>
        </p:grpSpPr>
        <p:sp>
          <p:nvSpPr>
            <p:cNvPr id="4" name="Shape 2"/>
            <p:cNvSpPr/>
            <p:nvPr/>
          </p:nvSpPr>
          <p:spPr>
            <a:xfrm>
              <a:off x="777240" y="1664208"/>
              <a:ext cx="5074920" cy="3401568"/>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3401568"/>
            </a:xfrm>
            <a:prstGeom prst="rect">
              <a:avLst/>
            </a:prstGeom>
            <a:solidFill>
              <a:srgbClr val="31599B"/>
            </a:solidFill>
            <a:ln w="12700">
              <a:solidFill>
                <a:srgbClr val="31599B"/>
              </a:solidFill>
              <a:prstDash val="solid"/>
            </a:ln>
          </p:spPr>
        </p:sp>
      </p:gr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动态模型已知</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390940"/>
            <a:ext cx="4690872" cy="1302177"/>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可使用值迭代（Value Iteration）或策略迭代（Policy Iteration）逼近最优方案。</a:t>
            </a:r>
            <a:endParaRPr lang="en-US" sz="2400" dirty="0">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277C58C5-EBB9-EB45-9E95-69265E7D6BF5}"/>
              </a:ext>
            </a:extLst>
          </p:cNvPr>
          <p:cNvGrpSpPr/>
          <p:nvPr/>
        </p:nvGrpSpPr>
        <p:grpSpPr>
          <a:xfrm>
            <a:off x="6172200" y="1664208"/>
            <a:ext cx="5074920" cy="2092452"/>
            <a:chOff x="6172200" y="1664208"/>
            <a:chExt cx="5074920" cy="3401568"/>
          </a:xfrm>
        </p:grpSpPr>
        <p:sp>
          <p:nvSpPr>
            <p:cNvPr id="8" name="Shape 6"/>
            <p:cNvSpPr/>
            <p:nvPr/>
          </p:nvSpPr>
          <p:spPr>
            <a:xfrm>
              <a:off x="6172200" y="1664208"/>
              <a:ext cx="5074920" cy="3401568"/>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64208"/>
              <a:ext cx="64008" cy="3401568"/>
            </a:xfrm>
            <a:prstGeom prst="rect">
              <a:avLst/>
            </a:prstGeom>
            <a:solidFill>
              <a:srgbClr val="2F8E72"/>
            </a:solidFill>
            <a:ln w="12700">
              <a:solidFill>
                <a:srgbClr val="2F8E72"/>
              </a:solidFill>
              <a:prstDash val="solid"/>
            </a:ln>
          </p:spPr>
        </p:sp>
      </p:gr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动态模型未知</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390940"/>
            <a:ext cx="4690872" cy="1240033"/>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需要借助采样轨迹，例如 τ=(s₀,a₀,r₀,s₁,…) 来估测模型或直接精炼策略。</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32</a:t>
            </a:fld>
            <a:endParaRPr lang="en-US" dirty="0">
              <a:latin typeface="微软雅黑" panose="020B0503020204020204" pitchFamily="34" charset="-122"/>
              <a:ea typeface="微软雅黑" panose="020B0503020204020204" pitchFamily="34" charset="-122"/>
            </a:endParaRPr>
          </a:p>
        </p:txBody>
      </p:sp>
      <p:sp>
        <p:nvSpPr>
          <p:cNvPr id="16" name="Shape 10">
            <a:extLst>
              <a:ext uri="{FF2B5EF4-FFF2-40B4-BE49-F238E27FC236}">
                <a16:creationId xmlns:a16="http://schemas.microsoft.com/office/drawing/2014/main" id="{A3FE2098-CCF1-03E7-B215-A50420F3EABD}"/>
              </a:ext>
            </a:extLst>
          </p:cNvPr>
          <p:cNvSpPr/>
          <p:nvPr/>
        </p:nvSpPr>
        <p:spPr>
          <a:xfrm>
            <a:off x="809244" y="4445742"/>
            <a:ext cx="10716768" cy="699915"/>
          </a:xfrm>
          <a:prstGeom prst="roundRect">
            <a:avLst>
              <a:gd name="adj" fmla="val 2817"/>
            </a:avLst>
          </a:prstGeom>
          <a:solidFill>
            <a:srgbClr val="FFF4DE"/>
          </a:solidFill>
          <a:ln w="12700">
            <a:solidFill>
              <a:srgbClr val="F0D89A"/>
            </a:solidFill>
            <a:prstDash val="solid"/>
          </a:ln>
        </p:spPr>
      </p:sp>
      <p:sp>
        <p:nvSpPr>
          <p:cNvPr id="12" name="Text 10"/>
          <p:cNvSpPr/>
          <p:nvPr/>
        </p:nvSpPr>
        <p:spPr>
          <a:xfrm>
            <a:off x="1010412" y="4685538"/>
            <a:ext cx="10698480" cy="329184"/>
          </a:xfrm>
          <a:prstGeom prst="rect">
            <a:avLst/>
          </a:prstGeom>
          <a:noFill/>
          <a:ln/>
        </p:spPr>
        <p:txBody>
          <a:bodyPr wrap="square" lIns="0" tIns="0" rIns="0" bIns="0" rtlCol="0" anchor="ctr">
            <a:normAutofit fontScale="92500" lnSpcReduction="10000"/>
          </a:bodyPr>
          <a:lstStyle/>
          <a:p>
            <a:r>
              <a:rPr lang="en-US" altLang="zh-CN" sz="2400" dirty="0" err="1">
                <a:solidFill>
                  <a:srgbClr val="222833"/>
                </a:solidFill>
                <a:latin typeface="微软雅黑" panose="020B0503020204020204" pitchFamily="34" charset="-122"/>
                <a:ea typeface="微软雅黑" panose="020B0503020204020204" pitchFamily="34" charset="-122"/>
              </a:rPr>
              <a:t>许多</a:t>
            </a:r>
            <a:r>
              <a:rPr lang="en-US" sz="2400" dirty="0" err="1">
                <a:solidFill>
                  <a:srgbClr val="222833"/>
                </a:solidFill>
                <a:latin typeface="微软雅黑" panose="020B0503020204020204" pitchFamily="34" charset="-122"/>
                <a:ea typeface="微软雅黑" panose="020B0503020204020204" pitchFamily="34" charset="-122"/>
              </a:rPr>
              <a:t>强化学习算法</a:t>
            </a:r>
            <a:r>
              <a:rPr lang="zh-CN" altLang="en-US" sz="2400" dirty="0">
                <a:solidFill>
                  <a:srgbClr val="222833"/>
                </a:solidFill>
                <a:latin typeface="微软雅黑" panose="020B0503020204020204" pitchFamily="34" charset="-122"/>
                <a:ea typeface="微软雅黑" panose="020B0503020204020204" pitchFamily="34" charset="-122"/>
              </a:rPr>
              <a:t>的</a:t>
            </a:r>
            <a:r>
              <a:rPr lang="en-US" sz="2400" dirty="0" err="1">
                <a:solidFill>
                  <a:srgbClr val="222833"/>
                </a:solidFill>
                <a:latin typeface="微软雅黑" panose="020B0503020204020204" pitchFamily="34" charset="-122"/>
                <a:ea typeface="微软雅黑" panose="020B0503020204020204" pitchFamily="34" charset="-122"/>
              </a:rPr>
              <a:t>差异</a:t>
            </a:r>
            <a:r>
              <a:rPr lang="zh-CN" altLang="en-US" sz="2400" dirty="0">
                <a:solidFill>
                  <a:srgbClr val="222833"/>
                </a:solidFill>
                <a:latin typeface="微软雅黑" panose="020B0503020204020204" pitchFamily="34" charset="-122"/>
                <a:ea typeface="微软雅黑" panose="020B0503020204020204" pitchFamily="34" charset="-122"/>
              </a:rPr>
              <a:t>在于</a:t>
            </a:r>
            <a:r>
              <a:rPr lang="en-US" sz="2400" dirty="0">
                <a:solidFill>
                  <a:srgbClr val="222833"/>
                </a:solidFill>
                <a:latin typeface="微软雅黑" panose="020B0503020204020204" pitchFamily="34" charset="-122"/>
                <a:ea typeface="微软雅黑" panose="020B0503020204020204" pitchFamily="34" charset="-122"/>
              </a:rPr>
              <a:t>“</a:t>
            </a:r>
            <a:r>
              <a:rPr lang="en-US" sz="2400" dirty="0" err="1">
                <a:solidFill>
                  <a:srgbClr val="222833"/>
                </a:solidFill>
                <a:latin typeface="微软雅黑" panose="020B0503020204020204" pitchFamily="34" charset="-122"/>
                <a:ea typeface="微软雅黑" panose="020B0503020204020204" pitchFamily="34" charset="-122"/>
              </a:rPr>
              <a:t>是否显式使用环境模型”以及“如何使用采样经验</a:t>
            </a:r>
            <a:r>
              <a:rPr lang="en-US" sz="2400" dirty="0">
                <a:solidFill>
                  <a:srgbClr val="222833"/>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学习率与探索率</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91640"/>
            <a:ext cx="5074920" cy="2219959"/>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91640"/>
            <a:ext cx="64008" cy="2219959"/>
          </a:xfrm>
          <a:prstGeom prst="rect">
            <a:avLst/>
          </a:prstGeom>
          <a:solidFill>
            <a:srgbClr val="31599B"/>
          </a:solidFill>
          <a:ln w="12700">
            <a:solidFill>
              <a:srgbClr val="31599B"/>
            </a:solidFill>
            <a:prstDash val="solid"/>
          </a:ln>
        </p:spPr>
      </p:sp>
      <p:sp>
        <p:nvSpPr>
          <p:cNvPr id="6" name="Text 4"/>
          <p:cNvSpPr/>
          <p:nvPr/>
        </p:nvSpPr>
        <p:spPr>
          <a:xfrm>
            <a:off x="987552" y="1837944"/>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学习率 Learning Rate</a:t>
            </a:r>
            <a:endParaRPr lang="en-US" sz="2400" dirty="0">
              <a:latin typeface="微软雅黑" panose="020B0503020204020204" pitchFamily="34" charset="-122"/>
            </a:endParaRPr>
          </a:p>
        </p:txBody>
      </p:sp>
      <p:sp>
        <p:nvSpPr>
          <p:cNvPr id="7" name="Text 5"/>
          <p:cNvSpPr/>
          <p:nvPr/>
        </p:nvSpPr>
        <p:spPr>
          <a:xfrm>
            <a:off x="1001268" y="2502915"/>
            <a:ext cx="4690872" cy="1094232"/>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决定参数每次更新的步长</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它会影响算法的收敛速率与可靠性</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ndParaRPr>
          </a:p>
        </p:txBody>
      </p:sp>
      <p:sp>
        <p:nvSpPr>
          <p:cNvPr id="8" name="Shape 6"/>
          <p:cNvSpPr/>
          <p:nvPr/>
        </p:nvSpPr>
        <p:spPr>
          <a:xfrm>
            <a:off x="6172200" y="1691640"/>
            <a:ext cx="5074920" cy="2219958"/>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91640"/>
            <a:ext cx="64008" cy="2219958"/>
          </a:xfrm>
          <a:prstGeom prst="rect">
            <a:avLst/>
          </a:prstGeom>
          <a:solidFill>
            <a:srgbClr val="C58A24"/>
          </a:solidFill>
          <a:ln w="12700">
            <a:solidFill>
              <a:srgbClr val="C58A24"/>
            </a:solidFill>
            <a:prstDash val="solid"/>
          </a:ln>
        </p:spPr>
      </p:sp>
      <p:sp>
        <p:nvSpPr>
          <p:cNvPr id="10" name="Text 8"/>
          <p:cNvSpPr/>
          <p:nvPr/>
        </p:nvSpPr>
        <p:spPr>
          <a:xfrm>
            <a:off x="6382512" y="1837944"/>
            <a:ext cx="46908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探索率 Exploration Rate</a:t>
            </a:r>
            <a:endParaRPr lang="en-US" sz="2400" dirty="0">
              <a:latin typeface="微软雅黑" panose="020B0503020204020204" pitchFamily="34" charset="-122"/>
            </a:endParaRPr>
          </a:p>
        </p:txBody>
      </p:sp>
      <p:sp>
        <p:nvSpPr>
          <p:cNvPr id="11" name="Text 9"/>
          <p:cNvSpPr/>
          <p:nvPr/>
        </p:nvSpPr>
        <p:spPr>
          <a:xfrm>
            <a:off x="6396228" y="2466848"/>
            <a:ext cx="4690872" cy="136347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控制尝试新动作的程度。探索不足可能遗漏更优策略，探索过强则会增加随机性。</a:t>
            </a:r>
            <a:endParaRPr lang="en-US" sz="2400" dirty="0">
              <a:latin typeface="微软雅黑" panose="020B0503020204020204" pitchFamily="34" charset="-122"/>
            </a:endParaRPr>
          </a:p>
        </p:txBody>
      </p:sp>
      <p:sp>
        <p:nvSpPr>
          <p:cNvPr id="12" name="Text 10"/>
          <p:cNvSpPr/>
          <p:nvPr/>
        </p:nvSpPr>
        <p:spPr>
          <a:xfrm>
            <a:off x="591312" y="4336848"/>
            <a:ext cx="10698480" cy="329184"/>
          </a:xfrm>
          <a:prstGeom prst="rect">
            <a:avLst/>
          </a:prstGeom>
          <a:noFill/>
          <a:ln/>
        </p:spPr>
        <p:txBody>
          <a:bodyPr wrap="square" lIns="0" tIns="0" rIns="0" bIns="0" rtlCol="0" anchor="ctr">
            <a:normAutofit/>
          </a:bodyPr>
          <a:lstStyle/>
          <a:p>
            <a:pPr marL="0" indent="0" algn="ctr">
              <a:buNone/>
            </a:pP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33</a:t>
            </a:fld>
            <a:endParaRPr lang="en-US" dirty="0">
              <a:latin typeface="微软雅黑" panose="020B0503020204020204" pitchFamily="34" charset="-122"/>
              <a:ea typeface="微软雅黑" panose="020B0503020204020204" pitchFamily="34" charset="-122"/>
            </a:endParaRPr>
          </a:p>
        </p:txBody>
      </p:sp>
      <p:sp>
        <p:nvSpPr>
          <p:cNvPr id="14" name="Shape 10">
            <a:extLst>
              <a:ext uri="{FF2B5EF4-FFF2-40B4-BE49-F238E27FC236}">
                <a16:creationId xmlns:a16="http://schemas.microsoft.com/office/drawing/2014/main" id="{59F0DE55-DAE1-2432-59A6-EBCC51512E6B}"/>
              </a:ext>
            </a:extLst>
          </p:cNvPr>
          <p:cNvSpPr/>
          <p:nvPr/>
        </p:nvSpPr>
        <p:spPr>
          <a:xfrm>
            <a:off x="845820" y="4766719"/>
            <a:ext cx="10716768" cy="699915"/>
          </a:xfrm>
          <a:prstGeom prst="roundRect">
            <a:avLst>
              <a:gd name="adj" fmla="val 2817"/>
            </a:avLst>
          </a:prstGeom>
          <a:solidFill>
            <a:srgbClr val="FFF4DE"/>
          </a:solidFill>
          <a:ln w="12700">
            <a:solidFill>
              <a:srgbClr val="F0D89A"/>
            </a:solidFill>
            <a:prstDash val="solid"/>
          </a:ln>
        </p:spPr>
      </p:sp>
      <p:sp>
        <p:nvSpPr>
          <p:cNvPr id="16" name="Text 10">
            <a:extLst>
              <a:ext uri="{FF2B5EF4-FFF2-40B4-BE49-F238E27FC236}">
                <a16:creationId xmlns:a16="http://schemas.microsoft.com/office/drawing/2014/main" id="{542B9CA2-D307-33EC-8F70-5B7AC877632E}"/>
              </a:ext>
            </a:extLst>
          </p:cNvPr>
          <p:cNvSpPr/>
          <p:nvPr/>
        </p:nvSpPr>
        <p:spPr>
          <a:xfrm>
            <a:off x="1056132" y="4816402"/>
            <a:ext cx="10698480" cy="624836"/>
          </a:xfrm>
          <a:prstGeom prst="rect">
            <a:avLst/>
          </a:prstGeom>
          <a:noFill/>
          <a:ln/>
        </p:spPr>
        <p:txBody>
          <a:bodyPr wrap="square" lIns="0" tIns="0" rIns="0" bIns="0" rtlCol="0" anchor="ctr">
            <a:normAutofit/>
          </a:bodyPr>
          <a:lstStyle/>
          <a:p>
            <a:pPr algn="ctr"/>
            <a:r>
              <a:rPr lang="en-US" altLang="zh-CN" sz="2400" dirty="0">
                <a:solidFill>
                  <a:srgbClr val="667085"/>
                </a:solidFill>
                <a:latin typeface="Times New Roman" panose="02020603050405020304" pitchFamily="18" charset="0"/>
                <a:ea typeface="微软雅黑" panose="020B0503020204020204" pitchFamily="34" charset="-122"/>
                <a:cs typeface="Times New Roman" panose="02020603050405020304" pitchFamily="18" charset="0"/>
              </a:rPr>
              <a:t>Q </a:t>
            </a:r>
            <a:r>
              <a:rPr lang="en-US" altLang="zh-CN" sz="2400" dirty="0" err="1">
                <a:solidFill>
                  <a:srgbClr val="667085"/>
                </a:solidFill>
                <a:latin typeface="Times New Roman" panose="02020603050405020304" pitchFamily="18" charset="0"/>
                <a:ea typeface="微软雅黑" panose="020B0503020204020204" pitchFamily="34" charset="-122"/>
                <a:cs typeface="Times New Roman" panose="02020603050405020304" pitchFamily="18" charset="0"/>
              </a:rPr>
              <a:t>学习中的</a:t>
            </a:r>
            <a:r>
              <a:rPr lang="en-US" altLang="zh-CN" sz="2400" dirty="0">
                <a:solidFill>
                  <a:srgbClr val="667085"/>
                </a:solidFill>
                <a:latin typeface="Times New Roman" panose="02020603050405020304" pitchFamily="18" charset="0"/>
                <a:ea typeface="微软雅黑" panose="020B0503020204020204" pitchFamily="34" charset="-122"/>
                <a:cs typeface="Times New Roman" panose="02020603050405020304" pitchFamily="18" charset="0"/>
              </a:rPr>
              <a:t> α 与 </a:t>
            </a:r>
            <a:r>
              <a:rPr lang="en-US" altLang="zh-CN" sz="2400" dirty="0" err="1">
                <a:solidFill>
                  <a:srgbClr val="667085"/>
                </a:solidFill>
                <a:latin typeface="Times New Roman" panose="02020603050405020304" pitchFamily="18" charset="0"/>
                <a:ea typeface="微软雅黑" panose="020B0503020204020204" pitchFamily="34" charset="-122"/>
                <a:cs typeface="Times New Roman" panose="02020603050405020304" pitchFamily="18" charset="0"/>
              </a:rPr>
              <a:t>ε分别对应这两类关键超参数</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微软雅黑" panose="020B0503020204020204" pitchFamily="34" charset="-122"/>
                <a:ea typeface="微软雅黑" panose="020B0503020204020204" pitchFamily="34" charset="-122"/>
                <a:cs typeface="Noto Sans CJK SC" pitchFamily="34" charset="-120"/>
              </a:rPr>
              <a:t>Q 学习</a:t>
            </a:r>
            <a:endParaRPr lang="en-US" sz="390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
        <p:nvSpPr>
          <p:cNvPr id="19" name="Text 2">
            <a:extLst>
              <a:ext uri="{FF2B5EF4-FFF2-40B4-BE49-F238E27FC236}">
                <a16:creationId xmlns:a16="http://schemas.microsoft.com/office/drawing/2014/main" id="{41032CBA-8986-11B6-3409-936AC03AFD85}"/>
              </a:ext>
            </a:extLst>
          </p:cNvPr>
          <p:cNvSpPr/>
          <p:nvPr/>
        </p:nvSpPr>
        <p:spPr>
          <a:xfrm>
            <a:off x="1310640" y="1486565"/>
            <a:ext cx="1691640" cy="1097280"/>
          </a:xfrm>
          <a:prstGeom prst="rect">
            <a:avLst/>
          </a:prstGeom>
          <a:noFill/>
          <a:ln/>
        </p:spPr>
        <p:txBody>
          <a:bodyPr wrap="square" lIns="0" tIns="0" rIns="0" bIns="0" rtlCol="0" anchor="ctr"/>
          <a:lstStyle/>
          <a:p>
            <a:pPr marL="0" indent="0" algn="r">
              <a:buNone/>
            </a:pPr>
            <a:r>
              <a:rPr lang="en-US" sz="7200" b="1" dirty="0">
                <a:solidFill>
                  <a:srgbClr val="31599B"/>
                </a:solidFill>
                <a:latin typeface="微软雅黑" panose="020B0503020204020204" pitchFamily="34" charset="-122"/>
                <a:ea typeface="微软雅黑" panose="020B0503020204020204" pitchFamily="34" charset="-122"/>
                <a:cs typeface="Noto Sans CJK SC" pitchFamily="34" charset="-120"/>
              </a:rPr>
              <a:t>02</a:t>
            </a:r>
            <a:endParaRPr lang="en-US" sz="7200" dirty="0">
              <a:latin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3.2 Q 学习：直接估计状态—动作价值</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95560" cy="425196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Q 学习是典型的无模型强化学习方法。</a:t>
            </a:r>
            <a:endParaRPr lang="en-US" sz="2800" dirty="0">
              <a:latin typeface="微软雅黑" panose="020B0503020204020204" pitchFamily="34" charset="-122"/>
            </a:endParaRPr>
          </a:p>
          <a:p>
            <a:pPr marL="228600" indent="-228600">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属于基于价值的离策略（Off-Policy）算法</a:t>
            </a: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800" dirty="0">
              <a:latin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不构建环境转移模型，而是直接从交互经验中估计 Q(s,a)。</a:t>
            </a:r>
            <a:endParaRPr lang="en-US" sz="2800" dirty="0">
              <a:latin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特别适合离散状态和离散动作的决策场景，如机器人路径寻找、障碍规避和任务调度。</a:t>
            </a:r>
            <a:endParaRPr lang="en-US" sz="28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离策略学习</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1835911"/>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1835911"/>
          </a:xfrm>
          <a:prstGeom prst="rect">
            <a:avLst/>
          </a:prstGeom>
          <a:solidFill>
            <a:srgbClr val="C58A24"/>
          </a:solidFill>
          <a:ln w="12700">
            <a:solidFill>
              <a:srgbClr val="C58A24"/>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探索策略</a:t>
            </a:r>
            <a:endParaRPr lang="en-US" sz="2000" dirty="0">
              <a:latin typeface="微软雅黑" panose="020B0503020204020204" pitchFamily="34" charset="-122"/>
            </a:endParaRPr>
          </a:p>
        </p:txBody>
      </p:sp>
      <p:sp>
        <p:nvSpPr>
          <p:cNvPr id="7" name="Text 5"/>
          <p:cNvSpPr/>
          <p:nvPr/>
        </p:nvSpPr>
        <p:spPr>
          <a:xfrm>
            <a:off x="987552" y="2231136"/>
            <a:ext cx="4690872" cy="268833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负责生成多样化的交互样本，可以包含随机探索。</a:t>
            </a:r>
            <a:endParaRPr lang="en-US" sz="2400" dirty="0">
              <a:latin typeface="微软雅黑" panose="020B0503020204020204" pitchFamily="34" charset="-122"/>
            </a:endParaRPr>
          </a:p>
        </p:txBody>
      </p:sp>
      <p:sp>
        <p:nvSpPr>
          <p:cNvPr id="8" name="Shape 6"/>
          <p:cNvSpPr/>
          <p:nvPr/>
        </p:nvSpPr>
        <p:spPr>
          <a:xfrm>
            <a:off x="6172200" y="1664207"/>
            <a:ext cx="5074920" cy="1835909"/>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64207"/>
            <a:ext cx="64008" cy="1835909"/>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目标策略</a:t>
            </a:r>
            <a:endParaRPr lang="en-US" sz="2000" dirty="0">
              <a:latin typeface="微软雅黑" panose="020B0503020204020204" pitchFamily="34" charset="-122"/>
            </a:endParaRPr>
          </a:p>
        </p:txBody>
      </p:sp>
      <p:sp>
        <p:nvSpPr>
          <p:cNvPr id="11" name="Text 9"/>
          <p:cNvSpPr/>
          <p:nvPr/>
        </p:nvSpPr>
        <p:spPr>
          <a:xfrm>
            <a:off x="6382512" y="2231136"/>
            <a:ext cx="4690872" cy="268833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根据最大 Q 值选择最佳动作，用于逼近最优策略。</a:t>
            </a:r>
            <a:endParaRPr lang="en-US" sz="2400" dirty="0">
              <a:latin typeface="微软雅黑" panose="020B0503020204020204" pitchFamily="34" charset="-122"/>
            </a:endParaRPr>
          </a:p>
        </p:txBody>
      </p:sp>
      <p:sp>
        <p:nvSpPr>
          <p:cNvPr id="12" name="Text 10"/>
          <p:cNvSpPr/>
          <p:nvPr/>
        </p:nvSpPr>
        <p:spPr>
          <a:xfrm>
            <a:off x="572516" y="4172711"/>
            <a:ext cx="11327384" cy="1053592"/>
          </a:xfrm>
          <a:prstGeom prst="rect">
            <a:avLst/>
          </a:prstGeom>
          <a:noFill/>
          <a:ln/>
        </p:spPr>
        <p:txBody>
          <a:bodyPr wrap="square" lIns="0" tIns="0" rIns="0" bIns="0" rtlCol="0" anchor="ctr">
            <a:normAutofit lnSpcReduction="10000"/>
          </a:bodyPr>
          <a:lstStyle/>
          <a:p>
            <a:pPr algn="ctr"/>
            <a:r>
              <a:rPr lang="en-US" altLang="zh-CN" sz="2400" b="1" dirty="0" err="1">
                <a:solidFill>
                  <a:srgbClr val="24477D"/>
                </a:solidFill>
                <a:latin typeface="微软雅黑" panose="020B0503020204020204" pitchFamily="34" charset="-122"/>
                <a:ea typeface="微软雅黑" panose="020B0503020204020204" pitchFamily="34" charset="-122"/>
                <a:cs typeface="Noto Sans CJK SC" pitchFamily="34" charset="-120"/>
              </a:rPr>
              <a:t>探索策略与目标策略可以不同</a:t>
            </a:r>
            <a:endParaRPr lang="en-US" altLang="zh-CN" sz="2400" b="1" dirty="0">
              <a:solidFill>
                <a:srgbClr val="24477D"/>
              </a:solidFill>
              <a:latin typeface="微软雅黑" panose="020B0503020204020204" pitchFamily="34" charset="-122"/>
              <a:ea typeface="微软雅黑" panose="020B0503020204020204" pitchFamily="34" charset="-122"/>
              <a:cs typeface="Noto Sans CJK SC" pitchFamily="34" charset="-120"/>
            </a:endParaRPr>
          </a:p>
          <a:p>
            <a:pPr algn="ctr"/>
            <a:endParaRPr lang="en-US" sz="2400" b="1" dirty="0">
              <a:solidFill>
                <a:srgbClr val="24477D"/>
              </a:solidFill>
              <a:latin typeface="微软雅黑" panose="020B0503020204020204" pitchFamily="34" charset="-122"/>
              <a:ea typeface="微软雅黑" panose="020B0503020204020204" pitchFamily="34" charset="-122"/>
            </a:endParaRPr>
          </a:p>
          <a:p>
            <a:pPr algn="ctr"/>
            <a:r>
              <a:rPr lang="en-US" sz="2400" b="1" dirty="0" err="1">
                <a:solidFill>
                  <a:srgbClr val="24477D"/>
                </a:solidFill>
                <a:latin typeface="微软雅黑" panose="020B0503020204020204" pitchFamily="34" charset="-122"/>
                <a:ea typeface="微软雅黑" panose="020B0503020204020204" pitchFamily="34" charset="-122"/>
              </a:rPr>
              <a:t>这使</a:t>
            </a:r>
            <a:r>
              <a:rPr lang="en-US" sz="2400" b="1" dirty="0">
                <a:solidFill>
                  <a:srgbClr val="24477D"/>
                </a:solidFill>
                <a:latin typeface="微软雅黑" panose="020B0503020204020204" pitchFamily="34" charset="-122"/>
                <a:ea typeface="微软雅黑" panose="020B0503020204020204" pitchFamily="34" charset="-122"/>
              </a:rPr>
              <a:t> Q </a:t>
            </a:r>
            <a:r>
              <a:rPr lang="en-US" sz="2400" b="1" dirty="0" err="1">
                <a:solidFill>
                  <a:srgbClr val="24477D"/>
                </a:solidFill>
                <a:latin typeface="微软雅黑" panose="020B0503020204020204" pitchFamily="34" charset="-122"/>
                <a:ea typeface="微软雅黑" panose="020B0503020204020204" pitchFamily="34" charset="-122"/>
              </a:rPr>
              <a:t>学习能够利用“任意探索策略产生的数据”训练目标策略，提高数据利用率</a:t>
            </a:r>
            <a:r>
              <a:rPr lang="en-US"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fontScale="85000" lnSpcReduction="10000"/>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学习的核心：时序差分</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altLang="zh-CN" sz="3500" b="1" dirty="0">
                <a:solidFill>
                  <a:srgbClr val="24477D"/>
                </a:solidFill>
                <a:latin typeface="微软雅黑" panose="020B0503020204020204" pitchFamily="34" charset="-122"/>
                <a:ea typeface="微软雅黑" panose="020B0503020204020204" pitchFamily="34" charset="-122"/>
                <a:cs typeface="Noto Sans CJK SC" pitchFamily="34" charset="-120"/>
              </a:rPr>
              <a:t>Temporal‑</a:t>
            </a:r>
            <a:r>
              <a:rPr lang="en-US" altLang="zh-CN"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Difference,TD</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更新</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713232" y="1491237"/>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3.2 Q 学习</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001903"/>
            <a:ext cx="11026648" cy="493776"/>
          </a:xfrm>
          <a:prstGeom prst="rect">
            <a:avLst/>
          </a:prstGeom>
          <a:noFill/>
          <a:ln/>
        </p:spPr>
        <p:txBody>
          <a:bodyPr wrap="square" lIns="0" tIns="0" rIns="0" bIns="0" rtlCol="0" anchor="ctr">
            <a:noAutofit/>
          </a:bodyPr>
          <a:lstStyle/>
          <a:p>
            <a:pPr marL="0" indent="0">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每得到一个经验样本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s,a,r,s</a:t>
            </a: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用“当前估计+TD修正量”更新</a:t>
            </a: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 Q 值</a:t>
            </a:r>
            <a:endParaRPr lang="en-US" sz="2800" dirty="0">
              <a:latin typeface="微软雅黑" panose="020B0503020204020204" pitchFamily="34" charset="-122"/>
              <a:ea typeface="微软雅黑" panose="020B0503020204020204" pitchFamily="34" charset="-122"/>
            </a:endParaRPr>
          </a:p>
        </p:txBody>
      </p:sp>
      <p:sp>
        <p:nvSpPr>
          <p:cNvPr id="6" name="Shape 4"/>
          <p:cNvSpPr/>
          <p:nvPr/>
        </p:nvSpPr>
        <p:spPr>
          <a:xfrm>
            <a:off x="2034032" y="2748915"/>
            <a:ext cx="7635240" cy="1007633"/>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5.png"/>
          <p:cNvPicPr>
            <a:picLocks noChangeAspect="1"/>
          </p:cNvPicPr>
          <p:nvPr/>
        </p:nvPicPr>
        <p:blipFill>
          <a:blip r:embed="rId3"/>
          <a:srcRect l="21308" t="18962" r="19972" b="15229"/>
          <a:stretch>
            <a:fillRect/>
          </a:stretch>
        </p:blipFill>
        <p:spPr>
          <a:xfrm>
            <a:off x="2462943" y="2922651"/>
            <a:ext cx="6813137" cy="833897"/>
          </a:xfrm>
          <a:prstGeom prst="rect">
            <a:avLst/>
          </a:prstGeom>
        </p:spPr>
      </p:pic>
      <p:sp>
        <p:nvSpPr>
          <p:cNvPr id="13" name="Shape 10"/>
          <p:cNvSpPr/>
          <p:nvPr/>
        </p:nvSpPr>
        <p:spPr>
          <a:xfrm>
            <a:off x="603504" y="5285232"/>
            <a:ext cx="10716768" cy="95097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22960" y="5285232"/>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单步自举无需等到整条序列结束，更新通常比蒙特卡洛方法更及时。</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37</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9E87B43E-E5FA-2FE5-2E29-37F9BCC6C367}"/>
              </a:ext>
            </a:extLst>
          </p:cNvPr>
          <p:cNvSpPr/>
          <p:nvPr/>
        </p:nvSpPr>
        <p:spPr>
          <a:xfrm>
            <a:off x="639699" y="4131822"/>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D8E556AC-9197-CE07-F94E-05F01A49B952}"/>
              </a:ext>
            </a:extLst>
          </p:cNvPr>
          <p:cNvSpPr/>
          <p:nvPr/>
        </p:nvSpPr>
        <p:spPr>
          <a:xfrm>
            <a:off x="2136303" y="4058159"/>
            <a:ext cx="8836497" cy="487678"/>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α：</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学习率</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r：即时奖励</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p>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max Q(</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下一状态最佳估计</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29336" y="615696"/>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TD目标、TD误差与更新步长</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480060" y="1427480"/>
            <a:ext cx="11109960" cy="0"/>
          </a:xfrm>
          <a:prstGeom prst="line">
            <a:avLst/>
          </a:prstGeom>
          <a:noFill/>
          <a:ln w="12700">
            <a:solidFill>
              <a:srgbClr val="D8DEE8"/>
            </a:solidFill>
            <a:prstDash val="solid"/>
          </a:ln>
        </p:spPr>
      </p:sp>
      <p:sp>
        <p:nvSpPr>
          <p:cNvPr id="4" name="Shape 2"/>
          <p:cNvSpPr/>
          <p:nvPr/>
        </p:nvSpPr>
        <p:spPr>
          <a:xfrm>
            <a:off x="708660" y="1720088"/>
            <a:ext cx="3401568" cy="2332734"/>
          </a:xfrm>
          <a:prstGeom prst="roundRect">
            <a:avLst>
              <a:gd name="adj" fmla="val 135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08660" y="1720088"/>
            <a:ext cx="64008" cy="2332734"/>
          </a:xfrm>
          <a:prstGeom prst="rect">
            <a:avLst/>
          </a:prstGeom>
          <a:solidFill>
            <a:srgbClr val="2F8E72"/>
          </a:solidFill>
          <a:ln w="12700">
            <a:solidFill>
              <a:srgbClr val="2F8E72"/>
            </a:solidFill>
            <a:prstDash val="solid"/>
          </a:ln>
        </p:spPr>
      </p:sp>
      <p:sp>
        <p:nvSpPr>
          <p:cNvPr id="6" name="Text 4"/>
          <p:cNvSpPr/>
          <p:nvPr/>
        </p:nvSpPr>
        <p:spPr>
          <a:xfrm>
            <a:off x="918972" y="1866392"/>
            <a:ext cx="301752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TD 目标</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41832" y="2484627"/>
            <a:ext cx="3017520" cy="136347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r + γ maxₐ′ Q(s′,a′)</a:t>
            </a:r>
            <a:endParaRPr lang="en-US" sz="2400" dirty="0">
              <a:latin typeface="微软雅黑" panose="020B0503020204020204" pitchFamily="34" charset="-122"/>
              <a:ea typeface="微软雅黑" panose="020B0503020204020204" pitchFamily="34" charset="-122"/>
            </a:endParaRPr>
          </a:p>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由即时奖励与下一状态最佳价值共同构成</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347972" y="1720088"/>
            <a:ext cx="3401568" cy="2332734"/>
          </a:xfrm>
          <a:prstGeom prst="roundRect">
            <a:avLst>
              <a:gd name="adj" fmla="val 135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347972" y="1720088"/>
            <a:ext cx="64008" cy="2332734"/>
          </a:xfrm>
          <a:prstGeom prst="rect">
            <a:avLst/>
          </a:prstGeom>
          <a:solidFill>
            <a:srgbClr val="C58A24"/>
          </a:solidFill>
          <a:ln w="12700">
            <a:solidFill>
              <a:srgbClr val="C58A24"/>
            </a:solidFill>
            <a:prstDash val="solid"/>
          </a:ln>
        </p:spPr>
      </p:sp>
      <p:sp>
        <p:nvSpPr>
          <p:cNvPr id="10" name="Text 8"/>
          <p:cNvSpPr/>
          <p:nvPr/>
        </p:nvSpPr>
        <p:spPr>
          <a:xfrm>
            <a:off x="4558284" y="1866392"/>
            <a:ext cx="301752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TD 误差</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581144" y="2550160"/>
            <a:ext cx="3255264" cy="113792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TD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目标</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当前</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Q(</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a:p>
            <a:pPr marL="0" indent="0">
              <a:buNone/>
            </a:pP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将这一差值作为当前估计需要修正的方向</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7987284" y="1720088"/>
            <a:ext cx="3401568" cy="2332734"/>
          </a:xfrm>
          <a:prstGeom prst="roundRect">
            <a:avLst>
              <a:gd name="adj" fmla="val 135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7987284" y="1720088"/>
            <a:ext cx="64008" cy="2332734"/>
          </a:xfrm>
          <a:prstGeom prst="rect">
            <a:avLst/>
          </a:prstGeom>
          <a:solidFill>
            <a:srgbClr val="31599B"/>
          </a:solidFill>
          <a:ln w="12700">
            <a:solidFill>
              <a:srgbClr val="31599B"/>
            </a:solidFill>
            <a:prstDash val="solid"/>
          </a:ln>
        </p:spPr>
      </p:sp>
      <p:sp>
        <p:nvSpPr>
          <p:cNvPr id="14" name="Text 12"/>
          <p:cNvSpPr/>
          <p:nvPr/>
        </p:nvSpPr>
        <p:spPr>
          <a:xfrm>
            <a:off x="8197596" y="1866392"/>
            <a:ext cx="301752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学习率 α</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289036" y="2714752"/>
            <a:ext cx="3017520" cy="85547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控制每次更新的修正幅度。</a:t>
            </a:r>
            <a:endParaRPr lang="en-US" sz="2400" dirty="0">
              <a:latin typeface="微软雅黑" panose="020B0503020204020204" pitchFamily="34" charset="-122"/>
              <a:ea typeface="微软雅黑" panose="020B0503020204020204" pitchFamily="34" charset="-122"/>
            </a:endParaRPr>
          </a:p>
        </p:txBody>
      </p:sp>
      <p:sp>
        <p:nvSpPr>
          <p:cNvPr id="16" name="Text 14"/>
          <p:cNvSpPr/>
          <p:nvPr/>
        </p:nvSpPr>
        <p:spPr>
          <a:xfrm>
            <a:off x="757428" y="4718302"/>
            <a:ext cx="10698480" cy="329184"/>
          </a:xfrm>
          <a:prstGeom prst="rect">
            <a:avLst/>
          </a:prstGeom>
          <a:noFill/>
          <a:ln/>
        </p:spPr>
        <p:txBody>
          <a:bodyPr wrap="square" lIns="0" tIns="0" rIns="0" bIns="0" rtlCol="0" anchor="ctr">
            <a:normAutofit lnSpcReduction="10000"/>
          </a:bodyPr>
          <a:lstStyle/>
          <a:p>
            <a:pPr algn="ctr"/>
            <a:r>
              <a:rPr lang="en-US" sz="2400" b="1" dirty="0" err="1">
                <a:solidFill>
                  <a:srgbClr val="24477D"/>
                </a:solidFill>
                <a:latin typeface="微软雅黑" panose="020B0503020204020204" pitchFamily="34" charset="-122"/>
                <a:ea typeface="微软雅黑" panose="020B0503020204020204" pitchFamily="34" charset="-122"/>
              </a:rPr>
              <a:t>Q学习通过反复的单步TD更新逐渐逼近贝尔曼最优方程</a:t>
            </a:r>
            <a:r>
              <a:rPr lang="en-US" sz="2400"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617220"/>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单步自举</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868680" y="2057400"/>
            <a:ext cx="2331720" cy="822960"/>
          </a:xfrm>
          <a:prstGeom prst="chevron">
            <a:avLst/>
          </a:prstGeom>
          <a:solidFill>
            <a:srgbClr val="EDF2FA"/>
          </a:solidFill>
          <a:ln w="12700">
            <a:solidFill>
              <a:srgbClr val="D2DDEA"/>
            </a:solidFill>
            <a:prstDash val="solid"/>
          </a:ln>
        </p:spPr>
      </p:sp>
      <p:sp>
        <p:nvSpPr>
          <p:cNvPr id="5" name="Text 3"/>
          <p:cNvSpPr/>
          <p:nvPr/>
        </p:nvSpPr>
        <p:spPr>
          <a:xfrm>
            <a:off x="1143000" y="2340864"/>
            <a:ext cx="1783080" cy="256032"/>
          </a:xfrm>
          <a:prstGeom prst="rect">
            <a:avLst/>
          </a:prstGeom>
          <a:noFill/>
          <a:ln/>
        </p:spPr>
        <p:txBody>
          <a:bodyPr wrap="square" lIns="0" tIns="0" rIns="0" bIns="0" rtlCol="0" anchor="ctr"/>
          <a:lstStyle/>
          <a:p>
            <a:pPr marL="0" indent="0" algn="ctr">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当前 Q(s,a)</a:t>
            </a:r>
            <a:endParaRPr lang="en-US" sz="2000" dirty="0">
              <a:latin typeface="微软雅黑" panose="020B0503020204020204" pitchFamily="34" charset="-122"/>
              <a:ea typeface="微软雅黑" panose="020B0503020204020204" pitchFamily="34" charset="-122"/>
            </a:endParaRPr>
          </a:p>
        </p:txBody>
      </p:sp>
      <p:sp>
        <p:nvSpPr>
          <p:cNvPr id="6" name="Shape 4"/>
          <p:cNvSpPr/>
          <p:nvPr/>
        </p:nvSpPr>
        <p:spPr>
          <a:xfrm>
            <a:off x="3456432" y="2057400"/>
            <a:ext cx="2331720" cy="822960"/>
          </a:xfrm>
          <a:prstGeom prst="chevron">
            <a:avLst/>
          </a:prstGeom>
          <a:solidFill>
            <a:srgbClr val="EAF5F1"/>
          </a:solidFill>
          <a:ln w="12700">
            <a:solidFill>
              <a:srgbClr val="C8E4DA"/>
            </a:solidFill>
            <a:prstDash val="solid"/>
          </a:ln>
        </p:spPr>
      </p:sp>
      <p:sp>
        <p:nvSpPr>
          <p:cNvPr id="7" name="Text 5"/>
          <p:cNvSpPr/>
          <p:nvPr/>
        </p:nvSpPr>
        <p:spPr>
          <a:xfrm>
            <a:off x="3749040" y="2340864"/>
            <a:ext cx="1755648" cy="256032"/>
          </a:xfrm>
          <a:prstGeom prst="rect">
            <a:avLst/>
          </a:prstGeom>
          <a:noFill/>
          <a:ln/>
        </p:spPr>
        <p:txBody>
          <a:bodyPr wrap="square" lIns="0" tIns="0" rIns="0" bIns="0" rtlCol="0" anchor="ctr"/>
          <a:lstStyle/>
          <a:p>
            <a:pPr marL="0" indent="0" algn="ctr">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观察 r 与 s′</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6044184" y="2057400"/>
            <a:ext cx="2331720" cy="822960"/>
          </a:xfrm>
          <a:prstGeom prst="chevron">
            <a:avLst/>
          </a:prstGeom>
          <a:solidFill>
            <a:srgbClr val="FFF4DE"/>
          </a:solidFill>
          <a:ln w="12700">
            <a:solidFill>
              <a:srgbClr val="F0D89A"/>
            </a:solidFill>
            <a:prstDash val="solid"/>
          </a:ln>
        </p:spPr>
      </p:sp>
      <p:sp>
        <p:nvSpPr>
          <p:cNvPr id="9" name="Text 7"/>
          <p:cNvSpPr/>
          <p:nvPr/>
        </p:nvSpPr>
        <p:spPr>
          <a:xfrm>
            <a:off x="6254496" y="2295144"/>
            <a:ext cx="1874520" cy="365760"/>
          </a:xfrm>
          <a:prstGeom prst="rect">
            <a:avLst/>
          </a:prstGeom>
          <a:noFill/>
          <a:ln/>
        </p:spPr>
        <p:txBody>
          <a:bodyPr wrap="square" lIns="0" tIns="0" rIns="0" bIns="0" rtlCol="0" anchor="ctr">
            <a:normAutofit/>
          </a:bodyPr>
          <a:lstStyle/>
          <a:p>
            <a:pPr marL="0" indent="0" algn="ctr">
              <a:buNone/>
            </a:pPr>
            <a:r>
              <a:rPr lang="en-US" b="1" dirty="0">
                <a:solidFill>
                  <a:srgbClr val="C58A24"/>
                </a:solidFill>
                <a:latin typeface="微软雅黑" panose="020B0503020204020204" pitchFamily="34" charset="-122"/>
                <a:ea typeface="微软雅黑" panose="020B0503020204020204" pitchFamily="34" charset="-122"/>
                <a:cs typeface="Noto Sans CJK SC" pitchFamily="34" charset="-120"/>
              </a:rPr>
              <a:t>估计下一步最大 Q</a:t>
            </a:r>
            <a:endParaRPr lang="en-US" dirty="0">
              <a:latin typeface="微软雅黑" panose="020B0503020204020204" pitchFamily="34" charset="-122"/>
              <a:ea typeface="微软雅黑" panose="020B0503020204020204" pitchFamily="34" charset="-122"/>
            </a:endParaRPr>
          </a:p>
        </p:txBody>
      </p:sp>
      <p:sp>
        <p:nvSpPr>
          <p:cNvPr id="10" name="Shape 8"/>
          <p:cNvSpPr/>
          <p:nvPr/>
        </p:nvSpPr>
        <p:spPr>
          <a:xfrm>
            <a:off x="8631936" y="2057400"/>
            <a:ext cx="2331720" cy="822960"/>
          </a:xfrm>
          <a:prstGeom prst="chevron">
            <a:avLst/>
          </a:prstGeom>
          <a:solidFill>
            <a:srgbClr val="FDECEE"/>
          </a:solidFill>
          <a:ln w="12700">
            <a:solidFill>
              <a:srgbClr val="E7B8BB"/>
            </a:solidFill>
            <a:prstDash val="solid"/>
          </a:ln>
        </p:spPr>
      </p:sp>
      <p:sp>
        <p:nvSpPr>
          <p:cNvPr id="11" name="Text 9"/>
          <p:cNvSpPr/>
          <p:nvPr/>
        </p:nvSpPr>
        <p:spPr>
          <a:xfrm>
            <a:off x="9079992" y="2340864"/>
            <a:ext cx="1417320" cy="256032"/>
          </a:xfrm>
          <a:prstGeom prst="rect">
            <a:avLst/>
          </a:prstGeom>
          <a:noFill/>
          <a:ln/>
        </p:spPr>
        <p:txBody>
          <a:bodyPr wrap="square" lIns="0" tIns="0" rIns="0" bIns="0" rtlCol="0" anchor="ctr"/>
          <a:lstStyle/>
          <a:p>
            <a:pPr marL="0" indent="0" algn="ctr">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立即更新</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1005840" y="3767328"/>
            <a:ext cx="9738360" cy="1417320"/>
          </a:xfrm>
          <a:prstGeom prst="roundRect">
            <a:avLst>
              <a:gd name="adj" fmla="val 322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1005840" y="3767328"/>
            <a:ext cx="64008" cy="1417320"/>
          </a:xfrm>
          <a:prstGeom prst="rect">
            <a:avLst/>
          </a:prstGeom>
          <a:solidFill>
            <a:srgbClr val="31599B"/>
          </a:solidFill>
          <a:ln w="12700">
            <a:solidFill>
              <a:srgbClr val="31599B"/>
            </a:solidFill>
            <a:prstDash val="solid"/>
          </a:ln>
        </p:spPr>
      </p:sp>
      <p:sp>
        <p:nvSpPr>
          <p:cNvPr id="14" name="Text 12"/>
          <p:cNvSpPr/>
          <p:nvPr/>
        </p:nvSpPr>
        <p:spPr>
          <a:xfrm>
            <a:off x="1216152" y="3913632"/>
            <a:ext cx="935431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单步自举的含义</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1216152" y="4334256"/>
            <a:ext cx="9336024" cy="704088"/>
          </a:xfrm>
          <a:prstGeom prst="rect">
            <a:avLst/>
          </a:prstGeom>
          <a:noFill/>
          <a:ln/>
        </p:spPr>
        <p:txBody>
          <a:bodyPr wrap="square" lIns="254" tIns="254" rIns="254" bIns="254" rtlCol="0" anchor="t">
            <a:normAutofit lnSpcReduction="10000"/>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利用下一状态的当前价值估计来更新当前状态—动作价值，因此不必等到完整 episode 结束。</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学习算法流程</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06.png"/>
          <p:cNvPicPr>
            <a:picLocks noChangeAspect="1"/>
          </p:cNvPicPr>
          <p:nvPr/>
        </p:nvPicPr>
        <p:blipFill>
          <a:blip r:embed="rId3"/>
          <a:stretch>
            <a:fillRect/>
          </a:stretch>
        </p:blipFill>
        <p:spPr>
          <a:xfrm>
            <a:off x="1360303" y="1538500"/>
            <a:ext cx="3155545" cy="4526280"/>
          </a:xfrm>
          <a:prstGeom prst="rect">
            <a:avLst/>
          </a:prstGeom>
        </p:spPr>
      </p:pic>
      <p:sp>
        <p:nvSpPr>
          <p:cNvPr id="5" name="Text 2"/>
          <p:cNvSpPr/>
          <p:nvPr/>
        </p:nvSpPr>
        <p:spPr>
          <a:xfrm>
            <a:off x="1253538" y="6126480"/>
            <a:ext cx="3369076" cy="256032"/>
          </a:xfrm>
          <a:prstGeom prst="rect">
            <a:avLst/>
          </a:prstGeom>
          <a:noFill/>
          <a:ln/>
        </p:spPr>
        <p:txBody>
          <a:bodyPr wrap="square" lIns="0" tIns="0" rIns="0" bIns="0" rtlCol="0" anchor="ctr">
            <a:normAutofit/>
          </a:bodyPr>
          <a:lstStyle/>
          <a:p>
            <a:pPr algn="ctr"/>
            <a:r>
              <a:rPr lang="en-US" sz="1600" b="1" dirty="0">
                <a:solidFill>
                  <a:schemeClr val="accent1">
                    <a:lumMod val="50000"/>
                  </a:schemeClr>
                </a:solidFill>
                <a:latin typeface="微软雅黑" panose="020B0503020204020204" pitchFamily="34" charset="-122"/>
                <a:ea typeface="微软雅黑" panose="020B0503020204020204" pitchFamily="34" charset="-122"/>
              </a:rPr>
              <a:t>Q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学习算法流程图</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Text 3"/>
          <p:cNvSpPr/>
          <p:nvPr/>
        </p:nvSpPr>
        <p:spPr>
          <a:xfrm>
            <a:off x="5449779" y="1908655"/>
            <a:ext cx="5642869" cy="3690874"/>
          </a:xfrm>
          <a:prstGeom prst="rect">
            <a:avLst/>
          </a:prstGeom>
          <a:noFill/>
          <a:ln/>
        </p:spPr>
        <p:txBody>
          <a:bodyPr wrap="square" lIns="635" tIns="635" rIns="635" bIns="635" rtlCol="0" anchor="t">
            <a:normAutofit/>
          </a:bodyPr>
          <a:lstStyle/>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初始化 Q 表</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获取初始状态 sₜ</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使用 ε-</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贪婪策略选择动作</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执行动作并获取奖励 rₜ 和下一状态 sₜ₊₁</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更新 Q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值并进入下一状态</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循环直至终止并达到收敛</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学习中的探索</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3246120" cy="2404292"/>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2404292"/>
          </a:xfrm>
          <a:prstGeom prst="rect">
            <a:avLst/>
          </a:prstGeom>
          <a:solidFill>
            <a:srgbClr val="31599B"/>
          </a:solidFill>
          <a:ln w="12700">
            <a:solidFill>
              <a:srgbClr val="31599B"/>
            </a:solidFill>
            <a:prstDash val="solid"/>
          </a:ln>
        </p:spPr>
      </p:sp>
      <mc:AlternateContent xmlns:mc="http://schemas.openxmlformats.org/markup-compatibility/2006">
        <mc:Choice xmlns:a14="http://schemas.microsoft.com/office/drawing/2010/main" Requires="a14">
          <p:sp>
            <p:nvSpPr>
              <p:cNvPr id="6" name="Text 4"/>
              <p:cNvSpPr/>
              <p:nvPr/>
            </p:nvSpPr>
            <p:spPr>
              <a:xfrm>
                <a:off x="987552"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ε-</a:t>
                </a: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贪婪</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14:m>
                  <m:oMath xmlns:m="http://schemas.openxmlformats.org/officeDocument/2006/math">
                    <m:r>
                      <a:rPr lang="zh-CN" altLang="en-US" sz="2400" b="1" i="1" smtClean="0">
                        <a:solidFill>
                          <a:srgbClr val="31599B"/>
                        </a:solidFill>
                        <a:latin typeface="Cambria Math" panose="02040503050406030204" pitchFamily="18" charset="0"/>
                      </a:rPr>
                      <m:t>𝝐</m:t>
                    </m:r>
                    <m:r>
                      <m:rPr>
                        <m:nor/>
                      </m:rPr>
                      <a:rPr lang="zh-CN" altLang="en-US" sz="2400" b="1" i="0">
                        <a:solidFill>
                          <a:srgbClr val="31599B"/>
                        </a:solidFill>
                        <a:latin typeface="Cambria Math" panose="02040503050406030204" pitchFamily="18" charset="0"/>
                        <a:ea typeface="微软雅黑" panose="020B0503020204020204" pitchFamily="34" charset="-122"/>
                      </a:rPr>
                      <m:t>−Greedy</m:t>
                    </m:r>
                  </m:oMath>
                </a14:m>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mc:Choice>
        <mc:Fallback>
          <p:sp>
            <p:nvSpPr>
              <p:cNvPr id="6" name="Text 4"/>
              <p:cNvSpPr>
                <a:spLocks noRot="1" noChangeAspect="1" noMove="1" noResize="1" noEditPoints="1" noAdjustHandles="1" noChangeArrowheads="1" noChangeShapeType="1" noTextEdit="1"/>
              </p:cNvSpPr>
              <p:nvPr/>
            </p:nvSpPr>
            <p:spPr>
              <a:xfrm>
                <a:off x="987552" y="1810512"/>
                <a:ext cx="2862072" cy="329184"/>
              </a:xfrm>
              <a:prstGeom prst="rect">
                <a:avLst/>
              </a:prstGeom>
              <a:blipFill>
                <a:blip r:embed="rId3"/>
                <a:stretch>
                  <a:fillRect l="-6383" t="-33333" r="-4043" b="-61111"/>
                </a:stretch>
              </a:blipFill>
              <a:ln/>
            </p:spPr>
            <p:txBody>
              <a:bodyPr/>
              <a:lstStyle/>
              <a:p>
                <a:r>
                  <a:rPr lang="zh-CN" altLang="en-US">
                    <a:noFill/>
                  </a:rPr>
                  <a:t> </a:t>
                </a:r>
              </a:p>
            </p:txBody>
          </p:sp>
        </mc:Fallback>
      </mc:AlternateContent>
      <p:sp>
        <p:nvSpPr>
          <p:cNvPr id="7" name="Text 5"/>
          <p:cNvSpPr/>
          <p:nvPr/>
        </p:nvSpPr>
        <p:spPr>
          <a:xfrm>
            <a:off x="987552" y="2422112"/>
            <a:ext cx="2862072" cy="1304930"/>
          </a:xfrm>
          <a:prstGeom prst="rect">
            <a:avLst/>
          </a:prstGeom>
          <a:noFill/>
          <a:ln/>
        </p:spPr>
        <p:txBody>
          <a:bodyPr wrap="square" lIns="254" tIns="254" rIns="254" bIns="254" rtlCol="0" anchor="t">
            <a:normAutofit/>
          </a:bodyPr>
          <a:lstStyle/>
          <a:p>
            <a:pPr marL="0" indent="0">
              <a:buNone/>
            </a:pP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常用</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大概率选当前最大</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Q 动作，小概率随机探索。</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2404292"/>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34840" y="1664208"/>
            <a:ext cx="64008" cy="2404292"/>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乐观初始化</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422112"/>
            <a:ext cx="2862072" cy="137437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通过初始 Q 值设置鼓励尚未充分尝试的动作。</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092440" y="1664208"/>
            <a:ext cx="3246120" cy="2404292"/>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092440" y="1664208"/>
            <a:ext cx="64008" cy="2404292"/>
          </a:xfrm>
          <a:prstGeom prst="rect">
            <a:avLst/>
          </a:prstGeom>
          <a:solidFill>
            <a:srgbClr val="C58A24"/>
          </a:solidFill>
          <a:ln w="12700">
            <a:solidFill>
              <a:srgbClr val="C58A24"/>
            </a:solidFill>
            <a:prstDash val="solid"/>
          </a:ln>
        </p:spPr>
      </p:sp>
      <p:sp>
        <p:nvSpPr>
          <p:cNvPr id="14" name="Text 12"/>
          <p:cNvSpPr/>
          <p:nvPr/>
        </p:nvSpPr>
        <p:spPr>
          <a:xfrm>
            <a:off x="8302752"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UCB</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02752" y="2422112"/>
            <a:ext cx="2862072" cy="1304930"/>
          </a:xfrm>
          <a:prstGeom prst="rect">
            <a:avLst/>
          </a:prstGeom>
          <a:noFill/>
          <a:ln/>
        </p:spPr>
        <p:txBody>
          <a:bodyPr wrap="square" lIns="254" tIns="254" rIns="254" bIns="254" rtlCol="0" anchor="t">
            <a:no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利用置信区间上界</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UCB</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等机制平衡探索与利用</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p>
        </p:txBody>
      </p:sp>
      <p:sp>
        <p:nvSpPr>
          <p:cNvPr id="16" name="Text 14"/>
          <p:cNvSpPr/>
          <p:nvPr/>
        </p:nvSpPr>
        <p:spPr>
          <a:xfrm>
            <a:off x="809244" y="4350916"/>
            <a:ext cx="10698480" cy="1667919"/>
          </a:xfrm>
          <a:prstGeom prst="rect">
            <a:avLst/>
          </a:prstGeom>
          <a:noFill/>
          <a:ln/>
        </p:spPr>
        <p:txBody>
          <a:bodyPr wrap="square" lIns="0" tIns="0" rIns="0" bIns="0" rtlCol="0" anchor="ctr">
            <a:noAutofit/>
          </a:bodyPr>
          <a:lstStyle/>
          <a:p>
            <a:r>
              <a:rPr lang="en-US" sz="2400" b="1" dirty="0">
                <a:solidFill>
                  <a:srgbClr val="24477D"/>
                </a:solidFill>
                <a:latin typeface="微软雅黑" panose="020B0503020204020204" pitchFamily="34" charset="-122"/>
                <a:ea typeface="微软雅黑" panose="020B0503020204020204" pitchFamily="34" charset="-122"/>
              </a:rPr>
              <a:t>Q </a:t>
            </a:r>
            <a:r>
              <a:rPr lang="en-US" sz="2400" b="1" dirty="0" err="1">
                <a:solidFill>
                  <a:srgbClr val="24477D"/>
                </a:solidFill>
                <a:latin typeface="微软雅黑" panose="020B0503020204020204" pitchFamily="34" charset="-122"/>
                <a:ea typeface="微软雅黑" panose="020B0503020204020204" pitchFamily="34" charset="-122"/>
              </a:rPr>
              <a:t>学习需要持续处理探索与利用的平衡问题</a:t>
            </a:r>
            <a:endParaRPr lang="en-US" sz="2400" b="1" dirty="0">
              <a:solidFill>
                <a:srgbClr val="24477D"/>
              </a:solidFill>
              <a:latin typeface="微软雅黑" panose="020B0503020204020204" pitchFamily="34" charset="-122"/>
              <a:ea typeface="微软雅黑" panose="020B0503020204020204" pitchFamily="34" charset="-122"/>
            </a:endParaRPr>
          </a:p>
          <a:p>
            <a:pPr marL="342900" lvl="0" indent="-342900">
              <a:buFont typeface="Arial" panose="020B0604020202020204" pitchFamily="34" charset="0"/>
              <a:buChar char="•"/>
            </a:pPr>
            <a:r>
              <a:rPr lang="zh-CN" altLang="zh-CN" sz="2400" b="1" dirty="0">
                <a:solidFill>
                  <a:srgbClr val="24477D"/>
                </a:solidFill>
                <a:latin typeface="微软雅黑" panose="020B0503020204020204" pitchFamily="34" charset="-122"/>
                <a:ea typeface="微软雅黑" panose="020B0503020204020204" pitchFamily="34" charset="-122"/>
              </a:rPr>
              <a:t>利用 (Exploitation)：选目前已知回报最高的动作，拿稳眼前收益</a:t>
            </a:r>
          </a:p>
          <a:p>
            <a:pPr marL="342900" lvl="0" indent="-342900">
              <a:buFont typeface="Arial" panose="020B0604020202020204" pitchFamily="34" charset="0"/>
              <a:buChar char="•"/>
            </a:pPr>
            <a:r>
              <a:rPr lang="zh-CN" altLang="zh-CN" sz="2400" b="1" dirty="0">
                <a:solidFill>
                  <a:srgbClr val="24477D"/>
                </a:solidFill>
                <a:latin typeface="微软雅黑" panose="020B0503020204020204" pitchFamily="34" charset="-122"/>
                <a:ea typeface="微软雅黑" panose="020B0503020204020204" pitchFamily="34" charset="-122"/>
              </a:rPr>
              <a:t>探索 (Exploration)：尝试还没怎么试过的动作，也许它实际收益更高</a:t>
            </a:r>
          </a:p>
          <a:p>
            <a:pPr marL="0" indent="0" algn="ctr">
              <a:buNone/>
            </a:pP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从 Q 表</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和</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DQN</a:t>
            </a:r>
            <a:endParaRPr lang="en-US" sz="3500" dirty="0">
              <a:latin typeface="微软雅黑" panose="020B0503020204020204" pitchFamily="34" charset="-122"/>
            </a:endParaRPr>
          </a:p>
        </p:txBody>
      </p:sp>
      <p:sp>
        <p:nvSpPr>
          <p:cNvPr id="3" name="Shape 1"/>
          <p:cNvSpPr/>
          <p:nvPr/>
        </p:nvSpPr>
        <p:spPr>
          <a:xfrm>
            <a:off x="502920" y="1622552"/>
            <a:ext cx="11109960" cy="0"/>
          </a:xfrm>
          <a:prstGeom prst="line">
            <a:avLst/>
          </a:prstGeom>
          <a:noFill/>
          <a:ln w="12700">
            <a:solidFill>
              <a:srgbClr val="D8DEE8"/>
            </a:solidFill>
            <a:prstDash val="solid"/>
          </a:ln>
        </p:spPr>
      </p:sp>
      <p:sp>
        <p:nvSpPr>
          <p:cNvPr id="4" name="Shape 2"/>
          <p:cNvSpPr/>
          <p:nvPr/>
        </p:nvSpPr>
        <p:spPr>
          <a:xfrm>
            <a:off x="822960" y="1960880"/>
            <a:ext cx="5029200" cy="2433320"/>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822960" y="1960880"/>
            <a:ext cx="64008" cy="2433320"/>
          </a:xfrm>
          <a:prstGeom prst="rect">
            <a:avLst/>
          </a:prstGeom>
          <a:solidFill>
            <a:srgbClr val="31599B"/>
          </a:solidFill>
          <a:ln w="12700">
            <a:solidFill>
              <a:srgbClr val="31599B"/>
            </a:solidFill>
            <a:prstDash val="solid"/>
          </a:ln>
        </p:spPr>
      </p:sp>
      <p:sp>
        <p:nvSpPr>
          <p:cNvPr id="6" name="Text 4"/>
          <p:cNvSpPr/>
          <p:nvPr/>
        </p:nvSpPr>
        <p:spPr>
          <a:xfrm>
            <a:off x="1033272" y="2107184"/>
            <a:ext cx="464515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表格型 Q 学习</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1033272" y="2736088"/>
            <a:ext cx="4645152" cy="98755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Q 值存储在 Q 表中，适合有限、离散的状态与动作空间。</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217920" y="1960880"/>
            <a:ext cx="5029200" cy="2433320"/>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217920" y="1960880"/>
            <a:ext cx="64008" cy="2433320"/>
          </a:xfrm>
          <a:prstGeom prst="rect">
            <a:avLst/>
          </a:prstGeom>
          <a:solidFill>
            <a:srgbClr val="2F8E72"/>
          </a:solidFill>
          <a:ln w="12700">
            <a:solidFill>
              <a:srgbClr val="2F8E72"/>
            </a:solidFill>
            <a:prstDash val="solid"/>
          </a:ln>
        </p:spPr>
      </p:sp>
      <p:sp>
        <p:nvSpPr>
          <p:cNvPr id="10" name="Text 8"/>
          <p:cNvSpPr/>
          <p:nvPr/>
        </p:nvSpPr>
        <p:spPr>
          <a:xfrm>
            <a:off x="6428232" y="2107184"/>
            <a:ext cx="4645152" cy="329184"/>
          </a:xfrm>
          <a:prstGeom prst="rect">
            <a:avLst/>
          </a:prstGeom>
          <a:noFill/>
          <a:ln/>
        </p:spPr>
        <p:txBody>
          <a:bodyPr wrap="square" lIns="0" tIns="0" rIns="0" bIns="0" rtlCol="0" anchor="ctr">
            <a:normAutofit lnSpcReduction="10000"/>
          </a:bodyPr>
          <a:lstStyle/>
          <a:p>
            <a:r>
              <a:rPr lang="en-US" sz="2400" b="1" dirty="0" err="1">
                <a:solidFill>
                  <a:srgbClr val="2F8E72"/>
                </a:solidFill>
                <a:latin typeface="微软雅黑" panose="020B0503020204020204" pitchFamily="34" charset="-122"/>
                <a:ea typeface="微软雅黑" panose="020B0503020204020204" pitchFamily="34" charset="-122"/>
                <a:cs typeface="Noto Sans CJK SC" pitchFamily="34" charset="-120"/>
              </a:rPr>
              <a:t>深度Q网络</a:t>
            </a:r>
            <a:r>
              <a:rPr lang="zh-CN" alt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a:t>
            </a:r>
            <a:r>
              <a:rPr lang="en-US" altLang="zh-CN" sz="2400" b="1" dirty="0">
                <a:solidFill>
                  <a:srgbClr val="2F8E72"/>
                </a:solidFill>
                <a:latin typeface="微软雅黑" panose="020B0503020204020204" pitchFamily="34" charset="-122"/>
                <a:ea typeface="微软雅黑" panose="020B0503020204020204" pitchFamily="34" charset="-122"/>
                <a:cs typeface="Noto Sans CJK SC" pitchFamily="34" charset="-120"/>
              </a:rPr>
              <a:t>DQN </a:t>
            </a:r>
            <a:r>
              <a:rPr lang="zh-CN" alt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428232" y="2664968"/>
            <a:ext cx="4645152" cy="1272032"/>
          </a:xfrm>
          <a:prstGeom prst="rect">
            <a:avLst/>
          </a:prstGeom>
          <a:noFill/>
          <a:ln/>
        </p:spPr>
        <p:txBody>
          <a:bodyPr wrap="square" lIns="254" tIns="254" rIns="254" bIns="254" rtlCol="0" anchor="t">
            <a:normAutofit fontScale="92500"/>
          </a:bodyPr>
          <a:lstStyle/>
          <a:p>
            <a:pPr marL="0" indent="0">
              <a:buNone/>
            </a:pP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状态空间增大时如何扩展？</a:t>
            </a:r>
            <a:endPar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复杂场景可用神经网络逼近Q函数，扩展为Deep</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Q-Network</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DQN</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学习的优势</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3218688" cy="2059431"/>
          </a:xfrm>
          <a:prstGeom prst="roundRect">
            <a:avLst>
              <a:gd name="adj" fmla="val 142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2059431"/>
          </a:xfrm>
          <a:prstGeom prst="rect">
            <a:avLst/>
          </a:prstGeom>
          <a:solidFill>
            <a:srgbClr val="31599B"/>
          </a:solidFill>
          <a:ln w="12700">
            <a:solidFill>
              <a:srgbClr val="31599B"/>
            </a:solidFill>
            <a:prstDash val="solid"/>
          </a:ln>
        </p:spPr>
      </p:sp>
      <p:sp>
        <p:nvSpPr>
          <p:cNvPr id="6" name="Text 4"/>
          <p:cNvSpPr/>
          <p:nvPr/>
        </p:nvSpPr>
        <p:spPr>
          <a:xfrm>
            <a:off x="987552" y="1810512"/>
            <a:ext cx="2834640"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无需环境模型</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987552" y="2419096"/>
            <a:ext cx="2834640" cy="86766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可以直接从真实交互中学习 Q(</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s,a</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18688" cy="2059431"/>
          </a:xfrm>
          <a:prstGeom prst="roundRect">
            <a:avLst>
              <a:gd name="adj" fmla="val 142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34840" y="1664208"/>
            <a:ext cx="64008" cy="2059431"/>
          </a:xfrm>
          <a:prstGeom prst="rect">
            <a:avLst/>
          </a:prstGeom>
          <a:solidFill>
            <a:srgbClr val="2F8E72"/>
          </a:solidFill>
          <a:ln w="12700">
            <a:solidFill>
              <a:srgbClr val="2F8E72"/>
            </a:solidFill>
            <a:prstDash val="solid"/>
          </a:ln>
        </p:spPr>
      </p:sp>
      <p:sp>
        <p:nvSpPr>
          <p:cNvPr id="10" name="Text 8"/>
          <p:cNvSpPr/>
          <p:nvPr/>
        </p:nvSpPr>
        <p:spPr>
          <a:xfrm>
            <a:off x="4645152" y="1810512"/>
            <a:ext cx="2834640"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支持历史数据复用</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419096"/>
            <a:ext cx="2834640" cy="1340104"/>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离策略属性让探索数据可以继续用于目标策略学习</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8092440" y="1664208"/>
            <a:ext cx="3218688" cy="2059431"/>
          </a:xfrm>
          <a:prstGeom prst="roundRect">
            <a:avLst>
              <a:gd name="adj" fmla="val 142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092440" y="1664208"/>
            <a:ext cx="64008" cy="2059431"/>
          </a:xfrm>
          <a:prstGeom prst="rect">
            <a:avLst/>
          </a:prstGeom>
          <a:solidFill>
            <a:srgbClr val="C58A24"/>
          </a:solidFill>
          <a:ln w="12700">
            <a:solidFill>
              <a:srgbClr val="C58A24"/>
            </a:solidFill>
            <a:prstDash val="solid"/>
          </a:ln>
        </p:spPr>
      </p:sp>
      <p:sp>
        <p:nvSpPr>
          <p:cNvPr id="14" name="Text 12"/>
          <p:cNvSpPr/>
          <p:nvPr/>
        </p:nvSpPr>
        <p:spPr>
          <a:xfrm>
            <a:off x="8302752" y="1810512"/>
            <a:ext cx="2834640"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表格情形有理论收敛性</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8302752" y="2419096"/>
            <a:ext cx="2834640" cy="1253744"/>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满足充分探索、贪婪极限与适当学习率等条件时，可收敛到最优动作价值函数</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学习的局限与缓解思路</a:t>
            </a:r>
            <a:endParaRPr lang="en-US" sz="3500" dirty="0">
              <a:latin typeface="微软雅黑" panose="020B0503020204020204" pitchFamily="34" charset="-122"/>
            </a:endParaRPr>
          </a:p>
        </p:txBody>
      </p:sp>
      <p:sp>
        <p:nvSpPr>
          <p:cNvPr id="3" name="Shape 1"/>
          <p:cNvSpPr/>
          <p:nvPr/>
        </p:nvSpPr>
        <p:spPr>
          <a:xfrm>
            <a:off x="502920" y="1617472"/>
            <a:ext cx="11109960" cy="0"/>
          </a:xfrm>
          <a:prstGeom prst="line">
            <a:avLst/>
          </a:prstGeom>
          <a:noFill/>
          <a:ln w="12700">
            <a:solidFill>
              <a:srgbClr val="D8DEE8"/>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505022461"/>
              </p:ext>
            </p:extLst>
          </p:nvPr>
        </p:nvGraphicFramePr>
        <p:xfrm>
          <a:off x="758952" y="1682496"/>
          <a:ext cx="10698480" cy="3749040"/>
        </p:xfrm>
        <a:graphic>
          <a:graphicData uri="http://schemas.openxmlformats.org/drawingml/2006/table">
            <a:tbl>
              <a:tblPr/>
              <a:tblGrid>
                <a:gridCol w="22402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tblGrid>
              <a:tr h="937260">
                <a:tc>
                  <a:txBody>
                    <a:bodyPr/>
                    <a:lstStyle/>
                    <a:p>
                      <a:pPr marL="0" indent="0" algn="ctr">
                        <a:buNone/>
                      </a:pPr>
                      <a:endParaRPr lang="en-US" sz="14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endParaRPr lang="en-US" sz="14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endParaRPr lang="en-US" sz="14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37260">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高维空间</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Q 表规模快速增长</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使用函数逼近 / DQN</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7260">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函数逼近不稳定</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训练可能波动或发散</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经验回放缓冲区、目标网络</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37260">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价值过估计风险</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最大化操作可能带来偏差</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双 Q 机制</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768096" y="1682496"/>
            <a:ext cx="10698480" cy="743710"/>
          </a:xfrm>
          <a:prstGeom prst="rect">
            <a:avLst/>
          </a:prstGeom>
          <a:solidFill>
            <a:srgbClr val="31599B"/>
          </a:solidFill>
          <a:ln w="12700">
            <a:solidFill>
              <a:srgbClr val="31599B"/>
            </a:solidFill>
            <a:prstDash val="solid"/>
          </a:ln>
        </p:spPr>
      </p:sp>
      <p:sp>
        <p:nvSpPr>
          <p:cNvPr id="6" name="Text 3"/>
          <p:cNvSpPr/>
          <p:nvPr/>
        </p:nvSpPr>
        <p:spPr>
          <a:xfrm>
            <a:off x="768096" y="1988312"/>
            <a:ext cx="220370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问题</a:t>
            </a:r>
            <a:endParaRPr lang="en-US" sz="2000" dirty="0">
              <a:latin typeface="微软雅黑" panose="020B0503020204020204" pitchFamily="34" charset="-122"/>
            </a:endParaRPr>
          </a:p>
        </p:txBody>
      </p:sp>
      <p:sp>
        <p:nvSpPr>
          <p:cNvPr id="7" name="Text 4"/>
          <p:cNvSpPr/>
          <p:nvPr/>
        </p:nvSpPr>
        <p:spPr>
          <a:xfrm>
            <a:off x="3008376" y="1988312"/>
            <a:ext cx="371246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表现</a:t>
            </a:r>
            <a:endParaRPr lang="en-US" sz="2000" dirty="0">
              <a:latin typeface="微软雅黑" panose="020B0503020204020204" pitchFamily="34" charset="-122"/>
            </a:endParaRPr>
          </a:p>
        </p:txBody>
      </p:sp>
      <p:sp>
        <p:nvSpPr>
          <p:cNvPr id="8" name="Text 5"/>
          <p:cNvSpPr/>
          <p:nvPr/>
        </p:nvSpPr>
        <p:spPr>
          <a:xfrm>
            <a:off x="6757416" y="1988312"/>
            <a:ext cx="467258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err="1">
                <a:solidFill>
                  <a:srgbClr val="FFFFFF"/>
                </a:solidFill>
                <a:latin typeface="微软雅黑" panose="020B0503020204020204" pitchFamily="34" charset="-122"/>
                <a:ea typeface="微软雅黑" panose="020B0503020204020204" pitchFamily="34" charset="-122"/>
                <a:cs typeface="Noto Sans CJK SC" pitchFamily="34" charset="-120"/>
              </a:rPr>
              <a:t>缓解</a:t>
            </a:r>
            <a:r>
              <a:rPr lang="zh-CN" alt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思路</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学习在机器人任务中的应用</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45920"/>
            <a:ext cx="3246120" cy="187960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45920"/>
            <a:ext cx="64008" cy="1879600"/>
          </a:xfrm>
          <a:prstGeom prst="rect">
            <a:avLst/>
          </a:prstGeom>
          <a:solidFill>
            <a:srgbClr val="31599B"/>
          </a:solidFill>
          <a:ln w="12700">
            <a:solidFill>
              <a:srgbClr val="31599B"/>
            </a:solidFill>
            <a:prstDash val="solid"/>
          </a:ln>
        </p:spPr>
      </p:sp>
      <p:sp>
        <p:nvSpPr>
          <p:cNvPr id="6" name="Text 4"/>
          <p:cNvSpPr/>
          <p:nvPr/>
        </p:nvSpPr>
        <p:spPr>
          <a:xfrm>
            <a:off x="987552"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路径寻找</a:t>
            </a:r>
            <a:endParaRPr lang="en-US" sz="2000" dirty="0">
              <a:latin typeface="微软雅黑" panose="020B0503020204020204" pitchFamily="34" charset="-122"/>
            </a:endParaRPr>
          </a:p>
        </p:txBody>
      </p:sp>
      <p:sp>
        <p:nvSpPr>
          <p:cNvPr id="7" name="Text 5"/>
          <p:cNvSpPr/>
          <p:nvPr/>
        </p:nvSpPr>
        <p:spPr>
          <a:xfrm>
            <a:off x="987552" y="2212848"/>
            <a:ext cx="2862072" cy="108407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在离散决策环境中通过 Q 值比较动作，寻找更优路径。</a:t>
            </a:r>
            <a:endParaRPr lang="en-US" sz="2000" dirty="0">
              <a:latin typeface="微软雅黑" panose="020B0503020204020204" pitchFamily="34" charset="-122"/>
            </a:endParaRPr>
          </a:p>
        </p:txBody>
      </p:sp>
      <p:sp>
        <p:nvSpPr>
          <p:cNvPr id="8" name="Shape 6"/>
          <p:cNvSpPr/>
          <p:nvPr/>
        </p:nvSpPr>
        <p:spPr>
          <a:xfrm>
            <a:off x="4434840" y="1645920"/>
            <a:ext cx="3246120" cy="187960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34840" y="1645920"/>
            <a:ext cx="64008" cy="1879600"/>
          </a:xfrm>
          <a:prstGeom prst="rect">
            <a:avLst/>
          </a:prstGeom>
          <a:solidFill>
            <a:srgbClr val="2F8E72"/>
          </a:solidFill>
          <a:ln w="12700">
            <a:solidFill>
              <a:srgbClr val="2F8E72"/>
            </a:solidFill>
            <a:prstDash val="solid"/>
          </a:ln>
        </p:spPr>
      </p:sp>
      <p:sp>
        <p:nvSpPr>
          <p:cNvPr id="10" name="Text 8"/>
          <p:cNvSpPr/>
          <p:nvPr/>
        </p:nvSpPr>
        <p:spPr>
          <a:xfrm>
            <a:off x="4645152"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障碍规避</a:t>
            </a:r>
            <a:endParaRPr lang="en-US" sz="2000" dirty="0">
              <a:latin typeface="微软雅黑" panose="020B0503020204020204" pitchFamily="34" charset="-122"/>
            </a:endParaRPr>
          </a:p>
        </p:txBody>
      </p:sp>
      <p:sp>
        <p:nvSpPr>
          <p:cNvPr id="11" name="Text 9"/>
          <p:cNvSpPr/>
          <p:nvPr/>
        </p:nvSpPr>
        <p:spPr>
          <a:xfrm>
            <a:off x="4645152" y="2212848"/>
            <a:ext cx="2862072" cy="1084072"/>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可结合深度相机获取深度信息并预测特征图，实现避障</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000" dirty="0">
              <a:latin typeface="微软雅黑" panose="020B0503020204020204" pitchFamily="34" charset="-122"/>
            </a:endParaRPr>
          </a:p>
        </p:txBody>
      </p:sp>
      <p:sp>
        <p:nvSpPr>
          <p:cNvPr id="12" name="Shape 10"/>
          <p:cNvSpPr/>
          <p:nvPr/>
        </p:nvSpPr>
        <p:spPr>
          <a:xfrm>
            <a:off x="8092440" y="1645920"/>
            <a:ext cx="3246120" cy="187960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092440" y="1645920"/>
            <a:ext cx="64008" cy="1879600"/>
          </a:xfrm>
          <a:prstGeom prst="rect">
            <a:avLst/>
          </a:prstGeom>
          <a:solidFill>
            <a:srgbClr val="C58A24"/>
          </a:solidFill>
          <a:ln w="12700">
            <a:solidFill>
              <a:srgbClr val="C58A24"/>
            </a:solidFill>
            <a:prstDash val="solid"/>
          </a:ln>
        </p:spPr>
      </p:sp>
      <p:sp>
        <p:nvSpPr>
          <p:cNvPr id="14" name="Text 12"/>
          <p:cNvSpPr/>
          <p:nvPr/>
        </p:nvSpPr>
        <p:spPr>
          <a:xfrm>
            <a:off x="8302752"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任务调度</a:t>
            </a:r>
            <a:endParaRPr lang="en-US" sz="2000" dirty="0">
              <a:latin typeface="微软雅黑" panose="020B0503020204020204" pitchFamily="34" charset="-122"/>
            </a:endParaRPr>
          </a:p>
        </p:txBody>
      </p:sp>
      <p:sp>
        <p:nvSpPr>
          <p:cNvPr id="15" name="Text 13"/>
          <p:cNvSpPr/>
          <p:nvPr/>
        </p:nvSpPr>
        <p:spPr>
          <a:xfrm>
            <a:off x="8302752" y="2212848"/>
            <a:ext cx="2862072" cy="83515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适用于有限状态与有限动作的序贯决策。</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3.2 </a:t>
            </a:r>
            <a:r>
              <a:rPr lang="en-US" altLang="zh-CN" sz="3500" b="1" dirty="0">
                <a:solidFill>
                  <a:srgbClr val="24477D"/>
                </a:solidFill>
                <a:latin typeface="微软雅黑" panose="020B0503020204020204" pitchFamily="34" charset="-122"/>
                <a:ea typeface="微软雅黑" panose="020B0503020204020204" pitchFamily="34" charset="-122"/>
                <a:cs typeface="Noto Sans CJK SC" pitchFamily="34" charset="-120"/>
              </a:rPr>
              <a:t>Q </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学习</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小结</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31520" y="1664208"/>
            <a:ext cx="3401568" cy="1600200"/>
          </a:xfrm>
          <a:prstGeom prst="roundRect">
            <a:avLst>
              <a:gd name="adj" fmla="val 285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31520" y="1664208"/>
            <a:ext cx="64008" cy="1600200"/>
          </a:xfrm>
          <a:prstGeom prst="rect">
            <a:avLst/>
          </a:prstGeom>
          <a:solidFill>
            <a:srgbClr val="31599B"/>
          </a:solidFill>
          <a:ln w="12700">
            <a:solidFill>
              <a:srgbClr val="31599B"/>
            </a:solidFill>
            <a:prstDash val="solid"/>
          </a:ln>
        </p:spPr>
      </p:sp>
      <p:sp>
        <p:nvSpPr>
          <p:cNvPr id="6" name="Text 4"/>
          <p:cNvSpPr/>
          <p:nvPr/>
        </p:nvSpPr>
        <p:spPr>
          <a:xfrm>
            <a:off x="941832" y="1810512"/>
            <a:ext cx="301752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无模型</a:t>
            </a:r>
            <a:endParaRPr lang="en-US" sz="2400" dirty="0">
              <a:latin typeface="微软雅黑" panose="020B0503020204020204" pitchFamily="34" charset="-122"/>
            </a:endParaRPr>
          </a:p>
        </p:txBody>
      </p:sp>
      <p:sp>
        <p:nvSpPr>
          <p:cNvPr id="7" name="Text 5"/>
          <p:cNvSpPr/>
          <p:nvPr/>
        </p:nvSpPr>
        <p:spPr>
          <a:xfrm>
            <a:off x="955548" y="2320543"/>
            <a:ext cx="3017520" cy="8869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不显式构建环境转移模型</a:t>
            </a:r>
            <a:endParaRPr lang="en-US" sz="2000" dirty="0">
              <a:latin typeface="微软雅黑" panose="020B0503020204020204" pitchFamily="34" charset="-122"/>
            </a:endParaRPr>
          </a:p>
        </p:txBody>
      </p:sp>
      <p:sp>
        <p:nvSpPr>
          <p:cNvPr id="8" name="Shape 6"/>
          <p:cNvSpPr/>
          <p:nvPr/>
        </p:nvSpPr>
        <p:spPr>
          <a:xfrm>
            <a:off x="4434840" y="1664208"/>
            <a:ext cx="3401568" cy="1600200"/>
          </a:xfrm>
          <a:prstGeom prst="roundRect">
            <a:avLst>
              <a:gd name="adj" fmla="val 285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34840" y="1664208"/>
            <a:ext cx="64008" cy="1600200"/>
          </a:xfrm>
          <a:prstGeom prst="rect">
            <a:avLst/>
          </a:prstGeom>
          <a:solidFill>
            <a:srgbClr val="2F8E72"/>
          </a:solidFill>
          <a:ln w="12700">
            <a:solidFill>
              <a:srgbClr val="2F8E72"/>
            </a:solidFill>
            <a:prstDash val="solid"/>
          </a:ln>
        </p:spPr>
      </p:sp>
      <p:sp>
        <p:nvSpPr>
          <p:cNvPr id="10" name="Text 8"/>
          <p:cNvSpPr/>
          <p:nvPr/>
        </p:nvSpPr>
        <p:spPr>
          <a:xfrm>
            <a:off x="4645152" y="1810512"/>
            <a:ext cx="301752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基于价值</a:t>
            </a:r>
            <a:endParaRPr lang="en-US" sz="2400" dirty="0">
              <a:latin typeface="微软雅黑" panose="020B0503020204020204" pitchFamily="34" charset="-122"/>
            </a:endParaRPr>
          </a:p>
        </p:txBody>
      </p:sp>
      <p:sp>
        <p:nvSpPr>
          <p:cNvPr id="11" name="Text 9"/>
          <p:cNvSpPr/>
          <p:nvPr/>
        </p:nvSpPr>
        <p:spPr>
          <a:xfrm>
            <a:off x="4658868" y="2304287"/>
            <a:ext cx="3017520" cy="8869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核心学习对象是 Q(s,a)</a:t>
            </a:r>
            <a:endParaRPr lang="en-US" sz="2000" dirty="0">
              <a:latin typeface="微软雅黑" panose="020B0503020204020204" pitchFamily="34" charset="-122"/>
            </a:endParaRPr>
          </a:p>
        </p:txBody>
      </p:sp>
      <p:sp>
        <p:nvSpPr>
          <p:cNvPr id="12" name="Shape 10"/>
          <p:cNvSpPr/>
          <p:nvPr/>
        </p:nvSpPr>
        <p:spPr>
          <a:xfrm>
            <a:off x="8138160" y="1664208"/>
            <a:ext cx="3401568" cy="1600200"/>
          </a:xfrm>
          <a:prstGeom prst="roundRect">
            <a:avLst>
              <a:gd name="adj" fmla="val 285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38160" y="1664208"/>
            <a:ext cx="64008" cy="1600200"/>
          </a:xfrm>
          <a:prstGeom prst="rect">
            <a:avLst/>
          </a:prstGeom>
          <a:solidFill>
            <a:srgbClr val="C58A24"/>
          </a:solidFill>
          <a:ln w="12700">
            <a:solidFill>
              <a:srgbClr val="C58A24"/>
            </a:solidFill>
            <a:prstDash val="solid"/>
          </a:ln>
        </p:spPr>
      </p:sp>
      <p:sp>
        <p:nvSpPr>
          <p:cNvPr id="14" name="Text 12"/>
          <p:cNvSpPr/>
          <p:nvPr/>
        </p:nvSpPr>
        <p:spPr>
          <a:xfrm>
            <a:off x="8348472" y="1810512"/>
            <a:ext cx="301752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离策略</a:t>
            </a:r>
            <a:endParaRPr lang="en-US" sz="2400" dirty="0">
              <a:latin typeface="微软雅黑" panose="020B0503020204020204" pitchFamily="34" charset="-122"/>
            </a:endParaRPr>
          </a:p>
        </p:txBody>
      </p:sp>
      <p:sp>
        <p:nvSpPr>
          <p:cNvPr id="15" name="Text 13"/>
          <p:cNvSpPr/>
          <p:nvPr/>
        </p:nvSpPr>
        <p:spPr>
          <a:xfrm>
            <a:off x="8348472" y="2231136"/>
            <a:ext cx="3017520" cy="8869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探索策略与目标策略可分离</a:t>
            </a:r>
            <a:endParaRPr lang="en-US" sz="2000" dirty="0">
              <a:latin typeface="微软雅黑" panose="020B0503020204020204" pitchFamily="34" charset="-122"/>
            </a:endParaRPr>
          </a:p>
        </p:txBody>
      </p:sp>
      <p:sp>
        <p:nvSpPr>
          <p:cNvPr id="16" name="Shape 14"/>
          <p:cNvSpPr/>
          <p:nvPr/>
        </p:nvSpPr>
        <p:spPr>
          <a:xfrm>
            <a:off x="731520" y="3630168"/>
            <a:ext cx="3401568" cy="1600200"/>
          </a:xfrm>
          <a:prstGeom prst="roundRect">
            <a:avLst>
              <a:gd name="adj" fmla="val 285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731520" y="3630168"/>
            <a:ext cx="64008" cy="1600200"/>
          </a:xfrm>
          <a:prstGeom prst="rect">
            <a:avLst/>
          </a:prstGeom>
          <a:solidFill>
            <a:srgbClr val="C63F45"/>
          </a:solidFill>
          <a:ln w="12700">
            <a:solidFill>
              <a:srgbClr val="C63F45"/>
            </a:solidFill>
            <a:prstDash val="solid"/>
          </a:ln>
        </p:spPr>
      </p:sp>
      <p:sp>
        <p:nvSpPr>
          <p:cNvPr id="18" name="Text 16"/>
          <p:cNvSpPr/>
          <p:nvPr/>
        </p:nvSpPr>
        <p:spPr>
          <a:xfrm>
            <a:off x="941832" y="3776472"/>
            <a:ext cx="3017520"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TD 更新</a:t>
            </a:r>
            <a:endParaRPr lang="en-US" sz="2400" dirty="0">
              <a:latin typeface="微软雅黑" panose="020B0503020204020204" pitchFamily="34" charset="-122"/>
            </a:endParaRPr>
          </a:p>
        </p:txBody>
      </p:sp>
      <p:sp>
        <p:nvSpPr>
          <p:cNvPr id="19" name="Text 17"/>
          <p:cNvSpPr/>
          <p:nvPr/>
        </p:nvSpPr>
        <p:spPr>
          <a:xfrm>
            <a:off x="941832" y="4224528"/>
            <a:ext cx="3017520" cy="8869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每一步即可用新经验修正价值</a:t>
            </a:r>
            <a:endParaRPr lang="en-US" sz="2000" dirty="0">
              <a:latin typeface="微软雅黑" panose="020B0503020204020204" pitchFamily="34" charset="-122"/>
            </a:endParaRPr>
          </a:p>
        </p:txBody>
      </p:sp>
      <p:sp>
        <p:nvSpPr>
          <p:cNvPr id="20" name="Shape 18"/>
          <p:cNvSpPr/>
          <p:nvPr/>
        </p:nvSpPr>
        <p:spPr>
          <a:xfrm>
            <a:off x="4434840" y="3630168"/>
            <a:ext cx="3401568" cy="1600200"/>
          </a:xfrm>
          <a:prstGeom prst="roundRect">
            <a:avLst>
              <a:gd name="adj" fmla="val 285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1" name="Shape 19"/>
          <p:cNvSpPr/>
          <p:nvPr/>
        </p:nvSpPr>
        <p:spPr>
          <a:xfrm>
            <a:off x="4434840" y="3630168"/>
            <a:ext cx="64008" cy="1600200"/>
          </a:xfrm>
          <a:prstGeom prst="rect">
            <a:avLst/>
          </a:prstGeom>
          <a:solidFill>
            <a:srgbClr val="7558A8"/>
          </a:solidFill>
          <a:ln w="12700">
            <a:solidFill>
              <a:srgbClr val="7558A8"/>
            </a:solidFill>
            <a:prstDash val="solid"/>
          </a:ln>
        </p:spPr>
      </p:sp>
      <p:sp>
        <p:nvSpPr>
          <p:cNvPr id="22" name="Text 20"/>
          <p:cNvSpPr/>
          <p:nvPr/>
        </p:nvSpPr>
        <p:spPr>
          <a:xfrm>
            <a:off x="4645152" y="3776472"/>
            <a:ext cx="3017520" cy="329184"/>
          </a:xfrm>
          <a:prstGeom prst="rect">
            <a:avLst/>
          </a:prstGeom>
          <a:noFill/>
          <a:ln/>
        </p:spPr>
        <p:txBody>
          <a:bodyPr wrap="square" lIns="0" tIns="0" rIns="0" bIns="0" rtlCol="0" anchor="ctr">
            <a:noAutofit/>
          </a:bodyPr>
          <a:lstStyle/>
          <a:p>
            <a:pPr marL="0" indent="0">
              <a:buNone/>
            </a:pPr>
            <a:r>
              <a:rPr lang="en-US" sz="2400" b="1" dirty="0">
                <a:solidFill>
                  <a:srgbClr val="7558A8"/>
                </a:solidFill>
                <a:latin typeface="微软雅黑" panose="020B0503020204020204" pitchFamily="34" charset="-122"/>
                <a:ea typeface="微软雅黑" panose="020B0503020204020204" pitchFamily="34" charset="-122"/>
                <a:cs typeface="Noto Sans CJK SC" pitchFamily="34" charset="-120"/>
              </a:rPr>
              <a:t>离散任务</a:t>
            </a:r>
            <a:endParaRPr lang="en-US" sz="2400" dirty="0">
              <a:latin typeface="微软雅黑" panose="020B0503020204020204" pitchFamily="34" charset="-122"/>
            </a:endParaRPr>
          </a:p>
        </p:txBody>
      </p:sp>
      <p:sp>
        <p:nvSpPr>
          <p:cNvPr id="23" name="Text 21"/>
          <p:cNvSpPr/>
          <p:nvPr/>
        </p:nvSpPr>
        <p:spPr>
          <a:xfrm>
            <a:off x="4658868" y="4251960"/>
            <a:ext cx="3017520" cy="72034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最适合有限状态 / 动作的表格问题</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微软雅黑" panose="020B0503020204020204" pitchFamily="34" charset="-122"/>
                <a:ea typeface="微软雅黑" panose="020B0503020204020204" pitchFamily="34" charset="-122"/>
                <a:cs typeface="Noto Sans CJK SC" pitchFamily="34" charset="-120"/>
              </a:rPr>
              <a:t>策略梯度算法</a:t>
            </a:r>
            <a:endParaRPr lang="en-US" sz="390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
        <p:nvSpPr>
          <p:cNvPr id="19" name="Text 2">
            <a:extLst>
              <a:ext uri="{FF2B5EF4-FFF2-40B4-BE49-F238E27FC236}">
                <a16:creationId xmlns:a16="http://schemas.microsoft.com/office/drawing/2014/main" id="{FC9F3DE0-F430-EEEA-A3AF-327D8C19C136}"/>
              </a:ext>
            </a:extLst>
          </p:cNvPr>
          <p:cNvSpPr/>
          <p:nvPr/>
        </p:nvSpPr>
        <p:spPr>
          <a:xfrm>
            <a:off x="1310640" y="1486565"/>
            <a:ext cx="1691640" cy="1097280"/>
          </a:xfrm>
          <a:prstGeom prst="rect">
            <a:avLst/>
          </a:prstGeom>
          <a:noFill/>
          <a:ln/>
        </p:spPr>
        <p:txBody>
          <a:bodyPr wrap="square" lIns="0" tIns="0" rIns="0" bIns="0" rtlCol="0" anchor="ctr"/>
          <a:lstStyle/>
          <a:p>
            <a:pPr marL="0" indent="0" algn="r">
              <a:buNone/>
            </a:pPr>
            <a:r>
              <a:rPr lang="en-US" sz="7200" b="1" dirty="0">
                <a:solidFill>
                  <a:srgbClr val="31599B"/>
                </a:solidFill>
                <a:latin typeface="微软雅黑" panose="020B0503020204020204" pitchFamily="34" charset="-122"/>
                <a:ea typeface="微软雅黑" panose="020B0503020204020204" pitchFamily="34" charset="-122"/>
                <a:cs typeface="Noto Sans CJK SC" pitchFamily="34" charset="-120"/>
              </a:rPr>
              <a:t>03</a:t>
            </a:r>
            <a:endParaRPr lang="en-US" sz="7200" dirty="0">
              <a:latin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3.3 策略梯度：直接针对策略进行优化</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31520" y="1645920"/>
            <a:ext cx="10241280" cy="4251960"/>
          </a:xfrm>
          <a:prstGeom prst="rect">
            <a:avLst/>
          </a:prstGeom>
          <a:noFill/>
          <a:ln/>
        </p:spPr>
        <p:txBody>
          <a:bodyPr wrap="square" lIns="635" tIns="635" rIns="635" bIns="635" rtlCol="0" anchor="t">
            <a:normAutofit/>
          </a:bodyPr>
          <a:lstStyle/>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基本思路：调整策略参数，使智能体在环境互动中的预期总回报达到最大</a:t>
            </a:r>
            <a:endParaRPr lang="en-US" sz="2400" dirty="0">
              <a:latin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与 Q 学习相比，不要求先显式求出价值函数再选动作，而是直接从采样轨迹中提取梯度信息特别适合连续动作空间的复杂决策任务，如机器人运动控制、AI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游戏和无人驾驶系统</a:t>
            </a:r>
            <a:endParaRPr lang="en-US" sz="2400" dirty="0">
              <a:latin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策略梯度定理提供了优化目标的梯度表达式，并缓解信用分配问题</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Q 学习 vs 策略梯度：优化对象不同</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937077078"/>
              </p:ext>
            </p:extLst>
          </p:nvPr>
        </p:nvGraphicFramePr>
        <p:xfrm>
          <a:off x="685800" y="1664208"/>
          <a:ext cx="10835640" cy="4114800"/>
        </p:xfrm>
        <a:graphic>
          <a:graphicData uri="http://schemas.openxmlformats.org/drawingml/2006/table">
            <a:tbl>
              <a:tblPr/>
              <a:tblGrid>
                <a:gridCol w="23774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822960">
                <a:tc>
                  <a:txBody>
                    <a:bodyPr/>
                    <a:lstStyle/>
                    <a:p>
                      <a:pPr marL="0" indent="0" algn="ctr">
                        <a:buNone/>
                      </a:pPr>
                      <a:r>
                        <a:rPr lang="en-US" sz="1470" dirty="0">
                          <a:solidFill>
                            <a:srgbClr val="222833"/>
                          </a:solidFill>
                          <a:latin typeface="微软雅黑" panose="020B0503020204020204" pitchFamily="34" charset="-122"/>
                          <a:ea typeface="微软雅黑" panose="020B0503020204020204" pitchFamily="34" charset="-122"/>
                          <a:cs typeface="Noto Sans CJK SC" pitchFamily="34" charset="-120"/>
                        </a:rPr>
                        <a:t>比较维度</a:t>
                      </a:r>
                      <a:endParaRPr lang="en-US" sz="147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470" dirty="0">
                          <a:solidFill>
                            <a:srgbClr val="222833"/>
                          </a:solidFill>
                          <a:latin typeface="微软雅黑" panose="020B0503020204020204" pitchFamily="34" charset="-122"/>
                          <a:ea typeface="微软雅黑" panose="020B0503020204020204" pitchFamily="34" charset="-122"/>
                          <a:cs typeface="Noto Sans CJK SC" pitchFamily="34" charset="-120"/>
                        </a:rPr>
                        <a:t>Q 学习</a:t>
                      </a:r>
                      <a:endParaRPr lang="en-US" sz="147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470" dirty="0">
                          <a:solidFill>
                            <a:srgbClr val="222833"/>
                          </a:solidFill>
                          <a:latin typeface="微软雅黑" panose="020B0503020204020204" pitchFamily="34" charset="-122"/>
                          <a:ea typeface="微软雅黑" panose="020B0503020204020204" pitchFamily="34" charset="-122"/>
                          <a:cs typeface="Noto Sans CJK SC" pitchFamily="34" charset="-120"/>
                        </a:rPr>
                        <a:t>策略梯度</a:t>
                      </a:r>
                      <a:endParaRPr lang="en-US" sz="147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2296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核心学习对象</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Q(s,a) 价值函数</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参数化策略 π</a:t>
                      </a:r>
                      <a:r>
                        <a:rPr lang="en-US" sz="20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θ</a:t>
                      </a:r>
                      <a:endParaRPr lang="en-US" sz="2000" baseline="-25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策略获得方式</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由最大 Q 值间接得到</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直接更新策略参数</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动作空间适用性</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更适合有限离散动作</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特别适合连续动作控制</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数据使用</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典型 off-policy</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通常 on-policy</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685800" y="1664207"/>
            <a:ext cx="10835640" cy="748791"/>
          </a:xfrm>
          <a:prstGeom prst="rect">
            <a:avLst/>
          </a:prstGeom>
          <a:solidFill>
            <a:srgbClr val="31599B"/>
          </a:solidFill>
          <a:ln w="12700">
            <a:solidFill>
              <a:srgbClr val="31599B"/>
            </a:solidFill>
            <a:prstDash val="solid"/>
          </a:ln>
        </p:spPr>
      </p:sp>
      <p:sp>
        <p:nvSpPr>
          <p:cNvPr id="6" name="Text 3"/>
          <p:cNvSpPr/>
          <p:nvPr/>
        </p:nvSpPr>
        <p:spPr>
          <a:xfrm>
            <a:off x="704088" y="1773936"/>
            <a:ext cx="2340864" cy="522224"/>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比较维度</a:t>
            </a:r>
            <a:endParaRPr lang="en-US" sz="2000" dirty="0">
              <a:latin typeface="微软雅黑" panose="020B0503020204020204" pitchFamily="34" charset="-122"/>
              <a:ea typeface="微软雅黑" panose="020B0503020204020204" pitchFamily="34" charset="-122"/>
            </a:endParaRPr>
          </a:p>
        </p:txBody>
      </p:sp>
      <p:sp>
        <p:nvSpPr>
          <p:cNvPr id="7" name="Text 4"/>
          <p:cNvSpPr/>
          <p:nvPr/>
        </p:nvSpPr>
        <p:spPr>
          <a:xfrm>
            <a:off x="3081528" y="1773936"/>
            <a:ext cx="4123944" cy="440944"/>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Q 学习</a:t>
            </a:r>
            <a:endParaRPr lang="en-US" sz="2000" dirty="0">
              <a:latin typeface="微软雅黑" panose="020B0503020204020204" pitchFamily="34" charset="-122"/>
              <a:ea typeface="微软雅黑" panose="020B0503020204020204" pitchFamily="34" charset="-122"/>
            </a:endParaRPr>
          </a:p>
        </p:txBody>
      </p:sp>
      <p:sp>
        <p:nvSpPr>
          <p:cNvPr id="8" name="Text 5"/>
          <p:cNvSpPr/>
          <p:nvPr/>
        </p:nvSpPr>
        <p:spPr>
          <a:xfrm>
            <a:off x="7242048" y="1773936"/>
            <a:ext cx="4261104" cy="440944"/>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策略梯度</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3.3.1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策略表示</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2645901"/>
          </a:xfrm>
          <a:prstGeom prst="roundRect">
            <a:avLst>
              <a:gd name="adj" fmla="val 133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2645901"/>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参数化策略</a:t>
            </a:r>
            <a:endParaRPr lang="en-US" sz="2400" dirty="0">
              <a:latin typeface="微软雅黑" panose="020B0503020204020204" pitchFamily="34" charset="-122"/>
            </a:endParaRPr>
          </a:p>
        </p:txBody>
      </p:sp>
      <p:sp>
        <p:nvSpPr>
          <p:cNvPr id="7" name="Text 5"/>
          <p:cNvSpPr/>
          <p:nvPr/>
        </p:nvSpPr>
        <p:spPr>
          <a:xfrm>
            <a:off x="987552" y="2333232"/>
            <a:ext cx="4690872" cy="1311054"/>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用参数向量 θ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表示策略，便于在参数空间中迭代优化</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p>
          <a:p>
            <a:pPr marL="0" indent="0">
              <a:buNone/>
            </a:pP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如</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高斯策略与离散</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Softmax</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242560" cy="2645901"/>
          </a:xfrm>
          <a:prstGeom prst="roundRect">
            <a:avLst>
              <a:gd name="adj" fmla="val 133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64208"/>
            <a:ext cx="64008" cy="2645894"/>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神经网络策略</a:t>
            </a:r>
            <a:endParaRPr lang="en-US" sz="2400" dirty="0">
              <a:latin typeface="微软雅黑" panose="020B0503020204020204" pitchFamily="34" charset="-122"/>
            </a:endParaRPr>
          </a:p>
        </p:txBody>
      </p:sp>
      <p:sp>
        <p:nvSpPr>
          <p:cNvPr id="11" name="Text 9"/>
          <p:cNvSpPr/>
          <p:nvPr/>
        </p:nvSpPr>
        <p:spPr>
          <a:xfrm>
            <a:off x="6382512" y="2333232"/>
            <a:ext cx="4940956" cy="1368759"/>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将高维状态（如图像、传感器信号）映射为动作，在复杂非线性任务中提升策略表达能力</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两类典型参数化策略</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2517175"/>
          </a:xfrm>
          <a:prstGeom prst="roundRect">
            <a:avLst>
              <a:gd name="adj" fmla="val 133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2517175"/>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高斯策略</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515223"/>
            <a:ext cx="4690872" cy="1240033"/>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适用于连续动作场景。动作从由均值 μ(s;θ) 与协方差 Σ(s;θ) 描述的高斯分布中采样。</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2517175"/>
          </a:xfrm>
          <a:prstGeom prst="roundRect">
            <a:avLst>
              <a:gd name="adj" fmla="val 133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64208"/>
            <a:ext cx="64008" cy="2517175"/>
          </a:xfrm>
          <a:prstGeom prst="rect">
            <a:avLst/>
          </a:prstGeom>
          <a:solidFill>
            <a:srgbClr val="C58A24"/>
          </a:solidFill>
          <a:ln w="12700">
            <a:solidFill>
              <a:srgbClr val="C58A24"/>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离散策略</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515223"/>
            <a:ext cx="4690872" cy="136432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离散动作场景中常采用 Softmax 函数，把策略输出转换为动作概率分布。</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705997" y="4702146"/>
            <a:ext cx="10698480" cy="329184"/>
          </a:xfrm>
          <a:prstGeom prst="rect">
            <a:avLst/>
          </a:prstGeom>
          <a:noFill/>
          <a:ln/>
        </p:spPr>
        <p:txBody>
          <a:bodyPr wrap="square" lIns="0" tIns="0" rIns="0" bIns="0" rtlCol="0" anchor="ctr">
            <a:normAutofit lnSpcReduction="10000"/>
          </a:bodyPr>
          <a:lstStyle/>
          <a:p>
            <a:pPr marL="0" indent="0" algn="ctr">
              <a:buNone/>
            </a:pPr>
            <a:r>
              <a:rPr lang="en-US" sz="2400" b="1" dirty="0" err="1">
                <a:solidFill>
                  <a:srgbClr val="24477D"/>
                </a:solidFill>
                <a:latin typeface="微软雅黑" panose="020B0503020204020204" pitchFamily="34" charset="-122"/>
                <a:ea typeface="微软雅黑" panose="020B0503020204020204" pitchFamily="34" charset="-122"/>
              </a:rPr>
              <a:t>策略表示方式决定了动作分布的表达能力，也决定后续优化的空间</a:t>
            </a:r>
            <a:endParaRPr lang="en-US" sz="2400" b="1" dirty="0">
              <a:solidFill>
                <a:srgbClr val="24477D"/>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神经网络策略：从高维感知直接映射到动作</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45920"/>
            <a:ext cx="3246120" cy="2482197"/>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45920"/>
            <a:ext cx="64008" cy="2482197"/>
          </a:xfrm>
          <a:prstGeom prst="rect">
            <a:avLst/>
          </a:prstGeom>
          <a:solidFill>
            <a:srgbClr val="31599B"/>
          </a:solidFill>
          <a:ln w="12700">
            <a:solidFill>
              <a:srgbClr val="31599B"/>
            </a:solidFill>
            <a:prstDash val="solid"/>
          </a:ln>
        </p:spPr>
      </p:sp>
      <p:sp>
        <p:nvSpPr>
          <p:cNvPr id="6" name="Text 4"/>
          <p:cNvSpPr/>
          <p:nvPr/>
        </p:nvSpPr>
        <p:spPr>
          <a:xfrm>
            <a:off x="960120"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高维输入</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496935"/>
            <a:ext cx="2862072" cy="1413679"/>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图像与传感器信号等高维状态，可以由深度模型直接编码。</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25696" y="1645920"/>
            <a:ext cx="3246120" cy="2482197"/>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25696" y="1645920"/>
            <a:ext cx="64008" cy="2482197"/>
          </a:xfrm>
          <a:prstGeom prst="rect">
            <a:avLst/>
          </a:prstGeom>
          <a:solidFill>
            <a:srgbClr val="2F8E72"/>
          </a:solidFill>
          <a:ln w="12700">
            <a:solidFill>
              <a:srgbClr val="2F8E72"/>
            </a:solidFill>
            <a:prstDash val="solid"/>
          </a:ln>
        </p:spPr>
      </p:sp>
      <p:sp>
        <p:nvSpPr>
          <p:cNvPr id="10" name="Text 8"/>
          <p:cNvSpPr/>
          <p:nvPr/>
        </p:nvSpPr>
        <p:spPr>
          <a:xfrm>
            <a:off x="4636008"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Transformer</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36008" y="2496935"/>
            <a:ext cx="2862072" cy="1413679"/>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利用自注意力处理序列和多模态输入，提升复杂策略表达。</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45920"/>
            <a:ext cx="3246120" cy="2482197"/>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01584" y="1645920"/>
            <a:ext cx="64008" cy="2482197"/>
          </a:xfrm>
          <a:prstGeom prst="rect">
            <a:avLst/>
          </a:prstGeom>
          <a:solidFill>
            <a:srgbClr val="C58A24"/>
          </a:solidFill>
          <a:ln w="12700">
            <a:solidFill>
              <a:srgbClr val="C58A24"/>
            </a:solidFill>
            <a:prstDash val="solid"/>
          </a:ln>
        </p:spPr>
      </p:sp>
      <p:sp>
        <p:nvSpPr>
          <p:cNvPr id="14" name="Text 12"/>
          <p:cNvSpPr/>
          <p:nvPr/>
        </p:nvSpPr>
        <p:spPr>
          <a:xfrm>
            <a:off x="8311896" y="1792224"/>
            <a:ext cx="2862072" cy="329184"/>
          </a:xfrm>
          <a:prstGeom prst="rect">
            <a:avLst/>
          </a:prstGeom>
          <a:noFill/>
          <a:ln/>
        </p:spPr>
        <p:txBody>
          <a:bodyPr wrap="square" lIns="0" tIns="0" rIns="0" bIns="0" rtlCol="0" anchor="ctr">
            <a:noAutofit/>
          </a:bodyPr>
          <a:lstStyle/>
          <a:p>
            <a:pPr marL="0" indent="0">
              <a:buNone/>
            </a:pPr>
            <a:r>
              <a:rPr lang="zh-CN" alt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与</a:t>
            </a: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VLA</a:t>
            </a:r>
            <a:r>
              <a:rPr lang="zh-CN" alt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的关系</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496935"/>
            <a:ext cx="2862072" cy="1413679"/>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VLA 模型可采用 Transformer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生成机器人动作序列</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30352" y="600456"/>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策略优化目标：最大化预期总回报</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56186" y="1572768"/>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微软雅黑" panose="020B0503020204020204" pitchFamily="34" charset="-122"/>
                <a:ea typeface="微软雅黑" panose="020B0503020204020204" pitchFamily="34" charset="-122"/>
                <a:cs typeface="Noto Sans CJK SC" pitchFamily="34" charset="-120"/>
              </a:rPr>
              <a:t>3.3.1 </a:t>
            </a: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策略表示与目标优化</a:t>
            </a:r>
            <a:endParaRPr lang="en-US" sz="24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92480" y="1973578"/>
            <a:ext cx="10607040" cy="996695"/>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策略梯度算法以参数 θ 表示策略，优化目标是最大化该策略产生轨迹的折扣回报期望。</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969008" y="3149594"/>
            <a:ext cx="7635240" cy="1137413"/>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6.png"/>
          <p:cNvPicPr>
            <a:picLocks noChangeAspect="1"/>
          </p:cNvPicPr>
          <p:nvPr/>
        </p:nvPicPr>
        <p:blipFill>
          <a:blip r:embed="rId3"/>
          <a:srcRect l="37510" t="16669" r="35696" b="14438"/>
          <a:stretch>
            <a:fillRect/>
          </a:stretch>
        </p:blipFill>
        <p:spPr>
          <a:xfrm>
            <a:off x="4219448" y="3196329"/>
            <a:ext cx="3557638" cy="1040385"/>
          </a:xfrm>
          <a:prstGeom prst="rect">
            <a:avLst/>
          </a:prstGeom>
        </p:spPr>
      </p:pic>
      <p:sp>
        <p:nvSpPr>
          <p:cNvPr id="13" name="Shape 10"/>
          <p:cNvSpPr/>
          <p:nvPr/>
        </p:nvSpPr>
        <p:spPr>
          <a:xfrm>
            <a:off x="740664" y="5609844"/>
            <a:ext cx="10716768" cy="891540"/>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60120" y="5692848"/>
            <a:ext cx="10241280" cy="552504"/>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J(θ)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用于整体评价当前策略，例如路径导航或物体抓取任务中的长期表现</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53</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5CBCD8D8-1D28-11F3-3C66-C98D7ADDD19B}"/>
              </a:ext>
            </a:extLst>
          </p:cNvPr>
          <p:cNvSpPr/>
          <p:nvPr/>
        </p:nvSpPr>
        <p:spPr>
          <a:xfrm>
            <a:off x="652272" y="4589275"/>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B21E2341-2692-9170-9E7D-1CDAE6A60270}"/>
              </a:ext>
            </a:extLst>
          </p:cNvPr>
          <p:cNvSpPr/>
          <p:nvPr/>
        </p:nvSpPr>
        <p:spPr>
          <a:xfrm>
            <a:off x="2148876" y="4515612"/>
            <a:ext cx="5059644" cy="487678"/>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θ：策略参数</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τ：策略生成的轨迹</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r</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时刻奖励</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475488"/>
            <a:ext cx="10927080" cy="335881"/>
          </a:xfrm>
          <a:prstGeom prst="rect">
            <a:avLst/>
          </a:prstGeom>
          <a:noFill/>
          <a:ln/>
        </p:spPr>
        <p:txBody>
          <a:bodyPr wrap="square" lIns="0" tIns="0" rIns="0" bIns="0" rtlCol="0" anchor="ctr">
            <a:normAutofit fontScale="77500" lnSpcReduction="20000"/>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为什么采用梯度上升？</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822960" y="1691639"/>
            <a:ext cx="4983480" cy="1899827"/>
          </a:xfrm>
          <a:prstGeom prst="roundRect">
            <a:avLst>
              <a:gd name="adj" fmla="val 138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822960" y="1691640"/>
            <a:ext cx="64008" cy="1899827"/>
          </a:xfrm>
          <a:prstGeom prst="rect">
            <a:avLst/>
          </a:prstGeom>
          <a:solidFill>
            <a:srgbClr val="C63F45"/>
          </a:solidFill>
          <a:ln w="12700">
            <a:solidFill>
              <a:srgbClr val="C63F45"/>
            </a:solidFill>
            <a:prstDash val="solid"/>
          </a:ln>
        </p:spPr>
      </p:sp>
      <p:sp>
        <p:nvSpPr>
          <p:cNvPr id="6" name="Text 4"/>
          <p:cNvSpPr/>
          <p:nvPr/>
        </p:nvSpPr>
        <p:spPr>
          <a:xfrm>
            <a:off x="1046988" y="1663192"/>
            <a:ext cx="4599432" cy="595376"/>
          </a:xfrm>
          <a:prstGeom prst="rect">
            <a:avLst/>
          </a:prstGeom>
          <a:noFill/>
          <a:ln/>
        </p:spPr>
        <p:txBody>
          <a:bodyPr wrap="square" lIns="0" tIns="0" rIns="0" bIns="0" rtlCol="0" anchor="ctr">
            <a:norm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目标函数通常非凸</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1033272" y="2258568"/>
            <a:ext cx="4599432" cy="1490472"/>
          </a:xfrm>
          <a:prstGeom prst="rect">
            <a:avLst/>
          </a:prstGeom>
          <a:noFill/>
          <a:ln/>
        </p:spPr>
        <p:txBody>
          <a:bodyPr wrap="square" lIns="254" tIns="254" rIns="254" bIns="254" rtlCol="0" anchor="t">
            <a:normAutofit/>
          </a:bodyPr>
          <a:lstStyle/>
          <a:p>
            <a:pPr marL="0" indent="0">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J(θ) 一般无法直接求出全局最优解。</a:t>
            </a:r>
            <a:endParaRPr lang="en-US" sz="2800" dirty="0">
              <a:latin typeface="微软雅黑" panose="020B0503020204020204" pitchFamily="34" charset="-122"/>
              <a:ea typeface="微软雅黑" panose="020B0503020204020204" pitchFamily="34" charset="-122"/>
            </a:endParaRPr>
          </a:p>
        </p:txBody>
      </p:sp>
      <p:sp>
        <p:nvSpPr>
          <p:cNvPr id="8" name="Shape 6"/>
          <p:cNvSpPr/>
          <p:nvPr/>
        </p:nvSpPr>
        <p:spPr>
          <a:xfrm>
            <a:off x="6355080" y="1691640"/>
            <a:ext cx="4983480" cy="1899827"/>
          </a:xfrm>
          <a:prstGeom prst="roundRect">
            <a:avLst>
              <a:gd name="adj" fmla="val 138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355080" y="1691640"/>
            <a:ext cx="64008" cy="1899827"/>
          </a:xfrm>
          <a:prstGeom prst="rect">
            <a:avLst/>
          </a:prstGeom>
          <a:solidFill>
            <a:srgbClr val="2F8E72"/>
          </a:solidFill>
          <a:ln w="12700">
            <a:solidFill>
              <a:srgbClr val="2F8E72"/>
            </a:solidFill>
            <a:prstDash val="solid"/>
          </a:ln>
        </p:spPr>
      </p:sp>
      <p:sp>
        <p:nvSpPr>
          <p:cNvPr id="10" name="Text 8"/>
          <p:cNvSpPr/>
          <p:nvPr/>
        </p:nvSpPr>
        <p:spPr>
          <a:xfrm>
            <a:off x="6565392" y="1837944"/>
            <a:ext cx="4599432" cy="331216"/>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沿梯度方向迭代</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565392" y="2258568"/>
            <a:ext cx="4599432" cy="1490472"/>
          </a:xfrm>
          <a:prstGeom prst="rect">
            <a:avLst/>
          </a:prstGeom>
          <a:noFill/>
          <a:ln/>
        </p:spPr>
        <p:txBody>
          <a:bodyPr wrap="square" lIns="254" tIns="254" rIns="254" bIns="254" rtlCol="0" anchor="t">
            <a:normAutofit/>
          </a:bodyPr>
          <a:lstStyle/>
          <a:p>
            <a:pPr marL="0" indent="0">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实践中通过轨迹采样估计梯度，并沿提高预期回报的方向调整参数。</a:t>
            </a:r>
            <a:endParaRPr lang="en-US" sz="2800" dirty="0">
              <a:latin typeface="微软雅黑" panose="020B0503020204020204" pitchFamily="34" charset="-122"/>
              <a:ea typeface="微软雅黑" panose="020B0503020204020204" pitchFamily="34" charset="-122"/>
            </a:endParaRPr>
          </a:p>
        </p:txBody>
      </p:sp>
      <p:sp>
        <p:nvSpPr>
          <p:cNvPr id="12" name="Text 10"/>
          <p:cNvSpPr/>
          <p:nvPr/>
        </p:nvSpPr>
        <p:spPr>
          <a:xfrm>
            <a:off x="854964" y="4158395"/>
            <a:ext cx="10698480" cy="936752"/>
          </a:xfrm>
          <a:prstGeom prst="rect">
            <a:avLst/>
          </a:prstGeom>
          <a:noFill/>
          <a:ln/>
        </p:spPr>
        <p:txBody>
          <a:bodyPr wrap="square" lIns="0" tIns="0" rIns="0" bIns="0" rtlCol="0" anchor="ctr">
            <a:normAutofit/>
          </a:bodyPr>
          <a:lstStyle/>
          <a:p>
            <a:pPr algn="ctr"/>
            <a:r>
              <a:rPr lang="en-US" sz="2400" b="1" dirty="0" err="1">
                <a:solidFill>
                  <a:srgbClr val="24477D"/>
                </a:solidFill>
                <a:latin typeface="微软雅黑" panose="020B0503020204020204" pitchFamily="34" charset="-122"/>
                <a:ea typeface="微软雅黑" panose="020B0503020204020204" pitchFamily="34" charset="-122"/>
              </a:rPr>
              <a:t>轨迹采样使策略梯度能够应对高维、随机环境，但也会带来方差问题</a:t>
            </a:r>
            <a:r>
              <a:rPr lang="en-US" sz="2400"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115459"/>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机器人策略优化还要考虑安全约束：CPO</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31520" y="1627632"/>
            <a:ext cx="10480040" cy="434340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机器人场景中，策略优化往往不能只追求回报，还需要满足防碰撞等安全限制。</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约束策略优化（CPO）在提升 J(θ) 的同时，要求策略更新保持约束合规。</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CPO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属于信任域方法：每次调整时近似约束影响，在“回报提升”与“安全约束”之间寻求可接受的更新方向</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安全约束会改变可行的优化方向</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08.png"/>
          <p:cNvPicPr>
            <a:picLocks noChangeAspect="1"/>
          </p:cNvPicPr>
          <p:nvPr/>
        </p:nvPicPr>
        <p:blipFill>
          <a:blip r:embed="rId3"/>
          <a:stretch>
            <a:fillRect/>
          </a:stretch>
        </p:blipFill>
        <p:spPr>
          <a:xfrm>
            <a:off x="1005840" y="2454267"/>
            <a:ext cx="6400800" cy="2626123"/>
          </a:xfrm>
          <a:prstGeom prst="rect">
            <a:avLst/>
          </a:prstGeom>
        </p:spPr>
      </p:pic>
      <p:sp>
        <p:nvSpPr>
          <p:cNvPr id="6" name="Shape 3"/>
          <p:cNvSpPr/>
          <p:nvPr/>
        </p:nvSpPr>
        <p:spPr>
          <a:xfrm>
            <a:off x="7726680" y="1874520"/>
            <a:ext cx="3337560" cy="3429000"/>
          </a:xfrm>
          <a:prstGeom prst="roundRect">
            <a:avLst>
              <a:gd name="adj" fmla="val 137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726680" y="1874520"/>
            <a:ext cx="64008" cy="3429000"/>
          </a:xfrm>
          <a:prstGeom prst="rect">
            <a:avLst/>
          </a:prstGeom>
          <a:solidFill>
            <a:srgbClr val="C63F45"/>
          </a:solidFill>
          <a:ln w="12700">
            <a:solidFill>
              <a:srgbClr val="C63F45"/>
            </a:solidFill>
            <a:prstDash val="solid"/>
          </a:ln>
        </p:spPr>
      </p:sp>
      <p:sp>
        <p:nvSpPr>
          <p:cNvPr id="8" name="Text 5"/>
          <p:cNvSpPr/>
          <p:nvPr/>
        </p:nvSpPr>
        <p:spPr>
          <a:xfrm>
            <a:off x="7936992" y="2020824"/>
            <a:ext cx="295351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理解</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7936992" y="2441448"/>
            <a:ext cx="2953512" cy="2715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当原始优化方向会越过安全边界时，需要选择仍能提升回报、同时保持在可行区域内的更新方向。</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56</a:t>
            </a:fld>
            <a:endParaRPr lang="en-US" dirty="0">
              <a:latin typeface="微软雅黑" panose="020B0503020204020204" pitchFamily="34" charset="-122"/>
              <a:ea typeface="微软雅黑" panose="020B0503020204020204" pitchFamily="34" charset="-122"/>
            </a:endParaRPr>
          </a:p>
        </p:txBody>
      </p:sp>
      <p:sp>
        <p:nvSpPr>
          <p:cNvPr id="11" name="Text 3">
            <a:extLst>
              <a:ext uri="{FF2B5EF4-FFF2-40B4-BE49-F238E27FC236}">
                <a16:creationId xmlns:a16="http://schemas.microsoft.com/office/drawing/2014/main" id="{79986A3E-0CAE-5C06-B8DD-DF58E9E05161}"/>
              </a:ext>
            </a:extLst>
          </p:cNvPr>
          <p:cNvSpPr/>
          <p:nvPr/>
        </p:nvSpPr>
        <p:spPr>
          <a:xfrm>
            <a:off x="2159000" y="5248656"/>
            <a:ext cx="438912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优化方向随约束变化的示意图</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3.3.2 REINFORCE</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91640"/>
            <a:ext cx="10195560" cy="406908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REINFORCE 是基础策略梯度算法，也称蒙特卡洛策略梯度。</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通过采样完整轨迹来估计梯度，不需要预先学习完整价值函数。</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更新信号由“动作的对数概率梯度”与“从该时刻起的折扣回报 Gₜ”共同决定。</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REINFORCE 的策略梯度</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38480" y="1347215"/>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微软雅黑" panose="020B0503020204020204" pitchFamily="34" charset="-122"/>
                <a:ea typeface="微软雅黑" panose="020B0503020204020204" pitchFamily="34" charset="-122"/>
                <a:cs typeface="Noto Sans CJK SC" pitchFamily="34" charset="-120"/>
              </a:rPr>
              <a:t>3.3.2 REINFORCE</a:t>
            </a:r>
            <a:endParaRPr lang="en-US" sz="2400" dirty="0">
              <a:latin typeface="微软雅黑" panose="020B0503020204020204" pitchFamily="34" charset="-122"/>
              <a:ea typeface="微软雅黑" panose="020B0503020204020204" pitchFamily="34" charset="-122"/>
            </a:endParaRPr>
          </a:p>
        </p:txBody>
      </p:sp>
      <p:sp>
        <p:nvSpPr>
          <p:cNvPr id="4" name="Shape 2"/>
          <p:cNvSpPr/>
          <p:nvPr/>
        </p:nvSpPr>
        <p:spPr>
          <a:xfrm>
            <a:off x="502920" y="1251712"/>
            <a:ext cx="11109960" cy="0"/>
          </a:xfrm>
          <a:prstGeom prst="line">
            <a:avLst/>
          </a:prstGeom>
          <a:noFill/>
          <a:ln w="12700">
            <a:solidFill>
              <a:srgbClr val="D8DEE8"/>
            </a:solidFill>
            <a:prstDash val="solid"/>
          </a:ln>
        </p:spPr>
      </p:sp>
      <p:sp>
        <p:nvSpPr>
          <p:cNvPr id="5" name="Text 3"/>
          <p:cNvSpPr/>
          <p:nvPr/>
        </p:nvSpPr>
        <p:spPr>
          <a:xfrm>
            <a:off x="740664" y="1834989"/>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梯度由采样轨迹上每个时间步的 log 策略梯度与回报 Gₜ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加权得到</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401251" y="2749344"/>
            <a:ext cx="7635240" cy="91948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7.png"/>
          <p:cNvPicPr>
            <a:picLocks noChangeAspect="1"/>
          </p:cNvPicPr>
          <p:nvPr/>
        </p:nvPicPr>
        <p:blipFill>
          <a:blip r:embed="rId3"/>
          <a:srcRect l="26723" t="10573" r="25528" b="12327"/>
          <a:stretch>
            <a:fillRect/>
          </a:stretch>
        </p:blipFill>
        <p:spPr>
          <a:xfrm>
            <a:off x="3212779" y="2790999"/>
            <a:ext cx="4563180" cy="804673"/>
          </a:xfrm>
          <a:prstGeom prst="rect">
            <a:avLst/>
          </a:prstGeom>
        </p:spPr>
      </p:pic>
      <p:sp>
        <p:nvSpPr>
          <p:cNvPr id="13" name="Shape 10"/>
          <p:cNvSpPr/>
          <p:nvPr/>
        </p:nvSpPr>
        <p:spPr>
          <a:xfrm>
            <a:off x="740664" y="5041390"/>
            <a:ext cx="10134482" cy="86166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60120" y="5041390"/>
            <a:ext cx="10241280"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回报越高的动作样本，对提高其后续选择概率的推动越强</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58</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C39924C8-E0B6-B4E5-2884-21E5429DE17E}"/>
              </a:ext>
            </a:extLst>
          </p:cNvPr>
          <p:cNvSpPr/>
          <p:nvPr/>
        </p:nvSpPr>
        <p:spPr>
          <a:xfrm>
            <a:off x="740664" y="4184931"/>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8BE20E52-A89F-B77E-E4BB-C922DF1F94E2}"/>
              </a:ext>
            </a:extLst>
          </p:cNvPr>
          <p:cNvSpPr/>
          <p:nvPr/>
        </p:nvSpPr>
        <p:spPr>
          <a:xfrm>
            <a:off x="2237267" y="4111268"/>
            <a:ext cx="7959535" cy="487678"/>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θ</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：对策略参数求梯度</a:t>
            </a:r>
            <a:r>
              <a:rPr lang="zh-CN" altLang="en-US" sz="2400" dirty="0">
                <a:latin typeface="微软雅黑" panose="020B0503020204020204" pitchFamily="34" charset="-122"/>
                <a:ea typeface="微软雅黑" panose="020B0503020204020204" pitchFamily="34" charset="-122"/>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Gₜ：从 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时刻起的折扣回报</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REINFORCE 的参数更新</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73941" y="1414124"/>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微软雅黑" panose="020B0503020204020204" pitchFamily="34" charset="-122"/>
                <a:ea typeface="微软雅黑" panose="020B0503020204020204" pitchFamily="34" charset="-122"/>
                <a:cs typeface="Noto Sans CJK SC" pitchFamily="34" charset="-120"/>
              </a:rPr>
              <a:t>3.3.2 REINFORCE</a:t>
            </a:r>
            <a:endParaRPr lang="en-US" sz="24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84253" y="1967375"/>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使用 N 条采样轨迹估计梯度后，按学习率 α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对参数进行更新</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805185" y="2779254"/>
            <a:ext cx="7635240" cy="967222"/>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8.png"/>
          <p:cNvPicPr>
            <a:picLocks noChangeAspect="1"/>
          </p:cNvPicPr>
          <p:nvPr/>
        </p:nvPicPr>
        <p:blipFill>
          <a:blip r:embed="rId3"/>
          <a:srcRect l="25569" t="13873" r="25862" b="12714"/>
          <a:stretch>
            <a:fillRect/>
          </a:stretch>
        </p:blipFill>
        <p:spPr>
          <a:xfrm>
            <a:off x="3070193" y="2831960"/>
            <a:ext cx="5491057" cy="906454"/>
          </a:xfrm>
          <a:prstGeom prst="rect">
            <a:avLst/>
          </a:prstGeom>
        </p:spPr>
      </p:pic>
      <p:sp>
        <p:nvSpPr>
          <p:cNvPr id="13" name="Shape 10"/>
          <p:cNvSpPr/>
          <p:nvPr/>
        </p:nvSpPr>
        <p:spPr>
          <a:xfrm>
            <a:off x="713232" y="5592932"/>
            <a:ext cx="10716768" cy="768629"/>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556890"/>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多轨迹平均可减少单条轨迹带来的随机波动。</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59</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021B0633-38B4-2FA3-F4A3-9347D70A8909}"/>
              </a:ext>
            </a:extLst>
          </p:cNvPr>
          <p:cNvSpPr/>
          <p:nvPr/>
        </p:nvSpPr>
        <p:spPr>
          <a:xfrm>
            <a:off x="847196" y="4455490"/>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9CD463E6-7758-7845-E640-4803A7F30ED8}"/>
              </a:ext>
            </a:extLst>
          </p:cNvPr>
          <p:cNvSpPr/>
          <p:nvPr/>
        </p:nvSpPr>
        <p:spPr>
          <a:xfrm>
            <a:off x="2343800" y="4278667"/>
            <a:ext cx="7841600" cy="819054"/>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N：采样轨迹数</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α：</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学习率</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aₜ⁽ⁱ⁾：第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i</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条轨迹的动作</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Gₜ⁽ⁱ⁾：</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对应回报</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单个 REINFORCE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更新步骤</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12.png"/>
          <p:cNvPicPr>
            <a:picLocks noChangeAspect="1"/>
          </p:cNvPicPr>
          <p:nvPr/>
        </p:nvPicPr>
        <p:blipFill>
          <a:blip r:embed="rId3"/>
          <a:stretch>
            <a:fillRect/>
          </a:stretch>
        </p:blipFill>
        <p:spPr>
          <a:xfrm>
            <a:off x="822960" y="3136931"/>
            <a:ext cx="6629400" cy="1132778"/>
          </a:xfrm>
          <a:prstGeom prst="rect">
            <a:avLst/>
          </a:prstGeom>
        </p:spPr>
      </p:pic>
      <p:sp>
        <p:nvSpPr>
          <p:cNvPr id="6" name="Shape 3"/>
          <p:cNvSpPr/>
          <p:nvPr/>
        </p:nvSpPr>
        <p:spPr>
          <a:xfrm>
            <a:off x="7726680" y="1691640"/>
            <a:ext cx="333756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726680" y="1691640"/>
            <a:ext cx="64008" cy="1143000"/>
          </a:xfrm>
          <a:prstGeom prst="rect">
            <a:avLst/>
          </a:prstGeom>
          <a:solidFill>
            <a:srgbClr val="31599B"/>
          </a:solidFill>
          <a:ln w="12700">
            <a:solidFill>
              <a:srgbClr val="31599B"/>
            </a:solidFill>
            <a:prstDash val="solid"/>
          </a:ln>
        </p:spPr>
      </p:sp>
      <p:sp>
        <p:nvSpPr>
          <p:cNvPr id="8" name="Text 5"/>
          <p:cNvSpPr/>
          <p:nvPr/>
        </p:nvSpPr>
        <p:spPr>
          <a:xfrm>
            <a:off x="7936992" y="1837944"/>
            <a:ext cx="295351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1. </a:t>
            </a: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采样</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7936992" y="2258568"/>
            <a:ext cx="2953512" cy="42976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用当前策略采集状态—动作—奖励轨迹。</a:t>
            </a:r>
            <a:endParaRPr lang="en-US" sz="2000" dirty="0">
              <a:latin typeface="微软雅黑" panose="020B0503020204020204" pitchFamily="34" charset="-122"/>
              <a:ea typeface="微软雅黑" panose="020B0503020204020204" pitchFamily="34" charset="-122"/>
            </a:endParaRPr>
          </a:p>
        </p:txBody>
      </p:sp>
      <p:sp>
        <p:nvSpPr>
          <p:cNvPr id="10" name="Shape 7"/>
          <p:cNvSpPr/>
          <p:nvPr/>
        </p:nvSpPr>
        <p:spPr>
          <a:xfrm>
            <a:off x="7726680" y="2999232"/>
            <a:ext cx="333756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726680" y="2999232"/>
            <a:ext cx="64008" cy="1143000"/>
          </a:xfrm>
          <a:prstGeom prst="rect">
            <a:avLst/>
          </a:prstGeom>
          <a:solidFill>
            <a:srgbClr val="2F8E72"/>
          </a:solidFill>
          <a:ln w="12700">
            <a:solidFill>
              <a:srgbClr val="2F8E72"/>
            </a:solidFill>
            <a:prstDash val="solid"/>
          </a:ln>
        </p:spPr>
      </p:sp>
      <p:sp>
        <p:nvSpPr>
          <p:cNvPr id="12" name="Text 9"/>
          <p:cNvSpPr/>
          <p:nvPr/>
        </p:nvSpPr>
        <p:spPr>
          <a:xfrm>
            <a:off x="7936992" y="3145536"/>
            <a:ext cx="295351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2. </a:t>
            </a:r>
            <a:r>
              <a:rPr lang="en-US" sz="2400" b="1" dirty="0" err="1">
                <a:solidFill>
                  <a:srgbClr val="2F8E72"/>
                </a:solidFill>
                <a:latin typeface="微软雅黑" panose="020B0503020204020204" pitchFamily="34" charset="-122"/>
                <a:ea typeface="微软雅黑" panose="020B0503020204020204" pitchFamily="34" charset="-122"/>
                <a:cs typeface="Noto Sans CJK SC" pitchFamily="34" charset="-120"/>
              </a:rPr>
              <a:t>计算</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7936992" y="3566160"/>
            <a:ext cx="2953512" cy="42976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计算回报 Gₜ 和 log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概率梯度</a:t>
            </a:r>
            <a:endParaRPr lang="en-US" sz="2000" dirty="0">
              <a:latin typeface="微软雅黑" panose="020B0503020204020204" pitchFamily="34" charset="-122"/>
              <a:ea typeface="微软雅黑" panose="020B0503020204020204" pitchFamily="34" charset="-122"/>
            </a:endParaRPr>
          </a:p>
        </p:txBody>
      </p:sp>
      <p:sp>
        <p:nvSpPr>
          <p:cNvPr id="14" name="Shape 11"/>
          <p:cNvSpPr/>
          <p:nvPr/>
        </p:nvSpPr>
        <p:spPr>
          <a:xfrm>
            <a:off x="7726680" y="4306823"/>
            <a:ext cx="3337560" cy="1428151"/>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7726680" y="4306824"/>
            <a:ext cx="64008" cy="1428150"/>
          </a:xfrm>
          <a:prstGeom prst="rect">
            <a:avLst/>
          </a:prstGeom>
          <a:solidFill>
            <a:srgbClr val="C58A24"/>
          </a:solidFill>
          <a:ln w="12700">
            <a:solidFill>
              <a:srgbClr val="C58A24"/>
            </a:solidFill>
            <a:prstDash val="solid"/>
          </a:ln>
        </p:spPr>
      </p:sp>
      <p:sp>
        <p:nvSpPr>
          <p:cNvPr id="16" name="Text 13"/>
          <p:cNvSpPr/>
          <p:nvPr/>
        </p:nvSpPr>
        <p:spPr>
          <a:xfrm>
            <a:off x="7936992" y="4453128"/>
            <a:ext cx="295351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3. </a:t>
            </a:r>
            <a:r>
              <a:rPr lang="en-US" sz="2400" b="1" dirty="0" err="1">
                <a:solidFill>
                  <a:srgbClr val="C58A24"/>
                </a:solidFill>
                <a:latin typeface="微软雅黑" panose="020B0503020204020204" pitchFamily="34" charset="-122"/>
                <a:ea typeface="微软雅黑" panose="020B0503020204020204" pitchFamily="34" charset="-122"/>
                <a:cs typeface="Noto Sans CJK SC" pitchFamily="34" charset="-120"/>
              </a:rPr>
              <a:t>更新</a:t>
            </a:r>
            <a:endParaRPr lang="en-US" sz="2400" dirty="0">
              <a:latin typeface="微软雅黑" panose="020B0503020204020204" pitchFamily="34" charset="-122"/>
              <a:ea typeface="微软雅黑" panose="020B0503020204020204" pitchFamily="34" charset="-122"/>
            </a:endParaRPr>
          </a:p>
        </p:txBody>
      </p:sp>
      <p:sp>
        <p:nvSpPr>
          <p:cNvPr id="17" name="Text 14"/>
          <p:cNvSpPr/>
          <p:nvPr/>
        </p:nvSpPr>
        <p:spPr>
          <a:xfrm>
            <a:off x="7936992" y="4873752"/>
            <a:ext cx="2953512" cy="722376"/>
          </a:xfrm>
          <a:prstGeom prst="rect">
            <a:avLst/>
          </a:prstGeom>
          <a:noFill/>
          <a:ln/>
        </p:spPr>
        <p:txBody>
          <a:bodyPr wrap="square" lIns="254" tIns="254" rIns="254" bIns="254" rtlCol="0" anchor="t">
            <a:normAutofit/>
          </a:bodyPr>
          <a:lstStyle/>
          <a:p>
            <a:pPr marL="0" indent="0">
              <a:buNone/>
            </a:pPr>
            <a:r>
              <a:rPr lang="en-US" sz="2100" dirty="0" err="1">
                <a:solidFill>
                  <a:srgbClr val="222833"/>
                </a:solidFill>
                <a:latin typeface="微软雅黑" panose="020B0503020204020204" pitchFamily="34" charset="-122"/>
                <a:ea typeface="微软雅黑" panose="020B0503020204020204" pitchFamily="34" charset="-122"/>
                <a:cs typeface="Noto Sans CJK SC" pitchFamily="34" charset="-120"/>
              </a:rPr>
              <a:t>将加权梯度汇总后更新策略参数</a:t>
            </a:r>
            <a:endParaRPr lang="en-US" sz="16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降低 REINFORCE 方差：引入基线</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804672" y="1664208"/>
            <a:ext cx="5074920" cy="2099924"/>
          </a:xfrm>
          <a:prstGeom prst="roundRect">
            <a:avLst>
              <a:gd name="adj" fmla="val 132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804672" y="1664208"/>
            <a:ext cx="64008" cy="2099924"/>
          </a:xfrm>
          <a:prstGeom prst="rect">
            <a:avLst/>
          </a:prstGeom>
          <a:solidFill>
            <a:srgbClr val="C58A24"/>
          </a:solidFill>
          <a:ln w="12700">
            <a:solidFill>
              <a:srgbClr val="C58A24"/>
            </a:solidFill>
            <a:prstDash val="solid"/>
          </a:ln>
        </p:spPr>
      </p:sp>
      <p:sp>
        <p:nvSpPr>
          <p:cNvPr id="6" name="Text 4"/>
          <p:cNvSpPr/>
          <p:nvPr/>
        </p:nvSpPr>
        <p:spPr>
          <a:xfrm>
            <a:off x="1014984" y="1810512"/>
            <a:ext cx="4690872" cy="420624"/>
          </a:xfrm>
          <a:prstGeom prst="rect">
            <a:avLst/>
          </a:prstGeom>
          <a:noFill/>
          <a:ln/>
        </p:spPr>
        <p:txBody>
          <a:bodyPr wrap="square" lIns="0" tIns="0" rIns="0" bIns="0" rtlCol="0" anchor="ctr">
            <a:norm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原始回报 Gₜ</a:t>
            </a:r>
            <a:endParaRPr lang="en-US" sz="2400" dirty="0">
              <a:latin typeface="微软雅黑" panose="020B0503020204020204" pitchFamily="34" charset="-122"/>
            </a:endParaRPr>
          </a:p>
        </p:txBody>
      </p:sp>
      <p:sp>
        <p:nvSpPr>
          <p:cNvPr id="7" name="Text 5"/>
          <p:cNvSpPr/>
          <p:nvPr/>
        </p:nvSpPr>
        <p:spPr>
          <a:xfrm>
            <a:off x="1047920" y="2475272"/>
            <a:ext cx="4690872" cy="166660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直接使用蒙特卡洛回报，梯度估计可能波动较大。</a:t>
            </a:r>
            <a:endParaRPr lang="en-US" sz="2400" dirty="0">
              <a:latin typeface="微软雅黑" panose="020B0503020204020204" pitchFamily="34" charset="-122"/>
            </a:endParaRPr>
          </a:p>
        </p:txBody>
      </p:sp>
      <p:sp>
        <p:nvSpPr>
          <p:cNvPr id="8" name="Shape 6"/>
          <p:cNvSpPr/>
          <p:nvPr/>
        </p:nvSpPr>
        <p:spPr>
          <a:xfrm>
            <a:off x="6159416" y="1645921"/>
            <a:ext cx="5074920" cy="2099924"/>
          </a:xfrm>
          <a:prstGeom prst="roundRect">
            <a:avLst>
              <a:gd name="adj" fmla="val 132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90488" y="1664208"/>
            <a:ext cx="64008" cy="2099924"/>
          </a:xfrm>
          <a:prstGeom prst="rect">
            <a:avLst/>
          </a:prstGeom>
          <a:solidFill>
            <a:srgbClr val="2F8E72"/>
          </a:solidFill>
          <a:ln w="12700">
            <a:solidFill>
              <a:srgbClr val="2F8E72"/>
            </a:solidFill>
            <a:prstDash val="solid"/>
          </a:ln>
        </p:spPr>
      </p:sp>
      <p:sp>
        <p:nvSpPr>
          <p:cNvPr id="10" name="Text 8"/>
          <p:cNvSpPr/>
          <p:nvPr/>
        </p:nvSpPr>
        <p:spPr>
          <a:xfrm>
            <a:off x="6400800" y="1810512"/>
            <a:ext cx="4690872" cy="420624"/>
          </a:xfrm>
          <a:prstGeom prst="rect">
            <a:avLst/>
          </a:prstGeom>
          <a:noFill/>
          <a:ln/>
        </p:spPr>
        <p:txBody>
          <a:bodyPr wrap="square" lIns="0" tIns="0" rIns="0" bIns="0" rtlCol="0" anchor="ctr">
            <a:norm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优势形式 Gₜ − b(sₜ)</a:t>
            </a:r>
            <a:endParaRPr lang="en-US" sz="2400" dirty="0">
              <a:latin typeface="微软雅黑" panose="020B0503020204020204" pitchFamily="34" charset="-122"/>
            </a:endParaRPr>
          </a:p>
        </p:txBody>
      </p:sp>
      <p:sp>
        <p:nvSpPr>
          <p:cNvPr id="11" name="Text 9"/>
          <p:cNvSpPr/>
          <p:nvPr/>
        </p:nvSpPr>
        <p:spPr>
          <a:xfrm>
            <a:off x="6398980" y="2403007"/>
            <a:ext cx="4690872" cy="1111307"/>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引入与动作无关的基线 b(sₜ)（如状态价值估计）后，不改变梯度期望，但通常能降低方差。</a:t>
            </a:r>
            <a:endParaRPr lang="en-US" sz="2400" dirty="0">
              <a:latin typeface="微软雅黑" panose="020B0503020204020204" pitchFamily="34" charset="-122"/>
            </a:endParaRPr>
          </a:p>
        </p:txBody>
      </p:sp>
      <p:sp>
        <p:nvSpPr>
          <p:cNvPr id="12" name="Text 10"/>
          <p:cNvSpPr/>
          <p:nvPr/>
        </p:nvSpPr>
        <p:spPr>
          <a:xfrm>
            <a:off x="535856" y="4623758"/>
            <a:ext cx="10698480" cy="329184"/>
          </a:xfrm>
          <a:prstGeom prst="rect">
            <a:avLst/>
          </a:prstGeom>
          <a:noFill/>
          <a:ln/>
        </p:spPr>
        <p:txBody>
          <a:bodyPr wrap="square" lIns="0" tIns="0" rIns="0" bIns="0" rtlCol="0" anchor="ctr">
            <a:noAutofit/>
          </a:bodyPr>
          <a:lstStyle/>
          <a:p>
            <a:pPr indent="0" algn="ctr">
              <a:buNone/>
            </a:pPr>
            <a:r>
              <a:rPr lang="en-US" sz="2400" b="1" dirty="0">
                <a:solidFill>
                  <a:srgbClr val="24477D"/>
                </a:solidFill>
                <a:latin typeface="微软雅黑" panose="020B0503020204020204" pitchFamily="34" charset="-122"/>
                <a:ea typeface="微软雅黑" panose="020B0503020204020204" pitchFamily="34" charset="-122"/>
              </a:rPr>
              <a:t>“</a:t>
            </a:r>
            <a:r>
              <a:rPr lang="en-US" sz="2400" b="1" dirty="0" err="1">
                <a:solidFill>
                  <a:srgbClr val="24477D"/>
                </a:solidFill>
                <a:latin typeface="微软雅黑" panose="020B0503020204020204" pitchFamily="34" charset="-122"/>
                <a:ea typeface="微软雅黑" panose="020B0503020204020204" pitchFamily="34" charset="-122"/>
              </a:rPr>
              <a:t>用价值估计帮助策略更新</a:t>
            </a:r>
            <a:r>
              <a:rPr lang="en-US" sz="2400"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3.3 </a:t>
            </a:r>
            <a:r>
              <a:rPr lang="en-US" altLang="zh-CN"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策略梯度</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小结</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3246120" cy="2521613"/>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2521613"/>
          </a:xfrm>
          <a:prstGeom prst="rect">
            <a:avLst/>
          </a:prstGeom>
          <a:solidFill>
            <a:srgbClr val="31599B"/>
          </a:solidFill>
          <a:ln w="12700">
            <a:solidFill>
              <a:srgbClr val="31599B"/>
            </a:solidFill>
            <a:prstDash val="solid"/>
          </a:ln>
        </p:spPr>
      </p:sp>
      <p:sp>
        <p:nvSpPr>
          <p:cNvPr id="6" name="Text 4"/>
          <p:cNvSpPr/>
          <p:nvPr/>
        </p:nvSpPr>
        <p:spPr>
          <a:xfrm>
            <a:off x="987552" y="1810512"/>
            <a:ext cx="2862072" cy="244027"/>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连续动作</a:t>
            </a:r>
            <a:endParaRPr lang="en-US" sz="2400" dirty="0">
              <a:latin typeface="微软雅黑" panose="020B0503020204020204" pitchFamily="34" charset="-122"/>
            </a:endParaRPr>
          </a:p>
        </p:txBody>
      </p:sp>
      <p:sp>
        <p:nvSpPr>
          <p:cNvPr id="7" name="Text 5"/>
          <p:cNvSpPr/>
          <p:nvPr/>
        </p:nvSpPr>
        <p:spPr>
          <a:xfrm>
            <a:off x="987552" y="2395375"/>
            <a:ext cx="2862072" cy="109799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能够直接输出连续动作分布或确定动作，更适合机器人控制。</a:t>
            </a:r>
            <a:endParaRPr lang="en-US" sz="2400" dirty="0">
              <a:latin typeface="微软雅黑" panose="020B0503020204020204" pitchFamily="34" charset="-122"/>
            </a:endParaRPr>
          </a:p>
        </p:txBody>
      </p:sp>
      <p:sp>
        <p:nvSpPr>
          <p:cNvPr id="8" name="Shape 6"/>
          <p:cNvSpPr/>
          <p:nvPr/>
        </p:nvSpPr>
        <p:spPr>
          <a:xfrm>
            <a:off x="4434840" y="1664208"/>
            <a:ext cx="3246120" cy="2521613"/>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34840" y="1664208"/>
            <a:ext cx="64008" cy="2521613"/>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82421"/>
          </a:xfrm>
          <a:prstGeom prst="rect">
            <a:avLst/>
          </a:prstGeom>
          <a:noFill/>
          <a:ln/>
        </p:spPr>
        <p:txBody>
          <a:bodyPr wrap="square" lIns="0" tIns="0" rIns="0" bIns="0" rtlCol="0" anchor="ctr">
            <a:norm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直接优化策略</a:t>
            </a:r>
            <a:endParaRPr lang="en-US" sz="2400" dirty="0">
              <a:latin typeface="微软雅黑" panose="020B0503020204020204" pitchFamily="34" charset="-122"/>
            </a:endParaRPr>
          </a:p>
        </p:txBody>
      </p:sp>
      <p:sp>
        <p:nvSpPr>
          <p:cNvPr id="11" name="Text 9"/>
          <p:cNvSpPr/>
          <p:nvPr/>
        </p:nvSpPr>
        <p:spPr>
          <a:xfrm>
            <a:off x="4645152" y="2395375"/>
            <a:ext cx="2862072" cy="911559"/>
          </a:xfrm>
          <a:prstGeom prst="rect">
            <a:avLst/>
          </a:prstGeom>
          <a:noFill/>
          <a:ln/>
        </p:spPr>
        <p:txBody>
          <a:bodyPr wrap="square" lIns="254" tIns="254" rIns="254" bIns="254" rtlCol="0" anchor="t">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无需先求出完整 Q 表，再由价值导出动作。</a:t>
            </a:r>
            <a:endParaRPr lang="en-US" sz="2400" dirty="0">
              <a:latin typeface="微软雅黑" panose="020B0503020204020204" pitchFamily="34" charset="-122"/>
            </a:endParaRPr>
          </a:p>
        </p:txBody>
      </p:sp>
      <p:sp>
        <p:nvSpPr>
          <p:cNvPr id="12" name="Shape 10"/>
          <p:cNvSpPr/>
          <p:nvPr/>
        </p:nvSpPr>
        <p:spPr>
          <a:xfrm>
            <a:off x="8092440" y="1664208"/>
            <a:ext cx="3246120" cy="2521613"/>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092440" y="1664208"/>
            <a:ext cx="64008" cy="2521613"/>
          </a:xfrm>
          <a:prstGeom prst="rect">
            <a:avLst/>
          </a:prstGeom>
          <a:solidFill>
            <a:srgbClr val="C58A24"/>
          </a:solidFill>
          <a:ln w="12700">
            <a:solidFill>
              <a:srgbClr val="C58A24"/>
            </a:solidFill>
            <a:prstDash val="solid"/>
          </a:ln>
        </p:spPr>
      </p:sp>
      <p:sp>
        <p:nvSpPr>
          <p:cNvPr id="14" name="Text 12"/>
          <p:cNvSpPr/>
          <p:nvPr/>
        </p:nvSpPr>
        <p:spPr>
          <a:xfrm>
            <a:off x="8302752" y="1810512"/>
            <a:ext cx="2862072" cy="244027"/>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主要挑战</a:t>
            </a:r>
            <a:endParaRPr lang="en-US" sz="2400" dirty="0">
              <a:latin typeface="微软雅黑" panose="020B0503020204020204" pitchFamily="34" charset="-122"/>
            </a:endParaRPr>
          </a:p>
        </p:txBody>
      </p:sp>
      <p:sp>
        <p:nvSpPr>
          <p:cNvPr id="15" name="Text 13"/>
          <p:cNvSpPr/>
          <p:nvPr/>
        </p:nvSpPr>
        <p:spPr>
          <a:xfrm>
            <a:off x="8302752" y="2395375"/>
            <a:ext cx="2862072" cy="911559"/>
          </a:xfrm>
          <a:prstGeom prst="rect">
            <a:avLst/>
          </a:prstGeom>
          <a:noFill/>
          <a:ln/>
        </p:spPr>
        <p:txBody>
          <a:bodyPr wrap="square" lIns="254" tIns="254" rIns="254" bIns="254" rtlCol="0" anchor="t">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在策略数据依赖强，且蒙特卡洛梯度估计方差较大。</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微软雅黑" panose="020B0503020204020204" pitchFamily="34" charset="-122"/>
                <a:ea typeface="微软雅黑" panose="020B0503020204020204" pitchFamily="34" charset="-122"/>
                <a:cs typeface="Noto Sans CJK SC" pitchFamily="34" charset="-120"/>
              </a:rPr>
              <a:t>Actor-Critic 算法及扩展</a:t>
            </a:r>
            <a:endParaRPr lang="en-US" sz="390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
        <p:nvSpPr>
          <p:cNvPr id="19" name="Text 2">
            <a:extLst>
              <a:ext uri="{FF2B5EF4-FFF2-40B4-BE49-F238E27FC236}">
                <a16:creationId xmlns:a16="http://schemas.microsoft.com/office/drawing/2014/main" id="{82DC8AE8-6079-9B7D-3458-7D0F12AD9643}"/>
              </a:ext>
            </a:extLst>
          </p:cNvPr>
          <p:cNvSpPr/>
          <p:nvPr/>
        </p:nvSpPr>
        <p:spPr>
          <a:xfrm>
            <a:off x="1310640" y="1486565"/>
            <a:ext cx="1691640" cy="1097280"/>
          </a:xfrm>
          <a:prstGeom prst="rect">
            <a:avLst/>
          </a:prstGeom>
          <a:noFill/>
          <a:ln/>
        </p:spPr>
        <p:txBody>
          <a:bodyPr wrap="square" lIns="0" tIns="0" rIns="0" bIns="0" rtlCol="0" anchor="ctr"/>
          <a:lstStyle/>
          <a:p>
            <a:pPr marL="0" indent="0" algn="r">
              <a:buNone/>
            </a:pPr>
            <a:r>
              <a:rPr lang="en-US" sz="7200" b="1" dirty="0">
                <a:solidFill>
                  <a:srgbClr val="31599B"/>
                </a:solidFill>
                <a:latin typeface="微软雅黑" panose="020B0503020204020204" pitchFamily="34" charset="-122"/>
                <a:ea typeface="微软雅黑" panose="020B0503020204020204" pitchFamily="34" charset="-122"/>
                <a:cs typeface="Noto Sans CJK SC" pitchFamily="34" charset="-120"/>
              </a:rPr>
              <a:t>04</a:t>
            </a:r>
            <a:endParaRPr lang="en-US" sz="7200" dirty="0">
              <a:latin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Actor-Critic</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（演员</a:t>
            </a:r>
            <a:r>
              <a:rPr lang="en-US" altLang="zh-CN"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评论家）</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45920"/>
            <a:ext cx="3246120" cy="2317959"/>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45920"/>
            <a:ext cx="64008" cy="2317959"/>
          </a:xfrm>
          <a:prstGeom prst="rect">
            <a:avLst/>
          </a:prstGeom>
          <a:solidFill>
            <a:srgbClr val="31599B"/>
          </a:solidFill>
          <a:ln w="12700">
            <a:solidFill>
              <a:srgbClr val="31599B"/>
            </a:solidFill>
            <a:prstDash val="solid"/>
          </a:ln>
        </p:spPr>
      </p:sp>
      <p:sp>
        <p:nvSpPr>
          <p:cNvPr id="6" name="Text 4"/>
          <p:cNvSpPr/>
          <p:nvPr/>
        </p:nvSpPr>
        <p:spPr>
          <a:xfrm>
            <a:off x="960120"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相对 REINFORCE</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372648"/>
            <a:ext cx="2862072" cy="1333781"/>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引入价值评估，降低策略梯度的波动，提高学习速度与可靠性。</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425696" y="1645920"/>
            <a:ext cx="3246120" cy="2317959"/>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25696" y="1645920"/>
            <a:ext cx="64008" cy="2317959"/>
          </a:xfrm>
          <a:prstGeom prst="rect">
            <a:avLst/>
          </a:prstGeom>
          <a:solidFill>
            <a:srgbClr val="2F8E72"/>
          </a:solidFill>
          <a:ln w="12700">
            <a:solidFill>
              <a:srgbClr val="2F8E72"/>
            </a:solidFill>
            <a:prstDash val="solid"/>
          </a:ln>
        </p:spPr>
      </p:sp>
      <p:sp>
        <p:nvSpPr>
          <p:cNvPr id="10" name="Text 8"/>
          <p:cNvSpPr/>
          <p:nvPr/>
        </p:nvSpPr>
        <p:spPr>
          <a:xfrm>
            <a:off x="4636008"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相对 Q 学习</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36008" y="2314944"/>
            <a:ext cx="2862072" cy="102750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Actor 直接处理参数化策略，因此更适合连续动作空间。</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45920"/>
            <a:ext cx="3246120" cy="2317959"/>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01584" y="1645920"/>
            <a:ext cx="64008" cy="2317959"/>
          </a:xfrm>
          <a:prstGeom prst="rect">
            <a:avLst/>
          </a:prstGeom>
          <a:solidFill>
            <a:srgbClr val="C58A24"/>
          </a:solidFill>
          <a:ln w="12700">
            <a:solidFill>
              <a:srgbClr val="C58A24"/>
            </a:solidFill>
            <a:prstDash val="solid"/>
          </a:ln>
        </p:spPr>
      </p:sp>
      <p:sp>
        <p:nvSpPr>
          <p:cNvPr id="14" name="Text 12"/>
          <p:cNvSpPr/>
          <p:nvPr/>
        </p:nvSpPr>
        <p:spPr>
          <a:xfrm>
            <a:off x="8311896" y="1792224"/>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核心协作</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297189"/>
            <a:ext cx="2862072" cy="121615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Critic 为 Actor 提供反馈，用价值估计帮助策略朝更优方向更新。</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基础 Actor-Critic 框架</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14.png"/>
          <p:cNvPicPr>
            <a:picLocks noChangeAspect="1"/>
          </p:cNvPicPr>
          <p:nvPr/>
        </p:nvPicPr>
        <p:blipFill>
          <a:blip r:embed="rId3"/>
          <a:stretch>
            <a:fillRect/>
          </a:stretch>
        </p:blipFill>
        <p:spPr>
          <a:xfrm>
            <a:off x="1458004" y="1536192"/>
            <a:ext cx="4710088" cy="4526280"/>
          </a:xfrm>
          <a:prstGeom prst="rect">
            <a:avLst/>
          </a:prstGeom>
        </p:spPr>
      </p:pic>
      <p:sp>
        <p:nvSpPr>
          <p:cNvPr id="6" name="Shape 3"/>
          <p:cNvSpPr/>
          <p:nvPr/>
        </p:nvSpPr>
        <p:spPr>
          <a:xfrm>
            <a:off x="7086600" y="1664208"/>
            <a:ext cx="3977640" cy="1508760"/>
          </a:xfrm>
          <a:prstGeom prst="roundRect">
            <a:avLst>
              <a:gd name="adj" fmla="val 303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086600" y="1664208"/>
            <a:ext cx="64008" cy="1508760"/>
          </a:xfrm>
          <a:prstGeom prst="rect">
            <a:avLst/>
          </a:prstGeom>
          <a:solidFill>
            <a:srgbClr val="31599B"/>
          </a:solidFill>
          <a:ln w="12700">
            <a:solidFill>
              <a:srgbClr val="31599B"/>
            </a:solidFill>
            <a:prstDash val="solid"/>
          </a:ln>
        </p:spPr>
      </p:sp>
      <p:sp>
        <p:nvSpPr>
          <p:cNvPr id="8" name="Text 5"/>
          <p:cNvSpPr/>
          <p:nvPr/>
        </p:nvSpPr>
        <p:spPr>
          <a:xfrm>
            <a:off x="7296912" y="1810512"/>
            <a:ext cx="359359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Actor</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7296912" y="2231136"/>
            <a:ext cx="3593592" cy="7955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根据当前状态输出动作或动作分布。</a:t>
            </a:r>
            <a:endParaRPr lang="en-US" sz="2400" dirty="0">
              <a:latin typeface="微软雅黑" panose="020B0503020204020204" pitchFamily="34" charset="-122"/>
              <a:ea typeface="微软雅黑" panose="020B0503020204020204" pitchFamily="34" charset="-122"/>
            </a:endParaRPr>
          </a:p>
        </p:txBody>
      </p:sp>
      <p:sp>
        <p:nvSpPr>
          <p:cNvPr id="10" name="Shape 7"/>
          <p:cNvSpPr/>
          <p:nvPr/>
        </p:nvSpPr>
        <p:spPr>
          <a:xfrm>
            <a:off x="7086600" y="3401568"/>
            <a:ext cx="3977640" cy="1508760"/>
          </a:xfrm>
          <a:prstGeom prst="roundRect">
            <a:avLst>
              <a:gd name="adj" fmla="val 303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086600" y="3401568"/>
            <a:ext cx="64008" cy="1508760"/>
          </a:xfrm>
          <a:prstGeom prst="rect">
            <a:avLst/>
          </a:prstGeom>
          <a:solidFill>
            <a:srgbClr val="2F8E72"/>
          </a:solidFill>
          <a:ln w="12700">
            <a:solidFill>
              <a:srgbClr val="2F8E72"/>
            </a:solidFill>
            <a:prstDash val="solid"/>
          </a:ln>
        </p:spPr>
      </p:sp>
      <p:sp>
        <p:nvSpPr>
          <p:cNvPr id="12" name="Text 9"/>
          <p:cNvSpPr/>
          <p:nvPr/>
        </p:nvSpPr>
        <p:spPr>
          <a:xfrm>
            <a:off x="7296912" y="3547872"/>
            <a:ext cx="359359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Critic</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7296912" y="3968496"/>
            <a:ext cx="3593592" cy="7955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近似价值函数，评价动作质量并形成更新信号。</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Actor 与 Critic 的分工</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67" name="Table 0"/>
          <p:cNvGraphicFramePr>
            <a:graphicFrameLocks noGrp="1"/>
          </p:cNvGraphicFramePr>
          <p:nvPr>
            <p:extLst>
              <p:ext uri="{D42A27DB-BD31-4B8C-83A1-F6EECF244321}">
                <p14:modId xmlns:p14="http://schemas.microsoft.com/office/powerpoint/2010/main" val="3285102111"/>
              </p:ext>
            </p:extLst>
          </p:nvPr>
        </p:nvGraphicFramePr>
        <p:xfrm>
          <a:off x="749808" y="1755648"/>
          <a:ext cx="10698480" cy="3108960"/>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156367">
                  <a:extLst>
                    <a:ext uri="{9D8B030D-6E8A-4147-A177-3AD203B41FA5}">
                      <a16:colId xmlns:a16="http://schemas.microsoft.com/office/drawing/2014/main" val="20002"/>
                    </a:ext>
                  </a:extLst>
                </a:gridCol>
                <a:gridCol w="2512913">
                  <a:extLst>
                    <a:ext uri="{9D8B030D-6E8A-4147-A177-3AD203B41FA5}">
                      <a16:colId xmlns:a16="http://schemas.microsoft.com/office/drawing/2014/main" val="20003"/>
                    </a:ext>
                  </a:extLst>
                </a:gridCol>
              </a:tblGrid>
              <a:tr h="1036320">
                <a:tc>
                  <a:txBody>
                    <a:bodyPr/>
                    <a:lstStyle/>
                    <a:p>
                      <a:pPr marL="0" indent="0" algn="ctr">
                        <a:buNone/>
                      </a:pPr>
                      <a:r>
                        <a:rPr lang="en-US" sz="1520" dirty="0">
                          <a:solidFill>
                            <a:srgbClr val="222833"/>
                          </a:solidFill>
                          <a:latin typeface="微软雅黑" panose="020B0503020204020204" pitchFamily="34" charset="-122"/>
                          <a:ea typeface="微软雅黑" panose="020B0503020204020204" pitchFamily="34" charset="-122"/>
                          <a:cs typeface="Noto Sans CJK SC" pitchFamily="34" charset="-120"/>
                        </a:rPr>
                        <a:t>角色</a:t>
                      </a:r>
                      <a:endParaRPr lang="en-US" sz="15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520" dirty="0">
                          <a:solidFill>
                            <a:srgbClr val="222833"/>
                          </a:solidFill>
                          <a:latin typeface="微软雅黑" panose="020B0503020204020204" pitchFamily="34" charset="-122"/>
                          <a:ea typeface="微软雅黑" panose="020B0503020204020204" pitchFamily="34" charset="-122"/>
                          <a:cs typeface="Noto Sans CJK SC" pitchFamily="34" charset="-120"/>
                        </a:rPr>
                        <a:t>学习对象</a:t>
                      </a:r>
                      <a:endParaRPr lang="en-US" sz="15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520" dirty="0">
                          <a:solidFill>
                            <a:srgbClr val="222833"/>
                          </a:solidFill>
                          <a:latin typeface="微软雅黑" panose="020B0503020204020204" pitchFamily="34" charset="-122"/>
                          <a:ea typeface="微软雅黑" panose="020B0503020204020204" pitchFamily="34" charset="-122"/>
                          <a:cs typeface="Noto Sans CJK SC" pitchFamily="34" charset="-120"/>
                        </a:rPr>
                        <a:t>主要作用</a:t>
                      </a:r>
                      <a:endParaRPr lang="en-US" sz="15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520" dirty="0">
                          <a:solidFill>
                            <a:srgbClr val="222833"/>
                          </a:solidFill>
                          <a:latin typeface="微软雅黑" panose="020B0503020204020204" pitchFamily="34" charset="-122"/>
                          <a:ea typeface="微软雅黑" panose="020B0503020204020204" pitchFamily="34" charset="-122"/>
                          <a:cs typeface="Noto Sans CJK SC" pitchFamily="34" charset="-120"/>
                        </a:rPr>
                        <a:t>典型输出</a:t>
                      </a:r>
                      <a:endParaRPr lang="en-US" sz="152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36320">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Actor</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策略 πθ(a|s)</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选择动作并调整策略</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动作 / 动作分布</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36320">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Critic</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V</a:t>
                      </a:r>
                      <a:r>
                        <a:rPr lang="en-US" sz="2000" baseline="-25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ω</a:t>
                      </a: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(s) 或 Q</a:t>
                      </a:r>
                      <a:r>
                        <a:rPr lang="en-US" sz="2000" baseline="-25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ω</a:t>
                      </a: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(s,a)</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评价当前行为质量</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价值估计 / TD 误差</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hape 2"/>
          <p:cNvSpPr/>
          <p:nvPr/>
        </p:nvSpPr>
        <p:spPr>
          <a:xfrm>
            <a:off x="749808" y="1755648"/>
            <a:ext cx="10698480" cy="502920"/>
          </a:xfrm>
          <a:prstGeom prst="rect">
            <a:avLst/>
          </a:prstGeom>
          <a:solidFill>
            <a:srgbClr val="31599B"/>
          </a:solidFill>
          <a:ln w="12700">
            <a:solidFill>
              <a:srgbClr val="31599B"/>
            </a:solidFill>
            <a:prstDash val="solid"/>
          </a:ln>
        </p:spPr>
      </p:sp>
      <p:sp>
        <p:nvSpPr>
          <p:cNvPr id="6" name="Text 3"/>
          <p:cNvSpPr/>
          <p:nvPr/>
        </p:nvSpPr>
        <p:spPr>
          <a:xfrm>
            <a:off x="768096" y="1865376"/>
            <a:ext cx="179222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角色</a:t>
            </a:r>
            <a:endParaRPr lang="en-US" sz="2400" dirty="0">
              <a:latin typeface="微软雅黑" panose="020B0503020204020204" pitchFamily="34" charset="-122"/>
              <a:ea typeface="微软雅黑" panose="020B0503020204020204" pitchFamily="34" charset="-122"/>
            </a:endParaRPr>
          </a:p>
        </p:txBody>
      </p:sp>
      <p:sp>
        <p:nvSpPr>
          <p:cNvPr id="7" name="Text 4"/>
          <p:cNvSpPr/>
          <p:nvPr/>
        </p:nvSpPr>
        <p:spPr>
          <a:xfrm>
            <a:off x="2596896" y="1865376"/>
            <a:ext cx="316382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学习对象</a:t>
            </a:r>
            <a:endParaRPr lang="en-US" sz="2400" dirty="0">
              <a:latin typeface="微软雅黑" panose="020B0503020204020204" pitchFamily="34" charset="-122"/>
              <a:ea typeface="微软雅黑" panose="020B0503020204020204" pitchFamily="34" charset="-122"/>
            </a:endParaRPr>
          </a:p>
        </p:txBody>
      </p:sp>
      <p:sp>
        <p:nvSpPr>
          <p:cNvPr id="8" name="Text 5"/>
          <p:cNvSpPr/>
          <p:nvPr/>
        </p:nvSpPr>
        <p:spPr>
          <a:xfrm>
            <a:off x="5797296" y="1865376"/>
            <a:ext cx="348386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主要作用</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9317736" y="1865376"/>
            <a:ext cx="211226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典型输出</a:t>
            </a:r>
            <a:endParaRPr lang="en-US" sz="2400" dirty="0">
              <a:latin typeface="微软雅黑" panose="020B0503020204020204" pitchFamily="34" charset="-122"/>
              <a:ea typeface="微软雅黑" panose="020B0503020204020204" pitchFamily="34" charset="-122"/>
            </a:endParaRPr>
          </a:p>
        </p:txBody>
      </p:sp>
      <p:sp>
        <p:nvSpPr>
          <p:cNvPr id="10" name="Text 7"/>
          <p:cNvSpPr/>
          <p:nvPr/>
        </p:nvSpPr>
        <p:spPr>
          <a:xfrm>
            <a:off x="685800" y="5340096"/>
            <a:ext cx="10698480" cy="329184"/>
          </a:xfrm>
          <a:prstGeom prst="rect">
            <a:avLst/>
          </a:prstGeom>
          <a:noFill/>
          <a:ln/>
        </p:spPr>
        <p:txBody>
          <a:bodyPr wrap="square" lIns="0" tIns="0" rIns="0" bIns="0" rtlCol="0" anchor="ctr">
            <a:noAutofit/>
          </a:bodyPr>
          <a:lstStyle/>
          <a:p>
            <a:pPr marL="0" indent="0" algn="ctr">
              <a:buNone/>
            </a:pPr>
            <a:r>
              <a:rPr lang="en-US" sz="2400" dirty="0">
                <a:solidFill>
                  <a:srgbClr val="667085"/>
                </a:solidFill>
                <a:latin typeface="微软雅黑" panose="020B0503020204020204" pitchFamily="34" charset="-122"/>
                <a:ea typeface="微软雅黑" panose="020B0503020204020204" pitchFamily="34" charset="-122"/>
                <a:cs typeface="Noto Sans CJK SC" pitchFamily="34" charset="-120"/>
              </a:rPr>
              <a:t>两者协同使策略更新不再完全依赖高方差的蒙特卡洛回报。</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Times New Roman" panose="02020603050405020304" pitchFamily="18" charset="0"/>
                <a:ea typeface="微软雅黑" panose="020B0503020204020204" pitchFamily="34" charset="-122"/>
                <a:cs typeface="Times New Roman" panose="02020603050405020304" pitchFamily="18" charset="0"/>
              </a:rPr>
              <a:t>Critic：先计算 TD 误差，再更新价值函数</a:t>
            </a:r>
            <a:endParaRPr lang="en-US" sz="35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618330" y="1472184"/>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Times New Roman" panose="02020603050405020304" pitchFamily="18" charset="0"/>
                <a:ea typeface="微软雅黑" panose="020B0503020204020204" pitchFamily="34" charset="-122"/>
                <a:cs typeface="Times New Roman" panose="02020603050405020304" pitchFamily="18" charset="0"/>
              </a:rPr>
              <a:t>3.4.1 基础 Actor-Critic</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Shape 3"/>
          <p:cNvSpPr/>
          <p:nvPr/>
        </p:nvSpPr>
        <p:spPr>
          <a:xfrm>
            <a:off x="728028" y="2169381"/>
            <a:ext cx="7269480" cy="924630"/>
          </a:xfrm>
          <a:prstGeom prst="roundRect">
            <a:avLst>
              <a:gd name="adj" fmla="val 2294"/>
            </a:avLst>
          </a:prstGeom>
          <a:solidFill>
            <a:srgbClr val="FFFFFF"/>
          </a:solidFill>
          <a:ln w="12700">
            <a:solidFill>
              <a:srgbClr val="D6DCE6"/>
            </a:solidFill>
            <a:prstDash val="solid"/>
          </a:ln>
        </p:spPr>
      </p:sp>
      <p:sp>
        <p:nvSpPr>
          <p:cNvPr id="6" name="Text 4"/>
          <p:cNvSpPr/>
          <p:nvPr/>
        </p:nvSpPr>
        <p:spPr>
          <a:xfrm>
            <a:off x="947484" y="2297397"/>
            <a:ext cx="2377440" cy="274320"/>
          </a:xfrm>
          <a:prstGeom prst="rect">
            <a:avLst/>
          </a:prstGeom>
          <a:noFill/>
          <a:ln/>
        </p:spPr>
        <p:txBody>
          <a:bodyPr wrap="square" lIns="0" tIns="0" rIns="0" bIns="0" rtlCol="0" anchor="ctr"/>
          <a:lstStyle/>
          <a:p>
            <a:pPr marL="0" indent="0">
              <a:buNone/>
            </a:pPr>
            <a:r>
              <a:rPr lang="en-US" sz="2000" b="1" dirty="0">
                <a:solidFill>
                  <a:srgbClr val="C58A24"/>
                </a:solidFill>
                <a:latin typeface="Times New Roman" panose="02020603050405020304" pitchFamily="18" charset="0"/>
                <a:ea typeface="微软雅黑" panose="020B0503020204020204" pitchFamily="34" charset="-122"/>
                <a:cs typeface="Times New Roman" panose="02020603050405020304" pitchFamily="18" charset="0"/>
              </a:rPr>
              <a:t>TD 误差</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Image 0" descr="/mnt/data/ch3_formula_clean/eq-ac-td.png"/>
          <p:cNvPicPr>
            <a:picLocks noChangeAspect="1"/>
          </p:cNvPicPr>
          <p:nvPr/>
        </p:nvPicPr>
        <p:blipFill>
          <a:blip r:embed="rId3"/>
          <a:srcRect l="30528" t="26939" r="29850" b="28274"/>
          <a:stretch>
            <a:fillRect/>
          </a:stretch>
        </p:blipFill>
        <p:spPr>
          <a:xfrm>
            <a:off x="2398450" y="2381400"/>
            <a:ext cx="3697550" cy="636666"/>
          </a:xfrm>
          <a:prstGeom prst="rect">
            <a:avLst/>
          </a:prstGeom>
        </p:spPr>
      </p:pic>
      <p:sp>
        <p:nvSpPr>
          <p:cNvPr id="8" name="Shape 5"/>
          <p:cNvSpPr/>
          <p:nvPr/>
        </p:nvSpPr>
        <p:spPr>
          <a:xfrm>
            <a:off x="8244395" y="1911717"/>
            <a:ext cx="3200401" cy="1517281"/>
          </a:xfrm>
          <a:prstGeom prst="roundRect">
            <a:avLst>
              <a:gd name="adj" fmla="val 2294"/>
            </a:avLst>
          </a:prstGeom>
          <a:solidFill>
            <a:srgbClr val="FFF4DE"/>
          </a:solidFill>
          <a:ln w="12700">
            <a:solidFill>
              <a:srgbClr val="E0E5ED"/>
            </a:solidFill>
            <a:prstDash val="solid"/>
          </a:ln>
          <a:effectLst>
            <a:outerShdw blurRad="12700" dist="4445" dir="2700000" algn="bl" rotWithShape="0">
              <a:srgbClr val="000000">
                <a:alpha val="8000"/>
              </a:srgbClr>
            </a:outerShdw>
          </a:effectLst>
        </p:spPr>
      </p:sp>
      <p:sp>
        <p:nvSpPr>
          <p:cNvPr id="9" name="Shape 6"/>
          <p:cNvSpPr/>
          <p:nvPr/>
        </p:nvSpPr>
        <p:spPr>
          <a:xfrm>
            <a:off x="8244396" y="1911717"/>
            <a:ext cx="64008" cy="1517279"/>
          </a:xfrm>
          <a:prstGeom prst="rect">
            <a:avLst/>
          </a:prstGeom>
          <a:solidFill>
            <a:srgbClr val="C58A24"/>
          </a:solidFill>
          <a:ln w="12700">
            <a:solidFill>
              <a:srgbClr val="C58A24"/>
            </a:solidFill>
            <a:prstDash val="solid"/>
          </a:ln>
        </p:spPr>
      </p:sp>
      <p:sp>
        <p:nvSpPr>
          <p:cNvPr id="10" name="Text 7"/>
          <p:cNvSpPr/>
          <p:nvPr/>
        </p:nvSpPr>
        <p:spPr>
          <a:xfrm>
            <a:off x="8454708" y="2058021"/>
            <a:ext cx="2816352" cy="329184"/>
          </a:xfrm>
          <a:prstGeom prst="rect">
            <a:avLst/>
          </a:prstGeom>
          <a:noFill/>
          <a:ln/>
        </p:spPr>
        <p:txBody>
          <a:bodyPr wrap="square" lIns="0" tIns="0" rIns="0" bIns="0" rtlCol="0" anchor="ctr">
            <a:normAutofit lnSpcReduction="10000"/>
          </a:bodyPr>
          <a:lstStyle/>
          <a:p>
            <a:pPr marL="0" indent="0">
              <a:buNone/>
            </a:pPr>
            <a:r>
              <a:rPr lang="en-US" sz="2400" b="1" dirty="0" err="1">
                <a:solidFill>
                  <a:srgbClr val="C58A24"/>
                </a:solidFill>
                <a:latin typeface="Times New Roman" panose="02020603050405020304" pitchFamily="18" charset="0"/>
                <a:ea typeface="微软雅黑" panose="020B0503020204020204" pitchFamily="34" charset="-122"/>
                <a:cs typeface="Times New Roman" panose="02020603050405020304" pitchFamily="18" charset="0"/>
              </a:rPr>
              <a:t>要点</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 8"/>
          <p:cNvSpPr/>
          <p:nvPr/>
        </p:nvSpPr>
        <p:spPr>
          <a:xfrm>
            <a:off x="8454708" y="2478645"/>
            <a:ext cx="2816352" cy="1280160"/>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即时奖励与下一状态估计共同形成目标，再减去当前价值估计。</a:t>
            </a:r>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Shape 9"/>
          <p:cNvSpPr/>
          <p:nvPr/>
        </p:nvSpPr>
        <p:spPr>
          <a:xfrm>
            <a:off x="728028" y="4243437"/>
            <a:ext cx="7269480" cy="1038777"/>
          </a:xfrm>
          <a:prstGeom prst="roundRect">
            <a:avLst>
              <a:gd name="adj" fmla="val 2294"/>
            </a:avLst>
          </a:prstGeom>
          <a:solidFill>
            <a:srgbClr val="FFFFFF"/>
          </a:solidFill>
          <a:ln w="12700">
            <a:solidFill>
              <a:srgbClr val="D6DCE6"/>
            </a:solidFill>
            <a:prstDash val="solid"/>
          </a:ln>
        </p:spPr>
      </p:sp>
      <p:sp>
        <p:nvSpPr>
          <p:cNvPr id="13" name="Text 10"/>
          <p:cNvSpPr/>
          <p:nvPr/>
        </p:nvSpPr>
        <p:spPr>
          <a:xfrm>
            <a:off x="947484" y="4371453"/>
            <a:ext cx="2377440" cy="274320"/>
          </a:xfrm>
          <a:prstGeom prst="rect">
            <a:avLst/>
          </a:prstGeom>
          <a:noFill/>
          <a:ln/>
        </p:spPr>
        <p:txBody>
          <a:bodyPr wrap="square" lIns="0" tIns="0" rIns="0" bIns="0" rtlCol="0" anchor="ctr"/>
          <a:lstStyle/>
          <a:p>
            <a:pPr marL="0" indent="0">
              <a:buNone/>
            </a:pPr>
            <a:r>
              <a:rPr lang="en-US" sz="2000" b="1" dirty="0">
                <a:solidFill>
                  <a:srgbClr val="2F8E72"/>
                </a:solidFill>
                <a:latin typeface="Times New Roman" panose="02020603050405020304" pitchFamily="18" charset="0"/>
                <a:ea typeface="微软雅黑" panose="020B0503020204020204" pitchFamily="34" charset="-122"/>
                <a:cs typeface="Times New Roman" panose="02020603050405020304" pitchFamily="18" charset="0"/>
              </a:rPr>
              <a:t>Critic 参数更新</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Image 1" descr="/mnt/data/ch3_formula_clean/eq-ac-critic.png"/>
          <p:cNvPicPr>
            <a:picLocks noChangeAspect="1"/>
          </p:cNvPicPr>
          <p:nvPr/>
        </p:nvPicPr>
        <p:blipFill>
          <a:blip r:embed="rId4"/>
          <a:srcRect l="34730" t="24546" r="33852" b="23774"/>
          <a:stretch>
            <a:fillRect/>
          </a:stretch>
        </p:blipFill>
        <p:spPr>
          <a:xfrm>
            <a:off x="2969817" y="4514320"/>
            <a:ext cx="3324451" cy="660246"/>
          </a:xfrm>
          <a:prstGeom prst="rect">
            <a:avLst/>
          </a:prstGeom>
        </p:spPr>
      </p:pic>
      <p:sp>
        <p:nvSpPr>
          <p:cNvPr id="15" name="Shape 11"/>
          <p:cNvSpPr/>
          <p:nvPr/>
        </p:nvSpPr>
        <p:spPr>
          <a:xfrm>
            <a:off x="8250936" y="3986601"/>
            <a:ext cx="3200400" cy="1553681"/>
          </a:xfrm>
          <a:prstGeom prst="roundRect">
            <a:avLst>
              <a:gd name="adj" fmla="val 2294"/>
            </a:avLst>
          </a:prstGeom>
          <a:solidFill>
            <a:srgbClr val="EAF5F1"/>
          </a:solidFill>
          <a:ln w="12700">
            <a:solidFill>
              <a:srgbClr val="E0E5ED"/>
            </a:solidFill>
            <a:prstDash val="solid"/>
          </a:ln>
          <a:effectLst>
            <a:outerShdw blurRad="12700" dist="4445" dir="2700000" algn="bl" rotWithShape="0">
              <a:srgbClr val="000000">
                <a:alpha val="8000"/>
              </a:srgbClr>
            </a:outerShdw>
          </a:effectLst>
        </p:spPr>
      </p:sp>
      <p:sp>
        <p:nvSpPr>
          <p:cNvPr id="16" name="Shape 12"/>
          <p:cNvSpPr/>
          <p:nvPr/>
        </p:nvSpPr>
        <p:spPr>
          <a:xfrm>
            <a:off x="8250936" y="3986602"/>
            <a:ext cx="64008" cy="1553680"/>
          </a:xfrm>
          <a:prstGeom prst="rect">
            <a:avLst/>
          </a:prstGeom>
          <a:solidFill>
            <a:srgbClr val="2F8E72"/>
          </a:solidFill>
          <a:ln w="12700">
            <a:solidFill>
              <a:srgbClr val="2F8E72"/>
            </a:solidFill>
            <a:prstDash val="solid"/>
          </a:ln>
        </p:spPr>
      </p:sp>
      <p:sp>
        <p:nvSpPr>
          <p:cNvPr id="17" name="Text 13"/>
          <p:cNvSpPr/>
          <p:nvPr/>
        </p:nvSpPr>
        <p:spPr>
          <a:xfrm>
            <a:off x="8461248" y="4132906"/>
            <a:ext cx="2816352" cy="329184"/>
          </a:xfrm>
          <a:prstGeom prst="rect">
            <a:avLst/>
          </a:prstGeom>
          <a:noFill/>
          <a:ln/>
        </p:spPr>
        <p:txBody>
          <a:bodyPr wrap="square" lIns="0" tIns="0" rIns="0" bIns="0" rtlCol="0" anchor="ctr">
            <a:normAutofit lnSpcReduction="10000"/>
          </a:bodyPr>
          <a:lstStyle/>
          <a:p>
            <a:pPr marL="0" indent="0">
              <a:buNone/>
            </a:pPr>
            <a:r>
              <a:rPr lang="en-US" sz="2400" b="1" dirty="0" err="1">
                <a:solidFill>
                  <a:srgbClr val="2F8E72"/>
                </a:solidFill>
                <a:latin typeface="Times New Roman" panose="02020603050405020304" pitchFamily="18" charset="0"/>
                <a:ea typeface="微软雅黑" panose="020B0503020204020204" pitchFamily="34" charset="-122"/>
                <a:cs typeface="Times New Roman" panose="02020603050405020304" pitchFamily="18" charset="0"/>
              </a:rPr>
              <a:t>要点</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Text 14"/>
          <p:cNvSpPr/>
          <p:nvPr/>
        </p:nvSpPr>
        <p:spPr>
          <a:xfrm>
            <a:off x="8461248" y="4553530"/>
            <a:ext cx="3002724" cy="98675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αω 为 Critic 学习率；沿价值函数梯度方向修正参数 ω。</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Times New Roman" panose="02020603050405020304" pitchFamily="18" charset="0"/>
                <a:ea typeface="微软雅黑" panose="020B0503020204020204" pitchFamily="34" charset="-122"/>
                <a:cs typeface="Times New Roman" panose="02020603050405020304" pitchFamily="18" charset="0"/>
              </a:rPr>
              <a:t>67</a:t>
            </a:fld>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Actor：利用</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TD</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误差</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与优势函数改进策略</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02920" y="1575083"/>
            <a:ext cx="5303520" cy="256032"/>
          </a:xfrm>
          <a:prstGeom prst="rect">
            <a:avLst/>
          </a:prstGeom>
          <a:noFill/>
          <a:ln/>
        </p:spPr>
        <p:txBody>
          <a:bodyPr wrap="square" lIns="0" tIns="0" rIns="0" bIns="0" rtlCol="0" anchor="ctr"/>
          <a:lstStyle/>
          <a:p>
            <a:pPr marL="0" indent="0">
              <a:buNone/>
            </a:pPr>
            <a:r>
              <a:rPr lang="en-US" sz="2400" dirty="0">
                <a:solidFill>
                  <a:srgbClr val="4F73B5"/>
                </a:solidFill>
                <a:latin typeface="微软雅黑" panose="020B0503020204020204" pitchFamily="34" charset="-122"/>
                <a:ea typeface="微软雅黑" panose="020B0503020204020204" pitchFamily="34" charset="-122"/>
                <a:cs typeface="Noto Sans CJK SC" pitchFamily="34" charset="-120"/>
              </a:rPr>
              <a:t>3.4.1 基础 Actor-Critic</a:t>
            </a:r>
            <a:endParaRPr lang="en-US" sz="24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Shape 3"/>
          <p:cNvSpPr/>
          <p:nvPr/>
        </p:nvSpPr>
        <p:spPr>
          <a:xfrm>
            <a:off x="743712" y="2434088"/>
            <a:ext cx="7269480" cy="1097811"/>
          </a:xfrm>
          <a:prstGeom prst="roundRect">
            <a:avLst>
              <a:gd name="adj" fmla="val 2294"/>
            </a:avLst>
          </a:prstGeom>
          <a:solidFill>
            <a:srgbClr val="FFFFFF"/>
          </a:solidFill>
          <a:ln w="12700">
            <a:solidFill>
              <a:srgbClr val="D6DCE6"/>
            </a:solidFill>
            <a:prstDash val="solid"/>
          </a:ln>
        </p:spPr>
      </p:sp>
      <p:sp>
        <p:nvSpPr>
          <p:cNvPr id="6" name="Text 4"/>
          <p:cNvSpPr/>
          <p:nvPr/>
        </p:nvSpPr>
        <p:spPr>
          <a:xfrm>
            <a:off x="963168" y="2562104"/>
            <a:ext cx="2377440" cy="274320"/>
          </a:xfrm>
          <a:prstGeom prst="rect">
            <a:avLst/>
          </a:prstGeom>
          <a:noFill/>
          <a:ln/>
        </p:spPr>
        <p:txBody>
          <a:bodyPr wrap="square" lIns="0" tIns="0" rIns="0" bIns="0" rtlCol="0" anchor="ct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Actor 参数更新</a:t>
            </a:r>
            <a:endParaRPr lang="en-US" sz="2400" dirty="0">
              <a:latin typeface="微软雅黑" panose="020B0503020204020204" pitchFamily="34" charset="-122"/>
              <a:ea typeface="微软雅黑" panose="020B0503020204020204" pitchFamily="34" charset="-122"/>
            </a:endParaRPr>
          </a:p>
        </p:txBody>
      </p:sp>
      <p:pic>
        <p:nvPicPr>
          <p:cNvPr id="7" name="Image 0" descr="/mnt/data/ch3_formula_clean/eq-ac-actor.png"/>
          <p:cNvPicPr>
            <a:picLocks noChangeAspect="1"/>
          </p:cNvPicPr>
          <p:nvPr/>
        </p:nvPicPr>
        <p:blipFill>
          <a:blip r:embed="rId3"/>
          <a:srcRect l="33895" t="25666" r="33174" b="23536"/>
          <a:stretch>
            <a:fillRect/>
          </a:stretch>
        </p:blipFill>
        <p:spPr>
          <a:xfrm>
            <a:off x="3403995" y="2635787"/>
            <a:ext cx="4076086" cy="695210"/>
          </a:xfrm>
          <a:prstGeom prst="rect">
            <a:avLst/>
          </a:prstGeom>
        </p:spPr>
      </p:pic>
      <p:sp>
        <p:nvSpPr>
          <p:cNvPr id="8" name="Shape 5"/>
          <p:cNvSpPr/>
          <p:nvPr/>
        </p:nvSpPr>
        <p:spPr>
          <a:xfrm>
            <a:off x="8293608" y="1980306"/>
            <a:ext cx="3200400" cy="1847088"/>
          </a:xfrm>
          <a:prstGeom prst="roundRect">
            <a:avLst>
              <a:gd name="adj" fmla="val 2294"/>
            </a:avLst>
          </a:prstGeom>
          <a:solidFill>
            <a:srgbClr val="EDF2FA"/>
          </a:solidFill>
          <a:ln w="12700">
            <a:solidFill>
              <a:srgbClr val="E0E5ED"/>
            </a:solidFill>
            <a:prstDash val="solid"/>
          </a:ln>
          <a:effectLst>
            <a:outerShdw blurRad="12700" dist="4445" dir="2700000" algn="bl" rotWithShape="0">
              <a:srgbClr val="000000">
                <a:alpha val="8000"/>
              </a:srgbClr>
            </a:outerShdw>
          </a:effectLst>
        </p:spPr>
      </p:sp>
      <p:sp>
        <p:nvSpPr>
          <p:cNvPr id="9" name="Shape 6"/>
          <p:cNvSpPr/>
          <p:nvPr/>
        </p:nvSpPr>
        <p:spPr>
          <a:xfrm>
            <a:off x="8275320" y="1980306"/>
            <a:ext cx="64008" cy="1847088"/>
          </a:xfrm>
          <a:prstGeom prst="rect">
            <a:avLst/>
          </a:prstGeom>
          <a:solidFill>
            <a:srgbClr val="31599B"/>
          </a:solidFill>
          <a:ln w="12700">
            <a:solidFill>
              <a:srgbClr val="31599B"/>
            </a:solidFill>
            <a:prstDash val="solid"/>
          </a:ln>
        </p:spPr>
      </p:sp>
      <p:sp>
        <p:nvSpPr>
          <p:cNvPr id="10" name="Text 7"/>
          <p:cNvSpPr/>
          <p:nvPr/>
        </p:nvSpPr>
        <p:spPr>
          <a:xfrm>
            <a:off x="8485632" y="2126610"/>
            <a:ext cx="2816352" cy="329184"/>
          </a:xfrm>
          <a:prstGeom prst="rect">
            <a:avLst/>
          </a:prstGeom>
          <a:noFill/>
          <a:ln/>
        </p:spPr>
        <p:txBody>
          <a:bodyPr wrap="square" lIns="0" tIns="0" rIns="0" bIns="0" rtlCol="0" anchor="ctr">
            <a:noAutofit/>
          </a:bodyP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要点</a:t>
            </a:r>
            <a:endParaRPr lang="en-US" sz="2400" dirty="0">
              <a:latin typeface="微软雅黑" panose="020B0503020204020204" pitchFamily="34" charset="-122"/>
              <a:ea typeface="微软雅黑" panose="020B0503020204020204" pitchFamily="34" charset="-122"/>
            </a:endParaRPr>
          </a:p>
        </p:txBody>
      </p:sp>
      <p:sp>
        <p:nvSpPr>
          <p:cNvPr id="11" name="Text 8"/>
          <p:cNvSpPr/>
          <p:nvPr/>
        </p:nvSpPr>
        <p:spPr>
          <a:xfrm>
            <a:off x="8485632" y="2547234"/>
            <a:ext cx="2816352" cy="128016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TD 误差 δ 作为简化优势信号，推动策略提高好动作的概率。</a:t>
            </a:r>
            <a:endParaRPr lang="en-US" sz="2400" dirty="0">
              <a:latin typeface="微软雅黑" panose="020B0503020204020204" pitchFamily="34" charset="-122"/>
              <a:ea typeface="微软雅黑" panose="020B0503020204020204" pitchFamily="34" charset="-122"/>
            </a:endParaRPr>
          </a:p>
        </p:txBody>
      </p:sp>
      <p:sp>
        <p:nvSpPr>
          <p:cNvPr id="12" name="Shape 9"/>
          <p:cNvSpPr/>
          <p:nvPr/>
        </p:nvSpPr>
        <p:spPr>
          <a:xfrm>
            <a:off x="846397" y="4665225"/>
            <a:ext cx="7269480" cy="989949"/>
          </a:xfrm>
          <a:prstGeom prst="roundRect">
            <a:avLst>
              <a:gd name="adj" fmla="val 2294"/>
            </a:avLst>
          </a:prstGeom>
          <a:solidFill>
            <a:srgbClr val="FFFFFF"/>
          </a:solidFill>
          <a:ln w="12700">
            <a:solidFill>
              <a:srgbClr val="D6DCE6"/>
            </a:solidFill>
            <a:prstDash val="solid"/>
          </a:ln>
        </p:spPr>
      </p:sp>
      <p:sp>
        <p:nvSpPr>
          <p:cNvPr id="13" name="Text 10"/>
          <p:cNvSpPr/>
          <p:nvPr/>
        </p:nvSpPr>
        <p:spPr>
          <a:xfrm>
            <a:off x="1065853" y="4793241"/>
            <a:ext cx="2377440" cy="274320"/>
          </a:xfrm>
          <a:prstGeom prst="rect">
            <a:avLst/>
          </a:prstGeom>
          <a:noFill/>
          <a:ln/>
        </p:spPr>
        <p:txBody>
          <a:bodyPr wrap="square" lIns="0" tIns="0" rIns="0" bIns="0" rtlCol="0" anchor="ctr"/>
          <a:lstStyle/>
          <a:p>
            <a:pPr marL="0" indent="0">
              <a:buNone/>
            </a:pPr>
            <a:r>
              <a:rPr lang="en-US" sz="2400" b="1" dirty="0">
                <a:solidFill>
                  <a:srgbClr val="7558A8"/>
                </a:solidFill>
                <a:latin typeface="微软雅黑" panose="020B0503020204020204" pitchFamily="34" charset="-122"/>
                <a:ea typeface="微软雅黑" panose="020B0503020204020204" pitchFamily="34" charset="-122"/>
                <a:cs typeface="Noto Sans CJK SC" pitchFamily="34" charset="-120"/>
              </a:rPr>
              <a:t>优势函数</a:t>
            </a:r>
            <a:endParaRPr lang="en-US" sz="2400" dirty="0">
              <a:latin typeface="微软雅黑" panose="020B0503020204020204" pitchFamily="34" charset="-122"/>
              <a:ea typeface="微软雅黑" panose="020B0503020204020204" pitchFamily="34" charset="-122"/>
            </a:endParaRPr>
          </a:p>
        </p:txBody>
      </p:sp>
      <p:pic>
        <p:nvPicPr>
          <p:cNvPr id="14" name="Image 1" descr="/mnt/data/ch3_formula_clean/eq-ac-adv.png"/>
          <p:cNvPicPr>
            <a:picLocks noChangeAspect="1"/>
          </p:cNvPicPr>
          <p:nvPr/>
        </p:nvPicPr>
        <p:blipFill>
          <a:blip r:embed="rId4"/>
          <a:srcRect l="21710" t="27923" r="22124" b="26640"/>
          <a:stretch>
            <a:fillRect/>
          </a:stretch>
        </p:blipFill>
        <p:spPr>
          <a:xfrm>
            <a:off x="2991775" y="5014295"/>
            <a:ext cx="2947830" cy="519344"/>
          </a:xfrm>
          <a:prstGeom prst="rect">
            <a:avLst/>
          </a:prstGeom>
        </p:spPr>
      </p:pic>
      <p:sp>
        <p:nvSpPr>
          <p:cNvPr id="15" name="Shape 11"/>
          <p:cNvSpPr/>
          <p:nvPr/>
        </p:nvSpPr>
        <p:spPr>
          <a:xfrm>
            <a:off x="8293608" y="4237537"/>
            <a:ext cx="3200400" cy="1784494"/>
          </a:xfrm>
          <a:prstGeom prst="roundRect">
            <a:avLst>
              <a:gd name="adj" fmla="val 2294"/>
            </a:avLst>
          </a:prstGeom>
          <a:solidFill>
            <a:srgbClr val="F1ECFA"/>
          </a:solidFill>
          <a:ln w="12700">
            <a:solidFill>
              <a:srgbClr val="E0E5ED"/>
            </a:solidFill>
            <a:prstDash val="solid"/>
          </a:ln>
          <a:effectLst>
            <a:outerShdw blurRad="12700" dist="4445" dir="2700000" algn="bl" rotWithShape="0">
              <a:srgbClr val="000000">
                <a:alpha val="8000"/>
              </a:srgbClr>
            </a:outerShdw>
          </a:effectLst>
        </p:spPr>
      </p:sp>
      <p:sp>
        <p:nvSpPr>
          <p:cNvPr id="16" name="Shape 12"/>
          <p:cNvSpPr/>
          <p:nvPr/>
        </p:nvSpPr>
        <p:spPr>
          <a:xfrm>
            <a:off x="8275320" y="4237537"/>
            <a:ext cx="64008" cy="1784494"/>
          </a:xfrm>
          <a:prstGeom prst="rect">
            <a:avLst/>
          </a:prstGeom>
          <a:solidFill>
            <a:srgbClr val="7558A8"/>
          </a:solidFill>
          <a:ln w="12700">
            <a:solidFill>
              <a:srgbClr val="7558A8"/>
            </a:solidFill>
            <a:prstDash val="solid"/>
          </a:ln>
        </p:spPr>
      </p:sp>
      <p:sp>
        <p:nvSpPr>
          <p:cNvPr id="17" name="Text 13"/>
          <p:cNvSpPr/>
          <p:nvPr/>
        </p:nvSpPr>
        <p:spPr>
          <a:xfrm>
            <a:off x="8485632" y="4383841"/>
            <a:ext cx="2816352" cy="329184"/>
          </a:xfrm>
          <a:prstGeom prst="rect">
            <a:avLst/>
          </a:prstGeom>
          <a:noFill/>
          <a:ln/>
        </p:spPr>
        <p:txBody>
          <a:bodyPr wrap="square" lIns="0" tIns="0" rIns="0" bIns="0" rtlCol="0" anchor="ctr">
            <a:noAutofit/>
          </a:bodyPr>
          <a:lstStyle/>
          <a:p>
            <a:pPr marL="0" indent="0">
              <a:buNone/>
            </a:pPr>
            <a:r>
              <a:rPr lang="en-US" sz="2400" b="1" dirty="0" err="1">
                <a:solidFill>
                  <a:srgbClr val="7558A8"/>
                </a:solidFill>
                <a:latin typeface="微软雅黑" panose="020B0503020204020204" pitchFamily="34" charset="-122"/>
                <a:ea typeface="微软雅黑" panose="020B0503020204020204" pitchFamily="34" charset="-122"/>
                <a:cs typeface="Noto Sans CJK SC" pitchFamily="34" charset="-120"/>
              </a:rPr>
              <a:t>要点</a:t>
            </a:r>
            <a:endParaRPr lang="en-US" sz="2400" dirty="0">
              <a:latin typeface="微软雅黑" panose="020B0503020204020204" pitchFamily="34" charset="-122"/>
              <a:ea typeface="微软雅黑" panose="020B0503020204020204" pitchFamily="34" charset="-122"/>
            </a:endParaRPr>
          </a:p>
        </p:txBody>
      </p:sp>
      <p:sp>
        <p:nvSpPr>
          <p:cNvPr id="18" name="Text 14"/>
          <p:cNvSpPr/>
          <p:nvPr/>
        </p:nvSpPr>
        <p:spPr>
          <a:xfrm>
            <a:off x="8538898" y="4755374"/>
            <a:ext cx="2816352" cy="658279"/>
          </a:xfrm>
          <a:prstGeom prst="rect">
            <a:avLst/>
          </a:prstGeom>
          <a:noFill/>
          <a:ln/>
        </p:spPr>
        <p:txBody>
          <a:bodyPr wrap="square" lIns="254" tIns="254" rIns="254" bIns="254" rtlCol="0" anchor="t">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A(s,a) 比较某动作价值 Q(s,a) 与状态基线 V(s) 的差异。</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基础 Actor-Critic 的两步更新逻辑</a:t>
            </a:r>
            <a:endParaRPr lang="en-US" sz="3500" dirty="0">
              <a:latin typeface="微软雅黑" panose="020B0503020204020204" pitchFamily="34" charset="-122"/>
            </a:endParaRPr>
          </a:p>
        </p:txBody>
      </p:sp>
      <p:sp>
        <p:nvSpPr>
          <p:cNvPr id="3" name="Shape 1"/>
          <p:cNvSpPr/>
          <p:nvPr/>
        </p:nvSpPr>
        <p:spPr>
          <a:xfrm>
            <a:off x="411480" y="1830832"/>
            <a:ext cx="11109960" cy="0"/>
          </a:xfrm>
          <a:prstGeom prst="line">
            <a:avLst/>
          </a:prstGeom>
          <a:noFill/>
          <a:ln w="12700">
            <a:solidFill>
              <a:srgbClr val="D8DEE8"/>
            </a:solidFill>
            <a:prstDash val="solid"/>
          </a:ln>
        </p:spPr>
      </p:sp>
      <p:sp>
        <p:nvSpPr>
          <p:cNvPr id="4" name="Shape 2"/>
          <p:cNvSpPr/>
          <p:nvPr/>
        </p:nvSpPr>
        <p:spPr>
          <a:xfrm>
            <a:off x="566928" y="2397760"/>
            <a:ext cx="1901952" cy="2148840"/>
          </a:xfrm>
          <a:prstGeom prst="roundRect">
            <a:avLst/>
          </a:prstGeom>
          <a:solidFill>
            <a:srgbClr val="EDF2FA"/>
          </a:solidFill>
          <a:ln w="12700">
            <a:solidFill>
              <a:srgbClr val="D2DDEA"/>
            </a:solidFill>
            <a:prstDash val="solid"/>
          </a:ln>
        </p:spPr>
      </p:sp>
      <p:sp>
        <p:nvSpPr>
          <p:cNvPr id="5" name="Text 3"/>
          <p:cNvSpPr/>
          <p:nvPr/>
        </p:nvSpPr>
        <p:spPr>
          <a:xfrm>
            <a:off x="1225296" y="2598928"/>
            <a:ext cx="566928" cy="566928"/>
          </a:xfrm>
          <a:prstGeom prst="rect">
            <a:avLst/>
          </a:prstGeom>
          <a:noFill/>
          <a:ln/>
        </p:spPr>
        <p:txBody>
          <a:bodyPr wrap="square" lIns="0" tIns="0" rIns="0" bIns="0" rtlCol="0" anchor="ctr"/>
          <a:lstStyle/>
          <a:p>
            <a:pPr marL="0" indent="0" algn="ctr">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sz="2800" dirty="0">
              <a:latin typeface="微软雅黑" panose="020B0503020204020204" pitchFamily="34" charset="-122"/>
            </a:endParaRPr>
          </a:p>
        </p:txBody>
      </p:sp>
      <p:sp>
        <p:nvSpPr>
          <p:cNvPr id="6" name="Text 4"/>
          <p:cNvSpPr/>
          <p:nvPr/>
        </p:nvSpPr>
        <p:spPr>
          <a:xfrm>
            <a:off x="731520" y="3330448"/>
            <a:ext cx="1572768" cy="347472"/>
          </a:xfrm>
          <a:prstGeom prst="rect">
            <a:avLst/>
          </a:prstGeom>
          <a:noFill/>
          <a:ln/>
        </p:spPr>
        <p:txBody>
          <a:bodyPr wrap="square" lIns="0" tIns="0" rIns="0" bIns="0" rtlCol="0" anchor="ctr">
            <a:normAutofit fontScale="92500"/>
          </a:bodyPr>
          <a:lstStyle/>
          <a:p>
            <a:pPr marL="0" indent="0" algn="ctr">
              <a:buNone/>
            </a:pPr>
            <a:r>
              <a:rPr lang="en-US" b="1" dirty="0">
                <a:solidFill>
                  <a:srgbClr val="222833"/>
                </a:solidFill>
                <a:latin typeface="微软雅黑" panose="020B0503020204020204" pitchFamily="34" charset="-122"/>
                <a:ea typeface="微软雅黑" panose="020B0503020204020204" pitchFamily="34" charset="-122"/>
                <a:cs typeface="Noto Sans CJK SC" pitchFamily="34" charset="-120"/>
              </a:rPr>
              <a:t>Actor 采样动作</a:t>
            </a:r>
            <a:endParaRPr lang="en-US" dirty="0">
              <a:latin typeface="微软雅黑" panose="020B0503020204020204" pitchFamily="34" charset="-122"/>
            </a:endParaRPr>
          </a:p>
        </p:txBody>
      </p:sp>
      <p:sp>
        <p:nvSpPr>
          <p:cNvPr id="7" name="Text 5"/>
          <p:cNvSpPr/>
          <p:nvPr/>
        </p:nvSpPr>
        <p:spPr>
          <a:xfrm>
            <a:off x="731520" y="3787648"/>
            <a:ext cx="1572768" cy="475488"/>
          </a:xfrm>
          <a:prstGeom prst="rect">
            <a:avLst/>
          </a:prstGeom>
          <a:noFill/>
          <a:ln/>
        </p:spPr>
        <p:txBody>
          <a:bodyPr wrap="square" lIns="0" tIns="0" rIns="0" bIns="0" rtlCol="0" anchor="ctr">
            <a:noAutofit/>
          </a:bodyPr>
          <a:lstStyle/>
          <a:p>
            <a:pPr marL="0" indent="0" algn="ctr">
              <a:buNone/>
            </a:pPr>
            <a:r>
              <a:rPr lang="en-US" dirty="0">
                <a:solidFill>
                  <a:srgbClr val="667085"/>
                </a:solidFill>
                <a:latin typeface="微软雅黑" panose="020B0503020204020204" pitchFamily="34" charset="-122"/>
                <a:ea typeface="微软雅黑" panose="020B0503020204020204" pitchFamily="34" charset="-122"/>
                <a:cs typeface="Noto Sans CJK SC" pitchFamily="34" charset="-120"/>
              </a:rPr>
              <a:t>根据 πθ(a|s) 选择动作</a:t>
            </a:r>
            <a:endParaRPr lang="en-US" dirty="0">
              <a:latin typeface="微软雅黑" panose="020B0503020204020204" pitchFamily="34" charset="-122"/>
            </a:endParaRPr>
          </a:p>
        </p:txBody>
      </p:sp>
      <p:sp>
        <p:nvSpPr>
          <p:cNvPr id="8" name="Shape 6"/>
          <p:cNvSpPr/>
          <p:nvPr/>
        </p:nvSpPr>
        <p:spPr>
          <a:xfrm>
            <a:off x="2505456" y="3147568"/>
            <a:ext cx="347472" cy="512064"/>
          </a:xfrm>
          <a:prstGeom prst="chevron">
            <a:avLst/>
          </a:prstGeom>
          <a:solidFill>
            <a:srgbClr val="D7DFEA"/>
          </a:solidFill>
          <a:ln w="12700">
            <a:solidFill>
              <a:srgbClr val="D7DFEA"/>
            </a:solidFill>
            <a:prstDash val="solid"/>
          </a:ln>
        </p:spPr>
      </p:sp>
      <p:sp>
        <p:nvSpPr>
          <p:cNvPr id="9" name="Shape 7"/>
          <p:cNvSpPr/>
          <p:nvPr/>
        </p:nvSpPr>
        <p:spPr>
          <a:xfrm>
            <a:off x="2852928" y="2397760"/>
            <a:ext cx="1901952" cy="2148840"/>
          </a:xfrm>
          <a:prstGeom prst="roundRect">
            <a:avLst/>
          </a:prstGeom>
          <a:solidFill>
            <a:srgbClr val="EAF5F1"/>
          </a:solidFill>
          <a:ln w="12700">
            <a:solidFill>
              <a:srgbClr val="C8E4DA"/>
            </a:solidFill>
            <a:prstDash val="solid"/>
          </a:ln>
        </p:spPr>
      </p:sp>
      <p:sp>
        <p:nvSpPr>
          <p:cNvPr id="10" name="Text 8"/>
          <p:cNvSpPr/>
          <p:nvPr/>
        </p:nvSpPr>
        <p:spPr>
          <a:xfrm>
            <a:off x="3511296" y="2598928"/>
            <a:ext cx="566928" cy="566928"/>
          </a:xfrm>
          <a:prstGeom prst="rect">
            <a:avLst/>
          </a:prstGeom>
          <a:noFill/>
          <a:ln/>
        </p:spPr>
        <p:txBody>
          <a:bodyPr wrap="square" lIns="0" tIns="0" rIns="0" bIns="0" rtlCol="0" anchor="ctr"/>
          <a:lstStyle/>
          <a:p>
            <a:pPr marL="0" indent="0" algn="ctr">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sz="2800" dirty="0">
              <a:latin typeface="微软雅黑" panose="020B0503020204020204" pitchFamily="34" charset="-122"/>
            </a:endParaRPr>
          </a:p>
        </p:txBody>
      </p:sp>
      <p:sp>
        <p:nvSpPr>
          <p:cNvPr id="11" name="Text 9"/>
          <p:cNvSpPr/>
          <p:nvPr/>
        </p:nvSpPr>
        <p:spPr>
          <a:xfrm>
            <a:off x="3017520" y="3330448"/>
            <a:ext cx="1572768" cy="347472"/>
          </a:xfrm>
          <a:prstGeom prst="rect">
            <a:avLst/>
          </a:prstGeom>
          <a:noFill/>
          <a:ln/>
        </p:spPr>
        <p:txBody>
          <a:bodyPr wrap="square" lIns="0" tIns="0" rIns="0" bIns="0" rtlCol="0" anchor="ctr">
            <a:normAutofit/>
          </a:bodyPr>
          <a:lstStyle/>
          <a:p>
            <a:pPr marL="0" indent="0" algn="ctr">
              <a:buNone/>
            </a:pPr>
            <a:r>
              <a:rPr lang="en-US" b="1" dirty="0">
                <a:solidFill>
                  <a:srgbClr val="222833"/>
                </a:solidFill>
                <a:latin typeface="微软雅黑" panose="020B0503020204020204" pitchFamily="34" charset="-122"/>
                <a:ea typeface="微软雅黑" panose="020B0503020204020204" pitchFamily="34" charset="-122"/>
                <a:cs typeface="Noto Sans CJK SC" pitchFamily="34" charset="-120"/>
              </a:rPr>
              <a:t>环境反馈</a:t>
            </a:r>
            <a:endParaRPr lang="en-US" dirty="0">
              <a:latin typeface="微软雅黑" panose="020B0503020204020204" pitchFamily="34" charset="-122"/>
            </a:endParaRPr>
          </a:p>
        </p:txBody>
      </p:sp>
      <p:sp>
        <p:nvSpPr>
          <p:cNvPr id="12" name="Text 10"/>
          <p:cNvSpPr/>
          <p:nvPr/>
        </p:nvSpPr>
        <p:spPr>
          <a:xfrm>
            <a:off x="3017520" y="3787648"/>
            <a:ext cx="1572768" cy="475488"/>
          </a:xfrm>
          <a:prstGeom prst="rect">
            <a:avLst/>
          </a:prstGeom>
          <a:noFill/>
          <a:ln/>
        </p:spPr>
        <p:txBody>
          <a:bodyPr wrap="square" lIns="0" tIns="0" rIns="0" bIns="0" rtlCol="0" anchor="ctr">
            <a:noAutofit/>
          </a:bodyPr>
          <a:lstStyle/>
          <a:p>
            <a:pPr marL="0" indent="0" algn="ctr">
              <a:buNone/>
            </a:pPr>
            <a:r>
              <a:rPr lang="en-US" dirty="0">
                <a:solidFill>
                  <a:srgbClr val="667085"/>
                </a:solidFill>
                <a:latin typeface="微软雅黑" panose="020B0503020204020204" pitchFamily="34" charset="-122"/>
                <a:ea typeface="微软雅黑" panose="020B0503020204020204" pitchFamily="34" charset="-122"/>
                <a:cs typeface="Noto Sans CJK SC" pitchFamily="34" charset="-120"/>
              </a:rPr>
              <a:t>获得奖励 r 与下一状态 s′</a:t>
            </a:r>
            <a:endParaRPr lang="en-US" dirty="0">
              <a:latin typeface="微软雅黑" panose="020B0503020204020204" pitchFamily="34" charset="-122"/>
            </a:endParaRPr>
          </a:p>
        </p:txBody>
      </p:sp>
      <p:sp>
        <p:nvSpPr>
          <p:cNvPr id="13" name="Shape 11"/>
          <p:cNvSpPr/>
          <p:nvPr/>
        </p:nvSpPr>
        <p:spPr>
          <a:xfrm>
            <a:off x="4791456" y="3147568"/>
            <a:ext cx="347472" cy="512064"/>
          </a:xfrm>
          <a:prstGeom prst="chevron">
            <a:avLst/>
          </a:prstGeom>
          <a:solidFill>
            <a:srgbClr val="D7DFEA"/>
          </a:solidFill>
          <a:ln w="12700">
            <a:solidFill>
              <a:srgbClr val="D7DFEA"/>
            </a:solidFill>
            <a:prstDash val="solid"/>
          </a:ln>
        </p:spPr>
      </p:sp>
      <p:sp>
        <p:nvSpPr>
          <p:cNvPr id="14" name="Shape 12"/>
          <p:cNvSpPr/>
          <p:nvPr/>
        </p:nvSpPr>
        <p:spPr>
          <a:xfrm>
            <a:off x="5138928" y="2397760"/>
            <a:ext cx="1901952" cy="2148840"/>
          </a:xfrm>
          <a:prstGeom prst="roundRect">
            <a:avLst/>
          </a:prstGeom>
          <a:solidFill>
            <a:srgbClr val="EDF2FA"/>
          </a:solidFill>
          <a:ln w="12700">
            <a:solidFill>
              <a:srgbClr val="D2DDEA"/>
            </a:solidFill>
            <a:prstDash val="solid"/>
          </a:ln>
        </p:spPr>
      </p:sp>
      <p:sp>
        <p:nvSpPr>
          <p:cNvPr id="15" name="Text 13"/>
          <p:cNvSpPr/>
          <p:nvPr/>
        </p:nvSpPr>
        <p:spPr>
          <a:xfrm>
            <a:off x="5797296" y="2598928"/>
            <a:ext cx="566928" cy="566928"/>
          </a:xfrm>
          <a:prstGeom prst="rect">
            <a:avLst/>
          </a:prstGeom>
          <a:noFill/>
          <a:ln/>
        </p:spPr>
        <p:txBody>
          <a:bodyPr wrap="square" lIns="0" tIns="0" rIns="0" bIns="0" rtlCol="0" anchor="ctr"/>
          <a:lstStyle/>
          <a:p>
            <a:pPr marL="0" indent="0" algn="ctr">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3</a:t>
            </a:r>
            <a:endParaRPr lang="en-US" sz="2800" dirty="0">
              <a:latin typeface="微软雅黑" panose="020B0503020204020204" pitchFamily="34" charset="-122"/>
            </a:endParaRPr>
          </a:p>
        </p:txBody>
      </p:sp>
      <p:sp>
        <p:nvSpPr>
          <p:cNvPr id="16" name="Text 14"/>
          <p:cNvSpPr/>
          <p:nvPr/>
        </p:nvSpPr>
        <p:spPr>
          <a:xfrm>
            <a:off x="5303520" y="3330448"/>
            <a:ext cx="1572768" cy="347472"/>
          </a:xfrm>
          <a:prstGeom prst="rect">
            <a:avLst/>
          </a:prstGeom>
          <a:noFill/>
          <a:ln/>
        </p:spPr>
        <p:txBody>
          <a:bodyPr wrap="square" lIns="0" tIns="0" rIns="0" bIns="0" rtlCol="0" anchor="ctr">
            <a:normAutofit/>
          </a:bodyPr>
          <a:lstStyle/>
          <a:p>
            <a:pPr marL="0" indent="0" algn="ctr">
              <a:buNone/>
            </a:pPr>
            <a:r>
              <a:rPr lang="en-US" b="1" dirty="0">
                <a:solidFill>
                  <a:srgbClr val="222833"/>
                </a:solidFill>
                <a:latin typeface="微软雅黑" panose="020B0503020204020204" pitchFamily="34" charset="-122"/>
                <a:ea typeface="微软雅黑" panose="020B0503020204020204" pitchFamily="34" charset="-122"/>
                <a:cs typeface="Noto Sans CJK SC" pitchFamily="34" charset="-120"/>
              </a:rPr>
              <a:t>Critic 计算 δ</a:t>
            </a:r>
            <a:endParaRPr lang="en-US" dirty="0">
              <a:latin typeface="微软雅黑" panose="020B0503020204020204" pitchFamily="34" charset="-122"/>
            </a:endParaRPr>
          </a:p>
        </p:txBody>
      </p:sp>
      <p:sp>
        <p:nvSpPr>
          <p:cNvPr id="17" name="Text 15"/>
          <p:cNvSpPr/>
          <p:nvPr/>
        </p:nvSpPr>
        <p:spPr>
          <a:xfrm>
            <a:off x="5303520" y="3787648"/>
            <a:ext cx="1572768" cy="475488"/>
          </a:xfrm>
          <a:prstGeom prst="rect">
            <a:avLst/>
          </a:prstGeom>
          <a:noFill/>
          <a:ln/>
        </p:spPr>
        <p:txBody>
          <a:bodyPr wrap="square" lIns="0" tIns="0" rIns="0" bIns="0" rtlCol="0" anchor="ctr">
            <a:noAutofit/>
          </a:bodyPr>
          <a:lstStyle/>
          <a:p>
            <a:pPr marL="0" indent="0" algn="ctr">
              <a:buNone/>
            </a:pPr>
            <a:r>
              <a:rPr lang="en-US" dirty="0">
                <a:solidFill>
                  <a:srgbClr val="667085"/>
                </a:solidFill>
                <a:latin typeface="微软雅黑" panose="020B0503020204020204" pitchFamily="34" charset="-122"/>
                <a:ea typeface="微软雅黑" panose="020B0503020204020204" pitchFamily="34" charset="-122"/>
                <a:cs typeface="Noto Sans CJK SC" pitchFamily="34" charset="-120"/>
              </a:rPr>
              <a:t>估计动作相对基线的好坏</a:t>
            </a:r>
            <a:endParaRPr lang="en-US" dirty="0">
              <a:latin typeface="微软雅黑" panose="020B0503020204020204" pitchFamily="34" charset="-122"/>
            </a:endParaRPr>
          </a:p>
        </p:txBody>
      </p:sp>
      <p:sp>
        <p:nvSpPr>
          <p:cNvPr id="18" name="Shape 16"/>
          <p:cNvSpPr/>
          <p:nvPr/>
        </p:nvSpPr>
        <p:spPr>
          <a:xfrm>
            <a:off x="7077456" y="3147568"/>
            <a:ext cx="347472" cy="512064"/>
          </a:xfrm>
          <a:prstGeom prst="chevron">
            <a:avLst/>
          </a:prstGeom>
          <a:solidFill>
            <a:srgbClr val="D7DFEA"/>
          </a:solidFill>
          <a:ln w="12700">
            <a:solidFill>
              <a:srgbClr val="D7DFEA"/>
            </a:solidFill>
            <a:prstDash val="solid"/>
          </a:ln>
        </p:spPr>
      </p:sp>
      <p:sp>
        <p:nvSpPr>
          <p:cNvPr id="19" name="Shape 17"/>
          <p:cNvSpPr/>
          <p:nvPr/>
        </p:nvSpPr>
        <p:spPr>
          <a:xfrm>
            <a:off x="7424928" y="2397760"/>
            <a:ext cx="1901952" cy="2148840"/>
          </a:xfrm>
          <a:prstGeom prst="roundRect">
            <a:avLst/>
          </a:prstGeom>
          <a:solidFill>
            <a:srgbClr val="EAF5F1"/>
          </a:solidFill>
          <a:ln w="12700">
            <a:solidFill>
              <a:srgbClr val="C8E4DA"/>
            </a:solidFill>
            <a:prstDash val="solid"/>
          </a:ln>
        </p:spPr>
      </p:sp>
      <p:sp>
        <p:nvSpPr>
          <p:cNvPr id="20" name="Text 18"/>
          <p:cNvSpPr/>
          <p:nvPr/>
        </p:nvSpPr>
        <p:spPr>
          <a:xfrm>
            <a:off x="8083296" y="2598928"/>
            <a:ext cx="566928" cy="566928"/>
          </a:xfrm>
          <a:prstGeom prst="rect">
            <a:avLst/>
          </a:prstGeom>
          <a:noFill/>
          <a:ln/>
        </p:spPr>
        <p:txBody>
          <a:bodyPr wrap="square" lIns="0" tIns="0" rIns="0" bIns="0" rtlCol="0" anchor="ctr"/>
          <a:lstStyle/>
          <a:p>
            <a:pPr marL="0" indent="0" algn="ctr">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4</a:t>
            </a:r>
            <a:endParaRPr lang="en-US" sz="2800" dirty="0">
              <a:latin typeface="微软雅黑" panose="020B0503020204020204" pitchFamily="34" charset="-122"/>
            </a:endParaRPr>
          </a:p>
        </p:txBody>
      </p:sp>
      <p:sp>
        <p:nvSpPr>
          <p:cNvPr id="21" name="Text 19"/>
          <p:cNvSpPr/>
          <p:nvPr/>
        </p:nvSpPr>
        <p:spPr>
          <a:xfrm>
            <a:off x="7589520" y="3330448"/>
            <a:ext cx="1572768" cy="347472"/>
          </a:xfrm>
          <a:prstGeom prst="rect">
            <a:avLst/>
          </a:prstGeom>
          <a:noFill/>
          <a:ln/>
        </p:spPr>
        <p:txBody>
          <a:bodyPr wrap="square" lIns="0" tIns="0" rIns="0" bIns="0" rtlCol="0" anchor="ctr">
            <a:normAutofit/>
          </a:bodyPr>
          <a:lstStyle/>
          <a:p>
            <a:pPr marL="0" indent="0" algn="ctr">
              <a:buNone/>
            </a:pPr>
            <a:r>
              <a:rPr lang="en-US" b="1" dirty="0">
                <a:solidFill>
                  <a:srgbClr val="222833"/>
                </a:solidFill>
                <a:latin typeface="微软雅黑" panose="020B0503020204020204" pitchFamily="34" charset="-122"/>
                <a:ea typeface="微软雅黑" panose="020B0503020204020204" pitchFamily="34" charset="-122"/>
                <a:cs typeface="Noto Sans CJK SC" pitchFamily="34" charset="-120"/>
              </a:rPr>
              <a:t>更新 Actor</a:t>
            </a:r>
            <a:endParaRPr lang="en-US" dirty="0">
              <a:latin typeface="微软雅黑" panose="020B0503020204020204" pitchFamily="34" charset="-122"/>
            </a:endParaRPr>
          </a:p>
        </p:txBody>
      </p:sp>
      <p:sp>
        <p:nvSpPr>
          <p:cNvPr id="22" name="Text 20"/>
          <p:cNvSpPr/>
          <p:nvPr/>
        </p:nvSpPr>
        <p:spPr>
          <a:xfrm>
            <a:off x="7589520" y="3787648"/>
            <a:ext cx="1572768" cy="475488"/>
          </a:xfrm>
          <a:prstGeom prst="rect">
            <a:avLst/>
          </a:prstGeom>
          <a:noFill/>
          <a:ln/>
        </p:spPr>
        <p:txBody>
          <a:bodyPr wrap="square" lIns="0" tIns="0" rIns="0" bIns="0" rtlCol="0" anchor="ctr">
            <a:normAutofit fontScale="92500" lnSpcReduction="10000"/>
          </a:bodyPr>
          <a:lstStyle/>
          <a:p>
            <a:pPr marL="0" indent="0" algn="ctr">
              <a:buNone/>
            </a:pPr>
            <a:r>
              <a:rPr lang="en-US" dirty="0">
                <a:solidFill>
                  <a:srgbClr val="667085"/>
                </a:solidFill>
                <a:latin typeface="微软雅黑" panose="020B0503020204020204" pitchFamily="34" charset="-122"/>
                <a:ea typeface="微软雅黑" panose="020B0503020204020204" pitchFamily="34" charset="-122"/>
                <a:cs typeface="Noto Sans CJK SC" pitchFamily="34" charset="-120"/>
              </a:rPr>
              <a:t>利用 δ 调整策略参数 θ</a:t>
            </a:r>
            <a:endParaRPr lang="en-US" dirty="0">
              <a:latin typeface="微软雅黑" panose="020B0503020204020204" pitchFamily="34" charset="-122"/>
            </a:endParaRPr>
          </a:p>
        </p:txBody>
      </p:sp>
      <p:sp>
        <p:nvSpPr>
          <p:cNvPr id="23" name="Shape 21"/>
          <p:cNvSpPr/>
          <p:nvPr/>
        </p:nvSpPr>
        <p:spPr>
          <a:xfrm>
            <a:off x="9363456" y="3147568"/>
            <a:ext cx="347472" cy="512064"/>
          </a:xfrm>
          <a:prstGeom prst="chevron">
            <a:avLst/>
          </a:prstGeom>
          <a:solidFill>
            <a:srgbClr val="D7DFEA"/>
          </a:solidFill>
          <a:ln w="12700">
            <a:solidFill>
              <a:srgbClr val="D7DFEA"/>
            </a:solidFill>
            <a:prstDash val="solid"/>
          </a:ln>
        </p:spPr>
      </p:sp>
      <p:sp>
        <p:nvSpPr>
          <p:cNvPr id="24" name="Shape 22"/>
          <p:cNvSpPr/>
          <p:nvPr/>
        </p:nvSpPr>
        <p:spPr>
          <a:xfrm>
            <a:off x="9710928" y="2397760"/>
            <a:ext cx="1901952" cy="2148840"/>
          </a:xfrm>
          <a:prstGeom prst="roundRect">
            <a:avLst/>
          </a:prstGeom>
          <a:solidFill>
            <a:srgbClr val="EDF2FA"/>
          </a:solidFill>
          <a:ln w="12700">
            <a:solidFill>
              <a:srgbClr val="D2DDEA"/>
            </a:solidFill>
            <a:prstDash val="solid"/>
          </a:ln>
        </p:spPr>
      </p:sp>
      <p:sp>
        <p:nvSpPr>
          <p:cNvPr id="25" name="Text 23"/>
          <p:cNvSpPr/>
          <p:nvPr/>
        </p:nvSpPr>
        <p:spPr>
          <a:xfrm>
            <a:off x="10369296" y="2598928"/>
            <a:ext cx="566928" cy="566928"/>
          </a:xfrm>
          <a:prstGeom prst="rect">
            <a:avLst/>
          </a:prstGeom>
          <a:noFill/>
          <a:ln/>
        </p:spPr>
        <p:txBody>
          <a:bodyPr wrap="square" lIns="0" tIns="0" rIns="0" bIns="0" rtlCol="0" anchor="ctr"/>
          <a:lstStyle/>
          <a:p>
            <a:pPr marL="0" indent="0" algn="ctr">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5</a:t>
            </a:r>
            <a:endParaRPr lang="en-US" sz="2800" dirty="0">
              <a:latin typeface="微软雅黑" panose="020B0503020204020204" pitchFamily="34" charset="-122"/>
            </a:endParaRPr>
          </a:p>
        </p:txBody>
      </p:sp>
      <p:sp>
        <p:nvSpPr>
          <p:cNvPr id="26" name="Text 24"/>
          <p:cNvSpPr/>
          <p:nvPr/>
        </p:nvSpPr>
        <p:spPr>
          <a:xfrm>
            <a:off x="9875520" y="3330448"/>
            <a:ext cx="1572768" cy="347472"/>
          </a:xfrm>
          <a:prstGeom prst="rect">
            <a:avLst/>
          </a:prstGeom>
          <a:noFill/>
          <a:ln/>
        </p:spPr>
        <p:txBody>
          <a:bodyPr wrap="square" lIns="0" tIns="0" rIns="0" bIns="0" rtlCol="0" anchor="ctr">
            <a:normAutofit/>
          </a:bodyPr>
          <a:lstStyle/>
          <a:p>
            <a:pPr marL="0" indent="0" algn="ctr">
              <a:buNone/>
            </a:pPr>
            <a:r>
              <a:rPr lang="en-US" b="1" dirty="0">
                <a:solidFill>
                  <a:srgbClr val="222833"/>
                </a:solidFill>
                <a:latin typeface="微软雅黑" panose="020B0503020204020204" pitchFamily="34" charset="-122"/>
                <a:ea typeface="微软雅黑" panose="020B0503020204020204" pitchFamily="34" charset="-122"/>
                <a:cs typeface="Noto Sans CJK SC" pitchFamily="34" charset="-120"/>
              </a:rPr>
              <a:t>更新 Critic</a:t>
            </a:r>
            <a:endParaRPr lang="en-US" dirty="0">
              <a:latin typeface="微软雅黑" panose="020B0503020204020204" pitchFamily="34" charset="-122"/>
            </a:endParaRPr>
          </a:p>
        </p:txBody>
      </p:sp>
      <p:sp>
        <p:nvSpPr>
          <p:cNvPr id="27" name="Text 25"/>
          <p:cNvSpPr/>
          <p:nvPr/>
        </p:nvSpPr>
        <p:spPr>
          <a:xfrm>
            <a:off x="9875520" y="3787648"/>
            <a:ext cx="1572768" cy="475488"/>
          </a:xfrm>
          <a:prstGeom prst="rect">
            <a:avLst/>
          </a:prstGeom>
          <a:noFill/>
          <a:ln/>
        </p:spPr>
        <p:txBody>
          <a:bodyPr wrap="square" lIns="0" tIns="0" rIns="0" bIns="0" rtlCol="0" anchor="ctr">
            <a:normAutofit fontScale="92500" lnSpcReduction="10000"/>
          </a:bodyPr>
          <a:lstStyle/>
          <a:p>
            <a:pPr marL="0" indent="0" algn="ctr">
              <a:buNone/>
            </a:pPr>
            <a:r>
              <a:rPr lang="en-US" dirty="0">
                <a:solidFill>
                  <a:srgbClr val="667085"/>
                </a:solidFill>
                <a:latin typeface="微软雅黑" panose="020B0503020204020204" pitchFamily="34" charset="-122"/>
                <a:ea typeface="微软雅黑" panose="020B0503020204020204" pitchFamily="34" charset="-122"/>
                <a:cs typeface="Noto Sans CJK SC" pitchFamily="34" charset="-120"/>
              </a:rPr>
              <a:t>利用 δ 调整价值参数 ω</a:t>
            </a:r>
            <a:endParaRPr lang="en-US" dirty="0">
              <a:latin typeface="微软雅黑" panose="020B0503020204020204" pitchFamily="34" charset="-122"/>
            </a:endParaRPr>
          </a:p>
        </p:txBody>
      </p:sp>
      <p:sp>
        <p:nvSpPr>
          <p:cNvPr id="29"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基础</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Actor-Critic</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优势与局限</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5074920" cy="3401568"/>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64208"/>
            <a:ext cx="64008" cy="3401568"/>
          </a:xfrm>
          <a:prstGeom prst="rect">
            <a:avLst/>
          </a:prstGeom>
          <a:solidFill>
            <a:srgbClr val="2F8E72"/>
          </a:solidFill>
          <a:ln w="12700">
            <a:solidFill>
              <a:srgbClr val="2F8E72"/>
            </a:solidFill>
            <a:prstDash val="solid"/>
          </a:ln>
        </p:spPr>
      </p:sp>
      <p:sp>
        <p:nvSpPr>
          <p:cNvPr id="6" name="Text 4"/>
          <p:cNvSpPr/>
          <p:nvPr/>
        </p:nvSpPr>
        <p:spPr>
          <a:xfrm>
            <a:off x="960120" y="1810512"/>
            <a:ext cx="4690872" cy="329184"/>
          </a:xfrm>
          <a:prstGeom prst="rect">
            <a:avLst/>
          </a:prstGeom>
          <a:noFill/>
          <a:ln/>
        </p:spPr>
        <p:txBody>
          <a:bodyPr wrap="square" lIns="0" tIns="0" rIns="0" bIns="0" rtlCol="0" anchor="ctr">
            <a:noAutofit/>
          </a:bodyPr>
          <a:lstStyle/>
          <a:p>
            <a:pPr marL="0" indent="0">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优势</a:t>
            </a:r>
            <a:endParaRPr lang="en-US" sz="2800" dirty="0">
              <a:latin typeface="微软雅黑" panose="020B0503020204020204" pitchFamily="34" charset="-122"/>
              <a:ea typeface="微软雅黑" panose="020B0503020204020204" pitchFamily="34" charset="-122"/>
            </a:endParaRPr>
          </a:p>
        </p:txBody>
      </p:sp>
      <p:sp>
        <p:nvSpPr>
          <p:cNvPr id="7" name="Text 5"/>
          <p:cNvSpPr/>
          <p:nvPr/>
        </p:nvSpPr>
        <p:spPr>
          <a:xfrm>
            <a:off x="973836" y="2673096"/>
            <a:ext cx="4690872" cy="1197864"/>
          </a:xfrm>
          <a:prstGeom prst="rect">
            <a:avLst/>
          </a:prstGeom>
          <a:noFill/>
          <a:ln/>
        </p:spPr>
        <p:txBody>
          <a:bodyPr wrap="square" lIns="254" tIns="254" rIns="254" bIns="254" rtlCol="0" anchor="t">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梯度估计方差较低；兼容连续动作；在高维环境中通常比纯 REINFORCE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更稳定</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99632" y="1664208"/>
            <a:ext cx="5074920" cy="3401568"/>
          </a:xfrm>
          <a:prstGeom prst="roundRect">
            <a:avLst>
              <a:gd name="adj" fmla="val 134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99632" y="1664208"/>
            <a:ext cx="64008" cy="3401568"/>
          </a:xfrm>
          <a:prstGeom prst="rect">
            <a:avLst/>
          </a:prstGeom>
          <a:solidFill>
            <a:srgbClr val="C63F45"/>
          </a:solidFill>
          <a:ln w="12700">
            <a:solidFill>
              <a:srgbClr val="C63F45"/>
            </a:solidFill>
            <a:prstDash val="solid"/>
          </a:ln>
        </p:spPr>
      </p:sp>
      <p:sp>
        <p:nvSpPr>
          <p:cNvPr id="10" name="Text 8"/>
          <p:cNvSpPr/>
          <p:nvPr/>
        </p:nvSpPr>
        <p:spPr>
          <a:xfrm>
            <a:off x="6409944" y="1810512"/>
            <a:ext cx="4690872" cy="329184"/>
          </a:xfrm>
          <a:prstGeom prst="rect">
            <a:avLst/>
          </a:prstGeom>
          <a:noFill/>
          <a:ln/>
        </p:spPr>
        <p:txBody>
          <a:bodyPr wrap="square" lIns="0" tIns="0" rIns="0" bIns="0" rtlCol="0" anchor="ctr">
            <a:noAutofit/>
          </a:bodyPr>
          <a:lstStyle/>
          <a:p>
            <a:pPr marL="0" indent="0">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局限</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6423660" y="2612135"/>
            <a:ext cx="4690872" cy="2106169"/>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Critic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初始偏差可能影响早期学习；计算开销较大；对超参数敏感，学习率失配可能引起振荡</a:t>
            </a:r>
            <a:endParaRPr lang="en-US" sz="2400" dirty="0">
              <a:solidFill>
                <a:srgbClr val="222833"/>
              </a:solidFill>
              <a:latin typeface="微软雅黑" panose="020B0503020204020204" pitchFamily="34" charset="-122"/>
              <a:ea typeface="微软雅黑" panose="020B0503020204020204" pitchFamily="34" charset="-122"/>
            </a:endParaRPr>
          </a:p>
          <a:p>
            <a:pPr marL="0" indent="0">
              <a:buNone/>
            </a:pPr>
            <a:r>
              <a:rPr lang="zh-CN" altLang="en-US" sz="2400" dirty="0">
                <a:latin typeface="微软雅黑" panose="020B0503020204020204" pitchFamily="34" charset="-122"/>
                <a:ea typeface="微软雅黑" panose="020B0503020204020204" pitchFamily="34" charset="-122"/>
              </a:rPr>
              <a:t>可用梯度裁剪等方法缓解部分训练不稳定问题。</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Actor-Critic</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算法的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输入与初始化</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27632"/>
            <a:ext cx="3840480" cy="2103120"/>
          </a:xfrm>
          <a:prstGeom prst="roundRect">
            <a:avLst>
              <a:gd name="adj" fmla="val 217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27632"/>
            <a:ext cx="64008" cy="2103120"/>
          </a:xfrm>
          <a:prstGeom prst="rect">
            <a:avLst/>
          </a:prstGeom>
          <a:solidFill>
            <a:srgbClr val="31599B"/>
          </a:solidFill>
          <a:ln w="12700">
            <a:solidFill>
              <a:srgbClr val="31599B"/>
            </a:solidFill>
            <a:prstDash val="solid"/>
          </a:ln>
        </p:spPr>
      </p:sp>
      <p:sp>
        <p:nvSpPr>
          <p:cNvPr id="6" name="Text 4"/>
          <p:cNvSpPr/>
          <p:nvPr/>
        </p:nvSpPr>
        <p:spPr>
          <a:xfrm>
            <a:off x="960120" y="1773936"/>
            <a:ext cx="345643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输入</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960120" y="2194560"/>
            <a:ext cx="3456432" cy="112268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学习率 α</a:t>
            </a:r>
            <a:r>
              <a:rPr lang="en-US"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θ</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、α</a:t>
            </a:r>
            <a:r>
              <a:rPr lang="en-US"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ω</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；折扣因子 γ；状态空间 S；动作空间 A。</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800600" y="1627632"/>
            <a:ext cx="6537960" cy="2103120"/>
          </a:xfrm>
          <a:prstGeom prst="roundRect">
            <a:avLst>
              <a:gd name="adj" fmla="val 217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800600" y="1627632"/>
            <a:ext cx="64008" cy="2103120"/>
          </a:xfrm>
          <a:prstGeom prst="rect">
            <a:avLst/>
          </a:prstGeom>
          <a:solidFill>
            <a:srgbClr val="2F8E72"/>
          </a:solidFill>
          <a:ln w="12700">
            <a:solidFill>
              <a:srgbClr val="2F8E72"/>
            </a:solidFill>
            <a:prstDash val="solid"/>
          </a:ln>
        </p:spPr>
      </p:sp>
      <p:sp>
        <p:nvSpPr>
          <p:cNvPr id="10" name="Text 8"/>
          <p:cNvSpPr/>
          <p:nvPr/>
        </p:nvSpPr>
        <p:spPr>
          <a:xfrm>
            <a:off x="5010912" y="1773936"/>
            <a:ext cx="615391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初始化</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5010912" y="2194560"/>
            <a:ext cx="6153912" cy="13898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初始化策略参数 θ 和价值函数参数 ω；每个 episode 开始时初始化起始状态 s，并设置 done=False。</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1051560" y="4343400"/>
            <a:ext cx="10058400" cy="566928"/>
          </a:xfrm>
          <a:prstGeom prst="rect">
            <a:avLst/>
          </a:prstGeom>
          <a:noFill/>
          <a:ln/>
        </p:spPr>
        <p:txBody>
          <a:bodyPr wrap="square" lIns="0" tIns="0" rIns="0" bIns="0" rtlCol="0" anchor="ctr">
            <a:normAutofit/>
          </a:bodyPr>
          <a:lstStyle/>
          <a:p>
            <a:pPr marL="0" indent="0" algn="ctr">
              <a:buNone/>
            </a:pPr>
            <a:r>
              <a:rPr lang="en-US" sz="2400" b="1" dirty="0">
                <a:solidFill>
                  <a:srgbClr val="24477D"/>
                </a:solidFill>
                <a:latin typeface="微软雅黑" panose="020B0503020204020204" pitchFamily="34" charset="-122"/>
                <a:ea typeface="微软雅黑" panose="020B0503020204020204" pitchFamily="34" charset="-122"/>
                <a:cs typeface="Noto Sans CJK SC" pitchFamily="34" charset="-120"/>
              </a:rPr>
              <a:t>算法进入 episode 循环后，在每个时间步重复“采样—评价—更新”。</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算法3-1 Actor-Critic：单步更新与终止</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473784" y="1837435"/>
            <a:ext cx="5453232" cy="1234440"/>
          </a:xfrm>
          <a:prstGeom prst="roundRect">
            <a:avLst/>
          </a:prstGeom>
          <a:solidFill>
            <a:srgbClr val="FFFFFF"/>
          </a:solidFill>
          <a:ln w="12700">
            <a:solidFill>
              <a:srgbClr val="D6DCE6"/>
            </a:solidFill>
            <a:prstDash val="solid"/>
          </a:ln>
        </p:spPr>
      </p:sp>
      <p:pic>
        <p:nvPicPr>
          <p:cNvPr id="5" name="Image 0" descr="/mnt/data/ch3_formula_clean/eq-ac-td-done.png"/>
          <p:cNvPicPr>
            <a:picLocks noChangeAspect="1"/>
          </p:cNvPicPr>
          <p:nvPr/>
        </p:nvPicPr>
        <p:blipFill>
          <a:blip r:embed="rId3"/>
          <a:srcRect l="26013" t="17799" r="25473" b="29358"/>
          <a:stretch>
            <a:fillRect/>
          </a:stretch>
        </p:blipFill>
        <p:spPr>
          <a:xfrm>
            <a:off x="772160" y="2016506"/>
            <a:ext cx="4646784" cy="670814"/>
          </a:xfrm>
          <a:prstGeom prst="rect">
            <a:avLst/>
          </a:prstGeom>
        </p:spPr>
      </p:pic>
      <p:sp>
        <p:nvSpPr>
          <p:cNvPr id="6" name="Text 3"/>
          <p:cNvSpPr/>
          <p:nvPr/>
        </p:nvSpPr>
        <p:spPr>
          <a:xfrm>
            <a:off x="6053328" y="1609344"/>
            <a:ext cx="5404104" cy="2896616"/>
          </a:xfrm>
          <a:prstGeom prst="rect">
            <a:avLst/>
          </a:prstGeom>
          <a:noFill/>
          <a:ln/>
        </p:spPr>
        <p:txBody>
          <a:bodyPr wrap="square" lIns="635" tIns="635" rIns="635" bIns="635" rtlCol="0" anchor="t">
            <a:noAutofit/>
          </a:bodyPr>
          <a:lstStyle/>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根据策略 πθ(a|s) 选择动作 a。</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执行动作，观察奖励 r、下一状态 s′ 与终止标志 done。</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计算带终止标志的 TD 误差。</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更新策略参数 θ 与价值函数参数 ω。</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Times New Roman" panose="02020603050405020304" pitchFamily="18" charset="0"/>
              </a:rPr>
              <a:t>设置 s←s′，直到 done=True；最终输出优化后的策略。</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 4"/>
          <p:cNvSpPr/>
          <p:nvPr/>
        </p:nvSpPr>
        <p:spPr>
          <a:xfrm>
            <a:off x="6233160" y="4456684"/>
            <a:ext cx="4582160" cy="862075"/>
          </a:xfrm>
          <a:prstGeom prst="rect">
            <a:avLst/>
          </a:prstGeom>
          <a:noFill/>
          <a:ln/>
        </p:spPr>
        <p:txBody>
          <a:bodyPr wrap="square" lIns="0" tIns="0" rIns="0" bIns="0" rtlCol="0" anchor="ctr">
            <a:normAutofit/>
          </a:bodyPr>
          <a:lstStyle/>
          <a:p>
            <a:pPr marL="0" indent="0" algn="ctr">
              <a:buNone/>
            </a:pPr>
            <a:r>
              <a:rPr lang="zh-CN" altLang="en-US" sz="2000" b="1" dirty="0">
                <a:solidFill>
                  <a:srgbClr val="24477D"/>
                </a:solidFill>
                <a:latin typeface="微软雅黑" panose="020B0503020204020204" pitchFamily="34" charset="-122"/>
                <a:ea typeface="微软雅黑" panose="020B0503020204020204" pitchFamily="34" charset="-122"/>
              </a:rPr>
              <a:t>注：</a:t>
            </a:r>
            <a:r>
              <a:rPr lang="en-US" sz="2000" b="1" dirty="0" err="1">
                <a:solidFill>
                  <a:srgbClr val="24477D"/>
                </a:solidFill>
                <a:latin typeface="微软雅黑" panose="020B0503020204020204" pitchFamily="34" charset="-122"/>
                <a:ea typeface="微软雅黑" panose="020B0503020204020204" pitchFamily="34" charset="-122"/>
              </a:rPr>
              <a:t>价值函数更新采用半梯度</a:t>
            </a:r>
            <a:r>
              <a:rPr lang="en-US" sz="2000" b="1" dirty="0">
                <a:solidFill>
                  <a:srgbClr val="24477D"/>
                </a:solidFill>
                <a:latin typeface="微软雅黑" panose="020B0503020204020204" pitchFamily="34" charset="-122"/>
                <a:ea typeface="微软雅黑" panose="020B0503020204020204" pitchFamily="34" charset="-122"/>
              </a:rPr>
              <a:t> TD(0)，</a:t>
            </a:r>
            <a:r>
              <a:rPr lang="en-US" sz="2000" b="1" dirty="0" err="1">
                <a:solidFill>
                  <a:srgbClr val="24477D"/>
                </a:solidFill>
                <a:latin typeface="微软雅黑" panose="020B0503020204020204" pitchFamily="34" charset="-122"/>
                <a:ea typeface="微软雅黑" panose="020B0503020204020204" pitchFamily="34" charset="-122"/>
              </a:rPr>
              <a:t>忽略</a:t>
            </a:r>
            <a:r>
              <a:rPr lang="en-US" sz="2000" b="1" dirty="0">
                <a:solidFill>
                  <a:srgbClr val="24477D"/>
                </a:solidFill>
                <a:latin typeface="微软雅黑" panose="020B0503020204020204" pitchFamily="34" charset="-122"/>
                <a:ea typeface="微软雅黑" panose="020B0503020204020204" pitchFamily="34" charset="-122"/>
              </a:rPr>
              <a:t> δ 中 </a:t>
            </a:r>
            <a:r>
              <a:rPr lang="en-US" sz="2000" b="1" dirty="0" err="1">
                <a:solidFill>
                  <a:srgbClr val="24477D"/>
                </a:solidFill>
                <a:latin typeface="微软雅黑" panose="020B0503020204020204" pitchFamily="34" charset="-122"/>
                <a:ea typeface="微软雅黑" panose="020B0503020204020204" pitchFamily="34" charset="-122"/>
              </a:rPr>
              <a:t>V</a:t>
            </a:r>
            <a:r>
              <a:rPr lang="en-US" sz="2000" b="1" baseline="-25000" dirty="0" err="1">
                <a:solidFill>
                  <a:srgbClr val="24477D"/>
                </a:solidFill>
                <a:latin typeface="微软雅黑" panose="020B0503020204020204" pitchFamily="34" charset="-122"/>
                <a:ea typeface="微软雅黑" panose="020B0503020204020204" pitchFamily="34" charset="-122"/>
              </a:rPr>
              <a:t>ω</a:t>
            </a:r>
            <a:r>
              <a:rPr lang="en-US" sz="2000" b="1" dirty="0">
                <a:solidFill>
                  <a:srgbClr val="24477D"/>
                </a:solidFill>
                <a:latin typeface="微软雅黑" panose="020B0503020204020204" pitchFamily="34" charset="-122"/>
                <a:ea typeface="微软雅黑" panose="020B0503020204020204" pitchFamily="34" charset="-122"/>
              </a:rPr>
              <a:t>(s′) 对 ω </a:t>
            </a:r>
            <a:r>
              <a:rPr lang="en-US" sz="2000" b="1" dirty="0" err="1">
                <a:solidFill>
                  <a:srgbClr val="24477D"/>
                </a:solidFill>
                <a:latin typeface="微软雅黑" panose="020B0503020204020204" pitchFamily="34" charset="-122"/>
                <a:ea typeface="微软雅黑" panose="020B0503020204020204" pitchFamily="34" charset="-122"/>
              </a:rPr>
              <a:t>的梯度依赖</a:t>
            </a:r>
            <a:r>
              <a:rPr lang="en-US" sz="2000"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3.4.2 A3C</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45920"/>
            <a:ext cx="5669280" cy="438912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A3C（Asynchronous Advantage Actor-Critic）是 Actor-Critic 的典型扩展。</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通过多个智能体并行与各自环境互动，并异步更新共享模型。</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并行采样可降低数据相关性并加速训练，尤其适合游戏等高维环境。</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A3C 无须经验回放，但异步更新可能引入噪声。</a:t>
            </a:r>
            <a:endParaRPr lang="en-US" sz="2800" dirty="0">
              <a:latin typeface="微软雅黑" panose="020B0503020204020204" pitchFamily="34" charset="-122"/>
              <a:ea typeface="微软雅黑" panose="020B0503020204020204" pitchFamily="34" charset="-122"/>
            </a:endParaRPr>
          </a:p>
        </p:txBody>
      </p:sp>
      <p:pic>
        <p:nvPicPr>
          <p:cNvPr id="5" name="Image 0" descr="/mnt/data/ch3_pdfimages/img-019.png"/>
          <p:cNvPicPr>
            <a:picLocks noChangeAspect="1"/>
          </p:cNvPicPr>
          <p:nvPr/>
        </p:nvPicPr>
        <p:blipFill>
          <a:blip r:embed="rId3"/>
          <a:stretch>
            <a:fillRect/>
          </a:stretch>
        </p:blipFill>
        <p:spPr>
          <a:xfrm>
            <a:off x="6575552" y="1879998"/>
            <a:ext cx="5154544" cy="3194921"/>
          </a:xfrm>
          <a:prstGeom prst="rect">
            <a:avLst/>
          </a:prstGeom>
        </p:spPr>
      </p:pic>
      <p:sp>
        <p:nvSpPr>
          <p:cNvPr id="6" name="Text 3"/>
          <p:cNvSpPr/>
          <p:nvPr/>
        </p:nvSpPr>
        <p:spPr>
          <a:xfrm>
            <a:off x="6920992" y="5404103"/>
            <a:ext cx="4572000" cy="256032"/>
          </a:xfrm>
          <a:prstGeom prst="rect">
            <a:avLst/>
          </a:prstGeom>
          <a:noFill/>
          <a:ln/>
        </p:spPr>
        <p:txBody>
          <a:bodyPr wrap="square" lIns="0" tIns="0" rIns="0" bIns="0" rtlCol="0" anchor="ctr">
            <a:normAutofit/>
          </a:bodyPr>
          <a:lstStyle/>
          <a:p>
            <a:pPr algn="ctr"/>
            <a:r>
              <a:rPr lang="en-US" sz="1600" b="1" dirty="0">
                <a:solidFill>
                  <a:schemeClr val="accent1">
                    <a:lumMod val="50000"/>
                  </a:schemeClr>
                </a:solidFill>
                <a:latin typeface="微软雅黑" panose="020B0503020204020204" pitchFamily="34" charset="-122"/>
                <a:ea typeface="微软雅黑" panose="020B0503020204020204" pitchFamily="34" charset="-122"/>
              </a:rPr>
              <a:t>A3C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算法框架</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A3C的“多 Actor + 共享参数”结构</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19.png"/>
          <p:cNvPicPr>
            <a:picLocks noChangeAspect="1"/>
          </p:cNvPicPr>
          <p:nvPr/>
        </p:nvPicPr>
        <p:blipFill>
          <a:blip r:embed="rId3"/>
          <a:stretch>
            <a:fillRect/>
          </a:stretch>
        </p:blipFill>
        <p:spPr>
          <a:xfrm>
            <a:off x="841248" y="1787302"/>
            <a:ext cx="6492240" cy="4024060"/>
          </a:xfrm>
          <a:prstGeom prst="rect">
            <a:avLst/>
          </a:prstGeom>
        </p:spPr>
      </p:pic>
      <p:sp>
        <p:nvSpPr>
          <p:cNvPr id="6" name="Shape 3"/>
          <p:cNvSpPr/>
          <p:nvPr/>
        </p:nvSpPr>
        <p:spPr>
          <a:xfrm>
            <a:off x="7635240" y="1691640"/>
            <a:ext cx="3493008"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635240" y="1691640"/>
            <a:ext cx="64008" cy="1234440"/>
          </a:xfrm>
          <a:prstGeom prst="rect">
            <a:avLst/>
          </a:prstGeom>
          <a:solidFill>
            <a:srgbClr val="31599B"/>
          </a:solidFill>
          <a:ln w="12700">
            <a:solidFill>
              <a:srgbClr val="31599B"/>
            </a:solidFill>
            <a:prstDash val="solid"/>
          </a:ln>
        </p:spPr>
      </p:sp>
      <p:sp>
        <p:nvSpPr>
          <p:cNvPr id="8" name="Text 5"/>
          <p:cNvSpPr/>
          <p:nvPr/>
        </p:nvSpPr>
        <p:spPr>
          <a:xfrm>
            <a:off x="7845552" y="1837944"/>
            <a:ext cx="310896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多环境并行</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7845552" y="2258568"/>
            <a:ext cx="3108960" cy="52120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多个 Actor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各自与环境交互</a:t>
            </a:r>
            <a:endParaRPr lang="en-US" sz="2000" dirty="0">
              <a:latin typeface="微软雅黑" panose="020B0503020204020204" pitchFamily="34" charset="-122"/>
              <a:ea typeface="微软雅黑" panose="020B0503020204020204" pitchFamily="34" charset="-122"/>
            </a:endParaRPr>
          </a:p>
        </p:txBody>
      </p:sp>
      <p:sp>
        <p:nvSpPr>
          <p:cNvPr id="10" name="Shape 7"/>
          <p:cNvSpPr/>
          <p:nvPr/>
        </p:nvSpPr>
        <p:spPr>
          <a:xfrm>
            <a:off x="7635240" y="3090672"/>
            <a:ext cx="3493008"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635240" y="3090672"/>
            <a:ext cx="64008" cy="1234440"/>
          </a:xfrm>
          <a:prstGeom prst="rect">
            <a:avLst/>
          </a:prstGeom>
          <a:solidFill>
            <a:srgbClr val="2F8E72"/>
          </a:solidFill>
          <a:ln w="12700">
            <a:solidFill>
              <a:srgbClr val="2F8E72"/>
            </a:solidFill>
            <a:prstDash val="solid"/>
          </a:ln>
        </p:spPr>
      </p:sp>
      <p:sp>
        <p:nvSpPr>
          <p:cNvPr id="12" name="Text 9"/>
          <p:cNvSpPr/>
          <p:nvPr/>
        </p:nvSpPr>
        <p:spPr>
          <a:xfrm>
            <a:off x="7845552" y="3236976"/>
            <a:ext cx="310896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异步更新</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7845552" y="3657600"/>
            <a:ext cx="3108960" cy="758952"/>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各 Actor 将梯度用于共享参数更新。</a:t>
            </a:r>
            <a:endParaRPr lang="en-US" sz="2000" dirty="0">
              <a:latin typeface="微软雅黑" panose="020B0503020204020204" pitchFamily="34" charset="-122"/>
              <a:ea typeface="微软雅黑" panose="020B0503020204020204" pitchFamily="34" charset="-122"/>
            </a:endParaRPr>
          </a:p>
        </p:txBody>
      </p:sp>
      <p:sp>
        <p:nvSpPr>
          <p:cNvPr id="14" name="Shape 11"/>
          <p:cNvSpPr/>
          <p:nvPr/>
        </p:nvSpPr>
        <p:spPr>
          <a:xfrm>
            <a:off x="7635240" y="4489704"/>
            <a:ext cx="3493008"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7635240" y="4489704"/>
            <a:ext cx="64008" cy="1234440"/>
          </a:xfrm>
          <a:prstGeom prst="rect">
            <a:avLst/>
          </a:prstGeom>
          <a:solidFill>
            <a:srgbClr val="C58A24"/>
          </a:solidFill>
          <a:ln w="12700">
            <a:solidFill>
              <a:srgbClr val="C58A24"/>
            </a:solidFill>
            <a:prstDash val="solid"/>
          </a:ln>
        </p:spPr>
      </p:sp>
      <p:sp>
        <p:nvSpPr>
          <p:cNvPr id="16" name="Text 13"/>
          <p:cNvSpPr/>
          <p:nvPr/>
        </p:nvSpPr>
        <p:spPr>
          <a:xfrm>
            <a:off x="7845552" y="4636008"/>
            <a:ext cx="310896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降低相关性</a:t>
            </a:r>
            <a:endParaRPr lang="en-US" sz="2400" dirty="0">
              <a:latin typeface="微软雅黑" panose="020B0503020204020204" pitchFamily="34" charset="-122"/>
              <a:ea typeface="微软雅黑" panose="020B0503020204020204" pitchFamily="34" charset="-122"/>
            </a:endParaRPr>
          </a:p>
        </p:txBody>
      </p:sp>
      <p:sp>
        <p:nvSpPr>
          <p:cNvPr id="17" name="Text 14"/>
          <p:cNvSpPr/>
          <p:nvPr/>
        </p:nvSpPr>
        <p:spPr>
          <a:xfrm>
            <a:off x="7845552" y="5056632"/>
            <a:ext cx="3108960" cy="66751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通过并行经验减少连续样本之间的强相关。</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A3C</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n步优势估计</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54380" y="1694364"/>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A3C 采用 n 步回报，把多步奖励与 n 步后的状态价值结合起来。</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597152" y="2584734"/>
            <a:ext cx="7635240" cy="988891"/>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9.png"/>
          <p:cNvPicPr>
            <a:picLocks noChangeAspect="1"/>
          </p:cNvPicPr>
          <p:nvPr/>
        </p:nvPicPr>
        <p:blipFill>
          <a:blip r:embed="rId3"/>
          <a:srcRect l="24262" t="13885" r="24613" b="9981"/>
          <a:stretch>
            <a:fillRect/>
          </a:stretch>
        </p:blipFill>
        <p:spPr>
          <a:xfrm>
            <a:off x="3073400" y="2584735"/>
            <a:ext cx="5049520" cy="975175"/>
          </a:xfrm>
          <a:prstGeom prst="rect">
            <a:avLst/>
          </a:prstGeom>
        </p:spPr>
      </p:pic>
      <p:sp>
        <p:nvSpPr>
          <p:cNvPr id="13" name="Shape 10"/>
          <p:cNvSpPr/>
          <p:nvPr/>
        </p:nvSpPr>
        <p:spPr>
          <a:xfrm>
            <a:off x="737616" y="5467096"/>
            <a:ext cx="10716768" cy="822959"/>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20496" y="5640831"/>
            <a:ext cx="10241280" cy="539497"/>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A3C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常加入熵项促进探索；异步噪声可通过梯度裁剪缓解</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75</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2D33164F-861D-0A73-5890-5C28B046EF00}"/>
              </a:ext>
            </a:extLst>
          </p:cNvPr>
          <p:cNvSpPr/>
          <p:nvPr/>
        </p:nvSpPr>
        <p:spPr>
          <a:xfrm>
            <a:off x="847196" y="398899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0B7A90C4-0FD8-8145-B81A-E5ED4AFF53A4}"/>
              </a:ext>
            </a:extLst>
          </p:cNvPr>
          <p:cNvSpPr/>
          <p:nvPr/>
        </p:nvSpPr>
        <p:spPr>
          <a:xfrm>
            <a:off x="2343800" y="3970219"/>
            <a:ext cx="8707232" cy="819054"/>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n：回看</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前视步数</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rₜ₊ₖ：</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后续奖励</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V(sₜ₊ₙ)：n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步后的价值</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A3C 的特点</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2486152"/>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64208"/>
            <a:ext cx="64008" cy="2486152"/>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并行</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500376"/>
            <a:ext cx="2862072" cy="136042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多个智能体独立采样，提升数据生成速度。</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425696" y="1664208"/>
            <a:ext cx="3246120" cy="2486152"/>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25696" y="1664208"/>
            <a:ext cx="64008" cy="2486152"/>
          </a:xfrm>
          <a:prstGeom prst="rect">
            <a:avLst/>
          </a:prstGeom>
          <a:solidFill>
            <a:srgbClr val="2F8E72"/>
          </a:solidFill>
          <a:ln w="12700">
            <a:solidFill>
              <a:srgbClr val="2F8E72"/>
            </a:solidFill>
            <a:prstDash val="solid"/>
          </a:ln>
        </p:spPr>
      </p:sp>
      <p:sp>
        <p:nvSpPr>
          <p:cNvPr id="10" name="Text 8"/>
          <p:cNvSpPr/>
          <p:nvPr/>
        </p:nvSpPr>
        <p:spPr>
          <a:xfrm>
            <a:off x="4636008"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异步</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36008" y="2500376"/>
            <a:ext cx="2862072" cy="124358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各智能体异步更新共享参数，减少数据相关性。</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64208"/>
            <a:ext cx="3246120" cy="2486152"/>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01584" y="1664208"/>
            <a:ext cx="64008" cy="2486152"/>
          </a:xfrm>
          <a:prstGeom prst="rect">
            <a:avLst/>
          </a:prstGeom>
          <a:solidFill>
            <a:srgbClr val="C58A24"/>
          </a:solidFill>
          <a:ln w="12700">
            <a:solidFill>
              <a:srgbClr val="C58A24"/>
            </a:solidFill>
            <a:prstDash val="solid"/>
          </a:ln>
        </p:spPr>
      </p:sp>
      <p:sp>
        <p:nvSpPr>
          <p:cNvPr id="14" name="Text 12"/>
          <p:cNvSpPr/>
          <p:nvPr/>
        </p:nvSpPr>
        <p:spPr>
          <a:xfrm>
            <a:off x="8311896"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无经验回放</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500376"/>
            <a:ext cx="2862072" cy="177698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 A3C 无须经验回放；代价是异步更新可能引入额外噪声。</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30352" y="54152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SAC</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45920"/>
            <a:ext cx="10241280" cy="259080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SAC（Soft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Actor-Critic）引入最大熵框架</a:t>
            </a:r>
            <a:r>
              <a:rPr lang="zh-CN" alt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，提升连续动作探索能力</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除了追求任务回报，还鼓励策略保持一定随机性，从而提升探索能力</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采用离策略模式、经验回放和双 Q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网络以缓解过估计</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适用于连续动作机器人任务，如四足步态优化</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621792"/>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SAC 的优化目标：回报 + 策略熵</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572768"/>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SAC 在累积奖励之外加入策略熵 H，鼓励更充分的探索。</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732280" y="2491740"/>
            <a:ext cx="5872352" cy="108204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10.png"/>
          <p:cNvPicPr>
            <a:picLocks noChangeAspect="1"/>
          </p:cNvPicPr>
          <p:nvPr/>
        </p:nvPicPr>
        <p:blipFill>
          <a:blip r:embed="rId3"/>
          <a:srcRect l="25457" t="15252" r="24050" b="14646"/>
          <a:stretch>
            <a:fillRect/>
          </a:stretch>
        </p:blipFill>
        <p:spPr>
          <a:xfrm>
            <a:off x="1976120" y="2624328"/>
            <a:ext cx="5628512" cy="853440"/>
          </a:xfrm>
          <a:prstGeom prst="rect">
            <a:avLst/>
          </a:prstGeom>
        </p:spPr>
      </p:pic>
      <p:sp>
        <p:nvSpPr>
          <p:cNvPr id="13" name="Shape 10"/>
          <p:cNvSpPr/>
          <p:nvPr/>
        </p:nvSpPr>
        <p:spPr>
          <a:xfrm>
            <a:off x="713232" y="5051224"/>
            <a:ext cx="10716768" cy="89001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96112" y="5136568"/>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α 用于平衡“获得高回报”与“保持策略随机性”。</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78</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4A50CA54-73E0-B86E-17FA-3306F254F626}"/>
              </a:ext>
            </a:extLst>
          </p:cNvPr>
          <p:cNvSpPr/>
          <p:nvPr/>
        </p:nvSpPr>
        <p:spPr>
          <a:xfrm>
            <a:off x="847196" y="398899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F17B6DB8-3CE4-6612-3E50-723D4A92583C}"/>
              </a:ext>
            </a:extLst>
          </p:cNvPr>
          <p:cNvSpPr/>
          <p:nvPr/>
        </p:nvSpPr>
        <p:spPr>
          <a:xfrm>
            <a:off x="2343800" y="3964982"/>
            <a:ext cx="8707232" cy="819054"/>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H：策略熵</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α：</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熵系数</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r(</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sₜ,a</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ₜ)：</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即时奖励</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SAC 的软贝尔曼备份</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Shape 3"/>
          <p:cNvSpPr/>
          <p:nvPr/>
        </p:nvSpPr>
        <p:spPr>
          <a:xfrm>
            <a:off x="631952" y="1583945"/>
            <a:ext cx="7269480" cy="1314703"/>
          </a:xfrm>
          <a:prstGeom prst="roundRect">
            <a:avLst>
              <a:gd name="adj" fmla="val 2294"/>
            </a:avLst>
          </a:prstGeom>
          <a:solidFill>
            <a:srgbClr val="FFFFFF"/>
          </a:solidFill>
          <a:ln w="12700">
            <a:solidFill>
              <a:srgbClr val="D6DCE6"/>
            </a:solidFill>
            <a:prstDash val="solid"/>
          </a:ln>
        </p:spPr>
      </p:sp>
      <p:sp>
        <p:nvSpPr>
          <p:cNvPr id="6" name="Text 4"/>
          <p:cNvSpPr/>
          <p:nvPr/>
        </p:nvSpPr>
        <p:spPr>
          <a:xfrm>
            <a:off x="932688" y="1755648"/>
            <a:ext cx="3044952" cy="216463"/>
          </a:xfrm>
          <a:prstGeom prst="rect">
            <a:avLst/>
          </a:prstGeom>
          <a:noFill/>
          <a:ln/>
        </p:spPr>
        <p:txBody>
          <a:bodyPr wrap="square" lIns="0" tIns="0" rIns="0" bIns="0" rtlCol="0" anchor="ct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动作价值更新关系</a:t>
            </a:r>
            <a:endParaRPr lang="en-US" sz="2400" dirty="0">
              <a:latin typeface="微软雅黑" panose="020B0503020204020204" pitchFamily="34" charset="-122"/>
              <a:ea typeface="微软雅黑" panose="020B0503020204020204" pitchFamily="34" charset="-122"/>
            </a:endParaRPr>
          </a:p>
        </p:txBody>
      </p:sp>
      <p:pic>
        <p:nvPicPr>
          <p:cNvPr id="7" name="Image 0" descr="/mnt/data/ch3_formula_clean/eq-3-11.png"/>
          <p:cNvPicPr>
            <a:picLocks noChangeAspect="1"/>
          </p:cNvPicPr>
          <p:nvPr/>
        </p:nvPicPr>
        <p:blipFill>
          <a:blip r:embed="rId3"/>
          <a:srcRect l="29054" t="24126" r="28228" b="31518"/>
          <a:stretch>
            <a:fillRect/>
          </a:stretch>
        </p:blipFill>
        <p:spPr>
          <a:xfrm>
            <a:off x="1960880" y="2081838"/>
            <a:ext cx="4053840" cy="641206"/>
          </a:xfrm>
          <a:prstGeom prst="rect">
            <a:avLst/>
          </a:prstGeom>
        </p:spPr>
      </p:pic>
      <p:sp>
        <p:nvSpPr>
          <p:cNvPr id="8" name="Shape 5"/>
          <p:cNvSpPr/>
          <p:nvPr/>
        </p:nvSpPr>
        <p:spPr>
          <a:xfrm>
            <a:off x="8229600" y="1627632"/>
            <a:ext cx="3200400" cy="1993392"/>
          </a:xfrm>
          <a:prstGeom prst="roundRect">
            <a:avLst>
              <a:gd name="adj" fmla="val 2294"/>
            </a:avLst>
          </a:prstGeom>
          <a:solidFill>
            <a:srgbClr val="EDF2FA"/>
          </a:solidFill>
          <a:ln w="12700">
            <a:solidFill>
              <a:srgbClr val="E0E5ED"/>
            </a:solidFill>
            <a:prstDash val="solid"/>
          </a:ln>
          <a:effectLst>
            <a:outerShdw blurRad="12700" dist="4445" dir="2700000" algn="bl" rotWithShape="0">
              <a:srgbClr val="000000">
                <a:alpha val="8000"/>
              </a:srgbClr>
            </a:outerShdw>
          </a:effectLst>
        </p:spPr>
      </p:sp>
      <p:sp>
        <p:nvSpPr>
          <p:cNvPr id="9" name="Shape 6"/>
          <p:cNvSpPr/>
          <p:nvPr/>
        </p:nvSpPr>
        <p:spPr>
          <a:xfrm>
            <a:off x="8229600" y="1627632"/>
            <a:ext cx="64008" cy="1993392"/>
          </a:xfrm>
          <a:prstGeom prst="rect">
            <a:avLst/>
          </a:prstGeom>
          <a:solidFill>
            <a:srgbClr val="31599B"/>
          </a:solidFill>
          <a:ln w="12700">
            <a:solidFill>
              <a:srgbClr val="31599B"/>
            </a:solidFill>
            <a:prstDash val="solid"/>
          </a:ln>
        </p:spPr>
      </p:sp>
      <p:sp>
        <p:nvSpPr>
          <p:cNvPr id="10" name="Text 7"/>
          <p:cNvSpPr/>
          <p:nvPr/>
        </p:nvSpPr>
        <p:spPr>
          <a:xfrm>
            <a:off x="8439912" y="1773936"/>
            <a:ext cx="281635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理解要点</a:t>
            </a:r>
            <a:endParaRPr lang="en-US" sz="2400" dirty="0">
              <a:latin typeface="微软雅黑" panose="020B0503020204020204" pitchFamily="34" charset="-122"/>
              <a:ea typeface="微软雅黑" panose="020B0503020204020204" pitchFamily="34" charset="-122"/>
            </a:endParaRPr>
          </a:p>
        </p:txBody>
      </p:sp>
      <p:sp>
        <p:nvSpPr>
          <p:cNvPr id="11" name="Text 8"/>
          <p:cNvSpPr/>
          <p:nvPr/>
        </p:nvSpPr>
        <p:spPr>
          <a:xfrm>
            <a:off x="8439912" y="2194560"/>
            <a:ext cx="2816352" cy="128016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Q(s,a) 由即时奖励与下一状态的软价值共同决定。</a:t>
            </a:r>
            <a:endParaRPr lang="en-US" sz="2400" dirty="0">
              <a:latin typeface="微软雅黑" panose="020B0503020204020204" pitchFamily="34" charset="-122"/>
              <a:ea typeface="微软雅黑" panose="020B0503020204020204" pitchFamily="34" charset="-122"/>
            </a:endParaRPr>
          </a:p>
        </p:txBody>
      </p:sp>
      <p:sp>
        <p:nvSpPr>
          <p:cNvPr id="12" name="Shape 9"/>
          <p:cNvSpPr/>
          <p:nvPr/>
        </p:nvSpPr>
        <p:spPr>
          <a:xfrm>
            <a:off x="713232" y="3959352"/>
            <a:ext cx="7269480" cy="1405128"/>
          </a:xfrm>
          <a:prstGeom prst="roundRect">
            <a:avLst>
              <a:gd name="adj" fmla="val 2294"/>
            </a:avLst>
          </a:prstGeom>
          <a:solidFill>
            <a:srgbClr val="FFFFFF"/>
          </a:solidFill>
          <a:ln w="12700">
            <a:solidFill>
              <a:srgbClr val="D6DCE6"/>
            </a:solidFill>
            <a:prstDash val="solid"/>
          </a:ln>
        </p:spPr>
      </p:sp>
      <p:sp>
        <p:nvSpPr>
          <p:cNvPr id="13" name="Text 10"/>
          <p:cNvSpPr/>
          <p:nvPr/>
        </p:nvSpPr>
        <p:spPr>
          <a:xfrm>
            <a:off x="932688" y="4087368"/>
            <a:ext cx="2377440" cy="274320"/>
          </a:xfrm>
          <a:prstGeom prst="rect">
            <a:avLst/>
          </a:prstGeom>
          <a:noFill/>
          <a:ln/>
        </p:spPr>
        <p:txBody>
          <a:bodyPr wrap="square" lIns="0" tIns="0" rIns="0" bIns="0" rtlCol="0" anchor="ct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状态价值定义</a:t>
            </a:r>
            <a:endParaRPr lang="en-US" sz="2400" dirty="0">
              <a:latin typeface="微软雅黑" panose="020B0503020204020204" pitchFamily="34" charset="-122"/>
              <a:ea typeface="微软雅黑" panose="020B0503020204020204" pitchFamily="34" charset="-122"/>
            </a:endParaRPr>
          </a:p>
        </p:txBody>
      </p:sp>
      <p:pic>
        <p:nvPicPr>
          <p:cNvPr id="14" name="Image 1" descr="/mnt/data/ch3_formula_clean/eq-3-12.png"/>
          <p:cNvPicPr>
            <a:picLocks noChangeAspect="1"/>
          </p:cNvPicPr>
          <p:nvPr/>
        </p:nvPicPr>
        <p:blipFill>
          <a:blip r:embed="rId4"/>
          <a:srcRect l="27102" t="23603" r="26576" b="32501"/>
          <a:stretch>
            <a:fillRect/>
          </a:stretch>
        </p:blipFill>
        <p:spPr>
          <a:xfrm>
            <a:off x="2164079" y="4578150"/>
            <a:ext cx="4659175" cy="558799"/>
          </a:xfrm>
          <a:prstGeom prst="rect">
            <a:avLst/>
          </a:prstGeom>
        </p:spPr>
      </p:pic>
      <p:sp>
        <p:nvSpPr>
          <p:cNvPr id="15" name="Shape 11"/>
          <p:cNvSpPr/>
          <p:nvPr/>
        </p:nvSpPr>
        <p:spPr>
          <a:xfrm>
            <a:off x="8229600" y="3959352"/>
            <a:ext cx="3200400" cy="1993392"/>
          </a:xfrm>
          <a:prstGeom prst="roundRect">
            <a:avLst>
              <a:gd name="adj" fmla="val 2294"/>
            </a:avLst>
          </a:prstGeom>
          <a:solidFill>
            <a:srgbClr val="EAF5F1"/>
          </a:solidFill>
          <a:ln w="12700">
            <a:solidFill>
              <a:srgbClr val="E0E5ED"/>
            </a:solidFill>
            <a:prstDash val="solid"/>
          </a:ln>
          <a:effectLst>
            <a:outerShdw blurRad="12700" dist="4445" dir="2700000" algn="bl" rotWithShape="0">
              <a:srgbClr val="000000">
                <a:alpha val="8000"/>
              </a:srgbClr>
            </a:outerShdw>
          </a:effectLst>
        </p:spPr>
      </p:sp>
      <p:sp>
        <p:nvSpPr>
          <p:cNvPr id="16" name="Shape 12"/>
          <p:cNvSpPr/>
          <p:nvPr/>
        </p:nvSpPr>
        <p:spPr>
          <a:xfrm>
            <a:off x="8229600" y="3959352"/>
            <a:ext cx="64008" cy="1993392"/>
          </a:xfrm>
          <a:prstGeom prst="rect">
            <a:avLst/>
          </a:prstGeom>
          <a:solidFill>
            <a:srgbClr val="2F8E72"/>
          </a:solidFill>
          <a:ln w="12700">
            <a:solidFill>
              <a:srgbClr val="2F8E72"/>
            </a:solidFill>
            <a:prstDash val="solid"/>
          </a:ln>
        </p:spPr>
      </p:sp>
      <p:sp>
        <p:nvSpPr>
          <p:cNvPr id="17" name="Text 13"/>
          <p:cNvSpPr/>
          <p:nvPr/>
        </p:nvSpPr>
        <p:spPr>
          <a:xfrm>
            <a:off x="8439912" y="4105656"/>
            <a:ext cx="281635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理解要点</a:t>
            </a:r>
            <a:endParaRPr lang="en-US" sz="2400" dirty="0">
              <a:latin typeface="微软雅黑" panose="020B0503020204020204" pitchFamily="34" charset="-122"/>
              <a:ea typeface="微软雅黑" panose="020B0503020204020204" pitchFamily="34" charset="-122"/>
            </a:endParaRPr>
          </a:p>
        </p:txBody>
      </p:sp>
      <p:sp>
        <p:nvSpPr>
          <p:cNvPr id="18" name="Text 14"/>
          <p:cNvSpPr/>
          <p:nvPr/>
        </p:nvSpPr>
        <p:spPr>
          <a:xfrm>
            <a:off x="8439912" y="4526280"/>
            <a:ext cx="2816352" cy="128016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V(s) 同时考虑 Q 值与策略熵项 -αlogπ(</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a|s</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SAC 的训练机制：离策略 + 经验回放 + 双 Q</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52044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64208"/>
            <a:ext cx="64008" cy="3520440"/>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离策略</a:t>
            </a:r>
            <a:endParaRPr lang="en-US" sz="2400" dirty="0">
              <a:latin typeface="微软雅黑" panose="020B0503020204020204" pitchFamily="34" charset="-122"/>
            </a:endParaRPr>
          </a:p>
        </p:txBody>
      </p:sp>
      <p:sp>
        <p:nvSpPr>
          <p:cNvPr id="7" name="Text 5"/>
          <p:cNvSpPr/>
          <p:nvPr/>
        </p:nvSpPr>
        <p:spPr>
          <a:xfrm>
            <a:off x="960120" y="2429256"/>
            <a:ext cx="2862072" cy="806704"/>
          </a:xfrm>
          <a:prstGeom prst="rect">
            <a:avLst/>
          </a:prstGeom>
          <a:noFill/>
          <a:ln/>
        </p:spPr>
        <p:txBody>
          <a:bodyPr wrap="square" lIns="254" tIns="254" rIns="254" bIns="254" rtlCol="0" anchor="t">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新旧交互数据均可用于训练，提高样本复用率。</a:t>
            </a:r>
            <a:endParaRPr lang="en-US" sz="2400" dirty="0">
              <a:latin typeface="微软雅黑" panose="020B0503020204020204" pitchFamily="34" charset="-122"/>
            </a:endParaRPr>
          </a:p>
        </p:txBody>
      </p:sp>
      <p:sp>
        <p:nvSpPr>
          <p:cNvPr id="8" name="Shape 6"/>
          <p:cNvSpPr/>
          <p:nvPr/>
        </p:nvSpPr>
        <p:spPr>
          <a:xfrm>
            <a:off x="4425696" y="1664208"/>
            <a:ext cx="3246120" cy="352044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25696" y="1664208"/>
            <a:ext cx="64008" cy="3520440"/>
          </a:xfrm>
          <a:prstGeom prst="rect">
            <a:avLst/>
          </a:prstGeom>
          <a:solidFill>
            <a:srgbClr val="2F8E72"/>
          </a:solidFill>
          <a:ln w="12700">
            <a:solidFill>
              <a:srgbClr val="2F8E72"/>
            </a:solidFill>
            <a:prstDash val="solid"/>
          </a:ln>
        </p:spPr>
      </p:sp>
      <p:sp>
        <p:nvSpPr>
          <p:cNvPr id="10" name="Text 8"/>
          <p:cNvSpPr/>
          <p:nvPr/>
        </p:nvSpPr>
        <p:spPr>
          <a:xfrm>
            <a:off x="4636008"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经验回放</a:t>
            </a:r>
            <a:endParaRPr lang="en-US" sz="2400" dirty="0">
              <a:latin typeface="微软雅黑" panose="020B0503020204020204" pitchFamily="34" charset="-122"/>
            </a:endParaRPr>
          </a:p>
        </p:txBody>
      </p:sp>
      <p:sp>
        <p:nvSpPr>
          <p:cNvPr id="11" name="Text 9"/>
          <p:cNvSpPr/>
          <p:nvPr/>
        </p:nvSpPr>
        <p:spPr>
          <a:xfrm>
            <a:off x="4636008" y="2429256"/>
            <a:ext cx="2862072" cy="933704"/>
          </a:xfrm>
          <a:prstGeom prst="rect">
            <a:avLst/>
          </a:prstGeom>
          <a:noFill/>
          <a:ln/>
        </p:spPr>
        <p:txBody>
          <a:bodyPr wrap="square" lIns="254" tIns="254" rIns="254" bIns="254" rtlCol="0" anchor="t">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将历史转移样本存入缓冲区，再随机抽取用于更新。</a:t>
            </a:r>
            <a:endParaRPr lang="en-US" sz="2400" dirty="0">
              <a:latin typeface="微软雅黑" panose="020B0503020204020204" pitchFamily="34" charset="-122"/>
            </a:endParaRPr>
          </a:p>
        </p:txBody>
      </p:sp>
      <p:sp>
        <p:nvSpPr>
          <p:cNvPr id="12" name="Shape 10"/>
          <p:cNvSpPr/>
          <p:nvPr/>
        </p:nvSpPr>
        <p:spPr>
          <a:xfrm>
            <a:off x="8101584" y="1664208"/>
            <a:ext cx="3246120" cy="352044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01584" y="1664208"/>
            <a:ext cx="64008" cy="3520440"/>
          </a:xfrm>
          <a:prstGeom prst="rect">
            <a:avLst/>
          </a:prstGeom>
          <a:solidFill>
            <a:srgbClr val="C58A24"/>
          </a:solidFill>
          <a:ln w="12700">
            <a:solidFill>
              <a:srgbClr val="C58A24"/>
            </a:solidFill>
            <a:prstDash val="solid"/>
          </a:ln>
        </p:spPr>
      </p:sp>
      <p:sp>
        <p:nvSpPr>
          <p:cNvPr id="14" name="Text 12"/>
          <p:cNvSpPr/>
          <p:nvPr/>
        </p:nvSpPr>
        <p:spPr>
          <a:xfrm>
            <a:off x="8311896"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双 Q 网络</a:t>
            </a:r>
            <a:endParaRPr lang="en-US" sz="2400" dirty="0">
              <a:latin typeface="微软雅黑" panose="020B0503020204020204" pitchFamily="34" charset="-122"/>
            </a:endParaRPr>
          </a:p>
        </p:txBody>
      </p:sp>
      <p:sp>
        <p:nvSpPr>
          <p:cNvPr id="15" name="Text 13"/>
          <p:cNvSpPr/>
          <p:nvPr/>
        </p:nvSpPr>
        <p:spPr>
          <a:xfrm>
            <a:off x="8311896" y="2429256"/>
            <a:ext cx="2862072" cy="994664"/>
          </a:xfrm>
          <a:prstGeom prst="rect">
            <a:avLst/>
          </a:prstGeom>
          <a:noFill/>
          <a:ln/>
        </p:spPr>
        <p:txBody>
          <a:bodyPr wrap="square" lIns="254" tIns="254" rIns="254" bIns="254" rtlCol="0" anchor="t">
            <a:normAutofit lnSpcReduction="10000"/>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通过双 Q 机制降低过估计风险，改善 Critic 稳定性。</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SAC 在四足机器人上的训练效果</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20.png"/>
          <p:cNvPicPr>
            <a:picLocks noChangeAspect="1"/>
          </p:cNvPicPr>
          <p:nvPr/>
        </p:nvPicPr>
        <p:blipFill>
          <a:blip r:embed="rId3"/>
          <a:stretch>
            <a:fillRect/>
          </a:stretch>
        </p:blipFill>
        <p:spPr>
          <a:xfrm>
            <a:off x="794523" y="1508760"/>
            <a:ext cx="7692114" cy="4526280"/>
          </a:xfrm>
          <a:prstGeom prst="rect">
            <a:avLst/>
          </a:prstGeom>
        </p:spPr>
      </p:pic>
      <p:sp>
        <p:nvSpPr>
          <p:cNvPr id="5" name="Text 2"/>
          <p:cNvSpPr/>
          <p:nvPr/>
        </p:nvSpPr>
        <p:spPr>
          <a:xfrm>
            <a:off x="777240" y="6080760"/>
            <a:ext cx="7726680" cy="256032"/>
          </a:xfrm>
          <a:prstGeom prst="rect">
            <a:avLst/>
          </a:prstGeom>
          <a:noFill/>
          <a:ln/>
        </p:spPr>
        <p:txBody>
          <a:bodyPr wrap="square" lIns="0" tIns="0" rIns="0" bIns="0" rtlCol="0" anchor="ctr">
            <a:normAutofit/>
          </a:bodyPr>
          <a:lstStyle/>
          <a:p>
            <a:pPr algn="ctr"/>
            <a:r>
              <a:rPr lang="en-US" sz="1600" b="1" dirty="0">
                <a:solidFill>
                  <a:schemeClr val="accent1">
                    <a:lumMod val="50000"/>
                  </a:schemeClr>
                </a:solidFill>
                <a:latin typeface="微软雅黑" panose="020B0503020204020204" pitchFamily="34" charset="-122"/>
                <a:ea typeface="微软雅黑" panose="020B0503020204020204" pitchFamily="34" charset="-122"/>
              </a:rPr>
              <a:t>SAC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在四足机器人真机上的训练效果</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732520" y="1645920"/>
            <a:ext cx="2487168" cy="1645920"/>
          </a:xfrm>
          <a:prstGeom prst="roundRect">
            <a:avLst>
              <a:gd name="adj" fmla="val 277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8732520" y="1645920"/>
            <a:ext cx="64008" cy="1645920"/>
          </a:xfrm>
          <a:prstGeom prst="rect">
            <a:avLst/>
          </a:prstGeom>
          <a:solidFill>
            <a:srgbClr val="2F8E72"/>
          </a:solidFill>
          <a:ln w="12700">
            <a:solidFill>
              <a:srgbClr val="2F8E72"/>
            </a:solidFill>
            <a:prstDash val="solid"/>
          </a:ln>
        </p:spPr>
      </p:sp>
      <p:sp>
        <p:nvSpPr>
          <p:cNvPr id="8" name="Text 5"/>
          <p:cNvSpPr/>
          <p:nvPr/>
        </p:nvSpPr>
        <p:spPr>
          <a:xfrm>
            <a:off x="8942832" y="1792224"/>
            <a:ext cx="210312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平地</a:t>
            </a:r>
            <a:endParaRPr lang="en-US" sz="2400" dirty="0">
              <a:latin typeface="微软雅黑" panose="020B0503020204020204" pitchFamily="34" charset="-122"/>
            </a:endParaRPr>
          </a:p>
        </p:txBody>
      </p:sp>
      <p:sp>
        <p:nvSpPr>
          <p:cNvPr id="9" name="Text 6"/>
          <p:cNvSpPr/>
          <p:nvPr/>
        </p:nvSpPr>
        <p:spPr>
          <a:xfrm>
            <a:off x="8942832" y="2212848"/>
            <a:ext cx="2103120" cy="93268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约 16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万环境步学会行走</a:t>
            </a:r>
            <a:endParaRPr lang="en-US" sz="2000" dirty="0">
              <a:latin typeface="微软雅黑" panose="020B0503020204020204" pitchFamily="34" charset="-122"/>
            </a:endParaRPr>
          </a:p>
        </p:txBody>
      </p:sp>
      <p:sp>
        <p:nvSpPr>
          <p:cNvPr id="10" name="Shape 7"/>
          <p:cNvSpPr/>
          <p:nvPr/>
        </p:nvSpPr>
        <p:spPr>
          <a:xfrm>
            <a:off x="8732520" y="3493008"/>
            <a:ext cx="2487168" cy="1645920"/>
          </a:xfrm>
          <a:prstGeom prst="roundRect">
            <a:avLst>
              <a:gd name="adj" fmla="val 277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8732520" y="3493008"/>
            <a:ext cx="64008" cy="1645920"/>
          </a:xfrm>
          <a:prstGeom prst="rect">
            <a:avLst/>
          </a:prstGeom>
          <a:solidFill>
            <a:srgbClr val="C58A24"/>
          </a:solidFill>
          <a:ln w="12700">
            <a:solidFill>
              <a:srgbClr val="C58A24"/>
            </a:solidFill>
            <a:prstDash val="solid"/>
          </a:ln>
        </p:spPr>
      </p:sp>
      <p:sp>
        <p:nvSpPr>
          <p:cNvPr id="12" name="Text 9"/>
          <p:cNvSpPr/>
          <p:nvPr/>
        </p:nvSpPr>
        <p:spPr>
          <a:xfrm>
            <a:off x="8942832" y="3639312"/>
            <a:ext cx="210312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障碍地形</a:t>
            </a:r>
            <a:endParaRPr lang="en-US" sz="2400" dirty="0">
              <a:latin typeface="微软雅黑" panose="020B0503020204020204" pitchFamily="34" charset="-122"/>
            </a:endParaRPr>
          </a:p>
        </p:txBody>
      </p:sp>
      <p:sp>
        <p:nvSpPr>
          <p:cNvPr id="13" name="Text 10"/>
          <p:cNvSpPr/>
          <p:nvPr/>
        </p:nvSpPr>
        <p:spPr>
          <a:xfrm>
            <a:off x="8942832" y="4059936"/>
            <a:ext cx="2103120" cy="932688"/>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无需额外学习即可适应斜坡、障碍等多种地形</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3.4.3 PPO：通过剪切约束提高策略更新稳定性</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45920"/>
            <a:ext cx="10241280" cy="425196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PPO（Proximal Policy Optimization）由 OpenAI 于 2017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年提出</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在 TRPO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思想基础上简化，通过约束策略更新幅度避免新旧策略差异过大</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不需要求解复杂约束优化问题，实现更简单、计算代价更低。</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在离散与连续动作空间中均得到广泛应用，通常采用 Actor-Critic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框架</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剪切目标函数</a:t>
            </a:r>
            <a:endParaRPr lang="en-US" sz="3500" dirty="0">
              <a:latin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488439"/>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PPO 同时比较未剪切目标与剪切后的目标，并取二者较小值。</a:t>
            </a:r>
            <a:endParaRPr lang="en-US" sz="2400" dirty="0">
              <a:latin typeface="微软雅黑" panose="020B0503020204020204" pitchFamily="34" charset="-122"/>
            </a:endParaRPr>
          </a:p>
        </p:txBody>
      </p:sp>
      <p:sp>
        <p:nvSpPr>
          <p:cNvPr id="6" name="Shape 4"/>
          <p:cNvSpPr/>
          <p:nvPr/>
        </p:nvSpPr>
        <p:spPr>
          <a:xfrm>
            <a:off x="2003552" y="2406923"/>
            <a:ext cx="7635240" cy="880873"/>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13.png"/>
          <p:cNvPicPr>
            <a:picLocks noChangeAspect="1"/>
          </p:cNvPicPr>
          <p:nvPr/>
        </p:nvPicPr>
        <p:blipFill>
          <a:blip r:embed="rId3"/>
          <a:srcRect l="18847" t="24115" r="18495" b="22440"/>
          <a:stretch>
            <a:fillRect/>
          </a:stretch>
        </p:blipFill>
        <p:spPr>
          <a:xfrm>
            <a:off x="2484119" y="2476011"/>
            <a:ext cx="6947567" cy="647192"/>
          </a:xfrm>
          <a:prstGeom prst="rect">
            <a:avLst/>
          </a:prstGeom>
        </p:spPr>
      </p:pic>
      <p:sp>
        <p:nvSpPr>
          <p:cNvPr id="13" name="Shape 10"/>
          <p:cNvSpPr/>
          <p:nvPr/>
        </p:nvSpPr>
        <p:spPr>
          <a:xfrm>
            <a:off x="737616" y="4977247"/>
            <a:ext cx="10716768" cy="67767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57072" y="4923399"/>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当策略变化过大时，clip 会限制继续增大目标，从而约束单次更新步长。</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83</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485893CB-8D5C-8A64-9C52-039A8B563ACB}"/>
              </a:ext>
            </a:extLst>
          </p:cNvPr>
          <p:cNvSpPr/>
          <p:nvPr/>
        </p:nvSpPr>
        <p:spPr>
          <a:xfrm>
            <a:off x="711920" y="403451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60729C63-50C8-63E4-302A-6C36A97E0274}"/>
              </a:ext>
            </a:extLst>
          </p:cNvPr>
          <p:cNvSpPr/>
          <p:nvPr/>
        </p:nvSpPr>
        <p:spPr>
          <a:xfrm>
            <a:off x="2208524" y="4010502"/>
            <a:ext cx="9355440" cy="515779"/>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rₜ(θ)</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：新旧策略概率比</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Âₜ</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：优势估计</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ε</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：剪切参数，常取</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0.1 </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或 </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0.2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概率比</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rₜ(θ) 与剪切区间</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00200"/>
            <a:ext cx="4983480" cy="1325880"/>
          </a:xfrm>
          <a:prstGeom prst="roundRect">
            <a:avLst/>
          </a:prstGeom>
          <a:solidFill>
            <a:srgbClr val="FFFFFF"/>
          </a:solidFill>
          <a:ln w="12700">
            <a:solidFill>
              <a:srgbClr val="D6DCE6"/>
            </a:solidFill>
            <a:prstDash val="solid"/>
          </a:ln>
        </p:spPr>
      </p:sp>
      <p:pic>
        <p:nvPicPr>
          <p:cNvPr id="5" name="Image 0" descr="/mnt/data/ch3_formula_clean/eq-ppo-ratio.png"/>
          <p:cNvPicPr>
            <a:picLocks noChangeAspect="1"/>
          </p:cNvPicPr>
          <p:nvPr/>
        </p:nvPicPr>
        <p:blipFill>
          <a:blip r:embed="rId3"/>
          <a:srcRect l="40099" t="17717" r="39306" b="22874"/>
          <a:stretch>
            <a:fillRect/>
          </a:stretch>
        </p:blipFill>
        <p:spPr>
          <a:xfrm>
            <a:off x="1516224" y="1600200"/>
            <a:ext cx="3505511" cy="1133855"/>
          </a:xfrm>
          <a:prstGeom prst="rect">
            <a:avLst/>
          </a:prstGeom>
        </p:spPr>
      </p:pic>
      <p:sp>
        <p:nvSpPr>
          <p:cNvPr id="6" name="Shape 3"/>
          <p:cNvSpPr/>
          <p:nvPr/>
        </p:nvSpPr>
        <p:spPr>
          <a:xfrm>
            <a:off x="6053328" y="1600200"/>
            <a:ext cx="5166360" cy="1325880"/>
          </a:xfrm>
          <a:prstGeom prst="roundRect">
            <a:avLst>
              <a:gd name="adj" fmla="val 344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6053328" y="1600200"/>
            <a:ext cx="64008" cy="1325880"/>
          </a:xfrm>
          <a:prstGeom prst="rect">
            <a:avLst/>
          </a:prstGeom>
          <a:solidFill>
            <a:srgbClr val="31599B"/>
          </a:solidFill>
          <a:ln w="12700">
            <a:solidFill>
              <a:srgbClr val="31599B"/>
            </a:solidFill>
            <a:prstDash val="solid"/>
          </a:ln>
        </p:spPr>
      </p:sp>
      <p:sp>
        <p:nvSpPr>
          <p:cNvPr id="8" name="Text 5"/>
          <p:cNvSpPr/>
          <p:nvPr/>
        </p:nvSpPr>
        <p:spPr>
          <a:xfrm>
            <a:off x="6263640" y="1709927"/>
            <a:ext cx="478231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概率比的含义</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6263640" y="2167128"/>
            <a:ext cx="4782312" cy="61264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比较新策略与旧策略在状态 sₜ 下选择动作 aₜ 的概率。</a:t>
            </a:r>
            <a:endParaRPr lang="en-US" sz="2000" dirty="0">
              <a:latin typeface="微软雅黑" panose="020B0503020204020204" pitchFamily="34" charset="-122"/>
              <a:ea typeface="微软雅黑" panose="020B0503020204020204" pitchFamily="34" charset="-122"/>
            </a:endParaRPr>
          </a:p>
        </p:txBody>
      </p:sp>
      <p:sp>
        <p:nvSpPr>
          <p:cNvPr id="10" name="Shape 7"/>
          <p:cNvSpPr/>
          <p:nvPr/>
        </p:nvSpPr>
        <p:spPr>
          <a:xfrm>
            <a:off x="777240" y="3310128"/>
            <a:ext cx="4983480" cy="2011680"/>
          </a:xfrm>
          <a:prstGeom prst="roundRect">
            <a:avLst>
              <a:gd name="adj" fmla="val 227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77240" y="3310128"/>
            <a:ext cx="64008" cy="2011680"/>
          </a:xfrm>
          <a:prstGeom prst="rect">
            <a:avLst/>
          </a:prstGeom>
          <a:solidFill>
            <a:srgbClr val="C58A24"/>
          </a:solidFill>
          <a:ln w="12700">
            <a:solidFill>
              <a:srgbClr val="C58A24"/>
            </a:solidFill>
            <a:prstDash val="solid"/>
          </a:ln>
        </p:spPr>
      </p:sp>
      <p:sp>
        <p:nvSpPr>
          <p:cNvPr id="12" name="Text 9"/>
          <p:cNvSpPr/>
          <p:nvPr/>
        </p:nvSpPr>
        <p:spPr>
          <a:xfrm>
            <a:off x="987552" y="3456432"/>
            <a:ext cx="459943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剪切区间</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1036379" y="4023360"/>
            <a:ext cx="4599432" cy="12984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区间为 [1-ε, 1+ε]。当概率比偏离过多时，剪切抑制目标继续增大。</a:t>
            </a:r>
            <a:endParaRPr lang="en-US" sz="2400" dirty="0">
              <a:latin typeface="微软雅黑" panose="020B0503020204020204" pitchFamily="34" charset="-122"/>
              <a:ea typeface="微软雅黑" panose="020B0503020204020204" pitchFamily="34" charset="-122"/>
            </a:endParaRPr>
          </a:p>
        </p:txBody>
      </p:sp>
      <p:sp>
        <p:nvSpPr>
          <p:cNvPr id="14" name="Shape 11"/>
          <p:cNvSpPr/>
          <p:nvPr/>
        </p:nvSpPr>
        <p:spPr>
          <a:xfrm>
            <a:off x="6053328" y="3310128"/>
            <a:ext cx="5166360" cy="2011680"/>
          </a:xfrm>
          <a:prstGeom prst="roundRect">
            <a:avLst>
              <a:gd name="adj" fmla="val 227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6053328" y="3310128"/>
            <a:ext cx="64008" cy="2011680"/>
          </a:xfrm>
          <a:prstGeom prst="rect">
            <a:avLst/>
          </a:prstGeom>
          <a:solidFill>
            <a:srgbClr val="C63F45"/>
          </a:solidFill>
          <a:ln w="12700">
            <a:solidFill>
              <a:srgbClr val="C63F45"/>
            </a:solidFill>
            <a:prstDash val="solid"/>
          </a:ln>
        </p:spPr>
      </p:sp>
      <p:sp>
        <p:nvSpPr>
          <p:cNvPr id="16" name="Text 13"/>
          <p:cNvSpPr/>
          <p:nvPr/>
        </p:nvSpPr>
        <p:spPr>
          <a:xfrm>
            <a:off x="6263640" y="3456432"/>
            <a:ext cx="478231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目的</a:t>
            </a:r>
            <a:endParaRPr lang="en-US" sz="2400" dirty="0">
              <a:latin typeface="微软雅黑" panose="020B0503020204020204" pitchFamily="34" charset="-122"/>
              <a:ea typeface="微软雅黑" panose="020B0503020204020204" pitchFamily="34" charset="-122"/>
            </a:endParaRPr>
          </a:p>
        </p:txBody>
      </p:sp>
      <p:sp>
        <p:nvSpPr>
          <p:cNvPr id="17" name="Text 14"/>
          <p:cNvSpPr/>
          <p:nvPr/>
        </p:nvSpPr>
        <p:spPr>
          <a:xfrm>
            <a:off x="6263640" y="3877056"/>
            <a:ext cx="4782312" cy="12984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限制新旧策略单次差异，降低训练不稳定甚至策略崩溃的风险。</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PPO</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的算法框架</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21.png"/>
          <p:cNvPicPr>
            <a:picLocks noChangeAspect="1"/>
          </p:cNvPicPr>
          <p:nvPr/>
        </p:nvPicPr>
        <p:blipFill>
          <a:blip r:embed="rId3"/>
          <a:stretch>
            <a:fillRect/>
          </a:stretch>
        </p:blipFill>
        <p:spPr>
          <a:xfrm>
            <a:off x="841248" y="2002148"/>
            <a:ext cx="6400800" cy="3594368"/>
          </a:xfrm>
          <a:prstGeom prst="rect">
            <a:avLst/>
          </a:prstGeom>
        </p:spPr>
      </p:pic>
      <p:sp>
        <p:nvSpPr>
          <p:cNvPr id="5" name="Text 2"/>
          <p:cNvSpPr/>
          <p:nvPr/>
        </p:nvSpPr>
        <p:spPr>
          <a:xfrm>
            <a:off x="841248" y="5852160"/>
            <a:ext cx="6400800" cy="256032"/>
          </a:xfrm>
          <a:prstGeom prst="rect">
            <a:avLst/>
          </a:prstGeom>
          <a:noFill/>
          <a:ln/>
        </p:spPr>
        <p:txBody>
          <a:bodyPr wrap="square" lIns="0" tIns="0" rIns="0" bIns="0" rtlCol="0" anchor="ctr">
            <a:normAutofit/>
          </a:bodyPr>
          <a:lstStyle/>
          <a:p>
            <a:pPr algn="ctr"/>
            <a:r>
              <a:rPr lang="en-US" sz="1600" b="1" dirty="0">
                <a:solidFill>
                  <a:schemeClr val="accent1">
                    <a:lumMod val="50000"/>
                  </a:schemeClr>
                </a:solidFill>
                <a:latin typeface="微软雅黑" panose="020B0503020204020204" pitchFamily="34" charset="-122"/>
                <a:ea typeface="微软雅黑" panose="020B0503020204020204" pitchFamily="34" charset="-122"/>
              </a:rPr>
              <a:t>PPO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算法框架</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7543800" y="1627632"/>
            <a:ext cx="361188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543800" y="1627632"/>
            <a:ext cx="64008" cy="1143000"/>
          </a:xfrm>
          <a:prstGeom prst="rect">
            <a:avLst/>
          </a:prstGeom>
          <a:solidFill>
            <a:srgbClr val="31599B"/>
          </a:solidFill>
          <a:ln w="12700">
            <a:solidFill>
              <a:srgbClr val="31599B"/>
            </a:solidFill>
            <a:prstDash val="solid"/>
          </a:ln>
        </p:spPr>
      </p:sp>
      <p:sp>
        <p:nvSpPr>
          <p:cNvPr id="8" name="Text 5"/>
          <p:cNvSpPr/>
          <p:nvPr/>
        </p:nvSpPr>
        <p:spPr>
          <a:xfrm>
            <a:off x="7754112" y="1773936"/>
            <a:ext cx="322783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采样</a:t>
            </a:r>
            <a:endParaRPr lang="en-US" sz="2000" dirty="0">
              <a:latin typeface="微软雅黑" panose="020B0503020204020204" pitchFamily="34" charset="-122"/>
              <a:ea typeface="微软雅黑" panose="020B0503020204020204" pitchFamily="34" charset="-122"/>
            </a:endParaRPr>
          </a:p>
        </p:txBody>
      </p:sp>
      <p:sp>
        <p:nvSpPr>
          <p:cNvPr id="9" name="Text 6"/>
          <p:cNvSpPr/>
          <p:nvPr/>
        </p:nvSpPr>
        <p:spPr>
          <a:xfrm>
            <a:off x="7754112" y="2194560"/>
            <a:ext cx="3227832" cy="42976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当前策略与环境交互，收集状态、动作和奖励。</a:t>
            </a:r>
            <a:endParaRPr lang="en-US" dirty="0">
              <a:latin typeface="微软雅黑" panose="020B0503020204020204" pitchFamily="34" charset="-122"/>
              <a:ea typeface="微软雅黑" panose="020B0503020204020204" pitchFamily="34" charset="-122"/>
            </a:endParaRPr>
          </a:p>
        </p:txBody>
      </p:sp>
      <p:sp>
        <p:nvSpPr>
          <p:cNvPr id="10" name="Shape 7"/>
          <p:cNvSpPr/>
          <p:nvPr/>
        </p:nvSpPr>
        <p:spPr>
          <a:xfrm>
            <a:off x="7543800" y="2944368"/>
            <a:ext cx="361188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543800" y="2944368"/>
            <a:ext cx="64008" cy="1143000"/>
          </a:xfrm>
          <a:prstGeom prst="rect">
            <a:avLst/>
          </a:prstGeom>
          <a:solidFill>
            <a:srgbClr val="2F8E72"/>
          </a:solidFill>
          <a:ln w="12700">
            <a:solidFill>
              <a:srgbClr val="2F8E72"/>
            </a:solidFill>
            <a:prstDash val="solid"/>
          </a:ln>
        </p:spPr>
      </p:sp>
      <p:sp>
        <p:nvSpPr>
          <p:cNvPr id="12" name="Text 9"/>
          <p:cNvSpPr/>
          <p:nvPr/>
        </p:nvSpPr>
        <p:spPr>
          <a:xfrm>
            <a:off x="7754112" y="3090672"/>
            <a:ext cx="322783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评估</a:t>
            </a:r>
            <a:endParaRPr lang="en-US" sz="2000" dirty="0">
              <a:latin typeface="微软雅黑" panose="020B0503020204020204" pitchFamily="34" charset="-122"/>
              <a:ea typeface="微软雅黑" panose="020B0503020204020204" pitchFamily="34" charset="-122"/>
            </a:endParaRPr>
          </a:p>
        </p:txBody>
      </p:sp>
      <p:sp>
        <p:nvSpPr>
          <p:cNvPr id="13" name="Text 10"/>
          <p:cNvSpPr/>
          <p:nvPr/>
        </p:nvSpPr>
        <p:spPr>
          <a:xfrm>
            <a:off x="7754112" y="3511296"/>
            <a:ext cx="3227832" cy="42976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Critic 估计状态价值或优势函数。</a:t>
            </a:r>
            <a:endParaRPr lang="en-US" dirty="0">
              <a:latin typeface="微软雅黑" panose="020B0503020204020204" pitchFamily="34" charset="-122"/>
              <a:ea typeface="微软雅黑" panose="020B0503020204020204" pitchFamily="34" charset="-122"/>
            </a:endParaRPr>
          </a:p>
        </p:txBody>
      </p:sp>
      <p:sp>
        <p:nvSpPr>
          <p:cNvPr id="14" name="Shape 11"/>
          <p:cNvSpPr/>
          <p:nvPr/>
        </p:nvSpPr>
        <p:spPr>
          <a:xfrm>
            <a:off x="7543800" y="4261104"/>
            <a:ext cx="361188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7543800" y="4261104"/>
            <a:ext cx="64008" cy="1143000"/>
          </a:xfrm>
          <a:prstGeom prst="rect">
            <a:avLst/>
          </a:prstGeom>
          <a:solidFill>
            <a:srgbClr val="C58A24"/>
          </a:solidFill>
          <a:ln w="12700">
            <a:solidFill>
              <a:srgbClr val="C58A24"/>
            </a:solidFill>
            <a:prstDash val="solid"/>
          </a:ln>
        </p:spPr>
      </p:sp>
      <p:sp>
        <p:nvSpPr>
          <p:cNvPr id="16" name="Text 13"/>
          <p:cNvSpPr/>
          <p:nvPr/>
        </p:nvSpPr>
        <p:spPr>
          <a:xfrm>
            <a:off x="7754112" y="4407408"/>
            <a:ext cx="322783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多次更新</a:t>
            </a:r>
            <a:endParaRPr lang="en-US" sz="2000" dirty="0">
              <a:latin typeface="微软雅黑" panose="020B0503020204020204" pitchFamily="34" charset="-122"/>
              <a:ea typeface="微软雅黑" panose="020B0503020204020204" pitchFamily="34" charset="-122"/>
            </a:endParaRPr>
          </a:p>
        </p:txBody>
      </p:sp>
      <p:sp>
        <p:nvSpPr>
          <p:cNvPr id="17" name="Text 14"/>
          <p:cNvSpPr/>
          <p:nvPr/>
        </p:nvSpPr>
        <p:spPr>
          <a:xfrm>
            <a:off x="7754112" y="4828032"/>
            <a:ext cx="3227832" cy="42976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使用剪切目标多轮更新 Actor，再同步旧策略。</a:t>
            </a:r>
            <a:endParaRPr lang="en-US"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85</a:t>
            </a:fld>
            <a:endParaRPr 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19485F9F-22E0-F679-6E50-B3E3BBC24324}"/>
              </a:ext>
            </a:extLst>
          </p:cNvPr>
          <p:cNvSpPr txBox="1"/>
          <p:nvPr/>
        </p:nvSpPr>
        <p:spPr>
          <a:xfrm>
            <a:off x="599243" y="1461255"/>
            <a:ext cx="6094520" cy="461665"/>
          </a:xfrm>
          <a:prstGeom prst="rect">
            <a:avLst/>
          </a:prstGeom>
          <a:noFill/>
        </p:spPr>
        <p:txBody>
          <a:bodyPr wrap="square" rtlCol="0">
            <a:spAutoFit/>
          </a:bodyPr>
          <a:lstStyle/>
          <a:p>
            <a:r>
              <a:rPr lang="zh-CN" altLang="en-US" sz="2400" b="1" dirty="0">
                <a:solidFill>
                  <a:srgbClr val="24477D"/>
                </a:solidFill>
                <a:latin typeface="微软雅黑" panose="020B0503020204020204" pitchFamily="34" charset="-122"/>
                <a:ea typeface="微软雅黑" panose="020B0503020204020204" pitchFamily="34" charset="-122"/>
                <a:cs typeface="Noto Sans CJK SC" pitchFamily="34" charset="-120"/>
              </a:rPr>
              <a:t>采用</a:t>
            </a:r>
            <a:r>
              <a:rPr lang="en-US" altLang="zh-CN" sz="24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altLang="zh-CN" sz="2400" b="1" dirty="0" err="1">
                <a:solidFill>
                  <a:srgbClr val="24477D"/>
                </a:solidFill>
                <a:latin typeface="微软雅黑" panose="020B0503020204020204" pitchFamily="34" charset="-122"/>
                <a:ea typeface="微软雅黑" panose="020B0503020204020204" pitchFamily="34" charset="-122"/>
                <a:cs typeface="Noto Sans CJK SC" pitchFamily="34" charset="-120"/>
              </a:rPr>
              <a:t>采样</a:t>
            </a:r>
            <a:r>
              <a:rPr lang="en-US" altLang="zh-CN" sz="24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altLang="zh-CN" sz="2400" b="1" dirty="0" err="1">
                <a:solidFill>
                  <a:srgbClr val="24477D"/>
                </a:solidFill>
                <a:latin typeface="微软雅黑" panose="020B0503020204020204" pitchFamily="34" charset="-122"/>
                <a:ea typeface="微软雅黑" panose="020B0503020204020204" pitchFamily="34" charset="-122"/>
                <a:cs typeface="Noto Sans CJK SC" pitchFamily="34" charset="-120"/>
              </a:rPr>
              <a:t>评估</a:t>
            </a:r>
            <a:r>
              <a:rPr lang="en-US" altLang="zh-CN" sz="24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altLang="zh-CN" sz="2400" b="1" dirty="0" err="1">
                <a:solidFill>
                  <a:srgbClr val="24477D"/>
                </a:solidFill>
                <a:latin typeface="微软雅黑" panose="020B0503020204020204" pitchFamily="34" charset="-122"/>
                <a:ea typeface="微软雅黑" panose="020B0503020204020204" pitchFamily="34" charset="-122"/>
                <a:cs typeface="Noto Sans CJK SC" pitchFamily="34" charset="-120"/>
              </a:rPr>
              <a:t>多次更新”迭代</a:t>
            </a:r>
            <a:r>
              <a:rPr lang="zh-CN" altLang="en-US" sz="2400" b="1" dirty="0">
                <a:solidFill>
                  <a:srgbClr val="24477D"/>
                </a:solidFill>
                <a:latin typeface="微软雅黑" panose="020B0503020204020204" pitchFamily="34" charset="-122"/>
                <a:ea typeface="微软雅黑" panose="020B0503020204020204" pitchFamily="34" charset="-122"/>
                <a:cs typeface="Noto Sans CJK SC" pitchFamily="34" charset="-120"/>
              </a:rPr>
              <a:t>形式</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PPO 的工程特点与具身智能应用</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45920"/>
            <a:ext cx="3246120" cy="276029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45920"/>
            <a:ext cx="64008" cy="2760290"/>
          </a:xfrm>
          <a:prstGeom prst="rect">
            <a:avLst/>
          </a:prstGeom>
          <a:solidFill>
            <a:srgbClr val="2F8E72"/>
          </a:solidFill>
          <a:ln w="12700">
            <a:solidFill>
              <a:srgbClr val="2F8E72"/>
            </a:solidFill>
            <a:prstDash val="solid"/>
          </a:ln>
        </p:spPr>
      </p:sp>
      <p:sp>
        <p:nvSpPr>
          <p:cNvPr id="6" name="Text 4"/>
          <p:cNvSpPr/>
          <p:nvPr/>
        </p:nvSpPr>
        <p:spPr>
          <a:xfrm>
            <a:off x="960120"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稳定</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960120" y="2212848"/>
            <a:ext cx="2862072" cy="220823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突出优势是训练过程相对稳定，策略更新不易出现大幅波动。</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425696" y="1645920"/>
            <a:ext cx="3246120" cy="276029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25696" y="1645920"/>
            <a:ext cx="64008" cy="2760290"/>
          </a:xfrm>
          <a:prstGeom prst="rect">
            <a:avLst/>
          </a:prstGeom>
          <a:solidFill>
            <a:srgbClr val="31599B"/>
          </a:solidFill>
          <a:ln w="12700">
            <a:solidFill>
              <a:srgbClr val="31599B"/>
            </a:solidFill>
            <a:prstDash val="solid"/>
          </a:ln>
        </p:spPr>
      </p:sp>
      <p:sp>
        <p:nvSpPr>
          <p:cNvPr id="10" name="Text 8"/>
          <p:cNvSpPr/>
          <p:nvPr/>
        </p:nvSpPr>
        <p:spPr>
          <a:xfrm>
            <a:off x="4636008"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实现简洁</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4636008" y="2212848"/>
            <a:ext cx="2862072" cy="220823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不需要复杂的约束优化，对超参数相对不敏感。</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45920"/>
            <a:ext cx="3246120" cy="276029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01584" y="1645920"/>
            <a:ext cx="64008" cy="2760290"/>
          </a:xfrm>
          <a:prstGeom prst="rect">
            <a:avLst/>
          </a:prstGeom>
          <a:solidFill>
            <a:srgbClr val="C58A24"/>
          </a:solidFill>
          <a:ln w="12700">
            <a:solidFill>
              <a:srgbClr val="C58A24"/>
            </a:solidFill>
            <a:prstDash val="solid"/>
          </a:ln>
        </p:spPr>
      </p:sp>
      <p:sp>
        <p:nvSpPr>
          <p:cNvPr id="14" name="Text 12"/>
          <p:cNvSpPr/>
          <p:nvPr/>
        </p:nvSpPr>
        <p:spPr>
          <a:xfrm>
            <a:off x="8311896" y="1792224"/>
            <a:ext cx="286207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机器人任务</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212848"/>
            <a:ext cx="2862072" cy="220823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在人形步态、站立平衡、全身协调与具身抓取等任务中具有较强工程实用性。</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3.4.4 DDPG</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45920"/>
            <a:ext cx="10241280" cy="4343400"/>
          </a:xfrm>
          <a:prstGeom prst="rect">
            <a:avLst/>
          </a:prstGeom>
          <a:noFill/>
          <a:ln/>
        </p:spPr>
        <p:txBody>
          <a:bodyPr wrap="square" lIns="635" tIns="635" rIns="635" bIns="635" rtlCol="0" anchor="t">
            <a:normAutofit/>
          </a:bodyPr>
          <a:lstStyle/>
          <a:p>
            <a:pPr marL="228600" indent="-228600">
              <a:buSzPct val="100000"/>
              <a:buFontTx/>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DDPG（Deep Deterministic Policy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Gradient）面向</a:t>
            </a:r>
            <a:r>
              <a:rPr lang="en-US" sz="2800" dirty="0" err="1">
                <a:solidFill>
                  <a:srgbClr val="222833"/>
                </a:solidFill>
                <a:latin typeface="微软雅黑" panose="020B0503020204020204" pitchFamily="34" charset="-122"/>
                <a:ea typeface="微软雅黑" panose="020B0503020204020204" pitchFamily="34" charset="-122"/>
              </a:rPr>
              <a:t>连续动作控制问题</a:t>
            </a:r>
            <a:r>
              <a:rPr lang="zh-CN" altLang="en-US" sz="2800" dirty="0">
                <a:solidFill>
                  <a:srgbClr val="222833"/>
                </a:solidFill>
                <a:latin typeface="微软雅黑" panose="020B0503020204020204" pitchFamily="34" charset="-122"/>
                <a:ea typeface="微软雅黑" panose="020B0503020204020204" pitchFamily="34" charset="-122"/>
              </a:rPr>
              <a:t>（</a:t>
            </a:r>
            <a:r>
              <a:rPr lang="en-US" altLang="zh-CN" sz="2800" dirty="0" err="1">
                <a:solidFill>
                  <a:srgbClr val="222833"/>
                </a:solidFill>
                <a:latin typeface="微软雅黑" panose="020B0503020204020204" pitchFamily="34" charset="-122"/>
                <a:ea typeface="微软雅黑" panose="020B0503020204020204" pitchFamily="34" charset="-122"/>
              </a:rPr>
              <a:t>面向连续动作的确定性</a:t>
            </a:r>
            <a:r>
              <a:rPr lang="en-US" altLang="zh-CN" sz="2800" dirty="0">
                <a:solidFill>
                  <a:srgbClr val="222833"/>
                </a:solidFill>
                <a:latin typeface="微软雅黑" panose="020B0503020204020204" pitchFamily="34" charset="-122"/>
                <a:ea typeface="微软雅黑" panose="020B0503020204020204" pitchFamily="34" charset="-122"/>
              </a:rPr>
              <a:t> Actor-Critic</a:t>
            </a:r>
            <a:r>
              <a:rPr lang="zh-CN" altLang="en-US" sz="2800" dirty="0">
                <a:solidFill>
                  <a:srgbClr val="222833"/>
                </a:solidFill>
                <a:latin typeface="微软雅黑" panose="020B0503020204020204" pitchFamily="34" charset="-122"/>
                <a:ea typeface="微软雅黑" panose="020B0503020204020204" pitchFamily="34" charset="-122"/>
              </a:rPr>
              <a:t>）</a:t>
            </a:r>
            <a:endParaRPr lang="en-US" altLang="zh-CN" sz="2800" dirty="0">
              <a:solidFill>
                <a:srgbClr val="222833"/>
              </a:solidFill>
              <a:latin typeface="微软雅黑" panose="020B0503020204020204" pitchFamily="34" charset="-122"/>
              <a:ea typeface="微软雅黑" panose="020B0503020204020204" pitchFamily="34" charset="-122"/>
            </a:endParaRPr>
          </a:p>
          <a:p>
            <a:pPr marL="228600" indent="-228600">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结合</a:t>
            </a: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 DQN 的经验回放与目标网络机制，以及确定性策略梯度方法。</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属于 off-policy Actor-Critic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算法</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Actor 直接输出确定性动作 a=μ(s;θ)，Critic 估计动作价值 Q。</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特别适合机器人控制等动作连续、维度较高的任务。</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Actor 更新</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Shape 3"/>
          <p:cNvSpPr/>
          <p:nvPr/>
        </p:nvSpPr>
        <p:spPr>
          <a:xfrm>
            <a:off x="713232" y="1627632"/>
            <a:ext cx="7269480" cy="1993392"/>
          </a:xfrm>
          <a:prstGeom prst="roundRect">
            <a:avLst>
              <a:gd name="adj" fmla="val 2294"/>
            </a:avLst>
          </a:prstGeom>
          <a:solidFill>
            <a:srgbClr val="FFFFFF"/>
          </a:solidFill>
          <a:ln w="12700">
            <a:solidFill>
              <a:srgbClr val="D6DCE6"/>
            </a:solidFill>
            <a:prstDash val="solid"/>
          </a:ln>
        </p:spPr>
      </p:sp>
      <p:sp>
        <p:nvSpPr>
          <p:cNvPr id="6" name="Text 4"/>
          <p:cNvSpPr/>
          <p:nvPr/>
        </p:nvSpPr>
        <p:spPr>
          <a:xfrm>
            <a:off x="932688" y="1755648"/>
            <a:ext cx="2377440" cy="274320"/>
          </a:xfrm>
          <a:prstGeom prst="rect">
            <a:avLst/>
          </a:prstGeom>
          <a:noFill/>
          <a:ln/>
        </p:spPr>
        <p:txBody>
          <a:bodyPr wrap="square" lIns="0" tIns="0" rIns="0" bIns="0" rtlCol="0" anchor="ct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策略梯度</a:t>
            </a:r>
            <a:endParaRPr lang="en-US" sz="2000" dirty="0">
              <a:latin typeface="微软雅黑" panose="020B0503020204020204" pitchFamily="34" charset="-122"/>
              <a:ea typeface="微软雅黑" panose="020B0503020204020204" pitchFamily="34" charset="-122"/>
            </a:endParaRPr>
          </a:p>
        </p:txBody>
      </p:sp>
      <p:pic>
        <p:nvPicPr>
          <p:cNvPr id="7" name="Image 0" descr="/mnt/data/ch3_formula_clean/eq-3-14a.png"/>
          <p:cNvPicPr>
            <a:picLocks noChangeAspect="1"/>
          </p:cNvPicPr>
          <p:nvPr/>
        </p:nvPicPr>
        <p:blipFill>
          <a:blip r:embed="rId3"/>
          <a:srcRect l="26614" t="8547" r="26220" b="8886"/>
          <a:stretch>
            <a:fillRect/>
          </a:stretch>
        </p:blipFill>
        <p:spPr>
          <a:xfrm>
            <a:off x="1695633" y="2157984"/>
            <a:ext cx="5572223" cy="1065309"/>
          </a:xfrm>
          <a:prstGeom prst="rect">
            <a:avLst/>
          </a:prstGeom>
        </p:spPr>
      </p:pic>
      <p:sp>
        <p:nvSpPr>
          <p:cNvPr id="8" name="Shape 5"/>
          <p:cNvSpPr/>
          <p:nvPr/>
        </p:nvSpPr>
        <p:spPr>
          <a:xfrm>
            <a:off x="8229600" y="1901951"/>
            <a:ext cx="3200400" cy="1378348"/>
          </a:xfrm>
          <a:prstGeom prst="roundRect">
            <a:avLst>
              <a:gd name="adj" fmla="val 2294"/>
            </a:avLst>
          </a:prstGeom>
          <a:solidFill>
            <a:srgbClr val="EDF2FA"/>
          </a:solidFill>
          <a:ln w="12700">
            <a:solidFill>
              <a:srgbClr val="E0E5ED"/>
            </a:solidFill>
            <a:prstDash val="solid"/>
          </a:ln>
          <a:effectLst>
            <a:outerShdw blurRad="12700" dist="4445" dir="2700000" algn="bl" rotWithShape="0">
              <a:srgbClr val="000000">
                <a:alpha val="8000"/>
              </a:srgbClr>
            </a:outerShdw>
          </a:effectLst>
        </p:spPr>
      </p:sp>
      <p:sp>
        <p:nvSpPr>
          <p:cNvPr id="9" name="Shape 6"/>
          <p:cNvSpPr/>
          <p:nvPr/>
        </p:nvSpPr>
        <p:spPr>
          <a:xfrm>
            <a:off x="8229600" y="1901951"/>
            <a:ext cx="64008" cy="1378348"/>
          </a:xfrm>
          <a:prstGeom prst="rect">
            <a:avLst/>
          </a:prstGeom>
          <a:solidFill>
            <a:srgbClr val="31599B"/>
          </a:solidFill>
          <a:ln w="12700">
            <a:solidFill>
              <a:srgbClr val="31599B"/>
            </a:solidFill>
            <a:prstDash val="solid"/>
          </a:ln>
        </p:spPr>
      </p:sp>
      <p:sp>
        <p:nvSpPr>
          <p:cNvPr id="11" name="Text 8"/>
          <p:cNvSpPr/>
          <p:nvPr/>
        </p:nvSpPr>
        <p:spPr>
          <a:xfrm>
            <a:off x="8439912" y="2194560"/>
            <a:ext cx="2816352" cy="1280160"/>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沿着能够提高 Critic 评估值 Qφ(s,a) 的方向调整 Actor 参数。</a:t>
            </a:r>
            <a:endParaRPr lang="en-US" dirty="0">
              <a:latin typeface="微软雅黑" panose="020B0503020204020204" pitchFamily="34" charset="-122"/>
              <a:ea typeface="微软雅黑" panose="020B0503020204020204" pitchFamily="34" charset="-122"/>
            </a:endParaRPr>
          </a:p>
        </p:txBody>
      </p:sp>
      <p:sp>
        <p:nvSpPr>
          <p:cNvPr id="12" name="Shape 9"/>
          <p:cNvSpPr/>
          <p:nvPr/>
        </p:nvSpPr>
        <p:spPr>
          <a:xfrm>
            <a:off x="713232" y="3959352"/>
            <a:ext cx="7269480" cy="1100920"/>
          </a:xfrm>
          <a:prstGeom prst="roundRect">
            <a:avLst>
              <a:gd name="adj" fmla="val 2294"/>
            </a:avLst>
          </a:prstGeom>
          <a:solidFill>
            <a:srgbClr val="FFFFFF"/>
          </a:solidFill>
          <a:ln w="12700">
            <a:solidFill>
              <a:srgbClr val="D6DCE6"/>
            </a:solidFill>
            <a:prstDash val="solid"/>
          </a:ln>
        </p:spPr>
      </p:sp>
      <p:sp>
        <p:nvSpPr>
          <p:cNvPr id="13" name="Text 10"/>
          <p:cNvSpPr/>
          <p:nvPr/>
        </p:nvSpPr>
        <p:spPr>
          <a:xfrm>
            <a:off x="932688" y="4087368"/>
            <a:ext cx="2377440" cy="274320"/>
          </a:xfrm>
          <a:prstGeom prst="rect">
            <a:avLst/>
          </a:prstGeom>
          <a:noFill/>
          <a:ln/>
        </p:spPr>
        <p:txBody>
          <a:bodyPr wrap="square" lIns="0" tIns="0" rIns="0" bIns="0" rtlCol="0" anchor="ct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参数更新</a:t>
            </a:r>
            <a:endParaRPr lang="en-US" sz="2000" dirty="0">
              <a:latin typeface="微软雅黑" panose="020B0503020204020204" pitchFamily="34" charset="-122"/>
              <a:ea typeface="微软雅黑" panose="020B0503020204020204" pitchFamily="34" charset="-122"/>
            </a:endParaRPr>
          </a:p>
        </p:txBody>
      </p:sp>
      <p:pic>
        <p:nvPicPr>
          <p:cNvPr id="14" name="Image 1" descr="/mnt/data/ch3_formula_clean/eq-3-14b.png"/>
          <p:cNvPicPr>
            <a:picLocks noChangeAspect="1"/>
          </p:cNvPicPr>
          <p:nvPr/>
        </p:nvPicPr>
        <p:blipFill>
          <a:blip r:embed="rId4"/>
          <a:srcRect l="37372" t="21342" r="38028" b="33041"/>
          <a:stretch>
            <a:fillRect/>
          </a:stretch>
        </p:blipFill>
        <p:spPr>
          <a:xfrm>
            <a:off x="2854171" y="4361688"/>
            <a:ext cx="2046303" cy="589335"/>
          </a:xfrm>
          <a:prstGeom prst="rect">
            <a:avLst/>
          </a:prstGeom>
        </p:spPr>
      </p:pic>
      <p:sp>
        <p:nvSpPr>
          <p:cNvPr id="15" name="Shape 11"/>
          <p:cNvSpPr/>
          <p:nvPr/>
        </p:nvSpPr>
        <p:spPr>
          <a:xfrm>
            <a:off x="8202168" y="3959352"/>
            <a:ext cx="3200400" cy="1469136"/>
          </a:xfrm>
          <a:prstGeom prst="roundRect">
            <a:avLst>
              <a:gd name="adj" fmla="val 2294"/>
            </a:avLst>
          </a:prstGeom>
          <a:solidFill>
            <a:srgbClr val="EAF5F1"/>
          </a:solidFill>
          <a:ln w="12700">
            <a:solidFill>
              <a:srgbClr val="E0E5ED"/>
            </a:solidFill>
            <a:prstDash val="solid"/>
          </a:ln>
          <a:effectLst>
            <a:outerShdw blurRad="12700" dist="4445" dir="2700000" algn="bl" rotWithShape="0">
              <a:srgbClr val="000000">
                <a:alpha val="8000"/>
              </a:srgbClr>
            </a:outerShdw>
          </a:effectLst>
        </p:spPr>
      </p:sp>
      <p:sp>
        <p:nvSpPr>
          <p:cNvPr id="16" name="Shape 12"/>
          <p:cNvSpPr/>
          <p:nvPr/>
        </p:nvSpPr>
        <p:spPr>
          <a:xfrm>
            <a:off x="8190992" y="3959352"/>
            <a:ext cx="64008" cy="1469136"/>
          </a:xfrm>
          <a:prstGeom prst="rect">
            <a:avLst/>
          </a:prstGeom>
          <a:solidFill>
            <a:srgbClr val="2F8E72"/>
          </a:solidFill>
          <a:ln w="12700">
            <a:solidFill>
              <a:srgbClr val="2F8E72"/>
            </a:solidFill>
            <a:prstDash val="solid"/>
          </a:ln>
        </p:spPr>
      </p:sp>
      <p:sp>
        <p:nvSpPr>
          <p:cNvPr id="18" name="Text 14"/>
          <p:cNvSpPr/>
          <p:nvPr/>
        </p:nvSpPr>
        <p:spPr>
          <a:xfrm>
            <a:off x="8439912" y="4233672"/>
            <a:ext cx="2816352" cy="755934"/>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使用学习率 α 按梯度上升更新 θ。</a:t>
            </a:r>
            <a:endParaRPr lang="en-US"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Critic 损失与目标值</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Shape 3"/>
          <p:cNvSpPr/>
          <p:nvPr/>
        </p:nvSpPr>
        <p:spPr>
          <a:xfrm>
            <a:off x="713232" y="1627632"/>
            <a:ext cx="7269480" cy="1362456"/>
          </a:xfrm>
          <a:prstGeom prst="roundRect">
            <a:avLst>
              <a:gd name="adj" fmla="val 2294"/>
            </a:avLst>
          </a:prstGeom>
          <a:solidFill>
            <a:srgbClr val="FFFFFF"/>
          </a:solidFill>
          <a:ln w="12700">
            <a:solidFill>
              <a:srgbClr val="D6DCE6"/>
            </a:solidFill>
            <a:prstDash val="solid"/>
          </a:ln>
        </p:spPr>
      </p:sp>
      <p:sp>
        <p:nvSpPr>
          <p:cNvPr id="6" name="Text 4"/>
          <p:cNvSpPr/>
          <p:nvPr/>
        </p:nvSpPr>
        <p:spPr>
          <a:xfrm>
            <a:off x="932688" y="1755648"/>
            <a:ext cx="2377440" cy="274320"/>
          </a:xfrm>
          <a:prstGeom prst="rect">
            <a:avLst/>
          </a:prstGeom>
          <a:noFill/>
          <a:ln/>
        </p:spPr>
        <p:txBody>
          <a:bodyPr wrap="square" lIns="0" tIns="0" rIns="0" bIns="0" rtlCol="0" anchor="ct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Critic 损失</a:t>
            </a:r>
            <a:endParaRPr lang="en-US" sz="2400" dirty="0">
              <a:latin typeface="微软雅黑" panose="020B0503020204020204" pitchFamily="34" charset="-122"/>
              <a:ea typeface="微软雅黑" panose="020B0503020204020204" pitchFamily="34" charset="-122"/>
            </a:endParaRPr>
          </a:p>
        </p:txBody>
      </p:sp>
      <p:pic>
        <p:nvPicPr>
          <p:cNvPr id="7" name="Image 0" descr="/mnt/data/ch3_formula_clean/eq-3-15.png"/>
          <p:cNvPicPr>
            <a:picLocks noChangeAspect="1"/>
          </p:cNvPicPr>
          <p:nvPr/>
        </p:nvPicPr>
        <p:blipFill>
          <a:blip r:embed="rId3"/>
          <a:srcRect l="29369" t="10133" r="30156" b="7099"/>
          <a:stretch>
            <a:fillRect/>
          </a:stretch>
        </p:blipFill>
        <p:spPr>
          <a:xfrm>
            <a:off x="2543112" y="1883574"/>
            <a:ext cx="3906734" cy="1019424"/>
          </a:xfrm>
          <a:prstGeom prst="rect">
            <a:avLst/>
          </a:prstGeom>
        </p:spPr>
      </p:pic>
      <p:sp>
        <p:nvSpPr>
          <p:cNvPr id="8" name="Shape 5"/>
          <p:cNvSpPr/>
          <p:nvPr/>
        </p:nvSpPr>
        <p:spPr>
          <a:xfrm>
            <a:off x="8229600" y="1627632"/>
            <a:ext cx="3200400" cy="1490472"/>
          </a:xfrm>
          <a:prstGeom prst="roundRect">
            <a:avLst>
              <a:gd name="adj" fmla="val 2294"/>
            </a:avLst>
          </a:prstGeom>
          <a:solidFill>
            <a:srgbClr val="FFF4DE"/>
          </a:solidFill>
          <a:ln w="12700">
            <a:solidFill>
              <a:srgbClr val="E0E5ED"/>
            </a:solidFill>
            <a:prstDash val="solid"/>
          </a:ln>
          <a:effectLst>
            <a:outerShdw blurRad="12700" dist="4445" dir="2700000" algn="bl" rotWithShape="0">
              <a:srgbClr val="000000">
                <a:alpha val="8000"/>
              </a:srgbClr>
            </a:outerShdw>
          </a:effectLst>
        </p:spPr>
      </p:sp>
      <p:sp>
        <p:nvSpPr>
          <p:cNvPr id="9" name="Shape 6"/>
          <p:cNvSpPr/>
          <p:nvPr/>
        </p:nvSpPr>
        <p:spPr>
          <a:xfrm>
            <a:off x="8229600" y="1627632"/>
            <a:ext cx="64008" cy="1490472"/>
          </a:xfrm>
          <a:prstGeom prst="rect">
            <a:avLst/>
          </a:prstGeom>
          <a:solidFill>
            <a:srgbClr val="C58A24"/>
          </a:solidFill>
          <a:ln w="12700">
            <a:solidFill>
              <a:srgbClr val="C58A24"/>
            </a:solidFill>
            <a:prstDash val="solid"/>
          </a:ln>
        </p:spPr>
      </p:sp>
      <p:sp>
        <p:nvSpPr>
          <p:cNvPr id="10" name="Text 7"/>
          <p:cNvSpPr/>
          <p:nvPr/>
        </p:nvSpPr>
        <p:spPr>
          <a:xfrm>
            <a:off x="8439912" y="1773936"/>
            <a:ext cx="2816352" cy="329184"/>
          </a:xfrm>
          <a:prstGeom prst="rect">
            <a:avLst/>
          </a:prstGeom>
          <a:noFill/>
          <a:ln/>
        </p:spPr>
        <p:txBody>
          <a:bodyPr wrap="square" lIns="0" tIns="0" rIns="0" bIns="0" rtlCol="0" anchor="ctr">
            <a:normAutofit fontScale="92500" lnSpcReduction="20000"/>
          </a:bodyPr>
          <a:lstStyle/>
          <a:p>
            <a:pPr marL="0" indent="0">
              <a:buNone/>
            </a:pPr>
            <a:endParaRPr lang="en-US" sz="2800" dirty="0">
              <a:latin typeface="微软雅黑" panose="020B0503020204020204" pitchFamily="34" charset="-122"/>
              <a:ea typeface="微软雅黑" panose="020B0503020204020204" pitchFamily="34" charset="-122"/>
            </a:endParaRPr>
          </a:p>
        </p:txBody>
      </p:sp>
      <p:sp>
        <p:nvSpPr>
          <p:cNvPr id="11" name="Text 8"/>
          <p:cNvSpPr/>
          <p:nvPr/>
        </p:nvSpPr>
        <p:spPr>
          <a:xfrm>
            <a:off x="8453628" y="1924590"/>
            <a:ext cx="2816352" cy="97231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最小化目标值 yᵢ 与当前 Q</a:t>
            </a:r>
            <a:r>
              <a:rPr lang="en-US" sz="20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φ</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(sᵢ,aᵢ)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之间的平方误差</a:t>
            </a:r>
            <a:endParaRPr lang="en-US" sz="2000" dirty="0">
              <a:latin typeface="微软雅黑" panose="020B0503020204020204" pitchFamily="34" charset="-122"/>
              <a:ea typeface="微软雅黑" panose="020B0503020204020204" pitchFamily="34" charset="-122"/>
            </a:endParaRPr>
          </a:p>
        </p:txBody>
      </p:sp>
      <p:sp>
        <p:nvSpPr>
          <p:cNvPr id="12" name="Shape 9"/>
          <p:cNvSpPr/>
          <p:nvPr/>
        </p:nvSpPr>
        <p:spPr>
          <a:xfrm>
            <a:off x="677721" y="3959352"/>
            <a:ext cx="7269480" cy="1305106"/>
          </a:xfrm>
          <a:prstGeom prst="roundRect">
            <a:avLst>
              <a:gd name="adj" fmla="val 2294"/>
            </a:avLst>
          </a:prstGeom>
          <a:solidFill>
            <a:srgbClr val="FFFFFF"/>
          </a:solidFill>
          <a:ln w="12700">
            <a:solidFill>
              <a:srgbClr val="D6DCE6"/>
            </a:solidFill>
            <a:prstDash val="solid"/>
          </a:ln>
        </p:spPr>
      </p:sp>
      <p:sp>
        <p:nvSpPr>
          <p:cNvPr id="13" name="Text 10"/>
          <p:cNvSpPr/>
          <p:nvPr/>
        </p:nvSpPr>
        <p:spPr>
          <a:xfrm>
            <a:off x="932688" y="4087368"/>
            <a:ext cx="2377440" cy="274320"/>
          </a:xfrm>
          <a:prstGeom prst="rect">
            <a:avLst/>
          </a:prstGeom>
          <a:noFill/>
          <a:ln/>
        </p:spPr>
        <p:txBody>
          <a:bodyPr wrap="square" lIns="0" tIns="0" rIns="0" bIns="0" rtlCol="0" anchor="ct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目标值</a:t>
            </a:r>
            <a:endParaRPr lang="en-US" sz="2400" dirty="0">
              <a:latin typeface="微软雅黑" panose="020B0503020204020204" pitchFamily="34" charset="-122"/>
              <a:ea typeface="微软雅黑" panose="020B0503020204020204" pitchFamily="34" charset="-122"/>
            </a:endParaRPr>
          </a:p>
        </p:txBody>
      </p:sp>
      <p:pic>
        <p:nvPicPr>
          <p:cNvPr id="14" name="Image 1" descr="/mnt/data/ch3_formula_clean/eq-3-16.png"/>
          <p:cNvPicPr>
            <a:picLocks noChangeAspect="1"/>
          </p:cNvPicPr>
          <p:nvPr/>
        </p:nvPicPr>
        <p:blipFill>
          <a:blip r:embed="rId4"/>
          <a:srcRect l="28254" t="22982" r="29500" b="24572"/>
          <a:stretch>
            <a:fillRect/>
          </a:stretch>
        </p:blipFill>
        <p:spPr>
          <a:xfrm>
            <a:off x="1899821" y="4361688"/>
            <a:ext cx="5124292" cy="708172"/>
          </a:xfrm>
          <a:prstGeom prst="rect">
            <a:avLst/>
          </a:prstGeom>
        </p:spPr>
      </p:pic>
      <p:sp>
        <p:nvSpPr>
          <p:cNvPr id="15" name="Shape 11"/>
          <p:cNvSpPr/>
          <p:nvPr/>
        </p:nvSpPr>
        <p:spPr>
          <a:xfrm>
            <a:off x="8229600" y="3959352"/>
            <a:ext cx="3200400" cy="1371689"/>
          </a:xfrm>
          <a:prstGeom prst="roundRect">
            <a:avLst>
              <a:gd name="adj" fmla="val 2294"/>
            </a:avLst>
          </a:prstGeom>
          <a:solidFill>
            <a:srgbClr val="EDF2FA"/>
          </a:solidFill>
          <a:ln w="12700">
            <a:solidFill>
              <a:srgbClr val="E0E5ED"/>
            </a:solidFill>
            <a:prstDash val="solid"/>
          </a:ln>
          <a:effectLst>
            <a:outerShdw blurRad="12700" dist="4445" dir="2700000" algn="bl" rotWithShape="0">
              <a:srgbClr val="000000">
                <a:alpha val="8000"/>
              </a:srgbClr>
            </a:outerShdw>
          </a:effectLst>
        </p:spPr>
      </p:sp>
      <p:sp>
        <p:nvSpPr>
          <p:cNvPr id="16" name="Shape 12"/>
          <p:cNvSpPr/>
          <p:nvPr/>
        </p:nvSpPr>
        <p:spPr>
          <a:xfrm>
            <a:off x="8229600" y="3959352"/>
            <a:ext cx="64008" cy="1371689"/>
          </a:xfrm>
          <a:prstGeom prst="rect">
            <a:avLst/>
          </a:prstGeom>
          <a:solidFill>
            <a:srgbClr val="31599B"/>
          </a:solidFill>
          <a:ln w="12700">
            <a:solidFill>
              <a:srgbClr val="31599B"/>
            </a:solidFill>
            <a:prstDash val="solid"/>
          </a:ln>
        </p:spPr>
      </p:sp>
      <p:sp>
        <p:nvSpPr>
          <p:cNvPr id="17" name="Text 13"/>
          <p:cNvSpPr/>
          <p:nvPr/>
        </p:nvSpPr>
        <p:spPr>
          <a:xfrm>
            <a:off x="8439912" y="4105656"/>
            <a:ext cx="2816352" cy="226517"/>
          </a:xfrm>
          <a:prstGeom prst="rect">
            <a:avLst/>
          </a:prstGeom>
          <a:noFill/>
          <a:ln/>
        </p:spPr>
        <p:txBody>
          <a:bodyPr wrap="square" lIns="0" tIns="0" rIns="0" bIns="0" rtlCol="0" anchor="ctr">
            <a:normAutofit fontScale="92500" lnSpcReduction="20000"/>
          </a:bodyPr>
          <a:lstStyle/>
          <a:p>
            <a:pPr marL="0" indent="0">
              <a:buNone/>
            </a:pPr>
            <a:endParaRPr lang="en-US" dirty="0">
              <a:latin typeface="微软雅黑" panose="020B0503020204020204" pitchFamily="34" charset="-122"/>
              <a:ea typeface="微软雅黑" panose="020B0503020204020204" pitchFamily="34" charset="-122"/>
            </a:endParaRPr>
          </a:p>
        </p:txBody>
      </p:sp>
      <p:sp>
        <p:nvSpPr>
          <p:cNvPr id="18" name="Text 14"/>
          <p:cNvSpPr/>
          <p:nvPr/>
        </p:nvSpPr>
        <p:spPr>
          <a:xfrm>
            <a:off x="8439912" y="4526280"/>
            <a:ext cx="2816352" cy="128016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目标网络 Q′ 与 μ′ 给出下一状态的估计回报。</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终止状态下的目标值</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649224" y="1583297"/>
            <a:ext cx="10607040" cy="493776"/>
          </a:xfrm>
          <a:prstGeom prst="rect">
            <a:avLst/>
          </a:prstGeom>
          <a:noFill/>
          <a:ln/>
        </p:spPr>
        <p:txBody>
          <a:bodyPr wrap="square" lIns="0" tIns="0" rIns="0" bIns="0"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当样本对应终止状态时，引入终止标志</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dᵢ</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844220" y="2555581"/>
            <a:ext cx="7635240" cy="908847"/>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3_formula_clean/eq-3-17.png"/>
          <p:cNvPicPr>
            <a:picLocks noChangeAspect="1"/>
          </p:cNvPicPr>
          <p:nvPr/>
        </p:nvPicPr>
        <p:blipFill>
          <a:blip r:embed="rId3"/>
          <a:srcRect l="24121" t="20895" r="25176" b="20298"/>
          <a:stretch>
            <a:fillRect/>
          </a:stretch>
        </p:blipFill>
        <p:spPr>
          <a:xfrm>
            <a:off x="2612749" y="2620132"/>
            <a:ext cx="5964870" cy="755556"/>
          </a:xfrm>
          <a:prstGeom prst="rect">
            <a:avLst/>
          </a:prstGeom>
        </p:spPr>
      </p:pic>
      <p:sp>
        <p:nvSpPr>
          <p:cNvPr id="13" name="Shape 10"/>
          <p:cNvSpPr/>
          <p:nvPr/>
        </p:nvSpPr>
        <p:spPr>
          <a:xfrm>
            <a:off x="649224" y="5054600"/>
            <a:ext cx="10716768" cy="90017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86968" y="5102352"/>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(1-dᵢ) 避免在终止状态之后继续引入未来回报。</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90</a:t>
            </a:fld>
            <a:endParaRPr lang="en-US" dirty="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C1487253-00F6-1EF6-5700-C329CDE63FFF}"/>
              </a:ext>
            </a:extLst>
          </p:cNvPr>
          <p:cNvSpPr/>
          <p:nvPr/>
        </p:nvSpPr>
        <p:spPr>
          <a:xfrm>
            <a:off x="760836" y="3793590"/>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A048D153-6F99-FDC8-6697-D975A75DE1F2}"/>
              </a:ext>
            </a:extLst>
          </p:cNvPr>
          <p:cNvSpPr/>
          <p:nvPr/>
        </p:nvSpPr>
        <p:spPr>
          <a:xfrm>
            <a:off x="2257440" y="3769576"/>
            <a:ext cx="9355440" cy="515779"/>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dᵢ：</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终止标志</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Q′：</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目标</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Critic</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μ′：</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目标</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Actor</a:t>
            </a:r>
            <a:endParaRPr lang="en-US" altLang="zh-CN" sz="2400" dirty="0">
              <a:latin typeface="微软雅黑" panose="020B0503020204020204" pitchFamily="34" charset="-122"/>
              <a:ea typeface="微软雅黑" panose="020B0503020204020204" pitchFamily="34" charset="-122"/>
            </a:endParaRPr>
          </a:p>
          <a:p>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目标网络软更新与探索噪声</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Shape 3"/>
          <p:cNvSpPr/>
          <p:nvPr/>
        </p:nvSpPr>
        <p:spPr>
          <a:xfrm>
            <a:off x="713232" y="1627632"/>
            <a:ext cx="7269480" cy="1993392"/>
          </a:xfrm>
          <a:prstGeom prst="roundRect">
            <a:avLst>
              <a:gd name="adj" fmla="val 2294"/>
            </a:avLst>
          </a:prstGeom>
          <a:solidFill>
            <a:srgbClr val="FFFFFF"/>
          </a:solidFill>
          <a:ln w="12700">
            <a:solidFill>
              <a:srgbClr val="D6DCE6"/>
            </a:solidFill>
            <a:prstDash val="solid"/>
          </a:ln>
        </p:spPr>
      </p:sp>
      <p:sp>
        <p:nvSpPr>
          <p:cNvPr id="6" name="Text 4"/>
          <p:cNvSpPr/>
          <p:nvPr/>
        </p:nvSpPr>
        <p:spPr>
          <a:xfrm>
            <a:off x="932688" y="1755648"/>
            <a:ext cx="2377440" cy="274320"/>
          </a:xfrm>
          <a:prstGeom prst="rect">
            <a:avLst/>
          </a:prstGeom>
          <a:noFill/>
          <a:ln/>
        </p:spPr>
        <p:txBody>
          <a:bodyPr wrap="square" lIns="0" tIns="0" rIns="0" bIns="0" rtlCol="0" anchor="ct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目标网络软更新</a:t>
            </a:r>
            <a:endParaRPr lang="en-US" sz="2400" dirty="0">
              <a:latin typeface="微软雅黑" panose="020B0503020204020204" pitchFamily="34" charset="-122"/>
              <a:ea typeface="微软雅黑" panose="020B0503020204020204" pitchFamily="34" charset="-122"/>
            </a:endParaRPr>
          </a:p>
        </p:txBody>
      </p:sp>
      <p:pic>
        <p:nvPicPr>
          <p:cNvPr id="7" name="Image 0" descr="/mnt/data/ch3_formula_clean/eq-3-18.png"/>
          <p:cNvPicPr>
            <a:picLocks noChangeAspect="1"/>
          </p:cNvPicPr>
          <p:nvPr/>
        </p:nvPicPr>
        <p:blipFill>
          <a:blip r:embed="rId3"/>
          <a:srcRect l="24174" t="19409" r="23498" b="29721"/>
          <a:stretch>
            <a:fillRect/>
          </a:stretch>
        </p:blipFill>
        <p:spPr>
          <a:xfrm>
            <a:off x="1127399" y="2432304"/>
            <a:ext cx="6386442" cy="678044"/>
          </a:xfrm>
          <a:prstGeom prst="rect">
            <a:avLst/>
          </a:prstGeom>
        </p:spPr>
      </p:pic>
      <p:sp>
        <p:nvSpPr>
          <p:cNvPr id="8" name="Shape 5"/>
          <p:cNvSpPr/>
          <p:nvPr/>
        </p:nvSpPr>
        <p:spPr>
          <a:xfrm>
            <a:off x="8229600" y="1627632"/>
            <a:ext cx="3200400" cy="1993392"/>
          </a:xfrm>
          <a:prstGeom prst="roundRect">
            <a:avLst>
              <a:gd name="adj" fmla="val 2294"/>
            </a:avLst>
          </a:prstGeom>
          <a:solidFill>
            <a:srgbClr val="EAF5F1"/>
          </a:solidFill>
          <a:ln w="12700">
            <a:solidFill>
              <a:srgbClr val="E0E5ED"/>
            </a:solidFill>
            <a:prstDash val="solid"/>
          </a:ln>
          <a:effectLst>
            <a:outerShdw blurRad="12700" dist="4445" dir="2700000" algn="bl" rotWithShape="0">
              <a:srgbClr val="000000">
                <a:alpha val="8000"/>
              </a:srgbClr>
            </a:outerShdw>
          </a:effectLst>
        </p:spPr>
      </p:sp>
      <p:sp>
        <p:nvSpPr>
          <p:cNvPr id="9" name="Shape 6"/>
          <p:cNvSpPr/>
          <p:nvPr/>
        </p:nvSpPr>
        <p:spPr>
          <a:xfrm>
            <a:off x="8229600" y="1627632"/>
            <a:ext cx="64008" cy="1993392"/>
          </a:xfrm>
          <a:prstGeom prst="rect">
            <a:avLst/>
          </a:prstGeom>
          <a:solidFill>
            <a:srgbClr val="2F8E72"/>
          </a:solidFill>
          <a:ln w="12700">
            <a:solidFill>
              <a:srgbClr val="2F8E72"/>
            </a:solidFill>
            <a:prstDash val="solid"/>
          </a:ln>
        </p:spPr>
      </p:sp>
      <p:sp>
        <p:nvSpPr>
          <p:cNvPr id="10" name="Text 7"/>
          <p:cNvSpPr/>
          <p:nvPr/>
        </p:nvSpPr>
        <p:spPr>
          <a:xfrm>
            <a:off x="8439912" y="1773936"/>
            <a:ext cx="2816352" cy="329184"/>
          </a:xfrm>
          <a:prstGeom prst="rect">
            <a:avLst/>
          </a:prstGeom>
          <a:noFill/>
          <a:ln/>
        </p:spPr>
        <p:txBody>
          <a:bodyPr wrap="square" lIns="0" tIns="0" rIns="0" bIns="0" rtlCol="0" anchor="ctr">
            <a:noAutofit/>
          </a:bodyPr>
          <a:lstStyle/>
          <a:p>
            <a:pPr marL="0" indent="0">
              <a:buNone/>
            </a:pPr>
            <a:endParaRPr lang="en-US" sz="2800" dirty="0">
              <a:latin typeface="微软雅黑" panose="020B0503020204020204" pitchFamily="34" charset="-122"/>
              <a:ea typeface="微软雅黑" panose="020B0503020204020204" pitchFamily="34" charset="-122"/>
            </a:endParaRPr>
          </a:p>
        </p:txBody>
      </p:sp>
      <p:sp>
        <p:nvSpPr>
          <p:cNvPr id="11" name="Text 8"/>
          <p:cNvSpPr/>
          <p:nvPr/>
        </p:nvSpPr>
        <p:spPr>
          <a:xfrm>
            <a:off x="8439912" y="2194560"/>
            <a:ext cx="2816352" cy="128016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较小的 τ 让目标 Actor / Critic 缓慢跟踪主网络参数，提高训练稳定性。</a:t>
            </a:r>
            <a:endParaRPr lang="en-US" sz="2000" dirty="0">
              <a:latin typeface="微软雅黑" panose="020B0503020204020204" pitchFamily="34" charset="-122"/>
              <a:ea typeface="微软雅黑" panose="020B0503020204020204" pitchFamily="34" charset="-122"/>
            </a:endParaRPr>
          </a:p>
        </p:txBody>
      </p:sp>
      <p:sp>
        <p:nvSpPr>
          <p:cNvPr id="12" name="Shape 9"/>
          <p:cNvSpPr/>
          <p:nvPr/>
        </p:nvSpPr>
        <p:spPr>
          <a:xfrm>
            <a:off x="713232" y="3959352"/>
            <a:ext cx="7269480" cy="1993392"/>
          </a:xfrm>
          <a:prstGeom prst="roundRect">
            <a:avLst>
              <a:gd name="adj" fmla="val 2294"/>
            </a:avLst>
          </a:prstGeom>
          <a:solidFill>
            <a:srgbClr val="FFFFFF"/>
          </a:solidFill>
          <a:ln w="12700">
            <a:solidFill>
              <a:srgbClr val="D6DCE6"/>
            </a:solidFill>
            <a:prstDash val="solid"/>
          </a:ln>
        </p:spPr>
      </p:sp>
      <p:sp>
        <p:nvSpPr>
          <p:cNvPr id="13" name="Text 10"/>
          <p:cNvSpPr/>
          <p:nvPr/>
        </p:nvSpPr>
        <p:spPr>
          <a:xfrm>
            <a:off x="932688" y="4087368"/>
            <a:ext cx="2377440" cy="274320"/>
          </a:xfrm>
          <a:prstGeom prst="rect">
            <a:avLst/>
          </a:prstGeom>
          <a:noFill/>
          <a:ln/>
        </p:spPr>
        <p:txBody>
          <a:bodyPr wrap="square" lIns="0" tIns="0" rIns="0" bIns="0" rtlCol="0" anchor="ct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动作探索噪声</a:t>
            </a:r>
            <a:endParaRPr lang="en-US" sz="2400" dirty="0">
              <a:latin typeface="微软雅黑" panose="020B0503020204020204" pitchFamily="34" charset="-122"/>
              <a:ea typeface="微软雅黑" panose="020B0503020204020204" pitchFamily="34" charset="-122"/>
            </a:endParaRPr>
          </a:p>
        </p:txBody>
      </p:sp>
      <p:pic>
        <p:nvPicPr>
          <p:cNvPr id="14" name="Image 1" descr="/mnt/data/ch3_formula_clean/eq-3-19.png"/>
          <p:cNvPicPr>
            <a:picLocks noChangeAspect="1"/>
          </p:cNvPicPr>
          <p:nvPr/>
        </p:nvPicPr>
        <p:blipFill>
          <a:blip r:embed="rId4"/>
          <a:srcRect l="30545" t="28445" r="30907" b="30400"/>
          <a:stretch>
            <a:fillRect/>
          </a:stretch>
        </p:blipFill>
        <p:spPr>
          <a:xfrm>
            <a:off x="2722880" y="4361688"/>
            <a:ext cx="3413760" cy="742052"/>
          </a:xfrm>
          <a:prstGeom prst="rect">
            <a:avLst/>
          </a:prstGeom>
        </p:spPr>
      </p:pic>
      <p:sp>
        <p:nvSpPr>
          <p:cNvPr id="15" name="Shape 11"/>
          <p:cNvSpPr/>
          <p:nvPr/>
        </p:nvSpPr>
        <p:spPr>
          <a:xfrm>
            <a:off x="8229600" y="3959352"/>
            <a:ext cx="3200400" cy="1993392"/>
          </a:xfrm>
          <a:prstGeom prst="roundRect">
            <a:avLst>
              <a:gd name="adj" fmla="val 2294"/>
            </a:avLst>
          </a:prstGeom>
          <a:solidFill>
            <a:srgbClr val="FFF4DE"/>
          </a:solidFill>
          <a:ln w="12700">
            <a:solidFill>
              <a:srgbClr val="E0E5ED"/>
            </a:solidFill>
            <a:prstDash val="solid"/>
          </a:ln>
          <a:effectLst>
            <a:outerShdw blurRad="12700" dist="4445" dir="2700000" algn="bl" rotWithShape="0">
              <a:srgbClr val="000000">
                <a:alpha val="8000"/>
              </a:srgbClr>
            </a:outerShdw>
          </a:effectLst>
        </p:spPr>
      </p:sp>
      <p:sp>
        <p:nvSpPr>
          <p:cNvPr id="16" name="Shape 12"/>
          <p:cNvSpPr/>
          <p:nvPr/>
        </p:nvSpPr>
        <p:spPr>
          <a:xfrm>
            <a:off x="8229600" y="3959352"/>
            <a:ext cx="64008" cy="1993392"/>
          </a:xfrm>
          <a:prstGeom prst="rect">
            <a:avLst/>
          </a:prstGeom>
          <a:solidFill>
            <a:srgbClr val="C58A24"/>
          </a:solidFill>
          <a:ln w="12700">
            <a:solidFill>
              <a:srgbClr val="C58A24"/>
            </a:solidFill>
            <a:prstDash val="solid"/>
          </a:ln>
        </p:spPr>
      </p:sp>
      <p:sp>
        <p:nvSpPr>
          <p:cNvPr id="17" name="Text 13"/>
          <p:cNvSpPr/>
          <p:nvPr/>
        </p:nvSpPr>
        <p:spPr>
          <a:xfrm>
            <a:off x="8439912" y="4105656"/>
            <a:ext cx="2816352" cy="329184"/>
          </a:xfrm>
          <a:prstGeom prst="rect">
            <a:avLst/>
          </a:prstGeom>
          <a:noFill/>
          <a:ln/>
        </p:spPr>
        <p:txBody>
          <a:bodyPr wrap="square" lIns="0" tIns="0" rIns="0" bIns="0" rtlCol="0" anchor="ctr">
            <a:noAutofit/>
          </a:bodyPr>
          <a:lstStyle/>
          <a:p>
            <a:pPr marL="0" indent="0">
              <a:buNone/>
            </a:pPr>
            <a:endParaRPr lang="en-US" sz="2800" dirty="0">
              <a:latin typeface="微软雅黑" panose="020B0503020204020204" pitchFamily="34" charset="-122"/>
              <a:ea typeface="微软雅黑" panose="020B0503020204020204" pitchFamily="34" charset="-122"/>
            </a:endParaRPr>
          </a:p>
        </p:txBody>
      </p:sp>
      <p:sp>
        <p:nvSpPr>
          <p:cNvPr id="18" name="Text 14"/>
          <p:cNvSpPr/>
          <p:nvPr/>
        </p:nvSpPr>
        <p:spPr>
          <a:xfrm>
            <a:off x="8439912" y="4526280"/>
            <a:ext cx="2816352" cy="128016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与环境交互时在确定性动作上叠加 Nₜ；</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可采用高斯噪声</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DDPG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算法框架</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26.png"/>
          <p:cNvPicPr>
            <a:picLocks noChangeAspect="1"/>
          </p:cNvPicPr>
          <p:nvPr/>
        </p:nvPicPr>
        <p:blipFill>
          <a:blip r:embed="rId3"/>
          <a:stretch>
            <a:fillRect/>
          </a:stretch>
        </p:blipFill>
        <p:spPr>
          <a:xfrm>
            <a:off x="1418211" y="1481328"/>
            <a:ext cx="6408161" cy="4663440"/>
          </a:xfrm>
          <a:prstGeom prst="rect">
            <a:avLst/>
          </a:prstGeom>
        </p:spPr>
      </p:pic>
      <p:sp>
        <p:nvSpPr>
          <p:cNvPr id="5" name="Text 2"/>
          <p:cNvSpPr/>
          <p:nvPr/>
        </p:nvSpPr>
        <p:spPr>
          <a:xfrm>
            <a:off x="713232" y="6190488"/>
            <a:ext cx="7818120" cy="256032"/>
          </a:xfrm>
          <a:prstGeom prst="rect">
            <a:avLst/>
          </a:prstGeom>
          <a:noFill/>
          <a:ln/>
        </p:spPr>
        <p:txBody>
          <a:bodyPr wrap="square" lIns="0" tIns="0" rIns="0" bIns="0" rtlCol="0" anchor="ctr">
            <a:normAutofit/>
          </a:bodyPr>
          <a:lstStyle/>
          <a:p>
            <a:pPr algn="ctr"/>
            <a:r>
              <a:rPr lang="en-US" sz="1600" b="1" dirty="0">
                <a:solidFill>
                  <a:schemeClr val="accent1">
                    <a:lumMod val="50000"/>
                  </a:schemeClr>
                </a:solidFill>
                <a:latin typeface="微软雅黑" panose="020B0503020204020204" pitchFamily="34" charset="-122"/>
                <a:ea typeface="微软雅黑" panose="020B0503020204020204" pitchFamily="34" charset="-122"/>
              </a:rPr>
              <a:t>DDPG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算法框架</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732520" y="1645920"/>
            <a:ext cx="2487168" cy="1280160"/>
          </a:xfrm>
          <a:prstGeom prst="roundRect">
            <a:avLst>
              <a:gd name="adj" fmla="val 357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8732520" y="1645920"/>
            <a:ext cx="64008" cy="1280160"/>
          </a:xfrm>
          <a:prstGeom prst="rect">
            <a:avLst/>
          </a:prstGeom>
          <a:solidFill>
            <a:srgbClr val="31599B"/>
          </a:solidFill>
          <a:ln w="12700">
            <a:solidFill>
              <a:srgbClr val="31599B"/>
            </a:solidFill>
            <a:prstDash val="solid"/>
          </a:ln>
        </p:spPr>
      </p:sp>
      <p:sp>
        <p:nvSpPr>
          <p:cNvPr id="8" name="Text 5"/>
          <p:cNvSpPr/>
          <p:nvPr/>
        </p:nvSpPr>
        <p:spPr>
          <a:xfrm>
            <a:off x="8942832" y="1792224"/>
            <a:ext cx="210312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经验缓存</a:t>
            </a:r>
            <a:endParaRPr lang="en-US" sz="2400" dirty="0">
              <a:latin typeface="微软雅黑" panose="020B0503020204020204" pitchFamily="34" charset="-122"/>
            </a:endParaRPr>
          </a:p>
        </p:txBody>
      </p:sp>
      <p:sp>
        <p:nvSpPr>
          <p:cNvPr id="9" name="Text 6"/>
          <p:cNvSpPr/>
          <p:nvPr/>
        </p:nvSpPr>
        <p:spPr>
          <a:xfrm>
            <a:off x="8942832" y="2212848"/>
            <a:ext cx="2103120" cy="56692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存储交互经验并随机采样。</a:t>
            </a:r>
            <a:endParaRPr lang="en-US" sz="2000" dirty="0">
              <a:latin typeface="微软雅黑" panose="020B0503020204020204" pitchFamily="34" charset="-122"/>
            </a:endParaRPr>
          </a:p>
        </p:txBody>
      </p:sp>
      <p:sp>
        <p:nvSpPr>
          <p:cNvPr id="10" name="Shape 7"/>
          <p:cNvSpPr/>
          <p:nvPr/>
        </p:nvSpPr>
        <p:spPr>
          <a:xfrm>
            <a:off x="8732520" y="3154680"/>
            <a:ext cx="2487168" cy="1280160"/>
          </a:xfrm>
          <a:prstGeom prst="roundRect">
            <a:avLst>
              <a:gd name="adj" fmla="val 357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8732520" y="3154680"/>
            <a:ext cx="64008" cy="1280160"/>
          </a:xfrm>
          <a:prstGeom prst="rect">
            <a:avLst/>
          </a:prstGeom>
          <a:solidFill>
            <a:srgbClr val="2F8E72"/>
          </a:solidFill>
          <a:ln w="12700">
            <a:solidFill>
              <a:srgbClr val="2F8E72"/>
            </a:solidFill>
            <a:prstDash val="solid"/>
          </a:ln>
        </p:spPr>
      </p:sp>
      <p:sp>
        <p:nvSpPr>
          <p:cNvPr id="12" name="Text 9"/>
          <p:cNvSpPr/>
          <p:nvPr/>
        </p:nvSpPr>
        <p:spPr>
          <a:xfrm>
            <a:off x="8942832" y="3300984"/>
            <a:ext cx="210312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主网络</a:t>
            </a:r>
            <a:endParaRPr lang="en-US" sz="2400" dirty="0">
              <a:latin typeface="微软雅黑" panose="020B0503020204020204" pitchFamily="34" charset="-122"/>
            </a:endParaRPr>
          </a:p>
        </p:txBody>
      </p:sp>
      <p:sp>
        <p:nvSpPr>
          <p:cNvPr id="13" name="Text 10"/>
          <p:cNvSpPr/>
          <p:nvPr/>
        </p:nvSpPr>
        <p:spPr>
          <a:xfrm>
            <a:off x="8942832" y="3721608"/>
            <a:ext cx="2103120" cy="56692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Actor / Critic 直接参与当前更新。</a:t>
            </a:r>
            <a:endParaRPr lang="en-US" sz="2000" dirty="0">
              <a:latin typeface="微软雅黑" panose="020B0503020204020204" pitchFamily="34" charset="-122"/>
            </a:endParaRPr>
          </a:p>
        </p:txBody>
      </p:sp>
      <p:sp>
        <p:nvSpPr>
          <p:cNvPr id="14" name="Shape 11"/>
          <p:cNvSpPr/>
          <p:nvPr/>
        </p:nvSpPr>
        <p:spPr>
          <a:xfrm>
            <a:off x="8732520" y="4663440"/>
            <a:ext cx="2487168" cy="1280160"/>
          </a:xfrm>
          <a:prstGeom prst="roundRect">
            <a:avLst>
              <a:gd name="adj" fmla="val 3571"/>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8732520" y="4663440"/>
            <a:ext cx="64008" cy="1280160"/>
          </a:xfrm>
          <a:prstGeom prst="rect">
            <a:avLst/>
          </a:prstGeom>
          <a:solidFill>
            <a:srgbClr val="C58A24"/>
          </a:solidFill>
          <a:ln w="12700">
            <a:solidFill>
              <a:srgbClr val="C58A24"/>
            </a:solidFill>
            <a:prstDash val="solid"/>
          </a:ln>
        </p:spPr>
      </p:sp>
      <p:sp>
        <p:nvSpPr>
          <p:cNvPr id="16" name="Text 13"/>
          <p:cNvSpPr/>
          <p:nvPr/>
        </p:nvSpPr>
        <p:spPr>
          <a:xfrm>
            <a:off x="8942832" y="4809744"/>
            <a:ext cx="210312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目标网络</a:t>
            </a:r>
            <a:endParaRPr lang="en-US" sz="2400" dirty="0">
              <a:latin typeface="微软雅黑" panose="020B0503020204020204" pitchFamily="34" charset="-122"/>
            </a:endParaRPr>
          </a:p>
        </p:txBody>
      </p:sp>
      <p:sp>
        <p:nvSpPr>
          <p:cNvPr id="17" name="Text 14"/>
          <p:cNvSpPr/>
          <p:nvPr/>
        </p:nvSpPr>
        <p:spPr>
          <a:xfrm>
            <a:off x="8942832" y="5230368"/>
            <a:ext cx="2103120" cy="566928"/>
          </a:xfrm>
          <a:prstGeom prst="rect">
            <a:avLst/>
          </a:prstGeom>
          <a:noFill/>
          <a:ln/>
        </p:spPr>
        <p:txBody>
          <a:bodyPr wrap="square" lIns="254" tIns="254" rIns="254" bIns="254" rtlCol="0" anchor="t">
            <a:normAutofit lnSpcReduction="10000"/>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通过软更新缓慢跟踪主网络。</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490728"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PPO、DDPG 与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SAC的机制与适用性对比</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490728" y="1353312"/>
            <a:ext cx="11109960" cy="0"/>
          </a:xfrm>
          <a:prstGeom prst="line">
            <a:avLst/>
          </a:prstGeom>
          <a:noFill/>
          <a:ln w="12700">
            <a:solidFill>
              <a:srgbClr val="D8DEE8"/>
            </a:solidFill>
            <a:prstDash val="solid"/>
          </a:ln>
        </p:spPr>
      </p:sp>
      <p:graphicFrame>
        <p:nvGraphicFramePr>
          <p:cNvPr id="94" name="Table 0"/>
          <p:cNvGraphicFramePr>
            <a:graphicFrameLocks noGrp="1"/>
          </p:cNvGraphicFramePr>
          <p:nvPr>
            <p:extLst>
              <p:ext uri="{D42A27DB-BD31-4B8C-83A1-F6EECF244321}">
                <p14:modId xmlns:p14="http://schemas.microsoft.com/office/powerpoint/2010/main" val="2048618321"/>
              </p:ext>
            </p:extLst>
          </p:nvPr>
        </p:nvGraphicFramePr>
        <p:xfrm>
          <a:off x="609600" y="1627632"/>
          <a:ext cx="10972800" cy="4343400"/>
        </p:xfrm>
        <a:graphic>
          <a:graphicData uri="http://schemas.openxmlformats.org/drawingml/2006/table">
            <a:tbl>
              <a:tblPr/>
              <a:tblGrid>
                <a:gridCol w="1371600">
                  <a:extLst>
                    <a:ext uri="{9D8B030D-6E8A-4147-A177-3AD203B41FA5}">
                      <a16:colId xmlns:a16="http://schemas.microsoft.com/office/drawing/2014/main" val="20000"/>
                    </a:ext>
                  </a:extLst>
                </a:gridCol>
                <a:gridCol w="2515340">
                  <a:extLst>
                    <a:ext uri="{9D8B030D-6E8A-4147-A177-3AD203B41FA5}">
                      <a16:colId xmlns:a16="http://schemas.microsoft.com/office/drawing/2014/main" val="20001"/>
                    </a:ext>
                  </a:extLst>
                </a:gridCol>
                <a:gridCol w="347398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108585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算法</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策略类型 / 数据方式</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主要机制</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教材强调的具身优势</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8585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PPO</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策略梯度；on-policy</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剪切约束策略更新幅度</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训练稳定、实现简洁；适合人形与抓取</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DDPG</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确定性；off-policy</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经验回放 + 目标网络 + 确定性策略梯度</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连续高维动作控制</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8585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SAC</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随机策略；off-policy</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最大熵 + 经验回放 + 双 Q</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探索能力强；适合四足等连续控制</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609600" y="1627632"/>
            <a:ext cx="10972800" cy="502920"/>
          </a:xfrm>
          <a:prstGeom prst="rect">
            <a:avLst/>
          </a:prstGeom>
          <a:solidFill>
            <a:srgbClr val="31599B"/>
          </a:solidFill>
          <a:ln w="12700">
            <a:solidFill>
              <a:srgbClr val="31599B"/>
            </a:solidFill>
            <a:prstDash val="solid"/>
          </a:ln>
        </p:spPr>
      </p:sp>
      <p:sp>
        <p:nvSpPr>
          <p:cNvPr id="6" name="Text 3"/>
          <p:cNvSpPr/>
          <p:nvPr/>
        </p:nvSpPr>
        <p:spPr>
          <a:xfrm>
            <a:off x="627888" y="1737360"/>
            <a:ext cx="1335024" cy="256032"/>
          </a:xfrm>
          <a:prstGeom prst="rect">
            <a:avLst/>
          </a:prstGeom>
          <a:noFill/>
          <a:ln/>
        </p:spPr>
        <p:txBody>
          <a:bodyPr wrap="square" lIns="0" tIns="0" rIns="0" bIns="0" rtlCol="0" anchor="ctr">
            <a:normAutofit lnSpcReduction="10000"/>
          </a:bodyP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算法</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 4"/>
          <p:cNvSpPr/>
          <p:nvPr/>
        </p:nvSpPr>
        <p:spPr>
          <a:xfrm>
            <a:off x="1999488" y="1737360"/>
            <a:ext cx="2478024" cy="256032"/>
          </a:xfrm>
          <a:prstGeom prst="rect">
            <a:avLst/>
          </a:prstGeom>
          <a:noFill/>
          <a:ln/>
        </p:spPr>
        <p:txBody>
          <a:bodyPr wrap="square" lIns="0" tIns="0" rIns="0" bIns="0" rtlCol="0" anchor="ctr">
            <a:noAutofit/>
          </a:bodyP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策略类型 / 数据方式</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 5"/>
          <p:cNvSpPr/>
          <p:nvPr/>
        </p:nvSpPr>
        <p:spPr>
          <a:xfrm>
            <a:off x="4514088" y="1737360"/>
            <a:ext cx="3438144" cy="256032"/>
          </a:xfrm>
          <a:prstGeom prst="rect">
            <a:avLst/>
          </a:prstGeom>
          <a:noFill/>
          <a:ln/>
        </p:spPr>
        <p:txBody>
          <a:bodyPr wrap="square" lIns="0" tIns="0" rIns="0" bIns="0" rtlCol="0" anchor="ctr">
            <a:noAutofit/>
          </a:bodyP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主要机制</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Text 6"/>
          <p:cNvSpPr/>
          <p:nvPr/>
        </p:nvSpPr>
        <p:spPr>
          <a:xfrm>
            <a:off x="7988808" y="1737360"/>
            <a:ext cx="3575304" cy="256032"/>
          </a:xfrm>
          <a:prstGeom prst="rect">
            <a:avLst/>
          </a:prstGeom>
          <a:noFill/>
          <a:ln/>
        </p:spPr>
        <p:txBody>
          <a:bodyPr wrap="square" lIns="0" tIns="0" rIns="0" bIns="0" rtlCol="0" anchor="ctr">
            <a:normAutofit lnSpcReduction="10000"/>
          </a:bodyPr>
          <a:lstStyle/>
          <a:p>
            <a:pPr marL="0" indent="0" algn="ctr">
              <a:buNone/>
            </a:pPr>
            <a:r>
              <a:rPr lang="en-US" b="1" dirty="0" err="1">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优势</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45240"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3.4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小结</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85800" y="1627632"/>
            <a:ext cx="2560320" cy="3566160"/>
          </a:xfrm>
          <a:prstGeom prst="roundRect">
            <a:avLst>
              <a:gd name="adj" fmla="val 178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685800" y="1627632"/>
            <a:ext cx="64008" cy="3566160"/>
          </a:xfrm>
          <a:prstGeom prst="rect">
            <a:avLst/>
          </a:prstGeom>
          <a:solidFill>
            <a:srgbClr val="31599B"/>
          </a:solidFill>
          <a:ln w="12700">
            <a:solidFill>
              <a:srgbClr val="31599B"/>
            </a:solidFill>
            <a:prstDash val="solid"/>
          </a:ln>
        </p:spPr>
      </p:sp>
      <p:sp>
        <p:nvSpPr>
          <p:cNvPr id="6" name="Text 4"/>
          <p:cNvSpPr/>
          <p:nvPr/>
        </p:nvSpPr>
        <p:spPr>
          <a:xfrm>
            <a:off x="896112" y="1773936"/>
            <a:ext cx="21762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A3C</a:t>
            </a:r>
            <a:endParaRPr lang="en-US" sz="2400" dirty="0">
              <a:latin typeface="微软雅黑" panose="020B0503020204020204" pitchFamily="34" charset="-122"/>
            </a:endParaRPr>
          </a:p>
        </p:txBody>
      </p:sp>
      <p:sp>
        <p:nvSpPr>
          <p:cNvPr id="7" name="Text 5"/>
          <p:cNvSpPr/>
          <p:nvPr/>
        </p:nvSpPr>
        <p:spPr>
          <a:xfrm>
            <a:off x="896112" y="2194560"/>
            <a:ext cx="21762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并行异步采样，加速训练并降低样本相关性。</a:t>
            </a:r>
            <a:endParaRPr lang="en-US" sz="2400" dirty="0">
              <a:latin typeface="微软雅黑" panose="020B0503020204020204" pitchFamily="34" charset="-122"/>
            </a:endParaRPr>
          </a:p>
        </p:txBody>
      </p:sp>
      <p:sp>
        <p:nvSpPr>
          <p:cNvPr id="8" name="Shape 6"/>
          <p:cNvSpPr/>
          <p:nvPr/>
        </p:nvSpPr>
        <p:spPr>
          <a:xfrm>
            <a:off x="3401568" y="1627632"/>
            <a:ext cx="2560320" cy="3566160"/>
          </a:xfrm>
          <a:prstGeom prst="roundRect">
            <a:avLst>
              <a:gd name="adj" fmla="val 178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3401568" y="1627632"/>
            <a:ext cx="64008" cy="3566160"/>
          </a:xfrm>
          <a:prstGeom prst="rect">
            <a:avLst/>
          </a:prstGeom>
          <a:solidFill>
            <a:srgbClr val="2F8E72"/>
          </a:solidFill>
          <a:ln w="12700">
            <a:solidFill>
              <a:srgbClr val="2F8E72"/>
            </a:solidFill>
            <a:prstDash val="solid"/>
          </a:ln>
        </p:spPr>
      </p:sp>
      <p:sp>
        <p:nvSpPr>
          <p:cNvPr id="10" name="Text 8"/>
          <p:cNvSpPr/>
          <p:nvPr/>
        </p:nvSpPr>
        <p:spPr>
          <a:xfrm>
            <a:off x="3611880" y="1773936"/>
            <a:ext cx="21762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SAC</a:t>
            </a:r>
            <a:endParaRPr lang="en-US" sz="2400" dirty="0">
              <a:latin typeface="微软雅黑" panose="020B0503020204020204" pitchFamily="34" charset="-122"/>
            </a:endParaRPr>
          </a:p>
        </p:txBody>
      </p:sp>
      <p:sp>
        <p:nvSpPr>
          <p:cNvPr id="11" name="Text 9"/>
          <p:cNvSpPr/>
          <p:nvPr/>
        </p:nvSpPr>
        <p:spPr>
          <a:xfrm>
            <a:off x="3611880" y="2194560"/>
            <a:ext cx="21762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最大熵与离策略学习，强化探索和样本复用。</a:t>
            </a:r>
            <a:endParaRPr lang="en-US" sz="2400" dirty="0">
              <a:latin typeface="微软雅黑" panose="020B0503020204020204" pitchFamily="34" charset="-122"/>
            </a:endParaRPr>
          </a:p>
        </p:txBody>
      </p:sp>
      <p:sp>
        <p:nvSpPr>
          <p:cNvPr id="12" name="Shape 10"/>
          <p:cNvSpPr/>
          <p:nvPr/>
        </p:nvSpPr>
        <p:spPr>
          <a:xfrm>
            <a:off x="6117336" y="1627632"/>
            <a:ext cx="2560320" cy="3566160"/>
          </a:xfrm>
          <a:prstGeom prst="roundRect">
            <a:avLst>
              <a:gd name="adj" fmla="val 178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6117336" y="1627632"/>
            <a:ext cx="64008" cy="3566160"/>
          </a:xfrm>
          <a:prstGeom prst="rect">
            <a:avLst/>
          </a:prstGeom>
          <a:solidFill>
            <a:srgbClr val="C58A24"/>
          </a:solidFill>
          <a:ln w="12700">
            <a:solidFill>
              <a:srgbClr val="C58A24"/>
            </a:solidFill>
            <a:prstDash val="solid"/>
          </a:ln>
        </p:spPr>
      </p:sp>
      <p:sp>
        <p:nvSpPr>
          <p:cNvPr id="14" name="Text 12"/>
          <p:cNvSpPr/>
          <p:nvPr/>
        </p:nvSpPr>
        <p:spPr>
          <a:xfrm>
            <a:off x="6327648" y="1773936"/>
            <a:ext cx="21762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PPO</a:t>
            </a:r>
            <a:endParaRPr lang="en-US" sz="2400" dirty="0">
              <a:latin typeface="微软雅黑" panose="020B0503020204020204" pitchFamily="34" charset="-122"/>
            </a:endParaRPr>
          </a:p>
        </p:txBody>
      </p:sp>
      <p:sp>
        <p:nvSpPr>
          <p:cNvPr id="15" name="Text 13"/>
          <p:cNvSpPr/>
          <p:nvPr/>
        </p:nvSpPr>
        <p:spPr>
          <a:xfrm>
            <a:off x="6327648" y="2194560"/>
            <a:ext cx="21762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剪切限制单次策略变化，突出稳定性与工程可用性。</a:t>
            </a:r>
            <a:endParaRPr lang="en-US" sz="2400" dirty="0">
              <a:latin typeface="微软雅黑" panose="020B0503020204020204" pitchFamily="34" charset="-122"/>
            </a:endParaRPr>
          </a:p>
        </p:txBody>
      </p:sp>
      <p:sp>
        <p:nvSpPr>
          <p:cNvPr id="16" name="Shape 14"/>
          <p:cNvSpPr/>
          <p:nvPr/>
        </p:nvSpPr>
        <p:spPr>
          <a:xfrm>
            <a:off x="8833104" y="1627632"/>
            <a:ext cx="2560320" cy="3566160"/>
          </a:xfrm>
          <a:prstGeom prst="roundRect">
            <a:avLst>
              <a:gd name="adj" fmla="val 178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8833104" y="1627632"/>
            <a:ext cx="64008" cy="3566160"/>
          </a:xfrm>
          <a:prstGeom prst="rect">
            <a:avLst/>
          </a:prstGeom>
          <a:solidFill>
            <a:srgbClr val="C63F45"/>
          </a:solidFill>
          <a:ln w="12700">
            <a:solidFill>
              <a:srgbClr val="C63F45"/>
            </a:solidFill>
            <a:prstDash val="solid"/>
          </a:ln>
        </p:spPr>
      </p:sp>
      <p:sp>
        <p:nvSpPr>
          <p:cNvPr id="18" name="Text 16"/>
          <p:cNvSpPr/>
          <p:nvPr/>
        </p:nvSpPr>
        <p:spPr>
          <a:xfrm>
            <a:off x="9043416" y="1773936"/>
            <a:ext cx="21762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DDPG</a:t>
            </a:r>
            <a:endParaRPr lang="en-US" sz="2400" dirty="0">
              <a:latin typeface="微软雅黑" panose="020B0503020204020204" pitchFamily="34" charset="-122"/>
            </a:endParaRPr>
          </a:p>
        </p:txBody>
      </p:sp>
      <p:sp>
        <p:nvSpPr>
          <p:cNvPr id="19" name="Text 17"/>
          <p:cNvSpPr/>
          <p:nvPr/>
        </p:nvSpPr>
        <p:spPr>
          <a:xfrm>
            <a:off x="9043416" y="2194560"/>
            <a:ext cx="21762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确定性策略 + 目标网络，面向连续高维控制。</a:t>
            </a:r>
            <a:endParaRPr lang="en-US" sz="24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002060"/>
                </a:solidFill>
                <a:latin typeface="微软雅黑" panose="020B0503020204020204" pitchFamily="34" charset="-122"/>
                <a:ea typeface="微软雅黑" panose="020B0503020204020204" pitchFamily="34" charset="-122"/>
                <a:cs typeface="Noto Sans CJK SC" pitchFamily="34" charset="-120"/>
              </a:rPr>
              <a:t>5</a:t>
            </a:r>
            <a:endParaRPr lang="en-US" sz="7600" dirty="0">
              <a:solidFill>
                <a:srgbClr val="002060"/>
              </a:solidFill>
              <a:latin typeface="微软雅黑" panose="020B0503020204020204" pitchFamily="34" charset="-122"/>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微软雅黑" panose="020B0503020204020204" pitchFamily="34" charset="-122"/>
                <a:ea typeface="微软雅黑" panose="020B0503020204020204" pitchFamily="34" charset="-122"/>
                <a:cs typeface="Noto Sans CJK SC" pitchFamily="34" charset="-120"/>
              </a:rPr>
              <a:t>基于模型的强化学习</a:t>
            </a:r>
            <a:endParaRPr lang="en-US" sz="390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3.5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基于模型强化学习</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45920"/>
            <a:ext cx="10241280" cy="4297680"/>
          </a:xfrm>
          <a:prstGeom prst="rect">
            <a:avLst/>
          </a:prstGeom>
          <a:noFill/>
          <a:ln/>
        </p:spPr>
        <p:txBody>
          <a:bodyPr wrap="square" lIns="635" tIns="635" rIns="635" bIns="635" rtlCol="0" anchor="t">
            <a:normAutofit/>
          </a:bodyPr>
          <a:lstStyle/>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基于模型强化学习（MBRL）显式学习或利用环境动力学模型</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模型可以预测状态转移与奖励，并生成额外的“模拟经验”用于学习</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特别适合真实交互代价高、试错成本大或安全约束强的具身智能任务</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相同真实交互次数下，模型辅助通常能带来更快的策略改进和更高的学习效率</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96</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fontScale="92500"/>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Model-Free vs Model-Based：是否显式使用环境模型</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98" name="Table 0"/>
          <p:cNvGraphicFramePr>
            <a:graphicFrameLocks noGrp="1"/>
          </p:cNvGraphicFramePr>
          <p:nvPr>
            <p:extLst>
              <p:ext uri="{D42A27DB-BD31-4B8C-83A1-F6EECF244321}">
                <p14:modId xmlns:p14="http://schemas.microsoft.com/office/powerpoint/2010/main" val="80238754"/>
              </p:ext>
            </p:extLst>
          </p:nvPr>
        </p:nvGraphicFramePr>
        <p:xfrm>
          <a:off x="685800" y="1664208"/>
          <a:ext cx="10835640" cy="4160520"/>
        </p:xfrm>
        <a:graphic>
          <a:graphicData uri="http://schemas.openxmlformats.org/drawingml/2006/table">
            <a:tbl>
              <a:tblPr/>
              <a:tblGrid>
                <a:gridCol w="23774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比较维度</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无模型方法</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基于模型方法</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环境模型</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不显式构建</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显式学习或直接使用</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真实数据用途</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直接更新价值 / 策略</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既更新价值 / 策略，也用于学习模型</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额外经验</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主要依赖真实交互</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模型可生成模拟经验</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适用场景</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交互成本可接受</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真实交互昂贵或风险较高</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685800" y="1664208"/>
            <a:ext cx="10835640" cy="502920"/>
          </a:xfrm>
          <a:prstGeom prst="rect">
            <a:avLst/>
          </a:prstGeom>
          <a:solidFill>
            <a:srgbClr val="31599B"/>
          </a:solidFill>
          <a:ln w="12700">
            <a:solidFill>
              <a:srgbClr val="31599B"/>
            </a:solidFill>
            <a:prstDash val="solid"/>
          </a:ln>
        </p:spPr>
      </p:sp>
      <p:sp>
        <p:nvSpPr>
          <p:cNvPr id="6" name="Text 3"/>
          <p:cNvSpPr/>
          <p:nvPr/>
        </p:nvSpPr>
        <p:spPr>
          <a:xfrm>
            <a:off x="704088" y="1773936"/>
            <a:ext cx="234086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比较维度</a:t>
            </a:r>
            <a:endParaRPr lang="en-US" sz="2400" dirty="0">
              <a:latin typeface="微软雅黑" panose="020B0503020204020204" pitchFamily="34" charset="-122"/>
            </a:endParaRPr>
          </a:p>
        </p:txBody>
      </p:sp>
      <p:sp>
        <p:nvSpPr>
          <p:cNvPr id="7" name="Text 4"/>
          <p:cNvSpPr/>
          <p:nvPr/>
        </p:nvSpPr>
        <p:spPr>
          <a:xfrm>
            <a:off x="3081528" y="1773936"/>
            <a:ext cx="412394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无模型方法</a:t>
            </a:r>
            <a:endParaRPr lang="en-US" sz="2400" dirty="0">
              <a:latin typeface="微软雅黑" panose="020B0503020204020204" pitchFamily="34" charset="-122"/>
            </a:endParaRPr>
          </a:p>
        </p:txBody>
      </p:sp>
      <p:sp>
        <p:nvSpPr>
          <p:cNvPr id="8" name="Text 5"/>
          <p:cNvSpPr/>
          <p:nvPr/>
        </p:nvSpPr>
        <p:spPr>
          <a:xfrm>
            <a:off x="7242048" y="1773936"/>
            <a:ext cx="426110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基于模型方法</a:t>
            </a:r>
            <a:endParaRPr lang="en-US" sz="20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基于模型方法的两种使用方式</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493008"/>
          </a:xfrm>
          <a:prstGeom prst="roundRect">
            <a:avLst>
              <a:gd name="adj" fmla="val 130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3493008"/>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纯基于模型</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231136"/>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当环境模型已知或较准确时，可直接在模型上做值迭代、策略迭代或 MCTS 等规划与决策优化。</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493008"/>
          </a:xfrm>
          <a:prstGeom prst="roundRect">
            <a:avLst>
              <a:gd name="adj" fmla="val 130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64208"/>
            <a:ext cx="64008" cy="3493008"/>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混合方法</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231136"/>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将模型学习、模型规划与无模型更新结合：既用真实经验直接学习，也用模型生成模拟轨迹加速优化。</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685800" y="5607669"/>
            <a:ext cx="10698480" cy="329184"/>
          </a:xfrm>
          <a:prstGeom prst="rect">
            <a:avLst/>
          </a:prstGeom>
          <a:noFill/>
          <a:ln/>
        </p:spPr>
        <p:txBody>
          <a:bodyPr wrap="square" lIns="0" tIns="0" rIns="0" bIns="0" rtlCol="0" anchor="ctr">
            <a:normAutofit/>
          </a:bodyPr>
          <a:lstStyle/>
          <a:p>
            <a:pPr marL="0" indent="0" algn="ctr">
              <a:buNone/>
            </a:pPr>
            <a:r>
              <a:rPr lang="en-US" sz="2000" b="1" dirty="0" err="1">
                <a:solidFill>
                  <a:srgbClr val="002060"/>
                </a:solidFill>
                <a:latin typeface="微软雅黑" panose="020B0503020204020204" pitchFamily="34" charset="-122"/>
                <a:ea typeface="微软雅黑" panose="020B0503020204020204" pitchFamily="34" charset="-122"/>
                <a:cs typeface="Noto Sans CJK SC" pitchFamily="34" charset="-120"/>
              </a:rPr>
              <a:t>混合方法是机器人强化学习中更常见的范式</a:t>
            </a:r>
            <a:endParaRPr lang="en-US" sz="20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基于模型强化学习的框架</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28.png"/>
          <p:cNvPicPr>
            <a:picLocks noChangeAspect="1"/>
          </p:cNvPicPr>
          <p:nvPr/>
        </p:nvPicPr>
        <p:blipFill>
          <a:blip r:embed="rId3"/>
          <a:stretch>
            <a:fillRect/>
          </a:stretch>
        </p:blipFill>
        <p:spPr>
          <a:xfrm>
            <a:off x="1363075" y="1536192"/>
            <a:ext cx="5055394" cy="4526280"/>
          </a:xfrm>
          <a:prstGeom prst="rect">
            <a:avLst/>
          </a:prstGeom>
        </p:spPr>
      </p:pic>
      <p:sp>
        <p:nvSpPr>
          <p:cNvPr id="5" name="Text 2"/>
          <p:cNvSpPr/>
          <p:nvPr/>
        </p:nvSpPr>
        <p:spPr>
          <a:xfrm>
            <a:off x="896112" y="6108192"/>
            <a:ext cx="5989320" cy="256032"/>
          </a:xfrm>
          <a:prstGeom prst="rect">
            <a:avLst/>
          </a:prstGeom>
          <a:noFill/>
          <a:ln/>
        </p:spPr>
        <p:txBody>
          <a:bodyPr wrap="square" lIns="0" tIns="0" rIns="0" bIns="0" rtlCol="0" anchor="ctr">
            <a:normAutofit/>
          </a:bodyPr>
          <a:lstStyle/>
          <a:p>
            <a:pPr algn="ctr"/>
            <a:r>
              <a:rPr lang="en-US" sz="1600" b="1" dirty="0">
                <a:solidFill>
                  <a:schemeClr val="accent1">
                    <a:lumMod val="50000"/>
                  </a:schemeClr>
                </a:solidFill>
                <a:latin typeface="微软雅黑" panose="020B0503020204020204" pitchFamily="34" charset="-122"/>
                <a:ea typeface="微软雅黑" panose="020B0503020204020204" pitchFamily="34" charset="-122"/>
              </a:rPr>
              <a:t>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基于模型的强化学习框架</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7205472" y="1664208"/>
            <a:ext cx="3794760" cy="1078992"/>
          </a:xfrm>
          <a:prstGeom prst="roundRect">
            <a:avLst>
              <a:gd name="adj" fmla="val 423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205472" y="1664208"/>
            <a:ext cx="64008" cy="1078992"/>
          </a:xfrm>
          <a:prstGeom prst="rect">
            <a:avLst/>
          </a:prstGeom>
          <a:solidFill>
            <a:srgbClr val="31599B"/>
          </a:solidFill>
          <a:ln w="12700">
            <a:solidFill>
              <a:srgbClr val="31599B"/>
            </a:solidFill>
            <a:prstDash val="solid"/>
          </a:ln>
        </p:spPr>
      </p:sp>
      <p:sp>
        <p:nvSpPr>
          <p:cNvPr id="8" name="Text 5"/>
          <p:cNvSpPr/>
          <p:nvPr/>
        </p:nvSpPr>
        <p:spPr>
          <a:xfrm>
            <a:off x="7415784" y="1810512"/>
            <a:ext cx="341071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模型学习</a:t>
            </a:r>
            <a:endParaRPr lang="en-US" sz="2400" dirty="0">
              <a:latin typeface="微软雅黑" panose="020B0503020204020204" pitchFamily="34" charset="-122"/>
            </a:endParaRPr>
          </a:p>
        </p:txBody>
      </p:sp>
      <p:sp>
        <p:nvSpPr>
          <p:cNvPr id="9" name="Text 6"/>
          <p:cNvSpPr/>
          <p:nvPr/>
        </p:nvSpPr>
        <p:spPr>
          <a:xfrm>
            <a:off x="7415784" y="2231136"/>
            <a:ext cx="3654670" cy="365760"/>
          </a:xfrm>
          <a:prstGeom prst="rect">
            <a:avLst/>
          </a:prstGeom>
          <a:noFill/>
          <a:ln/>
        </p:spPr>
        <p:txBody>
          <a:bodyPr wrap="square" lIns="254" tIns="254" rIns="254" bIns="254" rtlCol="0" anchor="t">
            <a:no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由真实经验估计转移与奖励模型</a:t>
            </a:r>
            <a:endParaRPr lang="en-US" sz="2000" dirty="0">
              <a:latin typeface="微软雅黑" panose="020B0503020204020204" pitchFamily="34" charset="-122"/>
            </a:endParaRPr>
          </a:p>
        </p:txBody>
      </p:sp>
      <p:sp>
        <p:nvSpPr>
          <p:cNvPr id="10" name="Shape 7"/>
          <p:cNvSpPr/>
          <p:nvPr/>
        </p:nvSpPr>
        <p:spPr>
          <a:xfrm>
            <a:off x="7205472" y="2907792"/>
            <a:ext cx="3794760" cy="1078992"/>
          </a:xfrm>
          <a:prstGeom prst="roundRect">
            <a:avLst>
              <a:gd name="adj" fmla="val 423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205472" y="2907792"/>
            <a:ext cx="64008" cy="1078992"/>
          </a:xfrm>
          <a:prstGeom prst="rect">
            <a:avLst/>
          </a:prstGeom>
          <a:solidFill>
            <a:srgbClr val="2F8E72"/>
          </a:solidFill>
          <a:ln w="12700">
            <a:solidFill>
              <a:srgbClr val="2F8E72"/>
            </a:solidFill>
            <a:prstDash val="solid"/>
          </a:ln>
        </p:spPr>
      </p:sp>
      <p:sp>
        <p:nvSpPr>
          <p:cNvPr id="12" name="Text 9"/>
          <p:cNvSpPr/>
          <p:nvPr/>
        </p:nvSpPr>
        <p:spPr>
          <a:xfrm>
            <a:off x="7415784" y="3054096"/>
            <a:ext cx="341071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直接强化学习</a:t>
            </a:r>
            <a:endParaRPr lang="en-US" sz="2400" dirty="0">
              <a:latin typeface="微软雅黑" panose="020B0503020204020204" pitchFamily="34" charset="-122"/>
            </a:endParaRPr>
          </a:p>
        </p:txBody>
      </p:sp>
      <p:sp>
        <p:nvSpPr>
          <p:cNvPr id="13" name="Text 10"/>
          <p:cNvSpPr/>
          <p:nvPr/>
        </p:nvSpPr>
        <p:spPr>
          <a:xfrm>
            <a:off x="7415784" y="3474720"/>
            <a:ext cx="3410712" cy="365760"/>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真实经验直接更新价值函数或策略。</a:t>
            </a:r>
            <a:endParaRPr lang="en-US" sz="1600" dirty="0">
              <a:latin typeface="微软雅黑" panose="020B0503020204020204" pitchFamily="34" charset="-122"/>
            </a:endParaRPr>
          </a:p>
        </p:txBody>
      </p:sp>
      <p:sp>
        <p:nvSpPr>
          <p:cNvPr id="14" name="Shape 11"/>
          <p:cNvSpPr/>
          <p:nvPr/>
        </p:nvSpPr>
        <p:spPr>
          <a:xfrm>
            <a:off x="7205472" y="4151376"/>
            <a:ext cx="3794760" cy="1078992"/>
          </a:xfrm>
          <a:prstGeom prst="roundRect">
            <a:avLst>
              <a:gd name="adj" fmla="val 4237"/>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7205472" y="4151376"/>
            <a:ext cx="64008" cy="1078992"/>
          </a:xfrm>
          <a:prstGeom prst="rect">
            <a:avLst/>
          </a:prstGeom>
          <a:solidFill>
            <a:srgbClr val="C58A24"/>
          </a:solidFill>
          <a:ln w="12700">
            <a:solidFill>
              <a:srgbClr val="C58A24"/>
            </a:solidFill>
            <a:prstDash val="solid"/>
          </a:ln>
        </p:spPr>
      </p:sp>
      <p:sp>
        <p:nvSpPr>
          <p:cNvPr id="16" name="Text 13"/>
          <p:cNvSpPr/>
          <p:nvPr/>
        </p:nvSpPr>
        <p:spPr>
          <a:xfrm>
            <a:off x="7415784" y="4297680"/>
            <a:ext cx="341071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规划</a:t>
            </a:r>
            <a:endParaRPr lang="en-US" sz="2400" dirty="0">
              <a:latin typeface="微软雅黑" panose="020B0503020204020204" pitchFamily="34" charset="-122"/>
            </a:endParaRPr>
          </a:p>
        </p:txBody>
      </p:sp>
      <p:sp>
        <p:nvSpPr>
          <p:cNvPr id="17" name="Text 14"/>
          <p:cNvSpPr/>
          <p:nvPr/>
        </p:nvSpPr>
        <p:spPr>
          <a:xfrm>
            <a:off x="7415784" y="4718304"/>
            <a:ext cx="3410712" cy="365760"/>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模型生成模拟转移，用于额外更新。</a:t>
            </a:r>
            <a:endParaRPr lang="en-US" sz="16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基于模型强化学习的</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基本步骤</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755648"/>
            <a:ext cx="2542032" cy="3474720"/>
          </a:xfrm>
          <a:prstGeom prst="roundRect">
            <a:avLst>
              <a:gd name="adj" fmla="val 17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13232" y="1755648"/>
            <a:ext cx="64008" cy="3474720"/>
          </a:xfrm>
          <a:prstGeom prst="rect">
            <a:avLst/>
          </a:prstGeom>
          <a:solidFill>
            <a:srgbClr val="31599B"/>
          </a:solidFill>
          <a:ln w="12700">
            <a:solidFill>
              <a:srgbClr val="31599B"/>
            </a:solidFill>
            <a:prstDash val="solid"/>
          </a:ln>
        </p:spPr>
      </p:sp>
      <p:sp>
        <p:nvSpPr>
          <p:cNvPr id="6" name="Text 4"/>
          <p:cNvSpPr/>
          <p:nvPr/>
        </p:nvSpPr>
        <p:spPr>
          <a:xfrm>
            <a:off x="923544" y="1901952"/>
            <a:ext cx="2157984"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1  模型学习</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23544" y="2668807"/>
            <a:ext cx="2157984" cy="124180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从 (s,a,r,s′) 中估计转移与奖励模型</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3502152" y="1755648"/>
            <a:ext cx="2542032" cy="3474720"/>
          </a:xfrm>
          <a:prstGeom prst="roundRect">
            <a:avLst>
              <a:gd name="adj" fmla="val 17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3502152" y="1755648"/>
            <a:ext cx="64008" cy="3474720"/>
          </a:xfrm>
          <a:prstGeom prst="rect">
            <a:avLst/>
          </a:prstGeom>
          <a:solidFill>
            <a:srgbClr val="2F8E72"/>
          </a:solidFill>
          <a:ln w="12700">
            <a:solidFill>
              <a:srgbClr val="2F8E72"/>
            </a:solidFill>
            <a:prstDash val="solid"/>
          </a:ln>
        </p:spPr>
      </p:sp>
      <p:sp>
        <p:nvSpPr>
          <p:cNvPr id="10" name="Text 8"/>
          <p:cNvSpPr/>
          <p:nvPr/>
        </p:nvSpPr>
        <p:spPr>
          <a:xfrm>
            <a:off x="3712464" y="1901952"/>
            <a:ext cx="233172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2  真实经验更新</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3712464" y="2668807"/>
            <a:ext cx="2157984" cy="1335024"/>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用真实样本执行 Q 学习、SARSA 等更新</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6291072" y="1755648"/>
            <a:ext cx="2542032" cy="3474720"/>
          </a:xfrm>
          <a:prstGeom prst="roundRect">
            <a:avLst>
              <a:gd name="adj" fmla="val 17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6291072" y="1755648"/>
            <a:ext cx="64008" cy="3474720"/>
          </a:xfrm>
          <a:prstGeom prst="rect">
            <a:avLst/>
          </a:prstGeom>
          <a:solidFill>
            <a:srgbClr val="C58A24"/>
          </a:solidFill>
          <a:ln w="12700">
            <a:solidFill>
              <a:srgbClr val="C58A24"/>
            </a:solidFill>
            <a:prstDash val="solid"/>
          </a:ln>
        </p:spPr>
      </p:sp>
      <p:sp>
        <p:nvSpPr>
          <p:cNvPr id="14" name="Text 12"/>
          <p:cNvSpPr/>
          <p:nvPr/>
        </p:nvSpPr>
        <p:spPr>
          <a:xfrm>
            <a:off x="6501384" y="1901952"/>
            <a:ext cx="2157984"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3  规划</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6501384" y="2668807"/>
            <a:ext cx="2157984" cy="93996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利用模型虚拟采样并生成模拟经验</a:t>
            </a:r>
            <a:endParaRPr lang="en-US" sz="2000" dirty="0">
              <a:latin typeface="微软雅黑" panose="020B0503020204020204" pitchFamily="34" charset="-122"/>
              <a:ea typeface="微软雅黑" panose="020B0503020204020204" pitchFamily="34" charset="-122"/>
            </a:endParaRPr>
          </a:p>
        </p:txBody>
      </p:sp>
      <p:sp>
        <p:nvSpPr>
          <p:cNvPr id="16" name="Shape 14"/>
          <p:cNvSpPr/>
          <p:nvPr/>
        </p:nvSpPr>
        <p:spPr>
          <a:xfrm>
            <a:off x="9079992" y="1755648"/>
            <a:ext cx="2542032" cy="3474720"/>
          </a:xfrm>
          <a:prstGeom prst="roundRect">
            <a:avLst>
              <a:gd name="adj" fmla="val 17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9079992" y="1755648"/>
            <a:ext cx="64008" cy="3474720"/>
          </a:xfrm>
          <a:prstGeom prst="rect">
            <a:avLst/>
          </a:prstGeom>
          <a:solidFill>
            <a:srgbClr val="C63F45"/>
          </a:solidFill>
          <a:ln w="12700">
            <a:solidFill>
              <a:srgbClr val="C63F45"/>
            </a:solidFill>
            <a:prstDash val="solid"/>
          </a:ln>
        </p:spPr>
      </p:sp>
      <p:sp>
        <p:nvSpPr>
          <p:cNvPr id="18" name="Text 16"/>
          <p:cNvSpPr/>
          <p:nvPr/>
        </p:nvSpPr>
        <p:spPr>
          <a:xfrm>
            <a:off x="9290304" y="1901952"/>
            <a:ext cx="2157984"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4  循环迭代</a:t>
            </a:r>
            <a:endParaRPr lang="en-US" sz="2400" dirty="0">
              <a:latin typeface="微软雅黑" panose="020B0503020204020204" pitchFamily="34" charset="-122"/>
              <a:ea typeface="微软雅黑" panose="020B0503020204020204" pitchFamily="34" charset="-122"/>
            </a:endParaRPr>
          </a:p>
        </p:txBody>
      </p:sp>
      <p:sp>
        <p:nvSpPr>
          <p:cNvPr id="19" name="Text 17"/>
          <p:cNvSpPr/>
          <p:nvPr/>
        </p:nvSpPr>
        <p:spPr>
          <a:xfrm>
            <a:off x="9290304" y="2668807"/>
            <a:ext cx="2157984" cy="904457"/>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持续采集真实经验、更新模型与策略</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模型学习：从真实经验估计转移概率与奖励函数</a:t>
            </a:r>
            <a:endParaRPr lang="en-US" sz="3500" dirty="0">
              <a:latin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960120" y="2934070"/>
            <a:ext cx="5623560" cy="860689"/>
          </a:xfrm>
          <a:prstGeom prst="roundRect">
            <a:avLst/>
          </a:prstGeom>
          <a:solidFill>
            <a:srgbClr val="FFFFFF"/>
          </a:solidFill>
          <a:ln w="12700">
            <a:solidFill>
              <a:srgbClr val="D6DCE6"/>
            </a:solidFill>
            <a:prstDash val="solid"/>
          </a:ln>
        </p:spPr>
      </p:sp>
      <p:pic>
        <p:nvPicPr>
          <p:cNvPr id="5" name="Image 0" descr="/mnt/data/ch3_formula_clean/eq-mbrl-model.png"/>
          <p:cNvPicPr>
            <a:picLocks noChangeAspect="1"/>
          </p:cNvPicPr>
          <p:nvPr/>
        </p:nvPicPr>
        <p:blipFill>
          <a:blip r:embed="rId3"/>
          <a:srcRect l="30151" t="8068" r="31467" b="22274"/>
          <a:stretch>
            <a:fillRect/>
          </a:stretch>
        </p:blipFill>
        <p:spPr>
          <a:xfrm>
            <a:off x="2677727" y="3030853"/>
            <a:ext cx="2107337" cy="631703"/>
          </a:xfrm>
          <a:prstGeom prst="rect">
            <a:avLst/>
          </a:prstGeom>
        </p:spPr>
      </p:pic>
      <p:sp>
        <p:nvSpPr>
          <p:cNvPr id="6" name="Shape 3"/>
          <p:cNvSpPr/>
          <p:nvPr/>
        </p:nvSpPr>
        <p:spPr>
          <a:xfrm>
            <a:off x="6903720" y="1783080"/>
            <a:ext cx="4251960"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6903720" y="1783080"/>
            <a:ext cx="64008" cy="1234440"/>
          </a:xfrm>
          <a:prstGeom prst="rect">
            <a:avLst/>
          </a:prstGeom>
          <a:solidFill>
            <a:srgbClr val="31599B"/>
          </a:solidFill>
          <a:ln w="12700">
            <a:solidFill>
              <a:srgbClr val="31599B"/>
            </a:solidFill>
            <a:prstDash val="solid"/>
          </a:ln>
        </p:spPr>
      </p:sp>
      <p:sp>
        <p:nvSpPr>
          <p:cNvPr id="8" name="Text 5"/>
          <p:cNvSpPr/>
          <p:nvPr/>
        </p:nvSpPr>
        <p:spPr>
          <a:xfrm>
            <a:off x="7114032" y="1929384"/>
            <a:ext cx="386791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离散 / 表格环境</a:t>
            </a:r>
            <a:endParaRPr lang="en-US" sz="1750" dirty="0">
              <a:latin typeface="微软雅黑" panose="020B0503020204020204" pitchFamily="34" charset="-122"/>
            </a:endParaRPr>
          </a:p>
        </p:txBody>
      </p:sp>
      <p:sp>
        <p:nvSpPr>
          <p:cNvPr id="9" name="Text 6"/>
          <p:cNvSpPr/>
          <p:nvPr/>
        </p:nvSpPr>
        <p:spPr>
          <a:xfrm>
            <a:off x="7114032" y="2350008"/>
            <a:ext cx="3867912" cy="521208"/>
          </a:xfrm>
          <a:prstGeom prst="rect">
            <a:avLst/>
          </a:prstGeom>
          <a:noFill/>
          <a:ln/>
        </p:spPr>
        <p:txBody>
          <a:bodyPr wrap="square" lIns="254" tIns="254" rIns="254" bIns="254" rtlCol="0" anchor="t">
            <a:normAutofit/>
          </a:bodyPr>
          <a:lstStyle/>
          <a:p>
            <a:pPr marL="0" indent="0">
              <a:buNone/>
            </a:pPr>
            <a:r>
              <a:rPr lang="en-US" sz="1500" dirty="0">
                <a:solidFill>
                  <a:srgbClr val="222833"/>
                </a:solidFill>
                <a:latin typeface="微软雅黑" panose="020B0503020204020204" pitchFamily="34" charset="-122"/>
                <a:ea typeface="微软雅黑" panose="020B0503020204020204" pitchFamily="34" charset="-122"/>
                <a:cs typeface="Noto Sans CJK SC" pitchFamily="34" charset="-120"/>
              </a:rPr>
              <a:t>可通过频数统计或最大似然估计获得模型。</a:t>
            </a:r>
            <a:endParaRPr lang="en-US" sz="1500" dirty="0">
              <a:latin typeface="微软雅黑" panose="020B0503020204020204" pitchFamily="34" charset="-122"/>
            </a:endParaRPr>
          </a:p>
        </p:txBody>
      </p:sp>
      <p:sp>
        <p:nvSpPr>
          <p:cNvPr id="10" name="Shape 7"/>
          <p:cNvSpPr/>
          <p:nvPr/>
        </p:nvSpPr>
        <p:spPr>
          <a:xfrm>
            <a:off x="6903720" y="3182112"/>
            <a:ext cx="4251960" cy="1234440"/>
          </a:xfrm>
          <a:prstGeom prst="roundRect">
            <a:avLst>
              <a:gd name="adj" fmla="val 370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6903720" y="3182112"/>
            <a:ext cx="64008" cy="1234440"/>
          </a:xfrm>
          <a:prstGeom prst="rect">
            <a:avLst/>
          </a:prstGeom>
          <a:solidFill>
            <a:srgbClr val="2F8E72"/>
          </a:solidFill>
          <a:ln w="12700">
            <a:solidFill>
              <a:srgbClr val="2F8E72"/>
            </a:solidFill>
            <a:prstDash val="solid"/>
          </a:ln>
        </p:spPr>
      </p:sp>
      <p:sp>
        <p:nvSpPr>
          <p:cNvPr id="12" name="Text 9"/>
          <p:cNvSpPr/>
          <p:nvPr/>
        </p:nvSpPr>
        <p:spPr>
          <a:xfrm>
            <a:off x="7114032" y="3328416"/>
            <a:ext cx="386791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高维连续环境</a:t>
            </a:r>
            <a:endParaRPr lang="en-US" sz="1750" dirty="0">
              <a:latin typeface="微软雅黑" panose="020B0503020204020204" pitchFamily="34" charset="-122"/>
            </a:endParaRPr>
          </a:p>
        </p:txBody>
      </p:sp>
      <p:sp>
        <p:nvSpPr>
          <p:cNvPr id="13" name="Text 10"/>
          <p:cNvSpPr/>
          <p:nvPr/>
        </p:nvSpPr>
        <p:spPr>
          <a:xfrm>
            <a:off x="7114032" y="3749040"/>
            <a:ext cx="3867912" cy="521208"/>
          </a:xfrm>
          <a:prstGeom prst="rect">
            <a:avLst/>
          </a:prstGeom>
          <a:noFill/>
          <a:ln/>
        </p:spPr>
        <p:txBody>
          <a:bodyPr wrap="square" lIns="254" tIns="254" rIns="254" bIns="254" rtlCol="0" anchor="t">
            <a:normAutofit/>
          </a:bodyPr>
          <a:lstStyle/>
          <a:p>
            <a:pPr marL="0" indent="0">
              <a:buNone/>
            </a:pPr>
            <a:r>
              <a:rPr lang="en-US" sz="1500" dirty="0">
                <a:solidFill>
                  <a:srgbClr val="222833"/>
                </a:solidFill>
                <a:latin typeface="微软雅黑" panose="020B0503020204020204" pitchFamily="34" charset="-122"/>
                <a:ea typeface="微软雅黑" panose="020B0503020204020204" pitchFamily="34" charset="-122"/>
                <a:cs typeface="Noto Sans CJK SC" pitchFamily="34" charset="-120"/>
              </a:rPr>
              <a:t>常用神经网络对动力学模型与奖励模型进行参数化近似。</a:t>
            </a:r>
            <a:endParaRPr lang="en-US" sz="1500" dirty="0">
              <a:latin typeface="微软雅黑" panose="020B0503020204020204" pitchFamily="34" charset="-122"/>
            </a:endParaRPr>
          </a:p>
        </p:txBody>
      </p:sp>
      <p:sp>
        <p:nvSpPr>
          <p:cNvPr id="14" name="Text 11"/>
          <p:cNvSpPr/>
          <p:nvPr/>
        </p:nvSpPr>
        <p:spPr>
          <a:xfrm>
            <a:off x="1027808" y="3827148"/>
            <a:ext cx="5907916" cy="1018786"/>
          </a:xfrm>
          <a:prstGeom prst="rect">
            <a:avLst/>
          </a:prstGeom>
          <a:noFill/>
          <a:ln/>
        </p:spPr>
        <p:txBody>
          <a:bodyPr wrap="square" lIns="0" tIns="0" rIns="0" bIns="0" rtlCol="0" anchor="ctr">
            <a:normAutofit/>
          </a:bodyPr>
          <a:lstStyle/>
          <a:p>
            <a:pPr marL="0" indent="0" algn="ctr">
              <a:buNone/>
            </a:pPr>
            <a:r>
              <a:rPr lang="en-US" sz="2000" b="1" dirty="0" err="1">
                <a:solidFill>
                  <a:srgbClr val="002060"/>
                </a:solidFill>
                <a:latin typeface="微软雅黑" panose="020B0503020204020204" pitchFamily="34" charset="-122"/>
                <a:ea typeface="微软雅黑" panose="020B0503020204020204" pitchFamily="34" charset="-122"/>
                <a:cs typeface="Noto Sans CJK SC" pitchFamily="34" charset="-120"/>
              </a:rPr>
              <a:t>模型学习的结果随后用于虚拟采样与前向滚动预测</a:t>
            </a:r>
            <a:endParaRPr lang="en-US" sz="20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Dyna</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框架</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45920"/>
            <a:ext cx="5715000" cy="4343400"/>
          </a:xfrm>
          <a:prstGeom prst="rect">
            <a:avLst/>
          </a:prstGeom>
          <a:noFill/>
          <a:ln/>
        </p:spPr>
        <p:txBody>
          <a:bodyPr wrap="square" lIns="635" tIns="635" rIns="635" bIns="635" rtlCol="0" anchor="t">
            <a:normAutofit/>
          </a:bodyPr>
          <a:lstStyle/>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Dyna是基于模型强化学习中最具代表性的经典框架之一</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每次真实交互不仅用于直接更新价值 / 策略，还用于学习环境模型。</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学习得到的显式环境模型再生成模拟经验，用于额外规划更新。</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因此单次真实交互可以产生多次学习收益。</a:t>
            </a:r>
            <a:endParaRPr lang="en-US" sz="2400" dirty="0">
              <a:latin typeface="微软雅黑" panose="020B0503020204020204" pitchFamily="34" charset="-122"/>
              <a:ea typeface="微软雅黑" panose="020B0503020204020204" pitchFamily="34" charset="-122"/>
            </a:endParaRPr>
          </a:p>
        </p:txBody>
      </p:sp>
      <p:pic>
        <p:nvPicPr>
          <p:cNvPr id="5" name="Image 0" descr="/mnt/data/ch3_pdfimages/img-029.png"/>
          <p:cNvPicPr>
            <a:picLocks noChangeAspect="1"/>
          </p:cNvPicPr>
          <p:nvPr/>
        </p:nvPicPr>
        <p:blipFill>
          <a:blip r:embed="rId3"/>
          <a:stretch>
            <a:fillRect/>
          </a:stretch>
        </p:blipFill>
        <p:spPr>
          <a:xfrm>
            <a:off x="6841733" y="1664208"/>
            <a:ext cx="4238775" cy="3977640"/>
          </a:xfrm>
          <a:prstGeom prst="rect">
            <a:avLst/>
          </a:prstGeom>
        </p:spPr>
      </p:pic>
      <p:sp>
        <p:nvSpPr>
          <p:cNvPr id="6" name="Text 3"/>
          <p:cNvSpPr/>
          <p:nvPr/>
        </p:nvSpPr>
        <p:spPr>
          <a:xfrm>
            <a:off x="6676452" y="5815584"/>
            <a:ext cx="4480560" cy="256032"/>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Dyna</a:t>
            </a:r>
            <a:r>
              <a:rPr lang="en-US" sz="1050" dirty="0">
                <a:solidFill>
                  <a:srgbClr val="667085"/>
                </a:solidFill>
                <a:latin typeface="微软雅黑" panose="020B0503020204020204" pitchFamily="34" charset="-122"/>
                <a:ea typeface="微软雅黑" panose="020B0503020204020204" pitchFamily="34" charset="-122"/>
                <a:cs typeface="Noto Sans CJK SC" pitchFamily="34" charset="-120"/>
              </a:rPr>
              <a:t>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算法框架</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109960" y="6281928"/>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102</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Dyna</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的主要步骤</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29.png"/>
          <p:cNvPicPr>
            <a:picLocks noChangeAspect="1"/>
          </p:cNvPicPr>
          <p:nvPr/>
        </p:nvPicPr>
        <p:blipFill>
          <a:blip r:embed="rId3"/>
          <a:stretch>
            <a:fillRect/>
          </a:stretch>
        </p:blipFill>
        <p:spPr>
          <a:xfrm>
            <a:off x="1497343" y="1536192"/>
            <a:ext cx="4823433" cy="4526280"/>
          </a:xfrm>
          <a:prstGeom prst="rect">
            <a:avLst/>
          </a:prstGeom>
        </p:spPr>
      </p:pic>
      <p:sp>
        <p:nvSpPr>
          <p:cNvPr id="6" name="Shape 3"/>
          <p:cNvSpPr/>
          <p:nvPr/>
        </p:nvSpPr>
        <p:spPr>
          <a:xfrm>
            <a:off x="7269480" y="1664208"/>
            <a:ext cx="374904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7269480" y="1664208"/>
            <a:ext cx="64008" cy="1143000"/>
          </a:xfrm>
          <a:prstGeom prst="rect">
            <a:avLst/>
          </a:prstGeom>
          <a:solidFill>
            <a:srgbClr val="31599B"/>
          </a:solidFill>
          <a:ln w="12700">
            <a:solidFill>
              <a:srgbClr val="31599B"/>
            </a:solidFill>
            <a:prstDash val="solid"/>
          </a:ln>
        </p:spPr>
      </p:sp>
      <p:sp>
        <p:nvSpPr>
          <p:cNvPr id="8" name="Text 5"/>
          <p:cNvSpPr/>
          <p:nvPr/>
        </p:nvSpPr>
        <p:spPr>
          <a:xfrm>
            <a:off x="7479792" y="1810512"/>
            <a:ext cx="336499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1  学习模型</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7479792" y="2231136"/>
            <a:ext cx="3364992" cy="42976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从经验学习 P̂(s′|s,a) 与 r̂(</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s,a</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000" dirty="0">
              <a:latin typeface="微软雅黑" panose="020B0503020204020204" pitchFamily="34" charset="-122"/>
              <a:ea typeface="微软雅黑" panose="020B0503020204020204" pitchFamily="34" charset="-122"/>
            </a:endParaRPr>
          </a:p>
        </p:txBody>
      </p:sp>
      <p:sp>
        <p:nvSpPr>
          <p:cNvPr id="10" name="Shape 7"/>
          <p:cNvSpPr/>
          <p:nvPr/>
        </p:nvSpPr>
        <p:spPr>
          <a:xfrm>
            <a:off x="7269480" y="2999232"/>
            <a:ext cx="374904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7269480" y="2999232"/>
            <a:ext cx="64008" cy="1143000"/>
          </a:xfrm>
          <a:prstGeom prst="rect">
            <a:avLst/>
          </a:prstGeom>
          <a:solidFill>
            <a:srgbClr val="2F8E72"/>
          </a:solidFill>
          <a:ln w="12700">
            <a:solidFill>
              <a:srgbClr val="2F8E72"/>
            </a:solidFill>
            <a:prstDash val="solid"/>
          </a:ln>
        </p:spPr>
      </p:sp>
      <p:sp>
        <p:nvSpPr>
          <p:cNvPr id="12" name="Text 9"/>
          <p:cNvSpPr/>
          <p:nvPr/>
        </p:nvSpPr>
        <p:spPr>
          <a:xfrm>
            <a:off x="7479792" y="3145536"/>
            <a:ext cx="336499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2  直接更新</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7479792" y="3566160"/>
            <a:ext cx="3364992" cy="429768"/>
          </a:xfrm>
          <a:prstGeom prst="rect">
            <a:avLst/>
          </a:prstGeom>
          <a:noFill/>
          <a:ln/>
        </p:spPr>
        <p:txBody>
          <a:bodyPr wrap="square" lIns="254" tIns="254" rIns="254" bIns="254" rtlCol="0" anchor="t">
            <a:no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真实经验直接更新价值 /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a:t>
            </a:r>
            <a:endParaRPr lang="en-US" sz="2000" dirty="0">
              <a:latin typeface="微软雅黑" panose="020B0503020204020204" pitchFamily="34" charset="-122"/>
              <a:ea typeface="微软雅黑" panose="020B0503020204020204" pitchFamily="34" charset="-122"/>
            </a:endParaRPr>
          </a:p>
        </p:txBody>
      </p:sp>
      <p:sp>
        <p:nvSpPr>
          <p:cNvPr id="14" name="Shape 11"/>
          <p:cNvSpPr/>
          <p:nvPr/>
        </p:nvSpPr>
        <p:spPr>
          <a:xfrm>
            <a:off x="7269480" y="4334256"/>
            <a:ext cx="3749040"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7269480" y="4334256"/>
            <a:ext cx="64008" cy="1143000"/>
          </a:xfrm>
          <a:prstGeom prst="rect">
            <a:avLst/>
          </a:prstGeom>
          <a:solidFill>
            <a:srgbClr val="C58A24"/>
          </a:solidFill>
          <a:ln w="12700">
            <a:solidFill>
              <a:srgbClr val="C58A24"/>
            </a:solidFill>
            <a:prstDash val="solid"/>
          </a:ln>
        </p:spPr>
      </p:sp>
      <p:sp>
        <p:nvSpPr>
          <p:cNvPr id="16" name="Text 13"/>
          <p:cNvSpPr/>
          <p:nvPr/>
        </p:nvSpPr>
        <p:spPr>
          <a:xfrm>
            <a:off x="7479792" y="4480560"/>
            <a:ext cx="336499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3  规划</a:t>
            </a:r>
            <a:endParaRPr lang="en-US" sz="2400" dirty="0">
              <a:latin typeface="微软雅黑" panose="020B0503020204020204" pitchFamily="34" charset="-122"/>
              <a:ea typeface="微软雅黑" panose="020B0503020204020204" pitchFamily="34" charset="-122"/>
            </a:endParaRPr>
          </a:p>
        </p:txBody>
      </p:sp>
      <p:sp>
        <p:nvSpPr>
          <p:cNvPr id="17" name="Text 14"/>
          <p:cNvSpPr/>
          <p:nvPr/>
        </p:nvSpPr>
        <p:spPr>
          <a:xfrm>
            <a:off x="7479792" y="4901184"/>
            <a:ext cx="3364992" cy="678432"/>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从已访问状态—动作对抽样并执行 K </a:t>
            </a: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步模型规划</a:t>
            </a:r>
            <a:endParaRPr lang="en-US" sz="16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Dyna-Q：一次真实交互之后，再做多次模型内Q更新</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21792" y="1828800"/>
            <a:ext cx="1993392" cy="2331720"/>
          </a:xfrm>
          <a:prstGeom prst="roundRect">
            <a:avLst/>
          </a:prstGeom>
          <a:solidFill>
            <a:srgbClr val="EDF2FA"/>
          </a:solidFill>
          <a:ln w="12700">
            <a:solidFill>
              <a:srgbClr val="D2DDEA"/>
            </a:solidFill>
            <a:prstDash val="solid"/>
          </a:ln>
        </p:spPr>
      </p:sp>
      <p:sp>
        <p:nvSpPr>
          <p:cNvPr id="5" name="Text 3"/>
          <p:cNvSpPr/>
          <p:nvPr/>
        </p:nvSpPr>
        <p:spPr>
          <a:xfrm>
            <a:off x="731520" y="2084832"/>
            <a:ext cx="1773936" cy="365760"/>
          </a:xfrm>
          <a:prstGeom prst="rect">
            <a:avLst/>
          </a:prstGeom>
          <a:noFill/>
          <a:ln/>
        </p:spPr>
        <p:txBody>
          <a:bodyPr wrap="square" lIns="0" tIns="0" rIns="0" bIns="0" rtlCol="0" anchor="ctr">
            <a:normAutofit/>
          </a:bodyPr>
          <a:lstStyle/>
          <a:p>
            <a:pPr marL="0" indent="0" algn="ctr">
              <a:buNone/>
            </a:pPr>
            <a:r>
              <a:rPr lang="en-US" sz="1530" b="1" dirty="0">
                <a:solidFill>
                  <a:srgbClr val="31599B"/>
                </a:solidFill>
                <a:latin typeface="微软雅黑" panose="020B0503020204020204" pitchFamily="34" charset="-122"/>
                <a:ea typeface="微软雅黑" panose="020B0503020204020204" pitchFamily="34" charset="-122"/>
                <a:cs typeface="Noto Sans CJK SC" pitchFamily="34" charset="-120"/>
              </a:rPr>
              <a:t>真实交互</a:t>
            </a:r>
            <a:endParaRPr lang="en-US" sz="1530" dirty="0">
              <a:latin typeface="微软雅黑" panose="020B0503020204020204" pitchFamily="34" charset="-122"/>
              <a:ea typeface="微软雅黑" panose="020B0503020204020204" pitchFamily="34" charset="-122"/>
            </a:endParaRPr>
          </a:p>
        </p:txBody>
      </p:sp>
      <p:sp>
        <p:nvSpPr>
          <p:cNvPr id="6" name="Text 4"/>
          <p:cNvSpPr/>
          <p:nvPr/>
        </p:nvSpPr>
        <p:spPr>
          <a:xfrm>
            <a:off x="768096" y="2743200"/>
            <a:ext cx="1700784" cy="822960"/>
          </a:xfrm>
          <a:prstGeom prst="rect">
            <a:avLst/>
          </a:prstGeom>
          <a:noFill/>
          <a:ln/>
        </p:spPr>
        <p:txBody>
          <a:bodyPr wrap="square" lIns="127" tIns="127" rIns="127" bIns="127" rtlCol="0" anchor="ctr">
            <a:normAutofit/>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获得 (s,a,r,s′)</a:t>
            </a:r>
            <a:endParaRPr lang="en-US" sz="2000" dirty="0">
              <a:latin typeface="微软雅黑" panose="020B0503020204020204" pitchFamily="34" charset="-122"/>
              <a:ea typeface="微软雅黑" panose="020B0503020204020204" pitchFamily="34" charset="-122"/>
            </a:endParaRPr>
          </a:p>
        </p:txBody>
      </p:sp>
      <p:sp>
        <p:nvSpPr>
          <p:cNvPr id="7" name="Shape 5"/>
          <p:cNvSpPr/>
          <p:nvPr/>
        </p:nvSpPr>
        <p:spPr>
          <a:xfrm>
            <a:off x="2615184" y="2697480"/>
            <a:ext cx="320040" cy="502920"/>
          </a:xfrm>
          <a:prstGeom prst="chevron">
            <a:avLst/>
          </a:prstGeom>
          <a:solidFill>
            <a:srgbClr val="D7DFEA"/>
          </a:solidFill>
          <a:ln w="12700">
            <a:solidFill>
              <a:srgbClr val="D7DFEA"/>
            </a:solidFill>
            <a:prstDash val="solid"/>
          </a:ln>
        </p:spPr>
      </p:sp>
      <p:sp>
        <p:nvSpPr>
          <p:cNvPr id="8" name="Shape 6"/>
          <p:cNvSpPr/>
          <p:nvPr/>
        </p:nvSpPr>
        <p:spPr>
          <a:xfrm>
            <a:off x="2926080" y="1828800"/>
            <a:ext cx="1993392" cy="2331720"/>
          </a:xfrm>
          <a:prstGeom prst="roundRect">
            <a:avLst/>
          </a:prstGeom>
          <a:solidFill>
            <a:srgbClr val="EAF5F1"/>
          </a:solidFill>
          <a:ln w="12700">
            <a:solidFill>
              <a:srgbClr val="C8E4DA"/>
            </a:solidFill>
            <a:prstDash val="solid"/>
          </a:ln>
        </p:spPr>
      </p:sp>
      <p:sp>
        <p:nvSpPr>
          <p:cNvPr id="9" name="Text 7"/>
          <p:cNvSpPr/>
          <p:nvPr/>
        </p:nvSpPr>
        <p:spPr>
          <a:xfrm>
            <a:off x="3035808" y="2084832"/>
            <a:ext cx="1773936" cy="365760"/>
          </a:xfrm>
          <a:prstGeom prst="rect">
            <a:avLst/>
          </a:prstGeom>
          <a:noFill/>
          <a:ln/>
        </p:spPr>
        <p:txBody>
          <a:bodyPr wrap="square" lIns="0" tIns="0" rIns="0" bIns="0" rtlCol="0" anchor="ctr">
            <a:normAutofit/>
          </a:bodyPr>
          <a:lstStyle/>
          <a:p>
            <a:pPr marL="0" indent="0" algn="ctr">
              <a:buNone/>
            </a:pPr>
            <a:r>
              <a:rPr lang="en-US" sz="1530" b="1" dirty="0">
                <a:solidFill>
                  <a:srgbClr val="2F8E72"/>
                </a:solidFill>
                <a:latin typeface="微软雅黑" panose="020B0503020204020204" pitchFamily="34" charset="-122"/>
                <a:ea typeface="微软雅黑" panose="020B0503020204020204" pitchFamily="34" charset="-122"/>
                <a:cs typeface="Noto Sans CJK SC" pitchFamily="34" charset="-120"/>
              </a:rPr>
              <a:t>标准 Q 更新</a:t>
            </a:r>
            <a:endParaRPr lang="en-US" sz="1530" dirty="0">
              <a:latin typeface="微软雅黑" panose="020B0503020204020204" pitchFamily="34" charset="-122"/>
              <a:ea typeface="微软雅黑" panose="020B0503020204020204" pitchFamily="34" charset="-122"/>
            </a:endParaRPr>
          </a:p>
        </p:txBody>
      </p:sp>
      <p:sp>
        <p:nvSpPr>
          <p:cNvPr id="10" name="Text 8"/>
          <p:cNvSpPr/>
          <p:nvPr/>
        </p:nvSpPr>
        <p:spPr>
          <a:xfrm>
            <a:off x="3072384" y="2743200"/>
            <a:ext cx="1700784" cy="822960"/>
          </a:xfrm>
          <a:prstGeom prst="rect">
            <a:avLst/>
          </a:prstGeom>
          <a:noFill/>
          <a:ln/>
        </p:spPr>
        <p:txBody>
          <a:bodyPr wrap="square" lIns="127" tIns="127" rIns="127" bIns="127" rtlCol="0" anchor="ctr">
            <a:normAutofit/>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用真实样本更新 Q</a:t>
            </a:r>
            <a:endParaRPr lang="en-US" sz="2000" dirty="0">
              <a:latin typeface="微软雅黑" panose="020B0503020204020204" pitchFamily="34" charset="-122"/>
              <a:ea typeface="微软雅黑" panose="020B0503020204020204" pitchFamily="34" charset="-122"/>
            </a:endParaRPr>
          </a:p>
        </p:txBody>
      </p:sp>
      <p:sp>
        <p:nvSpPr>
          <p:cNvPr id="11" name="Shape 9"/>
          <p:cNvSpPr/>
          <p:nvPr/>
        </p:nvSpPr>
        <p:spPr>
          <a:xfrm>
            <a:off x="4919472" y="2697480"/>
            <a:ext cx="320040" cy="502920"/>
          </a:xfrm>
          <a:prstGeom prst="chevron">
            <a:avLst/>
          </a:prstGeom>
          <a:solidFill>
            <a:srgbClr val="D7DFEA"/>
          </a:solidFill>
          <a:ln w="12700">
            <a:solidFill>
              <a:srgbClr val="D7DFEA"/>
            </a:solidFill>
            <a:prstDash val="solid"/>
          </a:ln>
        </p:spPr>
      </p:sp>
      <p:sp>
        <p:nvSpPr>
          <p:cNvPr id="12" name="Shape 10"/>
          <p:cNvSpPr/>
          <p:nvPr/>
        </p:nvSpPr>
        <p:spPr>
          <a:xfrm>
            <a:off x="5230368" y="1828800"/>
            <a:ext cx="1993392" cy="2331720"/>
          </a:xfrm>
          <a:prstGeom prst="roundRect">
            <a:avLst/>
          </a:prstGeom>
          <a:solidFill>
            <a:srgbClr val="EDF2FA"/>
          </a:solidFill>
          <a:ln w="12700">
            <a:solidFill>
              <a:srgbClr val="D2DDEA"/>
            </a:solidFill>
            <a:prstDash val="solid"/>
          </a:ln>
        </p:spPr>
      </p:sp>
      <p:sp>
        <p:nvSpPr>
          <p:cNvPr id="13" name="Text 11"/>
          <p:cNvSpPr/>
          <p:nvPr/>
        </p:nvSpPr>
        <p:spPr>
          <a:xfrm>
            <a:off x="5340096" y="2084832"/>
            <a:ext cx="1773936" cy="365760"/>
          </a:xfrm>
          <a:prstGeom prst="rect">
            <a:avLst/>
          </a:prstGeom>
          <a:noFill/>
          <a:ln/>
        </p:spPr>
        <p:txBody>
          <a:bodyPr wrap="square" lIns="0" tIns="0" rIns="0" bIns="0" rtlCol="0" anchor="ctr">
            <a:normAutofit/>
          </a:bodyPr>
          <a:lstStyle/>
          <a:p>
            <a:pPr marL="0" indent="0" algn="ctr">
              <a:buNone/>
            </a:pPr>
            <a:r>
              <a:rPr lang="en-US" sz="1530" b="1" dirty="0">
                <a:solidFill>
                  <a:srgbClr val="31599B"/>
                </a:solidFill>
                <a:latin typeface="微软雅黑" panose="020B0503020204020204" pitchFamily="34" charset="-122"/>
                <a:ea typeface="微软雅黑" panose="020B0503020204020204" pitchFamily="34" charset="-122"/>
                <a:cs typeface="Noto Sans CJK SC" pitchFamily="34" charset="-120"/>
              </a:rPr>
              <a:t>模型更新</a:t>
            </a:r>
            <a:endParaRPr lang="en-US" sz="1530" dirty="0">
              <a:latin typeface="微软雅黑" panose="020B0503020204020204" pitchFamily="34" charset="-122"/>
              <a:ea typeface="微软雅黑" panose="020B0503020204020204" pitchFamily="34" charset="-122"/>
            </a:endParaRPr>
          </a:p>
        </p:txBody>
      </p:sp>
      <p:sp>
        <p:nvSpPr>
          <p:cNvPr id="14" name="Text 12"/>
          <p:cNvSpPr/>
          <p:nvPr/>
        </p:nvSpPr>
        <p:spPr>
          <a:xfrm>
            <a:off x="5376672" y="2743200"/>
            <a:ext cx="1700784" cy="822960"/>
          </a:xfrm>
          <a:prstGeom prst="rect">
            <a:avLst/>
          </a:prstGeom>
          <a:noFill/>
          <a:ln/>
        </p:spPr>
        <p:txBody>
          <a:bodyPr wrap="square" lIns="127" tIns="127" rIns="127" bIns="127" rtlCol="0" anchor="ctr">
            <a:normAutofit/>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用经验更新显式环境模型</a:t>
            </a:r>
            <a:endParaRPr lang="en-US" sz="2000" dirty="0">
              <a:latin typeface="微软雅黑" panose="020B0503020204020204" pitchFamily="34" charset="-122"/>
              <a:ea typeface="微软雅黑" panose="020B0503020204020204" pitchFamily="34" charset="-122"/>
            </a:endParaRPr>
          </a:p>
        </p:txBody>
      </p:sp>
      <p:sp>
        <p:nvSpPr>
          <p:cNvPr id="15" name="Shape 13"/>
          <p:cNvSpPr/>
          <p:nvPr/>
        </p:nvSpPr>
        <p:spPr>
          <a:xfrm>
            <a:off x="7223760" y="2697480"/>
            <a:ext cx="320040" cy="502920"/>
          </a:xfrm>
          <a:prstGeom prst="chevron">
            <a:avLst/>
          </a:prstGeom>
          <a:solidFill>
            <a:srgbClr val="D7DFEA"/>
          </a:solidFill>
          <a:ln w="12700">
            <a:solidFill>
              <a:srgbClr val="D7DFEA"/>
            </a:solidFill>
            <a:prstDash val="solid"/>
          </a:ln>
        </p:spPr>
      </p:sp>
      <p:sp>
        <p:nvSpPr>
          <p:cNvPr id="16" name="Shape 14"/>
          <p:cNvSpPr/>
          <p:nvPr/>
        </p:nvSpPr>
        <p:spPr>
          <a:xfrm>
            <a:off x="7534656" y="1828800"/>
            <a:ext cx="1993392" cy="2331720"/>
          </a:xfrm>
          <a:prstGeom prst="roundRect">
            <a:avLst/>
          </a:prstGeom>
          <a:solidFill>
            <a:srgbClr val="EAF5F1"/>
          </a:solidFill>
          <a:ln w="12700">
            <a:solidFill>
              <a:srgbClr val="C8E4DA"/>
            </a:solidFill>
            <a:prstDash val="solid"/>
          </a:ln>
        </p:spPr>
      </p:sp>
      <p:sp>
        <p:nvSpPr>
          <p:cNvPr id="17" name="Text 15"/>
          <p:cNvSpPr/>
          <p:nvPr/>
        </p:nvSpPr>
        <p:spPr>
          <a:xfrm>
            <a:off x="7644384" y="2084832"/>
            <a:ext cx="1773936" cy="365760"/>
          </a:xfrm>
          <a:prstGeom prst="rect">
            <a:avLst/>
          </a:prstGeom>
          <a:noFill/>
          <a:ln/>
        </p:spPr>
        <p:txBody>
          <a:bodyPr wrap="square" lIns="0" tIns="0" rIns="0" bIns="0" rtlCol="0" anchor="ctr">
            <a:normAutofit/>
          </a:bodyPr>
          <a:lstStyle/>
          <a:p>
            <a:pPr marL="0" indent="0" algn="ctr">
              <a:buNone/>
            </a:pPr>
            <a:r>
              <a:rPr lang="en-US" sz="1530" b="1" dirty="0">
                <a:solidFill>
                  <a:srgbClr val="2F8E72"/>
                </a:solidFill>
                <a:latin typeface="微软雅黑" panose="020B0503020204020204" pitchFamily="34" charset="-122"/>
                <a:ea typeface="微软雅黑" panose="020B0503020204020204" pitchFamily="34" charset="-122"/>
                <a:cs typeface="Noto Sans CJK SC" pitchFamily="34" charset="-120"/>
              </a:rPr>
              <a:t>模型采样</a:t>
            </a:r>
            <a:endParaRPr lang="en-US" sz="1530" dirty="0">
              <a:latin typeface="微软雅黑" panose="020B0503020204020204" pitchFamily="34" charset="-122"/>
              <a:ea typeface="微软雅黑" panose="020B0503020204020204" pitchFamily="34" charset="-122"/>
            </a:endParaRPr>
          </a:p>
        </p:txBody>
      </p:sp>
      <p:sp>
        <p:nvSpPr>
          <p:cNvPr id="18" name="Text 16"/>
          <p:cNvSpPr/>
          <p:nvPr/>
        </p:nvSpPr>
        <p:spPr>
          <a:xfrm>
            <a:off x="7680960" y="2743200"/>
            <a:ext cx="1700784" cy="822960"/>
          </a:xfrm>
          <a:prstGeom prst="rect">
            <a:avLst/>
          </a:prstGeom>
          <a:noFill/>
          <a:ln/>
        </p:spPr>
        <p:txBody>
          <a:bodyPr wrap="square" lIns="127" tIns="127" rIns="127" bIns="127" rtlCol="0" anchor="ctr">
            <a:normAutofit/>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从经验池抽取状态—动作对</a:t>
            </a:r>
            <a:endParaRPr lang="en-US" sz="2000" dirty="0">
              <a:latin typeface="微软雅黑" panose="020B0503020204020204" pitchFamily="34" charset="-122"/>
              <a:ea typeface="微软雅黑" panose="020B0503020204020204" pitchFamily="34" charset="-122"/>
            </a:endParaRPr>
          </a:p>
        </p:txBody>
      </p:sp>
      <p:sp>
        <p:nvSpPr>
          <p:cNvPr id="19" name="Shape 17"/>
          <p:cNvSpPr/>
          <p:nvPr/>
        </p:nvSpPr>
        <p:spPr>
          <a:xfrm>
            <a:off x="9528048" y="2697480"/>
            <a:ext cx="320040" cy="502920"/>
          </a:xfrm>
          <a:prstGeom prst="chevron">
            <a:avLst/>
          </a:prstGeom>
          <a:solidFill>
            <a:srgbClr val="D7DFEA"/>
          </a:solidFill>
          <a:ln w="12700">
            <a:solidFill>
              <a:srgbClr val="D7DFEA"/>
            </a:solidFill>
            <a:prstDash val="solid"/>
          </a:ln>
        </p:spPr>
      </p:sp>
      <p:sp>
        <p:nvSpPr>
          <p:cNvPr id="20" name="Shape 18"/>
          <p:cNvSpPr/>
          <p:nvPr/>
        </p:nvSpPr>
        <p:spPr>
          <a:xfrm>
            <a:off x="9838944" y="1828800"/>
            <a:ext cx="1993392" cy="2331720"/>
          </a:xfrm>
          <a:prstGeom prst="roundRect">
            <a:avLst/>
          </a:prstGeom>
          <a:solidFill>
            <a:srgbClr val="EDF2FA"/>
          </a:solidFill>
          <a:ln w="12700">
            <a:solidFill>
              <a:srgbClr val="D2DDEA"/>
            </a:solidFill>
            <a:prstDash val="solid"/>
          </a:ln>
        </p:spPr>
      </p:sp>
      <p:sp>
        <p:nvSpPr>
          <p:cNvPr id="21" name="Text 19"/>
          <p:cNvSpPr/>
          <p:nvPr/>
        </p:nvSpPr>
        <p:spPr>
          <a:xfrm>
            <a:off x="9948672" y="2084832"/>
            <a:ext cx="1773936" cy="365760"/>
          </a:xfrm>
          <a:prstGeom prst="rect">
            <a:avLst/>
          </a:prstGeom>
          <a:noFill/>
          <a:ln/>
        </p:spPr>
        <p:txBody>
          <a:bodyPr wrap="square" lIns="0" tIns="0" rIns="0" bIns="0" rtlCol="0" anchor="ctr">
            <a:normAutofit/>
          </a:bodyPr>
          <a:lstStyle/>
          <a:p>
            <a:pPr marL="0" indent="0" algn="ctr">
              <a:buNone/>
            </a:pPr>
            <a:r>
              <a:rPr lang="en-US" sz="1530" b="1" dirty="0">
                <a:solidFill>
                  <a:srgbClr val="31599B"/>
                </a:solidFill>
                <a:latin typeface="微软雅黑" panose="020B0503020204020204" pitchFamily="34" charset="-122"/>
                <a:ea typeface="微软雅黑" panose="020B0503020204020204" pitchFamily="34" charset="-122"/>
                <a:cs typeface="Noto Sans CJK SC" pitchFamily="34" charset="-120"/>
              </a:rPr>
              <a:t>额外 Q 更新</a:t>
            </a:r>
            <a:endParaRPr lang="en-US" sz="1530" dirty="0">
              <a:latin typeface="微软雅黑" panose="020B0503020204020204" pitchFamily="34" charset="-122"/>
              <a:ea typeface="微软雅黑" panose="020B0503020204020204" pitchFamily="34" charset="-122"/>
            </a:endParaRPr>
          </a:p>
        </p:txBody>
      </p:sp>
      <p:sp>
        <p:nvSpPr>
          <p:cNvPr id="22" name="Text 20"/>
          <p:cNvSpPr/>
          <p:nvPr/>
        </p:nvSpPr>
        <p:spPr>
          <a:xfrm>
            <a:off x="9985248" y="2743200"/>
            <a:ext cx="1700784" cy="822960"/>
          </a:xfrm>
          <a:prstGeom prst="rect">
            <a:avLst/>
          </a:prstGeom>
          <a:noFill/>
          <a:ln/>
        </p:spPr>
        <p:txBody>
          <a:bodyPr wrap="square" lIns="127" tIns="127" rIns="127" bIns="127" rtlCol="0" anchor="ctr">
            <a:noAutofit/>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用模拟样本进行 K 次规划更新</a:t>
            </a:r>
            <a:endParaRPr lang="en-US" sz="2000" dirty="0">
              <a:latin typeface="微软雅黑" panose="020B0503020204020204" pitchFamily="34" charset="-122"/>
              <a:ea typeface="微软雅黑" panose="020B0503020204020204" pitchFamily="34" charset="-122"/>
            </a:endParaRPr>
          </a:p>
        </p:txBody>
      </p:sp>
      <p:sp>
        <p:nvSpPr>
          <p:cNvPr id="23" name="Text 21"/>
          <p:cNvSpPr/>
          <p:nvPr/>
        </p:nvSpPr>
        <p:spPr>
          <a:xfrm>
            <a:off x="548196" y="4640714"/>
            <a:ext cx="10698480" cy="329184"/>
          </a:xfrm>
          <a:prstGeom prst="rect">
            <a:avLst/>
          </a:prstGeom>
          <a:noFill/>
          <a:ln/>
        </p:spPr>
        <p:txBody>
          <a:bodyPr wrap="square" lIns="0" tIns="0" rIns="0" bIns="0" rtlCol="0" anchor="ctr">
            <a:normAutofit fontScale="85000" lnSpcReduction="10000"/>
          </a:bodyPr>
          <a:lstStyle/>
          <a:p>
            <a:pPr marL="0" indent="0" algn="ctr">
              <a:buNone/>
            </a:pPr>
            <a:r>
              <a:rPr lang="en-US" sz="2400" b="1" dirty="0">
                <a:solidFill>
                  <a:srgbClr val="002060"/>
                </a:solidFill>
                <a:latin typeface="微软雅黑" panose="020B0503020204020204" pitchFamily="34" charset="-122"/>
                <a:ea typeface="微软雅黑" panose="020B0503020204020204" pitchFamily="34" charset="-122"/>
                <a:cs typeface="Noto Sans CJK SC" pitchFamily="34" charset="-120"/>
              </a:rPr>
              <a:t>Dyna-Q 使用由经验数据估计得到的“显式环境模型”或“经验模型”，</a:t>
            </a:r>
            <a:r>
              <a:rPr lang="en-US" sz="2400" b="1" dirty="0" err="1">
                <a:solidFill>
                  <a:srgbClr val="002060"/>
                </a:solidFill>
                <a:latin typeface="微软雅黑" panose="020B0503020204020204" pitchFamily="34" charset="-122"/>
                <a:ea typeface="微软雅黑" panose="020B0503020204020204" pitchFamily="34" charset="-122"/>
                <a:cs typeface="Noto Sans CJK SC" pitchFamily="34" charset="-120"/>
              </a:rPr>
              <a:t>而不是隐式模型</a:t>
            </a:r>
            <a:endParaRPr lang="en-US" sz="24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Dyna-Q </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77240" y="1664208"/>
            <a:ext cx="64008" cy="3520440"/>
          </a:xfrm>
          <a:prstGeom prst="rect">
            <a:avLst/>
          </a:prstGeom>
          <a:solidFill>
            <a:srgbClr val="C63F45"/>
          </a:solidFill>
          <a:ln w="12700">
            <a:solidFill>
              <a:srgbClr val="C63F45"/>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真实交互昂贵</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23113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机器人真机试错成本高、速度慢，并且可能受到安全约束。</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模型内学习廉价</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23113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借助环境模型反复生成模拟经验，可以在相同真实交互次数下更快收敛、提高样本效率。</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617220" y="5523864"/>
            <a:ext cx="10698480" cy="329184"/>
          </a:xfrm>
          <a:prstGeom prst="rect">
            <a:avLst/>
          </a:prstGeom>
          <a:noFill/>
          <a:ln/>
        </p:spPr>
        <p:txBody>
          <a:bodyPr wrap="square" lIns="0" tIns="0" rIns="0" bIns="0" rtlCol="0" anchor="ctr">
            <a:normAutofit/>
          </a:bodyPr>
          <a:lstStyle/>
          <a:p>
            <a:pPr marL="0" indent="0" algn="ctr">
              <a:buNone/>
            </a:pPr>
            <a:r>
              <a:rPr lang="zh-CN" altLang="en-US" sz="2000" b="1" dirty="0">
                <a:solidFill>
                  <a:srgbClr val="002060"/>
                </a:solidFill>
                <a:latin typeface="微软雅黑" panose="020B0503020204020204" pitchFamily="34" charset="-122"/>
                <a:ea typeface="微软雅黑" panose="020B0503020204020204" pitchFamily="34" charset="-122"/>
                <a:cs typeface="Noto Sans CJK SC" pitchFamily="34" charset="-120"/>
              </a:rPr>
              <a:t>提高单次真实交互的学习收益，</a:t>
            </a:r>
            <a:r>
              <a:rPr lang="en-US" sz="2000" b="1" dirty="0" err="1">
                <a:solidFill>
                  <a:srgbClr val="002060"/>
                </a:solidFill>
                <a:latin typeface="微软雅黑" panose="020B0503020204020204" pitchFamily="34" charset="-122"/>
                <a:ea typeface="微软雅黑" panose="020B0503020204020204" pitchFamily="34" charset="-122"/>
                <a:cs typeface="Noto Sans CJK SC" pitchFamily="34" charset="-120"/>
              </a:rPr>
              <a:t>这正是基于模型强化学习在具身智能任务中的重要吸引力</a:t>
            </a:r>
            <a:r>
              <a:rPr lang="en-US" sz="2000" b="1" dirty="0">
                <a:solidFill>
                  <a:srgbClr val="002060"/>
                </a:solidFill>
                <a:latin typeface="微软雅黑" panose="020B0503020204020204" pitchFamily="34" charset="-122"/>
                <a:ea typeface="微软雅黑" panose="020B0503020204020204" pitchFamily="34" charset="-122"/>
                <a:cs typeface="Noto Sans CJK SC" pitchFamily="34" charset="-120"/>
              </a:rPr>
              <a:t>。</a:t>
            </a:r>
            <a:endParaRPr lang="en-US" sz="20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310640" y="1495044"/>
            <a:ext cx="1600200" cy="1143000"/>
          </a:xfrm>
          <a:prstGeom prst="rect">
            <a:avLst/>
          </a:prstGeom>
          <a:noFill/>
          <a:ln/>
        </p:spPr>
        <p:txBody>
          <a:bodyPr wrap="square" lIns="0" tIns="0" rIns="0" bIns="0" rtlCol="0" anchor="ctr"/>
          <a:lstStyle/>
          <a:p>
            <a:pPr marL="0" indent="0" algn="r">
              <a:buNone/>
            </a:pPr>
            <a:r>
              <a:rPr lang="en-US" sz="7600" b="1" dirty="0">
                <a:solidFill>
                  <a:srgbClr val="002060"/>
                </a:solidFill>
                <a:latin typeface="微软雅黑" panose="020B0503020204020204" pitchFamily="34" charset="-122"/>
                <a:ea typeface="微软雅黑" panose="020B0503020204020204" pitchFamily="34" charset="-122"/>
                <a:cs typeface="Noto Sans CJK SC" pitchFamily="34" charset="-120"/>
              </a:rPr>
              <a:t>6</a:t>
            </a:r>
            <a:endParaRPr lang="en-US" sz="7600" dirty="0">
              <a:solidFill>
                <a:srgbClr val="002060"/>
              </a:solidFill>
              <a:latin typeface="微软雅黑" panose="020B0503020204020204" pitchFamily="34" charset="-122"/>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微软雅黑" panose="020B0503020204020204" pitchFamily="34" charset="-122"/>
                <a:ea typeface="微软雅黑" panose="020B0503020204020204" pitchFamily="34" charset="-122"/>
                <a:cs typeface="Noto Sans CJK SC" pitchFamily="34" charset="-120"/>
              </a:rPr>
              <a:t>实践案例</a:t>
            </a:r>
            <a:endParaRPr lang="en-US" sz="3900" dirty="0">
              <a:latin typeface="微软雅黑" panose="020B0503020204020204" pitchFamily="34" charset="-122"/>
            </a:endParaRPr>
          </a:p>
        </p:txBody>
      </p:sp>
      <p:sp>
        <p:nvSpPr>
          <p:cNvPr id="7" name="Shape 5"/>
          <p:cNvSpPr/>
          <p:nvPr/>
        </p:nvSpPr>
        <p:spPr>
          <a:xfrm>
            <a:off x="3273552" y="3794760"/>
            <a:ext cx="2148840" cy="384048"/>
          </a:xfrm>
          <a:prstGeom prst="roundRect">
            <a:avLst>
              <a:gd name="adj" fmla="val 11905"/>
            </a:avLst>
          </a:prstGeom>
          <a:solidFill>
            <a:srgbClr val="EDF2FA"/>
          </a:solidFill>
          <a:ln w="12700">
            <a:solidFill>
              <a:srgbClr val="EDF2FA"/>
            </a:solidFill>
            <a:prstDash val="solid"/>
          </a:ln>
        </p:spPr>
      </p:sp>
      <p:sp>
        <p:nvSpPr>
          <p:cNvPr id="8" name="Text 6"/>
          <p:cNvSpPr/>
          <p:nvPr/>
        </p:nvSpPr>
        <p:spPr>
          <a:xfrm>
            <a:off x="3346704" y="3867912"/>
            <a:ext cx="2002536" cy="201168"/>
          </a:xfrm>
          <a:prstGeom prst="rect">
            <a:avLst/>
          </a:prstGeom>
          <a:noFill/>
          <a:ln/>
        </p:spPr>
        <p:txBody>
          <a:bodyPr wrap="square" lIns="0" tIns="0" rIns="0" bIns="0" rtlCol="0" anchor="ctr">
            <a:normAutofit/>
          </a:bodyPr>
          <a:lstStyle/>
          <a:p>
            <a:pPr marL="0" indent="0" algn="ctr">
              <a:buNone/>
            </a:pPr>
            <a:r>
              <a:rPr lang="en-US" sz="1250" b="1" dirty="0">
                <a:solidFill>
                  <a:srgbClr val="31599B"/>
                </a:solidFill>
                <a:latin typeface="微软雅黑" panose="020B0503020204020204" pitchFamily="34" charset="-122"/>
                <a:ea typeface="微软雅黑" panose="020B0503020204020204" pitchFamily="34" charset="-122"/>
                <a:cs typeface="Noto Sans CJK SC" pitchFamily="34" charset="-120"/>
              </a:rPr>
              <a:t>Isaac Lab</a:t>
            </a:r>
            <a:endParaRPr lang="en-US" sz="1250" dirty="0">
              <a:latin typeface="微软雅黑" panose="020B0503020204020204" pitchFamily="34" charset="-122"/>
            </a:endParaRPr>
          </a:p>
        </p:txBody>
      </p:sp>
      <p:sp>
        <p:nvSpPr>
          <p:cNvPr id="9" name="Shape 7"/>
          <p:cNvSpPr/>
          <p:nvPr/>
        </p:nvSpPr>
        <p:spPr>
          <a:xfrm>
            <a:off x="5742432" y="3794760"/>
            <a:ext cx="2148840" cy="384048"/>
          </a:xfrm>
          <a:prstGeom prst="roundRect">
            <a:avLst>
              <a:gd name="adj" fmla="val 11905"/>
            </a:avLst>
          </a:prstGeom>
          <a:solidFill>
            <a:srgbClr val="EAF5F1"/>
          </a:solidFill>
          <a:ln w="12700">
            <a:solidFill>
              <a:srgbClr val="EAF5F1"/>
            </a:solidFill>
            <a:prstDash val="solid"/>
          </a:ln>
        </p:spPr>
      </p:sp>
      <p:sp>
        <p:nvSpPr>
          <p:cNvPr id="10" name="Text 8"/>
          <p:cNvSpPr/>
          <p:nvPr/>
        </p:nvSpPr>
        <p:spPr>
          <a:xfrm>
            <a:off x="5815584" y="3867912"/>
            <a:ext cx="2002536" cy="201168"/>
          </a:xfrm>
          <a:prstGeom prst="rect">
            <a:avLst/>
          </a:prstGeom>
          <a:noFill/>
          <a:ln/>
        </p:spPr>
        <p:txBody>
          <a:bodyPr wrap="square" lIns="0" tIns="0" rIns="0" bIns="0" rtlCol="0" anchor="ctr">
            <a:normAutofit/>
          </a:bodyPr>
          <a:lstStyle/>
          <a:p>
            <a:pPr marL="0" indent="0" algn="ctr">
              <a:buNone/>
            </a:pPr>
            <a:r>
              <a:rPr lang="en-US" sz="1250" b="1" dirty="0">
                <a:solidFill>
                  <a:srgbClr val="2F8E72"/>
                </a:solidFill>
                <a:latin typeface="微软雅黑" panose="020B0503020204020204" pitchFamily="34" charset="-122"/>
                <a:ea typeface="微软雅黑" panose="020B0503020204020204" pitchFamily="34" charset="-122"/>
                <a:cs typeface="Noto Sans CJK SC" pitchFamily="34" charset="-120"/>
              </a:rPr>
              <a:t>RSL_RL</a:t>
            </a:r>
            <a:endParaRPr lang="en-US" sz="1250" dirty="0">
              <a:latin typeface="微软雅黑" panose="020B0503020204020204" pitchFamily="34" charset="-122"/>
            </a:endParaRPr>
          </a:p>
        </p:txBody>
      </p:sp>
      <p:sp>
        <p:nvSpPr>
          <p:cNvPr id="11" name="Shape 9"/>
          <p:cNvSpPr/>
          <p:nvPr/>
        </p:nvSpPr>
        <p:spPr>
          <a:xfrm>
            <a:off x="8211312" y="3794760"/>
            <a:ext cx="2148840" cy="384048"/>
          </a:xfrm>
          <a:prstGeom prst="roundRect">
            <a:avLst>
              <a:gd name="adj" fmla="val 11905"/>
            </a:avLst>
          </a:prstGeom>
          <a:solidFill>
            <a:srgbClr val="FFF4DE"/>
          </a:solidFill>
          <a:ln w="12700">
            <a:solidFill>
              <a:srgbClr val="FFF4DE"/>
            </a:solidFill>
            <a:prstDash val="solid"/>
          </a:ln>
        </p:spPr>
      </p:sp>
      <p:sp>
        <p:nvSpPr>
          <p:cNvPr id="12" name="Text 10"/>
          <p:cNvSpPr/>
          <p:nvPr/>
        </p:nvSpPr>
        <p:spPr>
          <a:xfrm>
            <a:off x="8284464" y="3867912"/>
            <a:ext cx="2002536" cy="201168"/>
          </a:xfrm>
          <a:prstGeom prst="rect">
            <a:avLst/>
          </a:prstGeom>
          <a:noFill/>
          <a:ln/>
        </p:spPr>
        <p:txBody>
          <a:bodyPr wrap="square" lIns="0" tIns="0" rIns="0" bIns="0" rtlCol="0" anchor="ctr">
            <a:normAutofit/>
          </a:bodyPr>
          <a:lstStyle/>
          <a:p>
            <a:pPr marL="0" indent="0" algn="ctr">
              <a:buNone/>
            </a:pPr>
            <a:r>
              <a:rPr lang="en-US" sz="1250" b="1" dirty="0">
                <a:solidFill>
                  <a:srgbClr val="C58A24"/>
                </a:solidFill>
                <a:latin typeface="微软雅黑" panose="020B0503020204020204" pitchFamily="34" charset="-122"/>
                <a:ea typeface="微软雅黑" panose="020B0503020204020204" pitchFamily="34" charset="-122"/>
                <a:cs typeface="Noto Sans CJK SC" pitchFamily="34" charset="-120"/>
              </a:rPr>
              <a:t>PPO</a:t>
            </a:r>
            <a:endParaRPr lang="en-US" sz="1250" dirty="0">
              <a:latin typeface="微软雅黑" panose="020B0503020204020204" pitchFamily="34" charset="-122"/>
            </a:endParaRPr>
          </a:p>
        </p:txBody>
      </p:sp>
      <p:sp>
        <p:nvSpPr>
          <p:cNvPr id="13" name="Shape 11"/>
          <p:cNvSpPr/>
          <p:nvPr/>
        </p:nvSpPr>
        <p:spPr>
          <a:xfrm>
            <a:off x="3273552" y="4361688"/>
            <a:ext cx="2148840" cy="384048"/>
          </a:xfrm>
          <a:prstGeom prst="roundRect">
            <a:avLst>
              <a:gd name="adj" fmla="val 11905"/>
            </a:avLst>
          </a:prstGeom>
          <a:solidFill>
            <a:srgbClr val="FDECEE"/>
          </a:solidFill>
          <a:ln w="12700">
            <a:solidFill>
              <a:srgbClr val="FDECEE"/>
            </a:solidFill>
            <a:prstDash val="solid"/>
          </a:ln>
        </p:spPr>
      </p:sp>
      <p:sp>
        <p:nvSpPr>
          <p:cNvPr id="14" name="Text 12"/>
          <p:cNvSpPr/>
          <p:nvPr/>
        </p:nvSpPr>
        <p:spPr>
          <a:xfrm>
            <a:off x="3346704" y="4434840"/>
            <a:ext cx="2002536" cy="201168"/>
          </a:xfrm>
          <a:prstGeom prst="rect">
            <a:avLst/>
          </a:prstGeom>
          <a:noFill/>
          <a:ln/>
        </p:spPr>
        <p:txBody>
          <a:bodyPr wrap="square" lIns="0" tIns="0" rIns="0" bIns="0" rtlCol="0" anchor="ctr">
            <a:normAutofit/>
          </a:bodyPr>
          <a:lstStyle/>
          <a:p>
            <a:pPr marL="0" indent="0" algn="ctr">
              <a:buNone/>
            </a:pPr>
            <a:r>
              <a:rPr lang="en-US" sz="1250" b="1" dirty="0">
                <a:solidFill>
                  <a:srgbClr val="C63F45"/>
                </a:solidFill>
                <a:latin typeface="微软雅黑" panose="020B0503020204020204" pitchFamily="34" charset="-122"/>
                <a:ea typeface="微软雅黑" panose="020B0503020204020204" pitchFamily="34" charset="-122"/>
                <a:cs typeface="Noto Sans CJK SC" pitchFamily="34" charset="-120"/>
              </a:rPr>
              <a:t>Reach</a:t>
            </a:r>
            <a:endParaRPr lang="en-US" sz="1250" dirty="0">
              <a:latin typeface="微软雅黑" panose="020B0503020204020204" pitchFamily="34" charset="-122"/>
            </a:endParaRPr>
          </a:p>
        </p:txBody>
      </p:sp>
      <p:sp>
        <p:nvSpPr>
          <p:cNvPr id="15" name="Shape 13"/>
          <p:cNvSpPr/>
          <p:nvPr/>
        </p:nvSpPr>
        <p:spPr>
          <a:xfrm>
            <a:off x="5742432" y="4361688"/>
            <a:ext cx="2148840" cy="384048"/>
          </a:xfrm>
          <a:prstGeom prst="roundRect">
            <a:avLst>
              <a:gd name="adj" fmla="val 11905"/>
            </a:avLst>
          </a:prstGeom>
          <a:solidFill>
            <a:srgbClr val="F1ECFA"/>
          </a:solidFill>
          <a:ln w="12700">
            <a:solidFill>
              <a:srgbClr val="F1ECFA"/>
            </a:solidFill>
            <a:prstDash val="solid"/>
          </a:ln>
        </p:spPr>
      </p:sp>
      <p:sp>
        <p:nvSpPr>
          <p:cNvPr id="16" name="Text 14"/>
          <p:cNvSpPr/>
          <p:nvPr/>
        </p:nvSpPr>
        <p:spPr>
          <a:xfrm>
            <a:off x="5815584" y="4434840"/>
            <a:ext cx="2002536" cy="201168"/>
          </a:xfrm>
          <a:prstGeom prst="rect">
            <a:avLst/>
          </a:prstGeom>
          <a:noFill/>
          <a:ln/>
        </p:spPr>
        <p:txBody>
          <a:bodyPr wrap="square" lIns="0" tIns="0" rIns="0" bIns="0" rtlCol="0" anchor="ctr">
            <a:normAutofit/>
          </a:bodyPr>
          <a:lstStyle/>
          <a:p>
            <a:pPr marL="0" indent="0" algn="ctr">
              <a:buNone/>
            </a:pPr>
            <a:r>
              <a:rPr lang="en-US" sz="1250" b="1" dirty="0">
                <a:solidFill>
                  <a:srgbClr val="7558A8"/>
                </a:solidFill>
                <a:latin typeface="微软雅黑" panose="020B0503020204020204" pitchFamily="34" charset="-122"/>
                <a:ea typeface="微软雅黑" panose="020B0503020204020204" pitchFamily="34" charset="-122"/>
                <a:cs typeface="Noto Sans CJK SC" pitchFamily="34" charset="-120"/>
              </a:rPr>
              <a:t>GPU 并行</a:t>
            </a:r>
            <a:endParaRPr lang="en-US" sz="125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实践案例：SO-ARM101 机械臂强化学习训练</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45920"/>
            <a:ext cx="5074920" cy="3520440"/>
          </a:xfrm>
          <a:prstGeom prst="roundRect">
            <a:avLst>
              <a:gd name="adj" fmla="val 12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45920"/>
            <a:ext cx="64008" cy="3520440"/>
          </a:xfrm>
          <a:prstGeom prst="rect">
            <a:avLst/>
          </a:prstGeom>
          <a:solidFill>
            <a:srgbClr val="31599B"/>
          </a:solidFill>
          <a:ln w="12700">
            <a:solidFill>
              <a:srgbClr val="31599B"/>
            </a:solidFill>
            <a:prstDash val="solid"/>
          </a:ln>
        </p:spPr>
      </p:sp>
      <p:sp>
        <p:nvSpPr>
          <p:cNvPr id="6" name="Text 4"/>
          <p:cNvSpPr/>
          <p:nvPr/>
        </p:nvSpPr>
        <p:spPr>
          <a:xfrm>
            <a:off x="960120" y="1792224"/>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案例目标</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73836" y="2427200"/>
            <a:ext cx="4690872" cy="2016074"/>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在第2章 SO-ARM101 实体搭建基础上，使用 NVIDIA Isaac Lab 仿真平台结合 RSL_RL 库，通过 Reach 任务完成强化学习训练—测试流程。</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99632" y="1645920"/>
            <a:ext cx="5074920" cy="3520440"/>
          </a:xfrm>
          <a:prstGeom prst="roundRect">
            <a:avLst>
              <a:gd name="adj" fmla="val 129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6199632" y="1645920"/>
            <a:ext cx="64008" cy="3520440"/>
          </a:xfrm>
          <a:prstGeom prst="rect">
            <a:avLst/>
          </a:prstGeom>
          <a:solidFill>
            <a:srgbClr val="2F8E72"/>
          </a:solidFill>
          <a:ln w="12700">
            <a:solidFill>
              <a:srgbClr val="2F8E72"/>
            </a:solidFill>
            <a:prstDash val="solid"/>
          </a:ln>
        </p:spPr>
      </p:sp>
      <p:sp>
        <p:nvSpPr>
          <p:cNvPr id="10" name="Text 8"/>
          <p:cNvSpPr/>
          <p:nvPr/>
        </p:nvSpPr>
        <p:spPr>
          <a:xfrm>
            <a:off x="6409944" y="1792224"/>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训练特点</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409944" y="2407136"/>
            <a:ext cx="4690872" cy="152021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采用基于 PPO 的 RSL_RL，在高并行 GPU 环境中同时运行大量仿真实例，以提高策略训练效率。</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617220" y="5656496"/>
            <a:ext cx="10698480" cy="329184"/>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案例网址：wiki.seeedstudio.com/training_soarm101_policy_with_isaacLab/</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步骤1：环境准备与 Isaac Lab 安装</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45920"/>
            <a:ext cx="3246120" cy="356616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49808" y="1645920"/>
            <a:ext cx="64008" cy="3566160"/>
          </a:xfrm>
          <a:prstGeom prst="rect">
            <a:avLst/>
          </a:prstGeom>
          <a:solidFill>
            <a:srgbClr val="31599B"/>
          </a:solidFill>
          <a:ln w="12700">
            <a:solidFill>
              <a:srgbClr val="31599B"/>
            </a:solidFill>
            <a:prstDash val="solid"/>
          </a:ln>
        </p:spPr>
      </p:sp>
      <p:sp>
        <p:nvSpPr>
          <p:cNvPr id="6" name="Text 4"/>
          <p:cNvSpPr/>
          <p:nvPr/>
        </p:nvSpPr>
        <p:spPr>
          <a:xfrm>
            <a:off x="960120"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硬件 / 系统</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212848"/>
            <a:ext cx="2862072" cy="161239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推荐 Ubuntu 系统 + NVIDIA GPU，并具备 CUDA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支持</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25696" y="1645920"/>
            <a:ext cx="3246120" cy="356616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425696" y="1645920"/>
            <a:ext cx="64008" cy="3566160"/>
          </a:xfrm>
          <a:prstGeom prst="rect">
            <a:avLst/>
          </a:prstGeom>
          <a:solidFill>
            <a:srgbClr val="2F8E72"/>
          </a:solidFill>
          <a:ln w="12700">
            <a:solidFill>
              <a:srgbClr val="2F8E72"/>
            </a:solidFill>
            <a:prstDash val="solid"/>
          </a:ln>
        </p:spPr>
      </p:sp>
      <p:sp>
        <p:nvSpPr>
          <p:cNvPr id="10" name="Text 8"/>
          <p:cNvSpPr/>
          <p:nvPr/>
        </p:nvSpPr>
        <p:spPr>
          <a:xfrm>
            <a:off x="4636008"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Python 环境</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36008" y="2212848"/>
            <a:ext cx="28620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教材采用 Python 3.10 环境，并创建独立 conda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环境</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isaaclab</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45920"/>
            <a:ext cx="3246120" cy="3566160"/>
          </a:xfrm>
          <a:prstGeom prst="roundRect">
            <a:avLst>
              <a:gd name="adj" fmla="val 1408"/>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101584" y="1645920"/>
            <a:ext cx="64008" cy="3566160"/>
          </a:xfrm>
          <a:prstGeom prst="rect">
            <a:avLst/>
          </a:prstGeom>
          <a:solidFill>
            <a:srgbClr val="C58A24"/>
          </a:solidFill>
          <a:ln w="12700">
            <a:solidFill>
              <a:srgbClr val="C58A24"/>
            </a:solidFill>
            <a:prstDash val="solid"/>
          </a:ln>
        </p:spPr>
      </p:sp>
      <p:sp>
        <p:nvSpPr>
          <p:cNvPr id="14" name="Text 12"/>
          <p:cNvSpPr/>
          <p:nvPr/>
        </p:nvSpPr>
        <p:spPr>
          <a:xfrm>
            <a:off x="8311896"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仿真框架</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212848"/>
            <a:ext cx="28620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Isaac Lab 是 NVIDIA 开源机器人学习统一框架，支持高吞吐并行仿真与 RL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训练</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步骤1：创建环境并安装 PyTorch</a:t>
            </a:r>
            <a:endParaRPr lang="en-US" sz="3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10652760" cy="4343400"/>
          </a:xfrm>
          <a:prstGeom prst="roundRect">
            <a:avLst>
              <a:gd name="adj" fmla="val 842"/>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05840" y="1865376"/>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微软雅黑" panose="020B0503020204020204" pitchFamily="34" charset="-122"/>
                <a:ea typeface="微软雅黑" panose="020B0503020204020204" pitchFamily="34" charset="-122"/>
                <a:cs typeface="Times New Roman" panose="02020603050405020304" pitchFamily="18" charset="0"/>
              </a:rPr>
              <a:t>终端命令</a:t>
            </a:r>
            <a:endParaRPr 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Text 4"/>
          <p:cNvSpPr/>
          <p:nvPr/>
        </p:nvSpPr>
        <p:spPr>
          <a:xfrm>
            <a:off x="1005840" y="2322576"/>
            <a:ext cx="10140696" cy="2076704"/>
          </a:xfrm>
          <a:prstGeom prst="rect">
            <a:avLst/>
          </a:prstGeom>
          <a:noFill/>
          <a:ln/>
        </p:spPr>
        <p:txBody>
          <a:bodyPr wrap="square" lIns="254" tIns="254" rIns="254" bIns="254" rtlCol="0" anchor="t">
            <a:normAutofit lnSpcReduction="10000"/>
          </a:bodyPr>
          <a:lstStyle/>
          <a:p>
            <a:pPr marL="0" indent="0">
              <a:buNone/>
            </a:pPr>
            <a:r>
              <a:rPr lang="en-US" sz="200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conda create -n isaaclab python=3.10</a:t>
            </a: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200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conda activate isaaclab</a:t>
            </a: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200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 安装 PyTorch（GPU 版）</a:t>
            </a: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200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pip install torch==2.7.0 torchvision==0.22.0 \</a:t>
            </a: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200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  --index-url https://download.pytorch.org/whl/cu128</a:t>
            </a: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200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pip install --upgrade pip</a:t>
            </a:r>
            <a:endParaRPr 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cs typeface="Times New Roman" panose="02020603050405020304" pitchFamily="18" charset="0"/>
              </a:rPr>
              <a:t>109</a:t>
            </a:fld>
            <a:endParaRPr lang="en-US">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步骤1：安装 Isaac Sim 与 Isaac Lab</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572768"/>
            <a:ext cx="10652760" cy="4617720"/>
          </a:xfrm>
          <a:prstGeom prst="roundRect">
            <a:avLst>
              <a:gd name="adj" fmla="val 792"/>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05840" y="1773936"/>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微软雅黑" panose="020B0503020204020204" pitchFamily="34" charset="-122"/>
                <a:ea typeface="微软雅黑" panose="020B0503020204020204" pitchFamily="34" charset="-122"/>
                <a:cs typeface="Noto Sans CJK SC" pitchFamily="34" charset="-120"/>
              </a:rPr>
              <a:t>终端命令</a:t>
            </a:r>
            <a:endParaRPr lang="en-US" sz="1600" dirty="0">
              <a:latin typeface="微软雅黑" panose="020B0503020204020204" pitchFamily="34" charset="-122"/>
              <a:ea typeface="微软雅黑" panose="020B0503020204020204" pitchFamily="34" charset="-122"/>
            </a:endParaRPr>
          </a:p>
        </p:txBody>
      </p:sp>
      <p:sp>
        <p:nvSpPr>
          <p:cNvPr id="6" name="Text 4"/>
          <p:cNvSpPr/>
          <p:nvPr/>
        </p:nvSpPr>
        <p:spPr>
          <a:xfrm>
            <a:off x="1005840" y="2231136"/>
            <a:ext cx="10140696" cy="3749040"/>
          </a:xfrm>
          <a:prstGeom prst="rect">
            <a:avLst/>
          </a:prstGeom>
          <a:noFill/>
          <a:ln/>
        </p:spPr>
        <p:txBody>
          <a:bodyPr wrap="square" lIns="254" tIns="254" rIns="254" bIns="254" rtlCol="0" anchor="t">
            <a:normAutofit/>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 安装 Isaac Sim</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pip install 'isaacsim[all,extscache]==4.5.0' \</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  --extra-index-url https://pypi.nvidia.com</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 克隆并安装 Isaac Lab</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cd ~/Documents</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git clone https://github.com/isaac-sim/IsaacLab.git</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cd IsaacLab</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sudo apt install cmake build-essential</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./isaaclab.sh --install</a:t>
            </a:r>
            <a:endParaRPr 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110</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Times New Roman" panose="02020603050405020304" pitchFamily="18" charset="0"/>
                <a:ea typeface="微软雅黑" panose="020B0503020204020204" pitchFamily="34" charset="-122"/>
                <a:cs typeface="Times New Roman" panose="02020603050405020304" pitchFamily="18" charset="0"/>
              </a:rPr>
              <a:t>验证 Isaac Lab 安装</a:t>
            </a:r>
            <a:endParaRPr lang="en-US" sz="35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572768"/>
            <a:ext cx="10652760" cy="1234440"/>
          </a:xfrm>
          <a:prstGeom prst="roundRect">
            <a:avLst>
              <a:gd name="adj" fmla="val 2963"/>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05840" y="1773936"/>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Times New Roman" panose="02020603050405020304" pitchFamily="18" charset="0"/>
                <a:ea typeface="微软雅黑" panose="020B0503020204020204" pitchFamily="34" charset="-122"/>
                <a:cs typeface="Times New Roman" panose="02020603050405020304" pitchFamily="18" charset="0"/>
              </a:rPr>
              <a:t>验证命令</a:t>
            </a:r>
            <a:endParaRPr 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4"/>
          <p:cNvSpPr/>
          <p:nvPr/>
        </p:nvSpPr>
        <p:spPr>
          <a:xfrm>
            <a:off x="1005840" y="2231136"/>
            <a:ext cx="10140696" cy="365760"/>
          </a:xfrm>
          <a:prstGeom prst="rect">
            <a:avLst/>
          </a:prstGeom>
          <a:noFill/>
          <a:ln/>
        </p:spPr>
        <p:txBody>
          <a:bodyPr wrap="square" lIns="254" tIns="254" rIns="254" bIns="254" rtlCol="0" anchor="t">
            <a:normAutofit/>
          </a:bodyPr>
          <a:lstStyle/>
          <a:p>
            <a:pPr marL="0" indent="0">
              <a:buNone/>
            </a:pPr>
            <a:r>
              <a:rPr lang="en-US" sz="1420" dirty="0">
                <a:solidFill>
                  <a:srgbClr val="F2F5F8"/>
                </a:solidFill>
                <a:latin typeface="Times New Roman" panose="02020603050405020304" pitchFamily="18" charset="0"/>
                <a:ea typeface="微软雅黑" panose="020B0503020204020204" pitchFamily="34" charset="-122"/>
                <a:cs typeface="Times New Roman" panose="02020603050405020304" pitchFamily="18" charset="0"/>
              </a:rPr>
              <a:t>./isaaclab.sh -p scripts/tutorials/00_sim/create_empty.py</a:t>
            </a:r>
            <a:endParaRPr lang="en-US" sz="142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5"/>
          <p:cNvSpPr/>
          <p:nvPr/>
        </p:nvSpPr>
        <p:spPr>
          <a:xfrm>
            <a:off x="624840" y="6254496"/>
            <a:ext cx="8046720" cy="256032"/>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Isaac</a:t>
            </a:r>
            <a:r>
              <a:rPr lang="en-US" sz="1050" dirty="0">
                <a:solidFill>
                  <a:srgbClr val="667085"/>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600" b="1" dirty="0">
                <a:solidFill>
                  <a:schemeClr val="accent1">
                    <a:lumMod val="50000"/>
                  </a:schemeClr>
                </a:solidFill>
                <a:latin typeface="微软雅黑" panose="020B0503020204020204" pitchFamily="34" charset="-122"/>
                <a:ea typeface="微软雅黑" panose="020B0503020204020204" pitchFamily="34" charset="-122"/>
              </a:rPr>
              <a:t>Lab</a:t>
            </a:r>
            <a:r>
              <a:rPr lang="en-US" sz="1050" dirty="0">
                <a:solidFill>
                  <a:srgbClr val="667085"/>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安装成功提示</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2" name="Text 9"/>
          <p:cNvSpPr/>
          <p:nvPr/>
        </p:nvSpPr>
        <p:spPr>
          <a:xfrm>
            <a:off x="7391400" y="3730752"/>
            <a:ext cx="3681984" cy="77724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若弹出空场景窗口，则 Isaac Lab </a:t>
            </a:r>
            <a:r>
              <a:rPr lang="en-US" sz="2400" dirty="0" err="1">
                <a:solidFill>
                  <a:srgbClr val="222833"/>
                </a:solidFill>
                <a:latin typeface="Times New Roman" panose="02020603050405020304" pitchFamily="18" charset="0"/>
                <a:ea typeface="微软雅黑" panose="020B0503020204020204" pitchFamily="34" charset="-122"/>
                <a:cs typeface="Times New Roman" panose="02020603050405020304" pitchFamily="18" charset="0"/>
              </a:rPr>
              <a:t>安装成功</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Times New Roman" panose="02020603050405020304" pitchFamily="18" charset="0"/>
                <a:ea typeface="微软雅黑" panose="020B0503020204020204" pitchFamily="34" charset="-122"/>
                <a:cs typeface="Times New Roman" panose="02020603050405020304" pitchFamily="18" charset="0"/>
              </a:rPr>
              <a:t>111</a:t>
            </a:fld>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3" name="图片 12">
            <a:extLst>
              <a:ext uri="{FF2B5EF4-FFF2-40B4-BE49-F238E27FC236}">
                <a16:creationId xmlns:a16="http://schemas.microsoft.com/office/drawing/2014/main" id="{34F17C3D-AEBB-D155-6598-19D5FE20B991}"/>
              </a:ext>
            </a:extLst>
          </p:cNvPr>
          <p:cNvPicPr>
            <a:picLocks noChangeAspect="1"/>
          </p:cNvPicPr>
          <p:nvPr/>
        </p:nvPicPr>
        <p:blipFill>
          <a:blip r:embed="rId3"/>
          <a:stretch>
            <a:fillRect/>
          </a:stretch>
        </p:blipFill>
        <p:spPr>
          <a:xfrm>
            <a:off x="1512904" y="2801399"/>
            <a:ext cx="5072048" cy="3242785"/>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Times New Roman" panose="02020603050405020304" pitchFamily="18" charset="0"/>
              </a:rPr>
              <a:t>步骤2：安装 SO-ARM101 仿真扩展</a:t>
            </a:r>
            <a:endParaRPr lang="en-US" sz="3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10652760" cy="2740152"/>
          </a:xfrm>
          <a:prstGeom prst="roundRect">
            <a:avLst>
              <a:gd name="adj" fmla="val 842"/>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05840" y="1865376"/>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微软雅黑" panose="020B0503020204020204" pitchFamily="34" charset="-122"/>
                <a:ea typeface="微软雅黑" panose="020B0503020204020204" pitchFamily="34" charset="-122"/>
                <a:cs typeface="Times New Roman" panose="02020603050405020304" pitchFamily="18" charset="0"/>
              </a:rPr>
              <a:t>扩展安装与环境检查</a:t>
            </a:r>
            <a:endParaRPr 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Text 4"/>
          <p:cNvSpPr/>
          <p:nvPr/>
        </p:nvSpPr>
        <p:spPr>
          <a:xfrm>
            <a:off x="1005840" y="2322576"/>
            <a:ext cx="10140696" cy="3474720"/>
          </a:xfrm>
          <a:prstGeom prst="rect">
            <a:avLst/>
          </a:prstGeom>
          <a:noFill/>
          <a:ln/>
        </p:spPr>
        <p:txBody>
          <a:bodyPr wrap="square" lIns="254" tIns="254" rIns="254" bIns="254" rtlCol="0" anchor="t">
            <a:normAutofit/>
          </a:bodyPr>
          <a:lstStyle/>
          <a:p>
            <a:pPr marL="0" indent="0">
              <a:buNone/>
            </a:pPr>
            <a:r>
              <a:rPr lang="en-US" sz="142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cd ~/Documents</a:t>
            </a: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142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git clone https://github.com/MuammerBay/isaac_so_arm101.git</a:t>
            </a: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142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cd isaac_so_arm101</a:t>
            </a: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142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python -m pip install -e source/SO_100</a:t>
            </a: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142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 检查任务是否加载</a:t>
            </a: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en-US" sz="1420" dirty="0">
                <a:solidFill>
                  <a:srgbClr val="F2F5F8"/>
                </a:solidFill>
                <a:latin typeface="微软雅黑" panose="020B0503020204020204" pitchFamily="34" charset="-122"/>
                <a:ea typeface="微软雅黑" panose="020B0503020204020204" pitchFamily="34" charset="-122"/>
                <a:cs typeface="Times New Roman" panose="02020603050405020304" pitchFamily="18" charset="0"/>
              </a:rPr>
              <a:t>python scripts/list_envs.py</a:t>
            </a:r>
            <a:endParaRPr lang="en-US" sz="142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 5"/>
          <p:cNvSpPr/>
          <p:nvPr/>
        </p:nvSpPr>
        <p:spPr>
          <a:xfrm>
            <a:off x="894080" y="4607052"/>
            <a:ext cx="9763760" cy="329184"/>
          </a:xfrm>
          <a:prstGeom prst="rect">
            <a:avLst/>
          </a:prstGeom>
          <a:noFill/>
          <a:ln/>
        </p:spPr>
        <p:txBody>
          <a:bodyPr wrap="square" lIns="0" tIns="0" rIns="0" bIns="0" rtlCol="0" anchor="ctr">
            <a:normAutofit fontScale="92500"/>
          </a:bodyPr>
          <a:lstStyle/>
          <a:p>
            <a:pPr marL="0" indent="0" algn="ctr">
              <a:buNone/>
            </a:pPr>
            <a:r>
              <a:rPr 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扩展把 SO-ARM100 / 101 的 URDF 模型与 Isaac Lab 任务集成，并支持 Reach 等典型任务。</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cs typeface="Times New Roman" panose="02020603050405020304" pitchFamily="18" charset="0"/>
              </a:rPr>
              <a:t>112</a:t>
            </a:fld>
            <a:endParaRPr lang="en-US">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扩展安装完成：确认 Reach 任务已注册</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3_pdfimages/img-033.png"/>
          <p:cNvPicPr>
            <a:picLocks noChangeAspect="1"/>
          </p:cNvPicPr>
          <p:nvPr/>
        </p:nvPicPr>
        <p:blipFill>
          <a:blip r:embed="rId3"/>
          <a:stretch>
            <a:fillRect/>
          </a:stretch>
        </p:blipFill>
        <p:spPr>
          <a:xfrm>
            <a:off x="645160" y="2288747"/>
            <a:ext cx="7635240" cy="2635297"/>
          </a:xfrm>
          <a:prstGeom prst="rect">
            <a:avLst/>
          </a:prstGeom>
        </p:spPr>
      </p:pic>
      <p:sp>
        <p:nvSpPr>
          <p:cNvPr id="5" name="Text 2"/>
          <p:cNvSpPr/>
          <p:nvPr/>
        </p:nvSpPr>
        <p:spPr>
          <a:xfrm>
            <a:off x="502920" y="5148072"/>
            <a:ext cx="763524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扩展安装完成</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705088" y="1755648"/>
            <a:ext cx="2514600" cy="1965960"/>
          </a:xfrm>
          <a:prstGeom prst="roundRect">
            <a:avLst>
              <a:gd name="adj" fmla="val 232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8705088" y="1755648"/>
            <a:ext cx="64008" cy="1965960"/>
          </a:xfrm>
          <a:prstGeom prst="rect">
            <a:avLst/>
          </a:prstGeom>
          <a:solidFill>
            <a:srgbClr val="2F8E72"/>
          </a:solidFill>
          <a:ln w="12700">
            <a:solidFill>
              <a:srgbClr val="2F8E72"/>
            </a:solidFill>
            <a:prstDash val="solid"/>
          </a:ln>
        </p:spPr>
      </p:sp>
      <p:sp>
        <p:nvSpPr>
          <p:cNvPr id="8" name="Text 5"/>
          <p:cNvSpPr/>
          <p:nvPr/>
        </p:nvSpPr>
        <p:spPr>
          <a:xfrm>
            <a:off x="8915400" y="1901952"/>
            <a:ext cx="213055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检查结果</a:t>
            </a:r>
            <a:endParaRPr lang="en-US" sz="2400" dirty="0">
              <a:latin typeface="微软雅黑" panose="020B0503020204020204" pitchFamily="34" charset="-122"/>
              <a:ea typeface="微软雅黑" panose="020B0503020204020204" pitchFamily="34" charset="-122"/>
            </a:endParaRPr>
          </a:p>
        </p:txBody>
      </p:sp>
      <p:sp>
        <p:nvSpPr>
          <p:cNvPr id="9" name="Text 6"/>
          <p:cNvSpPr/>
          <p:nvPr/>
        </p:nvSpPr>
        <p:spPr>
          <a:xfrm>
            <a:off x="8915400" y="2322576"/>
            <a:ext cx="2130552" cy="125272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若终端列出 SO-ARM100-Reach-v0 等任务，则扩展安装完成。</a:t>
            </a:r>
            <a:endParaRPr lang="en-US" sz="2000" dirty="0">
              <a:latin typeface="微软雅黑" panose="020B0503020204020204" pitchFamily="34" charset="-122"/>
              <a:ea typeface="微软雅黑" panose="020B0503020204020204" pitchFamily="34" charset="-122"/>
            </a:endParaRPr>
          </a:p>
        </p:txBody>
      </p:sp>
      <p:sp>
        <p:nvSpPr>
          <p:cNvPr id="10" name="Shape 7"/>
          <p:cNvSpPr/>
          <p:nvPr/>
        </p:nvSpPr>
        <p:spPr>
          <a:xfrm>
            <a:off x="8705088" y="4005072"/>
            <a:ext cx="2514600" cy="1417320"/>
          </a:xfrm>
          <a:prstGeom prst="roundRect">
            <a:avLst>
              <a:gd name="adj" fmla="val 322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8705088" y="4005072"/>
            <a:ext cx="64008" cy="1417320"/>
          </a:xfrm>
          <a:prstGeom prst="rect">
            <a:avLst/>
          </a:prstGeom>
          <a:solidFill>
            <a:srgbClr val="31599B"/>
          </a:solidFill>
          <a:ln w="12700">
            <a:solidFill>
              <a:srgbClr val="31599B"/>
            </a:solidFill>
            <a:prstDash val="solid"/>
          </a:ln>
        </p:spPr>
      </p:sp>
      <p:sp>
        <p:nvSpPr>
          <p:cNvPr id="12" name="Text 9"/>
          <p:cNvSpPr/>
          <p:nvPr/>
        </p:nvSpPr>
        <p:spPr>
          <a:xfrm>
            <a:off x="8915400" y="4151376"/>
            <a:ext cx="213055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下一步</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8915400" y="4572000"/>
            <a:ext cx="2130552" cy="70408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进入强化学习训练流程。</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113</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步骤3：强化学习训练流程</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3218688" cy="3520440"/>
          </a:xfrm>
          <a:prstGeom prst="roundRect">
            <a:avLst>
              <a:gd name="adj" fmla="val 142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713232" y="1627632"/>
            <a:ext cx="64008" cy="3520440"/>
          </a:xfrm>
          <a:prstGeom prst="rect">
            <a:avLst/>
          </a:prstGeom>
          <a:solidFill>
            <a:srgbClr val="31599B"/>
          </a:solidFill>
          <a:ln w="12700">
            <a:solidFill>
              <a:srgbClr val="31599B"/>
            </a:solidFill>
            <a:prstDash val="solid"/>
          </a:ln>
        </p:spPr>
      </p:sp>
      <p:sp>
        <p:nvSpPr>
          <p:cNvPr id="6" name="Text 4"/>
          <p:cNvSpPr/>
          <p:nvPr/>
        </p:nvSpPr>
        <p:spPr>
          <a:xfrm>
            <a:off x="923544" y="1773936"/>
            <a:ext cx="283464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任务</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05256" y="2359557"/>
            <a:ext cx="2834640" cy="1763982"/>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SO-ARM100-Reach-v0：机械臂从随机初始姿态到达随机目标点。</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370832" y="1627632"/>
            <a:ext cx="3218688" cy="3520440"/>
          </a:xfrm>
          <a:prstGeom prst="roundRect">
            <a:avLst>
              <a:gd name="adj" fmla="val 142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4370832" y="1627632"/>
            <a:ext cx="64008" cy="3520440"/>
          </a:xfrm>
          <a:prstGeom prst="rect">
            <a:avLst/>
          </a:prstGeom>
          <a:solidFill>
            <a:srgbClr val="2F8E72"/>
          </a:solidFill>
          <a:ln w="12700">
            <a:solidFill>
              <a:srgbClr val="2F8E72"/>
            </a:solidFill>
            <a:prstDash val="solid"/>
          </a:ln>
        </p:spPr>
      </p:sp>
      <p:sp>
        <p:nvSpPr>
          <p:cNvPr id="10" name="Text 8"/>
          <p:cNvSpPr/>
          <p:nvPr/>
        </p:nvSpPr>
        <p:spPr>
          <a:xfrm>
            <a:off x="4581144" y="1773936"/>
            <a:ext cx="283464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算法</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581144" y="2287157"/>
            <a:ext cx="2834640" cy="123444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使用 RSL_RL 库提供的 PPO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算法</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028432" y="1627632"/>
            <a:ext cx="3218688" cy="3520440"/>
          </a:xfrm>
          <a:prstGeom prst="roundRect">
            <a:avLst>
              <a:gd name="adj" fmla="val 142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8028432" y="1627632"/>
            <a:ext cx="64008" cy="3520440"/>
          </a:xfrm>
          <a:prstGeom prst="rect">
            <a:avLst/>
          </a:prstGeom>
          <a:solidFill>
            <a:srgbClr val="C58A24"/>
          </a:solidFill>
          <a:ln w="12700">
            <a:solidFill>
              <a:srgbClr val="C58A24"/>
            </a:solidFill>
            <a:prstDash val="solid"/>
          </a:ln>
        </p:spPr>
      </p:sp>
      <p:sp>
        <p:nvSpPr>
          <p:cNvPr id="14" name="Text 12"/>
          <p:cNvSpPr/>
          <p:nvPr/>
        </p:nvSpPr>
        <p:spPr>
          <a:xfrm>
            <a:off x="8238744" y="1773936"/>
            <a:ext cx="283464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并行</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238744" y="2307702"/>
            <a:ext cx="2834640" cy="1327037"/>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GPU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上同时运行数千个并行环境，加速策略优化</a:t>
            </a:r>
            <a:endParaRPr lang="en-US" sz="2400" dirty="0">
              <a:latin typeface="微软雅黑" panose="020B0503020204020204" pitchFamily="34" charset="-122"/>
              <a:ea typeface="微软雅黑" panose="020B0503020204020204" pitchFamily="34" charset="-122"/>
            </a:endParaRPr>
          </a:p>
        </p:txBody>
      </p:sp>
      <p:sp>
        <p:nvSpPr>
          <p:cNvPr id="16" name="Text 14"/>
          <p:cNvSpPr/>
          <p:nvPr/>
        </p:nvSpPr>
        <p:spPr>
          <a:xfrm>
            <a:off x="374904" y="5422391"/>
            <a:ext cx="10698480" cy="329184"/>
          </a:xfrm>
          <a:prstGeom prst="rect">
            <a:avLst/>
          </a:prstGeom>
          <a:noFill/>
          <a:ln/>
        </p:spPr>
        <p:txBody>
          <a:bodyPr wrap="square" lIns="0" tIns="0" rIns="0" bIns="0" rtlCol="0" anchor="ctr">
            <a:normAutofit lnSpcReduction="10000"/>
          </a:bodyPr>
          <a:lstStyle/>
          <a:p>
            <a:pPr marL="0" indent="0" algn="ctr">
              <a:buNone/>
            </a:pPr>
            <a:r>
              <a:rPr lang="en-US" sz="2400" b="1" dirty="0">
                <a:solidFill>
                  <a:srgbClr val="002060"/>
                </a:solidFill>
                <a:latin typeface="微软雅黑" panose="020B0503020204020204" pitchFamily="34" charset="-122"/>
                <a:ea typeface="微软雅黑" panose="020B0503020204020204" pitchFamily="34" charset="-122"/>
                <a:cs typeface="Noto Sans CJK SC" pitchFamily="34" charset="-120"/>
              </a:rPr>
              <a:t>训练过程中 Isaac Sim </a:t>
            </a:r>
            <a:r>
              <a:rPr lang="en-US" sz="2400" b="1" dirty="0" err="1">
                <a:solidFill>
                  <a:srgbClr val="002060"/>
                </a:solidFill>
                <a:latin typeface="微软雅黑" panose="020B0503020204020204" pitchFamily="34" charset="-122"/>
                <a:ea typeface="微软雅黑" panose="020B0503020204020204" pitchFamily="34" charset="-122"/>
                <a:cs typeface="Noto Sans CJK SC" pitchFamily="34" charset="-120"/>
              </a:rPr>
              <a:t>可实时显示多臂并行学习</a:t>
            </a:r>
            <a:endParaRPr lang="en-US" sz="24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114</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启动训练：实时可视化与无窗口模式</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09344"/>
            <a:ext cx="10652760" cy="1417320"/>
          </a:xfrm>
          <a:prstGeom prst="roundRect">
            <a:avLst>
              <a:gd name="adj" fmla="val 2581"/>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05840" y="1810512"/>
            <a:ext cx="10140696" cy="310896"/>
          </a:xfrm>
          <a:prstGeom prst="rect">
            <a:avLst/>
          </a:prstGeom>
          <a:noFill/>
          <a:ln/>
        </p:spPr>
        <p:txBody>
          <a:bodyPr wrap="square" lIns="0" tIns="0" rIns="0" bIns="0" rtlCol="0" anchor="ctr"/>
          <a:lstStyle/>
          <a:p>
            <a:pPr marL="0" indent="0">
              <a:buNone/>
            </a:pPr>
            <a:r>
              <a:rPr lang="en-US" sz="2000" b="1" dirty="0">
                <a:solidFill>
                  <a:srgbClr val="DCE6F7"/>
                </a:solidFill>
                <a:latin typeface="微软雅黑" panose="020B0503020204020204" pitchFamily="34" charset="-122"/>
                <a:ea typeface="微软雅黑" panose="020B0503020204020204" pitchFamily="34" charset="-122"/>
                <a:cs typeface="Noto Sans CJK SC" pitchFamily="34" charset="-120"/>
              </a:rPr>
              <a:t>实时可视化</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005840" y="2267712"/>
            <a:ext cx="10140696" cy="548640"/>
          </a:xfrm>
          <a:prstGeom prst="rect">
            <a:avLst/>
          </a:prstGeom>
          <a:noFill/>
          <a:ln/>
        </p:spPr>
        <p:txBody>
          <a:bodyPr wrap="square" lIns="254" tIns="254" rIns="254" bIns="254" rtlCol="0" anchor="t">
            <a:noAutofit/>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python scripts/rsl_rl/train.py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--task SO-ARM100-Reach-v0</a:t>
            </a:r>
            <a:endParaRPr lang="en-US" dirty="0">
              <a:latin typeface="微软雅黑" panose="020B0503020204020204" pitchFamily="34" charset="-122"/>
              <a:ea typeface="微软雅黑" panose="020B0503020204020204" pitchFamily="34" charset="-122"/>
            </a:endParaRPr>
          </a:p>
        </p:txBody>
      </p:sp>
      <p:sp>
        <p:nvSpPr>
          <p:cNvPr id="7" name="Shape 5"/>
          <p:cNvSpPr/>
          <p:nvPr/>
        </p:nvSpPr>
        <p:spPr>
          <a:xfrm>
            <a:off x="749808" y="3383280"/>
            <a:ext cx="10652760" cy="1417320"/>
          </a:xfrm>
          <a:prstGeom prst="roundRect">
            <a:avLst>
              <a:gd name="adj" fmla="val 2581"/>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8" name="Text 6"/>
          <p:cNvSpPr/>
          <p:nvPr/>
        </p:nvSpPr>
        <p:spPr>
          <a:xfrm>
            <a:off x="1005840" y="3584448"/>
            <a:ext cx="10140696" cy="310896"/>
          </a:xfrm>
          <a:prstGeom prst="rect">
            <a:avLst/>
          </a:prstGeom>
          <a:noFill/>
          <a:ln/>
        </p:spPr>
        <p:txBody>
          <a:bodyPr wrap="square" lIns="0" tIns="0" rIns="0" bIns="0" rtlCol="0" anchor="ctr"/>
          <a:lstStyle/>
          <a:p>
            <a:pPr marL="0" indent="0">
              <a:buNone/>
            </a:pPr>
            <a:r>
              <a:rPr lang="en-US" sz="2000" b="1" dirty="0">
                <a:solidFill>
                  <a:srgbClr val="DCE6F7"/>
                </a:solidFill>
                <a:latin typeface="微软雅黑" panose="020B0503020204020204" pitchFamily="34" charset="-122"/>
                <a:ea typeface="微软雅黑" panose="020B0503020204020204" pitchFamily="34" charset="-122"/>
                <a:cs typeface="Noto Sans CJK SC" pitchFamily="34" charset="-120"/>
              </a:rPr>
              <a:t>无窗口加速</a:t>
            </a:r>
            <a:endParaRPr lang="en-US" sz="2000" dirty="0">
              <a:latin typeface="微软雅黑" panose="020B0503020204020204" pitchFamily="34" charset="-122"/>
              <a:ea typeface="微软雅黑" panose="020B0503020204020204" pitchFamily="34" charset="-122"/>
            </a:endParaRPr>
          </a:p>
        </p:txBody>
      </p:sp>
      <p:sp>
        <p:nvSpPr>
          <p:cNvPr id="9" name="Text 7"/>
          <p:cNvSpPr/>
          <p:nvPr/>
        </p:nvSpPr>
        <p:spPr>
          <a:xfrm>
            <a:off x="1005840" y="4041648"/>
            <a:ext cx="10140696" cy="548640"/>
          </a:xfrm>
          <a:prstGeom prst="rect">
            <a:avLst/>
          </a:prstGeom>
          <a:noFill/>
          <a:ln/>
        </p:spPr>
        <p:txBody>
          <a:bodyPr wrap="square" lIns="254" tIns="254" rIns="254" bIns="254" rtlCol="0" anchor="t">
            <a:normAutofit lnSpcReduction="10000"/>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python scripts/rsl_rl/train.py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--task SO-ARM100-Reach-v0 --headless</a:t>
            </a:r>
            <a:endParaRPr lang="en-US" dirty="0">
              <a:latin typeface="微软雅黑" panose="020B0503020204020204" pitchFamily="34" charset="-122"/>
              <a:ea typeface="微软雅黑" panose="020B0503020204020204" pitchFamily="34" charset="-122"/>
            </a:endParaRPr>
          </a:p>
        </p:txBody>
      </p:sp>
      <p:sp>
        <p:nvSpPr>
          <p:cNvPr id="10" name="Text 8"/>
          <p:cNvSpPr/>
          <p:nvPr/>
        </p:nvSpPr>
        <p:spPr>
          <a:xfrm>
            <a:off x="1273216" y="4990078"/>
            <a:ext cx="5585364" cy="329184"/>
          </a:xfrm>
          <a:prstGeom prst="rect">
            <a:avLst/>
          </a:prstGeom>
          <a:noFill/>
          <a:ln/>
        </p:spPr>
        <p:txBody>
          <a:bodyPr wrap="square" lIns="0" tIns="0" rIns="0" bIns="0" rtlCol="0" anchor="ctr">
            <a:normAutofit fontScale="85000" lnSpcReduction="10000"/>
          </a:bodyPr>
          <a:lstStyle/>
          <a:p>
            <a:pPr marL="0" indent="0">
              <a:buNone/>
            </a:pPr>
            <a:r>
              <a:rPr lang="en-US" sz="2400" b="1" dirty="0">
                <a:solidFill>
                  <a:srgbClr val="002060"/>
                </a:solidFill>
                <a:latin typeface="微软雅黑" panose="020B0503020204020204" pitchFamily="34" charset="-122"/>
                <a:ea typeface="微软雅黑" panose="020B0503020204020204" pitchFamily="34" charset="-122"/>
              </a:rPr>
              <a:t>添加 --headless </a:t>
            </a:r>
            <a:r>
              <a:rPr lang="en-US" sz="2400" b="1" dirty="0" err="1">
                <a:solidFill>
                  <a:srgbClr val="002060"/>
                </a:solidFill>
                <a:latin typeface="微软雅黑" panose="020B0503020204020204" pitchFamily="34" charset="-122"/>
                <a:ea typeface="微软雅黑" panose="020B0503020204020204" pitchFamily="34" charset="-122"/>
              </a:rPr>
              <a:t>参数可在无窗口模式下加速训练</a:t>
            </a:r>
            <a:endParaRPr lang="en-US" sz="24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115</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训练效果：多臂并行学习</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5" name="Text 2"/>
          <p:cNvSpPr/>
          <p:nvPr/>
        </p:nvSpPr>
        <p:spPr>
          <a:xfrm>
            <a:off x="603041" y="5726748"/>
            <a:ext cx="800100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强化学习训练效果</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452879" y="1517904"/>
            <a:ext cx="2863088" cy="1417320"/>
          </a:xfrm>
          <a:prstGeom prst="roundRect">
            <a:avLst>
              <a:gd name="adj" fmla="val 322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7" name="Shape 4"/>
          <p:cNvSpPr/>
          <p:nvPr/>
        </p:nvSpPr>
        <p:spPr>
          <a:xfrm>
            <a:off x="8452878" y="1517904"/>
            <a:ext cx="83507" cy="1417320"/>
          </a:xfrm>
          <a:prstGeom prst="rect">
            <a:avLst/>
          </a:prstGeom>
          <a:solidFill>
            <a:srgbClr val="31599B"/>
          </a:solidFill>
          <a:ln w="12700">
            <a:solidFill>
              <a:srgbClr val="31599B"/>
            </a:solidFill>
            <a:prstDash val="solid"/>
          </a:ln>
        </p:spPr>
      </p:sp>
      <p:sp>
        <p:nvSpPr>
          <p:cNvPr id="8" name="Text 5"/>
          <p:cNvSpPr/>
          <p:nvPr/>
        </p:nvSpPr>
        <p:spPr>
          <a:xfrm>
            <a:off x="8663191" y="1664208"/>
            <a:ext cx="2362048"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实时显示</a:t>
            </a:r>
            <a:endParaRPr lang="en-US" sz="2000" dirty="0">
              <a:latin typeface="微软雅黑" panose="020B0503020204020204" pitchFamily="34" charset="-122"/>
              <a:ea typeface="微软雅黑" panose="020B0503020204020204" pitchFamily="34" charset="-122"/>
            </a:endParaRPr>
          </a:p>
        </p:txBody>
      </p:sp>
      <p:sp>
        <p:nvSpPr>
          <p:cNvPr id="9" name="Text 6"/>
          <p:cNvSpPr/>
          <p:nvPr/>
        </p:nvSpPr>
        <p:spPr>
          <a:xfrm>
            <a:off x="8663191" y="2084832"/>
            <a:ext cx="2362048" cy="70408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Isaac Sim </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窗口展示多个并行机械臂</a:t>
            </a:r>
            <a:endParaRPr lang="en-US" dirty="0">
              <a:latin typeface="微软雅黑" panose="020B0503020204020204" pitchFamily="34" charset="-122"/>
              <a:ea typeface="微软雅黑" panose="020B0503020204020204" pitchFamily="34" charset="-122"/>
            </a:endParaRPr>
          </a:p>
        </p:txBody>
      </p:sp>
      <p:sp>
        <p:nvSpPr>
          <p:cNvPr id="10" name="Shape 7"/>
          <p:cNvSpPr/>
          <p:nvPr/>
        </p:nvSpPr>
        <p:spPr>
          <a:xfrm>
            <a:off x="8452879" y="3163824"/>
            <a:ext cx="2863088" cy="1417320"/>
          </a:xfrm>
          <a:prstGeom prst="roundRect">
            <a:avLst>
              <a:gd name="adj" fmla="val 322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1" name="Shape 8"/>
          <p:cNvSpPr/>
          <p:nvPr/>
        </p:nvSpPr>
        <p:spPr>
          <a:xfrm>
            <a:off x="8452878" y="3163824"/>
            <a:ext cx="83507" cy="1417320"/>
          </a:xfrm>
          <a:prstGeom prst="rect">
            <a:avLst/>
          </a:prstGeom>
          <a:solidFill>
            <a:srgbClr val="2F8E72"/>
          </a:solidFill>
          <a:ln w="12700">
            <a:solidFill>
              <a:srgbClr val="2F8E72"/>
            </a:solidFill>
            <a:prstDash val="solid"/>
          </a:ln>
        </p:spPr>
      </p:sp>
      <p:sp>
        <p:nvSpPr>
          <p:cNvPr id="12" name="Text 9"/>
          <p:cNvSpPr/>
          <p:nvPr/>
        </p:nvSpPr>
        <p:spPr>
          <a:xfrm>
            <a:off x="8663191" y="3310128"/>
            <a:ext cx="2362048"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自动记录</a:t>
            </a:r>
            <a:endParaRPr lang="en-US" sz="2000" dirty="0">
              <a:latin typeface="微软雅黑" panose="020B0503020204020204" pitchFamily="34" charset="-122"/>
              <a:ea typeface="微软雅黑" panose="020B0503020204020204" pitchFamily="34" charset="-122"/>
            </a:endParaRPr>
          </a:p>
        </p:txBody>
      </p:sp>
      <p:sp>
        <p:nvSpPr>
          <p:cNvPr id="13" name="Text 10"/>
          <p:cNvSpPr/>
          <p:nvPr/>
        </p:nvSpPr>
        <p:spPr>
          <a:xfrm>
            <a:off x="8663191" y="3730752"/>
            <a:ext cx="2362048" cy="70408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损失曲线与 Reach Success </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奖励值自动记录</a:t>
            </a:r>
            <a:endParaRPr lang="en-US" dirty="0">
              <a:latin typeface="微软雅黑" panose="020B0503020204020204" pitchFamily="34" charset="-122"/>
              <a:ea typeface="微软雅黑" panose="020B0503020204020204" pitchFamily="34" charset="-122"/>
            </a:endParaRPr>
          </a:p>
        </p:txBody>
      </p:sp>
      <p:sp>
        <p:nvSpPr>
          <p:cNvPr id="14" name="Shape 11"/>
          <p:cNvSpPr/>
          <p:nvPr/>
        </p:nvSpPr>
        <p:spPr>
          <a:xfrm>
            <a:off x="8452879" y="4809744"/>
            <a:ext cx="2863088" cy="1143000"/>
          </a:xfrm>
          <a:prstGeom prst="roundRect">
            <a:avLst>
              <a:gd name="adj" fmla="val 40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5" name="Shape 12"/>
          <p:cNvSpPr/>
          <p:nvPr/>
        </p:nvSpPr>
        <p:spPr>
          <a:xfrm>
            <a:off x="8452878" y="4809744"/>
            <a:ext cx="83507" cy="1143000"/>
          </a:xfrm>
          <a:prstGeom prst="rect">
            <a:avLst/>
          </a:prstGeom>
          <a:solidFill>
            <a:srgbClr val="C58A24"/>
          </a:solidFill>
          <a:ln w="12700">
            <a:solidFill>
              <a:srgbClr val="C58A24"/>
            </a:solidFill>
            <a:prstDash val="solid"/>
          </a:ln>
        </p:spPr>
      </p:sp>
      <p:sp>
        <p:nvSpPr>
          <p:cNvPr id="16" name="Text 13"/>
          <p:cNvSpPr/>
          <p:nvPr/>
        </p:nvSpPr>
        <p:spPr>
          <a:xfrm>
            <a:off x="8663191" y="4956048"/>
            <a:ext cx="2362048"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训练效率</a:t>
            </a:r>
            <a:endParaRPr lang="en-US" sz="2000" dirty="0">
              <a:latin typeface="微软雅黑" panose="020B0503020204020204" pitchFamily="34" charset="-122"/>
              <a:ea typeface="微软雅黑" panose="020B0503020204020204" pitchFamily="34" charset="-122"/>
            </a:endParaRPr>
          </a:p>
        </p:txBody>
      </p:sp>
      <p:sp>
        <p:nvSpPr>
          <p:cNvPr id="17" name="Text 14"/>
          <p:cNvSpPr/>
          <p:nvPr/>
        </p:nvSpPr>
        <p:spPr>
          <a:xfrm>
            <a:off x="8713672" y="5340096"/>
            <a:ext cx="2560320" cy="1086105"/>
          </a:xfrm>
          <a:prstGeom prst="rect">
            <a:avLst/>
          </a:prstGeom>
          <a:noFill/>
          <a:ln/>
        </p:spPr>
        <p:txBody>
          <a:bodyPr wrap="square" lIns="254" tIns="254" rIns="254" bIns="254" rtlCol="0" anchor="t">
            <a:normAutofit/>
          </a:bodyPr>
          <a:lstStyle/>
          <a:p>
            <a:pPr marL="0" indent="0">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消费级</a:t>
            </a: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 GPU </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可在数小时内完成收敛</a:t>
            </a:r>
            <a:endParaRPr lang="en-US"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116</a:t>
            </a:fld>
            <a:endParaRPr lang="en-US" dirty="0">
              <a:latin typeface="微软雅黑" panose="020B0503020204020204" pitchFamily="34" charset="-122"/>
              <a:ea typeface="微软雅黑" panose="020B0503020204020204" pitchFamily="34" charset="-122"/>
            </a:endParaRPr>
          </a:p>
        </p:txBody>
      </p:sp>
      <p:pic>
        <p:nvPicPr>
          <p:cNvPr id="18" name="图片 17">
            <a:extLst>
              <a:ext uri="{FF2B5EF4-FFF2-40B4-BE49-F238E27FC236}">
                <a16:creationId xmlns:a16="http://schemas.microsoft.com/office/drawing/2014/main" id="{43D9A946-8DB4-5338-910C-97652F0EB811}"/>
              </a:ext>
            </a:extLst>
          </p:cNvPr>
          <p:cNvPicPr>
            <a:picLocks noChangeAspect="1"/>
          </p:cNvPicPr>
          <p:nvPr/>
        </p:nvPicPr>
        <p:blipFill>
          <a:blip r:embed="rId3"/>
          <a:stretch>
            <a:fillRect/>
          </a:stretch>
        </p:blipFill>
        <p:spPr>
          <a:xfrm>
            <a:off x="1608677" y="1550773"/>
            <a:ext cx="6355525" cy="3972203"/>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训练结束：模型权重与日志</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822960" y="1691640"/>
            <a:ext cx="10469880" cy="1371600"/>
          </a:xfrm>
          <a:prstGeom prst="roundRect">
            <a:avLst>
              <a:gd name="adj" fmla="val 2667"/>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78992" y="1892808"/>
            <a:ext cx="9957816" cy="310896"/>
          </a:xfrm>
          <a:prstGeom prst="rect">
            <a:avLst/>
          </a:prstGeom>
          <a:noFill/>
          <a:ln/>
        </p:spPr>
        <p:txBody>
          <a:bodyPr wrap="square" lIns="0" tIns="0" rIns="0" bIns="0" rtlCol="0" anchor="ctr"/>
          <a:lstStyle/>
          <a:p>
            <a:pPr marL="0" indent="0">
              <a:buNone/>
            </a:pPr>
            <a:r>
              <a:rPr lang="en-US" sz="2000" b="1" dirty="0">
                <a:solidFill>
                  <a:srgbClr val="DCE6F7"/>
                </a:solidFill>
                <a:latin typeface="微软雅黑" panose="020B0503020204020204" pitchFamily="34" charset="-122"/>
                <a:ea typeface="微软雅黑" panose="020B0503020204020204" pitchFamily="34" charset="-122"/>
                <a:cs typeface="Noto Sans CJK SC" pitchFamily="34" charset="-120"/>
              </a:rPr>
              <a:t>默认保存路径</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078992" y="2350008"/>
            <a:ext cx="9957816" cy="502920"/>
          </a:xfrm>
          <a:prstGeom prst="rect">
            <a:avLst/>
          </a:prstGeom>
          <a:noFill/>
          <a:ln/>
        </p:spPr>
        <p:txBody>
          <a:bodyPr wrap="square" lIns="254" tIns="254" rIns="254" bIns="254" rtlCol="0" anchor="t">
            <a:noAutofit/>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~/Documents/isaac_so_arm101/logs/rsl_rl/</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so_arm100_reach</a:t>
            </a:r>
            <a:endParaRPr lang="en-US" dirty="0">
              <a:latin typeface="微软雅黑" panose="020B0503020204020204" pitchFamily="34" charset="-122"/>
              <a:ea typeface="微软雅黑" panose="020B0503020204020204" pitchFamily="34" charset="-122"/>
            </a:endParaRPr>
          </a:p>
        </p:txBody>
      </p:sp>
      <p:sp>
        <p:nvSpPr>
          <p:cNvPr id="7" name="Shape 5"/>
          <p:cNvSpPr/>
          <p:nvPr/>
        </p:nvSpPr>
        <p:spPr>
          <a:xfrm>
            <a:off x="822960" y="3474720"/>
            <a:ext cx="4983480" cy="1874520"/>
          </a:xfrm>
          <a:prstGeom prst="roundRect">
            <a:avLst>
              <a:gd name="adj" fmla="val 243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8" name="Shape 6"/>
          <p:cNvSpPr/>
          <p:nvPr/>
        </p:nvSpPr>
        <p:spPr>
          <a:xfrm>
            <a:off x="822960" y="3474720"/>
            <a:ext cx="64008" cy="1874520"/>
          </a:xfrm>
          <a:prstGeom prst="rect">
            <a:avLst/>
          </a:prstGeom>
          <a:solidFill>
            <a:srgbClr val="31599B"/>
          </a:solidFill>
          <a:ln w="12700">
            <a:solidFill>
              <a:srgbClr val="31599B"/>
            </a:solidFill>
            <a:prstDash val="solid"/>
          </a:ln>
        </p:spPr>
      </p:sp>
      <p:sp>
        <p:nvSpPr>
          <p:cNvPr id="9" name="Text 7"/>
          <p:cNvSpPr/>
          <p:nvPr/>
        </p:nvSpPr>
        <p:spPr>
          <a:xfrm>
            <a:off x="1033272" y="3621024"/>
            <a:ext cx="459943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训练记录</a:t>
            </a:r>
            <a:endParaRPr lang="en-US" sz="2000" dirty="0">
              <a:latin typeface="微软雅黑" panose="020B0503020204020204" pitchFamily="34" charset="-122"/>
              <a:ea typeface="微软雅黑" panose="020B0503020204020204" pitchFamily="34" charset="-122"/>
            </a:endParaRPr>
          </a:p>
        </p:txBody>
      </p:sp>
      <p:sp>
        <p:nvSpPr>
          <p:cNvPr id="10" name="Text 8"/>
          <p:cNvSpPr/>
          <p:nvPr/>
        </p:nvSpPr>
        <p:spPr>
          <a:xfrm>
            <a:off x="1033272" y="4041648"/>
            <a:ext cx="4599432" cy="116128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损失曲线与奖励值（Reach Success）自动记录，可用于评估训练过程。</a:t>
            </a:r>
            <a:endParaRPr lang="en-US" sz="2000" dirty="0">
              <a:latin typeface="微软雅黑" panose="020B0503020204020204" pitchFamily="34" charset="-122"/>
              <a:ea typeface="微软雅黑" panose="020B0503020204020204" pitchFamily="34" charset="-122"/>
            </a:endParaRPr>
          </a:p>
        </p:txBody>
      </p:sp>
      <p:sp>
        <p:nvSpPr>
          <p:cNvPr id="11" name="Shape 9"/>
          <p:cNvSpPr/>
          <p:nvPr/>
        </p:nvSpPr>
        <p:spPr>
          <a:xfrm>
            <a:off x="6355080" y="3474720"/>
            <a:ext cx="4937760" cy="1874520"/>
          </a:xfrm>
          <a:prstGeom prst="roundRect">
            <a:avLst>
              <a:gd name="adj" fmla="val 2439"/>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2" name="Shape 10"/>
          <p:cNvSpPr/>
          <p:nvPr/>
        </p:nvSpPr>
        <p:spPr>
          <a:xfrm>
            <a:off x="6355080" y="3474720"/>
            <a:ext cx="64008" cy="1874520"/>
          </a:xfrm>
          <a:prstGeom prst="rect">
            <a:avLst/>
          </a:prstGeom>
          <a:solidFill>
            <a:srgbClr val="2F8E72"/>
          </a:solidFill>
          <a:ln w="12700">
            <a:solidFill>
              <a:srgbClr val="2F8E72"/>
            </a:solidFill>
            <a:prstDash val="solid"/>
          </a:ln>
        </p:spPr>
      </p:sp>
      <p:sp>
        <p:nvSpPr>
          <p:cNvPr id="13" name="Text 11"/>
          <p:cNvSpPr/>
          <p:nvPr/>
        </p:nvSpPr>
        <p:spPr>
          <a:xfrm>
            <a:off x="6565392" y="3621024"/>
            <a:ext cx="455371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仿真效率</a:t>
            </a:r>
            <a:endParaRPr lang="en-US" sz="2000" dirty="0">
              <a:latin typeface="微软雅黑" panose="020B0503020204020204" pitchFamily="34" charset="-122"/>
              <a:ea typeface="微软雅黑" panose="020B0503020204020204" pitchFamily="34" charset="-122"/>
            </a:endParaRPr>
          </a:p>
        </p:txBody>
      </p:sp>
      <p:sp>
        <p:nvSpPr>
          <p:cNvPr id="14" name="Text 12"/>
          <p:cNvSpPr/>
          <p:nvPr/>
        </p:nvSpPr>
        <p:spPr>
          <a:xfrm>
            <a:off x="6565392" y="4041648"/>
            <a:ext cx="4553712" cy="116128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高并行仿真训练效率远高于真实机械臂的数据采集过程。</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117</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步骤4：策略测试与部署</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10652760" cy="1508760"/>
          </a:xfrm>
          <a:prstGeom prst="roundRect">
            <a:avLst>
              <a:gd name="adj" fmla="val 2424"/>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005840" y="1865376"/>
            <a:ext cx="10140696" cy="310896"/>
          </a:xfrm>
          <a:prstGeom prst="rect">
            <a:avLst/>
          </a:prstGeom>
          <a:noFill/>
          <a:ln/>
        </p:spPr>
        <p:txBody>
          <a:bodyPr wrap="square" lIns="0" tIns="0" rIns="0" bIns="0" rtlCol="0" anchor="ctr"/>
          <a:lstStyle/>
          <a:p>
            <a:pPr marL="0" indent="0">
              <a:buNone/>
            </a:pPr>
            <a:r>
              <a:rPr lang="en-US" sz="2000" b="1" dirty="0">
                <a:solidFill>
                  <a:srgbClr val="DCE6F7"/>
                </a:solidFill>
                <a:latin typeface="微软雅黑" panose="020B0503020204020204" pitchFamily="34" charset="-122"/>
                <a:ea typeface="微软雅黑" panose="020B0503020204020204" pitchFamily="34" charset="-122"/>
                <a:cs typeface="Noto Sans CJK SC" pitchFamily="34" charset="-120"/>
              </a:rPr>
              <a:t>测试策略</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005840" y="2322576"/>
            <a:ext cx="10140696" cy="640080"/>
          </a:xfrm>
          <a:prstGeom prst="rect">
            <a:avLst/>
          </a:prstGeom>
          <a:noFill/>
          <a:ln/>
        </p:spPr>
        <p:txBody>
          <a:bodyPr wrap="square" lIns="254" tIns="254" rIns="254" bIns="254" rtlCol="0" anchor="t">
            <a:normAutofit/>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python scripts/rsl_rl/play.py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--task SO-ARM100-Reach-Play-v0</a:t>
            </a:r>
            <a:endParaRPr lang="en-US" dirty="0">
              <a:latin typeface="微软雅黑" panose="020B0503020204020204" pitchFamily="34" charset="-122"/>
              <a:ea typeface="微软雅黑" panose="020B0503020204020204" pitchFamily="34" charset="-122"/>
            </a:endParaRPr>
          </a:p>
        </p:txBody>
      </p:sp>
      <p:sp>
        <p:nvSpPr>
          <p:cNvPr id="7" name="Shape 5"/>
          <p:cNvSpPr/>
          <p:nvPr/>
        </p:nvSpPr>
        <p:spPr>
          <a:xfrm>
            <a:off x="1051560" y="3703320"/>
            <a:ext cx="10012680" cy="1691640"/>
          </a:xfrm>
          <a:prstGeom prst="roundRect">
            <a:avLst>
              <a:gd name="adj" fmla="val 2703"/>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8" name="Shape 6"/>
          <p:cNvSpPr/>
          <p:nvPr/>
        </p:nvSpPr>
        <p:spPr>
          <a:xfrm>
            <a:off x="1051560" y="3703320"/>
            <a:ext cx="64008" cy="1691640"/>
          </a:xfrm>
          <a:prstGeom prst="rect">
            <a:avLst/>
          </a:prstGeom>
          <a:solidFill>
            <a:srgbClr val="2F8E72"/>
          </a:solidFill>
          <a:ln w="12700">
            <a:solidFill>
              <a:srgbClr val="2F8E72"/>
            </a:solidFill>
            <a:prstDash val="solid"/>
          </a:ln>
        </p:spPr>
      </p:sp>
      <p:sp>
        <p:nvSpPr>
          <p:cNvPr id="9" name="Text 7"/>
          <p:cNvSpPr/>
          <p:nvPr/>
        </p:nvSpPr>
        <p:spPr>
          <a:xfrm>
            <a:off x="1261872" y="3849624"/>
            <a:ext cx="962863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测试结果</a:t>
            </a:r>
            <a:endParaRPr lang="en-US" sz="2000" dirty="0">
              <a:latin typeface="微软雅黑" panose="020B0503020204020204" pitchFamily="34" charset="-122"/>
              <a:ea typeface="微软雅黑" panose="020B0503020204020204" pitchFamily="34" charset="-122"/>
            </a:endParaRPr>
          </a:p>
        </p:txBody>
      </p:sp>
      <p:sp>
        <p:nvSpPr>
          <p:cNvPr id="10" name="Text 8"/>
          <p:cNvSpPr/>
          <p:nvPr/>
        </p:nvSpPr>
        <p:spPr>
          <a:xfrm>
            <a:off x="1261872" y="4270248"/>
            <a:ext cx="9628632" cy="9784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测试过程中随机生成目标点；机械臂末端能够稳定、快速到达目标点，满足预期</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118</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实践案例</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小结</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58368" y="1828800"/>
            <a:ext cx="1993392" cy="2651760"/>
          </a:xfrm>
          <a:prstGeom prst="roundRect">
            <a:avLst>
              <a:gd name="adj" fmla="val 229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658368" y="1828800"/>
            <a:ext cx="64008" cy="2651760"/>
          </a:xfrm>
          <a:prstGeom prst="rect">
            <a:avLst/>
          </a:prstGeom>
          <a:solidFill>
            <a:srgbClr val="31599B"/>
          </a:solidFill>
          <a:ln w="12700">
            <a:solidFill>
              <a:srgbClr val="31599B"/>
            </a:solidFill>
            <a:prstDash val="solid"/>
          </a:ln>
        </p:spPr>
      </p:sp>
      <p:sp>
        <p:nvSpPr>
          <p:cNvPr id="6" name="Text 4"/>
          <p:cNvSpPr/>
          <p:nvPr/>
        </p:nvSpPr>
        <p:spPr>
          <a:xfrm>
            <a:off x="868680" y="1975104"/>
            <a:ext cx="1609344" cy="329184"/>
          </a:xfrm>
          <a:prstGeom prst="rect">
            <a:avLst/>
          </a:prstGeom>
          <a:noFill/>
          <a:ln/>
        </p:spPr>
        <p:txBody>
          <a:bodyPr wrap="square" lIns="0" tIns="0" rIns="0" bIns="0" rtlCol="0" anchor="ctr">
            <a:no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1  环境准备</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868680" y="2532888"/>
            <a:ext cx="1609344" cy="110439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Isaac Sim / Isaac Lab</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2944368" y="1828800"/>
            <a:ext cx="1993392" cy="2651760"/>
          </a:xfrm>
          <a:prstGeom prst="roundRect">
            <a:avLst>
              <a:gd name="adj" fmla="val 229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2944368" y="1828800"/>
            <a:ext cx="64008" cy="2651760"/>
          </a:xfrm>
          <a:prstGeom prst="rect">
            <a:avLst/>
          </a:prstGeom>
          <a:solidFill>
            <a:srgbClr val="2F8E72"/>
          </a:solidFill>
          <a:ln w="12700">
            <a:solidFill>
              <a:srgbClr val="2F8E72"/>
            </a:solidFill>
            <a:prstDash val="solid"/>
          </a:ln>
        </p:spPr>
      </p:sp>
      <p:sp>
        <p:nvSpPr>
          <p:cNvPr id="10" name="Text 8"/>
          <p:cNvSpPr/>
          <p:nvPr/>
        </p:nvSpPr>
        <p:spPr>
          <a:xfrm>
            <a:off x="3154680" y="1975104"/>
            <a:ext cx="1609344" cy="329184"/>
          </a:xfrm>
          <a:prstGeom prst="rect">
            <a:avLst/>
          </a:prstGeom>
          <a:noFill/>
          <a:ln/>
        </p:spPr>
        <p:txBody>
          <a:bodyPr wrap="square" lIns="0" tIns="0" rIns="0" bIns="0" rtlCol="0" anchor="ctr">
            <a:no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2  扩展安装</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3154680" y="2532888"/>
            <a:ext cx="1609344" cy="143459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SO-ARM100 / 101 URDF 与任务</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5230368" y="1828800"/>
            <a:ext cx="1993392" cy="2651760"/>
          </a:xfrm>
          <a:prstGeom prst="roundRect">
            <a:avLst>
              <a:gd name="adj" fmla="val 229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5230368" y="1828800"/>
            <a:ext cx="64008" cy="2651760"/>
          </a:xfrm>
          <a:prstGeom prst="rect">
            <a:avLst/>
          </a:prstGeom>
          <a:solidFill>
            <a:srgbClr val="C58A24"/>
          </a:solidFill>
          <a:ln w="12700">
            <a:solidFill>
              <a:srgbClr val="C58A24"/>
            </a:solidFill>
            <a:prstDash val="solid"/>
          </a:ln>
        </p:spPr>
      </p:sp>
      <p:sp>
        <p:nvSpPr>
          <p:cNvPr id="14" name="Text 12"/>
          <p:cNvSpPr/>
          <p:nvPr/>
        </p:nvSpPr>
        <p:spPr>
          <a:xfrm>
            <a:off x="5440680" y="1975104"/>
            <a:ext cx="1609344" cy="329184"/>
          </a:xfrm>
          <a:prstGeom prst="rect">
            <a:avLst/>
          </a:prstGeom>
          <a:noFill/>
          <a:ln/>
        </p:spPr>
        <p:txBody>
          <a:bodyPr wrap="square" lIns="0" tIns="0" rIns="0" bIns="0" rtlCol="0" anchor="ctr">
            <a:no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3  PPO 训练</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5440680" y="2532888"/>
            <a:ext cx="1609344" cy="128727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RSL_RL + GPU 并行</a:t>
            </a:r>
            <a:endParaRPr lang="en-US" sz="2000" dirty="0">
              <a:latin typeface="微软雅黑" panose="020B0503020204020204" pitchFamily="34" charset="-122"/>
              <a:ea typeface="微软雅黑" panose="020B0503020204020204" pitchFamily="34" charset="-122"/>
            </a:endParaRPr>
          </a:p>
        </p:txBody>
      </p:sp>
      <p:sp>
        <p:nvSpPr>
          <p:cNvPr id="16" name="Shape 14"/>
          <p:cNvSpPr/>
          <p:nvPr/>
        </p:nvSpPr>
        <p:spPr>
          <a:xfrm>
            <a:off x="7516368" y="1828800"/>
            <a:ext cx="1993392" cy="2651760"/>
          </a:xfrm>
          <a:prstGeom prst="roundRect">
            <a:avLst>
              <a:gd name="adj" fmla="val 229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7516368" y="1828800"/>
            <a:ext cx="64008" cy="2651760"/>
          </a:xfrm>
          <a:prstGeom prst="rect">
            <a:avLst/>
          </a:prstGeom>
          <a:solidFill>
            <a:srgbClr val="C63F45"/>
          </a:solidFill>
          <a:ln w="12700">
            <a:solidFill>
              <a:srgbClr val="C63F45"/>
            </a:solidFill>
            <a:prstDash val="solid"/>
          </a:ln>
        </p:spPr>
      </p:sp>
      <p:sp>
        <p:nvSpPr>
          <p:cNvPr id="18" name="Text 16"/>
          <p:cNvSpPr/>
          <p:nvPr/>
        </p:nvSpPr>
        <p:spPr>
          <a:xfrm>
            <a:off x="7726680" y="1975104"/>
            <a:ext cx="1609344" cy="329184"/>
          </a:xfrm>
          <a:prstGeom prst="rect">
            <a:avLst/>
          </a:prstGeom>
          <a:noFill/>
          <a:ln/>
        </p:spPr>
        <p:txBody>
          <a:bodyPr wrap="square" lIns="0" tIns="0" rIns="0" bIns="0" rtlCol="0" anchor="ctr">
            <a:noAutofit/>
          </a:bodyPr>
          <a:lstStyle/>
          <a:p>
            <a:pPr marL="0" indent="0">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4  模型保存</a:t>
            </a:r>
            <a:endParaRPr lang="en-US" sz="2000" dirty="0">
              <a:latin typeface="微软雅黑" panose="020B0503020204020204" pitchFamily="34" charset="-122"/>
              <a:ea typeface="微软雅黑" panose="020B0503020204020204" pitchFamily="34" charset="-122"/>
            </a:endParaRPr>
          </a:p>
        </p:txBody>
      </p:sp>
      <p:sp>
        <p:nvSpPr>
          <p:cNvPr id="19" name="Text 17"/>
          <p:cNvSpPr/>
          <p:nvPr/>
        </p:nvSpPr>
        <p:spPr>
          <a:xfrm>
            <a:off x="7726680" y="2532888"/>
            <a:ext cx="1609344" cy="78943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日志、奖励与权重</a:t>
            </a:r>
            <a:endParaRPr lang="en-US" sz="2000" dirty="0">
              <a:latin typeface="微软雅黑" panose="020B0503020204020204" pitchFamily="34" charset="-122"/>
              <a:ea typeface="微软雅黑" panose="020B0503020204020204" pitchFamily="34" charset="-122"/>
            </a:endParaRPr>
          </a:p>
        </p:txBody>
      </p:sp>
      <p:sp>
        <p:nvSpPr>
          <p:cNvPr id="20" name="Shape 18"/>
          <p:cNvSpPr/>
          <p:nvPr/>
        </p:nvSpPr>
        <p:spPr>
          <a:xfrm>
            <a:off x="9802368" y="1828800"/>
            <a:ext cx="1993392" cy="2651760"/>
          </a:xfrm>
          <a:prstGeom prst="roundRect">
            <a:avLst>
              <a:gd name="adj" fmla="val 2294"/>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1" name="Shape 19"/>
          <p:cNvSpPr/>
          <p:nvPr/>
        </p:nvSpPr>
        <p:spPr>
          <a:xfrm>
            <a:off x="9802368" y="1828800"/>
            <a:ext cx="64008" cy="2651760"/>
          </a:xfrm>
          <a:prstGeom prst="rect">
            <a:avLst/>
          </a:prstGeom>
          <a:solidFill>
            <a:srgbClr val="7558A8"/>
          </a:solidFill>
          <a:ln w="12700">
            <a:solidFill>
              <a:srgbClr val="7558A8"/>
            </a:solidFill>
            <a:prstDash val="solid"/>
          </a:ln>
        </p:spPr>
      </p:sp>
      <p:sp>
        <p:nvSpPr>
          <p:cNvPr id="22" name="Text 20"/>
          <p:cNvSpPr/>
          <p:nvPr/>
        </p:nvSpPr>
        <p:spPr>
          <a:xfrm>
            <a:off x="10012680" y="1975104"/>
            <a:ext cx="1609344" cy="329184"/>
          </a:xfrm>
          <a:prstGeom prst="rect">
            <a:avLst/>
          </a:prstGeom>
          <a:noFill/>
          <a:ln/>
        </p:spPr>
        <p:txBody>
          <a:bodyPr wrap="square" lIns="0" tIns="0" rIns="0" bIns="0" rtlCol="0" anchor="ctr">
            <a:noAutofit/>
          </a:bodyPr>
          <a:lstStyle/>
          <a:p>
            <a:pPr marL="0" indent="0">
              <a:buNone/>
            </a:pPr>
            <a:r>
              <a:rPr lang="en-US" sz="2000" b="1" dirty="0">
                <a:solidFill>
                  <a:srgbClr val="7558A8"/>
                </a:solidFill>
                <a:latin typeface="微软雅黑" panose="020B0503020204020204" pitchFamily="34" charset="-122"/>
                <a:ea typeface="微软雅黑" panose="020B0503020204020204" pitchFamily="34" charset="-122"/>
                <a:cs typeface="Noto Sans CJK SC" pitchFamily="34" charset="-120"/>
              </a:rPr>
              <a:t>5  策略测试</a:t>
            </a:r>
            <a:endParaRPr lang="en-US" sz="2000" dirty="0">
              <a:latin typeface="微软雅黑" panose="020B0503020204020204" pitchFamily="34" charset="-122"/>
              <a:ea typeface="微软雅黑" panose="020B0503020204020204" pitchFamily="34" charset="-122"/>
            </a:endParaRPr>
          </a:p>
        </p:txBody>
      </p:sp>
      <p:sp>
        <p:nvSpPr>
          <p:cNvPr id="23" name="Text 21"/>
          <p:cNvSpPr/>
          <p:nvPr/>
        </p:nvSpPr>
        <p:spPr>
          <a:xfrm>
            <a:off x="10012680" y="2532888"/>
            <a:ext cx="1609344" cy="193852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随机目标点 Reach</a:t>
            </a:r>
            <a:endParaRPr lang="en-US" sz="2000" dirty="0">
              <a:latin typeface="微软雅黑" panose="020B0503020204020204" pitchFamily="34" charset="-122"/>
              <a:ea typeface="微软雅黑" panose="020B0503020204020204" pitchFamily="34" charset="-122"/>
            </a:endParaRPr>
          </a:p>
        </p:txBody>
      </p:sp>
      <p:sp>
        <p:nvSpPr>
          <p:cNvPr id="24" name="Text 22"/>
          <p:cNvSpPr/>
          <p:nvPr/>
        </p:nvSpPr>
        <p:spPr>
          <a:xfrm>
            <a:off x="502920" y="4895088"/>
            <a:ext cx="10975340" cy="329184"/>
          </a:xfrm>
          <a:prstGeom prst="rect">
            <a:avLst/>
          </a:prstGeom>
          <a:noFill/>
          <a:ln/>
        </p:spPr>
        <p:txBody>
          <a:bodyPr wrap="square" lIns="0" tIns="0" rIns="0" bIns="0" rtlCol="0" anchor="ctr">
            <a:noAutofit/>
          </a:bodyPr>
          <a:lstStyle/>
          <a:p>
            <a:pPr marL="0" indent="0" algn="ctr">
              <a:buNone/>
            </a:pPr>
            <a:r>
              <a:rPr lang="zh-CN" altLang="en-US" sz="2400" b="1" dirty="0">
                <a:solidFill>
                  <a:srgbClr val="002060"/>
                </a:solidFill>
                <a:latin typeface="微软雅黑" panose="020B0503020204020204" pitchFamily="34" charset="-122"/>
                <a:ea typeface="微软雅黑" panose="020B0503020204020204" pitchFamily="34" charset="-122"/>
                <a:cs typeface="Noto Sans CJK SC" pitchFamily="34" charset="-120"/>
              </a:rPr>
              <a:t>还可把</a:t>
            </a:r>
            <a:r>
              <a:rPr lang="en-US" sz="2400" b="1" dirty="0" err="1">
                <a:solidFill>
                  <a:srgbClr val="002060"/>
                </a:solidFill>
                <a:latin typeface="微软雅黑" panose="020B0503020204020204" pitchFamily="34" charset="-122"/>
                <a:ea typeface="微软雅黑" panose="020B0503020204020204" pitchFamily="34" charset="-122"/>
                <a:cs typeface="Noto Sans CJK SC" pitchFamily="34" charset="-120"/>
              </a:rPr>
              <a:t>强化学习算法机械臂平台连接起来，形成</a:t>
            </a:r>
            <a:r>
              <a:rPr lang="zh-CN" altLang="en-US" sz="2400" b="1" dirty="0">
                <a:solidFill>
                  <a:srgbClr val="002060"/>
                </a:solidFill>
                <a:latin typeface="微软雅黑" panose="020B0503020204020204" pitchFamily="34" charset="-122"/>
                <a:ea typeface="微软雅黑" panose="020B0503020204020204" pitchFamily="34" charset="-122"/>
                <a:cs typeface="Noto Sans CJK SC" pitchFamily="34" charset="-120"/>
              </a:rPr>
              <a:t>从仿真到</a:t>
            </a:r>
            <a:r>
              <a:rPr lang="en-US" sz="2400" b="1" dirty="0" err="1">
                <a:solidFill>
                  <a:srgbClr val="002060"/>
                </a:solidFill>
                <a:latin typeface="微软雅黑" panose="020B0503020204020204" pitchFamily="34" charset="-122"/>
                <a:ea typeface="微软雅黑" panose="020B0503020204020204" pitchFamily="34" charset="-122"/>
                <a:cs typeface="Noto Sans CJK SC" pitchFamily="34" charset="-120"/>
              </a:rPr>
              <a:t>策略</a:t>
            </a:r>
            <a:r>
              <a:rPr lang="zh-CN" altLang="en-US" sz="2400" b="1" dirty="0">
                <a:solidFill>
                  <a:srgbClr val="002060"/>
                </a:solidFill>
                <a:latin typeface="微软雅黑" panose="020B0503020204020204" pitchFamily="34" charset="-122"/>
                <a:ea typeface="微软雅黑" panose="020B0503020204020204" pitchFamily="34" charset="-122"/>
                <a:cs typeface="Noto Sans CJK SC" pitchFamily="34" charset="-120"/>
              </a:rPr>
              <a:t>测试的实践闭环</a:t>
            </a:r>
            <a:endParaRPr lang="en-US" sz="2400" b="1" dirty="0">
              <a:solidFill>
                <a:srgbClr val="002060"/>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119</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002060"/>
                </a:solidFill>
                <a:latin typeface="微软雅黑" panose="020B0503020204020204" pitchFamily="34" charset="-122"/>
                <a:ea typeface="微软雅黑" panose="020B0503020204020204" pitchFamily="34" charset="-122"/>
                <a:cs typeface="Noto Sans CJK SC" pitchFamily="34" charset="-120"/>
              </a:rPr>
              <a:t>7</a:t>
            </a:r>
            <a:endParaRPr lang="en-US" sz="7600" dirty="0">
              <a:solidFill>
                <a:srgbClr val="002060"/>
              </a:solidFill>
              <a:latin typeface="微软雅黑" panose="020B0503020204020204" pitchFamily="34" charset="-122"/>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err="1">
                <a:solidFill>
                  <a:srgbClr val="24477D"/>
                </a:solidFill>
                <a:latin typeface="微软雅黑" panose="020B0503020204020204" pitchFamily="34" charset="-122"/>
                <a:ea typeface="微软雅黑" panose="020B0503020204020204" pitchFamily="34" charset="-122"/>
                <a:cs typeface="Noto Sans CJK SC" pitchFamily="34" charset="-120"/>
              </a:rPr>
              <a:t>小结</a:t>
            </a:r>
            <a:endParaRPr lang="en-US" sz="3900" dirty="0">
              <a:latin typeface="微软雅黑" panose="020B0503020204020204" pitchFamily="34" charset="-122"/>
            </a:endParaRPr>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1000" dirty="0">
              <a:latin typeface="微软雅黑" panose="020B0503020204020204" pitchFamily="34"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3.7 本章小结</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58368" y="1627632"/>
            <a:ext cx="2130552" cy="3611880"/>
          </a:xfrm>
          <a:prstGeom prst="roundRect">
            <a:avLst>
              <a:gd name="adj" fmla="val 21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5" name="Shape 3"/>
          <p:cNvSpPr/>
          <p:nvPr/>
        </p:nvSpPr>
        <p:spPr>
          <a:xfrm>
            <a:off x="658368" y="1627632"/>
            <a:ext cx="64008" cy="3611880"/>
          </a:xfrm>
          <a:prstGeom prst="rect">
            <a:avLst/>
          </a:prstGeom>
          <a:solidFill>
            <a:srgbClr val="31599B"/>
          </a:solidFill>
          <a:ln w="12700">
            <a:solidFill>
              <a:srgbClr val="31599B"/>
            </a:solidFill>
            <a:prstDash val="solid"/>
          </a:ln>
        </p:spPr>
      </p:sp>
      <p:sp>
        <p:nvSpPr>
          <p:cNvPr id="6" name="Text 4"/>
          <p:cNvSpPr/>
          <p:nvPr/>
        </p:nvSpPr>
        <p:spPr>
          <a:xfrm>
            <a:off x="868680" y="1773936"/>
            <a:ext cx="1746504" cy="329184"/>
          </a:xfrm>
          <a:prstGeom prst="rect">
            <a:avLst/>
          </a:prstGeom>
          <a:noFill/>
          <a:ln/>
        </p:spPr>
        <p:txBody>
          <a:bodyPr wrap="square" lIns="0" tIns="0" rIns="0" bIns="0" rtlCol="0" anchor="ctr">
            <a:no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基础</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868680" y="2336800"/>
            <a:ext cx="1746504" cy="159004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强化学习概念、状态—动作—</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奖励闭环、MDP</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与贝尔曼方程</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2935224" y="1627632"/>
            <a:ext cx="2130552" cy="3611880"/>
          </a:xfrm>
          <a:prstGeom prst="roundRect">
            <a:avLst>
              <a:gd name="adj" fmla="val 21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9" name="Shape 7"/>
          <p:cNvSpPr/>
          <p:nvPr/>
        </p:nvSpPr>
        <p:spPr>
          <a:xfrm>
            <a:off x="2935224" y="1627632"/>
            <a:ext cx="64008" cy="3611880"/>
          </a:xfrm>
          <a:prstGeom prst="rect">
            <a:avLst/>
          </a:prstGeom>
          <a:solidFill>
            <a:srgbClr val="2F8E72"/>
          </a:solidFill>
          <a:ln w="12700">
            <a:solidFill>
              <a:srgbClr val="2F8E72"/>
            </a:solidFill>
            <a:prstDash val="solid"/>
          </a:ln>
        </p:spPr>
      </p:sp>
      <p:sp>
        <p:nvSpPr>
          <p:cNvPr id="10" name="Text 8"/>
          <p:cNvSpPr/>
          <p:nvPr/>
        </p:nvSpPr>
        <p:spPr>
          <a:xfrm>
            <a:off x="3145536" y="1773936"/>
            <a:ext cx="1746504" cy="329184"/>
          </a:xfrm>
          <a:prstGeom prst="rect">
            <a:avLst/>
          </a:prstGeom>
          <a:noFill/>
          <a:ln/>
        </p:spPr>
        <p:txBody>
          <a:bodyPr wrap="square" lIns="0" tIns="0" rIns="0" bIns="0" rtlCol="0" anchor="ctr">
            <a:no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价值方法</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3145536" y="2336800"/>
            <a:ext cx="1746504" cy="172212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Q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学习：无模型、基于价值、离策略、TD</a:t>
            </a: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更新</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5212080" y="1627632"/>
            <a:ext cx="2130552" cy="3611880"/>
          </a:xfrm>
          <a:prstGeom prst="roundRect">
            <a:avLst>
              <a:gd name="adj" fmla="val 21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3" name="Shape 11"/>
          <p:cNvSpPr/>
          <p:nvPr/>
        </p:nvSpPr>
        <p:spPr>
          <a:xfrm>
            <a:off x="5212080" y="1627632"/>
            <a:ext cx="64008" cy="3611880"/>
          </a:xfrm>
          <a:prstGeom prst="rect">
            <a:avLst/>
          </a:prstGeom>
          <a:solidFill>
            <a:srgbClr val="C58A24"/>
          </a:solidFill>
          <a:ln w="12700">
            <a:solidFill>
              <a:srgbClr val="C58A24"/>
            </a:solidFill>
            <a:prstDash val="solid"/>
          </a:ln>
        </p:spPr>
      </p:sp>
      <p:sp>
        <p:nvSpPr>
          <p:cNvPr id="14" name="Text 12"/>
          <p:cNvSpPr/>
          <p:nvPr/>
        </p:nvSpPr>
        <p:spPr>
          <a:xfrm>
            <a:off x="5422392" y="1773936"/>
            <a:ext cx="1746504" cy="329184"/>
          </a:xfrm>
          <a:prstGeom prst="rect">
            <a:avLst/>
          </a:prstGeom>
          <a:noFill/>
          <a:ln/>
        </p:spPr>
        <p:txBody>
          <a:bodyPr wrap="square" lIns="0" tIns="0" rIns="0" bIns="0" rtlCol="0" anchor="ctr">
            <a:no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策略方法</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5422392" y="2336800"/>
            <a:ext cx="1746504" cy="148336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策略梯度与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REINFORCE：直接优化策略</a:t>
            </a:r>
            <a:endParaRPr lang="en-US" sz="2000" dirty="0">
              <a:latin typeface="微软雅黑" panose="020B0503020204020204" pitchFamily="34" charset="-122"/>
              <a:ea typeface="微软雅黑" panose="020B0503020204020204" pitchFamily="34" charset="-122"/>
            </a:endParaRPr>
          </a:p>
        </p:txBody>
      </p:sp>
      <p:sp>
        <p:nvSpPr>
          <p:cNvPr id="16" name="Shape 14"/>
          <p:cNvSpPr/>
          <p:nvPr/>
        </p:nvSpPr>
        <p:spPr>
          <a:xfrm>
            <a:off x="7488936" y="1627632"/>
            <a:ext cx="2130552" cy="3611880"/>
          </a:xfrm>
          <a:prstGeom prst="roundRect">
            <a:avLst>
              <a:gd name="adj" fmla="val 2146"/>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17" name="Shape 15"/>
          <p:cNvSpPr/>
          <p:nvPr/>
        </p:nvSpPr>
        <p:spPr>
          <a:xfrm>
            <a:off x="7488936" y="1627632"/>
            <a:ext cx="64008" cy="3611880"/>
          </a:xfrm>
          <a:prstGeom prst="rect">
            <a:avLst/>
          </a:prstGeom>
          <a:solidFill>
            <a:srgbClr val="C63F45"/>
          </a:solidFill>
          <a:ln w="12700">
            <a:solidFill>
              <a:srgbClr val="C63F45"/>
            </a:solidFill>
            <a:prstDash val="solid"/>
          </a:ln>
        </p:spPr>
      </p:sp>
      <p:sp>
        <p:nvSpPr>
          <p:cNvPr id="18" name="Text 16"/>
          <p:cNvSpPr/>
          <p:nvPr/>
        </p:nvSpPr>
        <p:spPr>
          <a:xfrm>
            <a:off x="7699248" y="1773936"/>
            <a:ext cx="1746504" cy="329184"/>
          </a:xfrm>
          <a:prstGeom prst="rect">
            <a:avLst/>
          </a:prstGeom>
          <a:noFill/>
          <a:ln/>
        </p:spPr>
        <p:txBody>
          <a:bodyPr wrap="square" lIns="0" tIns="0" rIns="0" bIns="0" rtlCol="0" anchor="ctr">
            <a:noAutofit/>
          </a:bodyPr>
          <a:lstStyle/>
          <a:p>
            <a:pPr marL="0" indent="0">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Actor-Critic</a:t>
            </a:r>
            <a:endParaRPr lang="en-US" sz="2000" dirty="0">
              <a:latin typeface="微软雅黑" panose="020B0503020204020204" pitchFamily="34" charset="-122"/>
              <a:ea typeface="微软雅黑" panose="020B0503020204020204" pitchFamily="34" charset="-122"/>
            </a:endParaRPr>
          </a:p>
        </p:txBody>
      </p:sp>
      <p:sp>
        <p:nvSpPr>
          <p:cNvPr id="19" name="Text 17"/>
          <p:cNvSpPr/>
          <p:nvPr/>
        </p:nvSpPr>
        <p:spPr>
          <a:xfrm>
            <a:off x="7699248" y="2336800"/>
            <a:ext cx="1746504" cy="159004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A3C、SAC、PPO、DDPG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等扩展</a:t>
            </a:r>
            <a:endParaRPr lang="en-US" sz="2000" dirty="0">
              <a:latin typeface="微软雅黑" panose="020B0503020204020204" pitchFamily="34" charset="-122"/>
              <a:ea typeface="微软雅黑" panose="020B0503020204020204" pitchFamily="34" charset="-122"/>
            </a:endParaRPr>
          </a:p>
        </p:txBody>
      </p:sp>
      <p:sp>
        <p:nvSpPr>
          <p:cNvPr id="20" name="Shape 18"/>
          <p:cNvSpPr/>
          <p:nvPr/>
        </p:nvSpPr>
        <p:spPr>
          <a:xfrm>
            <a:off x="9765792" y="1627632"/>
            <a:ext cx="1828800" cy="3611880"/>
          </a:xfrm>
          <a:prstGeom prst="roundRect">
            <a:avLst>
              <a:gd name="adj" fmla="val 2500"/>
            </a:avLst>
          </a:prstGeom>
          <a:solidFill>
            <a:srgbClr val="FFFFFF"/>
          </a:solidFill>
          <a:ln w="12700">
            <a:solidFill>
              <a:srgbClr val="E0E5ED"/>
            </a:solidFill>
            <a:prstDash val="solid"/>
          </a:ln>
          <a:effectLst>
            <a:outerShdw blurRad="12700" dist="4445" dir="2700000" algn="bl" rotWithShape="0">
              <a:srgbClr val="000000">
                <a:alpha val="8000"/>
              </a:srgbClr>
            </a:outerShdw>
          </a:effectLst>
        </p:spPr>
      </p:sp>
      <p:sp>
        <p:nvSpPr>
          <p:cNvPr id="21" name="Shape 19"/>
          <p:cNvSpPr/>
          <p:nvPr/>
        </p:nvSpPr>
        <p:spPr>
          <a:xfrm>
            <a:off x="9765792" y="1627632"/>
            <a:ext cx="64008" cy="3611880"/>
          </a:xfrm>
          <a:prstGeom prst="rect">
            <a:avLst/>
          </a:prstGeom>
          <a:solidFill>
            <a:srgbClr val="7558A8"/>
          </a:solidFill>
          <a:ln w="12700">
            <a:solidFill>
              <a:srgbClr val="7558A8"/>
            </a:solidFill>
            <a:prstDash val="solid"/>
          </a:ln>
        </p:spPr>
      </p:sp>
      <p:sp>
        <p:nvSpPr>
          <p:cNvPr id="22" name="Text 20"/>
          <p:cNvSpPr/>
          <p:nvPr/>
        </p:nvSpPr>
        <p:spPr>
          <a:xfrm>
            <a:off x="9976104" y="1773936"/>
            <a:ext cx="1444752" cy="329184"/>
          </a:xfrm>
          <a:prstGeom prst="rect">
            <a:avLst/>
          </a:prstGeom>
          <a:noFill/>
          <a:ln/>
        </p:spPr>
        <p:txBody>
          <a:bodyPr wrap="square" lIns="0" tIns="0" rIns="0" bIns="0" rtlCol="0" anchor="ctr">
            <a:noAutofit/>
          </a:bodyPr>
          <a:lstStyle/>
          <a:p>
            <a:pPr marL="0" indent="0">
              <a:buNone/>
            </a:pPr>
            <a:r>
              <a:rPr lang="en-US" sz="2000" b="1" dirty="0" err="1">
                <a:solidFill>
                  <a:srgbClr val="7558A8"/>
                </a:solidFill>
                <a:latin typeface="微软雅黑" panose="020B0503020204020204" pitchFamily="34" charset="-122"/>
                <a:ea typeface="微软雅黑" panose="020B0503020204020204" pitchFamily="34" charset="-122"/>
                <a:cs typeface="Noto Sans CJK SC" pitchFamily="34" charset="-120"/>
              </a:rPr>
              <a:t>实践</a:t>
            </a:r>
            <a:endParaRPr lang="en-US" sz="2000" dirty="0">
              <a:latin typeface="微软雅黑" panose="020B0503020204020204" pitchFamily="34" charset="-122"/>
              <a:ea typeface="微软雅黑" panose="020B0503020204020204" pitchFamily="34" charset="-122"/>
            </a:endParaRPr>
          </a:p>
        </p:txBody>
      </p:sp>
      <p:sp>
        <p:nvSpPr>
          <p:cNvPr id="23" name="Text 21"/>
          <p:cNvSpPr/>
          <p:nvPr/>
        </p:nvSpPr>
        <p:spPr>
          <a:xfrm>
            <a:off x="9976104" y="2336800"/>
            <a:ext cx="1444752" cy="148336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SO-ARM101 </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仿真实践</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121</a:t>
            </a:fld>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24477D"/>
        </a:solidFill>
        <a:effectLst/>
      </p:bgPr>
    </p:bg>
    <p:spTree>
      <p:nvGrpSpPr>
        <p:cNvPr id="1" name=""/>
        <p:cNvGrpSpPr/>
        <p:nvPr/>
      </p:nvGrpSpPr>
      <p:grpSpPr>
        <a:xfrm>
          <a:off x="0" y="0"/>
          <a:ext cx="0" cy="0"/>
          <a:chOff x="0" y="0"/>
          <a:chExt cx="0" cy="0"/>
        </a:xfrm>
      </p:grpSpPr>
      <p:sp>
        <p:nvSpPr>
          <p:cNvPr id="3" name="Text 1"/>
          <p:cNvSpPr/>
          <p:nvPr/>
        </p:nvSpPr>
        <p:spPr>
          <a:xfrm>
            <a:off x="762000" y="2961640"/>
            <a:ext cx="102412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Noto Sans CJK SC" pitchFamily="34" charset="-120"/>
              </a:rPr>
              <a:t>谢   谢</a:t>
            </a:r>
            <a:endParaRPr kumimoji="0" lang="en-US" sz="66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TotalTime>
  <Words>4097</Words>
  <Application>Microsoft Office PowerPoint</Application>
  <PresentationFormat>宽屏</PresentationFormat>
  <Paragraphs>1140</Paragraphs>
  <Slides>122</Slides>
  <Notes>122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122</vt:i4>
      </vt:variant>
    </vt:vector>
  </HeadingPairs>
  <TitlesOfParts>
    <vt:vector size="129" baseType="lpstr">
      <vt:lpstr>Noto Serif CJK SC</vt:lpstr>
      <vt:lpstr>等线</vt:lpstr>
      <vt:lpstr>微软雅黑</vt:lpstr>
      <vt:lpstr>Arial</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精品课程课件</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具身智能导论 第3章 强化学习</dc:title>
  <dc:subject>具身智能导论 第3章 强化学习</dc:subject>
  <dc:creator>秦建军等</dc:creator>
  <cp:lastModifiedBy>Qin JJ</cp:lastModifiedBy>
  <cp:revision>30</cp:revision>
  <dcterms:created xsi:type="dcterms:W3CDTF">2026-08-28T03:08:42Z</dcterms:created>
  <dcterms:modified xsi:type="dcterms:W3CDTF">2026-09-14T14:17:48Z</dcterms:modified>
</cp:coreProperties>
</file>