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391" r:id="rId134"/>
    <p:sldId id="392" r:id="rId135"/>
    <p:sldId id="393" r:id="rId136"/>
    <p:sldId id="394" r:id="rId137"/>
    <p:sldId id="395" r:id="rId138"/>
    <p:sldId id="396" r:id="rId139"/>
    <p:sldId id="397" r:id="rId140"/>
    <p:sldId id="402" r:id="rId1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6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31599B"/>
                </a:solidFill>
                <a:latin typeface="微软雅黑"/>
              </a:rPr>
              <a:t>普通高等教育新工科具身智能系列教材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6472" y="1865376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222833"/>
                </a:solidFill>
                <a:latin typeface="微软雅黑"/>
              </a:rPr>
              <a:t>具身智能导论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944368"/>
            <a:ext cx="81381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24477D"/>
                </a:solidFill>
                <a:latin typeface="微软雅黑"/>
              </a:rPr>
              <a:t>第 11 章  具身智能综合实践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9896" y="4187952"/>
            <a:ext cx="57790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0" i="0">
                <a:solidFill>
                  <a:srgbClr val="5B5B5B"/>
                </a:solidFill>
                <a:latin typeface="微软雅黑"/>
              </a:rPr>
              <a:t>秦建军  江磊  刘宇飞  邢伯阳  王陆旸  李国通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4816" y="822960"/>
            <a:ext cx="3035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0">
                <a:solidFill>
                  <a:srgbClr val="5B5B5B"/>
                </a:solidFill>
                <a:latin typeface="微软雅黑"/>
              </a:rPr>
              <a:t>国家地方共建人形机器人创新中心组织编写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4809744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7B8798"/>
                </a:solidFill>
                <a:latin typeface="微软雅黑"/>
              </a:rPr>
              <a:t>机械工业出版社 · 《具身智能导论》配套课件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24477D"/>
                </a:solidFill>
                <a:latin typeface="Noto Serif CJK SC"/>
              </a:rPr>
              <a:t>“非知之难，行之惟难；非行之难，终之斯难。”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9689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67085"/>
                </a:solidFill>
                <a:latin typeface="Noto Serif CJK SC"/>
              </a:rPr>
              <a:t>——魏徵《十渐不克终疏》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200400"/>
            <a:ext cx="10195560" cy="19202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" y="3200400"/>
            <a:ext cx="64008" cy="192024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364992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C63F45"/>
                </a:solidFill>
                <a:latin typeface="微软雅黑"/>
              </a:rPr>
              <a:t>本章定位：把理论知识转化为工程能力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22191"/>
            <a:ext cx="964692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本章通过三个典型且可复现的综合实践案例，覆盖机械臂自动分拣、开源小型人形机器人开发和全尺寸人形机器人模仿学习，帮助读者把视觉感知、强化学习、运动重定向与虚实迁移等知识融会贯通。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三个综合实践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29000" cy="3337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3044952" cy="311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5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Kinova Gen3 自动分拣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3044952" cy="88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RealSense </a:t>
            </a:r>
            <a:r>
              <a:rPr sz="175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图像采集</a:t>
            </a:r>
            <a:r>
              <a:rPr sz="175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YOLOv11 </a:t>
            </a:r>
            <a:r>
              <a:rPr sz="175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目标检测</a:t>
            </a:r>
            <a:r>
              <a:rPr sz="175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175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手眼标定</a:t>
            </a:r>
            <a:r>
              <a:rPr sz="175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175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机械臂抓取与分类放置</a:t>
            </a:r>
            <a:r>
              <a:rPr sz="175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64208"/>
            <a:ext cx="3429000" cy="333756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70832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1144" y="1810512"/>
            <a:ext cx="3044952" cy="311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50" b="1" i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NanoLoong 开源机器人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68296"/>
            <a:ext cx="3044952" cy="11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从机械结构、硬件组装，到 Isaac Gym 强化学习、MuJoCo Sim-to-Sim 与真机策略迁移。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64208"/>
            <a:ext cx="3429000" cy="3337560"/>
          </a:xfrm>
          <a:prstGeom prst="roundRect">
            <a:avLst>
              <a:gd name="adj" fmla="val 115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83296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93608" y="1810512"/>
            <a:ext cx="3044952" cy="311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50" b="1" i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Unitree G1 模仿学习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68296"/>
            <a:ext cx="3044952" cy="867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人类动作采集、GVHMR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重建、运动重定向、PPO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训练、Sim-to-Sim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72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验证与真机部署</a:t>
            </a:r>
            <a:r>
              <a:rPr sz="172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3707"/>
            <a:ext cx="10972800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三个案例逐步提升系统复杂度，贯穿“感知</a:t>
            </a:r>
            <a:r>
              <a:rPr sz="19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19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sz="19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19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sz="19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19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sz="19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19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部署”的完整工程闭环</a:t>
            </a:r>
            <a:r>
              <a:rPr sz="19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5285232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1627632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49011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 i="0">
                <a:solidFill>
                  <a:srgbClr val="31599B"/>
                </a:solidFill>
                <a:latin typeface="微软雅黑"/>
              </a:rPr>
              <a:t>01  机械臂视觉分拣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49011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掌握 RealSense 图像采集、YOLO 图像识别和 Kinova Gen3 自动分拣的端到端集成方法。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64208"/>
            <a:ext cx="5285232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664208"/>
            <a:ext cx="64008" cy="1627632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49011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 i="0">
                <a:solidFill>
                  <a:srgbClr val="2F8E72"/>
                </a:solidFill>
                <a:latin typeface="微软雅黑"/>
              </a:rPr>
              <a:t>02  小型人形机器人开发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68296"/>
            <a:ext cx="49011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利用 NanoLoong 开源资源完成硬件搭建、仿真学习、Sim-to-Real 验证与实物样机测试。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84448"/>
            <a:ext cx="5285232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584448"/>
            <a:ext cx="64008" cy="1627632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49011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 i="0">
                <a:solidFill>
                  <a:srgbClr val="C58A24"/>
                </a:solidFill>
                <a:latin typeface="微软雅黑"/>
              </a:rPr>
              <a:t>03  全尺寸人形模仿学习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9011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掌握人类运动采集、运动重定向、PPO 训练和 Unitree G1 真机部署，完成高动态动作虚实迁移。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584448"/>
            <a:ext cx="5285232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584448"/>
            <a:ext cx="64008" cy="1627632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730752"/>
            <a:ext cx="49011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 i="0">
                <a:solidFill>
                  <a:srgbClr val="C63F45"/>
                </a:solidFill>
                <a:latin typeface="微软雅黑"/>
              </a:rPr>
              <a:t>04  综合系统能力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4288536"/>
            <a:ext cx="49011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综合运用强化学习、VLA、虚实迁移等前述知识，形成具身智能系统开发的闭环思维与动手能力。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本章目录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31599B"/>
                </a:solidFill>
                <a:latin typeface="微软雅黑"/>
              </a:rPr>
              <a:t>11.1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64208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22833"/>
                </a:solidFill>
                <a:latin typeface="微软雅黑"/>
              </a:rPr>
              <a:t>Kinova Gen3 机械臂自动分拣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212848"/>
            <a:ext cx="10104120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31599B"/>
                </a:solidFill>
                <a:latin typeface="微软雅黑"/>
              </a:rPr>
              <a:t>11.2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4320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22833"/>
                </a:solidFill>
                <a:latin typeface="微软雅黑"/>
              </a:rPr>
              <a:t>NanoLoong 开源小型人形机器人开发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291840"/>
            <a:ext cx="10104120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1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31599B"/>
                </a:solidFill>
                <a:latin typeface="微软雅黑"/>
              </a:rPr>
              <a:t>11.3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22191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22833"/>
                </a:solidFill>
                <a:latin typeface="微软雅黑"/>
              </a:rPr>
              <a:t>Unitree G1 全尺寸人形机器人模仿学习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370831"/>
            <a:ext cx="10104120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01183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31599B"/>
                </a:solidFill>
                <a:latin typeface="微软雅黑"/>
              </a:rPr>
              <a:t>11.4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901183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22833"/>
                </a:solidFill>
                <a:latin typeface="微软雅黑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449823"/>
            <a:ext cx="10104120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Kinova Gen3 机械臂自动分拣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第11章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Kinova Gen3 机械臂自动分拣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18648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05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Kinova</a:t>
            </a:r>
            <a:r>
              <a:rPr sz="205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Gen3 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机械臂为核心执行平台，集成</a:t>
            </a:r>
            <a:r>
              <a:rPr sz="205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Intel RealSense 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深度相机完成图像采集</a:t>
            </a:r>
            <a:endParaRPr sz="205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采用已训练好的</a:t>
            </a:r>
            <a:r>
              <a:rPr sz="205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YOLOv11 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目标检测模型，实现工作平面上小物品的自主识别、抓取与分类放置</a:t>
            </a:r>
            <a:endParaRPr sz="205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系统形成“视觉感知</a:t>
            </a:r>
            <a:r>
              <a:rPr sz="205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决策规划</a:t>
            </a:r>
            <a:r>
              <a:rPr sz="205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sz="205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精确执行”的闭环，体现多模态感知、物体定位、手眼标定和运动控制的端到端集成</a:t>
            </a:r>
            <a:endParaRPr sz="205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335756"/>
            <a:ext cx="10972800" cy="31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目标：构建可重复运行的视觉引导自动分拣</a:t>
            </a:r>
            <a:r>
              <a:rPr lang="zh-CN" altLang="en-US" sz="20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</a:t>
            </a:r>
            <a:endParaRPr sz="20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自动分拣系统的闭环结构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图像采集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7208" y="1874519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目标检测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7488" y="1874519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3D 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76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7768" y="1874519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坐标变换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804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28048" y="1874519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抓取放置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10561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30" b="0" i="0">
                <a:solidFill>
                  <a:srgbClr val="222833"/>
                </a:solidFill>
                <a:latin typeface="微软雅黑"/>
              </a:rPr>
              <a:t>RealSense 同步提供 RGB / 深度信息；YOLOv11 输出类别与检测框；手眼标定将相机坐标转换到机械臂基座坐标；Gen3 根据目标位姿完成抓取和分类放置。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视觉反馈贯穿整个过程，使机械臂能够在循环任务中持续重新感知和修正。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11.1.1 核心组件与技术解析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383280" cy="3154680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64008" cy="315468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Kinova Gen3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9736"/>
            <a:ext cx="2999232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 dirty="0" err="1">
                <a:solidFill>
                  <a:srgbClr val="222833"/>
                </a:solidFill>
                <a:latin typeface="微软雅黑"/>
              </a:rPr>
              <a:t>轻量化</a:t>
            </a:r>
            <a:r>
              <a:rPr sz="1750" b="0" i="0" dirty="0">
                <a:solidFill>
                  <a:srgbClr val="222833"/>
                </a:solidFill>
                <a:latin typeface="微软雅黑"/>
              </a:rPr>
              <a:t> 7 </a:t>
            </a:r>
            <a:r>
              <a:rPr sz="1750" b="0" i="0" dirty="0" err="1">
                <a:solidFill>
                  <a:srgbClr val="222833"/>
                </a:solidFill>
                <a:latin typeface="微软雅黑"/>
              </a:rPr>
              <a:t>自由度协作机械臂，支持笛卡儿空间精确控制、末端执行器定制和视觉系统集成</a:t>
            </a:r>
            <a:r>
              <a:rPr sz="175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755648"/>
            <a:ext cx="3383280" cy="315468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755648"/>
            <a:ext cx="64008" cy="315468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901952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RealSense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59736"/>
            <a:ext cx="2999232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3D 感知硬件平台，可同步采集彩色、深度和红外图像，并通过 pyrealsense2 在 Python 中调用。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3589" y="1755648"/>
            <a:ext cx="3383280" cy="3154680"/>
          </a:xfrm>
          <a:prstGeom prst="roundRect">
            <a:avLst>
              <a:gd name="adj" fmla="val 394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9016" y="1755648"/>
            <a:ext cx="64008" cy="315468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1901952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YOLOv11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59736"/>
            <a:ext cx="2999232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实时目标检测模型，通过 Ultralytics Python 接口输出物体类别、检测框和视觉定位信息。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Kinova Gen3：轻量化 7 自由度协作机械臂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0820" y="5961888"/>
            <a:ext cx="3701268" cy="2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Kinova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Gen3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机械臂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3866" y="2073441"/>
            <a:ext cx="3836966" cy="16244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sz="2400" b="0" i="0" dirty="0" err="1">
                <a:latin typeface="微软雅黑"/>
              </a:rPr>
              <a:t>支持笛卡儿空间控制、末端执行器快速定制，并为视觉系统与移动底盘集成预留接口</a:t>
            </a:r>
            <a:endParaRPr sz="2400" b="0" i="0" dirty="0">
              <a:latin typeface="微软雅黑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9E37F27-6D81-457D-0E78-06C312A7B4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712" y="2150744"/>
            <a:ext cx="4968906" cy="3630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Kinova Gen3 的工程特点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55648"/>
            <a:ext cx="3401568" cy="3182112"/>
          </a:xfrm>
          <a:prstGeom prst="roundRect">
            <a:avLst>
              <a:gd name="adj" fmla="val 185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55648"/>
            <a:ext cx="64008" cy="3182112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高灵活性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59736"/>
            <a:ext cx="3017520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 dirty="0">
                <a:solidFill>
                  <a:srgbClr val="222833"/>
                </a:solidFill>
                <a:latin typeface="微软雅黑"/>
              </a:rPr>
              <a:t>7 </a:t>
            </a:r>
            <a:r>
              <a:rPr sz="1780" b="0" i="0" dirty="0" err="1">
                <a:solidFill>
                  <a:srgbClr val="222833"/>
                </a:solidFill>
                <a:latin typeface="微软雅黑"/>
              </a:rPr>
              <a:t>自由度结构为避障、抓取姿态调整和复杂工作空间操作提供更高冗余</a:t>
            </a:r>
            <a:r>
              <a:rPr sz="178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55648"/>
            <a:ext cx="3401568" cy="3182112"/>
          </a:xfrm>
          <a:prstGeom prst="roundRect">
            <a:avLst>
              <a:gd name="adj" fmla="val 288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55648"/>
            <a:ext cx="64008" cy="3182112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完整传感体系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9736"/>
            <a:ext cx="3017520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协作机械臂内置传感能力便于状态监测和安全控制，适合视觉引导操作。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755648"/>
            <a:ext cx="3401568" cy="3182112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64008" cy="3182112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开发生态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9736"/>
            <a:ext cx="3017520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支持多语言、多环境开发，并具备大量视觉引导分拣参考实践，便于从原型走向部署。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495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 dirty="0">
                <a:solidFill>
                  <a:srgbClr val="24477D"/>
                </a:solidFill>
                <a:latin typeface="微软雅黑"/>
              </a:rPr>
              <a:t>RealSense</a:t>
            </a:r>
            <a:r>
              <a:rPr lang="en-US" sz="3100" b="1" i="0" dirty="0">
                <a:solidFill>
                  <a:srgbClr val="24477D"/>
                </a:solidFill>
                <a:latin typeface="微软雅黑"/>
              </a:rPr>
              <a:t> </a:t>
            </a:r>
            <a:r>
              <a:rPr sz="3100" b="1" i="0" dirty="0">
                <a:solidFill>
                  <a:srgbClr val="24477D"/>
                </a:solidFill>
                <a:latin typeface="微软雅黑"/>
              </a:rPr>
              <a:t>3D </a:t>
            </a:r>
            <a:r>
              <a:rPr sz="3100" b="1" i="0" dirty="0" err="1">
                <a:solidFill>
                  <a:srgbClr val="24477D"/>
                </a:solidFill>
                <a:latin typeface="微软雅黑"/>
              </a:rPr>
              <a:t>感知</a:t>
            </a:r>
            <a:endParaRPr sz="31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图 11-2  RealSense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相机图像采集工具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9652" y="1829466"/>
            <a:ext cx="11109960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342900" indent="-342900">
              <a:lnSpc>
                <a:spcPct val="112000"/>
              </a:lnSpc>
              <a:buFont typeface="Arial" panose="020B0604020202020204" pitchFamily="34" charset="0"/>
              <a:buChar char="•"/>
              <a:defRPr sz="2400" b="0" i="0">
                <a:latin typeface="微软雅黑"/>
              </a:defRPr>
            </a:lvl1pPr>
          </a:lstStyle>
          <a:p>
            <a:r>
              <a:rPr dirty="0" err="1"/>
              <a:t>基于</a:t>
            </a:r>
            <a:r>
              <a:rPr dirty="0"/>
              <a:t> SDK 2.0 </a:t>
            </a:r>
            <a:r>
              <a:rPr dirty="0" err="1"/>
              <a:t>同步采集彩色、深度与红外数据；Python</a:t>
            </a:r>
            <a:r>
              <a:rPr dirty="0"/>
              <a:t> </a:t>
            </a:r>
            <a:r>
              <a:rPr dirty="0" err="1"/>
              <a:t>中可通过</a:t>
            </a:r>
            <a:r>
              <a:rPr dirty="0"/>
              <a:t> pyrealsense2 </a:t>
            </a:r>
            <a:r>
              <a:rPr dirty="0" err="1"/>
              <a:t>构建采集管线</a:t>
            </a:r>
            <a:endParaRPr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8AA23EE-21FB-252A-731D-CE458AD9CE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04" y="3573404"/>
            <a:ext cx="3797443" cy="1570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752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 dirty="0">
                <a:solidFill>
                  <a:srgbClr val="24477D"/>
                </a:solidFill>
                <a:latin typeface="微软雅黑"/>
              </a:rPr>
              <a:t>RealSense </a:t>
            </a:r>
            <a:r>
              <a:rPr sz="3600" b="1" i="0" dirty="0" err="1">
                <a:solidFill>
                  <a:srgbClr val="24477D"/>
                </a:solidFill>
                <a:latin typeface="微软雅黑"/>
              </a:rPr>
              <a:t>图像采集：为什么适合自动分拣</a:t>
            </a:r>
            <a:r>
              <a:rPr sz="3600" b="1" i="0" dirty="0">
                <a:solidFill>
                  <a:srgbClr val="24477D"/>
                </a:solidFill>
                <a:latin typeface="微软雅黑"/>
              </a:rPr>
              <a:t>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92" y="1683346"/>
            <a:ext cx="10287000" cy="2156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彩色图像用于目标检测和类别识别；深度图用于恢复目标的三维中心坐标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彩色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深度同步采集降低了跨模态对齐误差，便于从二维检测框推算三维目标位置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pyrealsense2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提供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Python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接口，可将图像采集、保存与机械臂控制流程直接集成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75504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20" b="1" i="0">
                <a:solidFill>
                  <a:srgbClr val="24477D"/>
                </a:solidFill>
                <a:latin typeface="微软雅黑"/>
              </a:rPr>
              <a:t>RGB 负责“看见是什么”，Depth 负责“判断在哪里”。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YOLOv11：实时目标检测模型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14476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YOLOv11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结构图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5392" y="2954663"/>
            <a:ext cx="3711448" cy="448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spcAft>
                <a:spcPts val="600"/>
              </a:spcAft>
              <a:defRPr sz="2400" b="1">
                <a:solidFill>
                  <a:srgbClr val="222833"/>
                </a:solidFill>
                <a:latin typeface="微软雅黑"/>
              </a:defRPr>
            </a:lvl1pPr>
          </a:lstStyle>
          <a:p>
            <a:r>
              <a:rPr dirty="0"/>
              <a:t>Backbone—Neck—Head </a:t>
            </a:r>
            <a:r>
              <a:rPr dirty="0" err="1"/>
              <a:t>三段式结构：特征提取</a:t>
            </a:r>
            <a:r>
              <a:rPr dirty="0"/>
              <a:t>—</a:t>
            </a:r>
            <a:r>
              <a:rPr dirty="0" err="1"/>
              <a:t>特征融合</a:t>
            </a:r>
            <a:r>
              <a:rPr dirty="0"/>
              <a:t>—</a:t>
            </a:r>
            <a:r>
              <a:rPr dirty="0" err="1"/>
              <a:t>预测输出</a:t>
            </a:r>
            <a:r>
              <a:rPr dirty="0"/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43DDCD8-9A82-BF4F-6B17-DAF224E81C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260" y="1389222"/>
            <a:ext cx="4043172" cy="5002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YOLOv11 在分拣流程中的作用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55648"/>
            <a:ext cx="3401568" cy="186740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55648"/>
            <a:ext cx="64008" cy="186740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59736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从输入图像中提取多尺度视觉特征。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55648"/>
            <a:ext cx="3401568" cy="185826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55648"/>
            <a:ext cx="64008" cy="1858264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9736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 dirty="0" err="1">
                <a:solidFill>
                  <a:srgbClr val="222833"/>
                </a:solidFill>
                <a:latin typeface="微软雅黑"/>
              </a:rPr>
              <a:t>融合不同尺度的特征，为小目标和不同大小物体检测提供更丰富的表示</a:t>
            </a:r>
            <a:r>
              <a:rPr sz="175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55648"/>
            <a:ext cx="3401568" cy="186740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64008" cy="186740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9736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 dirty="0" err="1">
                <a:solidFill>
                  <a:srgbClr val="222833"/>
                </a:solidFill>
                <a:latin typeface="微软雅黑"/>
              </a:rPr>
              <a:t>输出检测结果，为机械臂提供物体类别和视觉定位信息</a:t>
            </a:r>
            <a:r>
              <a:rPr sz="178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2976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Ultralytics Python 接口使 YOLO 模型能够无缝嵌入机械臂控制循环。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11.1.2 环境准备与系统自检：软件环境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83080"/>
            <a:ext cx="5138928" cy="3127248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1783080"/>
            <a:ext cx="64008" cy="312724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19293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操作系统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487168"/>
            <a:ext cx="4754880" cy="31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dirty="0">
                <a:solidFill>
                  <a:srgbClr val="222833"/>
                </a:solidFill>
                <a:latin typeface="微软雅黑"/>
              </a:rPr>
              <a:t>Windows 11（推荐）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83080"/>
            <a:ext cx="5138928" cy="312724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783080"/>
            <a:ext cx="64008" cy="312724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293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F8E72"/>
                </a:solidFill>
                <a:latin typeface="微软雅黑"/>
              </a:rPr>
              <a:t>Python 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87168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Python 3.9 或 3.10；推荐使用 Conda 创建独立环境，避免依赖版本冲突。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11.1.2 所需主要库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87079"/>
              </p:ext>
            </p:extLst>
          </p:nvPr>
        </p:nvGraphicFramePr>
        <p:xfrm>
          <a:off x="731520" y="1737360"/>
          <a:ext cx="1083563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</a:rPr>
                        <a:t>类别</a:t>
                      </a:r>
                      <a:endParaRPr sz="24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主要库</a:t>
                      </a:r>
                      <a:endParaRPr sz="24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作用</a:t>
                      </a:r>
                      <a:endParaRPr sz="24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机械臂控制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BaseClient、BaseCyclicClient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Kinova Gen3 控制接口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图像采集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pyrealsense2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RealSense RGB / Depth 获取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目标检测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ultralytics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YOLOv11 推理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通用依赖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os、sys、numpy、time、cv2、datetime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22833"/>
                          </a:solidFill>
                        </a:rPr>
                        <a:t>文件、数值、计时、图像与时间处理</a:t>
                      </a:r>
                      <a:endParaRPr sz="20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11.1.2 硬件自检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10195560" cy="3169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1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上电前检查机械臂、夹爪和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RealSense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相机的物理连接与供电，确认无松动或短路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2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软件启动后测试机械臂关节运动，确认各关节响应正常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3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测试夹爪开合，检查末端执行器动作是否稳定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4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测试相机图像采集，确认彩色与深度数据可正常获得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5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确认各组件通信正常、无异常报警后再进入真机部署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11.1.3 真机部署：三个连续阶段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47088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075688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远距离识别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9814" y="2121408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6974" y="1847088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66974" y="1847088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1566" y="2075688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近距离精定位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3868" y="2121408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1028" y="1847088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31028" y="1847088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5620" y="2075688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抓取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7923" y="2121408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5083" y="1847088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95083" y="1847088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9675" y="2075688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分类放置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1977" y="2121408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9137" y="1847088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59137" y="1847088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23729" y="2075688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进入下一循环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840480"/>
            <a:ext cx="10652760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整个流程由视觉反馈闭环驱动；手眼标定、手眼协调与安全约束贯穿三个阶段。教材建议在实际运行前进行多次低速调试或仿真验证。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阶段 1：远距离识别与初步定位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10469880" cy="40152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1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机械臂移动至预设识别位姿并打开夹爪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2  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RealSense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采集彩色图像和深度图像，对彩色图像进行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ROI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掩码处理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3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将处理后的图像输入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YOLO，置信度阈值设置为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0.5。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4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检测成功后提取第一个目标的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3D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中心坐标，并通过手眼标定矩阵转换至机械臂基座坐标系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5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根据目标高度进行安全筛选；若满足条件，则移动到物体斜上方，准备近距离二次拍摄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阶段 1：识别位姿与二次拍摄准备位姿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25312"/>
            <a:ext cx="5413248" cy="231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 dirty="0" err="1">
                <a:solidFill>
                  <a:srgbClr val="222833"/>
                </a:solidFill>
                <a:latin typeface="微软雅黑"/>
              </a:rPr>
              <a:t>机械臂位于识别位姿</a:t>
            </a:r>
            <a:endParaRPr sz="1450" b="1" i="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6208" y="5925312"/>
            <a:ext cx="5303520" cy="231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 dirty="0" err="1">
                <a:solidFill>
                  <a:srgbClr val="222833"/>
                </a:solidFill>
                <a:latin typeface="微软雅黑"/>
              </a:rPr>
              <a:t>机械臂位于物体斜上方</a:t>
            </a:r>
            <a:endParaRPr sz="145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A08FFA7-FB1D-C14E-3E8B-1ACADC4693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432" y="1750991"/>
            <a:ext cx="2786380" cy="409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8628625-D1D4-875F-B2B7-7ADA297B9F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538" y="1798154"/>
            <a:ext cx="1796860" cy="407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远距离识别代码（1/3）：移动、拍摄与 ROI 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10469880" cy="41605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28800"/>
            <a:ext cx="1004925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i="0" dirty="0">
                <a:solidFill>
                  <a:srgbClr val="222833"/>
                </a:solidFill>
                <a:latin typeface="Consolas"/>
              </a:rPr>
              <a:t>while True:</a:t>
            </a:r>
          </a:p>
          <a:p>
            <a:pPr algn="l">
              <a:lnSpc>
                <a:spcPct val="102000"/>
              </a:lnSpc>
            </a:pPr>
            <a:r>
              <a:rPr sz="1550" b="0" i="0" dirty="0">
                <a:solidFill>
                  <a:srgbClr val="222833"/>
                </a:solidFill>
                <a:latin typeface="Consolas"/>
              </a:rPr>
              <a:t>    gen3.move_to_pose_cartesian(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pose_recognize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</a:pPr>
            <a:r>
              <a:rPr sz="1550" b="0" i="0" dirty="0">
                <a:solidFill>
                  <a:srgbClr val="222833"/>
                </a:solidFill>
                <a:latin typeface="Consolas"/>
              </a:rPr>
              <a:t>    gen3.gripper_open()</a:t>
            </a:r>
          </a:p>
          <a:p>
            <a:pPr algn="l">
              <a:lnSpc>
                <a:spcPct val="102000"/>
              </a:lnSpc>
            </a:pPr>
            <a:r>
              <a:rPr sz="1550" b="0" i="0" dirty="0">
                <a:solidFill>
                  <a:srgbClr val="222833"/>
                </a:solidFill>
                <a:latin typeface="Consolas"/>
              </a:rPr>
              <a:t>    print("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开始拍摄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")</a:t>
            </a:r>
          </a:p>
          <a:p>
            <a:pPr algn="l">
              <a:lnSpc>
                <a:spcPct val="102000"/>
              </a:lnSpc>
            </a:pPr>
            <a:endParaRPr sz="1550" b="0" i="0" dirty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550" b="0" i="0" dirty="0">
                <a:solidFill>
                  <a:srgbClr val="222833"/>
                </a:solidFill>
                <a:latin typeface="Consolas"/>
              </a:rPr>
              <a:t>    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path_capture_save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, 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frame_depth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 = 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realsense.capture_image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()</a:t>
            </a:r>
          </a:p>
          <a:p>
            <a:pPr algn="l">
              <a:lnSpc>
                <a:spcPct val="102000"/>
              </a:lnSpc>
            </a:pPr>
            <a:r>
              <a:rPr sz="1550" b="0" i="0" dirty="0">
                <a:solidFill>
                  <a:srgbClr val="222833"/>
                </a:solidFill>
                <a:latin typeface="Consolas"/>
              </a:rPr>
              <a:t>    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mask_outside_roi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(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path_capture_save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, </a:t>
            </a:r>
            <a:r>
              <a:rPr sz="1550" b="0" i="0" dirty="0" err="1">
                <a:solidFill>
                  <a:srgbClr val="222833"/>
                </a:solidFill>
                <a:latin typeface="Consolas"/>
              </a:rPr>
              <a:t>path_png_masked</a:t>
            </a:r>
            <a:r>
              <a:rPr sz="1550" b="0" i="0" dirty="0">
                <a:solidFill>
                  <a:srgbClr val="222833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远距离识别代码（2/3）：YOLO 检测与三维中心提取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1046988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37360"/>
            <a:ext cx="1004925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results = yolomodel.predict(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    source=path_png_masked,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    save=True, project=path_directory_py_current,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    name="predict", exist_ok=True, conf=0.5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</a:pPr>
            <a:endParaRPr sz="141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objects_coord_3d_center = realsense.acquire_objects_coord_3d_center(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    frame_depth, results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if len(objects_coord_3d_center) == 0: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    time.sleep(5)</a:t>
            </a:r>
          </a:p>
          <a:p>
            <a:pPr algn="l">
              <a:lnSpc>
                <a:spcPct val="102000"/>
              </a:lnSpc>
            </a:pPr>
            <a:r>
              <a:rPr sz="1410" b="0" i="0">
                <a:solidFill>
                  <a:srgbClr val="222833"/>
                </a:solidFill>
                <a:latin typeface="Consolas"/>
              </a:rPr>
              <a:t>    continue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远距离识别代码（3/3）：坐标转换与安全高度筛选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10469880" cy="42976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92224"/>
            <a:ext cx="10049255" cy="39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save_capture_with_timestamp(path_capture_save)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object_coord_3d_center = objects_coord_3d_center[0]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coord_3d = object_coord_3d_center["coord_3d"]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pose_camera = numpy.array([[coord_3d[0]], [coord_3d[1]], [coord_3d[2]]])</a:t>
            </a:r>
          </a:p>
          <a:p>
            <a:pPr algn="l">
              <a:lnSpc>
                <a:spcPct val="102000"/>
              </a:lnSpc>
            </a:pPr>
            <a:endParaRPr sz="143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pose_base_list = transformPCameraToPBase(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    gen3.get_pose_current(), pose_camera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if pose_base_list[2] &gt; 0.253: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    continue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从远距离识别到近距离二次拍摄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10332720" cy="32461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856232"/>
            <a:ext cx="9912096" cy="292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# 移动到近距离准备二次拍摄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gen3.move_to_pose_cartesian([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  pose_base_list[0] - 0.05,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  pose_base_list[1],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  pose_base_list[2] + 0.2,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  180., -5., 94.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48072"/>
            <a:ext cx="10561320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lnSpc>
                <a:spcPct val="112000"/>
              </a:lnSpc>
              <a:defRPr sz="2400" b="1" i="0">
                <a:solidFill>
                  <a:srgbClr val="24477D"/>
                </a:solidFill>
                <a:latin typeface="微软雅黑"/>
              </a:defRPr>
            </a:lvl1pPr>
          </a:lstStyle>
          <a:p>
            <a:r>
              <a:rPr dirty="0"/>
              <a:t>第一次检测用于“</a:t>
            </a:r>
            <a:r>
              <a:rPr dirty="0" err="1"/>
              <a:t>快速找到候选目标</a:t>
            </a:r>
            <a:r>
              <a:rPr dirty="0"/>
              <a:t>”，</a:t>
            </a:r>
            <a:r>
              <a:rPr dirty="0" err="1"/>
              <a:t>随后把相机移动到更接近目标的位置，再进行第二次视觉确认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阶段 2：近距离精确定位与抓取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64208"/>
            <a:ext cx="10332720" cy="3041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在物体斜上方再次拍摄图像，使用更低的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YOLO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置信度阈值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0.2，提高检测召回率。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若未检测到物体，或三维坐标全为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0，则返回远距离识别阶段重新搜索。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提取最近的检测框，完成坐标转换并计算抓取高度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控制机械臂移动到抓取点正上方，闭合夹爪并提升到安全高度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792"/>
            <a:ext cx="10972800" cy="38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24477D"/>
                </a:solidFill>
                <a:latin typeface="微软雅黑"/>
              </a:rPr>
              <a:t>二次视觉确认用于弥补远距离检测的定位误差，实现更高精度的抓取。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Kinova Gen3 抓取物体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" y="450392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Kinova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Gen3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机械臂抓取物体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AC34E11-7E86-CA0F-C7AE-FC3DE42B2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660" y="457200"/>
            <a:ext cx="2943860" cy="595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近距离定位代码（1/3）：再次拍摄与低阈值检测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1046988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37360"/>
            <a:ext cx="1004925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path_capture_save, frame_depth = realsense.capture_image()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save_capture_with_timestamp(path_capture_save)</a:t>
            </a:r>
          </a:p>
          <a:p>
            <a:pPr algn="l">
              <a:lnSpc>
                <a:spcPct val="102000"/>
              </a:lnSpc>
            </a:pPr>
            <a:endParaRPr sz="143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results = yolomodel.predict(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    source=path_capture_save,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    save=True, project=path_directory_py_current,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    name="predict2", exist_ok=True, conf=0.2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</a:pPr>
            <a:endParaRPr sz="143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objects_coord_3d_center = realsense.acquire_objects_coord_3d_center(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    frame_depth, results</a:t>
            </a:r>
          </a:p>
          <a:p>
            <a:pPr algn="l">
              <a:lnSpc>
                <a:spcPct val="102000"/>
              </a:lnSpc>
            </a:pPr>
            <a:r>
              <a:rPr sz="1430" b="0" i="0">
                <a:solidFill>
                  <a:srgbClr val="222833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近距离定位代码（2/3）：选择最近检测框并检查坐标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1046988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37360"/>
            <a:ext cx="1004925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if len(objects_coord_3d_center) == 0: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time.sleep(5)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continue</a:t>
            </a:r>
          </a:p>
          <a:p>
            <a:pPr algn="l">
              <a:lnSpc>
                <a:spcPct val="102000"/>
              </a:lnSpc>
            </a:pPr>
            <a:endParaRPr sz="145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index = get_nearest_box_index(results)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object_coord_3d_center = objects_coord_3d_center[index]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object_cls = results[0].boxes.cls.int().tolist()[index]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coord_3d = object_coord_3d_center["coord_3d"]</a:t>
            </a:r>
          </a:p>
          <a:p>
            <a:pPr algn="l">
              <a:lnSpc>
                <a:spcPct val="102000"/>
              </a:lnSpc>
            </a:pPr>
            <a:endParaRPr sz="145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if all(x == 0 for x in coord_3d[:3]):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time.sleep(5)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continue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近距离定位代码（3/3）：抓取高度限制与夹爪动作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1056132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737360"/>
            <a:ext cx="10140696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pose_camera = numpy.array([[coord_3d[0]], [coord_3d[1]], [coord_3d[2]]])</a:t>
            </a: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pose_current = gen3.get_pose_current()</a:t>
            </a: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pose_base_list = transformPCameraToPBase(pose_current, pose_camera)</a:t>
            </a:r>
          </a:p>
          <a:p>
            <a:pPr algn="l">
              <a:lnSpc>
                <a:spcPct val="102000"/>
              </a:lnSpc>
            </a:pPr>
            <a:endParaRPr sz="135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pose_z = pose_base_list[2] - 0.02</a:t>
            </a: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if pose_z &lt; -0.353:</a:t>
            </a: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    pose_z = -0.353</a:t>
            </a:r>
          </a:p>
          <a:p>
            <a:pPr algn="l">
              <a:lnSpc>
                <a:spcPct val="102000"/>
              </a:lnSpc>
            </a:pPr>
            <a:endParaRPr sz="135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gen3.move_to_pose_cartesian([pose_base_list[0] + 0.02, pose_base_list[1], pose_z, 180., -5., 94.])</a:t>
            </a: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gen3.gripper_close()</a:t>
            </a:r>
          </a:p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833"/>
                </a:solidFill>
                <a:latin typeface="Consolas"/>
              </a:rPr>
              <a:t>gen3.move_to_pose_cartesian([pose_base_list[0], pose_base_list[1], 0., 180., -5., 94.])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抓取阶段的安全约束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55648"/>
            <a:ext cx="3310128" cy="3246120"/>
          </a:xfrm>
          <a:prstGeom prst="roundRect">
            <a:avLst>
              <a:gd name="adj" fmla="val 320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901952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坐标有效性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59736"/>
            <a:ext cx="2926080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三维坐标全为 0 时不执行抓取，返回识别循环。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55648"/>
            <a:ext cx="3310128" cy="3246120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901952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抓取高度下限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59736"/>
            <a:ext cx="2926080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教材代码将 pose_z 限制在不低于 -0.353，避免过度下探。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55648"/>
            <a:ext cx="3310128" cy="324612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75564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901952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安全抬升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59736"/>
            <a:ext cx="2926080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夹爪闭合后先抬升到安全高度，再进入分类放置路径。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阶段 3：分类放置与循环控制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00784"/>
            <a:ext cx="10287000" cy="182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根据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YOLO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检测到的物体类别，选择对应的分类放置路径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沿安全路径移动到放置点，打开夹爪释放物体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返回安全位置并短暂等待，然后进入下一轮识别循环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程序必须包含异常处理与安全断开机制，防止意外事故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111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30" b="1" i="0" dirty="0" err="1">
                <a:solidFill>
                  <a:srgbClr val="24477D"/>
                </a:solidFill>
                <a:latin typeface="微软雅黑"/>
              </a:rPr>
              <a:t>分类放置阶段把“识别结果”真正转化为物理世界中的任务完成</a:t>
            </a:r>
            <a:r>
              <a:rPr sz="1930" b="1" i="0" dirty="0">
                <a:solidFill>
                  <a:srgbClr val="24477D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分类放置：机械臂释放物体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9904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机械臂释放物体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A85EEB0-1261-E6C1-09F4-D0A892193B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834" y="1584655"/>
            <a:ext cx="5628132" cy="4502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分类放置代码（1/3）：类别到放置路径的映射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1046988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37360"/>
            <a:ext cx="1004925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match object_cls: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case 1:          # candy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    pose_place_air = pose_place_air_one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    pose_place = pose_place_candy_1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case 2 | 3 | 4 | 5 | 6:  # doll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    pose_place_air = pose_place_air_one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    pose_place = pose_place_dolls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case 7 | 8 | 9 | 10:     # cube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    pose_place_air = pose_place_air_two</a:t>
            </a:r>
          </a:p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222833"/>
                </a:solidFill>
                <a:latin typeface="Consolas"/>
              </a:rPr>
              <a:t>        pose_place = pose_place_cube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分类放置代码（2/3）：其他糖果类别与默认分支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1046988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37360"/>
            <a:ext cx="1004925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case 11:         # candy_huamei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pose_place_air = pose_place_air_one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 = pose_place_candy_2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case 12:         # candy_yezi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pose_place_air = pose_place_air_two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 = pose_place_candy_4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case 13:         # candy_mianhua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pose_place_air = pose_place_air_two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 = pose_place_candy_3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case _: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pose_place_air = pose_place_air_one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      pose_place = pose_place_dolls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分类放置代码（3/3）：释放、回撤与安全断开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10332720" cy="342900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901952"/>
            <a:ext cx="9912096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gen3.move_to_pose_cartesian(pose_place_air)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gen3.move_to_pose_cartesian(pose_place)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gen3.gripper_open()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gen3.move_to_pose_cartesian(pose_place_air)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time.sleep(2)</a:t>
            </a:r>
          </a:p>
          <a:p>
            <a:pPr algn="l">
              <a:lnSpc>
                <a:spcPct val="102000"/>
              </a:lnSpc>
            </a:pPr>
            <a:endParaRPr sz="160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finally: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    gen3.disconnection()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13248"/>
            <a:ext cx="10469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0" dirty="0">
                <a:solidFill>
                  <a:srgbClr val="222833"/>
                </a:solidFill>
                <a:latin typeface="微软雅黑"/>
              </a:rPr>
              <a:t>finally </a:t>
            </a:r>
            <a:r>
              <a:rPr sz="1800" b="0" i="0" dirty="0" err="1">
                <a:solidFill>
                  <a:srgbClr val="222833"/>
                </a:solidFill>
                <a:latin typeface="微软雅黑"/>
              </a:rPr>
              <a:t>块用于确保程序异常或退出时执行安全断开</a:t>
            </a:r>
            <a:r>
              <a:rPr sz="18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真机部署注意事项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058400" cy="29903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>
                <a:solidFill>
                  <a:srgbClr val="C63F45"/>
                </a:solidFill>
                <a:latin typeface="微软雅黑"/>
              </a:rPr>
              <a:t>1  </a:t>
            </a:r>
            <a:r>
              <a:rPr sz="2800">
                <a:solidFill>
                  <a:srgbClr val="222833"/>
                </a:solidFill>
                <a:latin typeface="微软雅黑"/>
              </a:rPr>
              <a:t>手眼标定矩阵的准确性是视觉—机械臂坐标转换的核心，部署前应进行严格标定验证。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>
                <a:solidFill>
                  <a:srgbClr val="C63F45"/>
                </a:solidFill>
                <a:latin typeface="微软雅黑"/>
              </a:rPr>
              <a:t>2  </a:t>
            </a:r>
            <a:r>
              <a:rPr sz="2800">
                <a:solidFill>
                  <a:srgbClr val="222833"/>
                </a:solidFill>
                <a:latin typeface="微软雅黑"/>
              </a:rPr>
              <a:t>合理设置 YOLO 置信度阈值、ROI 和安全高度，减少误识别与碰撞风险。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>
                <a:solidFill>
                  <a:srgbClr val="C63F45"/>
                </a:solidFill>
                <a:latin typeface="微软雅黑"/>
              </a:rPr>
              <a:t>3  </a:t>
            </a:r>
            <a:r>
              <a:rPr sz="2800">
                <a:solidFill>
                  <a:srgbClr val="222833"/>
                </a:solidFill>
                <a:latin typeface="微软雅黑"/>
              </a:rPr>
              <a:t>实际运行应从低速模式开始，逐步验证整个闭环流程的稳定性与鲁棒性。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8685"/>
            <a:ext cx="10972800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/>
              </a:rPr>
              <a:t>视觉算法的精度只有在“标定正确</a:t>
            </a:r>
            <a:r>
              <a:rPr sz="2400" b="1" i="0" dirty="0">
                <a:solidFill>
                  <a:srgbClr val="24477D"/>
                </a:solidFill>
                <a:latin typeface="微软雅黑"/>
              </a:rPr>
              <a:t> + </a:t>
            </a:r>
            <a:r>
              <a:rPr sz="2400" b="1" i="0" dirty="0" err="1">
                <a:solidFill>
                  <a:srgbClr val="24477D"/>
                </a:solidFill>
                <a:latin typeface="微软雅黑"/>
              </a:rPr>
              <a:t>安全约束充分</a:t>
            </a:r>
            <a:r>
              <a:rPr sz="2400" b="1" i="0" dirty="0">
                <a:solidFill>
                  <a:srgbClr val="24477D"/>
                </a:solidFill>
                <a:latin typeface="微软雅黑"/>
              </a:rPr>
              <a:t> + </a:t>
            </a:r>
            <a:r>
              <a:rPr sz="2400" b="1" i="0" dirty="0" err="1">
                <a:solidFill>
                  <a:srgbClr val="24477D"/>
                </a:solidFill>
                <a:latin typeface="微软雅黑"/>
              </a:rPr>
              <a:t>运动执行稳定”时才能转化为可靠抓取</a:t>
            </a:r>
            <a:r>
              <a:rPr sz="2400" b="1" i="0" dirty="0">
                <a:solidFill>
                  <a:srgbClr val="24477D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案例</a:t>
            </a:r>
            <a:r>
              <a:rPr sz="3500" b="1" i="0" dirty="0">
                <a:solidFill>
                  <a:srgbClr val="24477D"/>
                </a:solidFill>
                <a:latin typeface="微软雅黑"/>
              </a:rPr>
              <a:t> 1 </a:t>
            </a: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小结</a:t>
            </a:r>
            <a:endParaRPr sz="35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3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804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2388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42388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6980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3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5863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0455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5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9340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3931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标定变换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1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2816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2816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7408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抓取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5708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629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5629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0884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分类放置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840480"/>
            <a:ext cx="10561320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lnSpc>
                <a:spcPct val="112000"/>
              </a:lnSpc>
              <a:defRPr sz="2400" b="1" i="0">
                <a:solidFill>
                  <a:srgbClr val="24477D"/>
                </a:solidFill>
                <a:latin typeface="微软雅黑"/>
              </a:defRPr>
            </a:lvl1pPr>
          </a:lstStyle>
          <a:p>
            <a:r>
              <a:rPr dirty="0" err="1"/>
              <a:t>该案例把图像采集、目标检测、三维定位、手眼标定和机械臂控制连接成完整闭环，是理解具身智能“感知如何驱动动作”的典型实践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63512"/>
            <a:ext cx="8575040" cy="623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/>
              </a:rPr>
              <a:t>NanoLoong</a:t>
            </a:r>
            <a:r>
              <a:rPr sz="3900" b="1" i="0" dirty="0">
                <a:solidFill>
                  <a:srgbClr val="24477D"/>
                </a:solidFill>
                <a:latin typeface="微软雅黑"/>
              </a:rPr>
              <a:t> </a:t>
            </a:r>
            <a:r>
              <a:rPr sz="3900" b="1" i="0" dirty="0" err="1">
                <a:solidFill>
                  <a:srgbClr val="24477D"/>
                </a:solidFill>
                <a:latin typeface="微软雅黑"/>
              </a:rPr>
              <a:t>开源小型人形机器人开发</a:t>
            </a:r>
            <a:endParaRPr sz="39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第11章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11.2 NanoLoong：从零搭建可训练的小型人形机器人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25631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NanoLoong（又称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Tinker）是面向机器人爱好者、研究者与学生的开源双足小型人形机器人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项目由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OpenLoong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开源社区发起并维护，提供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BOM、CAD、3D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打印模型、PCB、组装教程和完整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RL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训练指南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核心定位是提供一个“可亲手实践、从零搭建”的机器人平台，同时支撑强化学习与机器人技术的深度融合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31797"/>
            <a:ext cx="10972800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24477D"/>
                </a:solidFill>
                <a:latin typeface="微软雅黑"/>
              </a:rPr>
              <a:t>目标：不仅让机器人“跑起来”，更让开发者完整经历硬件—仿真—策略—实机的全过程。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NanoLoong 的三个特点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55648"/>
            <a:ext cx="3401568" cy="3218688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55648"/>
            <a:ext cx="64008" cy="321868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结构设计简洁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无复杂传动机构，主要依靠 3D 打印件与碳纤维板切割件即可完成组装。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55648"/>
            <a:ext cx="3401568" cy="3218688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55648"/>
            <a:ext cx="64008" cy="321868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2F8E72"/>
                </a:solidFill>
                <a:latin typeface="微软雅黑"/>
              </a:rPr>
              <a:t>成本严格控制</a:t>
            </a:r>
            <a:endParaRPr sz="2000" b="1" i="0" dirty="0">
              <a:solidFill>
                <a:srgbClr val="2F8E72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857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整机 BOM 价格约 1.5 万元，90% 以上组件为现货产品，兼顾经济性与获取便利性。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55648"/>
            <a:ext cx="3401568" cy="3218688"/>
          </a:xfrm>
          <a:prstGeom prst="roundRect">
            <a:avLst>
              <a:gd name="adj" fmla="val 135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64008" cy="321868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开发友好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/>
              </a:rPr>
              <a:t>集成 OmniBotLab 框架，简化伺服驱动部署与仿真—实机迁移，使开发者专注高级算法。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NanoLoong 实物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435152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实物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5FB6631-8972-212B-7A1A-B2FBF9BD5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430" y="1236472"/>
            <a:ext cx="2794734" cy="5237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11.2.1 机械结构设计：Tinker V1.1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291840" cy="3154680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64008" cy="315468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尺寸与质量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9736"/>
            <a:ext cx="2907792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整机高度约 60 cm，重量约 10 kg。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755648"/>
            <a:ext cx="3291840" cy="31546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1755648"/>
            <a:ext cx="64008" cy="315468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4296" y="190195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供电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459736"/>
            <a:ext cx="2907792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采用 24 V 电池供电。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8" y="1755648"/>
            <a:ext cx="3291840" cy="3154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02168" y="1755648"/>
            <a:ext cx="64008" cy="315468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901952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参考模型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59736"/>
            <a:ext cx="2907792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项目提供 URDF 等机器人参考模型，便于结构认知和仿真验证。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机械结构设计以双足运动性能和组装适配性为核心。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NanoLoong 结构图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结构图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形 2">
            <a:extLst>
              <a:ext uri="{FF2B5EF4-FFF2-40B4-BE49-F238E27FC236}">
                <a16:creationId xmlns:a16="http://schemas.microsoft.com/office/drawing/2014/main" id="{2125FF24-6DA6-8166-B337-EAC49B173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764" y="1876615"/>
            <a:ext cx="7771179" cy="382009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自由度设计：单腿 5 DoF + 颈部 2 DoF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349240" cy="3566160"/>
          </a:xfrm>
          <a:prstGeom prst="roundRect">
            <a:avLst>
              <a:gd name="adj" fmla="val 42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35661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37944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单腿 5 个自由度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95728"/>
            <a:ext cx="4965192" cy="2038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Hip Yaw、Hip Roll、Hip Pitch、Knee、Ankle。</a:t>
            </a:r>
          </a:p>
          <a:p>
            <a:pPr algn="l">
              <a:lnSpc>
                <a:spcPct val="112000"/>
              </a:lnSpc>
            </a:pPr>
            <a:endParaRPr sz="2400" b="0" i="0">
              <a:solidFill>
                <a:srgbClr val="222833"/>
              </a:solidFill>
              <a:latin typeface="微软雅黑"/>
            </a:endParaRPr>
          </a:p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该结构为双足稳定行走提供基础运动能力。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91640"/>
            <a:ext cx="5349240" cy="3566160"/>
          </a:xfrm>
          <a:prstGeom prst="roundRect">
            <a:avLst>
              <a:gd name="adj" fmla="val 42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691640"/>
            <a:ext cx="64008" cy="35661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837944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颈部 2 个自由度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95728"/>
            <a:ext cx="4965192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颈部搭载两个独立驱动电机，可实现头部俯仰与航向等角度调节。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机体中框与 CAN 总线：硬件控制的核心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78440" cy="2490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机体中框是整机主要承载部件，承担结构固定和模块集成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组装前必须完成所有伺服电动机标定与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CAN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总线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ID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配置，并提前接好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CAN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线与供电线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单腿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5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个自由度通过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CAN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通信实现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1 kHz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高实时底层控制，保障机械结构与控制信号稳定衔接</a:t>
            </a:r>
            <a:endParaRPr sz="280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303792"/>
            <a:ext cx="10972800" cy="38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/>
              </a:rPr>
              <a:t>对开源人形机器人而言，可靠的底层实时通信是上层强化学习策略能否落地的基础</a:t>
            </a:r>
            <a:endParaRPr sz="2400" b="1" i="0" dirty="0">
              <a:solidFill>
                <a:srgbClr val="24477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主要结构材料与执行器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55648"/>
            <a:ext cx="3474720" cy="3218688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64008" cy="321868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3090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结构件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59736"/>
            <a:ext cx="3090672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3D 打印结构件、碳纤维切割板和铝合金部件。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55648"/>
            <a:ext cx="3474720" cy="32186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755648"/>
            <a:ext cx="64008" cy="321868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1144" y="1901952"/>
            <a:ext cx="3090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执行器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459736"/>
            <a:ext cx="3090672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采用特定型号无刷伺服电动机，如 6006、8006 系列。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755648"/>
            <a:ext cx="3474720" cy="32186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755648"/>
            <a:ext cx="64008" cy="321868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901952"/>
            <a:ext cx="3090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工程资料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459736"/>
            <a:ext cx="3090672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详细 CAD、PCB 设计与完整 BOM 由项目文档提供。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11.2.2 仿真环境与强化学习训练：端到端流程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103120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train.py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9814" y="2148839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6974" y="1874519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66974" y="1874519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1566" y="2103120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play.py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3868" y="2148839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1028" y="1874519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31028" y="1874519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5620" y="2103120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sim2sim_tinker.py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7923" y="2148839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5083" y="1874519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95083" y="1874519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9675" y="2103120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pt2tvm.py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1977" y="2148839"/>
            <a:ext cx="118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9137" y="1874519"/>
            <a:ext cx="209946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59137" y="1874519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23729" y="2103120"/>
            <a:ext cx="17702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机器人 model 目录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77056"/>
            <a:ext cx="10515600" cy="929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0" i="0" dirty="0" err="1">
                <a:solidFill>
                  <a:srgbClr val="222833"/>
                </a:solidFill>
                <a:latin typeface="微软雅黑"/>
              </a:rPr>
              <a:t>核心流程：训练策略</a:t>
            </a:r>
            <a:r>
              <a:rPr sz="2800" b="0" i="0" dirty="0">
                <a:solidFill>
                  <a:srgbClr val="222833"/>
                </a:solidFill>
                <a:latin typeface="微软雅黑"/>
              </a:rPr>
              <a:t> → </a:t>
            </a:r>
            <a:r>
              <a:rPr sz="2800" b="0" i="0" dirty="0" err="1">
                <a:solidFill>
                  <a:srgbClr val="222833"/>
                </a:solidFill>
                <a:latin typeface="微软雅黑"/>
              </a:rPr>
              <a:t>仿真回放</a:t>
            </a:r>
            <a:r>
              <a:rPr sz="2800" b="0" i="0" dirty="0">
                <a:solidFill>
                  <a:srgbClr val="222833"/>
                </a:solidFill>
                <a:latin typeface="微软雅黑"/>
              </a:rPr>
              <a:t> → </a:t>
            </a:r>
            <a:r>
              <a:rPr sz="2800" b="0" i="0" dirty="0" err="1">
                <a:solidFill>
                  <a:srgbClr val="222833"/>
                </a:solidFill>
                <a:latin typeface="微软雅黑"/>
              </a:rPr>
              <a:t>MuJoCo</a:t>
            </a:r>
            <a:r>
              <a:rPr sz="2800" b="0" i="0" dirty="0">
                <a:solidFill>
                  <a:srgbClr val="222833"/>
                </a:solidFill>
                <a:latin typeface="微软雅黑"/>
              </a:rPr>
              <a:t> Sim-to-Sim </a:t>
            </a:r>
            <a:r>
              <a:rPr sz="2800" b="0" i="0" dirty="0" err="1">
                <a:solidFill>
                  <a:srgbClr val="222833"/>
                </a:solidFill>
                <a:latin typeface="微软雅黑"/>
              </a:rPr>
              <a:t>验证</a:t>
            </a:r>
            <a:r>
              <a:rPr sz="2800" b="0" i="0" dirty="0">
                <a:solidFill>
                  <a:srgbClr val="222833"/>
                </a:solidFill>
                <a:latin typeface="微软雅黑"/>
              </a:rPr>
              <a:t> → </a:t>
            </a:r>
            <a:r>
              <a:rPr sz="2800" b="0" i="0" dirty="0" err="1">
                <a:solidFill>
                  <a:srgbClr val="222833"/>
                </a:solidFill>
                <a:latin typeface="微软雅黑"/>
              </a:rPr>
              <a:t>模型格式转换</a:t>
            </a:r>
            <a:r>
              <a:rPr sz="2800" b="0" i="0" dirty="0">
                <a:solidFill>
                  <a:srgbClr val="222833"/>
                </a:solidFill>
                <a:latin typeface="微软雅黑"/>
              </a:rPr>
              <a:t> → </a:t>
            </a:r>
            <a:r>
              <a:rPr sz="2800" b="0" i="0" dirty="0" err="1">
                <a:solidFill>
                  <a:srgbClr val="222833"/>
                </a:solidFill>
                <a:latin typeface="微软雅黑"/>
              </a:rPr>
              <a:t>复制到机器人控制器</a:t>
            </a:r>
            <a:r>
              <a:rPr sz="28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核心仿真与训练程序文件（表 11-1）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865145"/>
              </p:ext>
            </p:extLst>
          </p:nvPr>
        </p:nvGraphicFramePr>
        <p:xfrm>
          <a:off x="960120" y="1645920"/>
          <a:ext cx="102412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程序文件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说明</a:t>
                      </a:r>
                      <a:endParaRPr sz="2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train.py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训练模型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play.py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测试模型，导出 .pt 文件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sim2sim_tinker.py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MuJoCo 仿真测试（Sim-to-Sim）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pt2tvm.py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转换模型格式为机器人可加载的 TVM 格式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exp_draw.py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22833"/>
                          </a:solidFill>
                        </a:rPr>
                        <a:t>绘制</a:t>
                      </a:r>
                      <a:r>
                        <a:rPr sz="2000" b="0" dirty="0">
                          <a:solidFill>
                            <a:srgbClr val="222833"/>
                          </a:solidFill>
                        </a:rPr>
                        <a:t> exp </a:t>
                      </a:r>
                      <a:r>
                        <a:rPr sz="2000" b="0" dirty="0" err="1">
                          <a:solidFill>
                            <a:srgbClr val="222833"/>
                          </a:solidFill>
                        </a:rPr>
                        <a:t>等奖励曲线设计参数</a:t>
                      </a:r>
                      <a:endParaRPr sz="20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NanoLoong 文件架构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文件架构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EE4039F-64A7-E648-DD25-03F0B2C2B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2531744" y="1573582"/>
            <a:ext cx="6703695" cy="4306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完整 Tinker 开发流程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52</a:t>
            </a:r>
          </a:p>
        </p:txBody>
      </p:sp>
      <p:pic>
        <p:nvPicPr>
          <p:cNvPr id="9" name="Picture 8" descr="p09_img02_xref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10724"/>
            <a:ext cx="10460736" cy="5336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7744" y="392480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Tinker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开发流程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160" y="1611648"/>
            <a:ext cx="10515600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OmniBotLab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续操作均在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Ubuntu 22.04 LTS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环境中进行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训练环境约定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83080"/>
            <a:ext cx="5138928" cy="3127248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1783080"/>
            <a:ext cx="64008" cy="312724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19293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操作系统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487168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Ubuntu 22.04 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83080"/>
            <a:ext cx="5138928" cy="3127248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783080"/>
            <a:ext cx="64008" cy="312724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293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F8E72"/>
                </a:solidFill>
                <a:latin typeface="微软雅黑"/>
              </a:rPr>
              <a:t>Python 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87168"/>
            <a:ext cx="4754880" cy="614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推荐使用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 Conda 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管理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 Python 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环境，避免依赖冲突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环境稳定性直接影响仿真、训练和模型转换流程能否重复执行。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1：下载 RL 教程训练程序包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10332720" cy="1542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从教材给出的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RL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教程页面或对应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GitHub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资源下载训练程序包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示例压缩包：LocomotionWithNP3O-master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相关版本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解压后进入项目目录，作为后续环境安装与训练的工作目录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60" b="1" i="0">
                <a:solidFill>
                  <a:srgbClr val="24477D"/>
                </a:solidFill>
                <a:latin typeface="微软雅黑"/>
              </a:rPr>
              <a:t>先固定代码版本，再配置依赖，可以减少后续环境差异。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2：创建并激活 Conda 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10149840" cy="182880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176272"/>
            <a:ext cx="9729215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conda create -n NanoLoong python=3.8</a:t>
            </a:r>
          </a:p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conda activate NanoLoong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步骤 3：安装 Isaac Gym（Preview 4）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10469880" cy="41605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28800"/>
            <a:ext cx="1004925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40" b="0" i="0">
                <a:solidFill>
                  <a:srgbClr val="222833"/>
                </a:solidFill>
                <a:latin typeface="Consolas"/>
              </a:rPr>
              <a:t>wget https://developer.nvidia.com/isaac-gym-preview-4</a:t>
            </a:r>
          </a:p>
          <a:p>
            <a:pPr algn="l">
              <a:lnSpc>
                <a:spcPct val="102000"/>
              </a:lnSpc>
            </a:pPr>
            <a:r>
              <a:rPr sz="1540" b="0" i="0">
                <a:solidFill>
                  <a:srgbClr val="222833"/>
                </a:solidFill>
                <a:latin typeface="Consolas"/>
              </a:rPr>
              <a:t>tar -xvzf isaac-gym-preview-4</a:t>
            </a:r>
          </a:p>
          <a:p>
            <a:pPr algn="l">
              <a:lnSpc>
                <a:spcPct val="102000"/>
              </a:lnSpc>
            </a:pPr>
            <a:r>
              <a:rPr sz="1540" b="0" i="0">
                <a:solidFill>
                  <a:srgbClr val="222833"/>
                </a:solidFill>
                <a:latin typeface="Consolas"/>
              </a:rPr>
              <a:t>pip install -e isaacgym/python</a:t>
            </a:r>
          </a:p>
          <a:p>
            <a:pPr algn="l">
              <a:lnSpc>
                <a:spcPct val="102000"/>
              </a:lnSpc>
            </a:pPr>
            <a:endParaRPr sz="154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540" b="0" i="0">
                <a:solidFill>
                  <a:srgbClr val="222833"/>
                </a:solidFill>
                <a:latin typeface="Consolas"/>
              </a:rPr>
              <a:t>cd isaacgym/python/examples</a:t>
            </a:r>
          </a:p>
          <a:p>
            <a:pPr algn="l">
              <a:lnSpc>
                <a:spcPct val="102000"/>
              </a:lnSpc>
            </a:pPr>
            <a:r>
              <a:rPr sz="1540" b="0" i="0">
                <a:solidFill>
                  <a:srgbClr val="222833"/>
                </a:solidFill>
                <a:latin typeface="Consolas"/>
              </a:rPr>
              <a:t>python 1080_balls_of_solitude.py</a:t>
            </a:r>
          </a:p>
          <a:p>
            <a:pPr algn="l">
              <a:lnSpc>
                <a:spcPct val="102000"/>
              </a:lnSpc>
            </a:pPr>
            <a:r>
              <a:rPr sz="1540" b="0" i="0">
                <a:solidFill>
                  <a:srgbClr val="222833"/>
                </a:solidFill>
                <a:latin typeface="Consolas"/>
              </a:rPr>
              <a:t># 或 python joint_monkey.py，用于测试安装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4：安装 MuJoCo 等依赖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93392"/>
            <a:ext cx="10149840" cy="13258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157984"/>
            <a:ext cx="972921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100" b="0" i="0">
                <a:solidFill>
                  <a:srgbClr val="222833"/>
                </a:solidFill>
                <a:latin typeface="Consolas"/>
              </a:rPr>
              <a:t>pip install mujoco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13632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0" i="0">
                <a:solidFill>
                  <a:srgbClr val="222833"/>
                </a:solidFill>
                <a:latin typeface="微软雅黑"/>
              </a:rPr>
              <a:t>Isaac Gym 用于大规模强化学习训练；MuJoCo 用于后续 Sim-to-Sim 高保真仿真验证。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5：配置 global_config.py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10378440" cy="3913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880" b="1">
                <a:solidFill>
                  <a:srgbClr val="31599B"/>
                </a:solidFill>
                <a:latin typeface="微软雅黑"/>
              </a:rPr>
              <a:t>• </a:t>
            </a:r>
            <a:r>
              <a:rPr sz="1880">
                <a:solidFill>
                  <a:srgbClr val="222833"/>
                </a:solidFill>
                <a:latin typeface="微软雅黑"/>
              </a:rPr>
              <a:t>ROBOT_SEL = 'Tinker'：选择机器人实体。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880" b="1">
                <a:solidFill>
                  <a:srgbClr val="31599B"/>
                </a:solidFill>
                <a:latin typeface="微软雅黑"/>
              </a:rPr>
              <a:t>• </a:t>
            </a:r>
            <a:r>
              <a:rPr sz="1880">
                <a:solidFill>
                  <a:srgbClr val="222833"/>
                </a:solidFill>
                <a:latin typeface="微软雅黑"/>
              </a:rPr>
              <a:t>GAIT_SEL = 'Trot'：选择 Trot（小跑）、Stand（站立）等步态。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880" b="1">
                <a:solidFill>
                  <a:srgbClr val="31599B"/>
                </a:solidFill>
                <a:latin typeface="微软雅黑"/>
              </a:rPr>
              <a:t>• </a:t>
            </a:r>
            <a:r>
              <a:rPr sz="1880">
                <a:solidFill>
                  <a:srgbClr val="222833"/>
                </a:solidFill>
                <a:latin typeface="微软雅黑"/>
              </a:rPr>
              <a:t>PLAY_DIR = 'XXX.pt'：指定训练后模型路径。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880" b="1">
                <a:solidFill>
                  <a:srgbClr val="31599B"/>
                </a:solidFill>
                <a:latin typeface="微软雅黑"/>
              </a:rPr>
              <a:t>• </a:t>
            </a:r>
            <a:r>
              <a:rPr sz="1880">
                <a:solidFill>
                  <a:srgbClr val="222833"/>
                </a:solidFill>
                <a:latin typeface="微软雅黑"/>
              </a:rPr>
              <a:t>训练参数：MAX_ITER = 30000，SAVE_DIV = 5000。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880" b="1">
                <a:solidFill>
                  <a:srgbClr val="31599B"/>
                </a:solidFill>
                <a:latin typeface="微软雅黑"/>
              </a:rPr>
              <a:t>• </a:t>
            </a:r>
            <a:r>
              <a:rPr sz="1880">
                <a:solidFill>
                  <a:srgbClr val="222833"/>
                </a:solidFill>
                <a:latin typeface="微软雅黑"/>
              </a:rPr>
              <a:t>Sim2Sim 速度参数：SPD_X = 0.3，设置前进速度为 0.3 m/s。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global_config.py 配置示例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4616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global_config.py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238771F-670E-250A-0559-D279D7EE3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603" r="14218" b="-1"/>
          <a:stretch>
            <a:fillRect/>
          </a:stretch>
        </p:blipFill>
        <p:spPr>
          <a:xfrm>
            <a:off x="2439635" y="2823876"/>
            <a:ext cx="7957889" cy="151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6：执行强化学习训练与仿真回放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737360"/>
            <a:ext cx="10149840" cy="29260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901952"/>
            <a:ext cx="9729215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 i="0">
                <a:solidFill>
                  <a:srgbClr val="222833"/>
                </a:solidFill>
                <a:latin typeface="Consolas"/>
              </a:rPr>
              <a:t># 训练模型</a:t>
            </a:r>
          </a:p>
          <a:p>
            <a:pPr algn="l">
              <a:lnSpc>
                <a:spcPct val="102000"/>
              </a:lnSpc>
            </a:pPr>
            <a:r>
              <a:rPr sz="1800" b="0" i="0">
                <a:solidFill>
                  <a:srgbClr val="222833"/>
                </a:solidFill>
                <a:latin typeface="Consolas"/>
              </a:rPr>
              <a:t>python train.py --task=Tinker</a:t>
            </a:r>
          </a:p>
          <a:p>
            <a:pPr algn="l">
              <a:lnSpc>
                <a:spcPct val="102000"/>
              </a:lnSpc>
            </a:pPr>
            <a:endParaRPr sz="180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800" b="0" i="0">
                <a:solidFill>
                  <a:srgbClr val="222833"/>
                </a:solidFill>
                <a:latin typeface="Consolas"/>
              </a:rPr>
              <a:t># 仿真回放测试</a:t>
            </a:r>
          </a:p>
          <a:p>
            <a:pPr algn="l">
              <a:lnSpc>
                <a:spcPct val="102000"/>
              </a:lnSpc>
            </a:pPr>
            <a:r>
              <a:rPr sz="1800" b="0" i="0">
                <a:solidFill>
                  <a:srgbClr val="222833"/>
                </a:solidFill>
                <a:latin typeface="Consolas"/>
              </a:rPr>
              <a:t>python play.py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47488"/>
            <a:ext cx="10469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修改 global_config.py 中的配置后，可在 Isaac Gym 中验证 Tinker 的表现。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NanoLoong：Isaac Gym 仿真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62</a:t>
            </a:r>
          </a:p>
        </p:txBody>
      </p:sp>
      <p:pic>
        <p:nvPicPr>
          <p:cNvPr id="9" name="Picture 8" descr="p11_img01_xre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69" y="1435608"/>
            <a:ext cx="7075741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Gym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仿真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Sim-to-Sim：在 MuJoCo 中验证策略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901952"/>
            <a:ext cx="10241280" cy="196596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066544"/>
            <a:ext cx="9820655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80" b="0" i="0">
                <a:solidFill>
                  <a:srgbClr val="222833"/>
                </a:solidFill>
                <a:latin typeface="Consolas"/>
              </a:rPr>
              <a:t>python sim2sim_tinker.py \</a:t>
            </a:r>
          </a:p>
          <a:p>
            <a:pPr algn="l">
              <a:lnSpc>
                <a:spcPct val="102000"/>
              </a:lnSpc>
            </a:pPr>
            <a:r>
              <a:rPr sz="1880" b="0" i="0">
                <a:solidFill>
                  <a:srgbClr val="222833"/>
                </a:solidFill>
                <a:latin typeface="Consolas"/>
              </a:rPr>
              <a:t>  --load_model /path/to/your/model.pt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2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在不同仿真引擎之间验证策略，可以在进入真机之前进一步发现动力学依赖和模型偏差。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NanoLoong：MuJoCo 仿真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MuJoCo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仿真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ACD8424-4D2D-0CF1-4479-54EA6C509D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" r="5795"/>
          <a:stretch>
            <a:fillRect/>
          </a:stretch>
        </p:blipFill>
        <p:spPr>
          <a:xfrm>
            <a:off x="3060382" y="2468244"/>
            <a:ext cx="6260606" cy="3411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模型转换：从 .pt 到机器人可加载的 TVM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01952"/>
            <a:ext cx="10149840" cy="14173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066544"/>
            <a:ext cx="97292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100" b="0" i="0">
                <a:solidFill>
                  <a:srgbClr val="222833"/>
                </a:solidFill>
                <a:latin typeface="Consolas"/>
              </a:rPr>
              <a:t>python pt2tvm.py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58768"/>
            <a:ext cx="10469880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脚本生成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TVM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格式模型，供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Odroid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C4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等控制器加载，为真机部署做准备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11.2.3 硬件组装：组装前准备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19072"/>
            <a:ext cx="10287000" cy="2490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准备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Tinker V1.1 的 BOM、CAD、PCB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设计文件和完整组装教程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组装前完成所有伺服电动机标定与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CAN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总线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ID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配置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提前接好各电动机的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CAN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线与供电线，确认线缆长度和走线方案</a:t>
            </a:r>
            <a:endParaRPr sz="280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425696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组装前的标定和 ID 配置决定了后续左右腿关节能否被正确识别和控制。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硬件组装（1/3）：机体中框与双腿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10149840" cy="2426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1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机体中框组装：固定底部支撑板，安装电源管理板及核心承载结构，作为整机骨架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2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双腿组装：完成左右大腿和小腿组件，安装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Hip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Yaw、Hip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Roll、Hip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Pitch、Knee、Ankle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五个自由度电机，并固定线缆和碳纤维加强件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左右腿结构必须保持对称，线缆固定需兼顾关节运动范围。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硬件组装（2/3）：电池、电源与主控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10149840" cy="1952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2F8E72"/>
                </a:solidFill>
                <a:latin typeface="微软雅黑"/>
              </a:rPr>
              <a:t>3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电池与电源集成：安装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21.6 V、5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A·h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锂电池及相关电源模块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2F8E72"/>
                </a:solidFill>
                <a:latin typeface="微软雅黑"/>
              </a:rPr>
              <a:t>4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主控与扩展模块安装：安装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Odroid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C4（运动主控）、Jetson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Nano（感知计算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）、STM32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驱动板、路由器和深度相机等模块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运动控制与感知计算分工，使机器人能够同时承担高频底层控制与高层感知任务。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硬件组装（3/3）：电气连线与头部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10149840" cy="1478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C58A24"/>
                </a:solidFill>
                <a:latin typeface="微软雅黑"/>
              </a:rPr>
              <a:t>5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电气连线：完成所有电源线、CAN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总线、数据线及传感器连线；左右腿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CAN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总线连接到指定接口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C58A24"/>
                </a:solidFill>
                <a:latin typeface="微软雅黑"/>
              </a:rPr>
              <a:t>6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头部安装：装配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2DoF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头部舵机，连接驱动板并固定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组装完成后进入整机测试与仿真策略迁移阶段。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11.2.4 整机测试与仿真策略迁移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3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系统准备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804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2388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42388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6980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基础测试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3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5863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0455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模型转换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5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9340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3931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策略加载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1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2816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2816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7408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功能验证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5708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629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5629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0884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性能调优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840480"/>
            <a:ext cx="10561320" cy="929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完成硬件组装</a:t>
            </a:r>
            <a:r>
              <a:rPr lang="zh-CN" altLang="en-US" sz="28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sz="28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800" b="0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把仿真中学到的策略稳定迁移到物理机器人，并经过系统测试形成开发闭环</a:t>
            </a:r>
            <a:r>
              <a:rPr sz="2800" b="0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1-2：机器人操作系统准备与基础测试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5321808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64008" cy="34747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836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1  系统准备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41448"/>
            <a:ext cx="4937760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在 Odroid C4 上烧录系统镜像，安装 RT 内核补丁；烧录 STM32 固件；完成电动机与 IMU 初始化配置。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321808" cy="347472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64008" cy="34747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836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2  基础测试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41448"/>
            <a:ext cx="4937760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上电后进行电动机零位标定、CAN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通信测试、IMU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校准及电源电压检查，确保各关节自由度正常响应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3：仿真策略迁移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10149840" cy="2042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1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在训练主机上运行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pt2tvm.py，将 .pt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模型转换为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TVM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格式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2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通过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SCP 或 U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盘将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TVM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模型复制到机器人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Odroid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的 model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文件夹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800" b="1" dirty="0">
                <a:solidFill>
                  <a:srgbClr val="31599B"/>
                </a:solidFill>
                <a:latin typeface="微软雅黑"/>
              </a:rPr>
              <a:t>3 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按不同步态组织模型目录，例如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Trot、Stand、Dance</a:t>
            </a:r>
            <a:endParaRPr sz="280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2326" y="442468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模型格式转换是训练框架与嵌入式机器人控制器之间的关键桥梁。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4：启动与策略加载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10287000" cy="2016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启动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Odroid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系统并运行机器人控制服务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通过按键或遥控器选择步态模型</a:t>
            </a:r>
            <a:endParaRPr sz="28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教材示例：按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&lt;X&gt;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键对应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Trot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步态移动；按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&lt;B&gt;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键对应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Stand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站立</a:t>
            </a:r>
            <a:endParaRPr sz="280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39" b="1" i="0">
                <a:solidFill>
                  <a:srgbClr val="24477D"/>
                </a:solidFill>
                <a:latin typeface="微软雅黑"/>
              </a:rPr>
              <a:t>策略加载前应确认机器人处于安全支撑状态，并准备紧急停止。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5：站立与平衡测试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10332720" cy="3383280"/>
          </a:xfrm>
          <a:prstGeom prst="roundRect">
            <a:avLst>
              <a:gd name="adj" fmla="val 165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64008" cy="338328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1929384"/>
            <a:ext cx="9948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31599B"/>
                </a:solidFill>
                <a:latin typeface="微软雅黑"/>
              </a:rPr>
              <a:t>Stand 模型验证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487168"/>
            <a:ext cx="9948672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加载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Stand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模型，验证机器人能否稳定站立，并抵抗轻微外力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 algn="l">
              <a:lnSpc>
                <a:spcPct val="112000"/>
              </a:lnSpc>
            </a:pPr>
            <a:endParaRPr sz="2400" b="0" i="0" dirty="0">
              <a:solidFill>
                <a:srgbClr val="222833"/>
              </a:solidFill>
              <a:latin typeface="微软雅黑"/>
            </a:endParaRPr>
          </a:p>
          <a:p>
            <a:pPr algn="l">
              <a:lnSpc>
                <a:spcPct val="112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这是检查零位、IMU、姿态估计和底层执行器控制是否一致的重要环节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5：行走测试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83080"/>
            <a:ext cx="5138928" cy="3310128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1783080"/>
            <a:ext cx="64008" cy="331012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19293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F8E72"/>
                </a:solidFill>
                <a:latin typeface="微软雅黑"/>
              </a:rPr>
              <a:t>正常速度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487168"/>
            <a:ext cx="47548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验证约 0.5 m/s 的正常行走速度与步态稳定性。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83080"/>
            <a:ext cx="5138928" cy="3310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783080"/>
            <a:ext cx="64008" cy="331012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29384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C58A24"/>
                </a:solidFill>
                <a:latin typeface="微软雅黑"/>
              </a:rPr>
              <a:t>最大速度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87168"/>
            <a:ext cx="47548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验证约 1 m/s 的最大速度，并检查动态平衡与高速步态稳定性。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行走测试的重点不是速度本身，而是验证策略在真实动力学下的稳定性。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5：扩展功能测试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1542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加载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Dance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模型，验证舞蹈动作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结合深度相机测试简单导航或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FPV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查看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进行遥控操作与自主行走验证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326" y="4292872"/>
            <a:ext cx="10972800" cy="38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/>
              </a:rPr>
              <a:t>扩展测试用于验证硬件平台、感知模块和学习策略能否协同工作</a:t>
            </a:r>
            <a:r>
              <a:rPr sz="2400" b="1" i="0" dirty="0">
                <a:solidFill>
                  <a:srgbClr val="24477D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步骤 6：性能调优与二次开发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10287000" cy="1542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通过日志监控奖励曲线和实际运动表现，调整训练与控制参数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在稳定行走基础上继续扩展步态与动作技能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8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支持进一步集成大语言模型，实现语音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800" dirty="0" err="1">
                <a:solidFill>
                  <a:srgbClr val="222833"/>
                </a:solidFill>
                <a:latin typeface="微软雅黑"/>
              </a:rPr>
              <a:t>多模态交互</a:t>
            </a:r>
            <a:r>
              <a:rPr sz="28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428752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开源硬件平台的价值在于：完成基础闭环之后，能够继续向更高层智能扩展。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案例</a:t>
            </a:r>
            <a:r>
              <a:rPr sz="3500" b="1" i="0" dirty="0">
                <a:solidFill>
                  <a:srgbClr val="24477D"/>
                </a:solidFill>
                <a:latin typeface="微软雅黑"/>
              </a:rPr>
              <a:t> 2 </a:t>
            </a: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小结</a:t>
            </a:r>
            <a:endParaRPr sz="35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3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机械结构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804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2388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42388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6980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底层 CAN 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3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5863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0455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Isaac Gym 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5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9340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3931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MuJoCo 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1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2816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2816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7408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TVM 转换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5708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629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5629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0884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真机测试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822191"/>
            <a:ext cx="10561320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案例将开源机械结构、底层实时控制、强化学习训练、Sim-to-Sim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验证和实机策略迁移连成一条完整开发链路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272562"/>
            <a:ext cx="5608320" cy="1295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 dirty="0">
                <a:solidFill>
                  <a:srgbClr val="24477D"/>
                </a:solidFill>
                <a:latin typeface="微软雅黑"/>
              </a:rPr>
              <a:t>Unitree G1 </a:t>
            </a:r>
            <a:r>
              <a:rPr sz="3900" b="1" i="0" dirty="0" err="1">
                <a:solidFill>
                  <a:srgbClr val="24477D"/>
                </a:solidFill>
                <a:latin typeface="微软雅黑"/>
              </a:rPr>
              <a:t>全尺寸人形机器人模仿学习</a:t>
            </a:r>
            <a:endParaRPr sz="39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第11章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11.3 Unitree G1：高动态拟人动作的模仿学习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09344"/>
            <a:ext cx="10378440" cy="260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采用基于物理的人形运动控制，两阶段框架实现高动态机器人动作模仿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使用光学动捕与单目视频两种方案构建人类运动数据；单目方案通过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GVHMR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完成三维运动重建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经过数据处理与运动重定向，将人体动作映射到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G1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机器人关节；再通过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PPO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在仿真中学习运动策略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策略经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Isaac Gym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训练与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MuJoCo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验证后部署到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Unitree G1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真机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Unitree G1 模仿学习案例流程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案例流程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673126C-8341-4FFF-0651-98FC0C29B4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25" y="1507553"/>
            <a:ext cx="8076266" cy="436289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11.3.1 核心组件与技术解析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670048" cy="3310128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64008" cy="331012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01952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G1 硬件平台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9736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29 个运动自由度，为高动态全身动作提供硬件基础。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755648"/>
            <a:ext cx="2670048" cy="3310128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755648"/>
            <a:ext cx="64008" cy="331012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901952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GVHMR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459736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从单目视频恢复世界坐标系下三维人体运动。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755648"/>
            <a:ext cx="2670048" cy="3310128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45936" y="1755648"/>
            <a:ext cx="64008" cy="331012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1901952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459736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在大规模并行仿真中学习关键点跟踪与平衡控制策略。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755648"/>
            <a:ext cx="2395728" cy="3310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1755648"/>
            <a:ext cx="64008" cy="3310128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5752" y="190195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Sim-to-Sim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459736"/>
            <a:ext cx="2011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Isaac Gym 训练后在 MuJoCo 中进行高保真动力学验证。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Unitree G1（教育版）硬件平台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64208"/>
            <a:ext cx="10332720" cy="2640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模块化设计，共配置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29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个运动自由度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包括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12 个腿部自由度、3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个腰部自由度（Yaw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Roll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Pitch）以及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14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个手臂自由度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单臂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7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自由度：肩部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3、肘部 1、腕部 3；单腿 6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自由度：髋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3、膝 1、踝 2。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适用于强化学习、运动规划等前沿算法研究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Unitree G1 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84</a:t>
            </a:r>
          </a:p>
        </p:txBody>
      </p:sp>
      <p:pic>
        <p:nvPicPr>
          <p:cNvPr id="9" name="Picture 8" descr="p14_img01_xref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69" y="1627632"/>
            <a:ext cx="6791980" cy="43799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Unitree G1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结构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G1 的自由度构成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3401568" cy="3337560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83664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腿部 12 DoF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41448"/>
            <a:ext cx="3017520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左右腿各 6 DoF：髋关节 3、膝关节 1、踝关节 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3401568" cy="3337560"/>
          </a:xfrm>
          <a:prstGeom prst="roundRect">
            <a:avLst>
              <a:gd name="adj" fmla="val 38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37360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883664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腰部 3 DoF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41448"/>
            <a:ext cx="3017520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 dirty="0" err="1">
                <a:solidFill>
                  <a:srgbClr val="222833"/>
                </a:solidFill>
                <a:latin typeface="微软雅黑"/>
              </a:rPr>
              <a:t>Yaw、Roll、Pitch，为躯干朝向和全身协调提供更丰富的调节能力</a:t>
            </a:r>
            <a:r>
              <a:rPr sz="178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37360"/>
            <a:ext cx="3401568" cy="3337560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883664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手臂 14 DoF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41448"/>
            <a:ext cx="3017520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左右臂各 7 DoF：肩部 3、肘部 1、腕部 3。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G1 执行器与关节设计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19072"/>
            <a:ext cx="10287000" cy="182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关节驱动采用低惯量高速内转子永磁同步电动机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配备双编码器反馈与中空走线设计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膝关节最大扭矩达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110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N·m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踝关节采用并联机构，支持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Pitch / Roll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运动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4387828"/>
            <a:ext cx="10972800" cy="31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高动态模仿学习不仅依赖策略能力，也依赖足够的关节扭矩、速度与反馈精度。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GVHMR：从单目视频恢复三维人体运动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10378440" cy="3007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2F8E72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GVHMR（Gravity-View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Human Motion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Recovery）是一种单目动作捕捉技术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2F8E72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通过自然重力对齐，为每个视频帧建立一致的参考，减少人体姿态映射的歧义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2F8E72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将二维视频信息恢复为世界坐标系中的三维人体运动，提高物理真实性与空间一致性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2F8E72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联合优化关节旋转、全局位移和相机视角，并引入运动平滑与接触处理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 技术示意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480" y="487476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GVHMR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技术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B20EDE2-1ADD-84F2-961D-88007BD2BB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66" y="2188464"/>
            <a:ext cx="9773188" cy="2172081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 解决的典型单目动捕问题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55648"/>
            <a:ext cx="3401568" cy="3218688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55648"/>
            <a:ext cx="64008" cy="321868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尺度模糊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单目视频缺乏绝对深度，人体运动容易出现尺度不确定。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55648"/>
            <a:ext cx="3401568" cy="3218688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55648"/>
            <a:ext cx="64008" cy="321868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地面漂浮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不合理的三维恢复可能使脚部与地面接触关系失真。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55648"/>
            <a:ext cx="3401568" cy="3218688"/>
          </a:xfrm>
          <a:prstGeom prst="roundRect">
            <a:avLst>
              <a:gd name="adj" fmla="val 41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64008" cy="321868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运动漂移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长序列中全局位置与方向容易累积误差，影响后续重定向。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PPO 在本案例中的作用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10332720" cy="2156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PPO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作为核心优化器，用于训练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G1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掌握高动态、高难度运动技能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训练在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Isaac Gym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中进行，利用大规模并行仿真同步处理数千个机器人环境交互数据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本案例的模仿学习本质是机器人关键点跟踪优化：输入预处理后的人体运动数据，输出机器人可执行的电机控制指令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9" b="1" i="0">
                <a:solidFill>
                  <a:srgbClr val="24477D"/>
                </a:solidFill>
                <a:latin typeface="微软雅黑"/>
              </a:rPr>
              <a:t>强化学习把“动作参考”转化为能够在机器人动力学约束下稳定执行的控制策略。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PPO 的状态空间：多模态本体状态 + 未来目标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5321808" cy="342900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64008" cy="3429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836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本体感知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41448"/>
            <a:ext cx="4937760" cy="2587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关节角度、角速度、躯干高度和朝向等状态。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321808" cy="3429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64008" cy="342900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836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运动目标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41448"/>
            <a:ext cx="4937760" cy="2587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80" b="0" i="0">
                <a:solidFill>
                  <a:srgbClr val="222833"/>
                </a:solidFill>
                <a:latin typeface="微软雅黑"/>
              </a:rPr>
              <a:t>引入未来短期内的目标姿态数据，为策略提供上下文预测信息。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7608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加入未来目标，使策略不仅响应当前误差，还能提前准备后续动作。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动作空间：目标关节位置 → PD 控制 → 连续扭矩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策略输出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7208" y="1874519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目标关节位置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7488" y="1874519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PD 控制器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76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7768" y="1874519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连续扭矩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4883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8048" y="1874519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28048" y="1874519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2103120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机器人运动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913632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0" i="0">
                <a:solidFill>
                  <a:srgbClr val="222833"/>
                </a:solidFill>
                <a:latin typeface="微软雅黑"/>
              </a:rPr>
              <a:t>动作空间定义为各关节的目标位置，再由比例—微分（PD）控制器转换为连续扭矩信号，实现精细运动控制。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Sim-to-Sim：在不同仿真器之间验证策略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5321808" cy="3474720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64008" cy="34747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836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Isaac Gym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41448"/>
            <a:ext cx="4937760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用于强化学习训练。大规模并行环境可显著提升样本收集与策略更新效率。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37360"/>
            <a:ext cx="5321808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37360"/>
            <a:ext cx="64008" cy="34747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8836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F8E72"/>
                </a:solidFill>
                <a:latin typeface="微软雅黑"/>
              </a:rPr>
              <a:t>MuJoCo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441448"/>
            <a:ext cx="4937760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用于高精度动力学仿真验证，重点考察足地接触、动力学稳定性和策略鲁棒性。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构建 G1 物理精确模型需要描述什么？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10104120" cy="26657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1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运动学树结构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2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连杆质量与惯性属性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3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关节执行器模型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4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碰撞几何体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5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控制所需的状态空间，例如广义坐标、IMU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与力觉信息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6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动作空间，例如位置、扭矩或全身控制指令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11.3.2 环境准备与依赖安装：软件环境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84382"/>
              </p:ext>
            </p:extLst>
          </p:nvPr>
        </p:nvGraphicFramePr>
        <p:xfrm>
          <a:off x="1188720" y="1572768"/>
          <a:ext cx="980236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</a:rPr>
                        <a:t>项目</a:t>
                      </a:r>
                      <a:endParaRPr sz="24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sz="2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OS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833"/>
                          </a:solidFill>
                        </a:rPr>
                        <a:t>Ubuntu 20.04（推荐）</a:t>
                      </a:r>
                      <a:endParaRPr sz="24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Python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833"/>
                          </a:solidFill>
                        </a:rPr>
                        <a:t>3.8.10（推荐使用 Conda）</a:t>
                      </a:r>
                      <a:endParaRPr sz="24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NVIDIA Driver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833"/>
                          </a:solidFill>
                        </a:rPr>
                        <a:t>Version 535</a:t>
                      </a:r>
                      <a:endParaRPr sz="24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CUDA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833"/>
                          </a:solidFill>
                        </a:rPr>
                        <a:t>Version 11.1</a:t>
                      </a:r>
                      <a:endParaRPr sz="24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深度学习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833"/>
                          </a:solidFill>
                        </a:rPr>
                        <a:t>torch</a:t>
                      </a:r>
                      <a:endParaRPr sz="24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仿真环境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833"/>
                          </a:solidFill>
                        </a:rPr>
                        <a:t>Isaac Gym、MuJoCo</a:t>
                      </a:r>
                      <a:endParaRPr sz="24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833"/>
                          </a:solidFill>
                        </a:rPr>
                        <a:t>其他工具</a:t>
                      </a:r>
                      <a:endParaRPr sz="24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222833"/>
                          </a:solidFill>
                        </a:rPr>
                        <a:t>numpy、opencv-python</a:t>
                      </a:r>
                      <a:endParaRPr sz="24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11.3.2 硬件环境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074920" cy="32461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29384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87168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30" b="0" i="0">
                <a:solidFill>
                  <a:srgbClr val="222833"/>
                </a:solidFill>
                <a:latin typeface="微软雅黑"/>
              </a:rPr>
              <a:t>NVIDIA 显卡，推荐 RTX 4090 或以上；至少 16 GB 显存，用于加速大规模训练。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83080"/>
            <a:ext cx="5074920" cy="3246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83080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29384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F8E72"/>
                </a:solidFill>
                <a:latin typeface="微软雅黑"/>
              </a:rPr>
              <a:t>内存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87168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≥16 GB，推荐 32 GB 以上，支持大规模数据加载与长时间训练。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PBHC 项目环境搭建（1/2）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1046988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37360"/>
            <a:ext cx="1004925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# Assuming pwd: PBHC/</a:t>
            </a:r>
          </a:p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conda create -n pbhc python=3.8</a:t>
            </a:r>
          </a:p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conda activate pbhc</a:t>
            </a:r>
          </a:p>
          <a:p>
            <a:pPr algn="l">
              <a:lnSpc>
                <a:spcPct val="102000"/>
              </a:lnSpc>
            </a:pPr>
            <a:endParaRPr sz="150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# Install and Test Isaac Gym</a:t>
            </a:r>
          </a:p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wget https://developer.nvidia.com/isaac-gym-preview-4</a:t>
            </a:r>
          </a:p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tar -xvzf isaac-gym-preview-4</a:t>
            </a:r>
          </a:p>
          <a:p>
            <a:pPr algn="l">
              <a:lnSpc>
                <a:spcPct val="102000"/>
              </a:lnSpc>
            </a:pPr>
            <a:r>
              <a:rPr sz="1500" b="0" i="0">
                <a:solidFill>
                  <a:srgbClr val="222833"/>
                </a:solidFill>
                <a:latin typeface="Consolas"/>
              </a:rPr>
              <a:t>pip install -e isaacgym/python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PBHC 项目环境搭建（2/2）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10469880" cy="41605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28800"/>
            <a:ext cx="1004925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cd isaacgym/python/examples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python 1080_balls_of_solitude.py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# 或 python joint_monkey.py 验证安装</a:t>
            </a:r>
          </a:p>
          <a:p>
            <a:pPr algn="l">
              <a:lnSpc>
                <a:spcPct val="102000"/>
              </a:lnSpc>
            </a:pPr>
            <a:endParaRPr sz="155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cd ../../..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# Install PBHC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pip install -e .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pip install -e humanoidverse/isaac_utils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Isaac Gym 安装成功：1080 balls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Isaac Gym 安装成功（1080 balls）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FC3C3FF-17C1-0A6C-C000-E5EE0B79A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9588" y="1824037"/>
            <a:ext cx="7213092" cy="398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 环境配置（1/3）：创建环境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19072"/>
            <a:ext cx="10469880" cy="3977639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83664"/>
            <a:ext cx="10049255" cy="3657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git clone https://github.com/zju3dv/GVHMR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cd GVHMR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conda create -y -n gvhmer python=3.10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conda activate gvhmer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pip install -r requirements.txt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pip install -e 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GVHMR 环境配置（2/3）：DPVO 与 Eigen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45920"/>
            <a:ext cx="10469880" cy="41605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10512"/>
            <a:ext cx="1004925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20" b="0" i="0">
                <a:solidFill>
                  <a:srgbClr val="222833"/>
                </a:solidFill>
                <a:latin typeface="Consolas"/>
              </a:rPr>
              <a:t>cd third-party/DPVO</a:t>
            </a:r>
          </a:p>
          <a:p>
            <a:pPr algn="l">
              <a:lnSpc>
                <a:spcPct val="102000"/>
              </a:lnSpc>
            </a:pPr>
            <a:r>
              <a:rPr sz="1520" b="0" i="0">
                <a:solidFill>
                  <a:srgbClr val="222833"/>
                </a:solidFill>
                <a:latin typeface="Consolas"/>
              </a:rPr>
              <a:t>git clone https://github.com/princeton-vl/DPVO.git</a:t>
            </a:r>
          </a:p>
          <a:p>
            <a:pPr algn="l">
              <a:lnSpc>
                <a:spcPct val="102000"/>
              </a:lnSpc>
            </a:pPr>
            <a:endParaRPr sz="152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520" b="0" i="0">
                <a:solidFill>
                  <a:srgbClr val="222833"/>
                </a:solidFill>
                <a:latin typeface="Consolas"/>
              </a:rPr>
              <a:t>wget https://gitlab.com/libeigen/eigen/-/archive/3.4.0/eigen-3.4.0.zip</a:t>
            </a:r>
          </a:p>
          <a:p>
            <a:pPr algn="l">
              <a:lnSpc>
                <a:spcPct val="102000"/>
              </a:lnSpc>
            </a:pPr>
            <a:r>
              <a:rPr sz="1520" b="0" i="0">
                <a:solidFill>
                  <a:srgbClr val="222833"/>
                </a:solidFill>
                <a:latin typeface="Consolas"/>
              </a:rPr>
              <a:t>unzip eigen-3.4.0.zip -d thirdparty</a:t>
            </a:r>
          </a:p>
          <a:p>
            <a:pPr algn="l">
              <a:lnSpc>
                <a:spcPct val="102000"/>
              </a:lnSpc>
            </a:pPr>
            <a:r>
              <a:rPr sz="1520" b="0" i="0">
                <a:solidFill>
                  <a:srgbClr val="222833"/>
                </a:solidFill>
                <a:latin typeface="Consolas"/>
              </a:rPr>
              <a:t>rm -rf eigen-3.4.0.zip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GVHMR 环境配置（3/3）：关键 Python 依赖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1056132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737360"/>
            <a:ext cx="10140696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pip3 install torch-scatter -f https://data.pyg.org/whl/torch-2.4.0+cu111.html</a:t>
            </a: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pip3 install pytorch3d -f &lt;pytorch3d wheel index&gt;</a:t>
            </a: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pip3 install hydra_zen==0.11.0</a:t>
            </a: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pip3 install ffmpeg wis3d ultralytics timm</a:t>
            </a: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conda install numba</a:t>
            </a:r>
          </a:p>
          <a:p>
            <a:pPr algn="l">
              <a:lnSpc>
                <a:spcPct val="102000"/>
              </a:lnSpc>
            </a:pPr>
            <a:endParaRPr sz="138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export CUDA_HOME=/usr/local/cuda-11.1/</a:t>
            </a: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export PATH=$PATH:/usr/local/cuda-11.1/bin/</a:t>
            </a:r>
          </a:p>
          <a:p>
            <a:pPr algn="l">
              <a:lnSpc>
                <a:spcPct val="102000"/>
              </a:lnSpc>
            </a:pPr>
            <a:r>
              <a:rPr sz="1380" b="0" i="0">
                <a:solidFill>
                  <a:srgbClr val="222833"/>
                </a:solidFill>
                <a:latin typeface="Consolas"/>
              </a:rPr>
              <a:t>pip install -e 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GVHMR 预训练模型：checkpoint 目录结构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572768"/>
            <a:ext cx="996696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1737360"/>
            <a:ext cx="9546336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inputs/checkpoints/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├── dpvo/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│   └── dpvo.pth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├── gvhmer/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│   └── gvhmer_siga24_release.ckpt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├── hmr2/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│   └── epoch=10-step=25000.ckpt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├── vitpose/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│   └── vitpose-h-multi-coco.pth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└── yolo/</a:t>
            </a:r>
          </a:p>
          <a:p>
            <a:pPr algn="l">
              <a:lnSpc>
                <a:spcPct val="102000"/>
              </a:lnSpc>
            </a:pPr>
            <a:r>
              <a:rPr sz="1530" b="0" i="0">
                <a:solidFill>
                  <a:srgbClr val="222833"/>
                </a:solidFill>
                <a:latin typeface="Consolas"/>
              </a:rPr>
              <a:t>    └── yolov8x.pt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 数据目录：训练集与测试集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755648"/>
            <a:ext cx="9692640" cy="35204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4752" y="1920240"/>
            <a:ext cx="9272015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inputs/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├── AMASS/hmr4d_support/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├── BEDLAM/hmr4d_support/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├── H36M/hmr4d_support/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├── 3DPW/hmr4d_support/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├── EMDB/hmr4d_support/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└── RICH/hmr4d_support/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13248"/>
            <a:ext cx="10469880" cy="28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80" b="0" i="0" dirty="0">
                <a:solidFill>
                  <a:srgbClr val="222833"/>
                </a:solidFill>
                <a:latin typeface="微软雅黑"/>
              </a:rPr>
              <a:t>将 AMASS、BEDLAM、H36M </a:t>
            </a:r>
            <a:r>
              <a:rPr sz="1780" b="0" i="0" dirty="0" err="1">
                <a:solidFill>
                  <a:srgbClr val="222833"/>
                </a:solidFill>
                <a:latin typeface="微软雅黑"/>
              </a:rPr>
              <a:t>作为训练支持数据，将</a:t>
            </a:r>
            <a:r>
              <a:rPr sz="1780" b="0" i="0" dirty="0">
                <a:solidFill>
                  <a:srgbClr val="222833"/>
                </a:solidFill>
                <a:latin typeface="微软雅黑"/>
              </a:rPr>
              <a:t> 3DPW、EMDB、RICH </a:t>
            </a:r>
            <a:r>
              <a:rPr sz="1780" b="0" i="0" dirty="0" err="1">
                <a:solidFill>
                  <a:srgbClr val="222833"/>
                </a:solidFill>
                <a:latin typeface="微软雅黑"/>
              </a:rPr>
              <a:t>作为测试支持数据</a:t>
            </a:r>
            <a:r>
              <a:rPr sz="178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11.3.3 动捕数据采集与预处理：总体流程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3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视频输入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804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2388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42388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6980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GVHMR 重建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3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5863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0455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pt→npz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5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9340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3931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重定向到 G1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1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2816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2816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7408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平滑 / 插值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5708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629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5629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0884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" y="3566161"/>
            <a:ext cx="10469880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222833"/>
                </a:solidFill>
                <a:latin typeface="微软雅黑"/>
              </a:rPr>
              <a:t>该流程把人类视频中的动作逐步转换为适合 G1 机器人训练的运动数据。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使用 GVHMR 捕捉人体运动数据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19072"/>
            <a:ext cx="10332720" cy="35204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883664"/>
            <a:ext cx="9912096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cd GVHMR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conda activate gvhmer</a:t>
            </a:r>
          </a:p>
          <a:p>
            <a:pPr algn="l">
              <a:lnSpc>
                <a:spcPct val="102000"/>
              </a:lnSpc>
            </a:pPr>
            <a:endParaRPr sz="160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python tools/demo/demo.py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  --video=docs/example_video/tennis.mp4 -s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# 教材示例：MP4 为 30 FPS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 输出图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GVHMR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输出图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C2B997-DD58-E76B-85E3-7230E4A39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5" b="-9"/>
          <a:stretch>
            <a:fillRect/>
          </a:stretch>
        </p:blipFill>
        <p:spPr>
          <a:xfrm>
            <a:off x="3546474" y="1694179"/>
            <a:ext cx="5292725" cy="4086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GVHMR 输出 pt 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GVHMR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输出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pt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文件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F299461-2DBF-8F73-536C-E3E2C7A9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8" b="29622"/>
          <a:stretch>
            <a:fillRect/>
          </a:stretch>
        </p:blipFill>
        <p:spPr>
          <a:xfrm>
            <a:off x="1148733" y="2636774"/>
            <a:ext cx="9635454" cy="25628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数据格式转换：pt → npz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38528"/>
            <a:ext cx="10149840" cy="19202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103120"/>
            <a:ext cx="9729215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cd GVHMR2PBHC</a:t>
            </a:r>
          </a:p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python Converter_V4.py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10469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0" i="0">
                <a:solidFill>
                  <a:srgbClr val="222833"/>
                </a:solidFill>
                <a:latin typeface="微软雅黑"/>
              </a:rPr>
              <a:t>将 GVHMR 输出的 pt 格式转换为后续重定向流程使用的 npz 格式。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运动重定向：把人体动作映射到 G1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47088"/>
            <a:ext cx="10332720" cy="21031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011680"/>
            <a:ext cx="9912096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 i="0">
                <a:solidFill>
                  <a:srgbClr val="222833"/>
                </a:solidFill>
                <a:latin typeface="Consolas"/>
              </a:rPr>
              <a:t>python mink_retarget/convert_fit_motion_V2.py \</a:t>
            </a:r>
          </a:p>
          <a:p>
            <a:pPr algn="l">
              <a:lnSpc>
                <a:spcPct val="102000"/>
              </a:lnSpc>
            </a:pPr>
            <a:r>
              <a:rPr sz="1800" b="0" i="0">
                <a:solidFill>
                  <a:srgbClr val="222833"/>
                </a:solidFill>
                <a:latin typeface="Consolas"/>
              </a:rPr>
              <a:t>  /path/to/your/PBHC/.../PBHC/example/motion_data/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98848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重定向的目标是让人体运动在 G1 的关节结构和运动约束下得到可执行的机器人动作数据。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运动数据文件结构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37360"/>
            <a:ext cx="9418320" cy="36118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1912" y="1901952"/>
            <a:ext cx="8997696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PBHC/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└── example/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  └── motion_data/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      └── videomotion/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          └── processed_data/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              # 将 npz 文件置于此处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动作平滑与插值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10469880" cy="41605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28800"/>
            <a:ext cx="1004925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cd PBHC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conda activate pbhc</a:t>
            </a:r>
          </a:p>
          <a:p>
            <a:pPr algn="l">
              <a:lnSpc>
                <a:spcPct val="102000"/>
              </a:lnSpc>
            </a:pPr>
            <a:endParaRPr sz="155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python motion_interpolation_pkl.py \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--origin_file_name /path/to/Motion_modification.pkl \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--start_inter_frame 30 \</a:t>
            </a:r>
          </a:p>
          <a:p>
            <a:pPr algn="l">
              <a:lnSpc>
                <a:spcPct val="102000"/>
              </a:lnSpc>
            </a:pPr>
            <a:r>
              <a:rPr sz="1550" b="0" i="0">
                <a:solidFill>
                  <a:srgbClr val="222833"/>
                </a:solidFill>
                <a:latin typeface="Consolas"/>
              </a:rPr>
              <a:t>  --end_inter_frame 30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平滑后动作可视化命令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55648"/>
            <a:ext cx="10469880" cy="342900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920240"/>
            <a:ext cx="10049255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__NV_PRIME_RENDER_OFFLOAD=1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__GLX_VENDOR_LIBRARY_NAME=nvidia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python robot_motion_process/vis_q_mj.py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  +motion_file=/path/to/your.pkl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平滑后动作的可视化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平滑后动作的可视化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CB821AD-8AFE-B761-A60E-B22FFE3CD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94354" y="1554108"/>
            <a:ext cx="6130925" cy="4407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11.3.4 训练策略：并行环境与动作文件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19072"/>
            <a:ext cx="10287000" cy="1750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训练时将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robot.motion.motion_file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指向希望学习的动作文件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num_envs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= 4096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用于正式训练；教材说明也可设置为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118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用于调试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训练使用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Isaac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Gym，任务为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motion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tracking，并开启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domain randomization。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大量并行环境让策略在更短时间内看到更多状态分布，提高训练效率。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训练命令（1/2）：仿真器、任务与环境数量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10469880" cy="42976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92224"/>
            <a:ext cx="10049255" cy="39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python humanoidverse/train_agent.py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+simulator=isaacgym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+exp=motion_tracking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+terrain=terrain_locomotion_plane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project_name=MotionTracking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num_envs=4096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+obs=motion_tracking/main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训练命令（2/2）：机器人、域随机化与动作文件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10469880" cy="42976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92224"/>
            <a:ext cx="10049255" cy="39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+robot=g1/g1_23dof_lock_wrist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+domain_rand=main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+rewards=motion_tracking/main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experiment_name=debug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robot.motion.motion_file=&lt;Your strategy(.pkl)&gt;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seed=1 \</a:t>
            </a:r>
          </a:p>
          <a:p>
            <a:pPr algn="l">
              <a:lnSpc>
                <a:spcPct val="102000"/>
              </a:lnSpc>
            </a:pPr>
            <a:r>
              <a:rPr sz="1510" b="0" i="0">
                <a:solidFill>
                  <a:srgbClr val="222833"/>
                </a:solidFill>
                <a:latin typeface="Consolas"/>
              </a:rPr>
              <a:t>  +device=cuda:0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域随机化在策略训练中的作用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55648"/>
            <a:ext cx="3401568" cy="3218688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55648"/>
            <a:ext cx="64008" cy="321868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覆盖模型误差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通过训练时随机化动力学与环境参数，让策略减少对单一仿真模型的依赖。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55648"/>
            <a:ext cx="3401568" cy="32186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55648"/>
            <a:ext cx="64008" cy="321868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提高鲁棒性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策略在更广泛的状态分布中学习，提高面对扰动与建模偏差时的稳定性。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55648"/>
            <a:ext cx="3401568" cy="3218688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64008" cy="321868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服务真机部署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为后续 MuJoCo 验证和真实 G1 部署预留更大的泛化余量。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已开始训练策略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已开始训练策略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D8BE24E-6572-F484-2329-F013155AC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345"/>
          <a:stretch>
            <a:fillRect/>
          </a:stretch>
        </p:blipFill>
        <p:spPr>
          <a:xfrm>
            <a:off x="3225482" y="1736090"/>
            <a:ext cx="5741035" cy="408621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策略训练中奖励值变化曲线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策略训练中奖励值变化曲线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1632839"/>
            <a:ext cx="9083040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sz="2400" b="0" i="0" dirty="0" err="1">
                <a:latin typeface="微软雅黑"/>
              </a:rPr>
              <a:t>可在配置中开启</a:t>
            </a:r>
            <a:r>
              <a:rPr sz="2400" b="0" i="0" dirty="0">
                <a:latin typeface="微软雅黑"/>
              </a:rPr>
              <a:t> </a:t>
            </a:r>
            <a:r>
              <a:rPr sz="2400" b="0" i="0" dirty="0" err="1">
                <a:latin typeface="微软雅黑"/>
              </a:rPr>
              <a:t>Wandb，直观判断策略是否收敛</a:t>
            </a:r>
            <a:r>
              <a:rPr sz="2400" b="0" i="0" dirty="0">
                <a:latin typeface="微软雅黑"/>
              </a:rPr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89D5A6-9BA2-19B4-8DD9-6C7A0614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77" y="2525014"/>
            <a:ext cx="8609045" cy="3436874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训练后评估</a:t>
            </a:r>
            <a:endParaRPr sz="35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692668"/>
              </p:ext>
            </p:extLst>
          </p:nvPr>
        </p:nvGraphicFramePr>
        <p:xfrm>
          <a:off x="777240" y="1783080"/>
          <a:ext cx="1065275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6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脚本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作用</a:t>
                      </a:r>
                      <a:endParaRPr sz="2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eval_agent.py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在 Isaac Gym 中运行策略并可视化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22833"/>
                          </a:solidFill>
                        </a:rPr>
                        <a:t>sample_eps.py</a:t>
                      </a:r>
                      <a:endParaRPr sz="20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22833"/>
                          </a:solidFill>
                        </a:rPr>
                        <a:t>对策略进行若干轮 Rollout，输出准确性和平滑度等评估指标</a:t>
                      </a:r>
                      <a:endParaRPr sz="20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222833"/>
                          </a:solidFill>
                        </a:rPr>
                        <a:t>ratio_eps.py</a:t>
                      </a:r>
                      <a:endParaRPr sz="2000" b="1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22833"/>
                          </a:solidFill>
                        </a:rPr>
                        <a:t>输出平均</a:t>
                      </a:r>
                      <a:r>
                        <a:rPr sz="2000" b="0" dirty="0">
                          <a:solidFill>
                            <a:srgbClr val="222833"/>
                          </a:solidFill>
                        </a:rPr>
                        <a:t> Episode </a:t>
                      </a:r>
                      <a:r>
                        <a:rPr sz="2000" b="0" dirty="0" err="1">
                          <a:solidFill>
                            <a:srgbClr val="222833"/>
                          </a:solidFill>
                        </a:rPr>
                        <a:t>长度，以及其与参考动作长度的比率</a:t>
                      </a:r>
                      <a:endParaRPr sz="20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1" i="0">
                <a:solidFill>
                  <a:srgbClr val="24477D"/>
                </a:solidFill>
                <a:latin typeface="微软雅黑"/>
              </a:rPr>
              <a:t>训练曲线只是一个信号，最终还要通过运动可视化和多轮 Rollout 评估策略质量。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评估命令（1/2）：Isaac Gym 可视化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91640"/>
            <a:ext cx="10469880" cy="36118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56232"/>
            <a:ext cx="10049255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python humanoidverse/eval_agent.py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  +device=cuda:0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  +env.config.enforce_randomize_motion_start_eval=False \</a:t>
            </a:r>
          </a:p>
          <a:p>
            <a:pPr algn="l">
              <a:lnSpc>
                <a:spcPct val="102000"/>
              </a:lnSpc>
            </a:pPr>
            <a:r>
              <a:rPr sz="1600" b="0" i="0">
                <a:solidFill>
                  <a:srgbClr val="222833"/>
                </a:solidFill>
                <a:latin typeface="Consolas"/>
              </a:rPr>
              <a:t>  +checkpoint=example/pretrained_horse_stance_pose/model_50000.pt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评估命令（2/2）：sample_eps 与 ratio_eps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10561320" cy="443484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737360"/>
            <a:ext cx="10140696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python humanoidverse/sample_eps.py \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+device=cuda:0 +checkpoint=&lt;model_50000.pt&gt; \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+num_envs=1 +num_episodes=1 +eps_eval_name=samtraj +opt=record</a:t>
            </a:r>
          </a:p>
          <a:p>
            <a:pPr algn="l">
              <a:lnSpc>
                <a:spcPct val="102000"/>
              </a:lnSpc>
            </a:pPr>
            <a:endParaRPr sz="1460" b="0" i="0">
              <a:solidFill>
                <a:srgbClr val="222833"/>
              </a:solidFill>
              <a:latin typeface="Consolas"/>
            </a:endParaRP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python humanoidverse/ratio_eps.py \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+device=cuda:0 +checkpoint=&lt;model_50000.pt&gt; +opt=record \</a:t>
            </a:r>
          </a:p>
          <a:p>
            <a:pPr algn="l">
              <a:lnSpc>
                <a:spcPct val="102000"/>
              </a:lnSpc>
            </a:pPr>
            <a:r>
              <a:rPr sz="1460" b="0" i="0">
                <a:solidFill>
                  <a:srgbClr val="222833"/>
                </a:solidFill>
                <a:latin typeface="Consolas"/>
              </a:rPr>
              <a:t>  +num_envs=100 +num_episodes=100 +eps_eval_name=example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Isaac Gym 中的策略可视化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Isaac Gym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中的可视化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A30EA49-812E-6D4C-C9F4-2D49556A09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46" b="15462"/>
          <a:stretch>
            <a:fillRect/>
          </a:stretch>
        </p:blipFill>
        <p:spPr>
          <a:xfrm>
            <a:off x="1773999" y="2127504"/>
            <a:ext cx="8007247" cy="3633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11.3.5 仿真验证：导出 ONNX 后进入 MuJoCo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10287000" cy="13443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首先通过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eval_agent.py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将策略转化为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ONNX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格式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随后使用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humanoidverse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/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urci.py，在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MuJoCo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中部署并验证策略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MuJoCo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验证是从训练环境走向真机之前的第二层安全检查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Isaac Gym 负责“学得快”，MuJoCo 负责“再检查一遍物理可信度”。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MuJoCo 部署命令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55648"/>
            <a:ext cx="10469880" cy="333756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920240"/>
            <a:ext cx="1004925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python humanoidverse/urci.py \</a:t>
            </a:r>
          </a:p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  +opt=record \</a:t>
            </a:r>
          </a:p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  +simulator=mujoco \</a:t>
            </a:r>
          </a:p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  +checkpoint=example/pretrained_horse_stance_pose/exported/model_50000.onnx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MuJoCo 仿真结果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MuJoCo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仿真结果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6BDF231-39F2-D288-F217-E1FD09CB4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0" r="8354" b="6701"/>
          <a:stretch>
            <a:fillRect/>
          </a:stretch>
        </p:blipFill>
        <p:spPr>
          <a:xfrm>
            <a:off x="3891915" y="1519872"/>
            <a:ext cx="4043045" cy="439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MuJoCo 中如何验证策略稳定性？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55648"/>
            <a:ext cx="3401568" cy="3218688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55648"/>
            <a:ext cx="64008" cy="321868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观察关节力矩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可视化各关节力矩与反作用力方向，判断动作轨迹是否符合动力学特性。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55648"/>
            <a:ext cx="3401568" cy="3218688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755648"/>
            <a:ext cx="64008" cy="321868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施加外部扰动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在关节处施加不同方向和大小的扰动力，模拟未知环境和外部干扰。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55648"/>
            <a:ext cx="3401568" cy="3218688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55648"/>
            <a:ext cx="64008" cy="321868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90195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检查鲁棒性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9736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确认策略在不确定条件下仍能维持动态平衡与运动稳定。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真机部署前：仿真必须覆盖哪些风险？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10287000" cy="182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策略稳定性：能否连续完成目标动作而不发散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鲁棒性：受到外部扰动后能否恢复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轨迹跟踪性能：机器人动作是否贴合参考运动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噪声与模型失配：传感、执行和动力学存在偏差时是否仍可靠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409712"/>
            <a:ext cx="10972800" cy="38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 dirty="0" err="1">
                <a:solidFill>
                  <a:srgbClr val="24477D"/>
                </a:solidFill>
                <a:latin typeface="微软雅黑"/>
              </a:rPr>
              <a:t>只有在仿真中充分验证后，才将策略部署到真实机器人系统</a:t>
            </a:r>
            <a:r>
              <a:rPr sz="2400" b="1" i="0" dirty="0">
                <a:solidFill>
                  <a:srgbClr val="24477D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11.3.6 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真机部署</a:t>
            </a:r>
            <a:r>
              <a:rPr lang="zh-CN" altLang="en-US" sz="35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28800"/>
            <a:ext cx="2083003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" y="2134163"/>
            <a:ext cx="1753819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网线连接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0787" y="2103120"/>
            <a:ext cx="12801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7091" y="1828800"/>
            <a:ext cx="2083003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87091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1683" y="2134163"/>
            <a:ext cx="1753819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同网段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7526" y="2103120"/>
            <a:ext cx="12801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830" y="1828800"/>
            <a:ext cx="2083003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43830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8422" y="2134163"/>
            <a:ext cx="1753819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ping 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4265" y="2103120"/>
            <a:ext cx="12801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0569" y="1828800"/>
            <a:ext cx="2083003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00569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65161" y="2134163"/>
            <a:ext cx="1753819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确认网卡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1004" y="2103120"/>
            <a:ext cx="12801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7308" y="1828800"/>
            <a:ext cx="2083003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557308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21900" y="1806702"/>
            <a:ext cx="1753819" cy="958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 deploy_real.py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858768"/>
            <a:ext cx="10469880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网络通信建立后，再在配置文件中指定策略并启动真机控制。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真机部署步骤</a:t>
            </a:r>
            <a:r>
              <a:rPr sz="3500" b="1" i="0" dirty="0">
                <a:solidFill>
                  <a:srgbClr val="24477D"/>
                </a:solidFill>
                <a:latin typeface="微软雅黑"/>
              </a:rPr>
              <a:t> 1：设置网络地址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19072"/>
            <a:ext cx="10287000" cy="182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用网线连接机器人与用户计算机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开启计算机的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USB Ethernet。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机器人内置计算机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IP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地址为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192.168.123.164。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将用户计算机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USB Ethernet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设置到同一网段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IP 地址设置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IP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地址设置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AAB5FC8-0C43-E138-812C-B6F79D7212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45"/>
          <a:stretch>
            <a:fillRect/>
          </a:stretch>
        </p:blipFill>
        <p:spPr>
          <a:xfrm>
            <a:off x="3092450" y="1931728"/>
            <a:ext cx="6007100" cy="394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真机部署步骤 2：ping 检测连接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10149840" cy="137160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947672"/>
            <a:ext cx="9729215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ping 192.168.123.164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456432"/>
            <a:ext cx="90982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22_img02_xref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018" y="3502152"/>
            <a:ext cx="5105202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5733288"/>
            <a:ext cx="10469880" cy="239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 dirty="0" err="1">
                <a:solidFill>
                  <a:srgbClr val="222833"/>
                </a:solidFill>
                <a:latin typeface="微软雅黑"/>
              </a:rPr>
              <a:t>测试用户计算机与机器人通信</a:t>
            </a:r>
            <a:endParaRPr sz="15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真机部署步骤 3：确认网卡名字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691640"/>
            <a:ext cx="10149840" cy="105156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856232"/>
            <a:ext cx="9729215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ifconfig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017520"/>
            <a:ext cx="932688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22_img03_xref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17" y="3063239"/>
            <a:ext cx="6615485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5669280"/>
            <a:ext cx="10469880" cy="239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 dirty="0" err="1">
                <a:solidFill>
                  <a:srgbClr val="222833"/>
                </a:solidFill>
                <a:latin typeface="微软雅黑"/>
              </a:rPr>
              <a:t>查看网段对应的网卡名字</a:t>
            </a:r>
            <a:endParaRPr sz="15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真机部署步骤 4-5：运行策略与修改配置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828800"/>
            <a:ext cx="10149840" cy="182880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993392"/>
            <a:ext cx="9729215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0" i="0">
                <a:solidFill>
                  <a:srgbClr val="222833"/>
                </a:solidFill>
                <a:latin typeface="Consolas"/>
              </a:rPr>
              <a:t># 以网口 enp2s0 为例</a:t>
            </a:r>
          </a:p>
          <a:p>
            <a:pPr algn="l">
              <a:lnSpc>
                <a:spcPct val="102000"/>
              </a:lnSpc>
            </a:pPr>
            <a:r>
              <a:rPr sz="1900" b="0" i="0">
                <a:solidFill>
                  <a:srgbClr val="222833"/>
                </a:solidFill>
                <a:latin typeface="Consolas"/>
              </a:rPr>
              <a:t>python deploy_real.py enp2s0 g1_23.yaml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10469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0" i="0">
                <a:solidFill>
                  <a:srgbClr val="222833"/>
                </a:solidFill>
                <a:latin typeface="微软雅黑"/>
              </a:rPr>
              <a:t>若需要验证其他策略，在 g1_23.yaml 配置文件中修改策略路径。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真机部署安全注意事项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00200"/>
            <a:ext cx="10195560" cy="2259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将机器人挂在三脚架上，以保证安全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 &lt;F1&gt;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键激活阻尼保护模式（PassiveMode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 &lt;Select&gt;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键立即终止控制程序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建议拆除手掌，因为原始训练未考虑手掌碰撞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动作开始</a:t>
            </a:r>
            <a:r>
              <a:rPr sz="240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结束时可能需要短暂的人工稳定</a:t>
            </a:r>
            <a:endParaRPr sz="240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280" y="4848624"/>
            <a:ext cx="10972800" cy="38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lang="zh-CN" altLang="en-US" sz="24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提示：</a:t>
            </a:r>
            <a:r>
              <a:rPr sz="24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策略不保证成功率</a:t>
            </a:r>
            <a:r>
              <a:rPr sz="24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sz="2400" b="1" i="0" dirty="0" err="1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在湿滑等复杂地面上容易摔倒</a:t>
            </a:r>
            <a:r>
              <a:rPr sz="2400" b="1" i="0" dirty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案例</a:t>
            </a:r>
            <a:r>
              <a:rPr sz="3500" b="1" i="0" dirty="0">
                <a:solidFill>
                  <a:srgbClr val="24477D"/>
                </a:solidFill>
                <a:latin typeface="微软雅黑"/>
              </a:rPr>
              <a:t> 3 </a:t>
            </a:r>
            <a:r>
              <a:rPr sz="3500" b="1" i="0" dirty="0" err="1">
                <a:solidFill>
                  <a:srgbClr val="24477D"/>
                </a:solidFill>
                <a:latin typeface="微软雅黑"/>
              </a:rPr>
              <a:t>小结</a:t>
            </a:r>
            <a:endParaRPr sz="35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3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视频 / 动捕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804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2388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42388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6980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三维重建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3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5863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0455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运动重定向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5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9340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3931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PPO 训练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1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2816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2816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7408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Sim-to-Sim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5708" y="2103120"/>
            <a:ext cx="822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6292" y="182880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56292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0884" y="2057400"/>
            <a:ext cx="14462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真机部署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822191"/>
            <a:ext cx="105613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lnSpc>
                <a:spcPct val="112000"/>
              </a:lnSpc>
              <a:defRPr sz="2400" b="1" i="0">
                <a:solidFill>
                  <a:srgbClr val="24477D"/>
                </a:solidFill>
                <a:latin typeface="微软雅黑"/>
              </a:defRPr>
            </a:lvl1pPr>
          </a:lstStyle>
          <a:p>
            <a:r>
              <a:rPr dirty="0" err="1"/>
              <a:t>该案例形成“数据采集</a:t>
            </a:r>
            <a:r>
              <a:rPr dirty="0"/>
              <a:t>—</a:t>
            </a:r>
            <a:r>
              <a:rPr dirty="0" err="1"/>
              <a:t>仿真训练</a:t>
            </a:r>
            <a:r>
              <a:rPr dirty="0"/>
              <a:t>—</a:t>
            </a:r>
            <a:r>
              <a:rPr dirty="0" err="1"/>
              <a:t>验证</a:t>
            </a:r>
            <a:r>
              <a:rPr dirty="0"/>
              <a:t>—</a:t>
            </a:r>
            <a:r>
              <a:rPr dirty="0" err="1"/>
              <a:t>真机部署”的完整实践路径，在自然性与动作还原度上具有优势</a:t>
            </a:r>
            <a:r>
              <a:rPr dirty="0"/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17720"/>
            <a:ext cx="10561320" cy="292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lnSpc>
                <a:spcPct val="112000"/>
              </a:lnSpc>
              <a:defRPr sz="2400" b="1" i="0">
                <a:solidFill>
                  <a:srgbClr val="24477D"/>
                </a:solidFill>
                <a:latin typeface="微软雅黑"/>
              </a:defRPr>
            </a:lvl1pPr>
          </a:lstStyle>
          <a:p>
            <a:r>
              <a:rPr dirty="0" err="1"/>
              <a:t>实时性与复杂场景鲁棒性仍有提升空间，未来可优化奖励函数并引入全身运动控制（WBC</a:t>
            </a:r>
            <a:r>
              <a:rPr dirty="0"/>
              <a:t>）。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第11章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11.4 本章小结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10378440" cy="3414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Kinova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Gen3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机械臂自动分拣：把视觉感知、目标检测、三维定位、手眼标定和精确执行连接成闭环</a:t>
            </a:r>
            <a:endParaRPr sz="24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NanoLoong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开源小型人形机器人：完成从机械结构、硬件搭建到强化学习训练、Sim-to-Sim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与真机迁移</a:t>
            </a:r>
            <a:endParaRPr sz="24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Unitree G1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全尺寸人形模仿学习：从人类动作采集与运动重定向，到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PPO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训练、仿真验证和真机部署</a:t>
            </a:r>
            <a:endParaRPr sz="24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三个案例系统整合视觉感知、目标检测、强化学习、运动重定向与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Sim-to-Real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等核心技术</a:t>
            </a:r>
            <a:endParaRPr sz="240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三个案例的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要点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94463"/>
              </p:ext>
            </p:extLst>
          </p:nvPr>
        </p:nvGraphicFramePr>
        <p:xfrm>
          <a:off x="640080" y="1664208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案例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本体</a:t>
                      </a:r>
                      <a:endParaRPr sz="2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核心技术</a:t>
                      </a:r>
                      <a:endParaRPr sz="2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实践目标</a:t>
                      </a:r>
                      <a:endParaRPr sz="2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Kinova Gen3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833"/>
                          </a:solidFill>
                        </a:rPr>
                        <a:t>机械臂操作</a:t>
                      </a:r>
                      <a:endParaRPr sz="18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视觉感知 + 目标检测 + 手眼标定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自主分拣闭环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NanoLoong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小型双足人形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开源硬件 + RL + Sim-to-Sim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833"/>
                          </a:solidFill>
                        </a:rPr>
                        <a:t>从零搭建与实机迁移</a:t>
                      </a:r>
                      <a:endParaRPr sz="18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Unitree G1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全尺寸人形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动捕 + 重定向 + PPO + Sim-to-Real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833"/>
                          </a:solidFill>
                        </a:rPr>
                        <a:t>高动态拟人动作</a:t>
                      </a:r>
                      <a:endParaRPr sz="18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具身智能综合实践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从理论到工程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endParaRPr sz="35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78308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8912" y="178308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3" y="2088443"/>
            <a:ext cx="1446276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硬软件平台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804" y="2057400"/>
            <a:ext cx="8229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2388" y="178308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42388" y="178308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06980" y="2088443"/>
            <a:ext cx="1446276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280" y="2057400"/>
            <a:ext cx="8229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3" y="178308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45863" y="178308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0455" y="2088443"/>
            <a:ext cx="1446276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 / VLA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5" y="2057400"/>
            <a:ext cx="8229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78308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49340" y="178308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3931" y="1924713"/>
            <a:ext cx="1446276" cy="6311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世界模型思维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1" y="2057400"/>
            <a:ext cx="8229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2816" y="178308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52816" y="178308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7408" y="2088443"/>
            <a:ext cx="1446276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虚实迁移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5708" y="2057400"/>
            <a:ext cx="82296" cy="38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6292" y="1783080"/>
            <a:ext cx="17754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956292" y="178308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120884" y="2088443"/>
            <a:ext cx="1446276" cy="303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数据与训练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840480"/>
            <a:ext cx="10607040" cy="637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0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综合实践要求同时考虑算法、传感器、本体、标定、数据、仿真、控制、安全和部署。单一模块性能再高，也只有在系统闭环中才能转化为稳定的机器人能力。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15288"/>
            <a:ext cx="10972800" cy="3068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具身智能的关键不是“会某个算法”，而是“能把感知、学习与动作真正连起来”。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FFFFFF"/>
                </a:solidFill>
                <a:latin typeface="微软雅黑"/>
              </a:rPr>
              <a:t>谢 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5828</Words>
  <Application>Microsoft Office PowerPoint</Application>
  <PresentationFormat>宽屏</PresentationFormat>
  <Paragraphs>1300</Paragraphs>
  <Slides>140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140</vt:i4>
      </vt:variant>
    </vt:vector>
  </HeadingPairs>
  <TitlesOfParts>
    <vt:vector size="146" baseType="lpstr">
      <vt:lpstr>Noto Serif CJK SC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具身智能导论 第11章 具身智能综合实践</dc:title>
  <dc:subject>机械工业出版社《具身智能导论》配套课件</dc:subject>
  <dc:creator>国家地方共建人形机器人创新中心</dc:creator>
  <cp:keywords>具身智能, Kinova Gen3, NanoLoong, Unitree G1, 模仿学习, Sim-to-Real, PPO</cp:keywords>
  <dc:description>generated using python-pptx</dc:description>
  <cp:lastModifiedBy>Qin JJ</cp:lastModifiedBy>
  <cp:revision>9</cp:revision>
  <dcterms:created xsi:type="dcterms:W3CDTF">2013-01-27T09:14:16Z</dcterms:created>
  <dcterms:modified xsi:type="dcterms:W3CDTF">2026-09-14T14:23:23Z</dcterms:modified>
  <cp:category/>
</cp:coreProperties>
</file>