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  <p:sldMasterId id="2147483657" r:id="rId2"/>
  </p:sldMasterIdLst>
  <p:notesMasterIdLst>
    <p:notesMasterId r:id="rId124"/>
  </p:notesMasterIdLst>
  <p:handoutMasterIdLst>
    <p:handoutMasterId r:id="rId125"/>
  </p:handoutMasterIdLst>
  <p:sldIdLst>
    <p:sldId id="310" r:id="rId3"/>
    <p:sldId id="1659" r:id="rId4"/>
    <p:sldId id="1616" r:id="rId5"/>
    <p:sldId id="1637" r:id="rId6"/>
    <p:sldId id="1663" r:id="rId7"/>
    <p:sldId id="1664" r:id="rId8"/>
    <p:sldId id="1665" r:id="rId9"/>
    <p:sldId id="1666" r:id="rId10"/>
    <p:sldId id="1667" r:id="rId11"/>
    <p:sldId id="1668" r:id="rId12"/>
    <p:sldId id="1669" r:id="rId13"/>
    <p:sldId id="1670" r:id="rId14"/>
    <p:sldId id="1671" r:id="rId15"/>
    <p:sldId id="1672" r:id="rId16"/>
    <p:sldId id="1660" r:id="rId17"/>
    <p:sldId id="1673" r:id="rId18"/>
    <p:sldId id="1674" r:id="rId19"/>
    <p:sldId id="1675" r:id="rId20"/>
    <p:sldId id="1676" r:id="rId21"/>
    <p:sldId id="1677" r:id="rId22"/>
    <p:sldId id="1678" r:id="rId23"/>
    <p:sldId id="1679" r:id="rId24"/>
    <p:sldId id="1680" r:id="rId25"/>
    <p:sldId id="1681" r:id="rId26"/>
    <p:sldId id="1682" r:id="rId27"/>
    <p:sldId id="1683" r:id="rId28"/>
    <p:sldId id="1661" r:id="rId29"/>
    <p:sldId id="1684" r:id="rId30"/>
    <p:sldId id="1685" r:id="rId31"/>
    <p:sldId id="1686" r:id="rId32"/>
    <p:sldId id="1687" r:id="rId33"/>
    <p:sldId id="1688" r:id="rId34"/>
    <p:sldId id="1689" r:id="rId35"/>
    <p:sldId id="1690" r:id="rId36"/>
    <p:sldId id="1691" r:id="rId37"/>
    <p:sldId id="1693" r:id="rId38"/>
    <p:sldId id="1692" r:id="rId39"/>
    <p:sldId id="1695" r:id="rId40"/>
    <p:sldId id="1694" r:id="rId41"/>
    <p:sldId id="1696" r:id="rId42"/>
    <p:sldId id="1697" r:id="rId43"/>
    <p:sldId id="1698" r:id="rId44"/>
    <p:sldId id="1699" r:id="rId45"/>
    <p:sldId id="1700" r:id="rId46"/>
    <p:sldId id="1701" r:id="rId47"/>
    <p:sldId id="1702" r:id="rId48"/>
    <p:sldId id="1703" r:id="rId49"/>
    <p:sldId id="1662" r:id="rId50"/>
    <p:sldId id="1642" r:id="rId51"/>
    <p:sldId id="1704" r:id="rId52"/>
    <p:sldId id="1643" r:id="rId53"/>
    <p:sldId id="1705" r:id="rId54"/>
    <p:sldId id="1706" r:id="rId55"/>
    <p:sldId id="1650" r:id="rId56"/>
    <p:sldId id="1651" r:id="rId57"/>
    <p:sldId id="1652" r:id="rId58"/>
    <p:sldId id="1653" r:id="rId59"/>
    <p:sldId id="1654" r:id="rId60"/>
    <p:sldId id="1655" r:id="rId61"/>
    <p:sldId id="1656" r:id="rId62"/>
    <p:sldId id="1644" r:id="rId63"/>
    <p:sldId id="1657" r:id="rId64"/>
    <p:sldId id="1658" r:id="rId65"/>
    <p:sldId id="1707" r:id="rId66"/>
    <p:sldId id="1708" r:id="rId67"/>
    <p:sldId id="1709" r:id="rId68"/>
    <p:sldId id="1710" r:id="rId69"/>
    <p:sldId id="1711" r:id="rId70"/>
    <p:sldId id="1712" r:id="rId71"/>
    <p:sldId id="1713" r:id="rId72"/>
    <p:sldId id="1714" r:id="rId73"/>
    <p:sldId id="1715" r:id="rId74"/>
    <p:sldId id="1645" r:id="rId75"/>
    <p:sldId id="1647" r:id="rId76"/>
    <p:sldId id="1716" r:id="rId77"/>
    <p:sldId id="1717" r:id="rId78"/>
    <p:sldId id="1718" r:id="rId79"/>
    <p:sldId id="1719" r:id="rId80"/>
    <p:sldId id="1720" r:id="rId81"/>
    <p:sldId id="1721" r:id="rId82"/>
    <p:sldId id="1722" r:id="rId83"/>
    <p:sldId id="1723" r:id="rId84"/>
    <p:sldId id="1724" r:id="rId85"/>
    <p:sldId id="1725" r:id="rId86"/>
    <p:sldId id="1726" r:id="rId87"/>
    <p:sldId id="1727" r:id="rId88"/>
    <p:sldId id="1728" r:id="rId89"/>
    <p:sldId id="1648" r:id="rId90"/>
    <p:sldId id="1649" r:id="rId91"/>
    <p:sldId id="1729" r:id="rId92"/>
    <p:sldId id="1730" r:id="rId93"/>
    <p:sldId id="1731" r:id="rId94"/>
    <p:sldId id="1732" r:id="rId95"/>
    <p:sldId id="1733" r:id="rId96"/>
    <p:sldId id="1734" r:id="rId97"/>
    <p:sldId id="1735" r:id="rId98"/>
    <p:sldId id="1608" r:id="rId99"/>
    <p:sldId id="1736" r:id="rId100"/>
    <p:sldId id="1737" r:id="rId101"/>
    <p:sldId id="1738" r:id="rId102"/>
    <p:sldId id="260" r:id="rId103"/>
    <p:sldId id="1739" r:id="rId104"/>
    <p:sldId id="1740" r:id="rId105"/>
    <p:sldId id="1741" r:id="rId106"/>
    <p:sldId id="1742" r:id="rId107"/>
    <p:sldId id="1743" r:id="rId108"/>
    <p:sldId id="1744" r:id="rId109"/>
    <p:sldId id="1745" r:id="rId110"/>
    <p:sldId id="1746" r:id="rId111"/>
    <p:sldId id="1747" r:id="rId112"/>
    <p:sldId id="1748" r:id="rId113"/>
    <p:sldId id="1749" r:id="rId114"/>
    <p:sldId id="1750" r:id="rId115"/>
    <p:sldId id="1751" r:id="rId116"/>
    <p:sldId id="1752" r:id="rId117"/>
    <p:sldId id="1753" r:id="rId118"/>
    <p:sldId id="1754" r:id="rId119"/>
    <p:sldId id="1755" r:id="rId120"/>
    <p:sldId id="1756" r:id="rId121"/>
    <p:sldId id="1757" r:id="rId122"/>
    <p:sldId id="1758" r:id="rId12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CC9900"/>
    <a:srgbClr val="3333CC"/>
    <a:srgbClr val="CCECFF"/>
    <a:srgbClr val="009900"/>
    <a:srgbClr val="FF9900"/>
    <a:srgbClr val="FF6699"/>
    <a:srgbClr val="2799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5388" autoAdjust="0"/>
  </p:normalViewPr>
  <p:slideViewPr>
    <p:cSldViewPr>
      <p:cViewPr varScale="1">
        <p:scale>
          <a:sx n="83" d="100"/>
          <a:sy n="83" d="100"/>
        </p:scale>
        <p:origin x="1411" y="72"/>
      </p:cViewPr>
      <p:guideLst>
        <p:guide orient="horz" pos="2160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theme" Target="theme/theme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notesMaster" Target="notesMasters/notesMaster1.xml"/><Relationship Id="rId129" Type="http://schemas.openxmlformats.org/officeDocument/2006/relationships/tableStyles" Target="tableStyle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C630874-AA64-BFF1-1401-8A888218FD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FDD174-DF5D-1006-041A-D8642F30924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>
              <a:defRPr/>
            </a:pPr>
            <a:fld id="{31E24626-614D-4597-8979-1F4164705D63}" type="datetimeFigureOut">
              <a:rPr lang="zh-CN" altLang="en-US"/>
              <a:pPr>
                <a:defRPr/>
              </a:pPr>
              <a:t>2026/9/11</a:t>
            </a:fld>
            <a:endParaRPr lang="zh-CN" altLang="en-US"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9A9036-2588-5955-6B4A-C23DD9E7E9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151414-1439-0711-DDE3-324C140F72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8B4EBEA3-02EE-4055-8973-2A7C59CD216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A551FDE-7EC9-654E-9D4B-4665F09747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C351FF-BD92-892D-7291-F8CE90EDFDF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>
              <a:defRPr/>
            </a:pPr>
            <a:fld id="{8D07DF26-D004-4B82-B22E-7197A09FAB36}" type="datetimeFigureOut">
              <a:rPr lang="zh-CN" altLang="en-US"/>
              <a:pPr>
                <a:defRPr/>
              </a:pPr>
              <a:t>2026/9/11</a:t>
            </a:fld>
            <a:endParaRPr lang="zh-CN" altLang="en-US">
              <a:cs typeface="+mn-cs"/>
            </a:endParaRPr>
          </a:p>
        </p:txBody>
      </p:sp>
      <p:sp>
        <p:nvSpPr>
          <p:cNvPr id="16388" name="幻灯片图像占位符 3">
            <a:extLst>
              <a:ext uri="{FF2B5EF4-FFF2-40B4-BE49-F238E27FC236}">
                <a16:creationId xmlns:a16="http://schemas.microsoft.com/office/drawing/2014/main" id="{A9969FC5-CE51-287D-8076-58266253157F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备注占位符 4">
            <a:extLst>
              <a:ext uri="{FF2B5EF4-FFF2-40B4-BE49-F238E27FC236}">
                <a16:creationId xmlns:a16="http://schemas.microsoft.com/office/drawing/2014/main" id="{6E0793CB-8F4C-BCF0-E37A-9994E96D01DC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46B00A-41EE-7419-5C2D-4313ED1FCA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EBE3AC-00DC-A8B5-BDE2-226505306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1780F3B2-9BBD-4C64-A3CF-DCB79E22A93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13F3F16A-7F08-CF5E-0C6D-8CCD45222A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F125FBE2-0870-89AC-AD23-1BB62A9DFD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0808B808-DBAE-7E89-4B45-7BFEA5A901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FA8BCD2-FB4F-41C7-8F8B-392F6CFBFED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706DCA79-9EAE-ED98-7729-5CAE2038EE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01241466-6212-2508-ED82-4170DC76C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B558C377-2806-7939-F863-0740E3E417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C32AE6C-7947-4D63-A6F7-D23058FD43DE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164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729B7377-8DDE-ABB1-7598-6C34AD2C71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DB635C44-9D70-F8B1-9B3E-40BB26B31F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227D631E-A174-243C-95E4-EC80175895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4BB62E2-38EB-4D42-A5CF-2685C8E5B3AC}" type="slidenum">
              <a:rPr lang="zh-CN" altLang="en-US" smtClean="0"/>
              <a:pPr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12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95235">
            <a:extLst>
              <a:ext uri="{FF2B5EF4-FFF2-40B4-BE49-F238E27FC236}">
                <a16:creationId xmlns:a16="http://schemas.microsoft.com/office/drawing/2014/main" id="{A8FFF3FE-8226-0897-89C7-5ECEE8D95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山东大学机械工程学院机电工程研究所</a:t>
            </a:r>
            <a:r>
              <a:rPr lang="zh-CN" altLang="zh-CN"/>
              <a:t>2010</a:t>
            </a:r>
          </a:p>
        </p:txBody>
      </p:sp>
      <p:sp>
        <p:nvSpPr>
          <p:cNvPr id="5" name="页脚占位符 95236">
            <a:extLst>
              <a:ext uri="{FF2B5EF4-FFF2-40B4-BE49-F238E27FC236}">
                <a16:creationId xmlns:a16="http://schemas.microsoft.com/office/drawing/2014/main" id="{996173C8-79E2-FC93-557D-205409AD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1994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3713" y="201613"/>
            <a:ext cx="5903912" cy="70643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CA229E68-DBFC-A9A3-336E-7B9F574D33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BD5129A-2095-665E-EB0E-A1E9CCBCCFD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山东大学机械工程学院机电工程研究所</a:t>
            </a:r>
            <a:r>
              <a:rPr lang="zh-CN" altLang="zh-CN"/>
              <a:t>2010</a:t>
            </a:r>
          </a:p>
        </p:txBody>
      </p:sp>
    </p:spTree>
    <p:extLst>
      <p:ext uri="{BB962C8B-B14F-4D97-AF65-F5344CB8AC3E}">
        <p14:creationId xmlns:p14="http://schemas.microsoft.com/office/powerpoint/2010/main" val="114123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95235">
            <a:extLst>
              <a:ext uri="{FF2B5EF4-FFF2-40B4-BE49-F238E27FC236}">
                <a16:creationId xmlns:a16="http://schemas.microsoft.com/office/drawing/2014/main" id="{3A78CDD3-30AC-0651-888D-21B6866B5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山东大学机械工程学院机电工程研究所</a:t>
            </a:r>
            <a:r>
              <a:rPr lang="zh-CN" altLang="zh-CN"/>
              <a:t>2010</a:t>
            </a:r>
          </a:p>
        </p:txBody>
      </p:sp>
      <p:sp>
        <p:nvSpPr>
          <p:cNvPr id="5" name="页脚占位符 95236">
            <a:extLst>
              <a:ext uri="{FF2B5EF4-FFF2-40B4-BE49-F238E27FC236}">
                <a16:creationId xmlns:a16="http://schemas.microsoft.com/office/drawing/2014/main" id="{0499033A-E9FD-F3DE-C4F6-4B4429B3A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160992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2504" cy="50006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125538"/>
            <a:ext cx="4032504" cy="50006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95235">
            <a:extLst>
              <a:ext uri="{FF2B5EF4-FFF2-40B4-BE49-F238E27FC236}">
                <a16:creationId xmlns:a16="http://schemas.microsoft.com/office/drawing/2014/main" id="{A2248205-F08B-DDAC-6405-54263BAE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山东大学机械工程学院机电工程研究所</a:t>
            </a:r>
            <a:r>
              <a:rPr lang="zh-CN" altLang="zh-CN"/>
              <a:t>2010</a:t>
            </a:r>
          </a:p>
        </p:txBody>
      </p:sp>
      <p:sp>
        <p:nvSpPr>
          <p:cNvPr id="6" name="页脚占位符 95236">
            <a:extLst>
              <a:ext uri="{FF2B5EF4-FFF2-40B4-BE49-F238E27FC236}">
                <a16:creationId xmlns:a16="http://schemas.microsoft.com/office/drawing/2014/main" id="{3EAD69D5-2B51-A9BE-E874-CF83C671F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331295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95235">
            <a:extLst>
              <a:ext uri="{FF2B5EF4-FFF2-40B4-BE49-F238E27FC236}">
                <a16:creationId xmlns:a16="http://schemas.microsoft.com/office/drawing/2014/main" id="{B6BBD2D1-233D-9AE2-C65E-DEAE7F909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山东大学机械工程学院机电工程研究所</a:t>
            </a:r>
            <a:r>
              <a:rPr lang="zh-CN" altLang="zh-CN"/>
              <a:t>2010</a:t>
            </a:r>
          </a:p>
        </p:txBody>
      </p:sp>
      <p:sp>
        <p:nvSpPr>
          <p:cNvPr id="8" name="页脚占位符 95236">
            <a:extLst>
              <a:ext uri="{FF2B5EF4-FFF2-40B4-BE49-F238E27FC236}">
                <a16:creationId xmlns:a16="http://schemas.microsoft.com/office/drawing/2014/main" id="{139C8CAB-8830-6AF6-BF83-F8AE5F755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522344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95235">
            <a:extLst>
              <a:ext uri="{FF2B5EF4-FFF2-40B4-BE49-F238E27FC236}">
                <a16:creationId xmlns:a16="http://schemas.microsoft.com/office/drawing/2014/main" id="{89CDC512-814E-B2CF-D9DD-FA5E1B57F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山东大学机械工程学院机电工程研究所</a:t>
            </a:r>
            <a:r>
              <a:rPr lang="zh-CN" altLang="zh-CN"/>
              <a:t>2010</a:t>
            </a:r>
          </a:p>
        </p:txBody>
      </p:sp>
      <p:sp>
        <p:nvSpPr>
          <p:cNvPr id="4" name="页脚占位符 95236">
            <a:extLst>
              <a:ext uri="{FF2B5EF4-FFF2-40B4-BE49-F238E27FC236}">
                <a16:creationId xmlns:a16="http://schemas.microsoft.com/office/drawing/2014/main" id="{AEC0C325-F622-C25A-901F-2428C956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7629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95235">
            <a:extLst>
              <a:ext uri="{FF2B5EF4-FFF2-40B4-BE49-F238E27FC236}">
                <a16:creationId xmlns:a16="http://schemas.microsoft.com/office/drawing/2014/main" id="{F08C52FA-D888-6F93-C747-A6A6F62CC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山东大学机械工程学院机电工程研究所</a:t>
            </a:r>
            <a:r>
              <a:rPr lang="zh-CN" altLang="zh-CN"/>
              <a:t>2010</a:t>
            </a:r>
          </a:p>
        </p:txBody>
      </p:sp>
      <p:sp>
        <p:nvSpPr>
          <p:cNvPr id="3" name="页脚占位符 95236">
            <a:extLst>
              <a:ext uri="{FF2B5EF4-FFF2-40B4-BE49-F238E27FC236}">
                <a16:creationId xmlns:a16="http://schemas.microsoft.com/office/drawing/2014/main" id="{FC13ACF3-993B-7837-D05C-E6AAA23E1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386051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95235">
            <a:extLst>
              <a:ext uri="{FF2B5EF4-FFF2-40B4-BE49-F238E27FC236}">
                <a16:creationId xmlns:a16="http://schemas.microsoft.com/office/drawing/2014/main" id="{51D6C2D6-25E4-6280-A637-809A694FB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山东大学机械工程学院机电工程研究所</a:t>
            </a:r>
            <a:r>
              <a:rPr lang="zh-CN" altLang="zh-CN"/>
              <a:t>2010</a:t>
            </a:r>
          </a:p>
        </p:txBody>
      </p:sp>
      <p:sp>
        <p:nvSpPr>
          <p:cNvPr id="6" name="页脚占位符 95236">
            <a:extLst>
              <a:ext uri="{FF2B5EF4-FFF2-40B4-BE49-F238E27FC236}">
                <a16:creationId xmlns:a16="http://schemas.microsoft.com/office/drawing/2014/main" id="{A2ABFCB8-DDDE-70B0-6C1D-92492560F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81824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95235">
            <a:extLst>
              <a:ext uri="{FF2B5EF4-FFF2-40B4-BE49-F238E27FC236}">
                <a16:creationId xmlns:a16="http://schemas.microsoft.com/office/drawing/2014/main" id="{6FEAF6C0-CF91-D3D6-1D5B-F5C52B2F9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山东大学机械工程学院机电工程研究所</a:t>
            </a:r>
            <a:r>
              <a:rPr lang="zh-CN" altLang="zh-CN"/>
              <a:t>2010</a:t>
            </a:r>
          </a:p>
        </p:txBody>
      </p:sp>
      <p:sp>
        <p:nvSpPr>
          <p:cNvPr id="6" name="页脚占位符 95236">
            <a:extLst>
              <a:ext uri="{FF2B5EF4-FFF2-40B4-BE49-F238E27FC236}">
                <a16:creationId xmlns:a16="http://schemas.microsoft.com/office/drawing/2014/main" id="{A766333D-B436-C305-E417-3E0DE907F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901923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95235">
            <a:extLst>
              <a:ext uri="{FF2B5EF4-FFF2-40B4-BE49-F238E27FC236}">
                <a16:creationId xmlns:a16="http://schemas.microsoft.com/office/drawing/2014/main" id="{EFA0F3A0-7416-AA86-E011-7CA657F5C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山东大学机械工程学院机电工程研究所</a:t>
            </a:r>
            <a:r>
              <a:rPr lang="zh-CN" altLang="zh-CN"/>
              <a:t>2010</a:t>
            </a:r>
          </a:p>
        </p:txBody>
      </p:sp>
      <p:sp>
        <p:nvSpPr>
          <p:cNvPr id="5" name="页脚占位符 95236">
            <a:extLst>
              <a:ext uri="{FF2B5EF4-FFF2-40B4-BE49-F238E27FC236}">
                <a16:creationId xmlns:a16="http://schemas.microsoft.com/office/drawing/2014/main" id="{8DE8BEF1-E1EF-C0BE-52F1-A3382EAD4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26129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88913"/>
            <a:ext cx="2057400" cy="59372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52930" cy="59372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95235">
            <a:extLst>
              <a:ext uri="{FF2B5EF4-FFF2-40B4-BE49-F238E27FC236}">
                <a16:creationId xmlns:a16="http://schemas.microsoft.com/office/drawing/2014/main" id="{14AD4E1C-1EB8-DA7F-FA1A-8FD8EF291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山东大学机械工程学院机电工程研究所</a:t>
            </a:r>
            <a:r>
              <a:rPr lang="zh-CN" altLang="zh-CN"/>
              <a:t>2010</a:t>
            </a:r>
          </a:p>
        </p:txBody>
      </p:sp>
      <p:sp>
        <p:nvSpPr>
          <p:cNvPr id="5" name="页脚占位符 95236">
            <a:extLst>
              <a:ext uri="{FF2B5EF4-FFF2-40B4-BE49-F238E27FC236}">
                <a16:creationId xmlns:a16="http://schemas.microsoft.com/office/drawing/2014/main" id="{22C8883F-CC25-34B8-AE8F-2D59BF289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371666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B8FD149C-F0E5-8DD0-3106-5EEECE653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77962213-5023-1FCE-4D88-99FB3C1F4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664840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标题 11264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defRPr kern="1200"/>
            </a:lvl1pPr>
          </a:lstStyle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112643" name="副标题 11264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/>
            <a:r>
              <a:rPr lang="zh-CN" altLang="en-US" noProof="1"/>
              <a:t>单击此处编辑母版副标题样式</a:t>
            </a:r>
          </a:p>
        </p:txBody>
      </p:sp>
      <p:sp>
        <p:nvSpPr>
          <p:cNvPr id="2" name="日期占位符 112643">
            <a:extLst>
              <a:ext uri="{FF2B5EF4-FFF2-40B4-BE49-F238E27FC236}">
                <a16:creationId xmlns:a16="http://schemas.microsoft.com/office/drawing/2014/main" id="{4DDAECB8-490F-933B-CD0B-314C2DCAD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t"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112644">
            <a:extLst>
              <a:ext uri="{FF2B5EF4-FFF2-40B4-BE49-F238E27FC236}">
                <a16:creationId xmlns:a16="http://schemas.microsoft.com/office/drawing/2014/main" id="{CEC486DC-469B-F4ED-43AA-9728CD9AD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灯片编号占位符 112645">
            <a:extLst>
              <a:ext uri="{FF2B5EF4-FFF2-40B4-BE49-F238E27FC236}">
                <a16:creationId xmlns:a16="http://schemas.microsoft.com/office/drawing/2014/main" id="{7793E424-E4DC-DC37-6FBF-DF48106AA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BD37D-EDEE-438C-8E77-10C1C7E1C3C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7450087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10595">
            <a:extLst>
              <a:ext uri="{FF2B5EF4-FFF2-40B4-BE49-F238E27FC236}">
                <a16:creationId xmlns:a16="http://schemas.microsoft.com/office/drawing/2014/main" id="{413E2EA7-E99E-BFA1-CA15-210F7321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10596">
            <a:extLst>
              <a:ext uri="{FF2B5EF4-FFF2-40B4-BE49-F238E27FC236}">
                <a16:creationId xmlns:a16="http://schemas.microsoft.com/office/drawing/2014/main" id="{1C814ED1-4B6D-BAEA-6B56-4AC5169D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10597">
            <a:extLst>
              <a:ext uri="{FF2B5EF4-FFF2-40B4-BE49-F238E27FC236}">
                <a16:creationId xmlns:a16="http://schemas.microsoft.com/office/drawing/2014/main" id="{8DA60A14-5538-3532-F306-2601CB29C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37DE92-8307-49F9-B268-72E94AF6CD2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79836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110595">
            <a:extLst>
              <a:ext uri="{FF2B5EF4-FFF2-40B4-BE49-F238E27FC236}">
                <a16:creationId xmlns:a16="http://schemas.microsoft.com/office/drawing/2014/main" id="{AE574999-1D39-38DE-7562-432C6C07B0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10596">
            <a:extLst>
              <a:ext uri="{FF2B5EF4-FFF2-40B4-BE49-F238E27FC236}">
                <a16:creationId xmlns:a16="http://schemas.microsoft.com/office/drawing/2014/main" id="{D215EAF1-C1BE-C780-5CBE-AECF56ACD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10597">
            <a:extLst>
              <a:ext uri="{FF2B5EF4-FFF2-40B4-BE49-F238E27FC236}">
                <a16:creationId xmlns:a16="http://schemas.microsoft.com/office/drawing/2014/main" id="{8D807C04-46F1-A512-D048-3E857BF02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7BEAF-3A18-4983-8AE5-A08A292ECCB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25118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10595">
            <a:extLst>
              <a:ext uri="{FF2B5EF4-FFF2-40B4-BE49-F238E27FC236}">
                <a16:creationId xmlns:a16="http://schemas.microsoft.com/office/drawing/2014/main" id="{58427EDD-C61C-DC30-BD04-A15A57F5DF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10596">
            <a:extLst>
              <a:ext uri="{FF2B5EF4-FFF2-40B4-BE49-F238E27FC236}">
                <a16:creationId xmlns:a16="http://schemas.microsoft.com/office/drawing/2014/main" id="{6B8BF735-7D82-8565-22B0-8FE98D8F9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10597">
            <a:extLst>
              <a:ext uri="{FF2B5EF4-FFF2-40B4-BE49-F238E27FC236}">
                <a16:creationId xmlns:a16="http://schemas.microsoft.com/office/drawing/2014/main" id="{986BDBF3-1397-4785-F89C-05CEC30BD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4D31D1-B6B7-4057-8349-69A4EB646D85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83433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110595">
            <a:extLst>
              <a:ext uri="{FF2B5EF4-FFF2-40B4-BE49-F238E27FC236}">
                <a16:creationId xmlns:a16="http://schemas.microsoft.com/office/drawing/2014/main" id="{B2A7F3D2-B2FB-5876-B539-E9530D3A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110596">
            <a:extLst>
              <a:ext uri="{FF2B5EF4-FFF2-40B4-BE49-F238E27FC236}">
                <a16:creationId xmlns:a16="http://schemas.microsoft.com/office/drawing/2014/main" id="{D79B5E05-744D-CB31-9003-3A0F4DC6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9" name="灯片编号占位符 110597">
            <a:extLst>
              <a:ext uri="{FF2B5EF4-FFF2-40B4-BE49-F238E27FC236}">
                <a16:creationId xmlns:a16="http://schemas.microsoft.com/office/drawing/2014/main" id="{66D43932-2D32-D504-3E98-74896C0C8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557BBB-D39C-418C-A886-1818CBCC541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653509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110595">
            <a:extLst>
              <a:ext uri="{FF2B5EF4-FFF2-40B4-BE49-F238E27FC236}">
                <a16:creationId xmlns:a16="http://schemas.microsoft.com/office/drawing/2014/main" id="{2EF0392B-2507-841E-5668-2C22D9BF44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110596">
            <a:extLst>
              <a:ext uri="{FF2B5EF4-FFF2-40B4-BE49-F238E27FC236}">
                <a16:creationId xmlns:a16="http://schemas.microsoft.com/office/drawing/2014/main" id="{7838571D-CC8D-382F-86F8-5CF1A9F1D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5" name="灯片编号占位符 110597">
            <a:extLst>
              <a:ext uri="{FF2B5EF4-FFF2-40B4-BE49-F238E27FC236}">
                <a16:creationId xmlns:a16="http://schemas.microsoft.com/office/drawing/2014/main" id="{53D6C309-8CA6-9632-9FD6-0BFCC4F82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71DDB-35CF-40AF-B1C4-A9EDBCFB746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597710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10595">
            <a:extLst>
              <a:ext uri="{FF2B5EF4-FFF2-40B4-BE49-F238E27FC236}">
                <a16:creationId xmlns:a16="http://schemas.microsoft.com/office/drawing/2014/main" id="{F48178EB-7F0E-9391-CAB1-B07A295C10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110596">
            <a:extLst>
              <a:ext uri="{FF2B5EF4-FFF2-40B4-BE49-F238E27FC236}">
                <a16:creationId xmlns:a16="http://schemas.microsoft.com/office/drawing/2014/main" id="{4E81FE16-A232-389C-743A-609835EA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灯片编号占位符 110597">
            <a:extLst>
              <a:ext uri="{FF2B5EF4-FFF2-40B4-BE49-F238E27FC236}">
                <a16:creationId xmlns:a16="http://schemas.microsoft.com/office/drawing/2014/main" id="{47656D11-DC4A-11C0-D21F-C84E794B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9E4902-A51A-4189-BFB1-829965479D7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66103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10595">
            <a:extLst>
              <a:ext uri="{FF2B5EF4-FFF2-40B4-BE49-F238E27FC236}">
                <a16:creationId xmlns:a16="http://schemas.microsoft.com/office/drawing/2014/main" id="{EAE4D098-C9F8-0BE2-51A7-F2B85FA3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10596">
            <a:extLst>
              <a:ext uri="{FF2B5EF4-FFF2-40B4-BE49-F238E27FC236}">
                <a16:creationId xmlns:a16="http://schemas.microsoft.com/office/drawing/2014/main" id="{C53BD205-5492-0D03-7D18-86878482D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10597">
            <a:extLst>
              <a:ext uri="{FF2B5EF4-FFF2-40B4-BE49-F238E27FC236}">
                <a16:creationId xmlns:a16="http://schemas.microsoft.com/office/drawing/2014/main" id="{1ED413FB-3D28-7820-175F-23854548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311EA9-2E6C-4931-91E6-F97666A95D2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827196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10595">
            <a:extLst>
              <a:ext uri="{FF2B5EF4-FFF2-40B4-BE49-F238E27FC236}">
                <a16:creationId xmlns:a16="http://schemas.microsoft.com/office/drawing/2014/main" id="{1DDAB48A-4BFE-082B-74F2-EED1ADD2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10596">
            <a:extLst>
              <a:ext uri="{FF2B5EF4-FFF2-40B4-BE49-F238E27FC236}">
                <a16:creationId xmlns:a16="http://schemas.microsoft.com/office/drawing/2014/main" id="{BD7EC8E7-3D13-BFD6-A847-DF90C164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10597">
            <a:extLst>
              <a:ext uri="{FF2B5EF4-FFF2-40B4-BE49-F238E27FC236}">
                <a16:creationId xmlns:a16="http://schemas.microsoft.com/office/drawing/2014/main" id="{D60433EF-5250-EC37-30A9-8A7715C5F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8604A2-D501-4A8C-8823-8B13662D6D1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08724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10595">
            <a:extLst>
              <a:ext uri="{FF2B5EF4-FFF2-40B4-BE49-F238E27FC236}">
                <a16:creationId xmlns:a16="http://schemas.microsoft.com/office/drawing/2014/main" id="{85B8011C-EEFE-1149-FCE4-7B3A1ADBCF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10596">
            <a:extLst>
              <a:ext uri="{FF2B5EF4-FFF2-40B4-BE49-F238E27FC236}">
                <a16:creationId xmlns:a16="http://schemas.microsoft.com/office/drawing/2014/main" id="{56C435DF-9C99-1029-784C-F179EE096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10597">
            <a:extLst>
              <a:ext uri="{FF2B5EF4-FFF2-40B4-BE49-F238E27FC236}">
                <a16:creationId xmlns:a16="http://schemas.microsoft.com/office/drawing/2014/main" id="{68E12D03-834E-F449-4B8E-79211F1DA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0611A8-E934-46D3-A32E-C045D09A457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64174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10595">
            <a:extLst>
              <a:ext uri="{FF2B5EF4-FFF2-40B4-BE49-F238E27FC236}">
                <a16:creationId xmlns:a16="http://schemas.microsoft.com/office/drawing/2014/main" id="{A3BAD487-92EE-2BEE-365B-7BEBFF141A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10596">
            <a:extLst>
              <a:ext uri="{FF2B5EF4-FFF2-40B4-BE49-F238E27FC236}">
                <a16:creationId xmlns:a16="http://schemas.microsoft.com/office/drawing/2014/main" id="{0AB23CF8-CC0F-FD92-2787-777269722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10597">
            <a:extLst>
              <a:ext uri="{FF2B5EF4-FFF2-40B4-BE49-F238E27FC236}">
                <a16:creationId xmlns:a16="http://schemas.microsoft.com/office/drawing/2014/main" id="{0D3BAE67-C1C3-7376-8C5B-63732A0F2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73E166-A718-4799-A477-CF7FC8906CE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16058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95233">
            <a:extLst>
              <a:ext uri="{FF2B5EF4-FFF2-40B4-BE49-F238E27FC236}">
                <a16:creationId xmlns:a16="http://schemas.microsoft.com/office/drawing/2014/main" id="{EBD64D0B-5326-5AF8-B5A4-E7620EE34FC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763713" y="188913"/>
            <a:ext cx="5903912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CN" altLang="en-US"/>
          </a:p>
        </p:txBody>
      </p:sp>
      <p:sp>
        <p:nvSpPr>
          <p:cNvPr id="1027" name="文本占位符 95234">
            <a:extLst>
              <a:ext uri="{FF2B5EF4-FFF2-40B4-BE49-F238E27FC236}">
                <a16:creationId xmlns:a16="http://schemas.microsoft.com/office/drawing/2014/main" id="{8B0CE6E0-00CB-7A6E-2C71-91A0E0B6DD0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5236" name="日期占位符 95235">
            <a:extLst>
              <a:ext uri="{FF2B5EF4-FFF2-40B4-BE49-F238E27FC236}">
                <a16:creationId xmlns:a16="http://schemas.microsoft.com/office/drawing/2014/main" id="{16B676B6-7040-42B6-AC8F-EB7F6B2B5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95738" y="6381750"/>
            <a:ext cx="4752975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600" noProof="1">
                <a:solidFill>
                  <a:srgbClr val="0000FF"/>
                </a:solidFill>
              </a:defRPr>
            </a:lvl1pPr>
          </a:lstStyle>
          <a:p>
            <a:r>
              <a:rPr lang="zh-CN" altLang="en-US"/>
              <a:t>山东大学机械工程学院机电工程研究所</a:t>
            </a:r>
            <a:r>
              <a:rPr lang="zh-CN" altLang="zh-CN"/>
              <a:t>2010</a:t>
            </a:r>
          </a:p>
        </p:txBody>
      </p:sp>
      <p:sp>
        <p:nvSpPr>
          <p:cNvPr id="95237" name="页脚占位符 95236">
            <a:extLst>
              <a:ext uri="{FF2B5EF4-FFF2-40B4-BE49-F238E27FC236}">
                <a16:creationId xmlns:a16="http://schemas.microsoft.com/office/drawing/2014/main" id="{D6C52507-ABAE-A9F7-57A2-55F307880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825" y="6237288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030" name="直接连接符 95238">
            <a:extLst>
              <a:ext uri="{FF2B5EF4-FFF2-40B4-BE49-F238E27FC236}">
                <a16:creationId xmlns:a16="http://schemas.microsoft.com/office/drawing/2014/main" id="{AFA5FC4D-91A7-5474-2E0E-2BAA4AD636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2988" y="981075"/>
            <a:ext cx="7561262" cy="0"/>
          </a:xfrm>
          <a:prstGeom prst="line">
            <a:avLst/>
          </a:prstGeom>
          <a:noFill/>
          <a:ln w="31750">
            <a:solidFill>
              <a:srgbClr val="FF9966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31" name="直接连接符 95239">
            <a:extLst>
              <a:ext uri="{FF2B5EF4-FFF2-40B4-BE49-F238E27FC236}">
                <a16:creationId xmlns:a16="http://schemas.microsoft.com/office/drawing/2014/main" id="{1EEE9CD6-EDA6-E70D-8092-16906BACAB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42988" y="620713"/>
            <a:ext cx="215900" cy="360362"/>
          </a:xfrm>
          <a:prstGeom prst="line">
            <a:avLst/>
          </a:prstGeom>
          <a:noFill/>
          <a:ln w="31750">
            <a:solidFill>
              <a:srgbClr val="FF66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32" name="直接连接符 95240">
            <a:extLst>
              <a:ext uri="{FF2B5EF4-FFF2-40B4-BE49-F238E27FC236}">
                <a16:creationId xmlns:a16="http://schemas.microsoft.com/office/drawing/2014/main" id="{429990AB-5833-D7E4-D00B-DE05F39D933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0825" y="6308725"/>
            <a:ext cx="7129463" cy="0"/>
          </a:xfrm>
          <a:prstGeom prst="line">
            <a:avLst/>
          </a:prstGeom>
          <a:noFill/>
          <a:ln w="28575">
            <a:solidFill>
              <a:srgbClr val="3399FF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354" r:id="rId1"/>
    <p:sldLayoutId id="2147485355" r:id="rId2"/>
    <p:sldLayoutId id="2147485356" r:id="rId3"/>
    <p:sldLayoutId id="2147485357" r:id="rId4"/>
    <p:sldLayoutId id="2147485358" r:id="rId5"/>
    <p:sldLayoutId id="2147485359" r:id="rId6"/>
    <p:sldLayoutId id="2147485360" r:id="rId7"/>
    <p:sldLayoutId id="2147485361" r:id="rId8"/>
    <p:sldLayoutId id="2147485362" r:id="rId9"/>
    <p:sldLayoutId id="2147485363" r:id="rId10"/>
    <p:sldLayoutId id="2147485364" r:id="rId11"/>
    <p:sldLayoutId id="2147485365" r:id="rId12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10593">
            <a:extLst>
              <a:ext uri="{FF2B5EF4-FFF2-40B4-BE49-F238E27FC236}">
                <a16:creationId xmlns:a16="http://schemas.microsoft.com/office/drawing/2014/main" id="{BAAB0D7E-EEE2-2FF7-8F54-B6F59C71E23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110594">
            <a:extLst>
              <a:ext uri="{FF2B5EF4-FFF2-40B4-BE49-F238E27FC236}">
                <a16:creationId xmlns:a16="http://schemas.microsoft.com/office/drawing/2014/main" id="{247310E7-8B8D-86FC-950B-267455F1ECD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0596" name="日期占位符 110595">
            <a:extLst>
              <a:ext uri="{FF2B5EF4-FFF2-40B4-BE49-F238E27FC236}">
                <a16:creationId xmlns:a16="http://schemas.microsoft.com/office/drawing/2014/main" id="{F50F3367-8F93-9A4B-765B-E99068A018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4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0597" name="页脚占位符 110596">
            <a:extLst>
              <a:ext uri="{FF2B5EF4-FFF2-40B4-BE49-F238E27FC236}">
                <a16:creationId xmlns:a16="http://schemas.microsoft.com/office/drawing/2014/main" id="{82B2C3CE-8D8D-4DA1-EE99-F6ADC67A8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10598" name="灯片编号占位符 110597">
            <a:extLst>
              <a:ext uri="{FF2B5EF4-FFF2-40B4-BE49-F238E27FC236}">
                <a16:creationId xmlns:a16="http://schemas.microsoft.com/office/drawing/2014/main" id="{76807A42-D7C2-7291-75C6-F811FFEF7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fld id="{1FD6A6FB-CD45-43FE-BE95-2BE7DFB2940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366" r:id="rId1"/>
    <p:sldLayoutId id="2147485344" r:id="rId2"/>
    <p:sldLayoutId id="2147485345" r:id="rId3"/>
    <p:sldLayoutId id="2147485346" r:id="rId4"/>
    <p:sldLayoutId id="2147485347" r:id="rId5"/>
    <p:sldLayoutId id="2147485348" r:id="rId6"/>
    <p:sldLayoutId id="2147485349" r:id="rId7"/>
    <p:sldLayoutId id="2147485350" r:id="rId8"/>
    <p:sldLayoutId id="2147485351" r:id="rId9"/>
    <p:sldLayoutId id="2147485352" r:id="rId10"/>
    <p:sldLayoutId id="214748535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占位符 143362">
            <a:extLst>
              <a:ext uri="{FF2B5EF4-FFF2-40B4-BE49-F238E27FC236}">
                <a16:creationId xmlns:a16="http://schemas.microsoft.com/office/drawing/2014/main" id="{91DCE517-BC42-3D2A-BB79-AF4A15E2F1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550" y="2420938"/>
            <a:ext cx="7416800" cy="201612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zh-CN" altLang="en-US" sz="4800" b="1">
                <a:latin typeface="华文楷体" panose="02010600040101010101" pitchFamily="2" charset="-122"/>
                <a:ea typeface="华文楷体" panose="02010600040101010101" pitchFamily="2" charset="-122"/>
              </a:rPr>
              <a:t>机器人操作系统（</a:t>
            </a:r>
            <a:r>
              <a:rPr lang="en-US" altLang="zh-CN" sz="4800" b="1">
                <a:latin typeface="华文楷体" panose="02010600040101010101" pitchFamily="2" charset="-122"/>
                <a:ea typeface="华文楷体" panose="02010600040101010101" pitchFamily="2" charset="-122"/>
              </a:rPr>
              <a:t>ROS2</a:t>
            </a:r>
            <a:r>
              <a:rPr lang="zh-CN" altLang="en-US" sz="4800" b="1">
                <a:latin typeface="华文楷体" panose="02010600040101010101" pitchFamily="2" charset="-122"/>
                <a:ea typeface="华文楷体" panose="02010600040101010101" pitchFamily="2" charset="-122"/>
              </a:rPr>
              <a:t>）入门与实践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文本框 5">
            <a:extLst>
              <a:ext uri="{FF2B5EF4-FFF2-40B4-BE49-F238E27FC236}">
                <a16:creationId xmlns:a16="http://schemas.microsoft.com/office/drawing/2014/main" id="{195B0248-7C81-45D4-F9EB-9D1515867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74650"/>
            <a:ext cx="71294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机器人操作系统（</a:t>
            </a: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ROS2</a:t>
            </a: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）入门与实践</a:t>
            </a:r>
          </a:p>
        </p:txBody>
      </p:sp>
      <p:sp>
        <p:nvSpPr>
          <p:cNvPr id="20483" name="文本框 7">
            <a:extLst>
              <a:ext uri="{FF2B5EF4-FFF2-40B4-BE49-F238E27FC236}">
                <a16:creationId xmlns:a16="http://schemas.microsoft.com/office/drawing/2014/main" id="{8C29957C-1FB5-988A-BF7B-6088910E5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1089025"/>
            <a:ext cx="5730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 Ubuntu</a:t>
            </a:r>
            <a:r>
              <a:rPr lang="zh-CN" altLang="zh-CN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入门基础</a:t>
            </a:r>
            <a:endParaRPr lang="zh-CN" altLang="en-US" sz="18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文本框 9">
            <a:extLst>
              <a:ext uri="{FF2B5EF4-FFF2-40B4-BE49-F238E27FC236}">
                <a16:creationId xmlns:a16="http://schemas.microsoft.com/office/drawing/2014/main" id="{9613B020-DDE3-C268-6F57-020955990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1524000"/>
            <a:ext cx="4572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安装与系统架构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1" name="文本框 11">
            <a:extLst>
              <a:ext uri="{FF2B5EF4-FFF2-40B4-BE49-F238E27FC236}">
                <a16:creationId xmlns:a16="http://schemas.microsoft.com/office/drawing/2014/main" id="{2F14B4F8-7DC4-AF14-09E4-D7343ACA8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1957388"/>
            <a:ext cx="4572000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编程基础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2" name="文本框 13">
            <a:extLst>
              <a:ext uri="{FF2B5EF4-FFF2-40B4-BE49-F238E27FC236}">
                <a16:creationId xmlns:a16="http://schemas.microsoft.com/office/drawing/2014/main" id="{159FF518-C810-9967-F467-8A908B617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2392363"/>
            <a:ext cx="45720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机器人运动控制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3" name="文本框 15">
            <a:extLst>
              <a:ext uri="{FF2B5EF4-FFF2-40B4-BE49-F238E27FC236}">
                <a16:creationId xmlns:a16="http://schemas.microsoft.com/office/drawing/2014/main" id="{64DACC16-77CE-58F2-FA2F-6B0920093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2825750"/>
            <a:ext cx="516890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激光雷达在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中的使用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4" name="文本框 17">
            <a:extLst>
              <a:ext uri="{FF2B5EF4-FFF2-40B4-BE49-F238E27FC236}">
                <a16:creationId xmlns:a16="http://schemas.microsoft.com/office/drawing/2014/main" id="{6E6D96AF-00EF-DFEC-FF3F-87ED50D29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3259138"/>
            <a:ext cx="5745162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IMU</a:t>
            </a:r>
            <a:r>
              <a:rPr lang="zh-CN" altLang="zh-CN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中的使用</a:t>
            </a:r>
            <a:endParaRPr lang="zh-CN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5" name="文本框 19">
            <a:extLst>
              <a:ext uri="{FF2B5EF4-FFF2-40B4-BE49-F238E27FC236}">
                <a16:creationId xmlns:a16="http://schemas.microsoft.com/office/drawing/2014/main" id="{D70FC470-72E0-1BB2-0226-3A60874E2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3694113"/>
            <a:ext cx="6537325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SLAM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环境建图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6" name="文本框 21">
            <a:extLst>
              <a:ext uri="{FF2B5EF4-FFF2-40B4-BE49-F238E27FC236}">
                <a16:creationId xmlns:a16="http://schemas.microsoft.com/office/drawing/2014/main" id="{D220AD71-7C77-1FE9-7589-1C3E3FA9F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4127500"/>
            <a:ext cx="58324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en-US" altLang="zh-CN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NAV2</a:t>
            </a:r>
            <a:r>
              <a:rPr lang="zh-CN" altLang="zh-CN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自主导航</a:t>
            </a:r>
            <a:endParaRPr lang="zh-CN" altLang="en-US" sz="1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7" name="文本框 21">
            <a:extLst>
              <a:ext uri="{FF2B5EF4-FFF2-40B4-BE49-F238E27FC236}">
                <a16:creationId xmlns:a16="http://schemas.microsoft.com/office/drawing/2014/main" id="{A9B19EC8-1E76-AFFD-2428-498F20E46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4560888"/>
            <a:ext cx="5832475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中的图像视觉应用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8" name="文本框 19">
            <a:extLst>
              <a:ext uri="{FF2B5EF4-FFF2-40B4-BE49-F238E27FC236}">
                <a16:creationId xmlns:a16="http://schemas.microsoft.com/office/drawing/2014/main" id="{E200BF74-72C9-B42A-264B-6DC4674A7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4995863"/>
            <a:ext cx="6537325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的三维视觉应用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9" name="文本框 21">
            <a:extLst>
              <a:ext uri="{FF2B5EF4-FFF2-40B4-BE49-F238E27FC236}">
                <a16:creationId xmlns:a16="http://schemas.microsoft.com/office/drawing/2014/main" id="{A4329488-1A91-8F5D-1108-FC19FD3C0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5429250"/>
            <a:ext cx="58324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的机械臂应用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70" name="文本框 21">
            <a:extLst>
              <a:ext uri="{FF2B5EF4-FFF2-40B4-BE49-F238E27FC236}">
                <a16:creationId xmlns:a16="http://schemas.microsoft.com/office/drawing/2014/main" id="{EE6A8CB6-79C5-E7B3-5F15-A0499736D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5864225"/>
            <a:ext cx="5832475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基于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的综合应用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任意多边形 9229">
            <a:extLst>
              <a:ext uri="{FF2B5EF4-FFF2-40B4-BE49-F238E27FC236}">
                <a16:creationId xmlns:a16="http://schemas.microsoft.com/office/drawing/2014/main" id="{55C887FE-CD06-AF90-79E3-B6866DC7DEC1}"/>
              </a:ext>
            </a:extLst>
          </p:cNvPr>
          <p:cNvSpPr>
            <a:spLocks noChangeArrowheads="1"/>
          </p:cNvSpPr>
          <p:nvPr/>
        </p:nvSpPr>
        <p:spPr bwMode="auto">
          <a:xfrm rot="6402108" flipH="1">
            <a:off x="-242888" y="1814513"/>
            <a:ext cx="3827463" cy="3729038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0 h 21600"/>
              <a:gd name="T10" fmla="*/ 0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1" y="10744"/>
                  <a:pt x="10856" y="10769"/>
                  <a:pt x="10856" y="10800"/>
                </a:cubicBezTo>
                <a:lnTo>
                  <a:pt x="21600" y="10800"/>
                </a:lnTo>
                <a:cubicBezTo>
                  <a:pt x="21600" y="4835"/>
                  <a:pt x="16765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gradFill rotWithShape="1">
            <a:gsLst>
              <a:gs pos="0">
                <a:schemeClr val="hlink">
                  <a:alpha val="56000"/>
                </a:schemeClr>
              </a:gs>
              <a:gs pos="100000">
                <a:srgbClr val="FFFFFF">
                  <a:alpha val="4800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7" name="矩形 9219">
            <a:extLst>
              <a:ext uri="{FF2B5EF4-FFF2-40B4-BE49-F238E27FC236}">
                <a16:creationId xmlns:a16="http://schemas.microsoft.com/office/drawing/2014/main" id="{5DE7766D-FAC1-736E-5D2F-1C7431275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813" y="1160463"/>
            <a:ext cx="1081087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FF"/>
                </a:solidFill>
                <a:latin typeface="方正粗宋简体" pitchFamily="65" charset="-122"/>
                <a:ea typeface="方正粗宋简体" pitchFamily="65" charset="-122"/>
              </a:rPr>
              <a:t>第</a:t>
            </a:r>
            <a:endParaRPr lang="en-US" altLang="zh-CN" sz="3600" b="1">
              <a:solidFill>
                <a:srgbClr val="0000FF"/>
              </a:solidFill>
              <a:latin typeface="方正粗宋简体" pitchFamily="65" charset="-122"/>
              <a:ea typeface="方正粗宋简体" pitchFamily="65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FF"/>
                </a:solidFill>
                <a:latin typeface="方正粗宋简体" pitchFamily="65" charset="-122"/>
                <a:ea typeface="方正粗宋简体" pitchFamily="65" charset="-122"/>
              </a:rPr>
              <a:t>8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FF"/>
                </a:solidFill>
                <a:latin typeface="方正粗宋简体" pitchFamily="65" charset="-122"/>
                <a:ea typeface="方正粗宋简体" pitchFamily="65" charset="-122"/>
              </a:rPr>
              <a:t>章</a:t>
            </a:r>
          </a:p>
        </p:txBody>
      </p:sp>
      <p:sp>
        <p:nvSpPr>
          <p:cNvPr id="39939" name="任意多边形 9228">
            <a:extLst>
              <a:ext uri="{FF2B5EF4-FFF2-40B4-BE49-F238E27FC236}">
                <a16:creationId xmlns:a16="http://schemas.microsoft.com/office/drawing/2014/main" id="{9C94E7A5-45EF-0F2E-D8CB-F0B9BE8B6A65}"/>
              </a:ext>
            </a:extLst>
          </p:cNvPr>
          <p:cNvSpPr>
            <a:spLocks noChangeArrowheads="1"/>
          </p:cNvSpPr>
          <p:nvPr/>
        </p:nvSpPr>
        <p:spPr bwMode="auto">
          <a:xfrm rot="6405277">
            <a:off x="-395288" y="1414463"/>
            <a:ext cx="4579937" cy="4529138"/>
          </a:xfrm>
          <a:custGeom>
            <a:avLst/>
            <a:gdLst>
              <a:gd name="T0" fmla="*/ 323 w 21600"/>
              <a:gd name="T1" fmla="*/ 10641 h 21600"/>
              <a:gd name="T2" fmla="*/ 10800 w 21600"/>
              <a:gd name="T3" fmla="*/ 322 h 21600"/>
              <a:gd name="T4" fmla="*/ 21277 w 21600"/>
              <a:gd name="T5" fmla="*/ 10640 h 21600"/>
              <a:gd name="T6" fmla="*/ 21598 w 21600"/>
              <a:gd name="T7" fmla="*/ 10636 h 21600"/>
              <a:gd name="T8" fmla="*/ 10798 w 21600"/>
              <a:gd name="T9" fmla="*/ -164 h 21600"/>
              <a:gd name="T10" fmla="*/ -1 w 21600"/>
              <a:gd name="T11" fmla="*/ 1047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600" h="21600">
                <a:moveTo>
                  <a:pt x="323" y="10641"/>
                </a:moveTo>
                <a:cubicBezTo>
                  <a:pt x="409" y="4927"/>
                  <a:pt x="5067" y="322"/>
                  <a:pt x="10800" y="322"/>
                </a:cubicBezTo>
                <a:cubicBezTo>
                  <a:pt x="16534" y="322"/>
                  <a:pt x="21192" y="4927"/>
                  <a:pt x="21277" y="10640"/>
                </a:cubicBezTo>
                <a:lnTo>
                  <a:pt x="21598" y="10636"/>
                </a:lnTo>
                <a:cubicBezTo>
                  <a:pt x="21509" y="4583"/>
                  <a:pt x="16708" y="-164"/>
                  <a:pt x="10798" y="-164"/>
                </a:cubicBezTo>
                <a:cubicBezTo>
                  <a:pt x="4888" y="-164"/>
                  <a:pt x="87" y="4583"/>
                  <a:pt x="-1" y="10472"/>
                </a:cubicBezTo>
                <a:close/>
              </a:path>
            </a:pathLst>
          </a:custGeom>
          <a:gradFill rotWithShape="1">
            <a:gsLst>
              <a:gs pos="0">
                <a:srgbClr val="C5C5C5"/>
              </a:gs>
              <a:gs pos="50000">
                <a:schemeClr val="bg2"/>
              </a:gs>
              <a:gs pos="100000">
                <a:srgbClr val="C5C5C5"/>
              </a:gs>
            </a:gsLst>
            <a:lin ang="0" scaled="1"/>
          </a:gradFill>
          <a:ln>
            <a:noFill/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1509" name="圆角矩形 9230">
            <a:extLst>
              <a:ext uri="{FF2B5EF4-FFF2-40B4-BE49-F238E27FC236}">
                <a16:creationId xmlns:a16="http://schemas.microsoft.com/office/drawing/2014/main" id="{7FCE348D-95D2-5EF2-2F58-DE1E55778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2984500"/>
            <a:ext cx="3635375" cy="50958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510" name="圆角矩形 9232">
            <a:extLst>
              <a:ext uri="{FF2B5EF4-FFF2-40B4-BE49-F238E27FC236}">
                <a16:creationId xmlns:a16="http://schemas.microsoft.com/office/drawing/2014/main" id="{F1DE3614-AB6C-69A7-C563-BD7EA7954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350" y="4079875"/>
            <a:ext cx="3327400" cy="492125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8.3 </a:t>
            </a:r>
            <a:r>
              <a:rPr lang="zh-CN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开源导航插件的使用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511" name="圆角矩形 9234">
            <a:extLst>
              <a:ext uri="{FF2B5EF4-FFF2-40B4-BE49-F238E27FC236}">
                <a16:creationId xmlns:a16="http://schemas.microsoft.com/office/drawing/2014/main" id="{E8F112D2-A325-3384-95D4-548E67720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25" y="1916113"/>
            <a:ext cx="2811463" cy="482600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21512" name="组合 9235">
            <a:extLst>
              <a:ext uri="{FF2B5EF4-FFF2-40B4-BE49-F238E27FC236}">
                <a16:creationId xmlns:a16="http://schemas.microsoft.com/office/drawing/2014/main" id="{A575BB04-DAA3-8E8A-87B7-DCB811FB8217}"/>
              </a:ext>
            </a:extLst>
          </p:cNvPr>
          <p:cNvGrpSpPr>
            <a:grpSpLocks/>
          </p:cNvGrpSpPr>
          <p:nvPr/>
        </p:nvGrpSpPr>
        <p:grpSpPr bwMode="auto">
          <a:xfrm>
            <a:off x="3417888" y="1987550"/>
            <a:ext cx="361950" cy="361950"/>
            <a:chOff x="2078" y="1680"/>
            <a:chExt cx="1615" cy="1615"/>
          </a:xfrm>
        </p:grpSpPr>
        <p:sp>
          <p:nvSpPr>
            <p:cNvPr id="21532" name="椭圆 9236">
              <a:extLst>
                <a:ext uri="{FF2B5EF4-FFF2-40B4-BE49-F238E27FC236}">
                  <a16:creationId xmlns:a16="http://schemas.microsoft.com/office/drawing/2014/main" id="{A6A1D05D-56A4-35F0-28B5-C06889951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21533" name="椭圆 9237">
              <a:extLst>
                <a:ext uri="{FF2B5EF4-FFF2-40B4-BE49-F238E27FC236}">
                  <a16:creationId xmlns:a16="http://schemas.microsoft.com/office/drawing/2014/main" id="{D11EB471-F186-1CE1-69F7-9AADA415F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39946" name="椭圆 9238">
              <a:extLst>
                <a:ext uri="{FF2B5EF4-FFF2-40B4-BE49-F238E27FC236}">
                  <a16:creationId xmlns:a16="http://schemas.microsoft.com/office/drawing/2014/main" id="{2FC851F5-A443-7320-5715-BC8B0EB5D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1857"/>
              <a:ext cx="1261" cy="126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1800" b="1"/>
            </a:p>
          </p:txBody>
        </p:sp>
        <p:sp>
          <p:nvSpPr>
            <p:cNvPr id="21535" name="椭圆 9239">
              <a:extLst>
                <a:ext uri="{FF2B5EF4-FFF2-40B4-BE49-F238E27FC236}">
                  <a16:creationId xmlns:a16="http://schemas.microsoft.com/office/drawing/2014/main" id="{1F2CC166-F1EA-54F5-08B3-C354A8041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39948" name="椭圆 9240">
              <a:extLst>
                <a:ext uri="{FF2B5EF4-FFF2-40B4-BE49-F238E27FC236}">
                  <a16:creationId xmlns:a16="http://schemas.microsoft.com/office/drawing/2014/main" id="{18A22339-46AF-2A4E-1CFC-137C5EC9E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" y="1942"/>
              <a:ext cx="1091" cy="1098"/>
            </a:xfrm>
            <a:prstGeom prst="ellipse">
              <a:avLst/>
            </a:prstGeom>
            <a:gradFill rotWithShape="1">
              <a:gsLst>
                <a:gs pos="0">
                  <a:srgbClr val="005353"/>
                </a:gs>
                <a:gs pos="50000">
                  <a:schemeClr val="hlink"/>
                </a:gs>
                <a:gs pos="100000">
                  <a:srgbClr val="005353"/>
                </a:gs>
              </a:gsLst>
              <a:lin ang="18900000" scaled="1"/>
            </a:gradFill>
            <a:ln>
              <a:noFill/>
            </a:ln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1800" b="1"/>
            </a:p>
          </p:txBody>
        </p:sp>
        <p:sp>
          <p:nvSpPr>
            <p:cNvPr id="21537" name="椭圆 9241">
              <a:extLst>
                <a:ext uri="{FF2B5EF4-FFF2-40B4-BE49-F238E27FC236}">
                  <a16:creationId xmlns:a16="http://schemas.microsoft.com/office/drawing/2014/main" id="{314566E0-862E-DB09-839E-8943B9698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</p:grpSp>
      <p:grpSp>
        <p:nvGrpSpPr>
          <p:cNvPr id="21513" name="组合 9249">
            <a:extLst>
              <a:ext uri="{FF2B5EF4-FFF2-40B4-BE49-F238E27FC236}">
                <a16:creationId xmlns:a16="http://schemas.microsoft.com/office/drawing/2014/main" id="{5F1ED50D-988D-80C2-914F-0C0F4ACBB049}"/>
              </a:ext>
            </a:extLst>
          </p:cNvPr>
          <p:cNvGrpSpPr>
            <a:grpSpLocks/>
          </p:cNvGrpSpPr>
          <p:nvPr/>
        </p:nvGrpSpPr>
        <p:grpSpPr bwMode="auto">
          <a:xfrm>
            <a:off x="3849688" y="3068638"/>
            <a:ext cx="361950" cy="361950"/>
            <a:chOff x="2078" y="1680"/>
            <a:chExt cx="1615" cy="1615"/>
          </a:xfrm>
        </p:grpSpPr>
        <p:sp>
          <p:nvSpPr>
            <p:cNvPr id="21526" name="椭圆 9250">
              <a:extLst>
                <a:ext uri="{FF2B5EF4-FFF2-40B4-BE49-F238E27FC236}">
                  <a16:creationId xmlns:a16="http://schemas.microsoft.com/office/drawing/2014/main" id="{42FFF063-C1CD-1696-0158-A9EE9E7A9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21527" name="椭圆 9251">
              <a:extLst>
                <a:ext uri="{FF2B5EF4-FFF2-40B4-BE49-F238E27FC236}">
                  <a16:creationId xmlns:a16="http://schemas.microsoft.com/office/drawing/2014/main" id="{B673F41B-795C-CD4E-9887-D5CDF6A6D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39953" name="椭圆 9252">
              <a:extLst>
                <a:ext uri="{FF2B5EF4-FFF2-40B4-BE49-F238E27FC236}">
                  <a16:creationId xmlns:a16="http://schemas.microsoft.com/office/drawing/2014/main" id="{1278BD95-4D35-3302-CA85-CD2487F01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1857"/>
              <a:ext cx="1261" cy="126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1800" b="1"/>
            </a:p>
          </p:txBody>
        </p:sp>
        <p:sp>
          <p:nvSpPr>
            <p:cNvPr id="21529" name="椭圆 9253">
              <a:extLst>
                <a:ext uri="{FF2B5EF4-FFF2-40B4-BE49-F238E27FC236}">
                  <a16:creationId xmlns:a16="http://schemas.microsoft.com/office/drawing/2014/main" id="{F6F631AF-A1D1-A2E1-3C90-B56B8222E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39955" name="椭圆 9254">
              <a:extLst>
                <a:ext uri="{FF2B5EF4-FFF2-40B4-BE49-F238E27FC236}">
                  <a16:creationId xmlns:a16="http://schemas.microsoft.com/office/drawing/2014/main" id="{7B106DE1-5C67-BF91-313B-58E42B0A8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" y="1942"/>
              <a:ext cx="1091" cy="1098"/>
            </a:xfrm>
            <a:prstGeom prst="ellipse">
              <a:avLst/>
            </a:prstGeom>
            <a:gradFill rotWithShape="1">
              <a:gsLst>
                <a:gs pos="0">
                  <a:srgbClr val="005353"/>
                </a:gs>
                <a:gs pos="50000">
                  <a:schemeClr val="hlink"/>
                </a:gs>
                <a:gs pos="100000">
                  <a:srgbClr val="005353"/>
                </a:gs>
              </a:gsLst>
              <a:lin ang="18900000" scaled="1"/>
            </a:gradFill>
            <a:ln>
              <a:noFill/>
            </a:ln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1800" b="1"/>
            </a:p>
          </p:txBody>
        </p:sp>
        <p:sp>
          <p:nvSpPr>
            <p:cNvPr id="21531" name="椭圆 9255">
              <a:extLst>
                <a:ext uri="{FF2B5EF4-FFF2-40B4-BE49-F238E27FC236}">
                  <a16:creationId xmlns:a16="http://schemas.microsoft.com/office/drawing/2014/main" id="{4FF365ED-4A82-114C-47A4-42F003612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</p:grpSp>
      <p:grpSp>
        <p:nvGrpSpPr>
          <p:cNvPr id="21514" name="组合 9263">
            <a:extLst>
              <a:ext uri="{FF2B5EF4-FFF2-40B4-BE49-F238E27FC236}">
                <a16:creationId xmlns:a16="http://schemas.microsoft.com/office/drawing/2014/main" id="{A8A79509-7EBE-FC1B-6EB2-CA226BEB7D2F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4146550"/>
            <a:ext cx="338138" cy="361950"/>
            <a:chOff x="2078" y="1680"/>
            <a:chExt cx="1615" cy="1615"/>
          </a:xfrm>
        </p:grpSpPr>
        <p:sp>
          <p:nvSpPr>
            <p:cNvPr id="21520" name="椭圆 9264">
              <a:extLst>
                <a:ext uri="{FF2B5EF4-FFF2-40B4-BE49-F238E27FC236}">
                  <a16:creationId xmlns:a16="http://schemas.microsoft.com/office/drawing/2014/main" id="{15D380BD-88AA-5462-95AB-0360CA4BB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21521" name="椭圆 9265">
              <a:extLst>
                <a:ext uri="{FF2B5EF4-FFF2-40B4-BE49-F238E27FC236}">
                  <a16:creationId xmlns:a16="http://schemas.microsoft.com/office/drawing/2014/main" id="{A68CCEAC-04B2-0397-491A-9A59267D9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39960" name="椭圆 9266">
              <a:extLst>
                <a:ext uri="{FF2B5EF4-FFF2-40B4-BE49-F238E27FC236}">
                  <a16:creationId xmlns:a16="http://schemas.microsoft.com/office/drawing/2014/main" id="{F277AC1A-18AB-C7A3-0CF6-074B45D3C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2" y="1857"/>
              <a:ext cx="1266" cy="126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1800" b="1"/>
            </a:p>
          </p:txBody>
        </p:sp>
        <p:sp>
          <p:nvSpPr>
            <p:cNvPr id="21523" name="椭圆 9267">
              <a:extLst>
                <a:ext uri="{FF2B5EF4-FFF2-40B4-BE49-F238E27FC236}">
                  <a16:creationId xmlns:a16="http://schemas.microsoft.com/office/drawing/2014/main" id="{20C942F1-BD74-3EF4-D1E1-447BA29D6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39962" name="椭圆 9268">
              <a:extLst>
                <a:ext uri="{FF2B5EF4-FFF2-40B4-BE49-F238E27FC236}">
                  <a16:creationId xmlns:a16="http://schemas.microsoft.com/office/drawing/2014/main" id="{20B18E3B-3DE1-D0C7-DE1F-DFE822F54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1942"/>
              <a:ext cx="1099" cy="1098"/>
            </a:xfrm>
            <a:prstGeom prst="ellipse">
              <a:avLst/>
            </a:prstGeom>
            <a:gradFill rotWithShape="1">
              <a:gsLst>
                <a:gs pos="0">
                  <a:srgbClr val="005353"/>
                </a:gs>
                <a:gs pos="50000">
                  <a:schemeClr val="hlink"/>
                </a:gs>
                <a:gs pos="100000">
                  <a:srgbClr val="005353"/>
                </a:gs>
              </a:gsLst>
              <a:lin ang="18900000" scaled="1"/>
            </a:gradFill>
            <a:ln>
              <a:noFill/>
            </a:ln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1800" b="1"/>
            </a:p>
          </p:txBody>
        </p:sp>
        <p:sp>
          <p:nvSpPr>
            <p:cNvPr id="21525" name="椭圆 9269">
              <a:extLst>
                <a:ext uri="{FF2B5EF4-FFF2-40B4-BE49-F238E27FC236}">
                  <a16:creationId xmlns:a16="http://schemas.microsoft.com/office/drawing/2014/main" id="{7B8FE1A9-8667-E39E-523D-370BEA6B5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</p:grpSp>
      <p:sp>
        <p:nvSpPr>
          <p:cNvPr id="21515" name="矩形 9283">
            <a:extLst>
              <a:ext uri="{FF2B5EF4-FFF2-40B4-BE49-F238E27FC236}">
                <a16:creationId xmlns:a16="http://schemas.microsoft.com/office/drawing/2014/main" id="{1BB2C9C3-B139-1C16-A367-B40EDDBE0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700" y="260350"/>
            <a:ext cx="762635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</a:rPr>
              <a:t>第</a:t>
            </a:r>
            <a:r>
              <a:rPr lang="en-US" altLang="zh-CN" sz="2800" b="1">
                <a:solidFill>
                  <a:srgbClr val="0000FF"/>
                </a:solidFill>
              </a:rPr>
              <a:t>8</a:t>
            </a:r>
            <a:r>
              <a:rPr lang="zh-CN" altLang="en-US" sz="2800" b="1">
                <a:solidFill>
                  <a:srgbClr val="0000FF"/>
                </a:solidFill>
              </a:rPr>
              <a:t>章 </a:t>
            </a:r>
            <a:r>
              <a:rPr lang="en-US" altLang="zh-CN" sz="2800" b="1">
                <a:solidFill>
                  <a:srgbClr val="0000FF"/>
                </a:solidFill>
              </a:rPr>
              <a:t>ROS2</a:t>
            </a:r>
            <a:r>
              <a:rPr lang="zh-CN" altLang="zh-CN" sz="2800" b="1">
                <a:solidFill>
                  <a:srgbClr val="0000FF"/>
                </a:solidFill>
              </a:rPr>
              <a:t>中的</a:t>
            </a:r>
            <a:r>
              <a:rPr lang="en-US" altLang="zh-CN" sz="2800" b="1">
                <a:solidFill>
                  <a:srgbClr val="0000FF"/>
                </a:solidFill>
              </a:rPr>
              <a:t>NAV2</a:t>
            </a:r>
            <a:r>
              <a:rPr lang="zh-CN" altLang="zh-CN" sz="2800" b="1">
                <a:solidFill>
                  <a:srgbClr val="0000FF"/>
                </a:solidFill>
              </a:rPr>
              <a:t>自主导航</a:t>
            </a:r>
            <a:endParaRPr lang="zh-CN" altLang="en-US" sz="2800" b="1">
              <a:solidFill>
                <a:srgbClr val="0000FF"/>
              </a:solidFill>
            </a:endParaRPr>
          </a:p>
        </p:txBody>
      </p:sp>
      <p:sp>
        <p:nvSpPr>
          <p:cNvPr id="21516" name="矩形 9284">
            <a:extLst>
              <a:ext uri="{FF2B5EF4-FFF2-40B4-BE49-F238E27FC236}">
                <a16:creationId xmlns:a16="http://schemas.microsoft.com/office/drawing/2014/main" id="{D24F7B8B-4981-8A55-0FCF-C2E8F7112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5963" y="3068638"/>
            <a:ext cx="3286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8.2 </a:t>
            </a:r>
            <a:r>
              <a:rPr lang="zh-CN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NAV2</a:t>
            </a:r>
            <a:r>
              <a:rPr lang="zh-CN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进行自主导航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517" name="矩形 9284">
            <a:extLst>
              <a:ext uri="{FF2B5EF4-FFF2-40B4-BE49-F238E27FC236}">
                <a16:creationId xmlns:a16="http://schemas.microsoft.com/office/drawing/2014/main" id="{B0486DE0-7BB0-F08B-22EF-98A336CFB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713" y="1978025"/>
            <a:ext cx="2505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8.1 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NAV2</a:t>
            </a:r>
            <a:r>
              <a:rPr lang="zh-CN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的组成结构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CBE0C881-B48D-4BA8-D90F-34348727B99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275856" y="5151440"/>
            <a:ext cx="335309" cy="365792"/>
          </a:xfrm>
          <a:prstGeom prst="rect">
            <a:avLst/>
          </a:prstGeom>
        </p:spPr>
      </p:pic>
      <p:sp>
        <p:nvSpPr>
          <p:cNvPr id="21519" name="圆角矩形 9232">
            <a:extLst>
              <a:ext uri="{FF2B5EF4-FFF2-40B4-BE49-F238E27FC236}">
                <a16:creationId xmlns:a16="http://schemas.microsoft.com/office/drawing/2014/main" id="{E9940BD1-6CF6-1A3B-E906-50E81F2D4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4113" y="5157788"/>
            <a:ext cx="2101850" cy="427037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8.4 </a:t>
            </a:r>
            <a:r>
              <a:rPr lang="zh-CN" altLang="zh-CN" sz="20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本章小结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236545">
            <a:extLst>
              <a:ext uri="{FF2B5EF4-FFF2-40B4-BE49-F238E27FC236}">
                <a16:creationId xmlns:a16="http://schemas.microsoft.com/office/drawing/2014/main" id="{AC188DC9-F8EB-3B0A-B7C6-B91EAAD1A90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8.1  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的组成结构</a:t>
            </a:r>
          </a:p>
        </p:txBody>
      </p:sp>
      <p:pic>
        <p:nvPicPr>
          <p:cNvPr id="22531" name="图片 1">
            <a:extLst>
              <a:ext uri="{FF2B5EF4-FFF2-40B4-BE49-F238E27FC236}">
                <a16:creationId xmlns:a16="http://schemas.microsoft.com/office/drawing/2014/main" id="{0A6EF043-8028-46E6-13B3-FADE4C94C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138" y="1138238"/>
            <a:ext cx="5127625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5B0BD6B-E954-4A79-B7C6-24507AB35715}"/>
              </a:ext>
            </a:extLst>
          </p:cNvPr>
          <p:cNvSpPr txBox="1"/>
          <p:nvPr/>
        </p:nvSpPr>
        <p:spPr>
          <a:xfrm>
            <a:off x="1296988" y="4652963"/>
            <a:ext cx="3022600" cy="4191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Map Server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地图服务器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5C8661-68C8-A1F8-54F5-4E8048D59D3A}"/>
              </a:ext>
            </a:extLst>
          </p:cNvPr>
          <p:cNvSpPr txBox="1"/>
          <p:nvPr/>
        </p:nvSpPr>
        <p:spPr>
          <a:xfrm>
            <a:off x="4860925" y="4656138"/>
            <a:ext cx="3022600" cy="4191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Planner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路径规划器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D91BAA-B3F0-8DAE-0EBA-F21AEA1F1FAB}"/>
              </a:ext>
            </a:extLst>
          </p:cNvPr>
          <p:cNvSpPr txBox="1"/>
          <p:nvPr/>
        </p:nvSpPr>
        <p:spPr>
          <a:xfrm>
            <a:off x="1296988" y="5048250"/>
            <a:ext cx="4572000" cy="419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Smoother</a:t>
            </a:r>
            <a:r>
              <a:rPr lang="zh-CN" altLang="zh-CN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路径平滑器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DF4B9C-A80C-F3F9-B036-2F826A43D416}"/>
              </a:ext>
            </a:extLst>
          </p:cNvPr>
          <p:cNvSpPr txBox="1"/>
          <p:nvPr/>
        </p:nvSpPr>
        <p:spPr>
          <a:xfrm>
            <a:off x="4860925" y="5045075"/>
            <a:ext cx="5292725" cy="419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AMCL</a:t>
            </a:r>
            <a:r>
              <a:rPr lang="zh-CN" altLang="zh-CN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定位器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C152ACE-034F-A013-ABF3-6A4D23B06AB0}"/>
              </a:ext>
            </a:extLst>
          </p:cNvPr>
          <p:cNvSpPr txBox="1"/>
          <p:nvPr/>
        </p:nvSpPr>
        <p:spPr>
          <a:xfrm>
            <a:off x="1296988" y="5443538"/>
            <a:ext cx="5667375" cy="4191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运动控制器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C0484CB-8377-FF04-C78C-695032F4A341}"/>
              </a:ext>
            </a:extLst>
          </p:cNvPr>
          <p:cNvSpPr txBox="1"/>
          <p:nvPr/>
        </p:nvSpPr>
        <p:spPr>
          <a:xfrm>
            <a:off x="4860925" y="5434013"/>
            <a:ext cx="5856288" cy="4191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Recovery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导航恢复行为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08B9BBB-8D4A-D440-9F23-AD32FC9C03DB}"/>
              </a:ext>
            </a:extLst>
          </p:cNvPr>
          <p:cNvSpPr txBox="1"/>
          <p:nvPr/>
        </p:nvSpPr>
        <p:spPr>
          <a:xfrm>
            <a:off x="1296988" y="5838825"/>
            <a:ext cx="5938837" cy="419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 Smoother</a:t>
            </a:r>
            <a:r>
              <a:rPr lang="zh-CN" altLang="zh-CN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速度平滑器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6F60836-CA2D-47F8-6D51-CAB2FA7A2F68}"/>
              </a:ext>
            </a:extLst>
          </p:cNvPr>
          <p:cNvSpPr txBox="1"/>
          <p:nvPr/>
        </p:nvSpPr>
        <p:spPr>
          <a:xfrm>
            <a:off x="4860925" y="5822950"/>
            <a:ext cx="5975350" cy="4191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BT Navigator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行为树管理器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236545">
            <a:extLst>
              <a:ext uri="{FF2B5EF4-FFF2-40B4-BE49-F238E27FC236}">
                <a16:creationId xmlns:a16="http://schemas.microsoft.com/office/drawing/2014/main" id="{A0FA4A4A-8EEF-087B-9FA5-CAB21E770CB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8.1  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的组成结构</a:t>
            </a:r>
          </a:p>
        </p:txBody>
      </p:sp>
      <p:pic>
        <p:nvPicPr>
          <p:cNvPr id="23555" name="图片 1">
            <a:extLst>
              <a:ext uri="{FF2B5EF4-FFF2-40B4-BE49-F238E27FC236}">
                <a16:creationId xmlns:a16="http://schemas.microsoft.com/office/drawing/2014/main" id="{5FE3AF13-62C1-CCB4-8348-E347F53FF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1341438"/>
            <a:ext cx="4346575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8368AEF-0AA8-3B82-B929-13664F83BDF3}"/>
              </a:ext>
            </a:extLst>
          </p:cNvPr>
          <p:cNvSpPr txBox="1"/>
          <p:nvPr/>
        </p:nvSpPr>
        <p:spPr>
          <a:xfrm>
            <a:off x="863600" y="4797425"/>
            <a:ext cx="7670800" cy="11572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Map Server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地图服务器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导航需要地图作为路径规划的依据，这个地图数据是由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Map Server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地图服务器提供了。它会将上一章保存的地图文件加载进来，如所示，然后发布到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“/map”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话题中，供其他节点订阅获取。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3557" name="图片 4">
            <a:extLst>
              <a:ext uri="{FF2B5EF4-FFF2-40B4-BE49-F238E27FC236}">
                <a16:creationId xmlns:a16="http://schemas.microsoft.com/office/drawing/2014/main" id="{4B5D434B-7103-1E76-2AF8-B8248E57B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275" y="1528763"/>
            <a:ext cx="3286125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36545">
            <a:extLst>
              <a:ext uri="{FF2B5EF4-FFF2-40B4-BE49-F238E27FC236}">
                <a16:creationId xmlns:a16="http://schemas.microsoft.com/office/drawing/2014/main" id="{00E8A2B7-FC1F-504E-1690-53719D799DB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8.1  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的组成结构</a:t>
            </a:r>
          </a:p>
        </p:txBody>
      </p:sp>
      <p:pic>
        <p:nvPicPr>
          <p:cNvPr id="24579" name="图片 1">
            <a:extLst>
              <a:ext uri="{FF2B5EF4-FFF2-40B4-BE49-F238E27FC236}">
                <a16:creationId xmlns:a16="http://schemas.microsoft.com/office/drawing/2014/main" id="{160B2613-4CFD-2EB8-D8AC-C5528EF87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268413"/>
            <a:ext cx="5127625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53E9C7A-4303-1806-44D3-AAB3C8150CA0}"/>
              </a:ext>
            </a:extLst>
          </p:cNvPr>
          <p:cNvSpPr txBox="1"/>
          <p:nvPr/>
        </p:nvSpPr>
        <p:spPr>
          <a:xfrm>
            <a:off x="863600" y="4935538"/>
            <a:ext cx="7416800" cy="11572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Planner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路径规划器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路径规划器</a:t>
            </a:r>
            <a:r>
              <a:rPr lang="en-US" altLang="zh-CN" sz="1600">
                <a:latin typeface="Times New Roman" panose="02020603050405020304" pitchFamily="18" charset="0"/>
              </a:rPr>
              <a:t>Planner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负责生成全局导航路径。它先从地图服务器的</a:t>
            </a:r>
            <a:r>
              <a:rPr lang="en-US" altLang="zh-CN" sz="1600">
                <a:latin typeface="Times New Roman" panose="02020603050405020304" pitchFamily="18" charset="0"/>
              </a:rPr>
              <a:t>“/map”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话题获取全局地图，再从机器人的激光雷达话题获取雷达测距的障碍物点云。将两者叠加后，生成避障用的全局代价地图。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236545">
            <a:extLst>
              <a:ext uri="{FF2B5EF4-FFF2-40B4-BE49-F238E27FC236}">
                <a16:creationId xmlns:a16="http://schemas.microsoft.com/office/drawing/2014/main" id="{5BD6D11A-926E-6A84-FB10-D7FD2576A3E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8.1  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的组成结构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95D38B-7B24-7F38-0E91-617BD69D4AA0}"/>
              </a:ext>
            </a:extLst>
          </p:cNvPr>
          <p:cNvSpPr txBox="1"/>
          <p:nvPr/>
        </p:nvSpPr>
        <p:spPr>
          <a:xfrm>
            <a:off x="755650" y="1160463"/>
            <a:ext cx="7956550" cy="23129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如图所示，全局代价地图里，在障碍物的边缘会膨胀出一层半透明的渐变区域，这个代表的就是机器人可能与障碍物发生碰撞的隐性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代价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。越靠近障碍物，与障碍物碰撞的风险越大，于是颜色越鲜艳，隐性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代价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越大。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生成了代价地图之后，路径规划器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Planner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A*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Dijkstra’s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这类路径规划算法生成一条连接起始点和目标点的路径曲线（对应图中的①） ，这就是规划出来的全局导航路径。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5604" name="图片 4">
            <a:extLst>
              <a:ext uri="{FF2B5EF4-FFF2-40B4-BE49-F238E27FC236}">
                <a16:creationId xmlns:a16="http://schemas.microsoft.com/office/drawing/2014/main" id="{079A9D32-16AA-A08D-FDBF-FB6A4F3C9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3429000"/>
            <a:ext cx="3328987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图片 5">
            <a:extLst>
              <a:ext uri="{FF2B5EF4-FFF2-40B4-BE49-F238E27FC236}">
                <a16:creationId xmlns:a16="http://schemas.microsoft.com/office/drawing/2014/main" id="{C1E57890-D507-B6F2-A517-D0B955F7C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429000"/>
            <a:ext cx="3349625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236545">
            <a:extLst>
              <a:ext uri="{FF2B5EF4-FFF2-40B4-BE49-F238E27FC236}">
                <a16:creationId xmlns:a16="http://schemas.microsoft.com/office/drawing/2014/main" id="{F2FEF17F-4B2A-4183-DF5A-8DB8B6644C3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8.1  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的组成结构</a:t>
            </a:r>
          </a:p>
        </p:txBody>
      </p:sp>
      <p:pic>
        <p:nvPicPr>
          <p:cNvPr id="26627" name="图片 1">
            <a:extLst>
              <a:ext uri="{FF2B5EF4-FFF2-40B4-BE49-F238E27FC236}">
                <a16:creationId xmlns:a16="http://schemas.microsoft.com/office/drawing/2014/main" id="{DCBE28E6-8FD6-F716-652F-B062B9ED0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1484313"/>
            <a:ext cx="5127625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787B455-7D13-0041-1BB4-8DB84AC5F77C}"/>
              </a:ext>
            </a:extLst>
          </p:cNvPr>
          <p:cNvSpPr txBox="1"/>
          <p:nvPr/>
        </p:nvSpPr>
        <p:spPr>
          <a:xfrm>
            <a:off x="827088" y="1525588"/>
            <a:ext cx="2665412" cy="337502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Smoother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路径平滑器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路径规划器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Planner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生成的路径曲线是一条理论路线，有可能包含一些急转弯、锐角转折等特征（对应图中的②）。需要路径平滑器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Smoother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对路径进行优化，在不碰撞障碍物情况下让路径的折线部分尽可能圆润。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E6E5F2-4204-CE4B-78C1-9A4CB848E3E6}"/>
              </a:ext>
            </a:extLst>
          </p:cNvPr>
          <p:cNvSpPr txBox="1"/>
          <p:nvPr/>
        </p:nvSpPr>
        <p:spPr>
          <a:xfrm>
            <a:off x="827088" y="5229225"/>
            <a:ext cx="7705725" cy="7826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同时在一些危险路段让路径线路尽可能远离障碍物，避免机器人因为定位误差或者控制不善导致与障碍物发送剐蹭。</a:t>
            </a:r>
            <a:endParaRPr lang="zh-CN" altLang="en-US" sz="1600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236545">
            <a:extLst>
              <a:ext uri="{FF2B5EF4-FFF2-40B4-BE49-F238E27FC236}">
                <a16:creationId xmlns:a16="http://schemas.microsoft.com/office/drawing/2014/main" id="{8D27473E-7A28-0DA0-CB3E-DD1F6834F69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8.1  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的组成结构</a:t>
            </a:r>
          </a:p>
        </p:txBody>
      </p:sp>
      <p:pic>
        <p:nvPicPr>
          <p:cNvPr id="27651" name="图片 1">
            <a:extLst>
              <a:ext uri="{FF2B5EF4-FFF2-40B4-BE49-F238E27FC236}">
                <a16:creationId xmlns:a16="http://schemas.microsoft.com/office/drawing/2014/main" id="{E47F0B17-34C4-7D34-819C-1D751D884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463" y="1268413"/>
            <a:ext cx="529907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35BB6D7-D3EB-2133-AB8F-BE2D354EB507}"/>
              </a:ext>
            </a:extLst>
          </p:cNvPr>
          <p:cNvSpPr txBox="1"/>
          <p:nvPr/>
        </p:nvSpPr>
        <p:spPr>
          <a:xfrm>
            <a:off x="684213" y="4941888"/>
            <a:ext cx="7848600" cy="11572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AMCL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定位器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有了导航路径之后，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还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需要机器人知道自己在地图中的位置。在</a:t>
            </a:r>
            <a:r>
              <a:rPr lang="en-US" altLang="zh-CN" sz="1600">
                <a:latin typeface="Times New Roman" panose="02020603050405020304" pitchFamily="18" charset="0"/>
              </a:rPr>
              <a:t>NAV2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中，使用的</a:t>
            </a:r>
            <a:r>
              <a:rPr lang="en-US" altLang="zh-CN" sz="1600">
                <a:latin typeface="Times New Roman" panose="02020603050405020304" pitchFamily="18" charset="0"/>
              </a:rPr>
              <a:t>AMCL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进行机器人的自我定位，这是一种基于概率统计的粒子滤波算法。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236545">
            <a:extLst>
              <a:ext uri="{FF2B5EF4-FFF2-40B4-BE49-F238E27FC236}">
                <a16:creationId xmlns:a16="http://schemas.microsoft.com/office/drawing/2014/main" id="{88E1D712-7AE9-C685-A06E-03F690030FE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8.1  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的组成结构</a:t>
            </a:r>
          </a:p>
        </p:txBody>
      </p:sp>
      <p:pic>
        <p:nvPicPr>
          <p:cNvPr id="28675" name="图片 1">
            <a:extLst>
              <a:ext uri="{FF2B5EF4-FFF2-40B4-BE49-F238E27FC236}">
                <a16:creationId xmlns:a16="http://schemas.microsoft.com/office/drawing/2014/main" id="{3B381A06-B868-0D9B-C5B5-E225E1465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2363" y="1412875"/>
            <a:ext cx="4359275" cy="218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图片 2">
            <a:extLst>
              <a:ext uri="{FF2B5EF4-FFF2-40B4-BE49-F238E27FC236}">
                <a16:creationId xmlns:a16="http://schemas.microsoft.com/office/drawing/2014/main" id="{158950E5-A244-04F0-114B-34CDA1F18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2363" y="3973513"/>
            <a:ext cx="4359275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236545">
            <a:extLst>
              <a:ext uri="{FF2B5EF4-FFF2-40B4-BE49-F238E27FC236}">
                <a16:creationId xmlns:a16="http://schemas.microsoft.com/office/drawing/2014/main" id="{5CCB68A1-910B-6F7A-4FFB-82B7AE7457A8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8.1  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的组成结构</a:t>
            </a:r>
          </a:p>
        </p:txBody>
      </p:sp>
      <p:pic>
        <p:nvPicPr>
          <p:cNvPr id="29699" name="图片 1">
            <a:extLst>
              <a:ext uri="{FF2B5EF4-FFF2-40B4-BE49-F238E27FC236}">
                <a16:creationId xmlns:a16="http://schemas.microsoft.com/office/drawing/2014/main" id="{1C128311-CC1C-9C2D-676A-31D9C751C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463" y="1268413"/>
            <a:ext cx="5097462" cy="343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A1589D3-78CE-AF65-9544-93E7749D47AF}"/>
              </a:ext>
            </a:extLst>
          </p:cNvPr>
          <p:cNvSpPr txBox="1"/>
          <p:nvPr/>
        </p:nvSpPr>
        <p:spPr>
          <a:xfrm>
            <a:off x="684213" y="4724400"/>
            <a:ext cx="7848600" cy="154622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zh-CN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运动控制器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运动控制器会从路径平滑器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Smoother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获取优化后的最终路径曲线（对应图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1600">
                <a:latin typeface="Calibri" panose="020F0502020204030204" pitchFamily="34" charset="0"/>
              </a:rPr>
              <a:t>③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），然后根据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AMCL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定位器给出的机器人定位信息，规划出机器人当前位置的运动策略，尽量贴合这条路径曲线。运动控制器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按照策略计算出机器人的运动速度，然后通过话题发送速度消息包给速度平滑器（对应图中的</a:t>
            </a:r>
            <a:r>
              <a:rPr lang="zh-CN" altLang="zh-CN" sz="1600">
                <a:latin typeface="Calibri" panose="020F0502020204030204" pitchFamily="34" charset="0"/>
              </a:rPr>
              <a:t>④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）。最终由速度平滑器来控制机器人进行运动。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236545">
            <a:extLst>
              <a:ext uri="{FF2B5EF4-FFF2-40B4-BE49-F238E27FC236}">
                <a16:creationId xmlns:a16="http://schemas.microsoft.com/office/drawing/2014/main" id="{C58C3CBA-61BB-C991-2EED-5EB31F241A5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8.1  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的组成结构</a:t>
            </a:r>
          </a:p>
        </p:txBody>
      </p:sp>
      <p:pic>
        <p:nvPicPr>
          <p:cNvPr id="30723" name="图片 1">
            <a:extLst>
              <a:ext uri="{FF2B5EF4-FFF2-40B4-BE49-F238E27FC236}">
                <a16:creationId xmlns:a16="http://schemas.microsoft.com/office/drawing/2014/main" id="{EA14E4E0-7DD0-6F59-5B79-D98B43826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463" y="1268413"/>
            <a:ext cx="5097462" cy="343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6308766-98BA-8312-EA6C-D6AEBC4702F3}"/>
              </a:ext>
            </a:extLst>
          </p:cNvPr>
          <p:cNvSpPr txBox="1"/>
          <p:nvPr/>
        </p:nvSpPr>
        <p:spPr>
          <a:xfrm>
            <a:off x="539750" y="4705350"/>
            <a:ext cx="8064500" cy="15271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Recovery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导航恢复行为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导航恢复行为</a:t>
            </a:r>
            <a:r>
              <a:rPr lang="en-US" altLang="zh-CN" sz="1600">
                <a:latin typeface="Times New Roman" panose="02020603050405020304" pitchFamily="18" charset="0"/>
              </a:rPr>
              <a:t>Recovery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的作用是让机器人从极端情况下脱离险境。这些恢复行为包括：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ClearingActions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nav2_behaviors/Spin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nav2_behaviors/Wait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nav2_behaviors/BackUp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这些行为也是通过话题发送速度消息包给速度平滑器（对应图中的</a:t>
            </a:r>
            <a:r>
              <a:rPr lang="zh-CN" altLang="zh-CN" sz="1600">
                <a:latin typeface="Calibri" panose="020F0502020204030204" pitchFamily="34" charset="0"/>
              </a:rPr>
              <a:t>⑥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），由速度平滑器来驱动机器人进行移动的。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236545">
            <a:extLst>
              <a:ext uri="{FF2B5EF4-FFF2-40B4-BE49-F238E27FC236}">
                <a16:creationId xmlns:a16="http://schemas.microsoft.com/office/drawing/2014/main" id="{0A935F98-F1ED-CCFE-8945-0B5583AA0648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8.1  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的组成结构</a:t>
            </a:r>
          </a:p>
        </p:txBody>
      </p:sp>
      <p:pic>
        <p:nvPicPr>
          <p:cNvPr id="31747" name="图片 1">
            <a:extLst>
              <a:ext uri="{FF2B5EF4-FFF2-40B4-BE49-F238E27FC236}">
                <a16:creationId xmlns:a16="http://schemas.microsoft.com/office/drawing/2014/main" id="{D66B41E7-C318-152E-01A3-6704FBE2D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463" y="1268413"/>
            <a:ext cx="5097462" cy="343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169C85D-17FB-EE45-4358-04B9E2A2CA6F}"/>
              </a:ext>
            </a:extLst>
          </p:cNvPr>
          <p:cNvSpPr txBox="1"/>
          <p:nvPr/>
        </p:nvSpPr>
        <p:spPr>
          <a:xfrm>
            <a:off x="539750" y="4724400"/>
            <a:ext cx="8064500" cy="154622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sz="1600" b="1">
                <a:latin typeface="Times New Roman" panose="02020603050405020304" pitchFamily="18" charset="0"/>
              </a:rPr>
              <a:t>7</a:t>
            </a:r>
            <a:r>
              <a:rPr lang="zh-CN" altLang="en-US" sz="1600" b="1">
                <a:latin typeface="Times New Roman" panose="02020603050405020304" pitchFamily="18" charset="0"/>
              </a:rPr>
              <a:t>、</a:t>
            </a:r>
            <a:r>
              <a:rPr lang="en-US" altLang="zh-CN" sz="1600" b="1">
                <a:latin typeface="Times New Roman" panose="02020603050405020304" pitchFamily="18" charset="0"/>
              </a:rPr>
              <a:t>Velocity Smoother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速度平滑器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速度平滑器的作用是将上游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运动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控制器发送来的速度进行平滑处理，避免出现控制数值的突变，尽量保护硬件设备的安全运行。速度平滑器通常会运行在一个比较高的频率，数倍于上游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运动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控制器的控制频率。这样它就能够将上游控制发来的速度值，进行离散插值，将一个突变的数值变化过程，分解成一个逐步变化的过程。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236545">
            <a:extLst>
              <a:ext uri="{FF2B5EF4-FFF2-40B4-BE49-F238E27FC236}">
                <a16:creationId xmlns:a16="http://schemas.microsoft.com/office/drawing/2014/main" id="{99CEDC00-A9EC-ECD9-3249-814D28497BB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8.1  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的组成结构</a:t>
            </a:r>
          </a:p>
        </p:txBody>
      </p:sp>
      <p:pic>
        <p:nvPicPr>
          <p:cNvPr id="32771" name="图片 1">
            <a:extLst>
              <a:ext uri="{FF2B5EF4-FFF2-40B4-BE49-F238E27FC236}">
                <a16:creationId xmlns:a16="http://schemas.microsoft.com/office/drawing/2014/main" id="{4A59F1A4-3958-A303-5ABC-5926FC738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463" y="1268413"/>
            <a:ext cx="5341937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2975E92-D944-CF31-FF87-592423A35EBA}"/>
              </a:ext>
            </a:extLst>
          </p:cNvPr>
          <p:cNvSpPr txBox="1"/>
          <p:nvPr/>
        </p:nvSpPr>
        <p:spPr>
          <a:xfrm>
            <a:off x="539750" y="5006975"/>
            <a:ext cx="8135938" cy="11588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</a:rPr>
              <a:t>    8</a:t>
            </a:r>
            <a:r>
              <a:rPr lang="zh-CN" altLang="en-US" sz="1600" b="1">
                <a:latin typeface="Times New Roman" panose="02020603050405020304" pitchFamily="18" charset="0"/>
              </a:rPr>
              <a:t>、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BT Navigator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行为树管理器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：上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图描述的只是</a:t>
            </a:r>
            <a:r>
              <a:rPr lang="en-US" altLang="zh-CN" sz="1600">
                <a:latin typeface="Times New Roman" panose="02020603050405020304" pitchFamily="18" charset="0"/>
              </a:rPr>
              <a:t>NAV2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的默认处理流程，这个流程是通过一种名为</a:t>
            </a:r>
            <a:r>
              <a:rPr lang="en-US" altLang="zh-CN" sz="1600">
                <a:latin typeface="Times New Roman" panose="02020603050405020304" pitchFamily="18" charset="0"/>
              </a:rPr>
              <a:t>Behavior Tree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行为树的形式来组织的。</a:t>
            </a:r>
            <a:r>
              <a:rPr lang="en-US" altLang="zh-CN" sz="1600">
                <a:latin typeface="Times New Roman" panose="02020603050405020304" pitchFamily="18" charset="0"/>
              </a:rPr>
              <a:t>NAV2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的默认行为树已经设计得相当简洁完善。简单调整一些参数数值，就能够满足大部分导航任务的要求，直接使用就行。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236545">
            <a:extLst>
              <a:ext uri="{FF2B5EF4-FFF2-40B4-BE49-F238E27FC236}">
                <a16:creationId xmlns:a16="http://schemas.microsoft.com/office/drawing/2014/main" id="{F5F94986-A790-B6A6-9A28-E2679D7DB67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8.2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进行自主导航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D66B3B-0DDC-6AD8-DA92-027B86C0CF78}"/>
              </a:ext>
            </a:extLst>
          </p:cNvPr>
          <p:cNvSpPr txBox="1"/>
          <p:nvPr/>
        </p:nvSpPr>
        <p:spPr>
          <a:xfrm>
            <a:off x="1281113" y="2132013"/>
            <a:ext cx="6962775" cy="25352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要在</a:t>
            </a:r>
            <a:r>
              <a:rPr lang="en-US" altLang="zh-CN">
                <a:latin typeface="Times New Roman" panose="02020603050405020304" pitchFamily="18" charset="0"/>
              </a:rPr>
              <a:t>ROS2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中使用</a:t>
            </a:r>
            <a:r>
              <a:rPr lang="en-US" altLang="zh-CN">
                <a:latin typeface="Times New Roman" panose="02020603050405020304" pitchFamily="18" charset="0"/>
              </a:rPr>
              <a:t>NAV2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，需要先安装相应的软件包。在终端中执行如下指令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>
                <a:latin typeface="Times New Roman" panose="02020603050405020304" pitchFamily="18" charset="0"/>
              </a:rPr>
              <a:t>sudo apt install ros-humble-navigation2</a:t>
            </a:r>
          </a:p>
          <a:p>
            <a:pPr>
              <a:lnSpc>
                <a:spcPct val="150000"/>
              </a:lnSpc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     ROS2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官方建议安装一个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NAV2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Bringup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软件包，借助这个软件包的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文件来启动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NAV2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。如图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8-9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所示，这个软件包的安装指令是：</a:t>
            </a:r>
            <a:r>
              <a:rPr lang="en-US" altLang="zh-CN">
                <a:latin typeface="Times New Roman" panose="02020603050405020304" pitchFamily="18" charset="0"/>
              </a:rPr>
              <a:t> sudo apt install ros-humble-nav2-bringup</a:t>
            </a:r>
            <a:endParaRPr lang="zh-CN" altLang="zh-CN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/>
          </a:p>
        </p:txBody>
      </p:sp>
      <p:sp>
        <p:nvSpPr>
          <p:cNvPr id="33796" name="文本框 19">
            <a:extLst>
              <a:ext uri="{FF2B5EF4-FFF2-40B4-BE49-F238E27FC236}">
                <a16:creationId xmlns:a16="http://schemas.microsoft.com/office/drawing/2014/main" id="{EF41F2BA-B0D1-6318-B257-8928817C0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4667250"/>
            <a:ext cx="6048375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zh-CN" altLang="zh-CN" sz="1600" b="1">
                <a:solidFill>
                  <a:schemeClr val="tx2"/>
                </a:solidFill>
                <a:ea typeface="楷体_GB2312" pitchFamily="49" charset="-122"/>
              </a:rPr>
              <a:t>使用</a:t>
            </a:r>
            <a:r>
              <a:rPr kumimoji="1" lang="en-US" altLang="zh-CN" sz="1600" b="1">
                <a:solidFill>
                  <a:schemeClr val="tx2"/>
                </a:solidFill>
                <a:ea typeface="楷体_GB2312" pitchFamily="49" charset="-122"/>
              </a:rPr>
              <a:t>NAV2</a:t>
            </a:r>
            <a:r>
              <a:rPr kumimoji="1" lang="zh-CN" altLang="zh-CN" sz="1600" b="1">
                <a:solidFill>
                  <a:schemeClr val="tx2"/>
                </a:solidFill>
                <a:ea typeface="楷体_GB2312" pitchFamily="49" charset="-122"/>
              </a:rPr>
              <a:t>进行自主导航</a:t>
            </a:r>
            <a:r>
              <a:rPr kumimoji="1" lang="zh-CN" altLang="en-US" sz="1600" b="1">
                <a:solidFill>
                  <a:schemeClr val="tx2"/>
                </a:solidFill>
                <a:ea typeface="楷体_GB2312" pitchFamily="49" charset="-122"/>
              </a:rPr>
              <a:t>的</a:t>
            </a:r>
            <a:r>
              <a:rPr kumimoji="1"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详细操作步骤：见教材</a:t>
            </a:r>
            <a:r>
              <a:rPr kumimoji="1" lang="en-US" altLang="zh-CN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P208-P231</a:t>
            </a:r>
            <a:r>
              <a:rPr kumimoji="1"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5014BC-06E6-0EFD-7ADA-AA2B0EC3F95F}"/>
              </a:ext>
            </a:extLst>
          </p:cNvPr>
          <p:cNvSpPr txBox="1"/>
          <p:nvPr/>
        </p:nvSpPr>
        <p:spPr>
          <a:xfrm>
            <a:off x="1116013" y="1239838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8.2.1 NAV2</a:t>
            </a:r>
            <a:r>
              <a:rPr lang="zh-CN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的安装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236545">
            <a:extLst>
              <a:ext uri="{FF2B5EF4-FFF2-40B4-BE49-F238E27FC236}">
                <a16:creationId xmlns:a16="http://schemas.microsoft.com/office/drawing/2014/main" id="{02EE00C9-6EF6-DA3C-A27F-2A28402C307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8.2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进行自主导航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731C34-5EA6-84AB-7BE9-79E1CFC5809E}"/>
              </a:ext>
            </a:extLst>
          </p:cNvPr>
          <p:cNvSpPr txBox="1"/>
          <p:nvPr/>
        </p:nvSpPr>
        <p:spPr>
          <a:xfrm>
            <a:off x="1116013" y="1168400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8.2.2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NAV2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实现自主导航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CB55BB-6EED-9219-70D8-313FDC9AC3BA}"/>
              </a:ext>
            </a:extLst>
          </p:cNvPr>
          <p:cNvSpPr txBox="1"/>
          <p:nvPr/>
        </p:nvSpPr>
        <p:spPr>
          <a:xfrm>
            <a:off x="1116013" y="1774825"/>
            <a:ext cx="4572000" cy="3381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准备地图文件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19A972F-6803-3FEB-FAC2-B2CF6E047C18}"/>
              </a:ext>
            </a:extLst>
          </p:cNvPr>
          <p:cNvSpPr txBox="1"/>
          <p:nvPr/>
        </p:nvSpPr>
        <p:spPr>
          <a:xfrm>
            <a:off x="1335088" y="2566988"/>
            <a:ext cx="7197725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source ~/ros2_ws/install/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setup.bash</a:t>
            </a:r>
            <a:endParaRPr lang="zh-CN" altLang="en-US" sz="1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4CC03B-10D2-307A-3EEB-AC92B3DCA250}"/>
              </a:ext>
            </a:extLst>
          </p:cNvPr>
          <p:cNvSpPr txBox="1"/>
          <p:nvPr/>
        </p:nvSpPr>
        <p:spPr>
          <a:xfrm>
            <a:off x="1335088" y="2947988"/>
            <a:ext cx="7197725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launch wpr_simulation2 slam.launch.py</a:t>
            </a:r>
            <a:endParaRPr lang="zh-CN" altLang="en-US" sz="1600" dirty="0"/>
          </a:p>
        </p:txBody>
      </p:sp>
      <p:sp>
        <p:nvSpPr>
          <p:cNvPr id="34823" name="文本框 16">
            <a:extLst>
              <a:ext uri="{FF2B5EF4-FFF2-40B4-BE49-F238E27FC236}">
                <a16:creationId xmlns:a16="http://schemas.microsoft.com/office/drawing/2014/main" id="{15D33DCD-476A-4FD7-6446-4E9792D43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2228850"/>
            <a:ext cx="457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启动终端</a:t>
            </a:r>
            <a:r>
              <a:rPr lang="en-US" altLang="zh-CN" sz="1600">
                <a:latin typeface="Times New Roman" panose="02020603050405020304" pitchFamily="18" charset="0"/>
              </a:rPr>
              <a:t>Terminator:</a:t>
            </a:r>
            <a:endParaRPr lang="zh-CN" altLang="en-US" sz="1600"/>
          </a:p>
        </p:txBody>
      </p:sp>
      <p:sp>
        <p:nvSpPr>
          <p:cNvPr id="34824" name="文本框 18">
            <a:extLst>
              <a:ext uri="{FF2B5EF4-FFF2-40B4-BE49-F238E27FC236}">
                <a16:creationId xmlns:a16="http://schemas.microsoft.com/office/drawing/2014/main" id="{DB7C6C67-D4CC-3A47-C83D-FADDABAB8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3359150"/>
            <a:ext cx="457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打开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第二个命令行窗口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1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A84F850-534C-4B92-954D-CE7277428BB5}"/>
              </a:ext>
            </a:extLst>
          </p:cNvPr>
          <p:cNvSpPr txBox="1"/>
          <p:nvPr/>
        </p:nvSpPr>
        <p:spPr>
          <a:xfrm>
            <a:off x="1335088" y="3717925"/>
            <a:ext cx="7197725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source ~/ros2_ws/install/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setup.bash</a:t>
            </a:r>
            <a:endParaRPr lang="zh-CN" altLang="en-US" sz="16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18BDAA6-EB5B-3EAD-ECC5-C3FA976DC2FE}"/>
              </a:ext>
            </a:extLst>
          </p:cNvPr>
          <p:cNvSpPr txBox="1"/>
          <p:nvPr/>
        </p:nvSpPr>
        <p:spPr>
          <a:xfrm>
            <a:off x="1335088" y="4100513"/>
            <a:ext cx="7197725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run wpr_simulation2 </a:t>
            </a:r>
            <a:r>
              <a:rPr lang="en-US" altLang="zh-CN" sz="1600" dirty="0" err="1">
                <a:latin typeface="Times New Roman" panose="02020603050405020304" pitchFamily="18" charset="0"/>
              </a:rPr>
              <a:t>keyboard_vel_cmd</a:t>
            </a:r>
            <a:endParaRPr lang="zh-CN" altLang="en-US" sz="16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E14795F-CA1B-A97E-761E-BAAFDDCB6506}"/>
              </a:ext>
            </a:extLst>
          </p:cNvPr>
          <p:cNvSpPr txBox="1"/>
          <p:nvPr/>
        </p:nvSpPr>
        <p:spPr>
          <a:xfrm>
            <a:off x="1042988" y="4702175"/>
            <a:ext cx="7489825" cy="7889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保持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Terminator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终端窗口位于所有窗口的前边，且第二个窗口的标题栏为红色，这样才能让键盘控制节点始终能够接收到键盘按下的信号</a:t>
            </a:r>
            <a:r>
              <a:rPr lang="zh-CN" altLang="zh-CN" sz="160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828" name="文本框 26">
            <a:extLst>
              <a:ext uri="{FF2B5EF4-FFF2-40B4-BE49-F238E27FC236}">
                <a16:creationId xmlns:a16="http://schemas.microsoft.com/office/drawing/2014/main" id="{76301E62-CC6C-A126-FFC8-9A473972B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1413" y="5611813"/>
            <a:ext cx="69818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机器人在场景里巡游一遍之后，可以看到建好的地图了。</a:t>
            </a:r>
            <a:endParaRPr lang="zh-CN" altLang="en-US" sz="160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236545">
            <a:extLst>
              <a:ext uri="{FF2B5EF4-FFF2-40B4-BE49-F238E27FC236}">
                <a16:creationId xmlns:a16="http://schemas.microsoft.com/office/drawing/2014/main" id="{D47109C8-1BAA-46B6-35C9-9DB0247B1C6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8.2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进行自主导航</a:t>
            </a:r>
          </a:p>
        </p:txBody>
      </p:sp>
      <p:pic>
        <p:nvPicPr>
          <p:cNvPr id="35843" name="图片 1">
            <a:extLst>
              <a:ext uri="{FF2B5EF4-FFF2-40B4-BE49-F238E27FC236}">
                <a16:creationId xmlns:a16="http://schemas.microsoft.com/office/drawing/2014/main" id="{B4C649C1-0453-1103-F496-DDE0833D1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1176338"/>
            <a:ext cx="6486525" cy="367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5B59749-851F-6E66-876E-C0AAB3FEB3F6}"/>
              </a:ext>
            </a:extLst>
          </p:cNvPr>
          <p:cNvSpPr txBox="1"/>
          <p:nvPr/>
        </p:nvSpPr>
        <p:spPr>
          <a:xfrm>
            <a:off x="1116013" y="5033963"/>
            <a:ext cx="6480175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run nav2_map_server </a:t>
            </a:r>
            <a:r>
              <a:rPr lang="en-US" altLang="zh-CN" sz="1600" dirty="0" err="1">
                <a:latin typeface="Times New Roman" panose="02020603050405020304" pitchFamily="18" charset="0"/>
              </a:rPr>
              <a:t>map_saver_cli</a:t>
            </a:r>
            <a:r>
              <a:rPr lang="en-US" altLang="zh-CN" sz="1600" dirty="0">
                <a:latin typeface="Times New Roman" panose="02020603050405020304" pitchFamily="18" charset="0"/>
              </a:rPr>
              <a:t> -f map</a:t>
            </a:r>
            <a:endParaRPr lang="zh-CN" altLang="en-US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153F03-C943-63C3-AF1B-2A062C3C3CBD}"/>
              </a:ext>
            </a:extLst>
          </p:cNvPr>
          <p:cNvSpPr txBox="1"/>
          <p:nvPr/>
        </p:nvSpPr>
        <p:spPr>
          <a:xfrm>
            <a:off x="971550" y="5445125"/>
            <a:ext cx="7488238" cy="7889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在终端窗口的当前路径下创建两个地图文件：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map.pgm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map.yaml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。将这两个文件拷贝到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wpr_simulation2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文件夹下，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后面将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从这个文件夹加载地图文件。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236545">
            <a:extLst>
              <a:ext uri="{FF2B5EF4-FFF2-40B4-BE49-F238E27FC236}">
                <a16:creationId xmlns:a16="http://schemas.microsoft.com/office/drawing/2014/main" id="{BF484D96-F55A-6588-ACFB-2E027E09ED9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8.2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进行自主导航</a:t>
            </a:r>
          </a:p>
        </p:txBody>
      </p:sp>
      <p:sp>
        <p:nvSpPr>
          <p:cNvPr id="36867" name="文本框 16">
            <a:extLst>
              <a:ext uri="{FF2B5EF4-FFF2-40B4-BE49-F238E27FC236}">
                <a16:creationId xmlns:a16="http://schemas.microsoft.com/office/drawing/2014/main" id="{DFD4A7B7-756C-BF64-EA7F-53A6AECAF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1484313"/>
            <a:ext cx="4572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启动终端</a:t>
            </a:r>
            <a:r>
              <a:rPr lang="en-US" altLang="zh-CN" sz="1600">
                <a:latin typeface="Times New Roman" panose="02020603050405020304" pitchFamily="18" charset="0"/>
              </a:rPr>
              <a:t>Terminator:</a:t>
            </a:r>
            <a:endParaRPr lang="zh-CN" altLang="en-US" sz="16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78A5F2-536B-1D3A-3A97-87FD0D29C01C}"/>
              </a:ext>
            </a:extLst>
          </p:cNvPr>
          <p:cNvSpPr txBox="1"/>
          <p:nvPr/>
        </p:nvSpPr>
        <p:spPr>
          <a:xfrm>
            <a:off x="1187450" y="1100138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编写导航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文件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526492-C142-4900-860F-36DC036B9928}"/>
              </a:ext>
            </a:extLst>
          </p:cNvPr>
          <p:cNvSpPr txBox="1"/>
          <p:nvPr/>
        </p:nvSpPr>
        <p:spPr>
          <a:xfrm>
            <a:off x="1363663" y="1858963"/>
            <a:ext cx="7169150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cd ~/ros2_ws/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src</a:t>
            </a:r>
            <a:endParaRPr lang="zh-CN" altLang="en-US" sz="1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8C685B4-E634-B773-8E19-15C3E1E1E833}"/>
              </a:ext>
            </a:extLst>
          </p:cNvPr>
          <p:cNvSpPr txBox="1"/>
          <p:nvPr/>
        </p:nvSpPr>
        <p:spPr>
          <a:xfrm>
            <a:off x="1363663" y="2225675"/>
            <a:ext cx="7169150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pkg create </a:t>
            </a:r>
            <a:r>
              <a:rPr lang="en-US" altLang="zh-CN" sz="1600" dirty="0" err="1">
                <a:latin typeface="Times New Roman" panose="02020603050405020304" pitchFamily="18" charset="0"/>
              </a:rPr>
              <a:t>nav_pkg</a:t>
            </a:r>
            <a:endParaRPr lang="zh-CN" altLang="en-US" sz="1600" dirty="0"/>
          </a:p>
        </p:txBody>
      </p:sp>
      <p:sp>
        <p:nvSpPr>
          <p:cNvPr id="36871" name="文本框 10">
            <a:extLst>
              <a:ext uri="{FF2B5EF4-FFF2-40B4-BE49-F238E27FC236}">
                <a16:creationId xmlns:a16="http://schemas.microsoft.com/office/drawing/2014/main" id="{72591AC7-5447-32EC-BF54-536BE90D9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2716213"/>
            <a:ext cx="716915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在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软件包中创建一个</a:t>
            </a:r>
            <a:r>
              <a:rPr lang="en-US" altLang="zh-CN" sz="1600">
                <a:latin typeface="Times New Roman" panose="02020603050405020304" pitchFamily="18" charset="0"/>
              </a:rPr>
              <a:t>Launch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文件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，命名为</a:t>
            </a:r>
            <a:r>
              <a:rPr lang="en-US" altLang="zh-CN" sz="1600">
                <a:latin typeface="Times New Roman" panose="02020603050405020304" pitchFamily="18" charset="0"/>
              </a:rPr>
              <a:t>“launch”</a:t>
            </a:r>
            <a:r>
              <a:rPr lang="zh-CN" altLang="en-US" sz="1600">
                <a:latin typeface="Times New Roman" panose="02020603050405020304" pitchFamily="18" charset="0"/>
              </a:rPr>
              <a:t>。在</a:t>
            </a:r>
            <a:r>
              <a:rPr lang="en-US" altLang="zh-CN" sz="1600">
                <a:latin typeface="Times New Roman" panose="02020603050405020304" pitchFamily="18" charset="0"/>
              </a:rPr>
              <a:t>[launch]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文件夹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新建文件，命名为</a:t>
            </a:r>
            <a:r>
              <a:rPr lang="en-US" altLang="zh-CN" sz="1600">
                <a:latin typeface="Times New Roman" panose="02020603050405020304" pitchFamily="18" charset="0"/>
              </a:rPr>
              <a:t>“nav.launch.py”</a:t>
            </a:r>
            <a:r>
              <a:rPr lang="zh-CN" altLang="en-US" sz="1600">
                <a:latin typeface="Times New Roman" panose="02020603050405020304" pitchFamily="18" charset="0"/>
              </a:rPr>
              <a:t>。</a:t>
            </a:r>
            <a:endParaRPr lang="zh-CN" altLang="en-US" sz="1600"/>
          </a:p>
        </p:txBody>
      </p:sp>
      <p:pic>
        <p:nvPicPr>
          <p:cNvPr id="36872" name="图片 11">
            <a:extLst>
              <a:ext uri="{FF2B5EF4-FFF2-40B4-BE49-F238E27FC236}">
                <a16:creationId xmlns:a16="http://schemas.microsoft.com/office/drawing/2014/main" id="{9CD617E9-2F95-1189-AAE7-A254B9147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3608388"/>
            <a:ext cx="5268912" cy="244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236545">
            <a:extLst>
              <a:ext uri="{FF2B5EF4-FFF2-40B4-BE49-F238E27FC236}">
                <a16:creationId xmlns:a16="http://schemas.microsoft.com/office/drawing/2014/main" id="{097008BF-0D99-C197-3181-DD1D5EAE959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8.2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进行自主导航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51E888-E7AA-65BB-CE6E-C58304BC8A84}"/>
              </a:ext>
            </a:extLst>
          </p:cNvPr>
          <p:cNvSpPr txBox="1"/>
          <p:nvPr/>
        </p:nvSpPr>
        <p:spPr>
          <a:xfrm>
            <a:off x="1116013" y="1008063"/>
            <a:ext cx="7488237" cy="52625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launch import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LaunchDescription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launch_ros.actions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Node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ament_index_python.packages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get_package_share_directory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launch.actions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IncludeLaunchDescription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launch.launch_description_sources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PythonLaunchDescriptionSource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generate_launch_description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map_file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get_package_share_directory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('wpr_simulation2'),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'maps',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'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map.yaml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nav_param_file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get_package_share_directory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('wpr_simulation2'),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'config',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'nav2_params.yaml'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nav2_launch_dir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get_package_share_directory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('nav2_bringup'),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'launch'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        </a:t>
            </a:r>
            <a:endParaRPr lang="zh-CN" altLang="en-US" sz="1600" dirty="0"/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236545">
            <a:extLst>
              <a:ext uri="{FF2B5EF4-FFF2-40B4-BE49-F238E27FC236}">
                <a16:creationId xmlns:a16="http://schemas.microsoft.com/office/drawing/2014/main" id="{E1AA6148-FB7A-64FA-1D05-1AB532BC3EE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8.2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进行自主导航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F633BE-CDF9-E322-C301-9D859A1F154F}"/>
              </a:ext>
            </a:extLst>
          </p:cNvPr>
          <p:cNvSpPr txBox="1"/>
          <p:nvPr/>
        </p:nvSpPr>
        <p:spPr>
          <a:xfrm>
            <a:off x="755650" y="1147763"/>
            <a:ext cx="7920038" cy="50180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navigation_cmd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IncludeLaunchDescription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PythonLaunchDescriptionSource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([nav2_launch_dir, '/bringup_launch.py']),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launch_arguments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'map':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map_file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use_sim_time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'True',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params_file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nav_param_file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}.items(),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rviz_file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get_package_share_directory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('wpr_simulation2'), '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rviz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navi.rviz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rviz_cmd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Node(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package='rviz2',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executable='rviz2',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name='rviz2',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arguments=['-d',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rviz_file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LaunchDescription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ld.add_action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navigation_cmd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ld.add_action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rviz_cmd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    return </a:t>
            </a:r>
            <a:r>
              <a:rPr lang="en-US" altLang="zh-CN" sz="1600" dirty="0" err="1">
                <a:latin typeface="Times New Roman" panose="02020603050405020304" pitchFamily="18" charset="0"/>
              </a:rPr>
              <a:t>ld</a:t>
            </a:r>
            <a:endParaRPr lang="zh-CN" altLang="en-US" sz="1600" dirty="0"/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236545">
            <a:extLst>
              <a:ext uri="{FF2B5EF4-FFF2-40B4-BE49-F238E27FC236}">
                <a16:creationId xmlns:a16="http://schemas.microsoft.com/office/drawing/2014/main" id="{D9F29BDE-53D9-18B1-C8AA-30F7DEB8967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8.2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进行自主导航</a:t>
            </a:r>
          </a:p>
        </p:txBody>
      </p:sp>
      <p:sp>
        <p:nvSpPr>
          <p:cNvPr id="39939" name="文本框 16">
            <a:extLst>
              <a:ext uri="{FF2B5EF4-FFF2-40B4-BE49-F238E27FC236}">
                <a16:creationId xmlns:a16="http://schemas.microsoft.com/office/drawing/2014/main" id="{DF40765F-4F48-82F1-B00F-9BA561E0F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063" y="1895475"/>
            <a:ext cx="6910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600">
                <a:latin typeface="Times New Roman" panose="02020603050405020304" pitchFamily="18" charset="0"/>
              </a:rPr>
              <a:t>nav_pkg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600">
                <a:latin typeface="Times New Roman" panose="02020603050405020304" pitchFamily="18" charset="0"/>
              </a:rPr>
              <a:t>CMakeLists.txt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文件里，添加如下安装规则：</a:t>
            </a:r>
            <a:endParaRPr lang="zh-CN" altLang="en-US" sz="16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149AB5-F715-97A4-6C05-18FE982BA483}"/>
              </a:ext>
            </a:extLst>
          </p:cNvPr>
          <p:cNvSpPr txBox="1"/>
          <p:nvPr/>
        </p:nvSpPr>
        <p:spPr>
          <a:xfrm>
            <a:off x="1276350" y="1557338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设置安装规则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B49014-C2DE-4D41-C9F4-C83DFF23795F}"/>
              </a:ext>
            </a:extLst>
          </p:cNvPr>
          <p:cNvSpPr txBox="1"/>
          <p:nvPr/>
        </p:nvSpPr>
        <p:spPr>
          <a:xfrm>
            <a:off x="1303338" y="2324100"/>
            <a:ext cx="7229475" cy="13223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133350"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share/${PROJECT_NAME})</a:t>
            </a:r>
            <a:endParaRPr lang="zh-CN" altLang="en-US" sz="1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FBF57A-9AA5-9CE8-9605-A10E24715BD3}"/>
              </a:ext>
            </a:extLst>
          </p:cNvPr>
          <p:cNvSpPr txBox="1"/>
          <p:nvPr/>
        </p:nvSpPr>
        <p:spPr>
          <a:xfrm>
            <a:off x="1301750" y="4076700"/>
            <a:ext cx="4572000" cy="3381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编译软件包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99E163-CA96-BE79-E8EE-39735016E0B7}"/>
              </a:ext>
            </a:extLst>
          </p:cNvPr>
          <p:cNvSpPr txBox="1"/>
          <p:nvPr/>
        </p:nvSpPr>
        <p:spPr>
          <a:xfrm>
            <a:off x="1306513" y="4527550"/>
            <a:ext cx="72263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cd ~/ros2_ws</a:t>
            </a:r>
            <a:endParaRPr lang="zh-CN" altLang="en-US" sz="16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73B01DA-40B5-A144-C6F3-6E95DD085C14}"/>
              </a:ext>
            </a:extLst>
          </p:cNvPr>
          <p:cNvSpPr txBox="1"/>
          <p:nvPr/>
        </p:nvSpPr>
        <p:spPr>
          <a:xfrm>
            <a:off x="1306513" y="4889500"/>
            <a:ext cx="7226300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 err="1">
                <a:latin typeface="Times New Roman" panose="02020603050405020304" pitchFamily="18" charset="0"/>
              </a:rPr>
              <a:t>colcon</a:t>
            </a:r>
            <a:r>
              <a:rPr lang="en-US" altLang="zh-CN" sz="1600" dirty="0">
                <a:latin typeface="Times New Roman" panose="02020603050405020304" pitchFamily="18" charset="0"/>
              </a:rPr>
              <a:t> build</a:t>
            </a:r>
            <a:endParaRPr lang="zh-CN" altLang="en-US" sz="1600" dirty="0"/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236545">
            <a:extLst>
              <a:ext uri="{FF2B5EF4-FFF2-40B4-BE49-F238E27FC236}">
                <a16:creationId xmlns:a16="http://schemas.microsoft.com/office/drawing/2014/main" id="{C486F465-4E7E-A6E7-759C-0BEE741384E4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8.2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进行自主导航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94F330-5465-BEFA-F4CA-2CF4C5DD0064}"/>
              </a:ext>
            </a:extLst>
          </p:cNvPr>
          <p:cNvSpPr txBox="1"/>
          <p:nvPr/>
        </p:nvSpPr>
        <p:spPr>
          <a:xfrm>
            <a:off x="1116013" y="1096963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8.2.3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仿真环境运行自主导航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CE6F35-C834-1958-CE0C-6FD1CC3A2406}"/>
              </a:ext>
            </a:extLst>
          </p:cNvPr>
          <p:cNvSpPr txBox="1"/>
          <p:nvPr/>
        </p:nvSpPr>
        <p:spPr>
          <a:xfrm>
            <a:off x="1306513" y="1547813"/>
            <a:ext cx="7297737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setup.bash</a:t>
            </a:r>
            <a:endParaRPr lang="zh-CN" altLang="en-US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48EEAE-7CA8-7118-C2F6-8CFF9AFD1272}"/>
              </a:ext>
            </a:extLst>
          </p:cNvPr>
          <p:cNvSpPr txBox="1"/>
          <p:nvPr/>
        </p:nvSpPr>
        <p:spPr>
          <a:xfrm>
            <a:off x="1306513" y="1963738"/>
            <a:ext cx="7297737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launch wpr_simulation2 robocup_home.launch.py</a:t>
            </a:r>
            <a:endParaRPr lang="zh-CN" altLang="en-US" sz="1600" dirty="0"/>
          </a:p>
        </p:txBody>
      </p:sp>
      <p:pic>
        <p:nvPicPr>
          <p:cNvPr id="40966" name="图片 7">
            <a:extLst>
              <a:ext uri="{FF2B5EF4-FFF2-40B4-BE49-F238E27FC236}">
                <a16:creationId xmlns:a16="http://schemas.microsoft.com/office/drawing/2014/main" id="{F1599FC1-58BE-6592-04FD-19A96A069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2446338"/>
            <a:ext cx="6297613" cy="357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236545">
            <a:extLst>
              <a:ext uri="{FF2B5EF4-FFF2-40B4-BE49-F238E27FC236}">
                <a16:creationId xmlns:a16="http://schemas.microsoft.com/office/drawing/2014/main" id="{74DF5BE5-33AA-C27F-D2A1-7395747FC91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8.2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进行自主导航</a:t>
            </a:r>
          </a:p>
        </p:txBody>
      </p:sp>
      <p:sp>
        <p:nvSpPr>
          <p:cNvPr id="41987" name="文本框 1">
            <a:extLst>
              <a:ext uri="{FF2B5EF4-FFF2-40B4-BE49-F238E27FC236}">
                <a16:creationId xmlns:a16="http://schemas.microsoft.com/office/drawing/2014/main" id="{DE65B175-244A-79F9-E0F3-979D01A2E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290638"/>
            <a:ext cx="4572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打开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第二个命令行窗口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16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A47A06-3B16-8866-ED9D-00ED98744FC2}"/>
              </a:ext>
            </a:extLst>
          </p:cNvPr>
          <p:cNvSpPr txBox="1"/>
          <p:nvPr/>
        </p:nvSpPr>
        <p:spPr>
          <a:xfrm>
            <a:off x="1306513" y="1712913"/>
            <a:ext cx="7297737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setup.bash</a:t>
            </a:r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43A854-2037-E50D-B9BE-CBBC5147283A}"/>
              </a:ext>
            </a:extLst>
          </p:cNvPr>
          <p:cNvSpPr txBox="1"/>
          <p:nvPr/>
        </p:nvSpPr>
        <p:spPr>
          <a:xfrm>
            <a:off x="1306513" y="2082800"/>
            <a:ext cx="7297737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launch </a:t>
            </a:r>
            <a:r>
              <a:rPr lang="en-US" altLang="zh-CN" sz="1600" dirty="0" err="1">
                <a:latin typeface="Times New Roman" panose="02020603050405020304" pitchFamily="18" charset="0"/>
              </a:rPr>
              <a:t>nav_pkg</a:t>
            </a:r>
            <a:r>
              <a:rPr lang="en-US" altLang="zh-CN" sz="1600" dirty="0">
                <a:latin typeface="Times New Roman" panose="02020603050405020304" pitchFamily="18" charset="0"/>
              </a:rPr>
              <a:t> nav.launch.py</a:t>
            </a:r>
            <a:endParaRPr lang="zh-CN" altLang="en-US" sz="1600" dirty="0"/>
          </a:p>
        </p:txBody>
      </p:sp>
      <p:pic>
        <p:nvPicPr>
          <p:cNvPr id="41990" name="图片 9">
            <a:extLst>
              <a:ext uri="{FF2B5EF4-FFF2-40B4-BE49-F238E27FC236}">
                <a16:creationId xmlns:a16="http://schemas.microsoft.com/office/drawing/2014/main" id="{AB597D14-F6AA-E6A9-83A2-301BC7811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938463"/>
            <a:ext cx="3240087" cy="293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1" name="图片 10">
            <a:extLst>
              <a:ext uri="{FF2B5EF4-FFF2-40B4-BE49-F238E27FC236}">
                <a16:creationId xmlns:a16="http://schemas.microsoft.com/office/drawing/2014/main" id="{010E68C5-F8A4-1344-E1B3-DA81E6D10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775" y="2938463"/>
            <a:ext cx="4181475" cy="293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236545">
            <a:extLst>
              <a:ext uri="{FF2B5EF4-FFF2-40B4-BE49-F238E27FC236}">
                <a16:creationId xmlns:a16="http://schemas.microsoft.com/office/drawing/2014/main" id="{84121EA5-A99D-3C87-22C6-4956D09DB75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8.2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进行自主导航</a:t>
            </a:r>
          </a:p>
        </p:txBody>
      </p:sp>
      <p:pic>
        <p:nvPicPr>
          <p:cNvPr id="43011" name="图片 10">
            <a:extLst>
              <a:ext uri="{FF2B5EF4-FFF2-40B4-BE49-F238E27FC236}">
                <a16:creationId xmlns:a16="http://schemas.microsoft.com/office/drawing/2014/main" id="{078343D3-DCE0-7FC6-C07E-51DD6E4A3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328863"/>
            <a:ext cx="3744913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图片 2">
            <a:extLst>
              <a:ext uri="{FF2B5EF4-FFF2-40B4-BE49-F238E27FC236}">
                <a16:creationId xmlns:a16="http://schemas.microsoft.com/office/drawing/2014/main" id="{BEF0BB8F-C081-7283-DCFD-FE1B67DB3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2328863"/>
            <a:ext cx="3744912" cy="263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255AAAE-2ACE-DBFF-C577-5DC7984C9DA1}"/>
              </a:ext>
            </a:extLst>
          </p:cNvPr>
          <p:cNvSpPr txBox="1"/>
          <p:nvPr/>
        </p:nvSpPr>
        <p:spPr>
          <a:xfrm>
            <a:off x="1004888" y="5229225"/>
            <a:ext cx="7127875" cy="4191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设置机器人初始位置需要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RViz2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的工具栏里的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[2D Pos Estimate]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按钮。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236545">
            <a:extLst>
              <a:ext uri="{FF2B5EF4-FFF2-40B4-BE49-F238E27FC236}">
                <a16:creationId xmlns:a16="http://schemas.microsoft.com/office/drawing/2014/main" id="{E0AE0B96-12B0-7EA4-B9B5-B6A2BDA2621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8.2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进行自主导航</a:t>
            </a:r>
          </a:p>
        </p:txBody>
      </p:sp>
      <p:pic>
        <p:nvPicPr>
          <p:cNvPr id="44035" name="图片 1">
            <a:extLst>
              <a:ext uri="{FF2B5EF4-FFF2-40B4-BE49-F238E27FC236}">
                <a16:creationId xmlns:a16="http://schemas.microsoft.com/office/drawing/2014/main" id="{EF374A93-BDE4-5BCA-403C-0DEBD752F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8" y="1606550"/>
            <a:ext cx="3567112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6" name="图片 3">
            <a:extLst>
              <a:ext uri="{FF2B5EF4-FFF2-40B4-BE49-F238E27FC236}">
                <a16:creationId xmlns:a16="http://schemas.microsoft.com/office/drawing/2014/main" id="{D5402129-85F3-5B8B-89C2-B6EAC6DA1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1606550"/>
            <a:ext cx="3568700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96A316D-8F50-1E6E-1284-0CC9984B1018}"/>
              </a:ext>
            </a:extLst>
          </p:cNvPr>
          <p:cNvSpPr txBox="1"/>
          <p:nvPr/>
        </p:nvSpPr>
        <p:spPr>
          <a:xfrm>
            <a:off x="900113" y="4414838"/>
            <a:ext cx="7527925" cy="12461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设置好机器人的初始位置后，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Rviz2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界面上方工具条里的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[Nav2 Goal]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按钮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为机器人指定导航的目标地点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和朝向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全局规划器会自动规划出一条紫色的路径。这条路径从机器人当前点出发，避开障碍物，一直到导航目标点结束。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236545">
            <a:extLst>
              <a:ext uri="{FF2B5EF4-FFF2-40B4-BE49-F238E27FC236}">
                <a16:creationId xmlns:a16="http://schemas.microsoft.com/office/drawing/2014/main" id="{064281A9-4CC0-F59C-2EB4-0138155729E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8.2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NAV2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进行自主导航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65E933-5E08-81C9-EF21-36E570824D3B}"/>
              </a:ext>
            </a:extLst>
          </p:cNvPr>
          <p:cNvSpPr txBox="1"/>
          <p:nvPr/>
        </p:nvSpPr>
        <p:spPr>
          <a:xfrm>
            <a:off x="1041400" y="4724400"/>
            <a:ext cx="7527925" cy="125095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路径规划完成后，机器人模型会开始沿着这条路径移动。切换到仿真窗口，可以看到机器人也开始沿着这条路径移动。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机器人到终点后，会原地旋转，调整航向角，如图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8-44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所示，最终朝向刚才设置目标点时绿色箭头的方向。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5060" name="图片 2">
            <a:extLst>
              <a:ext uri="{FF2B5EF4-FFF2-40B4-BE49-F238E27FC236}">
                <a16:creationId xmlns:a16="http://schemas.microsoft.com/office/drawing/2014/main" id="{18089FAE-C213-39FD-8F29-7FC27C04E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733550"/>
            <a:ext cx="3567112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1" name="图片 4">
            <a:extLst>
              <a:ext uri="{FF2B5EF4-FFF2-40B4-BE49-F238E27FC236}">
                <a16:creationId xmlns:a16="http://schemas.microsoft.com/office/drawing/2014/main" id="{439662A4-F106-5048-7773-109864558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1733550"/>
            <a:ext cx="3781425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236545">
            <a:extLst>
              <a:ext uri="{FF2B5EF4-FFF2-40B4-BE49-F238E27FC236}">
                <a16:creationId xmlns:a16="http://schemas.microsoft.com/office/drawing/2014/main" id="{38095044-D400-ECDE-7AE5-252D957B747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A0947E-0678-CB7E-4744-429EECBB058D}"/>
              </a:ext>
            </a:extLst>
          </p:cNvPr>
          <p:cNvSpPr txBox="1"/>
          <p:nvPr/>
        </p:nvSpPr>
        <p:spPr>
          <a:xfrm>
            <a:off x="1116013" y="1244600"/>
            <a:ext cx="7310437" cy="12858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本节介绍一款开源的地图导航可视化插件，可以在地图上设置多个目标航点。然后通过简单的消息发送，就能驱使机器人导航前往指定的航点。极大提升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中调用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NAV2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导航服务的开发体验。</a:t>
            </a:r>
            <a:endParaRPr lang="zh-CN" altLang="en-US"/>
          </a:p>
        </p:txBody>
      </p:sp>
      <p:sp>
        <p:nvSpPr>
          <p:cNvPr id="46084" name="文本框 19">
            <a:extLst>
              <a:ext uri="{FF2B5EF4-FFF2-40B4-BE49-F238E27FC236}">
                <a16:creationId xmlns:a16="http://schemas.microsoft.com/office/drawing/2014/main" id="{3C3E911F-925F-F3AF-9DF8-26B4BF4F5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5521325"/>
            <a:ext cx="6048375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详细操作步骤见教材</a:t>
            </a:r>
            <a:r>
              <a:rPr kumimoji="1" lang="en-US" altLang="zh-CN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P232-P257</a:t>
            </a:r>
            <a:r>
              <a:rPr kumimoji="1"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页</a:t>
            </a:r>
          </a:p>
        </p:txBody>
      </p:sp>
      <p:pic>
        <p:nvPicPr>
          <p:cNvPr id="46085" name="图片 1">
            <a:extLst>
              <a:ext uri="{FF2B5EF4-FFF2-40B4-BE49-F238E27FC236}">
                <a16:creationId xmlns:a16="http://schemas.microsoft.com/office/drawing/2014/main" id="{29B9924E-FDB3-77B6-5903-A61F48FE2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925" y="2663825"/>
            <a:ext cx="5264150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236545">
            <a:extLst>
              <a:ext uri="{FF2B5EF4-FFF2-40B4-BE49-F238E27FC236}">
                <a16:creationId xmlns:a16="http://schemas.microsoft.com/office/drawing/2014/main" id="{3BE9FEF2-1447-7665-D9BC-487F43EB92B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B4D8D2-CFBB-544F-43FC-D7870568067B}"/>
              </a:ext>
            </a:extLst>
          </p:cNvPr>
          <p:cNvSpPr txBox="1"/>
          <p:nvPr/>
        </p:nvSpPr>
        <p:spPr>
          <a:xfrm>
            <a:off x="1116013" y="1125538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8.3.1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安装导航插件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7108" name="文本框 5">
            <a:extLst>
              <a:ext uri="{FF2B5EF4-FFF2-40B4-BE49-F238E27FC236}">
                <a16:creationId xmlns:a16="http://schemas.microsoft.com/office/drawing/2014/main" id="{81F7EE10-BDB1-4A20-A975-AFEA645A3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603375"/>
            <a:ext cx="7593012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在使用前，需要下载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插件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源码并编译安装。</a:t>
            </a:r>
            <a:endParaRPr lang="zh-CN" altLang="en-US" sz="16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4A7606-253F-6050-362E-DD53DA5ECE2D}"/>
              </a:ext>
            </a:extLst>
          </p:cNvPr>
          <p:cNvSpPr txBox="1"/>
          <p:nvPr/>
        </p:nvSpPr>
        <p:spPr>
          <a:xfrm>
            <a:off x="1292225" y="2079625"/>
            <a:ext cx="67691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cd ~/ros2_ws/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src</a:t>
            </a:r>
            <a:endParaRPr lang="zh-CN" altLang="en-US" sz="1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E48CF0-DBF4-E4EB-8DCF-9F023AD24611}"/>
              </a:ext>
            </a:extLst>
          </p:cNvPr>
          <p:cNvSpPr txBox="1"/>
          <p:nvPr/>
        </p:nvSpPr>
        <p:spPr>
          <a:xfrm>
            <a:off x="1306513" y="2511425"/>
            <a:ext cx="67691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git clone https://github.com/6-robot/wp_map_tools.git</a:t>
            </a:r>
            <a:endParaRPr lang="zh-CN" altLang="en-US" sz="1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62EC60-1EE5-1AB5-7EA4-BBD2AD7BC54D}"/>
              </a:ext>
            </a:extLst>
          </p:cNvPr>
          <p:cNvSpPr txBox="1"/>
          <p:nvPr/>
        </p:nvSpPr>
        <p:spPr>
          <a:xfrm>
            <a:off x="1298575" y="2927350"/>
            <a:ext cx="6784975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git clone https://gitee.com/s-robot/wp_map_tools.git</a:t>
            </a:r>
            <a:endParaRPr lang="zh-CN" altLang="en-US" sz="16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B5D77A-1F73-B1CB-BFD7-B043855833DD}"/>
              </a:ext>
            </a:extLst>
          </p:cNvPr>
          <p:cNvSpPr txBox="1"/>
          <p:nvPr/>
        </p:nvSpPr>
        <p:spPr>
          <a:xfrm>
            <a:off x="1287463" y="3357563"/>
            <a:ext cx="6796087" cy="65405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源码下载完毕后，进入到这个插件源码目录的</a:t>
            </a:r>
            <a:r>
              <a:rPr lang="en-US" altLang="zh-CN" sz="1600">
                <a:latin typeface="Times New Roman" panose="02020603050405020304" pitchFamily="18" charset="0"/>
              </a:rPr>
              <a:t>scripts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文件夹中，安装编译这个项目需要的依赖项：</a:t>
            </a:r>
            <a:endParaRPr lang="zh-CN" altLang="en-US" sz="16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588594B-3B4C-7C92-1521-8942036C4B1A}"/>
              </a:ext>
            </a:extLst>
          </p:cNvPr>
          <p:cNvSpPr txBox="1"/>
          <p:nvPr/>
        </p:nvSpPr>
        <p:spPr>
          <a:xfrm>
            <a:off x="1298575" y="4100513"/>
            <a:ext cx="6762750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cd ~/ros2_ws/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src</a:t>
            </a:r>
            <a:r>
              <a:rPr lang="en-US" altLang="zh-CN" sz="1600" dirty="0">
                <a:latin typeface="Times New Roman" panose="02020603050405020304" pitchFamily="18" charset="0"/>
              </a:rPr>
              <a:t>/</a:t>
            </a:r>
            <a:r>
              <a:rPr lang="en-US" altLang="zh-CN" sz="1600" dirty="0" err="1">
                <a:latin typeface="Times New Roman" panose="02020603050405020304" pitchFamily="18" charset="0"/>
              </a:rPr>
              <a:t>wp_map_tools</a:t>
            </a:r>
            <a:r>
              <a:rPr lang="en-US" altLang="zh-CN" sz="1600" dirty="0">
                <a:latin typeface="Times New Roman" panose="02020603050405020304" pitchFamily="18" charset="0"/>
              </a:rPr>
              <a:t>/scripts/</a:t>
            </a:r>
            <a:endParaRPr lang="zh-CN" altLang="en-US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5D5D843-BE7C-95FE-C2F7-92A301767246}"/>
              </a:ext>
            </a:extLst>
          </p:cNvPr>
          <p:cNvSpPr txBox="1"/>
          <p:nvPr/>
        </p:nvSpPr>
        <p:spPr>
          <a:xfrm>
            <a:off x="1306513" y="4530725"/>
            <a:ext cx="6754812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./install_for_humble.sh</a:t>
            </a:r>
            <a:endParaRPr lang="zh-CN" altLang="en-US" sz="1600" dirty="0"/>
          </a:p>
        </p:txBody>
      </p:sp>
      <p:sp>
        <p:nvSpPr>
          <p:cNvPr id="47115" name="文本框 19">
            <a:extLst>
              <a:ext uri="{FF2B5EF4-FFF2-40B4-BE49-F238E27FC236}">
                <a16:creationId xmlns:a16="http://schemas.microsoft.com/office/drawing/2014/main" id="{38621180-BE6B-453D-416F-97A2B5016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5078413"/>
            <a:ext cx="4572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编译刚才下载的插件源码包：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CF00FA-B811-4193-4EB2-005CDD61E2CB}"/>
              </a:ext>
            </a:extLst>
          </p:cNvPr>
          <p:cNvSpPr txBox="1"/>
          <p:nvPr/>
        </p:nvSpPr>
        <p:spPr>
          <a:xfrm>
            <a:off x="1298575" y="5418138"/>
            <a:ext cx="6762750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cd ~/ros2_ws/</a:t>
            </a:r>
            <a:endParaRPr lang="zh-CN" altLang="en-US" sz="16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CED6420-1F6F-C0B2-6494-C16B819D7DD0}"/>
              </a:ext>
            </a:extLst>
          </p:cNvPr>
          <p:cNvSpPr txBox="1"/>
          <p:nvPr/>
        </p:nvSpPr>
        <p:spPr>
          <a:xfrm>
            <a:off x="1285875" y="5818188"/>
            <a:ext cx="6770688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 err="1">
                <a:latin typeface="Times New Roman" panose="02020603050405020304" pitchFamily="18" charset="0"/>
              </a:rPr>
              <a:t>colcon</a:t>
            </a:r>
            <a:r>
              <a:rPr lang="en-US" altLang="zh-CN" sz="1600" dirty="0">
                <a:latin typeface="Times New Roman" panose="02020603050405020304" pitchFamily="18" charset="0"/>
              </a:rPr>
              <a:t> build</a:t>
            </a:r>
            <a:endParaRPr lang="zh-CN" altLang="en-US" sz="1600" dirty="0"/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236545">
            <a:extLst>
              <a:ext uri="{FF2B5EF4-FFF2-40B4-BE49-F238E27FC236}">
                <a16:creationId xmlns:a16="http://schemas.microsoft.com/office/drawing/2014/main" id="{F8B13351-DFE0-D6E9-1678-8616FF1B939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231527-D5AC-625E-3A7F-C22CCBEFC9FB}"/>
              </a:ext>
            </a:extLst>
          </p:cNvPr>
          <p:cNvSpPr txBox="1"/>
          <p:nvPr/>
        </p:nvSpPr>
        <p:spPr>
          <a:xfrm>
            <a:off x="1042988" y="1603375"/>
            <a:ext cx="7593012" cy="78422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在使用前，首先需要按照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8.2.2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的步骤建好环境地图，并把地图文件拷贝到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wpr_simulation2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文件夹里。</a:t>
            </a:r>
            <a:endParaRPr lang="zh-CN" altLang="en-US" sz="16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9899AC-785D-8DCD-0AE0-AF7F1C120AAD}"/>
              </a:ext>
            </a:extLst>
          </p:cNvPr>
          <p:cNvSpPr txBox="1"/>
          <p:nvPr/>
        </p:nvSpPr>
        <p:spPr>
          <a:xfrm>
            <a:off x="1042988" y="1066800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8.3.2 </a:t>
            </a:r>
            <a:r>
              <a:rPr lang="zh-CN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添加航点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8133" name="图片 4">
            <a:extLst>
              <a:ext uri="{FF2B5EF4-FFF2-40B4-BE49-F238E27FC236}">
                <a16:creationId xmlns:a16="http://schemas.microsoft.com/office/drawing/2014/main" id="{D38CFC78-EB67-843C-AE22-B87182C3C4F8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479675"/>
            <a:ext cx="6562725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236545">
            <a:extLst>
              <a:ext uri="{FF2B5EF4-FFF2-40B4-BE49-F238E27FC236}">
                <a16:creationId xmlns:a16="http://schemas.microsoft.com/office/drawing/2014/main" id="{137816AE-E86F-337B-C6F6-4C5975E4045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FA824F-90A1-124D-1568-33761F7743D9}"/>
              </a:ext>
            </a:extLst>
          </p:cNvPr>
          <p:cNvSpPr txBox="1"/>
          <p:nvPr/>
        </p:nvSpPr>
        <p:spPr>
          <a:xfrm>
            <a:off x="1476375" y="1563688"/>
            <a:ext cx="6769100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cd ~/ros2_ws/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src</a:t>
            </a:r>
            <a:endParaRPr lang="zh-CN" altLang="en-US"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C9230F-9741-435A-917D-47FA51829AB0}"/>
              </a:ext>
            </a:extLst>
          </p:cNvPr>
          <p:cNvSpPr txBox="1"/>
          <p:nvPr/>
        </p:nvSpPr>
        <p:spPr>
          <a:xfrm>
            <a:off x="1476375" y="1938338"/>
            <a:ext cx="6769100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setup.bash</a:t>
            </a:r>
            <a:endParaRPr lang="zh-CN" altLang="en-US" sz="1600" dirty="0"/>
          </a:p>
        </p:txBody>
      </p:sp>
      <p:sp>
        <p:nvSpPr>
          <p:cNvPr id="49157" name="文本框 8">
            <a:extLst>
              <a:ext uri="{FF2B5EF4-FFF2-40B4-BE49-F238E27FC236}">
                <a16:creationId xmlns:a16="http://schemas.microsoft.com/office/drawing/2014/main" id="{D4EEB551-4014-1388-A64E-E94E54712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1146175"/>
            <a:ext cx="457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打开一个终端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16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9499359-F6EC-5E67-019C-3C0968BB904E}"/>
              </a:ext>
            </a:extLst>
          </p:cNvPr>
          <p:cNvSpPr txBox="1"/>
          <p:nvPr/>
        </p:nvSpPr>
        <p:spPr>
          <a:xfrm>
            <a:off x="1476375" y="2355850"/>
            <a:ext cx="6769100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launch </a:t>
            </a:r>
            <a:r>
              <a:rPr lang="en-US" altLang="zh-CN" sz="1600" dirty="0" err="1">
                <a:latin typeface="Times New Roman" panose="02020603050405020304" pitchFamily="18" charset="0"/>
              </a:rPr>
              <a:t>wp_map_tools</a:t>
            </a:r>
            <a:r>
              <a:rPr lang="en-US" altLang="zh-CN" sz="1600" dirty="0">
                <a:latin typeface="Times New Roman" panose="02020603050405020304" pitchFamily="18" charset="0"/>
              </a:rPr>
              <a:t> add_waypoint_sim.launch.py</a:t>
            </a:r>
            <a:endParaRPr lang="zh-CN" altLang="en-US" sz="16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DD0859A-2F85-08F9-0A71-6B2A9E1815C9}"/>
              </a:ext>
            </a:extLst>
          </p:cNvPr>
          <p:cNvSpPr txBox="1"/>
          <p:nvPr/>
        </p:nvSpPr>
        <p:spPr>
          <a:xfrm>
            <a:off x="1143000" y="2852738"/>
            <a:ext cx="7110413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回车执行会启动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RViz2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窗口，如图所示，窗口里可以看到之前创建的地图。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160" name="图片 13">
            <a:extLst>
              <a:ext uri="{FF2B5EF4-FFF2-40B4-BE49-F238E27FC236}">
                <a16:creationId xmlns:a16="http://schemas.microsoft.com/office/drawing/2014/main" id="{050AD0B5-858F-BC79-D7C3-360536885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925" y="3249613"/>
            <a:ext cx="5264150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236545">
            <a:extLst>
              <a:ext uri="{FF2B5EF4-FFF2-40B4-BE49-F238E27FC236}">
                <a16:creationId xmlns:a16="http://schemas.microsoft.com/office/drawing/2014/main" id="{3DCFDE92-051B-F54E-BD7C-220705EC97A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2AABDED-876B-E17B-A4D2-ABE9D4C4F7F6}"/>
              </a:ext>
            </a:extLst>
          </p:cNvPr>
          <p:cNvSpPr txBox="1"/>
          <p:nvPr/>
        </p:nvSpPr>
        <p:spPr>
          <a:xfrm>
            <a:off x="687388" y="3084513"/>
            <a:ext cx="3892550" cy="243205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Rviz2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工具栏的右边，可以看到新增了一个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[Add Waypoint]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按钮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单击</a:t>
            </a:r>
            <a:r>
              <a:rPr lang="en-US" altLang="zh-CN" sz="1600">
                <a:latin typeface="Times New Roman" panose="02020603050405020304" pitchFamily="18" charset="0"/>
              </a:rPr>
              <a:t>[Add Waypoint]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按钮，就可以在地图上添加航点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RViz2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窗口里的地图找到要添加航点的位置，单击鼠标左键并按住不放，会出现一个绿色箭头，箭头的尾部就是所添加航点的坐标位置。拖动鼠标，绿色箭头会跟着旋转，箭头指向就是航点的朝向。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0180" name="图片 4">
            <a:extLst>
              <a:ext uri="{FF2B5EF4-FFF2-40B4-BE49-F238E27FC236}">
                <a16:creationId xmlns:a16="http://schemas.microsoft.com/office/drawing/2014/main" id="{5C8B229C-641D-190A-4ACE-70CC6B49D4B2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390650"/>
            <a:ext cx="7272337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1" name="图片 5">
            <a:extLst>
              <a:ext uri="{FF2B5EF4-FFF2-40B4-BE49-F238E27FC236}">
                <a16:creationId xmlns:a16="http://schemas.microsoft.com/office/drawing/2014/main" id="{08BEABF7-7F91-B5D6-6486-4DD1FC8DC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3119438"/>
            <a:ext cx="3740150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236545">
            <a:extLst>
              <a:ext uri="{FF2B5EF4-FFF2-40B4-BE49-F238E27FC236}">
                <a16:creationId xmlns:a16="http://schemas.microsoft.com/office/drawing/2014/main" id="{A4CA9AB1-FEC3-D19E-16E0-4D3EF1D49DF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51203" name="文本框 2">
            <a:extLst>
              <a:ext uri="{FF2B5EF4-FFF2-40B4-BE49-F238E27FC236}">
                <a16:creationId xmlns:a16="http://schemas.microsoft.com/office/drawing/2014/main" id="{7B565E68-3CE3-0149-6B06-0C7145BE2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412875"/>
            <a:ext cx="457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使用上述方法，在地图上设置更多的航点：</a:t>
            </a:r>
            <a:endParaRPr lang="zh-CN" altLang="en-US" sz="1600"/>
          </a:p>
        </p:txBody>
      </p:sp>
      <p:pic>
        <p:nvPicPr>
          <p:cNvPr id="51204" name="图片 6">
            <a:extLst>
              <a:ext uri="{FF2B5EF4-FFF2-40B4-BE49-F238E27FC236}">
                <a16:creationId xmlns:a16="http://schemas.microsoft.com/office/drawing/2014/main" id="{6C9C0203-246B-BFA3-FCD6-8DB3FD02E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5" y="1989138"/>
            <a:ext cx="6727825" cy="355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236545">
            <a:extLst>
              <a:ext uri="{FF2B5EF4-FFF2-40B4-BE49-F238E27FC236}">
                <a16:creationId xmlns:a16="http://schemas.microsoft.com/office/drawing/2014/main" id="{20C0FB04-735E-976A-A163-D5C029C31714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528A31-ED7C-1421-DB94-67539A2D7D83}"/>
              </a:ext>
            </a:extLst>
          </p:cNvPr>
          <p:cNvSpPr txBox="1"/>
          <p:nvPr/>
        </p:nvSpPr>
        <p:spPr>
          <a:xfrm>
            <a:off x="900113" y="2492375"/>
            <a:ext cx="7613650" cy="33972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执行完毕后，在用户的主文件夹下会生成一个名为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“waypoints.yaml”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的文件。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2228" name="图片 4">
            <a:extLst>
              <a:ext uri="{FF2B5EF4-FFF2-40B4-BE49-F238E27FC236}">
                <a16:creationId xmlns:a16="http://schemas.microsoft.com/office/drawing/2014/main" id="{DBB1E85D-0436-40AF-6D26-7D37BF0E3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997200"/>
            <a:ext cx="6337300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9" name="文本框 5">
            <a:extLst>
              <a:ext uri="{FF2B5EF4-FFF2-40B4-BE49-F238E27FC236}">
                <a16:creationId xmlns:a16="http://schemas.microsoft.com/office/drawing/2014/main" id="{08E39EFE-8A0C-F19E-0D6A-5013CCCE3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1173163"/>
            <a:ext cx="4572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打开第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个子窗口：</a:t>
            </a:r>
            <a:endParaRPr lang="zh-CN" altLang="en-US" sz="16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DC8EF7-5635-734E-2030-0724E6C6A3FE}"/>
              </a:ext>
            </a:extLst>
          </p:cNvPr>
          <p:cNvSpPr txBox="1"/>
          <p:nvPr/>
        </p:nvSpPr>
        <p:spPr>
          <a:xfrm>
            <a:off x="1206500" y="1519238"/>
            <a:ext cx="7273925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setup.bash</a:t>
            </a:r>
            <a:endParaRPr lang="zh-CN" altLang="en-US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9AC488-2022-F78D-3D00-B08D82831D1B}"/>
              </a:ext>
            </a:extLst>
          </p:cNvPr>
          <p:cNvSpPr txBox="1"/>
          <p:nvPr/>
        </p:nvSpPr>
        <p:spPr>
          <a:xfrm>
            <a:off x="1219200" y="1925638"/>
            <a:ext cx="7272338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run </a:t>
            </a:r>
            <a:r>
              <a:rPr lang="en-US" altLang="zh-CN" sz="1600" dirty="0" err="1">
                <a:latin typeface="Times New Roman" panose="02020603050405020304" pitchFamily="18" charset="0"/>
              </a:rPr>
              <a:t>wp_map_tools</a:t>
            </a:r>
            <a:r>
              <a:rPr lang="en-US" altLang="zh-CN" sz="1600" dirty="0">
                <a:latin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</a:rPr>
              <a:t>wp_saver</a:t>
            </a:r>
            <a:endParaRPr lang="zh-CN" altLang="en-US" sz="1600" dirty="0"/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236545">
            <a:extLst>
              <a:ext uri="{FF2B5EF4-FFF2-40B4-BE49-F238E27FC236}">
                <a16:creationId xmlns:a16="http://schemas.microsoft.com/office/drawing/2014/main" id="{5DDCC578-F4AD-7C7B-BABA-032D4477155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pic>
        <p:nvPicPr>
          <p:cNvPr id="53251" name="图片 1">
            <a:extLst>
              <a:ext uri="{FF2B5EF4-FFF2-40B4-BE49-F238E27FC236}">
                <a16:creationId xmlns:a16="http://schemas.microsoft.com/office/drawing/2014/main" id="{96C26255-0A4C-417B-1490-5011FCDEA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1863725"/>
            <a:ext cx="3852862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A751203-75A5-1F02-9339-45DF34AB0242}"/>
              </a:ext>
            </a:extLst>
          </p:cNvPr>
          <p:cNvSpPr txBox="1"/>
          <p:nvPr/>
        </p:nvSpPr>
        <p:spPr>
          <a:xfrm>
            <a:off x="1042988" y="1052513"/>
            <a:ext cx="7561262" cy="7889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如图所示，这个文件里保存的就是设置的航点信息，双击打开这个文件对其内容进行编辑。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236545">
            <a:extLst>
              <a:ext uri="{FF2B5EF4-FFF2-40B4-BE49-F238E27FC236}">
                <a16:creationId xmlns:a16="http://schemas.microsoft.com/office/drawing/2014/main" id="{38544E45-9509-F480-C0A7-3460213EC3C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EB4920-6B2B-A701-DC86-4486F3421953}"/>
              </a:ext>
            </a:extLst>
          </p:cNvPr>
          <p:cNvSpPr txBox="1"/>
          <p:nvPr/>
        </p:nvSpPr>
        <p:spPr>
          <a:xfrm>
            <a:off x="1046163" y="1295400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8.3.3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启动导航服务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8836F9-31FF-1C93-A207-AE47605CB833}"/>
              </a:ext>
            </a:extLst>
          </p:cNvPr>
          <p:cNvSpPr txBox="1"/>
          <p:nvPr/>
        </p:nvSpPr>
        <p:spPr>
          <a:xfrm>
            <a:off x="1012825" y="1989138"/>
            <a:ext cx="7038975" cy="33734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wp_map_tools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软件包中准备了两个节点可以简化这个调用过程：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wp_edit_node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节点。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这个节点会从主文件夹下的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“waypoints.yaml”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文件中获取之前保存的航点信息，供其他节点查询使用。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wp_navi_server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节点。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这个节点会从话题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“/waterplus/navi_waypoint”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中获取导航的目标航点名称，然后从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wp_edit_node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节点查询该航点的坐标和朝向，接着调用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NAV2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的原生导航接口，完成导航任务。导航完成后，会向话题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“/waterplus/navi_result”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发送信息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“navi done”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提示导航已经完成。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有了这两个节点，就可以通过话题通讯完成导航任务，下面将介绍如何使用这两个节点。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249C819-4151-B9BC-202C-8D87BB272A7A}"/>
              </a:ext>
            </a:extLst>
          </p:cNvPr>
          <p:cNvSpPr txBox="1"/>
          <p:nvPr/>
        </p:nvSpPr>
        <p:spPr>
          <a:xfrm>
            <a:off x="1187450" y="1452563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编写导航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文件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299" name="文本框 10">
            <a:extLst>
              <a:ext uri="{FF2B5EF4-FFF2-40B4-BE49-F238E27FC236}">
                <a16:creationId xmlns:a16="http://schemas.microsoft.com/office/drawing/2014/main" id="{0B442902-6558-7C0B-80D5-237D4EB69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790700"/>
            <a:ext cx="7608887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在</a:t>
            </a:r>
            <a:r>
              <a:rPr lang="en-US" altLang="zh-CN" sz="1600">
                <a:latin typeface="Times New Roman" panose="02020603050405020304" pitchFamily="18" charset="0"/>
              </a:rPr>
              <a:t>nav_pkg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软件包中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600">
                <a:latin typeface="Times New Roman" panose="02020603050405020304" pitchFamily="18" charset="0"/>
              </a:rPr>
              <a:t>[launch]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文件夹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新建文件，命名为</a:t>
            </a:r>
            <a:r>
              <a:rPr lang="en-US" altLang="zh-CN" sz="1600">
                <a:latin typeface="Times New Roman" panose="02020603050405020304" pitchFamily="18" charset="0"/>
              </a:rPr>
              <a:t>“waypoint_nav.launch.py”</a:t>
            </a:r>
            <a:r>
              <a:rPr lang="zh-CN" altLang="en-US" sz="1600">
                <a:latin typeface="Times New Roman" panose="02020603050405020304" pitchFamily="18" charset="0"/>
              </a:rPr>
              <a:t>。</a:t>
            </a:r>
            <a:endParaRPr lang="zh-CN" altLang="en-US" sz="1600"/>
          </a:p>
        </p:txBody>
      </p:sp>
      <p:pic>
        <p:nvPicPr>
          <p:cNvPr id="55300" name="图片 1">
            <a:extLst>
              <a:ext uri="{FF2B5EF4-FFF2-40B4-BE49-F238E27FC236}">
                <a16:creationId xmlns:a16="http://schemas.microsoft.com/office/drawing/2014/main" id="{73A98554-7792-AD8D-BCCE-ABF6C47AF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2552700"/>
            <a:ext cx="6257925" cy="316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1" name="标题 236545">
            <a:extLst>
              <a:ext uri="{FF2B5EF4-FFF2-40B4-BE49-F238E27FC236}">
                <a16:creationId xmlns:a16="http://schemas.microsoft.com/office/drawing/2014/main" id="{861A0C20-31D6-A50F-FED7-CDF52C45A85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236545">
            <a:extLst>
              <a:ext uri="{FF2B5EF4-FFF2-40B4-BE49-F238E27FC236}">
                <a16:creationId xmlns:a16="http://schemas.microsoft.com/office/drawing/2014/main" id="{AA051CCB-0629-B5C0-D24B-3278D709792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1F26C1-4342-4458-8321-1D4E2E335656}"/>
              </a:ext>
            </a:extLst>
          </p:cNvPr>
          <p:cNvSpPr txBox="1"/>
          <p:nvPr/>
        </p:nvSpPr>
        <p:spPr>
          <a:xfrm>
            <a:off x="1042988" y="1014413"/>
            <a:ext cx="7345362" cy="52641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launch import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LaunchDescription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launch_ros.actions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Node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ament_index_python.packages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get_package_share_directory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launch.actions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IncludeLaunchDescription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launch.launch_description_sources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PythonLaunchDescriptionSource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generate_launch_description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map_file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get_package_share_directory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('wpr_simulation2'),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'maps',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'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map.yaml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nav_param_file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get_package_share_directory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('wpr_simulation2'),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'config',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'nav2_params.yaml'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nav2_launch_dir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get_package_share_directory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('nav2_bringup'),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'launch'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236545">
            <a:extLst>
              <a:ext uri="{FF2B5EF4-FFF2-40B4-BE49-F238E27FC236}">
                <a16:creationId xmlns:a16="http://schemas.microsoft.com/office/drawing/2014/main" id="{957839A4-D4EC-C92E-0457-96BCA8001BD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041FC6-C2D8-B09F-B083-46E2B42C8624}"/>
              </a:ext>
            </a:extLst>
          </p:cNvPr>
          <p:cNvSpPr txBox="1"/>
          <p:nvPr/>
        </p:nvSpPr>
        <p:spPr>
          <a:xfrm>
            <a:off x="1116013" y="1557338"/>
            <a:ext cx="7343775" cy="40306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navigation_cmd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IncludeLaunchDescription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PythonLaunchDescriptionSource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([nav2_launch_dir, '/bringup_launch.py']),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launch_arguments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'map':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map_file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use_sim_time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'True',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params_file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nav_param_file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}.items(),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rviz_file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get_package_share_directory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wp_map_tools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'), '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rviz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navi.rviz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rviz_cmd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Node(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package='rviz2',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executable='rviz2',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name='rviz2',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arguments=['-d',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rviz_file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)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236545">
            <a:extLst>
              <a:ext uri="{FF2B5EF4-FFF2-40B4-BE49-F238E27FC236}">
                <a16:creationId xmlns:a16="http://schemas.microsoft.com/office/drawing/2014/main" id="{E293F41D-180B-5C70-BABD-4606906836C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39FDD4-9A7E-A310-6FCA-15C7DD338618}"/>
              </a:ext>
            </a:extLst>
          </p:cNvPr>
          <p:cNvSpPr txBox="1"/>
          <p:nvPr/>
        </p:nvSpPr>
        <p:spPr>
          <a:xfrm>
            <a:off x="1042988" y="1196975"/>
            <a:ext cx="7345362" cy="47704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wp_edit_cmd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Node(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package='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wp_map_tools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executable='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wp_edit_node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name='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wp_edit_node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wp_navi_server_cmd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Node(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package='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wp_map_tools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executable='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wp_navi_server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name='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wp_navi_server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LaunchDescription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ld.add_action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navigation_cmd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ld.add_action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rviz_cmd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ld.add_action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wp_edit_cmd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266700"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ld.add_action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wp_navi_server_cmd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return </a:t>
            </a:r>
            <a:r>
              <a:rPr lang="en-US" altLang="zh-CN" sz="1600" dirty="0" err="1">
                <a:latin typeface="Times New Roman" panose="02020603050405020304" pitchFamily="18" charset="0"/>
              </a:rPr>
              <a:t>ld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236545">
            <a:extLst>
              <a:ext uri="{FF2B5EF4-FFF2-40B4-BE49-F238E27FC236}">
                <a16:creationId xmlns:a16="http://schemas.microsoft.com/office/drawing/2014/main" id="{F19509AA-ABEA-8623-DD21-755A4289EEB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98EE55-ED81-043A-290A-0F0166F556D6}"/>
              </a:ext>
            </a:extLst>
          </p:cNvPr>
          <p:cNvSpPr txBox="1"/>
          <p:nvPr/>
        </p:nvSpPr>
        <p:spPr>
          <a:xfrm>
            <a:off x="1042988" y="1031875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8.3.4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构建航点导航程序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572F55-30D3-96E9-E6B2-C90C7C124004}"/>
              </a:ext>
            </a:extLst>
          </p:cNvPr>
          <p:cNvSpPr txBox="1"/>
          <p:nvPr/>
        </p:nvSpPr>
        <p:spPr>
          <a:xfrm>
            <a:off x="1050925" y="1492250"/>
            <a:ext cx="7624763" cy="7889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下面会编写一个节点，向话题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“/waterplus/navi_waypoint”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发送导航目的地的航点名称，激活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wp_navi_server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节点的导航功能，完成导航任务。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866BF6-0AAD-CBFE-B352-E6C1BD43A1FE}"/>
              </a:ext>
            </a:extLst>
          </p:cNvPr>
          <p:cNvSpPr txBox="1"/>
          <p:nvPr/>
        </p:nvSpPr>
        <p:spPr>
          <a:xfrm>
            <a:off x="1050925" y="2397125"/>
            <a:ext cx="4572000" cy="3381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编写节点代码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D0955C8-195A-3511-D836-58249C090A31}"/>
              </a:ext>
            </a:extLst>
          </p:cNvPr>
          <p:cNvSpPr txBox="1"/>
          <p:nvPr/>
        </p:nvSpPr>
        <p:spPr>
          <a:xfrm>
            <a:off x="971550" y="2851150"/>
            <a:ext cx="7704138" cy="7889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中找到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nav_pkg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软件包，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“src”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文件夹新建文件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，命名为</a:t>
            </a:r>
            <a:r>
              <a:rPr lang="en-US" altLang="zh-CN" sz="1600">
                <a:latin typeface="Times New Roman" panose="02020603050405020304" pitchFamily="18" charset="0"/>
              </a:rPr>
              <a:t>“waypoint_navigation.cpp”</a:t>
            </a:r>
            <a:r>
              <a:rPr lang="zh-CN" altLang="en-US" sz="1600">
                <a:latin typeface="Times New Roman" panose="02020603050405020304" pitchFamily="18" charset="0"/>
              </a:rPr>
              <a:t>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9399" name="图片 10">
            <a:extLst>
              <a:ext uri="{FF2B5EF4-FFF2-40B4-BE49-F238E27FC236}">
                <a16:creationId xmlns:a16="http://schemas.microsoft.com/office/drawing/2014/main" id="{BC0C38DF-0192-0E9A-7281-ECDACFC00CE8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3756025"/>
            <a:ext cx="48244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236545">
            <a:extLst>
              <a:ext uri="{FF2B5EF4-FFF2-40B4-BE49-F238E27FC236}">
                <a16:creationId xmlns:a16="http://schemas.microsoft.com/office/drawing/2014/main" id="{ABC8EEDD-21C3-0B8C-EA55-22AAC6BB31C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304C83-77B5-BCA7-929F-F835EF246718}"/>
              </a:ext>
            </a:extLst>
          </p:cNvPr>
          <p:cNvSpPr txBox="1"/>
          <p:nvPr/>
        </p:nvSpPr>
        <p:spPr>
          <a:xfrm>
            <a:off x="1116013" y="1484313"/>
            <a:ext cx="7488237" cy="42783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/rclcpp.hpp&gt;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/msg/string.hpp&gt;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shared_ptr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::Node&gt; node;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ResultCallback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(const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::msg::String::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msg)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if(msg-&gt;data == 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done")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RCLCPP_INFO(node-&gt;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get_logger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"Arrived !");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char**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node = std::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make_shared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::Node&gt;("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waypoint_navigation_node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236545">
            <a:extLst>
              <a:ext uri="{FF2B5EF4-FFF2-40B4-BE49-F238E27FC236}">
                <a16:creationId xmlns:a16="http://schemas.microsoft.com/office/drawing/2014/main" id="{642CAA52-31CC-10AC-46CB-997637F04CC8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B7CD76-A921-E948-71F9-9262945DD50D}"/>
              </a:ext>
            </a:extLst>
          </p:cNvPr>
          <p:cNvSpPr txBox="1"/>
          <p:nvPr/>
        </p:nvSpPr>
        <p:spPr>
          <a:xfrm>
            <a:off x="1116013" y="1557338"/>
            <a:ext cx="7488237" cy="40306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navigation_pub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node-&gt;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create_publisher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::msg::String&gt;(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waterplus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navi_waypoint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10);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auto </a:t>
            </a:r>
            <a:r>
              <a:rPr lang="en-US" altLang="zh-CN" sz="16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result_sub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node-&gt;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create_subscription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::msg::String&gt;(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waterplus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navi_result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10,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ResultCallback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sleep_for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(std::chrono::milliseconds(1000));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::msg::String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waypoint_msg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waypoint_msg.data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"1";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navigation_pub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-&gt;publish(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waypoint_msg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::spin(node);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::shutdown();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236545">
            <a:extLst>
              <a:ext uri="{FF2B5EF4-FFF2-40B4-BE49-F238E27FC236}">
                <a16:creationId xmlns:a16="http://schemas.microsoft.com/office/drawing/2014/main" id="{0D6ECA26-85F6-2DE0-6080-B1FD31BC808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F0BCFE-25B4-86C2-207F-D4035A99CCDD}"/>
              </a:ext>
            </a:extLst>
          </p:cNvPr>
          <p:cNvSpPr txBox="1"/>
          <p:nvPr/>
        </p:nvSpPr>
        <p:spPr>
          <a:xfrm>
            <a:off x="971550" y="1196975"/>
            <a:ext cx="4572000" cy="3381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设置编译规则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4DC8FF-DC25-2135-B426-B8C8FB1628F6}"/>
              </a:ext>
            </a:extLst>
          </p:cNvPr>
          <p:cNvSpPr txBox="1"/>
          <p:nvPr/>
        </p:nvSpPr>
        <p:spPr>
          <a:xfrm>
            <a:off x="1116013" y="1700213"/>
            <a:ext cx="7272337" cy="5857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REQUIRED)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 err="1">
                <a:latin typeface="Times New Roman" panose="02020603050405020304" pitchFamily="18" charset="0"/>
              </a:rPr>
              <a:t>find_package</a:t>
            </a:r>
            <a:r>
              <a:rPr lang="en-US" altLang="zh-CN" sz="1600" dirty="0">
                <a:latin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</a:rPr>
              <a:t>std_msgs</a:t>
            </a:r>
            <a:r>
              <a:rPr lang="en-US" altLang="zh-CN" sz="1600" dirty="0">
                <a:latin typeface="Times New Roman" panose="02020603050405020304" pitchFamily="18" charset="0"/>
              </a:rPr>
              <a:t> REQUIRED) </a:t>
            </a:r>
            <a:endParaRPr lang="zh-CN" altLang="en-US" sz="1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B4587A7-4B55-18C6-76B9-6D26A6B6BD27}"/>
              </a:ext>
            </a:extLst>
          </p:cNvPr>
          <p:cNvSpPr txBox="1"/>
          <p:nvPr/>
        </p:nvSpPr>
        <p:spPr>
          <a:xfrm>
            <a:off x="1112838" y="2481263"/>
            <a:ext cx="7272337" cy="5857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add_executable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waypoint_navigation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/waypoint_navigation.cpp)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 err="1">
                <a:latin typeface="Times New Roman" panose="02020603050405020304" pitchFamily="18" charset="0"/>
              </a:rPr>
              <a:t>ament_target_dependencies</a:t>
            </a:r>
            <a:r>
              <a:rPr lang="en-US" altLang="zh-CN" sz="1600" dirty="0">
                <a:latin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</a:rPr>
              <a:t>waypoint_navigation</a:t>
            </a:r>
            <a:r>
              <a:rPr lang="en-US" altLang="zh-CN" sz="1600" dirty="0">
                <a:latin typeface="Times New Roman" panose="02020603050405020304" pitchFamily="18" charset="0"/>
              </a:rPr>
              <a:t> "</a:t>
            </a:r>
            <a:r>
              <a:rPr lang="en-US" altLang="zh-CN" sz="1600" dirty="0" err="1">
                <a:latin typeface="Times New Roman" panose="02020603050405020304" pitchFamily="18" charset="0"/>
              </a:rPr>
              <a:t>rclcpp</a:t>
            </a:r>
            <a:r>
              <a:rPr lang="en-US" altLang="zh-CN" sz="1600" dirty="0">
                <a:latin typeface="Times New Roman" panose="02020603050405020304" pitchFamily="18" charset="0"/>
              </a:rPr>
              <a:t>" "</a:t>
            </a:r>
            <a:r>
              <a:rPr lang="en-US" altLang="zh-CN" sz="1600" dirty="0" err="1">
                <a:latin typeface="Times New Roman" panose="02020603050405020304" pitchFamily="18" charset="0"/>
              </a:rPr>
              <a:t>std_msgs</a:t>
            </a:r>
            <a:r>
              <a:rPr lang="en-US" altLang="zh-CN" sz="1600" dirty="0">
                <a:latin typeface="Times New Roman" panose="02020603050405020304" pitchFamily="18" charset="0"/>
              </a:rPr>
              <a:t>")</a:t>
            </a:r>
            <a:endParaRPr lang="zh-CN" altLang="en-US" sz="1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19134E2-520F-55BC-E1FA-D1C6980A0A46}"/>
              </a:ext>
            </a:extLst>
          </p:cNvPr>
          <p:cNvSpPr txBox="1"/>
          <p:nvPr/>
        </p:nvSpPr>
        <p:spPr>
          <a:xfrm>
            <a:off x="1116013" y="3262313"/>
            <a:ext cx="7269162" cy="5857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install(TARGETS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waypoint_navigation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DESTINATION  lib/${PROJECT_NAME})</a:t>
            </a:r>
            <a:endParaRPr lang="zh-CN" altLang="en-US" sz="1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02B00C2-DFD3-66E4-9B83-D8C67E36E509}"/>
              </a:ext>
            </a:extLst>
          </p:cNvPr>
          <p:cNvSpPr txBox="1"/>
          <p:nvPr/>
        </p:nvSpPr>
        <p:spPr>
          <a:xfrm>
            <a:off x="971550" y="3983038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修改软件包信息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C713F96-F1B7-DD55-32DC-029FD82D06A6}"/>
              </a:ext>
            </a:extLst>
          </p:cNvPr>
          <p:cNvSpPr txBox="1"/>
          <p:nvPr/>
        </p:nvSpPr>
        <p:spPr>
          <a:xfrm>
            <a:off x="1112838" y="4344988"/>
            <a:ext cx="7275512" cy="5857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&lt;depend&gt;</a:t>
            </a:r>
            <a:r>
              <a:rPr lang="en-US" altLang="zh-CN" sz="1600" dirty="0" err="1">
                <a:latin typeface="Times New Roman" panose="02020603050405020304" pitchFamily="18" charset="0"/>
              </a:rPr>
              <a:t>std_msgs</a:t>
            </a:r>
            <a:r>
              <a:rPr lang="en-US" altLang="zh-CN" sz="1600" dirty="0">
                <a:latin typeface="Times New Roman" panose="02020603050405020304" pitchFamily="18" charset="0"/>
              </a:rPr>
              <a:t>&lt;/depend&gt;</a:t>
            </a:r>
            <a:endParaRPr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CFA074-1A34-4F2C-3EE1-5F9CFF8B1526}"/>
              </a:ext>
            </a:extLst>
          </p:cNvPr>
          <p:cNvSpPr txBox="1"/>
          <p:nvPr/>
        </p:nvSpPr>
        <p:spPr>
          <a:xfrm>
            <a:off x="969963" y="5013325"/>
            <a:ext cx="4572000" cy="3381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编译软件包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51ED6E2-76AA-BBC6-D215-4729B310CBA7}"/>
              </a:ext>
            </a:extLst>
          </p:cNvPr>
          <p:cNvSpPr txBox="1"/>
          <p:nvPr/>
        </p:nvSpPr>
        <p:spPr>
          <a:xfrm>
            <a:off x="1112838" y="5422900"/>
            <a:ext cx="7275512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cd ~/ros2_ws</a:t>
            </a:r>
            <a:endParaRPr lang="zh-CN" altLang="en-US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8052150-0126-B4E2-ADD0-EEDF125CA343}"/>
              </a:ext>
            </a:extLst>
          </p:cNvPr>
          <p:cNvSpPr txBox="1"/>
          <p:nvPr/>
        </p:nvSpPr>
        <p:spPr>
          <a:xfrm>
            <a:off x="1112838" y="5797550"/>
            <a:ext cx="7275512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 err="1">
                <a:latin typeface="Times New Roman" panose="02020603050405020304" pitchFamily="18" charset="0"/>
              </a:rPr>
              <a:t>colcon</a:t>
            </a:r>
            <a:r>
              <a:rPr lang="en-US" altLang="zh-CN" sz="1600" dirty="0">
                <a:latin typeface="Times New Roman" panose="02020603050405020304" pitchFamily="18" charset="0"/>
              </a:rPr>
              <a:t> build</a:t>
            </a:r>
            <a:endParaRPr lang="zh-CN" altLang="en-US" sz="1600" dirty="0"/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236545">
            <a:extLst>
              <a:ext uri="{FF2B5EF4-FFF2-40B4-BE49-F238E27FC236}">
                <a16:creationId xmlns:a16="http://schemas.microsoft.com/office/drawing/2014/main" id="{0ED022EF-C11E-05AC-7CFE-C43C2BD75AD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026608-F4E3-9487-722D-9C3E5AE47DC8}"/>
              </a:ext>
            </a:extLst>
          </p:cNvPr>
          <p:cNvSpPr txBox="1"/>
          <p:nvPr/>
        </p:nvSpPr>
        <p:spPr>
          <a:xfrm>
            <a:off x="1042988" y="1125538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8.3.5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仿真运行航点导航程序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6871D1-C536-6EC0-F551-DCC4E455DC37}"/>
              </a:ext>
            </a:extLst>
          </p:cNvPr>
          <p:cNvSpPr txBox="1"/>
          <p:nvPr/>
        </p:nvSpPr>
        <p:spPr>
          <a:xfrm>
            <a:off x="1187450" y="1609725"/>
            <a:ext cx="74168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setup.bash</a:t>
            </a:r>
            <a:endParaRPr lang="zh-CN" altLang="en-US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949A54C-37D5-EF93-2F36-603452AD9221}"/>
              </a:ext>
            </a:extLst>
          </p:cNvPr>
          <p:cNvSpPr txBox="1"/>
          <p:nvPr/>
        </p:nvSpPr>
        <p:spPr>
          <a:xfrm>
            <a:off x="1187450" y="2060575"/>
            <a:ext cx="74168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launch wpr_simulation2 robocup_home.launch.py</a:t>
            </a:r>
            <a:endParaRPr lang="zh-CN" altLang="en-US" sz="1600" dirty="0"/>
          </a:p>
        </p:txBody>
      </p:sp>
      <p:pic>
        <p:nvPicPr>
          <p:cNvPr id="63494" name="图片 12">
            <a:extLst>
              <a:ext uri="{FF2B5EF4-FFF2-40B4-BE49-F238E27FC236}">
                <a16:creationId xmlns:a16="http://schemas.microsoft.com/office/drawing/2014/main" id="{680CFB9E-F9E2-D9C5-3DA2-45D60DF5D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579688"/>
            <a:ext cx="5807075" cy="329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236545">
            <a:extLst>
              <a:ext uri="{FF2B5EF4-FFF2-40B4-BE49-F238E27FC236}">
                <a16:creationId xmlns:a16="http://schemas.microsoft.com/office/drawing/2014/main" id="{195197C1-11FE-A567-CC18-78D8416AC9D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C59942-8EDF-7586-AD3B-F6FE9CBAC3B3}"/>
              </a:ext>
            </a:extLst>
          </p:cNvPr>
          <p:cNvSpPr txBox="1"/>
          <p:nvPr/>
        </p:nvSpPr>
        <p:spPr>
          <a:xfrm>
            <a:off x="1187450" y="1609725"/>
            <a:ext cx="74168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setup.bash</a:t>
            </a:r>
            <a:endParaRPr lang="zh-CN" altLang="en-US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7A6C3CF-B924-B287-79C9-B554EF5CB7B6}"/>
              </a:ext>
            </a:extLst>
          </p:cNvPr>
          <p:cNvSpPr txBox="1"/>
          <p:nvPr/>
        </p:nvSpPr>
        <p:spPr>
          <a:xfrm>
            <a:off x="1187450" y="2060575"/>
            <a:ext cx="74168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launch </a:t>
            </a:r>
            <a:r>
              <a:rPr lang="en-US" altLang="zh-CN" sz="1600" dirty="0" err="1">
                <a:latin typeface="Times New Roman" panose="02020603050405020304" pitchFamily="18" charset="0"/>
              </a:rPr>
              <a:t>nav_pkg</a:t>
            </a:r>
            <a:r>
              <a:rPr lang="en-US" altLang="zh-CN" sz="1600" dirty="0">
                <a:latin typeface="Times New Roman" panose="02020603050405020304" pitchFamily="18" charset="0"/>
              </a:rPr>
              <a:t> waypoint_nav.launch.py</a:t>
            </a:r>
            <a:endParaRPr lang="zh-CN" altLang="en-US" sz="1600" dirty="0"/>
          </a:p>
        </p:txBody>
      </p:sp>
      <p:sp>
        <p:nvSpPr>
          <p:cNvPr id="64517" name="文本框 3">
            <a:extLst>
              <a:ext uri="{FF2B5EF4-FFF2-40B4-BE49-F238E27FC236}">
                <a16:creationId xmlns:a16="http://schemas.microsoft.com/office/drawing/2014/main" id="{1398803E-7CC9-5E19-868B-43865F3CE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75" y="1149350"/>
            <a:ext cx="4572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打开第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个子窗口。</a:t>
            </a:r>
            <a:endParaRPr lang="zh-CN" altLang="en-US" sz="1600"/>
          </a:p>
        </p:txBody>
      </p:sp>
      <p:pic>
        <p:nvPicPr>
          <p:cNvPr id="64518" name="图片 4">
            <a:extLst>
              <a:ext uri="{FF2B5EF4-FFF2-40B4-BE49-F238E27FC236}">
                <a16:creationId xmlns:a16="http://schemas.microsoft.com/office/drawing/2014/main" id="{B34C2C30-1429-D2B9-71DE-DBEF04259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573338"/>
            <a:ext cx="6180138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236545">
            <a:extLst>
              <a:ext uri="{FF2B5EF4-FFF2-40B4-BE49-F238E27FC236}">
                <a16:creationId xmlns:a16="http://schemas.microsoft.com/office/drawing/2014/main" id="{D228B65C-9182-01E3-F7F7-044E4EEADDE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65539" name="文本框 3">
            <a:extLst>
              <a:ext uri="{FF2B5EF4-FFF2-40B4-BE49-F238E27FC236}">
                <a16:creationId xmlns:a16="http://schemas.microsoft.com/office/drawing/2014/main" id="{E4480C4C-4B57-9525-A86C-A5A0FA5EF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75" y="1273175"/>
            <a:ext cx="74453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此时窗口中还没有显示机器人模型，需要手动设置一下机器人的初始位置。</a:t>
            </a:r>
            <a:endParaRPr lang="zh-CN" altLang="en-US" sz="1600"/>
          </a:p>
        </p:txBody>
      </p:sp>
      <p:pic>
        <p:nvPicPr>
          <p:cNvPr id="65540" name="图片 1">
            <a:extLst>
              <a:ext uri="{FF2B5EF4-FFF2-40B4-BE49-F238E27FC236}">
                <a16:creationId xmlns:a16="http://schemas.microsoft.com/office/drawing/2014/main" id="{8CBFBAD3-64DA-4835-E83A-FD7BF70D3F09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88" y="1816100"/>
            <a:ext cx="76850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1" name="图片 2">
            <a:extLst>
              <a:ext uri="{FF2B5EF4-FFF2-40B4-BE49-F238E27FC236}">
                <a16:creationId xmlns:a16="http://schemas.microsoft.com/office/drawing/2014/main" id="{61B32F6C-53B6-224E-F358-8ED2E2F1F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3565525"/>
            <a:ext cx="3776662" cy="216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2" name="图片 5">
            <a:extLst>
              <a:ext uri="{FF2B5EF4-FFF2-40B4-BE49-F238E27FC236}">
                <a16:creationId xmlns:a16="http://schemas.microsoft.com/office/drawing/2014/main" id="{84E898DF-A48C-A0A4-EBA6-26A4BE1A3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3573463"/>
            <a:ext cx="3763962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236545">
            <a:extLst>
              <a:ext uri="{FF2B5EF4-FFF2-40B4-BE49-F238E27FC236}">
                <a16:creationId xmlns:a16="http://schemas.microsoft.com/office/drawing/2014/main" id="{4A4559F6-263B-2012-83B9-02164C65253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627949-C8CC-B473-0B94-242B401E9F47}"/>
              </a:ext>
            </a:extLst>
          </p:cNvPr>
          <p:cNvSpPr txBox="1"/>
          <p:nvPr/>
        </p:nvSpPr>
        <p:spPr>
          <a:xfrm>
            <a:off x="1187450" y="1609725"/>
            <a:ext cx="74168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setup.bash</a:t>
            </a:r>
            <a:endParaRPr lang="zh-CN" altLang="en-US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4425B4-0A3B-7033-D9CB-AD321607B444}"/>
              </a:ext>
            </a:extLst>
          </p:cNvPr>
          <p:cNvSpPr txBox="1"/>
          <p:nvPr/>
        </p:nvSpPr>
        <p:spPr>
          <a:xfrm>
            <a:off x="1187450" y="2060575"/>
            <a:ext cx="74168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run </a:t>
            </a:r>
            <a:r>
              <a:rPr lang="en-US" altLang="zh-CN" sz="1600" dirty="0" err="1">
                <a:latin typeface="Times New Roman" panose="02020603050405020304" pitchFamily="18" charset="0"/>
              </a:rPr>
              <a:t>nav_pkg</a:t>
            </a:r>
            <a:r>
              <a:rPr lang="en-US" altLang="zh-CN" sz="1600" dirty="0">
                <a:latin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</a:rPr>
              <a:t>waypoint_navigation</a:t>
            </a:r>
            <a:endParaRPr lang="zh-CN" altLang="en-US" sz="1600" dirty="0"/>
          </a:p>
        </p:txBody>
      </p:sp>
      <p:sp>
        <p:nvSpPr>
          <p:cNvPr id="66565" name="文本框 3">
            <a:extLst>
              <a:ext uri="{FF2B5EF4-FFF2-40B4-BE49-F238E27FC236}">
                <a16:creationId xmlns:a16="http://schemas.microsoft.com/office/drawing/2014/main" id="{BA1D4084-E294-B64E-E9B6-E75D2FE30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75" y="1149350"/>
            <a:ext cx="4572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打开第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个子窗口。</a:t>
            </a:r>
            <a:endParaRPr lang="zh-CN" altLang="en-US" sz="1600"/>
          </a:p>
        </p:txBody>
      </p:sp>
      <p:pic>
        <p:nvPicPr>
          <p:cNvPr id="66566" name="图片 1">
            <a:extLst>
              <a:ext uri="{FF2B5EF4-FFF2-40B4-BE49-F238E27FC236}">
                <a16:creationId xmlns:a16="http://schemas.microsoft.com/office/drawing/2014/main" id="{0F9602F8-DB07-8AE8-5880-ADA828ACB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636838"/>
            <a:ext cx="6683375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236545">
            <a:extLst>
              <a:ext uri="{FF2B5EF4-FFF2-40B4-BE49-F238E27FC236}">
                <a16:creationId xmlns:a16="http://schemas.microsoft.com/office/drawing/2014/main" id="{BD1FE261-194C-648F-B250-E28270FC4AD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8.3 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开源导航插件的使用</a:t>
            </a:r>
          </a:p>
        </p:txBody>
      </p:sp>
      <p:pic>
        <p:nvPicPr>
          <p:cNvPr id="67587" name="图片 3">
            <a:extLst>
              <a:ext uri="{FF2B5EF4-FFF2-40B4-BE49-F238E27FC236}">
                <a16:creationId xmlns:a16="http://schemas.microsoft.com/office/drawing/2014/main" id="{D43F9B10-A13F-EA3B-2F7C-88F510D73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5" y="2636838"/>
            <a:ext cx="5518150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229FCD9-9A15-B26B-C701-B72211CA263F}"/>
              </a:ext>
            </a:extLst>
          </p:cNvPr>
          <p:cNvSpPr txBox="1"/>
          <p:nvPr/>
        </p:nvSpPr>
        <p:spPr>
          <a:xfrm>
            <a:off x="900113" y="1284288"/>
            <a:ext cx="7775575" cy="11588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节点执行之后，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RViz2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中便规划出去往航点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“1”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的路线，机器人按照路线开始移动。机器人导航到目标航点位置后，会调整自己的朝向，直到与航点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“1”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的标记箭头方向一致。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236545">
            <a:extLst>
              <a:ext uri="{FF2B5EF4-FFF2-40B4-BE49-F238E27FC236}">
                <a16:creationId xmlns:a16="http://schemas.microsoft.com/office/drawing/2014/main" id="{A840ACCD-AA2A-6CC9-57D2-B8C6A5B6A344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442200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8.4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本章小结</a:t>
            </a:r>
            <a:endParaRPr lang="zh-CN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0E0856-14D4-55E6-6CE1-1BDF53283954}"/>
              </a:ext>
            </a:extLst>
          </p:cNvPr>
          <p:cNvSpPr/>
          <p:nvPr/>
        </p:nvSpPr>
        <p:spPr>
          <a:xfrm>
            <a:off x="1116013" y="1989138"/>
            <a:ext cx="7200900" cy="329088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本章主要是对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NAV2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导航系统进行介绍和编程。首先详细介绍了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NAV2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的组成结构和各功能模块；接着，构建了一个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NAV2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自主导航应用实例，包括准备地图文件、编写导航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文件、设置安装规则、编译软件包、仿真环境运行自主导航、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NAV2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的参数设置；最后，基于一款开源的地图导航可视化插件，实现在地图上设置多个目标航点，通过消息发送，驱使机器人导航前往指定的航点，该插件极大提升了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中调用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NAV2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导航服务的开发体验。</a:t>
            </a:r>
            <a:endParaRPr lang="zh-CN" altLang="zh-CN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占位符 143362">
            <a:extLst>
              <a:ext uri="{FF2B5EF4-FFF2-40B4-BE49-F238E27FC236}">
                <a16:creationId xmlns:a16="http://schemas.microsoft.com/office/drawing/2014/main" id="{EAC66A1B-3D2B-220D-DA41-75289B129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550" y="2420938"/>
            <a:ext cx="7416800" cy="201612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zh-CN" altLang="en-US" sz="4800" b="1">
                <a:latin typeface="华文楷体" panose="02010600040101010101" pitchFamily="2" charset="-122"/>
                <a:ea typeface="华文楷体" panose="02010600040101010101" pitchFamily="2" charset="-122"/>
              </a:rPr>
              <a:t>机器人操作系统（</a:t>
            </a:r>
            <a:r>
              <a:rPr lang="en-US" altLang="zh-CN" sz="4800" b="1">
                <a:latin typeface="华文楷体" panose="02010600040101010101" pitchFamily="2" charset="-122"/>
                <a:ea typeface="华文楷体" panose="02010600040101010101" pitchFamily="2" charset="-122"/>
              </a:rPr>
              <a:t>ROS2</a:t>
            </a:r>
            <a:r>
              <a:rPr lang="zh-CN" altLang="en-US" sz="4800" b="1">
                <a:latin typeface="华文楷体" panose="02010600040101010101" pitchFamily="2" charset="-122"/>
                <a:ea typeface="华文楷体" panose="02010600040101010101" pitchFamily="2" charset="-122"/>
              </a:rPr>
              <a:t>）入门与实践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60468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文本框 5">
            <a:extLst>
              <a:ext uri="{FF2B5EF4-FFF2-40B4-BE49-F238E27FC236}">
                <a16:creationId xmlns:a16="http://schemas.microsoft.com/office/drawing/2014/main" id="{6FB28430-FAB9-0E06-9835-BA68B9ED0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74650"/>
            <a:ext cx="71294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机器人操作系统（</a:t>
            </a: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ROS2</a:t>
            </a: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）入门与实践</a:t>
            </a:r>
          </a:p>
        </p:txBody>
      </p:sp>
      <p:sp>
        <p:nvSpPr>
          <p:cNvPr id="20483" name="文本框 7">
            <a:extLst>
              <a:ext uri="{FF2B5EF4-FFF2-40B4-BE49-F238E27FC236}">
                <a16:creationId xmlns:a16="http://schemas.microsoft.com/office/drawing/2014/main" id="{0174F32D-FE32-75E3-2253-DF4376A14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1089025"/>
            <a:ext cx="5730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 Ubuntu</a:t>
            </a:r>
            <a:r>
              <a:rPr lang="zh-CN" altLang="zh-CN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入门基础</a:t>
            </a:r>
            <a:endParaRPr lang="zh-CN" altLang="en-US" sz="18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文本框 9">
            <a:extLst>
              <a:ext uri="{FF2B5EF4-FFF2-40B4-BE49-F238E27FC236}">
                <a16:creationId xmlns:a16="http://schemas.microsoft.com/office/drawing/2014/main" id="{453D5C97-8CDA-E055-5C73-473D02C8B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1524000"/>
            <a:ext cx="4572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安装与系统架构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1" name="文本框 11">
            <a:extLst>
              <a:ext uri="{FF2B5EF4-FFF2-40B4-BE49-F238E27FC236}">
                <a16:creationId xmlns:a16="http://schemas.microsoft.com/office/drawing/2014/main" id="{0963AFC3-7E46-9217-E97E-5362D6EBD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1957388"/>
            <a:ext cx="4572000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编程基础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2" name="文本框 13">
            <a:extLst>
              <a:ext uri="{FF2B5EF4-FFF2-40B4-BE49-F238E27FC236}">
                <a16:creationId xmlns:a16="http://schemas.microsoft.com/office/drawing/2014/main" id="{BFAE578F-6D5D-27BF-950A-3CCAE3826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2392363"/>
            <a:ext cx="45720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机器人运动控制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3" name="文本框 15">
            <a:extLst>
              <a:ext uri="{FF2B5EF4-FFF2-40B4-BE49-F238E27FC236}">
                <a16:creationId xmlns:a16="http://schemas.microsoft.com/office/drawing/2014/main" id="{83D0B695-C6A5-8C9B-E6C6-20332FEDB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2825750"/>
            <a:ext cx="516890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激光雷达在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中的使用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4" name="文本框 17">
            <a:extLst>
              <a:ext uri="{FF2B5EF4-FFF2-40B4-BE49-F238E27FC236}">
                <a16:creationId xmlns:a16="http://schemas.microsoft.com/office/drawing/2014/main" id="{30C4E4F4-D5B7-0805-80F7-4471FF583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3259138"/>
            <a:ext cx="5745162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IMU</a:t>
            </a:r>
            <a:r>
              <a:rPr lang="zh-CN" altLang="zh-CN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中的使用</a:t>
            </a:r>
            <a:endParaRPr lang="zh-CN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5" name="文本框 19">
            <a:extLst>
              <a:ext uri="{FF2B5EF4-FFF2-40B4-BE49-F238E27FC236}">
                <a16:creationId xmlns:a16="http://schemas.microsoft.com/office/drawing/2014/main" id="{013C480E-82BB-B04C-F88E-072B921B2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3694113"/>
            <a:ext cx="6537325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SLAM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环境建图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6" name="文本框 21">
            <a:extLst>
              <a:ext uri="{FF2B5EF4-FFF2-40B4-BE49-F238E27FC236}">
                <a16:creationId xmlns:a16="http://schemas.microsoft.com/office/drawing/2014/main" id="{2AAF1F5F-F6D7-4D9C-7617-1B30DBA59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4127500"/>
            <a:ext cx="58324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NAV2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自主导航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7" name="文本框 21">
            <a:extLst>
              <a:ext uri="{FF2B5EF4-FFF2-40B4-BE49-F238E27FC236}">
                <a16:creationId xmlns:a16="http://schemas.microsoft.com/office/drawing/2014/main" id="{CC24628A-358E-860E-5199-DF5B2746B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4560888"/>
            <a:ext cx="5832475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中的图像视觉应用</a:t>
            </a:r>
            <a:endParaRPr lang="zh-CN" altLang="en-US" sz="1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8" name="文本框 19">
            <a:extLst>
              <a:ext uri="{FF2B5EF4-FFF2-40B4-BE49-F238E27FC236}">
                <a16:creationId xmlns:a16="http://schemas.microsoft.com/office/drawing/2014/main" id="{2F0549D3-D442-707A-6C05-6A09377CC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4995863"/>
            <a:ext cx="6537325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的三维视觉应用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9" name="文本框 21">
            <a:extLst>
              <a:ext uri="{FF2B5EF4-FFF2-40B4-BE49-F238E27FC236}">
                <a16:creationId xmlns:a16="http://schemas.microsoft.com/office/drawing/2014/main" id="{060D823A-B3D5-CC95-A047-36450B24A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5429250"/>
            <a:ext cx="58324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的机械臂应用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70" name="文本框 21">
            <a:extLst>
              <a:ext uri="{FF2B5EF4-FFF2-40B4-BE49-F238E27FC236}">
                <a16:creationId xmlns:a16="http://schemas.microsoft.com/office/drawing/2014/main" id="{8F3CEDEC-DC26-D783-9A11-54D05CF45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5864225"/>
            <a:ext cx="5832475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基于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的综合应用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9233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任意多边形 9229">
            <a:extLst>
              <a:ext uri="{FF2B5EF4-FFF2-40B4-BE49-F238E27FC236}">
                <a16:creationId xmlns:a16="http://schemas.microsoft.com/office/drawing/2014/main" id="{9376327B-6930-1C7E-8124-FB5219F6B980}"/>
              </a:ext>
            </a:extLst>
          </p:cNvPr>
          <p:cNvSpPr>
            <a:spLocks noChangeArrowheads="1"/>
          </p:cNvSpPr>
          <p:nvPr/>
        </p:nvSpPr>
        <p:spPr bwMode="auto">
          <a:xfrm rot="6402108" flipH="1">
            <a:off x="-242888" y="1814513"/>
            <a:ext cx="3827463" cy="3729038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0 h 21600"/>
              <a:gd name="T10" fmla="*/ 0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1" y="10744"/>
                  <a:pt x="10856" y="10769"/>
                  <a:pt x="10856" y="10800"/>
                </a:cubicBezTo>
                <a:lnTo>
                  <a:pt x="21600" y="10800"/>
                </a:lnTo>
                <a:cubicBezTo>
                  <a:pt x="21600" y="4835"/>
                  <a:pt x="16765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gradFill rotWithShape="1">
            <a:gsLst>
              <a:gs pos="0">
                <a:schemeClr val="hlink">
                  <a:alpha val="56000"/>
                </a:schemeClr>
              </a:gs>
              <a:gs pos="100000">
                <a:srgbClr val="FFFFFF">
                  <a:alpha val="4800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7" name="矩形 9219">
            <a:extLst>
              <a:ext uri="{FF2B5EF4-FFF2-40B4-BE49-F238E27FC236}">
                <a16:creationId xmlns:a16="http://schemas.microsoft.com/office/drawing/2014/main" id="{A56CB2BF-3AAC-9461-AC0F-371990BA4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813" y="1160463"/>
            <a:ext cx="1081087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FF"/>
                </a:solidFill>
                <a:latin typeface="方正粗宋简体" pitchFamily="65" charset="-122"/>
                <a:ea typeface="方正粗宋简体" pitchFamily="65" charset="-122"/>
              </a:rPr>
              <a:t>第</a:t>
            </a:r>
            <a:endParaRPr lang="en-US" altLang="zh-CN" sz="3600" b="1">
              <a:solidFill>
                <a:srgbClr val="0000FF"/>
              </a:solidFill>
              <a:latin typeface="方正粗宋简体" pitchFamily="65" charset="-122"/>
              <a:ea typeface="方正粗宋简体" pitchFamily="65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FF"/>
                </a:solidFill>
                <a:latin typeface="方正粗宋简体" pitchFamily="65" charset="-122"/>
                <a:ea typeface="方正粗宋简体" pitchFamily="65" charset="-122"/>
              </a:rPr>
              <a:t>9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FF"/>
                </a:solidFill>
                <a:latin typeface="方正粗宋简体" pitchFamily="65" charset="-122"/>
                <a:ea typeface="方正粗宋简体" pitchFamily="65" charset="-122"/>
              </a:rPr>
              <a:t>章</a:t>
            </a:r>
          </a:p>
        </p:txBody>
      </p:sp>
      <p:sp>
        <p:nvSpPr>
          <p:cNvPr id="39939" name="任意多边形 9228">
            <a:extLst>
              <a:ext uri="{FF2B5EF4-FFF2-40B4-BE49-F238E27FC236}">
                <a16:creationId xmlns:a16="http://schemas.microsoft.com/office/drawing/2014/main" id="{1E4E8FDA-E614-334F-D09D-1087F58E15BD}"/>
              </a:ext>
            </a:extLst>
          </p:cNvPr>
          <p:cNvSpPr>
            <a:spLocks noChangeArrowheads="1"/>
          </p:cNvSpPr>
          <p:nvPr/>
        </p:nvSpPr>
        <p:spPr bwMode="auto">
          <a:xfrm rot="6405277">
            <a:off x="-395288" y="1414463"/>
            <a:ext cx="4579937" cy="4529138"/>
          </a:xfrm>
          <a:custGeom>
            <a:avLst/>
            <a:gdLst>
              <a:gd name="T0" fmla="*/ 323 w 21600"/>
              <a:gd name="T1" fmla="*/ 10641 h 21600"/>
              <a:gd name="T2" fmla="*/ 10800 w 21600"/>
              <a:gd name="T3" fmla="*/ 322 h 21600"/>
              <a:gd name="T4" fmla="*/ 21277 w 21600"/>
              <a:gd name="T5" fmla="*/ 10640 h 21600"/>
              <a:gd name="T6" fmla="*/ 21598 w 21600"/>
              <a:gd name="T7" fmla="*/ 10636 h 21600"/>
              <a:gd name="T8" fmla="*/ 10798 w 21600"/>
              <a:gd name="T9" fmla="*/ -164 h 21600"/>
              <a:gd name="T10" fmla="*/ -1 w 21600"/>
              <a:gd name="T11" fmla="*/ 1047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600" h="21600">
                <a:moveTo>
                  <a:pt x="323" y="10641"/>
                </a:moveTo>
                <a:cubicBezTo>
                  <a:pt x="409" y="4927"/>
                  <a:pt x="5067" y="322"/>
                  <a:pt x="10800" y="322"/>
                </a:cubicBezTo>
                <a:cubicBezTo>
                  <a:pt x="16534" y="322"/>
                  <a:pt x="21192" y="4927"/>
                  <a:pt x="21277" y="10640"/>
                </a:cubicBezTo>
                <a:lnTo>
                  <a:pt x="21598" y="10636"/>
                </a:lnTo>
                <a:cubicBezTo>
                  <a:pt x="21509" y="4583"/>
                  <a:pt x="16708" y="-164"/>
                  <a:pt x="10798" y="-164"/>
                </a:cubicBezTo>
                <a:cubicBezTo>
                  <a:pt x="4888" y="-164"/>
                  <a:pt x="87" y="4583"/>
                  <a:pt x="-1" y="10472"/>
                </a:cubicBezTo>
                <a:close/>
              </a:path>
            </a:pathLst>
          </a:custGeom>
          <a:gradFill rotWithShape="1">
            <a:gsLst>
              <a:gs pos="0">
                <a:srgbClr val="C5C5C5"/>
              </a:gs>
              <a:gs pos="50000">
                <a:schemeClr val="bg2"/>
              </a:gs>
              <a:gs pos="100000">
                <a:srgbClr val="C5C5C5"/>
              </a:gs>
            </a:gsLst>
            <a:lin ang="0" scaled="1"/>
          </a:gradFill>
          <a:ln>
            <a:noFill/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1509" name="圆角矩形 9230">
            <a:extLst>
              <a:ext uri="{FF2B5EF4-FFF2-40B4-BE49-F238E27FC236}">
                <a16:creationId xmlns:a16="http://schemas.microsoft.com/office/drawing/2014/main" id="{DB2BDFBA-D0DC-B998-46DF-3181A99BC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7825" y="2449513"/>
            <a:ext cx="4129088" cy="509587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chemeClr val="tx2"/>
              </a:solidFill>
              <a:ea typeface="楷体_GB2312" pitchFamily="49" charset="-122"/>
            </a:endParaRPr>
          </a:p>
        </p:txBody>
      </p:sp>
      <p:sp>
        <p:nvSpPr>
          <p:cNvPr id="21510" name="圆角矩形 9232">
            <a:extLst>
              <a:ext uri="{FF2B5EF4-FFF2-40B4-BE49-F238E27FC236}">
                <a16:creationId xmlns:a16="http://schemas.microsoft.com/office/drawing/2014/main" id="{3ED777A0-BA0D-1556-FAF7-2C9BB3803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75" y="3405188"/>
            <a:ext cx="3846513" cy="492125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ea typeface="楷体_GB2312" pitchFamily="49" charset="-122"/>
              </a:rPr>
              <a:t> 9.3 </a:t>
            </a:r>
            <a:r>
              <a:rPr lang="zh-CN" altLang="zh-CN" sz="1800" b="1">
                <a:latin typeface="Calibri" panose="020F0502020204030204" pitchFamily="34" charset="0"/>
                <a:cs typeface="Times New Roman" panose="02020603050405020304" pitchFamily="18" charset="0"/>
              </a:rPr>
              <a:t>基于图像视觉的目标追踪实现</a:t>
            </a:r>
            <a:endParaRPr lang="zh-CN" altLang="en-US" sz="18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511" name="圆角矩形 9234">
            <a:extLst>
              <a:ext uri="{FF2B5EF4-FFF2-40B4-BE49-F238E27FC236}">
                <a16:creationId xmlns:a16="http://schemas.microsoft.com/office/drawing/2014/main" id="{EC2362FB-E252-C0B2-416C-8E8DFB927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325" y="1520825"/>
            <a:ext cx="3098800" cy="482600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tx2"/>
                </a:solidFill>
                <a:ea typeface="楷体_GB2312" pitchFamily="49" charset="-122"/>
              </a:rPr>
              <a:t>  </a:t>
            </a:r>
            <a:r>
              <a:rPr lang="zh-CN" altLang="en-US" sz="1800" b="1">
                <a:solidFill>
                  <a:schemeClr val="tx2"/>
                </a:solidFill>
                <a:ea typeface="楷体_GB2312" pitchFamily="49" charset="-122"/>
              </a:rPr>
              <a:t> </a:t>
            </a:r>
          </a:p>
        </p:txBody>
      </p:sp>
      <p:grpSp>
        <p:nvGrpSpPr>
          <p:cNvPr id="21512" name="组合 9235">
            <a:extLst>
              <a:ext uri="{FF2B5EF4-FFF2-40B4-BE49-F238E27FC236}">
                <a16:creationId xmlns:a16="http://schemas.microsoft.com/office/drawing/2014/main" id="{B5D989B5-B940-55BE-85E0-801C1A65D674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1646238"/>
            <a:ext cx="361950" cy="361950"/>
            <a:chOff x="2078" y="1680"/>
            <a:chExt cx="1615" cy="1615"/>
          </a:xfrm>
        </p:grpSpPr>
        <p:sp>
          <p:nvSpPr>
            <p:cNvPr id="21534" name="椭圆 9236">
              <a:extLst>
                <a:ext uri="{FF2B5EF4-FFF2-40B4-BE49-F238E27FC236}">
                  <a16:creationId xmlns:a16="http://schemas.microsoft.com/office/drawing/2014/main" id="{4C6A4BBC-C6B1-44AA-8E12-80D66292F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21535" name="椭圆 9237">
              <a:extLst>
                <a:ext uri="{FF2B5EF4-FFF2-40B4-BE49-F238E27FC236}">
                  <a16:creationId xmlns:a16="http://schemas.microsoft.com/office/drawing/2014/main" id="{D8F2D578-8087-1373-C689-9E1B234B3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39946" name="椭圆 9238">
              <a:extLst>
                <a:ext uri="{FF2B5EF4-FFF2-40B4-BE49-F238E27FC236}">
                  <a16:creationId xmlns:a16="http://schemas.microsoft.com/office/drawing/2014/main" id="{8D4C5188-F4E6-FB08-72AE-FB8DCECBD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1857"/>
              <a:ext cx="1261" cy="126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1800" b="1"/>
            </a:p>
          </p:txBody>
        </p:sp>
        <p:sp>
          <p:nvSpPr>
            <p:cNvPr id="21537" name="椭圆 9239">
              <a:extLst>
                <a:ext uri="{FF2B5EF4-FFF2-40B4-BE49-F238E27FC236}">
                  <a16:creationId xmlns:a16="http://schemas.microsoft.com/office/drawing/2014/main" id="{040EBD2C-F4D9-6D0E-FE5E-83DAE00A0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39948" name="椭圆 9240">
              <a:extLst>
                <a:ext uri="{FF2B5EF4-FFF2-40B4-BE49-F238E27FC236}">
                  <a16:creationId xmlns:a16="http://schemas.microsoft.com/office/drawing/2014/main" id="{4D4E74CC-5094-1241-7A8F-2C2A25D93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" y="1942"/>
              <a:ext cx="1091" cy="1098"/>
            </a:xfrm>
            <a:prstGeom prst="ellipse">
              <a:avLst/>
            </a:prstGeom>
            <a:gradFill rotWithShape="1">
              <a:gsLst>
                <a:gs pos="0">
                  <a:srgbClr val="005353"/>
                </a:gs>
                <a:gs pos="50000">
                  <a:schemeClr val="hlink"/>
                </a:gs>
                <a:gs pos="100000">
                  <a:srgbClr val="005353"/>
                </a:gs>
              </a:gsLst>
              <a:lin ang="18900000" scaled="1"/>
            </a:gradFill>
            <a:ln>
              <a:noFill/>
            </a:ln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1800" b="1"/>
            </a:p>
          </p:txBody>
        </p:sp>
        <p:sp>
          <p:nvSpPr>
            <p:cNvPr id="21539" name="椭圆 9241">
              <a:extLst>
                <a:ext uri="{FF2B5EF4-FFF2-40B4-BE49-F238E27FC236}">
                  <a16:creationId xmlns:a16="http://schemas.microsoft.com/office/drawing/2014/main" id="{59606105-5CC1-968D-D91C-16EA083F1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</p:grpSp>
      <p:grpSp>
        <p:nvGrpSpPr>
          <p:cNvPr id="21513" name="组合 9249">
            <a:extLst>
              <a:ext uri="{FF2B5EF4-FFF2-40B4-BE49-F238E27FC236}">
                <a16:creationId xmlns:a16="http://schemas.microsoft.com/office/drawing/2014/main" id="{85FC91AD-B2C4-FAF3-25F1-38E7661A23B8}"/>
              </a:ext>
            </a:extLst>
          </p:cNvPr>
          <p:cNvGrpSpPr>
            <a:grpSpLocks/>
          </p:cNvGrpSpPr>
          <p:nvPr/>
        </p:nvGrpSpPr>
        <p:grpSpPr bwMode="auto">
          <a:xfrm>
            <a:off x="3705225" y="2492375"/>
            <a:ext cx="361950" cy="361950"/>
            <a:chOff x="2078" y="1680"/>
            <a:chExt cx="1615" cy="1615"/>
          </a:xfrm>
        </p:grpSpPr>
        <p:sp>
          <p:nvSpPr>
            <p:cNvPr id="21528" name="椭圆 9250">
              <a:extLst>
                <a:ext uri="{FF2B5EF4-FFF2-40B4-BE49-F238E27FC236}">
                  <a16:creationId xmlns:a16="http://schemas.microsoft.com/office/drawing/2014/main" id="{84E9C6F1-959E-8E6C-E510-3DC65A317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21529" name="椭圆 9251">
              <a:extLst>
                <a:ext uri="{FF2B5EF4-FFF2-40B4-BE49-F238E27FC236}">
                  <a16:creationId xmlns:a16="http://schemas.microsoft.com/office/drawing/2014/main" id="{038E6E5F-D410-E067-73B0-3D5B49CEF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39953" name="椭圆 9252">
              <a:extLst>
                <a:ext uri="{FF2B5EF4-FFF2-40B4-BE49-F238E27FC236}">
                  <a16:creationId xmlns:a16="http://schemas.microsoft.com/office/drawing/2014/main" id="{411B04FE-6B82-5FCA-13A4-4BFEDC6DD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1857"/>
              <a:ext cx="1261" cy="126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1800" b="1"/>
            </a:p>
          </p:txBody>
        </p:sp>
        <p:sp>
          <p:nvSpPr>
            <p:cNvPr id="21531" name="椭圆 9253">
              <a:extLst>
                <a:ext uri="{FF2B5EF4-FFF2-40B4-BE49-F238E27FC236}">
                  <a16:creationId xmlns:a16="http://schemas.microsoft.com/office/drawing/2014/main" id="{4D42C529-2A2B-F339-14E7-945561C4F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39955" name="椭圆 9254">
              <a:extLst>
                <a:ext uri="{FF2B5EF4-FFF2-40B4-BE49-F238E27FC236}">
                  <a16:creationId xmlns:a16="http://schemas.microsoft.com/office/drawing/2014/main" id="{BB1B9E33-63C8-A131-3C2B-87559B655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" y="1942"/>
              <a:ext cx="1091" cy="1098"/>
            </a:xfrm>
            <a:prstGeom prst="ellipse">
              <a:avLst/>
            </a:prstGeom>
            <a:gradFill rotWithShape="1">
              <a:gsLst>
                <a:gs pos="0">
                  <a:srgbClr val="005353"/>
                </a:gs>
                <a:gs pos="50000">
                  <a:schemeClr val="hlink"/>
                </a:gs>
                <a:gs pos="100000">
                  <a:srgbClr val="005353"/>
                </a:gs>
              </a:gsLst>
              <a:lin ang="18900000" scaled="1"/>
            </a:gradFill>
            <a:ln>
              <a:noFill/>
            </a:ln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1800" b="1"/>
            </a:p>
          </p:txBody>
        </p:sp>
        <p:sp>
          <p:nvSpPr>
            <p:cNvPr id="21533" name="椭圆 9255">
              <a:extLst>
                <a:ext uri="{FF2B5EF4-FFF2-40B4-BE49-F238E27FC236}">
                  <a16:creationId xmlns:a16="http://schemas.microsoft.com/office/drawing/2014/main" id="{34A97054-2071-7AEF-FA79-23C7214FF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</p:grpSp>
      <p:grpSp>
        <p:nvGrpSpPr>
          <p:cNvPr id="21514" name="组合 9263">
            <a:extLst>
              <a:ext uri="{FF2B5EF4-FFF2-40B4-BE49-F238E27FC236}">
                <a16:creationId xmlns:a16="http://schemas.microsoft.com/office/drawing/2014/main" id="{2DD6276F-4D8C-2D04-189C-B174EA8708A7}"/>
              </a:ext>
            </a:extLst>
          </p:cNvPr>
          <p:cNvGrpSpPr>
            <a:grpSpLocks/>
          </p:cNvGrpSpPr>
          <p:nvPr/>
        </p:nvGrpSpPr>
        <p:grpSpPr bwMode="auto">
          <a:xfrm>
            <a:off x="3946525" y="3498850"/>
            <a:ext cx="338138" cy="361950"/>
            <a:chOff x="2078" y="1680"/>
            <a:chExt cx="1615" cy="1615"/>
          </a:xfrm>
        </p:grpSpPr>
        <p:sp>
          <p:nvSpPr>
            <p:cNvPr id="21522" name="椭圆 9264">
              <a:extLst>
                <a:ext uri="{FF2B5EF4-FFF2-40B4-BE49-F238E27FC236}">
                  <a16:creationId xmlns:a16="http://schemas.microsoft.com/office/drawing/2014/main" id="{E93B80C5-3FE1-227C-06AB-CE3AB1553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21523" name="椭圆 9265">
              <a:extLst>
                <a:ext uri="{FF2B5EF4-FFF2-40B4-BE49-F238E27FC236}">
                  <a16:creationId xmlns:a16="http://schemas.microsoft.com/office/drawing/2014/main" id="{0EEE59CC-6747-B6AD-134B-52332202E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39960" name="椭圆 9266">
              <a:extLst>
                <a:ext uri="{FF2B5EF4-FFF2-40B4-BE49-F238E27FC236}">
                  <a16:creationId xmlns:a16="http://schemas.microsoft.com/office/drawing/2014/main" id="{0D0944F8-EF77-1A16-4B56-4C37B33B7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2" y="1857"/>
              <a:ext cx="1266" cy="126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1800" b="1"/>
            </a:p>
          </p:txBody>
        </p:sp>
        <p:sp>
          <p:nvSpPr>
            <p:cNvPr id="21525" name="椭圆 9267">
              <a:extLst>
                <a:ext uri="{FF2B5EF4-FFF2-40B4-BE49-F238E27FC236}">
                  <a16:creationId xmlns:a16="http://schemas.microsoft.com/office/drawing/2014/main" id="{101E9918-A584-9A77-D0B0-A5BB28BBE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  <p:sp>
          <p:nvSpPr>
            <p:cNvPr id="39962" name="椭圆 9268">
              <a:extLst>
                <a:ext uri="{FF2B5EF4-FFF2-40B4-BE49-F238E27FC236}">
                  <a16:creationId xmlns:a16="http://schemas.microsoft.com/office/drawing/2014/main" id="{6E16A775-E624-1249-5419-1AE44C248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1942"/>
              <a:ext cx="1099" cy="1098"/>
            </a:xfrm>
            <a:prstGeom prst="ellipse">
              <a:avLst/>
            </a:prstGeom>
            <a:gradFill rotWithShape="1">
              <a:gsLst>
                <a:gs pos="0">
                  <a:srgbClr val="005353"/>
                </a:gs>
                <a:gs pos="50000">
                  <a:schemeClr val="hlink"/>
                </a:gs>
                <a:gs pos="100000">
                  <a:srgbClr val="005353"/>
                </a:gs>
              </a:gsLst>
              <a:lin ang="18900000" scaled="1"/>
            </a:gradFill>
            <a:ln>
              <a:noFill/>
            </a:ln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1800" b="1"/>
            </a:p>
          </p:txBody>
        </p:sp>
        <p:sp>
          <p:nvSpPr>
            <p:cNvPr id="21527" name="椭圆 9269">
              <a:extLst>
                <a:ext uri="{FF2B5EF4-FFF2-40B4-BE49-F238E27FC236}">
                  <a16:creationId xmlns:a16="http://schemas.microsoft.com/office/drawing/2014/main" id="{8FBF4962-44C7-F133-2F77-B0DC5B5DF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/>
            </a:p>
          </p:txBody>
        </p:sp>
      </p:grpSp>
      <p:sp>
        <p:nvSpPr>
          <p:cNvPr id="21515" name="矩形 9283">
            <a:extLst>
              <a:ext uri="{FF2B5EF4-FFF2-40B4-BE49-F238E27FC236}">
                <a16:creationId xmlns:a16="http://schemas.microsoft.com/office/drawing/2014/main" id="{7B65B2DE-1034-E1CE-798D-9B30906E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260350"/>
            <a:ext cx="6553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</a:rPr>
              <a:t>第</a:t>
            </a:r>
            <a:r>
              <a:rPr lang="en-US" altLang="zh-CN" sz="2800" b="1">
                <a:solidFill>
                  <a:srgbClr val="0000FF"/>
                </a:solidFill>
              </a:rPr>
              <a:t>9</a:t>
            </a:r>
            <a:r>
              <a:rPr lang="zh-CN" altLang="en-US" sz="2800" b="1">
                <a:solidFill>
                  <a:srgbClr val="0000FF"/>
                </a:solidFill>
              </a:rPr>
              <a:t>章 </a:t>
            </a:r>
            <a:r>
              <a:rPr lang="en-US" altLang="zh-CN" sz="2800" b="1">
                <a:solidFill>
                  <a:srgbClr val="0000FF"/>
                </a:solidFill>
              </a:rPr>
              <a:t>ROS2</a:t>
            </a:r>
            <a:r>
              <a:rPr lang="zh-CN" altLang="zh-CN" sz="2800" b="1">
                <a:solidFill>
                  <a:srgbClr val="0000FF"/>
                </a:solidFill>
              </a:rPr>
              <a:t>中的图像视觉应用</a:t>
            </a:r>
            <a:endParaRPr lang="zh-CN" altLang="en-US" sz="2800" b="1">
              <a:solidFill>
                <a:srgbClr val="0000FF"/>
              </a:solidFill>
            </a:endParaRPr>
          </a:p>
        </p:txBody>
      </p:sp>
      <p:sp>
        <p:nvSpPr>
          <p:cNvPr id="21516" name="矩形 9284">
            <a:extLst>
              <a:ext uri="{FF2B5EF4-FFF2-40B4-BE49-F238E27FC236}">
                <a16:creationId xmlns:a16="http://schemas.microsoft.com/office/drawing/2014/main" id="{9415531C-8756-638A-BBCF-BE8DE7755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0" y="2519363"/>
            <a:ext cx="3998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tx2"/>
                </a:solidFill>
                <a:ea typeface="楷体_GB2312" pitchFamily="49" charset="-122"/>
              </a:rPr>
              <a:t>9.2 </a:t>
            </a:r>
            <a:r>
              <a:rPr lang="en-US" altLang="zh-CN" sz="1800" b="1">
                <a:latin typeface="Times New Roman" panose="02020603050405020304" pitchFamily="18" charset="0"/>
              </a:rPr>
              <a:t>OpenCV</a:t>
            </a:r>
            <a:r>
              <a:rPr lang="zh-CN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颜色特征提取和目标定位</a:t>
            </a:r>
            <a:endParaRPr lang="zh-CN" altLang="en-US" sz="1800" b="1">
              <a:solidFill>
                <a:schemeClr val="tx2"/>
              </a:solidFill>
              <a:ea typeface="楷体_GB2312" pitchFamily="49" charset="-122"/>
            </a:endParaRPr>
          </a:p>
        </p:txBody>
      </p:sp>
      <p:sp>
        <p:nvSpPr>
          <p:cNvPr id="21517" name="矩形 9284">
            <a:extLst>
              <a:ext uri="{FF2B5EF4-FFF2-40B4-BE49-F238E27FC236}">
                <a16:creationId xmlns:a16="http://schemas.microsoft.com/office/drawing/2014/main" id="{62323CD7-7366-D64A-B278-0C0830CC4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1592263"/>
            <a:ext cx="26622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tx2"/>
                </a:solidFill>
                <a:ea typeface="楷体_GB2312" pitchFamily="49" charset="-122"/>
              </a:rPr>
              <a:t>9.1 </a:t>
            </a:r>
            <a:r>
              <a:rPr lang="zh-CN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视觉图像数据的获取</a:t>
            </a:r>
            <a:endParaRPr lang="zh-CN" altLang="en-US" sz="1800" b="1">
              <a:solidFill>
                <a:schemeClr val="tx2"/>
              </a:solidFill>
              <a:ea typeface="楷体_GB2312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CA5994-09D7-9613-651F-C51A21135F9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79912" y="4431360"/>
            <a:ext cx="335309" cy="365792"/>
          </a:xfrm>
          <a:prstGeom prst="rect">
            <a:avLst/>
          </a:prstGeom>
        </p:spPr>
      </p:pic>
      <p:sp>
        <p:nvSpPr>
          <p:cNvPr id="21519" name="圆角矩形 9232">
            <a:extLst>
              <a:ext uri="{FF2B5EF4-FFF2-40B4-BE49-F238E27FC236}">
                <a16:creationId xmlns:a16="http://schemas.microsoft.com/office/drawing/2014/main" id="{35ABFE32-0031-23F4-1FFC-B39828C2E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4386263"/>
            <a:ext cx="3805237" cy="473075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ea typeface="楷体_GB2312" pitchFamily="49" charset="-122"/>
              </a:rPr>
              <a:t> 9.4 </a:t>
            </a:r>
            <a:r>
              <a:rPr lang="zh-CN" altLang="zh-CN" sz="1800" b="1">
                <a:latin typeface="Calibri" panose="020F0502020204030204" pitchFamily="34" charset="0"/>
                <a:cs typeface="Times New Roman" panose="02020603050405020304" pitchFamily="18" charset="0"/>
              </a:rPr>
              <a:t>基于图像视觉的人脸检测实现</a:t>
            </a:r>
            <a:endParaRPr lang="zh-CN" altLang="en-US" sz="18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8E6D4228-A02B-0E8E-BDCD-8D41563A481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119207" y="5259403"/>
            <a:ext cx="335309" cy="365792"/>
          </a:xfrm>
          <a:prstGeom prst="rect">
            <a:avLst/>
          </a:prstGeom>
        </p:spPr>
      </p:pic>
      <p:sp>
        <p:nvSpPr>
          <p:cNvPr id="21521" name="圆角矩形 9232">
            <a:extLst>
              <a:ext uri="{FF2B5EF4-FFF2-40B4-BE49-F238E27FC236}">
                <a16:creationId xmlns:a16="http://schemas.microsoft.com/office/drawing/2014/main" id="{938FFC0B-484C-46ED-9AEE-D26937E74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264150"/>
            <a:ext cx="3181350" cy="42703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ea typeface="楷体_GB2312" pitchFamily="49" charset="-122"/>
              </a:rPr>
              <a:t>9.5 </a:t>
            </a:r>
            <a:r>
              <a:rPr lang="zh-CN" altLang="zh-CN" sz="1800" b="1"/>
              <a:t>本章小结</a:t>
            </a:r>
            <a:endParaRPr lang="zh-CN" altLang="en-US" sz="18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264200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236545">
            <a:extLst>
              <a:ext uri="{FF2B5EF4-FFF2-40B4-BE49-F238E27FC236}">
                <a16:creationId xmlns:a16="http://schemas.microsoft.com/office/drawing/2014/main" id="{A942090F-3CA6-F47E-D3A5-D555F8E47EB8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/>
              <a:t>9.1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视觉图像数据的获取</a:t>
            </a:r>
            <a:endParaRPr lang="zh-CN" altLang="zh-CN" sz="2800" b="1"/>
          </a:p>
        </p:txBody>
      </p:sp>
      <p:sp>
        <p:nvSpPr>
          <p:cNvPr id="22531" name="文本框 19">
            <a:extLst>
              <a:ext uri="{FF2B5EF4-FFF2-40B4-BE49-F238E27FC236}">
                <a16:creationId xmlns:a16="http://schemas.microsoft.com/office/drawing/2014/main" id="{BACA8CA4-055B-B267-E14F-131B982F1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4538" y="5661025"/>
            <a:ext cx="51149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chemeClr val="tx2"/>
                </a:solidFill>
              </a:rPr>
              <a:t>        </a:t>
            </a:r>
            <a:r>
              <a:rPr kumimoji="1"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详细操作步骤见教材</a:t>
            </a:r>
            <a:r>
              <a:rPr kumimoji="1" lang="en-US" altLang="zh-CN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P260-P272</a:t>
            </a:r>
            <a:r>
              <a:rPr kumimoji="1"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页</a:t>
            </a:r>
          </a:p>
        </p:txBody>
      </p:sp>
      <p:pic>
        <p:nvPicPr>
          <p:cNvPr id="22532" name="图片 1">
            <a:extLst>
              <a:ext uri="{FF2B5EF4-FFF2-40B4-BE49-F238E27FC236}">
                <a16:creationId xmlns:a16="http://schemas.microsoft.com/office/drawing/2014/main" id="{812BD099-A817-6CB2-F0A1-F5D7AFA5D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2660650"/>
            <a:ext cx="4897437" cy="281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文本框 3">
            <a:extLst>
              <a:ext uri="{FF2B5EF4-FFF2-40B4-BE49-F238E27FC236}">
                <a16:creationId xmlns:a16="http://schemas.microsoft.com/office/drawing/2014/main" id="{8601C2E5-91D3-DEC7-0574-0DACFADFD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225" y="1258888"/>
            <a:ext cx="7777163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视觉图像数据的获取是通过订阅相机驱动节点发布的话题，从话题中获取相机发出的消息包来实现的。机器人头部安装的是</a:t>
            </a:r>
            <a:r>
              <a:rPr lang="en-US" altLang="zh-CN" sz="1800">
                <a:latin typeface="Times New Roman" panose="02020603050405020304" pitchFamily="18" charset="0"/>
              </a:rPr>
              <a:t>Kinect V2 RGB-D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相机，对应的话题名称为</a:t>
            </a:r>
            <a:r>
              <a:rPr lang="en-US" altLang="zh-CN" sz="1800" b="1">
                <a:solidFill>
                  <a:srgbClr val="FF0000"/>
                </a:solidFill>
                <a:latin typeface="Times New Roman" panose="02020603050405020304" pitchFamily="18" charset="0"/>
              </a:rPr>
              <a:t>“/kinect2/qhd/image_raw”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，话题中的消息包格式为</a:t>
            </a:r>
            <a:r>
              <a:rPr lang="en-US" altLang="zh-CN" sz="1800" b="1">
                <a:solidFill>
                  <a:srgbClr val="FF0000"/>
                </a:solidFill>
                <a:latin typeface="Times New Roman" panose="02020603050405020304" pitchFamily="18" charset="0"/>
              </a:rPr>
              <a:t>sensor_msgs::Image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344961529"/>
      </p:ext>
    </p:extLst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236545">
            <a:extLst>
              <a:ext uri="{FF2B5EF4-FFF2-40B4-BE49-F238E27FC236}">
                <a16:creationId xmlns:a16="http://schemas.microsoft.com/office/drawing/2014/main" id="{1B196365-23E9-7D51-1C2F-121BF1BFF3A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/>
              <a:t>9.1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视觉图像数据的获取</a:t>
            </a:r>
            <a:endParaRPr lang="zh-CN" altLang="zh-CN" sz="2800" b="1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4E46C8-2514-8D98-3F40-6A358A5962F3}"/>
              </a:ext>
            </a:extLst>
          </p:cNvPr>
          <p:cNvSpPr txBox="1"/>
          <p:nvPr/>
        </p:nvSpPr>
        <p:spPr>
          <a:xfrm>
            <a:off x="971550" y="1335088"/>
            <a:ext cx="7704138" cy="11572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本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实验将会实现一个订阅者节点，订阅相机发布的话题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"/kinect2/qhd/image_raw"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。从此话题中接收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sensor_msgs::Image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类型的消息包，并将其中的图像数据转换成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的格式。最后使用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的图形显示接口，将图像显示在图形窗口中。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1D63E3-D680-A8FF-64D3-3E22C4AA2272}"/>
              </a:ext>
            </a:extLst>
          </p:cNvPr>
          <p:cNvSpPr txBox="1"/>
          <p:nvPr/>
        </p:nvSpPr>
        <p:spPr>
          <a:xfrm>
            <a:off x="1042988" y="2659063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9.1.1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编写图像数据获取程序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D5FB80-E745-ADBD-517D-F3735A15222F}"/>
              </a:ext>
            </a:extLst>
          </p:cNvPr>
          <p:cNvSpPr txBox="1"/>
          <p:nvPr/>
        </p:nvSpPr>
        <p:spPr>
          <a:xfrm>
            <a:off x="1039813" y="3667125"/>
            <a:ext cx="7635875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cd ~/ros2_ws/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src</a:t>
            </a:r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5884BF-3DD9-7852-CE3E-E610A077B89A}"/>
              </a:ext>
            </a:extLst>
          </p:cNvPr>
          <p:cNvSpPr txBox="1"/>
          <p:nvPr/>
        </p:nvSpPr>
        <p:spPr>
          <a:xfrm>
            <a:off x="1039813" y="4067175"/>
            <a:ext cx="7635875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pkg create </a:t>
            </a:r>
            <a:r>
              <a:rPr lang="en-US" altLang="zh-CN" sz="1600" dirty="0" err="1">
                <a:latin typeface="Times New Roman" panose="02020603050405020304" pitchFamily="18" charset="0"/>
              </a:rPr>
              <a:t>cv_pkg</a:t>
            </a:r>
            <a:endParaRPr lang="zh-CN" altLang="en-US" sz="1600" dirty="0"/>
          </a:p>
        </p:txBody>
      </p:sp>
      <p:sp>
        <p:nvSpPr>
          <p:cNvPr id="23559" name="文本框 10">
            <a:extLst>
              <a:ext uri="{FF2B5EF4-FFF2-40B4-BE49-F238E27FC236}">
                <a16:creationId xmlns:a16="http://schemas.microsoft.com/office/drawing/2014/main" id="{939FF9FC-0F72-FEC6-8EDC-D565EBCA9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338" y="3251200"/>
            <a:ext cx="6985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打开一个新的终端窗口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在工作空间中创建一个名为</a:t>
            </a:r>
            <a:r>
              <a:rPr lang="en-US" altLang="zh-CN" sz="1600">
                <a:latin typeface="Times New Roman" panose="02020603050405020304" pitchFamily="18" charset="0"/>
              </a:rPr>
              <a:t>“cv_pkg”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的软件包。</a:t>
            </a:r>
            <a:endParaRPr lang="zh-CN" altLang="en-US" sz="16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5EDDF65-0D4A-B4CC-5989-08BBA3BE596E}"/>
              </a:ext>
            </a:extLst>
          </p:cNvPr>
          <p:cNvSpPr txBox="1"/>
          <p:nvPr/>
        </p:nvSpPr>
        <p:spPr>
          <a:xfrm>
            <a:off x="1042988" y="4532313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编写节点代码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561" name="文本框 10">
            <a:extLst>
              <a:ext uri="{FF2B5EF4-FFF2-40B4-BE49-F238E27FC236}">
                <a16:creationId xmlns:a16="http://schemas.microsoft.com/office/drawing/2014/main" id="{58D6FAC4-68B9-929B-69BC-64575CF69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997450"/>
            <a:ext cx="7608888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在</a:t>
            </a:r>
            <a:r>
              <a:rPr lang="en-US" altLang="zh-CN" sz="1600">
                <a:latin typeface="Times New Roman" panose="02020603050405020304" pitchFamily="18" charset="0"/>
              </a:rPr>
              <a:t>cv_pkg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软件包中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600">
                <a:latin typeface="Times New Roman" panose="02020603050405020304" pitchFamily="18" charset="0"/>
              </a:rPr>
              <a:t>[src]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文件夹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新建文件，命名为</a:t>
            </a:r>
            <a:r>
              <a:rPr lang="en-US" altLang="zh-CN" sz="1600">
                <a:latin typeface="Times New Roman" panose="02020603050405020304" pitchFamily="18" charset="0"/>
              </a:rPr>
              <a:t>“cv_image.cpp”</a:t>
            </a:r>
            <a:r>
              <a:rPr lang="zh-CN" altLang="en-US" sz="1600">
                <a:latin typeface="Times New Roman" panose="02020603050405020304" pitchFamily="18" charset="0"/>
              </a:rPr>
              <a:t>。</a:t>
            </a:r>
            <a:endParaRPr lang="zh-CN" altLang="en-US" sz="16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400981E-F531-385F-6CFD-A7D0D8D60D7F}"/>
              </a:ext>
            </a:extLst>
          </p:cNvPr>
          <p:cNvSpPr txBox="1"/>
          <p:nvPr/>
        </p:nvSpPr>
        <p:spPr>
          <a:xfrm>
            <a:off x="971550" y="5538788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下面编写这个代码文件内容：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93993"/>
      </p:ext>
    </p:extLst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36545">
            <a:extLst>
              <a:ext uri="{FF2B5EF4-FFF2-40B4-BE49-F238E27FC236}">
                <a16:creationId xmlns:a16="http://schemas.microsoft.com/office/drawing/2014/main" id="{D5D1D3B4-C74D-16B3-7661-3C81319512D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/>
              <a:t>9.1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视觉图像数据的获取</a:t>
            </a:r>
            <a:endParaRPr lang="zh-CN" altLang="zh-CN" sz="2800" b="1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79BF66-8AD8-AA11-FE1F-90ABE4E3795D}"/>
              </a:ext>
            </a:extLst>
          </p:cNvPr>
          <p:cNvSpPr txBox="1"/>
          <p:nvPr/>
        </p:nvSpPr>
        <p:spPr>
          <a:xfrm>
            <a:off x="971550" y="1484313"/>
            <a:ext cx="7561263" cy="42783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/rclcpp.hpp&gt;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/msg/image.hpp&gt;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cv_bridge.h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&lt;opencv2/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imgproc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/imgproc.hpp&gt;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&lt;opencv2/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highgui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/highgui.hpp&gt;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shared_ptr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::Node&gt; node;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CamRGBCallback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(const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::msg::Image::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msg)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CvImagePtr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266700"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toCvCopy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(msg,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image_encodings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::BGR8);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121920"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266700"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cv::Mat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imgOriginal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-&gt;image;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cv::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("RGB",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imgOriginal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cv::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waitKey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347900"/>
      </p:ext>
    </p:extLst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236545">
            <a:extLst>
              <a:ext uri="{FF2B5EF4-FFF2-40B4-BE49-F238E27FC236}">
                <a16:creationId xmlns:a16="http://schemas.microsoft.com/office/drawing/2014/main" id="{51BC3C72-32F8-4C42-08A1-7BACCD93E75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/>
              <a:t>9.1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视觉图像数据的获取</a:t>
            </a:r>
            <a:endParaRPr lang="zh-CN" altLang="zh-CN" sz="2800" b="1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CA70E0-6620-5705-2ACD-E2BB94988D94}"/>
              </a:ext>
            </a:extLst>
          </p:cNvPr>
          <p:cNvSpPr txBox="1"/>
          <p:nvPr/>
        </p:nvSpPr>
        <p:spPr>
          <a:xfrm>
            <a:off x="971550" y="1484313"/>
            <a:ext cx="7561263" cy="45243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char **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 = std::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make_shared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::Node&gt;("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cv_image_node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auto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rgb_sub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node-&gt;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create_subscription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::msg::Image&gt;(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"/kinect2/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qhd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image_raw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1,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CamRGBCallback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cv::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namedWindow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("RGB");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::spin(node);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cv::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destroyAllWindows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::shutdown();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799011"/>
      </p:ext>
    </p:extLst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236545">
            <a:extLst>
              <a:ext uri="{FF2B5EF4-FFF2-40B4-BE49-F238E27FC236}">
                <a16:creationId xmlns:a16="http://schemas.microsoft.com/office/drawing/2014/main" id="{AF0F9E1D-EE48-BFB4-CF54-F1BC719E51D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/>
              <a:t>9.1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视觉图像数据的获取</a:t>
            </a:r>
            <a:endParaRPr lang="zh-CN" altLang="zh-CN" sz="2800" b="1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9F7DFAC-A1A7-45AC-1557-7D2A7F8EA547}"/>
              </a:ext>
            </a:extLst>
          </p:cNvPr>
          <p:cNvSpPr txBox="1"/>
          <p:nvPr/>
        </p:nvSpPr>
        <p:spPr>
          <a:xfrm>
            <a:off x="971550" y="1052513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设置编译规则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91EEF1-D991-1A99-CC28-BF319CFCB60B}"/>
              </a:ext>
            </a:extLst>
          </p:cNvPr>
          <p:cNvSpPr txBox="1"/>
          <p:nvPr/>
        </p:nvSpPr>
        <p:spPr>
          <a:xfrm>
            <a:off x="1116013" y="1412875"/>
            <a:ext cx="7416800" cy="10763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REQUIRED)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REQUIRED)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REQUIRED)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 err="1">
                <a:latin typeface="Times New Roman" panose="02020603050405020304" pitchFamily="18" charset="0"/>
              </a:rPr>
              <a:t>find_package</a:t>
            </a:r>
            <a:r>
              <a:rPr lang="en-US" altLang="zh-CN" sz="1600" dirty="0">
                <a:latin typeface="Times New Roman" panose="02020603050405020304" pitchFamily="18" charset="0"/>
              </a:rPr>
              <a:t>(OpenCV REQUIRED)</a:t>
            </a:r>
            <a:endParaRPr lang="zh-CN" altLang="en-US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30D06D-D80D-17E8-D592-5D239DF79F94}"/>
              </a:ext>
            </a:extLst>
          </p:cNvPr>
          <p:cNvSpPr txBox="1"/>
          <p:nvPr/>
        </p:nvSpPr>
        <p:spPr>
          <a:xfrm>
            <a:off x="1112838" y="2519363"/>
            <a:ext cx="7419975" cy="584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add_executable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cv_image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/cv_image.cpp)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 err="1">
                <a:latin typeface="Times New Roman" panose="02020603050405020304" pitchFamily="18" charset="0"/>
              </a:rPr>
              <a:t>ament_target_dependencies</a:t>
            </a:r>
            <a:r>
              <a:rPr lang="en-US" altLang="zh-CN" sz="1600" dirty="0">
                <a:latin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</a:rPr>
              <a:t>cv_image</a:t>
            </a:r>
            <a:r>
              <a:rPr lang="en-US" altLang="zh-CN" sz="1600" dirty="0">
                <a:latin typeface="Times New Roman" panose="02020603050405020304" pitchFamily="18" charset="0"/>
              </a:rPr>
              <a:t> "</a:t>
            </a:r>
            <a:r>
              <a:rPr lang="en-US" altLang="zh-CN" sz="1600" dirty="0" err="1">
                <a:latin typeface="Times New Roman" panose="02020603050405020304" pitchFamily="18" charset="0"/>
              </a:rPr>
              <a:t>rclcpp</a:t>
            </a:r>
            <a:r>
              <a:rPr lang="en-US" altLang="zh-CN" sz="1600" dirty="0">
                <a:latin typeface="Times New Roman" panose="02020603050405020304" pitchFamily="18" charset="0"/>
              </a:rPr>
              <a:t>" "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sensor_msgs</a:t>
            </a:r>
            <a:r>
              <a:rPr lang="en-US" altLang="zh-CN" sz="1600" dirty="0">
                <a:latin typeface="Times New Roman" panose="02020603050405020304" pitchFamily="18" charset="0"/>
              </a:rPr>
              <a:t>" "</a:t>
            </a:r>
            <a:r>
              <a:rPr lang="en-US" altLang="zh-CN" sz="1600" dirty="0" err="1">
                <a:latin typeface="Times New Roman" panose="02020603050405020304" pitchFamily="18" charset="0"/>
              </a:rPr>
              <a:t>cv_bridge</a:t>
            </a:r>
            <a:r>
              <a:rPr lang="en-US" altLang="zh-CN" sz="1600" dirty="0">
                <a:latin typeface="Times New Roman" panose="02020603050405020304" pitchFamily="18" charset="0"/>
              </a:rPr>
              <a:t>" "OpenCV")</a:t>
            </a:r>
            <a:endParaRPr lang="zh-CN" altLang="en-US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9B2822-F120-6A90-685D-B6EC13F2BFB4}"/>
              </a:ext>
            </a:extLst>
          </p:cNvPr>
          <p:cNvSpPr txBox="1"/>
          <p:nvPr/>
        </p:nvSpPr>
        <p:spPr>
          <a:xfrm>
            <a:off x="1116013" y="3138488"/>
            <a:ext cx="7416800" cy="6159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install(TARGETS  </a:t>
            </a:r>
            <a:r>
              <a:rPr lang="en-US" altLang="zh-CN" dirty="0" err="1">
                <a:latin typeface="Times New Roman" panose="02020603050405020304" pitchFamily="18" charset="0"/>
              </a:rPr>
              <a:t>cv_image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DESTINATION  lib/${PROJECT_NAME})</a:t>
            </a:r>
            <a:endParaRPr lang="zh-CN" altLang="en-US"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009484-57E9-0F5B-6E67-85420E5EC364}"/>
              </a:ext>
            </a:extLst>
          </p:cNvPr>
          <p:cNvSpPr txBox="1"/>
          <p:nvPr/>
        </p:nvSpPr>
        <p:spPr>
          <a:xfrm>
            <a:off x="971550" y="3789363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修改软件包信息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1040B4-4CF0-D751-771A-D4B75D73F45A}"/>
              </a:ext>
            </a:extLst>
          </p:cNvPr>
          <p:cNvSpPr txBox="1"/>
          <p:nvPr/>
        </p:nvSpPr>
        <p:spPr>
          <a:xfrm>
            <a:off x="1135063" y="4149725"/>
            <a:ext cx="7397750" cy="10763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&lt;depend&gt;OpenCV&lt;/depend&gt; </a:t>
            </a:r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5C95E0-64BE-467D-A5C0-1E9BA8A0EA3F}"/>
              </a:ext>
            </a:extLst>
          </p:cNvPr>
          <p:cNvSpPr txBox="1"/>
          <p:nvPr/>
        </p:nvSpPr>
        <p:spPr>
          <a:xfrm>
            <a:off x="969963" y="5229225"/>
            <a:ext cx="4572000" cy="3381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编译软件包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36D852-9CFB-ECDD-042F-EEBBC1885B10}"/>
              </a:ext>
            </a:extLst>
          </p:cNvPr>
          <p:cNvSpPr txBox="1"/>
          <p:nvPr/>
        </p:nvSpPr>
        <p:spPr>
          <a:xfrm>
            <a:off x="1112838" y="5561013"/>
            <a:ext cx="7397750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cd ~/ros2_ws</a:t>
            </a:r>
            <a:endParaRPr lang="zh-CN" altLang="en-US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4E5DF0D-C67E-6CB9-8B18-BB10C12C00AD}"/>
              </a:ext>
            </a:extLst>
          </p:cNvPr>
          <p:cNvSpPr txBox="1"/>
          <p:nvPr/>
        </p:nvSpPr>
        <p:spPr>
          <a:xfrm>
            <a:off x="1112838" y="5935663"/>
            <a:ext cx="7397750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 err="1">
                <a:latin typeface="Times New Roman" panose="02020603050405020304" pitchFamily="18" charset="0"/>
              </a:rPr>
              <a:t>colcon</a:t>
            </a:r>
            <a:r>
              <a:rPr lang="en-US" altLang="zh-CN" sz="1600" dirty="0">
                <a:latin typeface="Times New Roman" panose="02020603050405020304" pitchFamily="18" charset="0"/>
              </a:rPr>
              <a:t> build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6884671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236545">
            <a:extLst>
              <a:ext uri="{FF2B5EF4-FFF2-40B4-BE49-F238E27FC236}">
                <a16:creationId xmlns:a16="http://schemas.microsoft.com/office/drawing/2014/main" id="{71CEB725-0B4E-77F4-0AE7-C77703D82D8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/>
              <a:t>9.1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视觉图像数据的获取</a:t>
            </a:r>
            <a:endParaRPr lang="zh-CN" altLang="zh-CN" sz="2800" b="1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EC4B36-43FD-79DB-30C6-ECA017609E3A}"/>
              </a:ext>
            </a:extLst>
          </p:cNvPr>
          <p:cNvSpPr txBox="1"/>
          <p:nvPr/>
        </p:nvSpPr>
        <p:spPr>
          <a:xfrm>
            <a:off x="971550" y="1125538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9.1.2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仿真运行图像数据获取程序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3A21D71-AC2D-73FA-10BB-E8C8A9173E4F}"/>
              </a:ext>
            </a:extLst>
          </p:cNvPr>
          <p:cNvSpPr txBox="1"/>
          <p:nvPr/>
        </p:nvSpPr>
        <p:spPr>
          <a:xfrm>
            <a:off x="1116013" y="1701800"/>
            <a:ext cx="7488237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setup.bash</a:t>
            </a:r>
            <a:endParaRPr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FD67BCA-BCC7-9485-45F4-C96C99F80A51}"/>
              </a:ext>
            </a:extLst>
          </p:cNvPr>
          <p:cNvSpPr txBox="1"/>
          <p:nvPr/>
        </p:nvSpPr>
        <p:spPr>
          <a:xfrm>
            <a:off x="1116013" y="2082800"/>
            <a:ext cx="7488237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launch wpr_simulation2 wpb_balls.launch.py</a:t>
            </a:r>
            <a:endParaRPr lang="zh-CN" altLang="en-US" sz="1600" dirty="0"/>
          </a:p>
        </p:txBody>
      </p:sp>
      <p:pic>
        <p:nvPicPr>
          <p:cNvPr id="27654" name="图片 16">
            <a:extLst>
              <a:ext uri="{FF2B5EF4-FFF2-40B4-BE49-F238E27FC236}">
                <a16:creationId xmlns:a16="http://schemas.microsoft.com/office/drawing/2014/main" id="{0DB67B54-EB40-E253-8C2A-33570C75E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565400"/>
            <a:ext cx="6096000" cy="345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3909261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236545">
            <a:extLst>
              <a:ext uri="{FF2B5EF4-FFF2-40B4-BE49-F238E27FC236}">
                <a16:creationId xmlns:a16="http://schemas.microsoft.com/office/drawing/2014/main" id="{FBA26937-AC26-BA9A-3259-2E2FE924F75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/>
              <a:t>9.1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视觉图像数据的获取</a:t>
            </a:r>
            <a:endParaRPr lang="zh-CN" altLang="zh-CN" sz="2800" b="1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40E64D9-C503-03AE-B1B3-7F97E45B8BAD}"/>
              </a:ext>
            </a:extLst>
          </p:cNvPr>
          <p:cNvSpPr txBox="1"/>
          <p:nvPr/>
        </p:nvSpPr>
        <p:spPr>
          <a:xfrm>
            <a:off x="1116013" y="1628775"/>
            <a:ext cx="7488237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setup.bash</a:t>
            </a:r>
            <a:endParaRPr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B184282-6158-0084-3D51-75F0BF193961}"/>
              </a:ext>
            </a:extLst>
          </p:cNvPr>
          <p:cNvSpPr txBox="1"/>
          <p:nvPr/>
        </p:nvSpPr>
        <p:spPr>
          <a:xfrm>
            <a:off x="1116013" y="2009775"/>
            <a:ext cx="7488237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run </a:t>
            </a:r>
            <a:r>
              <a:rPr lang="en-US" altLang="zh-CN" sz="1600" dirty="0" err="1">
                <a:latin typeface="Times New Roman" panose="02020603050405020304" pitchFamily="18" charset="0"/>
              </a:rPr>
              <a:t>cv_pkg</a:t>
            </a:r>
            <a:r>
              <a:rPr lang="en-US" altLang="zh-CN" sz="1600" dirty="0">
                <a:latin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</a:rPr>
              <a:t>cv_image</a:t>
            </a:r>
            <a:endParaRPr lang="zh-CN" altLang="en-US" sz="1600" dirty="0"/>
          </a:p>
        </p:txBody>
      </p:sp>
      <p:sp>
        <p:nvSpPr>
          <p:cNvPr id="28677" name="文本框 2">
            <a:extLst>
              <a:ext uri="{FF2B5EF4-FFF2-40B4-BE49-F238E27FC236}">
                <a16:creationId xmlns:a16="http://schemas.microsoft.com/office/drawing/2014/main" id="{40CFB1B5-AB0A-A4C9-5251-41AEBF4F1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173163"/>
            <a:ext cx="4572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打开第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个子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窗口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600"/>
          </a:p>
        </p:txBody>
      </p:sp>
      <p:pic>
        <p:nvPicPr>
          <p:cNvPr id="28678" name="图片 3">
            <a:extLst>
              <a:ext uri="{FF2B5EF4-FFF2-40B4-BE49-F238E27FC236}">
                <a16:creationId xmlns:a16="http://schemas.microsoft.com/office/drawing/2014/main" id="{F3C01D30-6CE3-D000-7201-511375D10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3284538"/>
            <a:ext cx="4681538" cy="281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9" name="文本框 5">
            <a:extLst>
              <a:ext uri="{FF2B5EF4-FFF2-40B4-BE49-F238E27FC236}">
                <a16:creationId xmlns:a16="http://schemas.microsoft.com/office/drawing/2014/main" id="{79C6947E-5B58-BE5C-F93E-C8AEB9EA9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349500"/>
            <a:ext cx="7488237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节点运行起来之后，会弹出一个名为</a:t>
            </a:r>
            <a:r>
              <a:rPr lang="en-US" altLang="zh-CN" sz="1600">
                <a:latin typeface="Times New Roman" panose="02020603050405020304" pitchFamily="18" charset="0"/>
              </a:rPr>
              <a:t>“RGB”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窗口程序，显示机器人头部相机所看到的四个颜色球的图像。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809748593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236545">
            <a:extLst>
              <a:ext uri="{FF2B5EF4-FFF2-40B4-BE49-F238E27FC236}">
                <a16:creationId xmlns:a16="http://schemas.microsoft.com/office/drawing/2014/main" id="{AE7DC236-6341-483B-B4CC-5D1DD1420F0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/>
              <a:t>9.1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视觉图像数据的获取</a:t>
            </a:r>
            <a:endParaRPr lang="zh-CN" altLang="zh-CN" sz="2800" b="1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EB8623C-FA23-BE38-3A1D-773F2EFB6D7D}"/>
              </a:ext>
            </a:extLst>
          </p:cNvPr>
          <p:cNvSpPr txBox="1"/>
          <p:nvPr/>
        </p:nvSpPr>
        <p:spPr>
          <a:xfrm>
            <a:off x="1116013" y="1989138"/>
            <a:ext cx="7488237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setup.bash</a:t>
            </a:r>
            <a:endParaRPr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6864687-52BA-DE95-B3AD-D2E5998B5C17}"/>
              </a:ext>
            </a:extLst>
          </p:cNvPr>
          <p:cNvSpPr txBox="1"/>
          <p:nvPr/>
        </p:nvSpPr>
        <p:spPr>
          <a:xfrm>
            <a:off x="1116013" y="2370138"/>
            <a:ext cx="7488237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run wpr_simulation2 </a:t>
            </a:r>
            <a:r>
              <a:rPr lang="en-US" altLang="zh-CN" sz="1600" dirty="0" err="1">
                <a:latin typeface="Times New Roman" panose="02020603050405020304" pitchFamily="18" charset="0"/>
              </a:rPr>
              <a:t>ball_random_move</a:t>
            </a:r>
            <a:endParaRPr lang="zh-CN" altLang="en-US" sz="1600" dirty="0"/>
          </a:p>
        </p:txBody>
      </p:sp>
      <p:sp>
        <p:nvSpPr>
          <p:cNvPr id="29701" name="文本框 2">
            <a:extLst>
              <a:ext uri="{FF2B5EF4-FFF2-40B4-BE49-F238E27FC236}">
                <a16:creationId xmlns:a16="http://schemas.microsoft.com/office/drawing/2014/main" id="{9E36DAB2-2FB1-B1FF-EC1B-770C74D1A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173163"/>
            <a:ext cx="7705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为了测试这个图像是不是实时获取的，可以借助</a:t>
            </a:r>
            <a:r>
              <a:rPr lang="en-US" altLang="zh-CN" sz="1600">
                <a:latin typeface="Times New Roman" panose="02020603050405020304" pitchFamily="18" charset="0"/>
              </a:rPr>
              <a:t>wpr_simulation2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附带的程序让中间的桔色球动起来，以便进行对比观察。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打开第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个子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窗口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6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3D212B-D250-941A-63A9-0A84C6B1404A}"/>
              </a:ext>
            </a:extLst>
          </p:cNvPr>
          <p:cNvSpPr txBox="1"/>
          <p:nvPr/>
        </p:nvSpPr>
        <p:spPr>
          <a:xfrm>
            <a:off x="1008063" y="2887663"/>
            <a:ext cx="7704137" cy="78422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执行之后，可以看到仿真窗口里的桔色球开始随机运动。此时再切换到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“RGB”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窗口，可以看到图像中的桔色球也跟着运动，说明这个采集到的图像是实时更新的。</a:t>
            </a:r>
            <a:endParaRPr lang="zh-CN" altLang="en-US" sz="1600"/>
          </a:p>
        </p:txBody>
      </p:sp>
      <p:pic>
        <p:nvPicPr>
          <p:cNvPr id="29703" name="图片 1">
            <a:extLst>
              <a:ext uri="{FF2B5EF4-FFF2-40B4-BE49-F238E27FC236}">
                <a16:creationId xmlns:a16="http://schemas.microsoft.com/office/drawing/2014/main" id="{22A8384B-A5C5-6264-B862-9083ED8DC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3860800"/>
            <a:ext cx="3800475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4" name="图片 4">
            <a:extLst>
              <a:ext uri="{FF2B5EF4-FFF2-40B4-BE49-F238E27FC236}">
                <a16:creationId xmlns:a16="http://schemas.microsoft.com/office/drawing/2014/main" id="{C87A1C6B-777A-32A5-88B3-108569CE6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0" y="3860800"/>
            <a:ext cx="3586163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7478231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236545">
            <a:extLst>
              <a:ext uri="{FF2B5EF4-FFF2-40B4-BE49-F238E27FC236}">
                <a16:creationId xmlns:a16="http://schemas.microsoft.com/office/drawing/2014/main" id="{8B205206-9435-7AB6-04EC-930A7284A74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9.2 OpenCV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颜色特征提取和目标定位</a:t>
            </a:r>
          </a:p>
        </p:txBody>
      </p:sp>
      <p:sp>
        <p:nvSpPr>
          <p:cNvPr id="30723" name="文本框 19">
            <a:extLst>
              <a:ext uri="{FF2B5EF4-FFF2-40B4-BE49-F238E27FC236}">
                <a16:creationId xmlns:a16="http://schemas.microsoft.com/office/drawing/2014/main" id="{75AC157D-DE9F-AFC5-A57C-3F1BA3265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5300663"/>
            <a:ext cx="51133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chemeClr val="tx2"/>
                </a:solidFill>
              </a:rPr>
              <a:t>        </a:t>
            </a:r>
            <a:r>
              <a:rPr kumimoji="1"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详细操作步骤见教材</a:t>
            </a:r>
            <a:r>
              <a:rPr kumimoji="1" lang="en-US" altLang="zh-CN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P272-P291</a:t>
            </a:r>
            <a:r>
              <a:rPr kumimoji="1"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页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B556E5-5276-5BF0-D863-E2FF99E92839}"/>
              </a:ext>
            </a:extLst>
          </p:cNvPr>
          <p:cNvSpPr txBox="1"/>
          <p:nvPr/>
        </p:nvSpPr>
        <p:spPr>
          <a:xfrm>
            <a:off x="971550" y="1700213"/>
            <a:ext cx="7488238" cy="29495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9.1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节的实验里，实现了从机器人的头部相机获取机器人的视觉图像。这一次将继续深入，使用</a:t>
            </a:r>
            <a:r>
              <a:rPr lang="en-US" altLang="zh-CN">
                <a:latin typeface="Times New Roman" panose="02020603050405020304" pitchFamily="18" charset="0"/>
              </a:rPr>
              <a:t>OpenCV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实现机器人视觉中的颜色特征提取和目标定位功能。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     1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对机器人视觉图像进行颜色空间转换，从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RGB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空间转换到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HSV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空间，排除光照影响。</a:t>
            </a:r>
            <a:endParaRPr lang="zh-CN" altLang="zh-CN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     2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对转换后的图像进行二值化处理，将目标物体分割提取出来。</a:t>
            </a:r>
            <a:endParaRPr lang="zh-CN" altLang="zh-CN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3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）对提取到的目标像素进行计算统计，得出目标物的质心坐标。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098764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C9D6197-82F3-5145-CEF4-7602B2794559}"/>
              </a:ext>
            </a:extLst>
          </p:cNvPr>
          <p:cNvSpPr txBox="1"/>
          <p:nvPr/>
        </p:nvSpPr>
        <p:spPr>
          <a:xfrm>
            <a:off x="1116013" y="1722438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编写节点代码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747" name="文本框 10">
            <a:extLst>
              <a:ext uri="{FF2B5EF4-FFF2-40B4-BE49-F238E27FC236}">
                <a16:creationId xmlns:a16="http://schemas.microsoft.com/office/drawing/2014/main" id="{CA82E037-4670-AF5A-D2E8-4C779F653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825" y="2093913"/>
            <a:ext cx="76088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在</a:t>
            </a:r>
            <a:r>
              <a:rPr lang="en-US" altLang="zh-CN" sz="1600">
                <a:latin typeface="Times New Roman" panose="02020603050405020304" pitchFamily="18" charset="0"/>
              </a:rPr>
              <a:t>cv_pkg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软件包中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600">
                <a:latin typeface="Times New Roman" panose="02020603050405020304" pitchFamily="18" charset="0"/>
              </a:rPr>
              <a:t>[src]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文件夹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新建文件，命名为</a:t>
            </a:r>
            <a:r>
              <a:rPr lang="en-US" altLang="zh-CN" sz="1600">
                <a:latin typeface="Times New Roman" panose="02020603050405020304" pitchFamily="18" charset="0"/>
              </a:rPr>
              <a:t>“cv_hsv.cpp”</a:t>
            </a:r>
            <a:r>
              <a:rPr lang="zh-CN" altLang="en-US" sz="1600">
                <a:latin typeface="Times New Roman" panose="02020603050405020304" pitchFamily="18" charset="0"/>
              </a:rPr>
              <a:t>。</a:t>
            </a:r>
            <a:endParaRPr lang="zh-CN" altLang="en-US" sz="16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E9C93BE-E6BA-E80F-0D4D-C1B2989423F6}"/>
              </a:ext>
            </a:extLst>
          </p:cNvPr>
          <p:cNvSpPr txBox="1"/>
          <p:nvPr/>
        </p:nvSpPr>
        <p:spPr>
          <a:xfrm>
            <a:off x="1042988" y="2635250"/>
            <a:ext cx="4572000" cy="3381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下面编写这个代码文件内容：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749" name="标题 236545">
            <a:extLst>
              <a:ext uri="{FF2B5EF4-FFF2-40B4-BE49-F238E27FC236}">
                <a16:creationId xmlns:a16="http://schemas.microsoft.com/office/drawing/2014/main" id="{1FD02AA0-9778-6214-7F25-8C8D4D42F39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9.2 OpenCV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颜色特征提取和目标定位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684364-4A2D-AC04-57F8-9050FD5BA773}"/>
              </a:ext>
            </a:extLst>
          </p:cNvPr>
          <p:cNvSpPr txBox="1"/>
          <p:nvPr/>
        </p:nvSpPr>
        <p:spPr>
          <a:xfrm>
            <a:off x="1042988" y="1125538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9.2.1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编写特征提取和目标定位程序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0B39F7-3D4C-DACC-296C-0544CD18A316}"/>
              </a:ext>
            </a:extLst>
          </p:cNvPr>
          <p:cNvSpPr txBox="1"/>
          <p:nvPr/>
        </p:nvSpPr>
        <p:spPr>
          <a:xfrm>
            <a:off x="1201738" y="3141663"/>
            <a:ext cx="7402512" cy="25542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/rclcpp.hpp&gt;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/msg/image.hpp&gt;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cv_bridge.h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&lt;opencv2/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imgproc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/imgproc.hpp&gt;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&lt;opencv2/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highgui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/highgui.hpp&gt;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shared_ptr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::Node&gt; node;</a:t>
            </a: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cv;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591005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CFE4FF3-B3B6-D1D9-B3E9-35F4FE990E16}"/>
              </a:ext>
            </a:extLst>
          </p:cNvPr>
          <p:cNvSpPr txBox="1"/>
          <p:nvPr/>
        </p:nvSpPr>
        <p:spPr>
          <a:xfrm>
            <a:off x="971550" y="1281113"/>
            <a:ext cx="7561263" cy="45243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iLowH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iHighH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iLowS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90;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iHighS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255;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iLowV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iHighV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255;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CamRGBCallback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(const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::msg::Image::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msg)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CvImagePtr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toCvCopy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(msg,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image_encodings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::BGR8);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imgOriginal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-&gt;image;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imgHSV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cvtColor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imgOriginal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imgHSV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COLOR_BGR2HSV);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771" name="标题 236545">
            <a:extLst>
              <a:ext uri="{FF2B5EF4-FFF2-40B4-BE49-F238E27FC236}">
                <a16:creationId xmlns:a16="http://schemas.microsoft.com/office/drawing/2014/main" id="{444BAB61-4B02-4965-F245-1A1F44C3DF24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9.2 OpenCV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颜色特征提取和目标定位</a:t>
            </a:r>
          </a:p>
        </p:txBody>
      </p:sp>
    </p:spTree>
    <p:extLst>
      <p:ext uri="{BB962C8B-B14F-4D97-AF65-F5344CB8AC3E}">
        <p14:creationId xmlns:p14="http://schemas.microsoft.com/office/powerpoint/2010/main" val="3602693784"/>
      </p:ext>
    </p:extLst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5B36644-E5D4-574E-F275-19E4E2862E0C}"/>
              </a:ext>
            </a:extLst>
          </p:cNvPr>
          <p:cNvSpPr txBox="1"/>
          <p:nvPr/>
        </p:nvSpPr>
        <p:spPr>
          <a:xfrm>
            <a:off x="971550" y="1036638"/>
            <a:ext cx="7561263" cy="52244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vector&lt;Mat&gt;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hsvSplit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split(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imgHSV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hsvSplit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equalizeHist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hsvSplit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hsvSplit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121920" algn="just">
              <a:lnSpc>
                <a:spcPct val="150000"/>
              </a:lnSpc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hsvSplit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imgHSV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121920" algn="just">
              <a:lnSpc>
                <a:spcPct val="150000"/>
              </a:lnSpc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inRange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imgHSV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Scalar(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iLowH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iLowS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iLowV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Scalar(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iHighH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iHighS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iHighV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121920" algn="just">
              <a:lnSpc>
                <a:spcPct val="150000"/>
              </a:lnSpc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 element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getStructuringElement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(MORPH_RECT, Size(5, 5));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morphologyEx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MORPH_OPEN, element);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morphologyEx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MORPH_CLOSE, element);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795" name="标题 236545">
            <a:extLst>
              <a:ext uri="{FF2B5EF4-FFF2-40B4-BE49-F238E27FC236}">
                <a16:creationId xmlns:a16="http://schemas.microsoft.com/office/drawing/2014/main" id="{D3F1B90E-A044-510B-991E-2E303FBD438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9.2 OpenCV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颜色特征提取和目标定位</a:t>
            </a:r>
          </a:p>
        </p:txBody>
      </p:sp>
    </p:spTree>
    <p:extLst>
      <p:ext uri="{BB962C8B-B14F-4D97-AF65-F5344CB8AC3E}">
        <p14:creationId xmlns:p14="http://schemas.microsoft.com/office/powerpoint/2010/main" val="2176950313"/>
      </p:ext>
    </p:extLst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D60D846-E271-BF11-C635-406837DB88F3}"/>
              </a:ext>
            </a:extLst>
          </p:cNvPr>
          <p:cNvSpPr txBox="1"/>
          <p:nvPr/>
        </p:nvSpPr>
        <p:spPr>
          <a:xfrm>
            <a:off x="971550" y="1484313"/>
            <a:ext cx="7561263" cy="42783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nPixCount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nImgWidth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imgThresholded.cols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nImgHeight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imgThresholded.rows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(int y = 0; y &lt;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nImgHeight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y++)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(int x = 0; x &lt;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nImgWidth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x++)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imgThresholded.data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[y *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nImgWidth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x] == 255)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x;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y;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nPixCount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819" name="标题 236545">
            <a:extLst>
              <a:ext uri="{FF2B5EF4-FFF2-40B4-BE49-F238E27FC236}">
                <a16:creationId xmlns:a16="http://schemas.microsoft.com/office/drawing/2014/main" id="{D217174C-F8CD-26B5-650F-18E22217ACE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9.2 OpenCV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颜色特征提取和目标定位</a:t>
            </a:r>
          </a:p>
        </p:txBody>
      </p:sp>
    </p:spTree>
    <p:extLst>
      <p:ext uri="{BB962C8B-B14F-4D97-AF65-F5344CB8AC3E}">
        <p14:creationId xmlns:p14="http://schemas.microsoft.com/office/powerpoint/2010/main" val="299604326"/>
      </p:ext>
    </p:ext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FA7FED8-1FA7-DAA4-AE9E-8836628E4F76}"/>
              </a:ext>
            </a:extLst>
          </p:cNvPr>
          <p:cNvSpPr txBox="1"/>
          <p:nvPr/>
        </p:nvSpPr>
        <p:spPr>
          <a:xfrm>
            <a:off x="971550" y="1147763"/>
            <a:ext cx="7561263" cy="50180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nPixCount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nPixCount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nPixCount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("Target (%d, %d)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PixelCount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%d\n",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nPixCount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Point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line_begin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Point(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- 10,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Point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line_end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Point(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+ 10,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line(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imgOriginal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line_begin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line_end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Scalar(255, 0, 0));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line_begin.x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line_begin.y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- 10;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line_end.x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line_end.y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+ 10;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line(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imgOriginal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line_begin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line_end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Scalar(255, 0, 0));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("Target disappeared...\n");    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("RGB",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imgOriginal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("HSV",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imgHSV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("Result",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cv::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waitKey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843" name="标题 236545">
            <a:extLst>
              <a:ext uri="{FF2B5EF4-FFF2-40B4-BE49-F238E27FC236}">
                <a16:creationId xmlns:a16="http://schemas.microsoft.com/office/drawing/2014/main" id="{3B379CA9-F61F-909C-5298-9BE72845216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9.2 OpenCV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颜色特征提取和目标定位</a:t>
            </a:r>
          </a:p>
        </p:txBody>
      </p:sp>
    </p:spTree>
    <p:extLst>
      <p:ext uri="{BB962C8B-B14F-4D97-AF65-F5344CB8AC3E}">
        <p14:creationId xmlns:p14="http://schemas.microsoft.com/office/powerpoint/2010/main" val="507039937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62118AF-2966-D006-B93D-9BDC6E449F9B}"/>
              </a:ext>
            </a:extLst>
          </p:cNvPr>
          <p:cNvSpPr txBox="1"/>
          <p:nvPr/>
        </p:nvSpPr>
        <p:spPr>
          <a:xfrm>
            <a:off x="971550" y="1017588"/>
            <a:ext cx="7561263" cy="52625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char **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 = std::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make_shared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::Node&gt;("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cv_hsv_node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auto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rgb_sub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node-&gt;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create_subscription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::msg::Image&gt;(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"/kinect2/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qhd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image_raw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1,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CamRGBCallback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namedWindow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("Threshold", WINDOW_AUTOSIZE);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createTrackbar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"Threshold", &amp;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iLowH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179);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createTrackbar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"Threshold", &amp;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iHighH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179);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createTrackbar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"Threshold", &amp;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iLowS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255);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createTrackbar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"Threshold", &amp;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iHighS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255);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createTrackbar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"Threshold", &amp;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iLowV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255);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createTrackbar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"Threshold", &amp;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iHighV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255);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namedWindow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("RGB");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namedWindow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("HSV");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namedWindow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("Result"); 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::spin(node);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cv::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destroyAllWindows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::shutdown();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867" name="标题 236545">
            <a:extLst>
              <a:ext uri="{FF2B5EF4-FFF2-40B4-BE49-F238E27FC236}">
                <a16:creationId xmlns:a16="http://schemas.microsoft.com/office/drawing/2014/main" id="{D2FAD803-9EDF-308A-DAB2-5ED41A0D0A3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9.2 OpenCV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颜色特征提取和目标定位</a:t>
            </a:r>
          </a:p>
        </p:txBody>
      </p:sp>
    </p:spTree>
    <p:extLst>
      <p:ext uri="{BB962C8B-B14F-4D97-AF65-F5344CB8AC3E}">
        <p14:creationId xmlns:p14="http://schemas.microsoft.com/office/powerpoint/2010/main" val="23034382"/>
      </p:ext>
    </p:extLst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31C147C-946D-E14F-0E87-CC9D84EABB28}"/>
              </a:ext>
            </a:extLst>
          </p:cNvPr>
          <p:cNvSpPr txBox="1"/>
          <p:nvPr/>
        </p:nvSpPr>
        <p:spPr>
          <a:xfrm>
            <a:off x="971550" y="1052513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设置编译规则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390C41-7F61-B203-898B-A70D35CE68C7}"/>
              </a:ext>
            </a:extLst>
          </p:cNvPr>
          <p:cNvSpPr txBox="1"/>
          <p:nvPr/>
        </p:nvSpPr>
        <p:spPr>
          <a:xfrm>
            <a:off x="1116013" y="1412875"/>
            <a:ext cx="7416800" cy="10763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REQUIRED)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REQUIRED)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REQUIRED)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 err="1">
                <a:latin typeface="Times New Roman" panose="02020603050405020304" pitchFamily="18" charset="0"/>
              </a:rPr>
              <a:t>find_package</a:t>
            </a:r>
            <a:r>
              <a:rPr lang="en-US" altLang="zh-CN" sz="1600" dirty="0">
                <a:latin typeface="Times New Roman" panose="02020603050405020304" pitchFamily="18" charset="0"/>
              </a:rPr>
              <a:t>(OpenCV REQUIRED)</a:t>
            </a:r>
            <a:endParaRPr lang="zh-CN" altLang="en-US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2FD442-20AE-9E0C-F990-D5386B6ECB27}"/>
              </a:ext>
            </a:extLst>
          </p:cNvPr>
          <p:cNvSpPr txBox="1"/>
          <p:nvPr/>
        </p:nvSpPr>
        <p:spPr>
          <a:xfrm>
            <a:off x="1112838" y="2519363"/>
            <a:ext cx="7419975" cy="584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add_executable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cv_hsv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/cv_hsv.cpp)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 err="1">
                <a:latin typeface="Times New Roman" panose="02020603050405020304" pitchFamily="18" charset="0"/>
              </a:rPr>
              <a:t>ament_target_dependencies</a:t>
            </a:r>
            <a:r>
              <a:rPr lang="en-US" altLang="zh-CN" sz="1600" dirty="0">
                <a:latin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</a:rPr>
              <a:t>cv_hsv</a:t>
            </a:r>
            <a:r>
              <a:rPr lang="en-US" altLang="zh-CN" sz="1600" dirty="0">
                <a:latin typeface="Times New Roman" panose="02020603050405020304" pitchFamily="18" charset="0"/>
              </a:rPr>
              <a:t> "</a:t>
            </a:r>
            <a:r>
              <a:rPr lang="en-US" altLang="zh-CN" sz="1600" dirty="0" err="1">
                <a:latin typeface="Times New Roman" panose="02020603050405020304" pitchFamily="18" charset="0"/>
              </a:rPr>
              <a:t>rclcpp</a:t>
            </a:r>
            <a:r>
              <a:rPr lang="en-US" altLang="zh-CN" sz="1600" dirty="0">
                <a:latin typeface="Times New Roman" panose="02020603050405020304" pitchFamily="18" charset="0"/>
              </a:rPr>
              <a:t>" "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sensor_msgs</a:t>
            </a:r>
            <a:r>
              <a:rPr lang="en-US" altLang="zh-CN" sz="1600" dirty="0">
                <a:latin typeface="Times New Roman" panose="02020603050405020304" pitchFamily="18" charset="0"/>
              </a:rPr>
              <a:t>" "</a:t>
            </a:r>
            <a:r>
              <a:rPr lang="en-US" altLang="zh-CN" sz="1600" dirty="0" err="1">
                <a:latin typeface="Times New Roman" panose="02020603050405020304" pitchFamily="18" charset="0"/>
              </a:rPr>
              <a:t>cv_bridge</a:t>
            </a:r>
            <a:r>
              <a:rPr lang="en-US" altLang="zh-CN" sz="1600" dirty="0">
                <a:latin typeface="Times New Roman" panose="02020603050405020304" pitchFamily="18" charset="0"/>
              </a:rPr>
              <a:t>" "OpenCV")</a:t>
            </a:r>
            <a:endParaRPr lang="zh-CN" altLang="en-US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82B694-1A60-E893-3A8C-4BF444DD66AB}"/>
              </a:ext>
            </a:extLst>
          </p:cNvPr>
          <p:cNvSpPr txBox="1"/>
          <p:nvPr/>
        </p:nvSpPr>
        <p:spPr>
          <a:xfrm>
            <a:off x="1116013" y="3138488"/>
            <a:ext cx="7416800" cy="6159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install(TARGETS  </a:t>
            </a:r>
            <a:r>
              <a:rPr lang="en-US" altLang="zh-CN" dirty="0" err="1">
                <a:latin typeface="Times New Roman" panose="02020603050405020304" pitchFamily="18" charset="0"/>
              </a:rPr>
              <a:t>cv_hsv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DESTINATION  lib/${PROJECT_NAME})</a:t>
            </a:r>
            <a:endParaRPr lang="zh-CN" altLang="en-US"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5113B2-3978-9F7C-61CC-8CDDBC762C14}"/>
              </a:ext>
            </a:extLst>
          </p:cNvPr>
          <p:cNvSpPr txBox="1"/>
          <p:nvPr/>
        </p:nvSpPr>
        <p:spPr>
          <a:xfrm>
            <a:off x="971550" y="3789363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修改软件包信息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DEA199-F007-D431-5759-A35C29CDB8C4}"/>
              </a:ext>
            </a:extLst>
          </p:cNvPr>
          <p:cNvSpPr txBox="1"/>
          <p:nvPr/>
        </p:nvSpPr>
        <p:spPr>
          <a:xfrm>
            <a:off x="1135063" y="4149725"/>
            <a:ext cx="7397750" cy="10763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&lt;depend&gt;OpenCV&lt;/depend&gt; </a:t>
            </a:r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68F3E0-90AB-EDAF-315E-2073CCBE09E2}"/>
              </a:ext>
            </a:extLst>
          </p:cNvPr>
          <p:cNvSpPr txBox="1"/>
          <p:nvPr/>
        </p:nvSpPr>
        <p:spPr>
          <a:xfrm>
            <a:off x="969963" y="5229225"/>
            <a:ext cx="4572000" cy="3381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编译软件包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29302C-3EC1-1DC5-DC78-ECBEA585CAD0}"/>
              </a:ext>
            </a:extLst>
          </p:cNvPr>
          <p:cNvSpPr txBox="1"/>
          <p:nvPr/>
        </p:nvSpPr>
        <p:spPr>
          <a:xfrm>
            <a:off x="1112838" y="5561013"/>
            <a:ext cx="7397750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cd ~/ros2_ws</a:t>
            </a:r>
            <a:endParaRPr lang="zh-CN" altLang="en-US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CFE4BC-D971-187E-60E7-BFFF1251199E}"/>
              </a:ext>
            </a:extLst>
          </p:cNvPr>
          <p:cNvSpPr txBox="1"/>
          <p:nvPr/>
        </p:nvSpPr>
        <p:spPr>
          <a:xfrm>
            <a:off x="1112838" y="5935663"/>
            <a:ext cx="7397750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 err="1">
                <a:latin typeface="Times New Roman" panose="02020603050405020304" pitchFamily="18" charset="0"/>
              </a:rPr>
              <a:t>colcon</a:t>
            </a:r>
            <a:r>
              <a:rPr lang="en-US" altLang="zh-CN" sz="1600" dirty="0">
                <a:latin typeface="Times New Roman" panose="02020603050405020304" pitchFamily="18" charset="0"/>
              </a:rPr>
              <a:t> build</a:t>
            </a:r>
            <a:endParaRPr lang="zh-CN" altLang="en-US" sz="1600" dirty="0"/>
          </a:p>
        </p:txBody>
      </p:sp>
      <p:sp>
        <p:nvSpPr>
          <p:cNvPr id="37899" name="标题 236545">
            <a:extLst>
              <a:ext uri="{FF2B5EF4-FFF2-40B4-BE49-F238E27FC236}">
                <a16:creationId xmlns:a16="http://schemas.microsoft.com/office/drawing/2014/main" id="{9787F8F4-80F6-769C-3D0B-85F5CCB4027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9.2 OpenCV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颜色特征提取和目标定位</a:t>
            </a:r>
          </a:p>
        </p:txBody>
      </p:sp>
    </p:spTree>
    <p:extLst>
      <p:ext uri="{BB962C8B-B14F-4D97-AF65-F5344CB8AC3E}">
        <p14:creationId xmlns:p14="http://schemas.microsoft.com/office/powerpoint/2010/main" val="4294067725"/>
      </p:ext>
    </p:extLst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6A75CDE1-ADC0-CE2A-CE51-6D041DFF6358}"/>
              </a:ext>
            </a:extLst>
          </p:cNvPr>
          <p:cNvSpPr txBox="1"/>
          <p:nvPr/>
        </p:nvSpPr>
        <p:spPr>
          <a:xfrm>
            <a:off x="1116013" y="1701800"/>
            <a:ext cx="7488237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setup.bash</a:t>
            </a:r>
            <a:endParaRPr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31AF888-3639-D680-6CB8-AC6B2E2E30C3}"/>
              </a:ext>
            </a:extLst>
          </p:cNvPr>
          <p:cNvSpPr txBox="1"/>
          <p:nvPr/>
        </p:nvSpPr>
        <p:spPr>
          <a:xfrm>
            <a:off x="1116013" y="2082800"/>
            <a:ext cx="7488237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launch wpr_simulation2 wpb_balls.launch.py</a:t>
            </a:r>
            <a:endParaRPr lang="zh-CN" altLang="en-US" sz="1600" dirty="0"/>
          </a:p>
        </p:txBody>
      </p:sp>
      <p:pic>
        <p:nvPicPr>
          <p:cNvPr id="38916" name="图片 16">
            <a:extLst>
              <a:ext uri="{FF2B5EF4-FFF2-40B4-BE49-F238E27FC236}">
                <a16:creationId xmlns:a16="http://schemas.microsoft.com/office/drawing/2014/main" id="{8C5EB9C6-9BCF-1BEE-B3F7-6F1B3AD3D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565400"/>
            <a:ext cx="6096000" cy="345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标题 236545">
            <a:extLst>
              <a:ext uri="{FF2B5EF4-FFF2-40B4-BE49-F238E27FC236}">
                <a16:creationId xmlns:a16="http://schemas.microsoft.com/office/drawing/2014/main" id="{E2108B8A-6CDB-A5FC-8B56-1D31BF668BC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9.2 OpenCV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颜色特征提取和目标定位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76BB8F-BF07-EE5F-6F1A-0E1165A8A7AD}"/>
              </a:ext>
            </a:extLst>
          </p:cNvPr>
          <p:cNvSpPr txBox="1"/>
          <p:nvPr/>
        </p:nvSpPr>
        <p:spPr>
          <a:xfrm>
            <a:off x="1042988" y="1057275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9.2.2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仿真运行特征提取和目标定位程序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682472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41FE47E6-12B5-4CEB-5EC1-FE9700F97239}"/>
              </a:ext>
            </a:extLst>
          </p:cNvPr>
          <p:cNvSpPr txBox="1"/>
          <p:nvPr/>
        </p:nvSpPr>
        <p:spPr>
          <a:xfrm>
            <a:off x="1116013" y="1835150"/>
            <a:ext cx="7488237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setup.bash</a:t>
            </a:r>
            <a:endParaRPr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4A3416F-66D6-432B-B743-A3BEA7639340}"/>
              </a:ext>
            </a:extLst>
          </p:cNvPr>
          <p:cNvSpPr txBox="1"/>
          <p:nvPr/>
        </p:nvSpPr>
        <p:spPr>
          <a:xfrm>
            <a:off x="1116013" y="2216150"/>
            <a:ext cx="7488237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run </a:t>
            </a:r>
            <a:r>
              <a:rPr lang="en-US" altLang="zh-CN" sz="1600" dirty="0" err="1">
                <a:latin typeface="Times New Roman" panose="02020603050405020304" pitchFamily="18" charset="0"/>
              </a:rPr>
              <a:t>cv_pkg</a:t>
            </a:r>
            <a:r>
              <a:rPr lang="en-US" altLang="zh-CN" sz="1600" dirty="0">
                <a:latin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</a:rPr>
              <a:t>cv_hsv</a:t>
            </a:r>
            <a:endParaRPr lang="zh-CN" altLang="en-US" sz="1600" dirty="0"/>
          </a:p>
        </p:txBody>
      </p:sp>
      <p:sp>
        <p:nvSpPr>
          <p:cNvPr id="39940" name="文本框 2">
            <a:extLst>
              <a:ext uri="{FF2B5EF4-FFF2-40B4-BE49-F238E27FC236}">
                <a16:creationId xmlns:a16="http://schemas.microsoft.com/office/drawing/2014/main" id="{2067D570-99EF-217F-7530-2C8C00666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379538"/>
            <a:ext cx="4572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打开第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个子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窗口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600"/>
          </a:p>
        </p:txBody>
      </p:sp>
      <p:sp>
        <p:nvSpPr>
          <p:cNvPr id="39941" name="文本框 5">
            <a:extLst>
              <a:ext uri="{FF2B5EF4-FFF2-40B4-BE49-F238E27FC236}">
                <a16:creationId xmlns:a16="http://schemas.microsoft.com/office/drawing/2014/main" id="{BDEFE3F9-D006-62C9-9436-BBDC53536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555875"/>
            <a:ext cx="7488237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节点运行起来之后，会弹出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四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个窗口，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分别是</a:t>
            </a:r>
            <a:r>
              <a:rPr lang="en-US" altLang="zh-CN" sz="1600">
                <a:latin typeface="Times New Roman" panose="02020603050405020304" pitchFamily="18" charset="0"/>
              </a:rPr>
              <a:t>“RGB”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窗口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>
                <a:latin typeface="Times New Roman" panose="02020603050405020304" pitchFamily="18" charset="0"/>
              </a:rPr>
              <a:t>“HSV”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窗口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>
                <a:latin typeface="Times New Roman" panose="02020603050405020304" pitchFamily="18" charset="0"/>
              </a:rPr>
              <a:t>“Result”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窗口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>
                <a:latin typeface="Times New Roman" panose="02020603050405020304" pitchFamily="18" charset="0"/>
              </a:rPr>
              <a:t>“Threshold”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窗口。</a:t>
            </a:r>
            <a:endParaRPr lang="zh-CN" altLang="en-US" sz="1600"/>
          </a:p>
        </p:txBody>
      </p:sp>
      <p:sp>
        <p:nvSpPr>
          <p:cNvPr id="39942" name="标题 236545">
            <a:extLst>
              <a:ext uri="{FF2B5EF4-FFF2-40B4-BE49-F238E27FC236}">
                <a16:creationId xmlns:a16="http://schemas.microsoft.com/office/drawing/2014/main" id="{3DA7F9E6-3A02-F38B-B766-4E5AD3778DC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9.2 OpenCV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颜色特征提取和目标定位</a:t>
            </a:r>
          </a:p>
        </p:txBody>
      </p:sp>
      <p:pic>
        <p:nvPicPr>
          <p:cNvPr id="39943" name="图片 4">
            <a:extLst>
              <a:ext uri="{FF2B5EF4-FFF2-40B4-BE49-F238E27FC236}">
                <a16:creationId xmlns:a16="http://schemas.microsoft.com/office/drawing/2014/main" id="{CB516825-D4D3-443A-718B-E8F1775DD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3594100"/>
            <a:ext cx="3673475" cy="221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4" name="图片 6">
            <a:extLst>
              <a:ext uri="{FF2B5EF4-FFF2-40B4-BE49-F238E27FC236}">
                <a16:creationId xmlns:a16="http://schemas.microsoft.com/office/drawing/2014/main" id="{51B75375-5EAE-34DF-2469-3D290DEDB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963" y="3590925"/>
            <a:ext cx="3671887" cy="220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8753467"/>
      </p:ext>
    </p:extLst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236545">
            <a:extLst>
              <a:ext uri="{FF2B5EF4-FFF2-40B4-BE49-F238E27FC236}">
                <a16:creationId xmlns:a16="http://schemas.microsoft.com/office/drawing/2014/main" id="{DBF1DC67-82C6-DA81-EF4B-0682DC684FB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9.2 OpenCV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颜色特征提取和目标定位</a:t>
            </a:r>
          </a:p>
        </p:txBody>
      </p:sp>
      <p:pic>
        <p:nvPicPr>
          <p:cNvPr id="40963" name="图片 3">
            <a:extLst>
              <a:ext uri="{FF2B5EF4-FFF2-40B4-BE49-F238E27FC236}">
                <a16:creationId xmlns:a16="http://schemas.microsoft.com/office/drawing/2014/main" id="{335251F6-7956-F6EF-C599-6CC60E5B2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196975"/>
            <a:ext cx="3778250" cy="227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图片 7">
            <a:extLst>
              <a:ext uri="{FF2B5EF4-FFF2-40B4-BE49-F238E27FC236}">
                <a16:creationId xmlns:a16="http://schemas.microsoft.com/office/drawing/2014/main" id="{7EC7B130-E057-59CD-4EE3-D1ABA8050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1196975"/>
            <a:ext cx="1981200" cy="227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48D1A64-2A59-D57F-60A7-931F7D560C38}"/>
              </a:ext>
            </a:extLst>
          </p:cNvPr>
          <p:cNvSpPr txBox="1"/>
          <p:nvPr/>
        </p:nvSpPr>
        <p:spPr>
          <a:xfrm>
            <a:off x="1116013" y="3573463"/>
            <a:ext cx="7488237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切换到运行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cv_hsv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节点的终端窗口，可以看到追踪的目标物的中心坐标值。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0966" name="图片 10">
            <a:extLst>
              <a:ext uri="{FF2B5EF4-FFF2-40B4-BE49-F238E27FC236}">
                <a16:creationId xmlns:a16="http://schemas.microsoft.com/office/drawing/2014/main" id="{4CC3AFF4-A80B-FF29-BD7A-E751C1718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563" y="3927475"/>
            <a:ext cx="5222875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9769382"/>
      </p:ext>
    </p:extLst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BB3C6C5C-BE8D-6034-3728-3315B2C6FF0A}"/>
              </a:ext>
            </a:extLst>
          </p:cNvPr>
          <p:cNvSpPr txBox="1"/>
          <p:nvPr/>
        </p:nvSpPr>
        <p:spPr>
          <a:xfrm>
            <a:off x="1116013" y="1989138"/>
            <a:ext cx="7488237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setup.bash</a:t>
            </a:r>
            <a:endParaRPr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D71B9F0-B018-FB3A-E39D-BAAE4C8AA9CB}"/>
              </a:ext>
            </a:extLst>
          </p:cNvPr>
          <p:cNvSpPr txBox="1"/>
          <p:nvPr/>
        </p:nvSpPr>
        <p:spPr>
          <a:xfrm>
            <a:off x="1116013" y="2370138"/>
            <a:ext cx="7488237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run wpr_simulation2 </a:t>
            </a:r>
            <a:r>
              <a:rPr lang="en-US" altLang="zh-CN" sz="1600" dirty="0" err="1">
                <a:latin typeface="Times New Roman" panose="02020603050405020304" pitchFamily="18" charset="0"/>
              </a:rPr>
              <a:t>ball_random_move</a:t>
            </a:r>
            <a:endParaRPr lang="zh-CN" altLang="en-US" sz="1600" dirty="0"/>
          </a:p>
        </p:txBody>
      </p:sp>
      <p:sp>
        <p:nvSpPr>
          <p:cNvPr id="41988" name="文本框 2">
            <a:extLst>
              <a:ext uri="{FF2B5EF4-FFF2-40B4-BE49-F238E27FC236}">
                <a16:creationId xmlns:a16="http://schemas.microsoft.com/office/drawing/2014/main" id="{C25F28A4-E136-6EFC-DACA-279C81693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052513"/>
            <a:ext cx="7705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为了测试目标追踪的效果，可以借助</a:t>
            </a:r>
            <a:r>
              <a:rPr lang="en-US" altLang="zh-CN" sz="1600">
                <a:latin typeface="Times New Roman" panose="02020603050405020304" pitchFamily="18" charset="0"/>
              </a:rPr>
              <a:t>wpr_simulation2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附带的程序让中间的桔色球动起来，以便进行对比观察。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打开第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个子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窗口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6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9EFE47-EF44-5033-7DBD-48BA2E1E0B76}"/>
              </a:ext>
            </a:extLst>
          </p:cNvPr>
          <p:cNvSpPr txBox="1"/>
          <p:nvPr/>
        </p:nvSpPr>
        <p:spPr>
          <a:xfrm>
            <a:off x="1008063" y="2887663"/>
            <a:ext cx="7704137" cy="78422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执行之后，可以看到仿真窗口里的桔色球开始随机运动。此时再切换到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1600">
                <a:latin typeface="Times New Roman" panose="02020603050405020304" pitchFamily="18" charset="0"/>
              </a:rPr>
              <a:t>Result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窗口，观察图像中的桔色目标球移动时，颜色特征提取的效果。</a:t>
            </a:r>
            <a:endParaRPr lang="zh-CN" altLang="en-US" sz="1600"/>
          </a:p>
        </p:txBody>
      </p:sp>
      <p:sp>
        <p:nvSpPr>
          <p:cNvPr id="41990" name="标题 236545">
            <a:extLst>
              <a:ext uri="{FF2B5EF4-FFF2-40B4-BE49-F238E27FC236}">
                <a16:creationId xmlns:a16="http://schemas.microsoft.com/office/drawing/2014/main" id="{AB7873B8-0A20-3F53-E50E-4142A85F81B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9.2 OpenCV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颜色特征提取和目标定位</a:t>
            </a:r>
          </a:p>
        </p:txBody>
      </p:sp>
      <p:pic>
        <p:nvPicPr>
          <p:cNvPr id="41991" name="图片 6">
            <a:extLst>
              <a:ext uri="{FF2B5EF4-FFF2-40B4-BE49-F238E27FC236}">
                <a16:creationId xmlns:a16="http://schemas.microsoft.com/office/drawing/2014/main" id="{E2AB7FC7-3515-90DB-F58E-EDDA8C1DC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763" y="3860800"/>
            <a:ext cx="3649662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2" name="图片 7">
            <a:extLst>
              <a:ext uri="{FF2B5EF4-FFF2-40B4-BE49-F238E27FC236}">
                <a16:creationId xmlns:a16="http://schemas.microsoft.com/office/drawing/2014/main" id="{04957CD5-080B-7E49-21E7-129A8BBB9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3851275"/>
            <a:ext cx="374332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7920870"/>
      </p:ext>
    </p:extLst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236545">
            <a:extLst>
              <a:ext uri="{FF2B5EF4-FFF2-40B4-BE49-F238E27FC236}">
                <a16:creationId xmlns:a16="http://schemas.microsoft.com/office/drawing/2014/main" id="{85802228-FAAF-842F-6E2C-FD441DF720A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9.3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基于图像视觉的目标追踪实现</a:t>
            </a:r>
          </a:p>
        </p:txBody>
      </p:sp>
      <p:sp>
        <p:nvSpPr>
          <p:cNvPr id="43011" name="文本框 19">
            <a:extLst>
              <a:ext uri="{FF2B5EF4-FFF2-40B4-BE49-F238E27FC236}">
                <a16:creationId xmlns:a16="http://schemas.microsoft.com/office/drawing/2014/main" id="{518D9F6E-2AD6-EC20-C1AF-3A904331A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5475" y="5775325"/>
            <a:ext cx="5113338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chemeClr val="tx2"/>
                </a:solidFill>
              </a:rPr>
              <a:t>        </a:t>
            </a:r>
            <a:r>
              <a:rPr kumimoji="1"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详细操作步骤见教材</a:t>
            </a:r>
            <a:r>
              <a:rPr kumimoji="1" lang="en-US" altLang="zh-CN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P292-P310</a:t>
            </a:r>
            <a:r>
              <a:rPr kumimoji="1"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页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0EA4C7-BA7C-2AA4-1DE9-AC2767119067}"/>
              </a:ext>
            </a:extLst>
          </p:cNvPr>
          <p:cNvSpPr txBox="1"/>
          <p:nvPr/>
        </p:nvSpPr>
        <p:spPr>
          <a:xfrm>
            <a:off x="971550" y="1111250"/>
            <a:ext cx="7488238" cy="17065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9.2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节的实验里，使用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实现机器人视觉中的颜色特征提取和目标定位功能。如图所示，这一次将对目标定位功能进行扩展，根据目标位置计算速度并输出给机器人，让机器人跟随球进行移动，实现一个目标跟随的闭环控制。</a:t>
            </a:r>
            <a:endParaRPr lang="zh-CN" altLang="zh-CN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3013" name="图片 1">
            <a:extLst>
              <a:ext uri="{FF2B5EF4-FFF2-40B4-BE49-F238E27FC236}">
                <a16:creationId xmlns:a16="http://schemas.microsoft.com/office/drawing/2014/main" id="{F716E642-CAA2-1131-F058-403571634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463" y="2968625"/>
            <a:ext cx="5268912" cy="262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5363512"/>
      </p:ext>
    </p:extLst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236545">
            <a:extLst>
              <a:ext uri="{FF2B5EF4-FFF2-40B4-BE49-F238E27FC236}">
                <a16:creationId xmlns:a16="http://schemas.microsoft.com/office/drawing/2014/main" id="{DD337567-054E-14FA-7C58-C857BF23827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9.3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基于图像视觉的目标追踪实现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ED8A1F-9DC3-CD1E-12EE-56D160FDFBCD}"/>
              </a:ext>
            </a:extLst>
          </p:cNvPr>
          <p:cNvSpPr txBox="1"/>
          <p:nvPr/>
        </p:nvSpPr>
        <p:spPr>
          <a:xfrm>
            <a:off x="1116013" y="1135063"/>
            <a:ext cx="7559675" cy="226536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在编写例程代码前，先设计一下这个程序的实现思路，如以下四步：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）对机器人视觉图像进行颜色空间转换，从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RGB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空间转换到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HSV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空间，排除光照影响。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）对转换后的图像进行二值化处理，将目标物体分割提取出来。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）对提取到的目标像素进行计算统计，得出目标物的质心坐标。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）根据目标位置计算机器人运动速度，完成目标跟随功能。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4036" name="图片 1">
            <a:extLst>
              <a:ext uri="{FF2B5EF4-FFF2-40B4-BE49-F238E27FC236}">
                <a16:creationId xmlns:a16="http://schemas.microsoft.com/office/drawing/2014/main" id="{9CEA7317-1F6B-C7BF-41AA-0B353D4CA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3457575"/>
            <a:ext cx="5268913" cy="262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3145376"/>
      </p:ext>
    </p:extLst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6E989FEC-0C19-A1F4-B724-1DA3DC1FAAA1}"/>
              </a:ext>
            </a:extLst>
          </p:cNvPr>
          <p:cNvSpPr txBox="1"/>
          <p:nvPr/>
        </p:nvSpPr>
        <p:spPr>
          <a:xfrm>
            <a:off x="1116013" y="1722438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编写节点代码</a:t>
            </a:r>
            <a:endParaRPr lang="zh-CN" altLang="zh-CN" sz="160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059" name="文本框 10">
            <a:extLst>
              <a:ext uri="{FF2B5EF4-FFF2-40B4-BE49-F238E27FC236}">
                <a16:creationId xmlns:a16="http://schemas.microsoft.com/office/drawing/2014/main" id="{CB382B53-2DC4-C664-B7DC-ED49C52FF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825" y="2093913"/>
            <a:ext cx="76088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在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</a:rPr>
              <a:t>cv_pkg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软件包中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</a:rPr>
              <a:t>[src]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文件夹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新建文件，命名为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</a:rPr>
              <a:t>“cv_</a:t>
            </a:r>
            <a:r>
              <a:rPr lang="en-US" altLang="zh-CN" sz="1600">
                <a:latin typeface="Times New Roman" panose="02020603050405020304" pitchFamily="18" charset="0"/>
              </a:rPr>
              <a:t>follow.cpp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</a:rPr>
              <a:t>.cpp”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48B04D-DBF3-336E-FF80-9B2871B9B605}"/>
              </a:ext>
            </a:extLst>
          </p:cNvPr>
          <p:cNvSpPr txBox="1"/>
          <p:nvPr/>
        </p:nvSpPr>
        <p:spPr>
          <a:xfrm>
            <a:off x="1042988" y="2635250"/>
            <a:ext cx="4572000" cy="3381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下面编写这个代码文件内容：</a:t>
            </a:r>
            <a:endParaRPr lang="zh-CN" altLang="zh-CN" sz="160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D05A33-3F12-FE80-9B43-F18270A1BD51}"/>
              </a:ext>
            </a:extLst>
          </p:cNvPr>
          <p:cNvSpPr txBox="1"/>
          <p:nvPr/>
        </p:nvSpPr>
        <p:spPr>
          <a:xfrm>
            <a:off x="1201738" y="3141663"/>
            <a:ext cx="7331075" cy="28003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/rclcpp.hpp&gt;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/msg/image.hpp&gt;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cv_bridge.h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&lt;opencv2/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imgproc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/imgproc.hpp&gt;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&lt;opencv2/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highgui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/highgui.hpp&gt; </a:t>
            </a: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geometry_msgs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/msg/twist.hpp&gt;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std::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shared_ptr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::Node&gt; node;</a:t>
            </a: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cv;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062" name="标题 236545">
            <a:extLst>
              <a:ext uri="{FF2B5EF4-FFF2-40B4-BE49-F238E27FC236}">
                <a16:creationId xmlns:a16="http://schemas.microsoft.com/office/drawing/2014/main" id="{C7AD539C-DEFB-F7B1-18C6-CB83F47F2AE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9.3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基于图像视觉的目标追踪实现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BA5AF3-9349-2C79-BB7B-6B3C79141C3F}"/>
              </a:ext>
            </a:extLst>
          </p:cNvPr>
          <p:cNvSpPr txBox="1"/>
          <p:nvPr/>
        </p:nvSpPr>
        <p:spPr>
          <a:xfrm>
            <a:off x="1116013" y="1095375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9.3.1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编写目标追踪程序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126892"/>
      </p:ext>
    </p:extLst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FC7FBA6-15D0-F6F6-FF2E-12589344D18D}"/>
              </a:ext>
            </a:extLst>
          </p:cNvPr>
          <p:cNvSpPr txBox="1"/>
          <p:nvPr/>
        </p:nvSpPr>
        <p:spPr>
          <a:xfrm>
            <a:off x="971550" y="1281113"/>
            <a:ext cx="7561263" cy="47704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int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iLowH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10;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int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iHighH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40; 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int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iLowS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90; 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int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iHighS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255; 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int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iLowV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int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iHighV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255;</a:t>
            </a:r>
          </a:p>
          <a:p>
            <a:pPr algn="just">
              <a:defRPr/>
            </a:pPr>
            <a:endParaRPr lang="en-US" altLang="zh-CN" sz="16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geometry_msgs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::msg::Twist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vel_cmd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::Publisher&lt;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geometry_msgs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::msg::Twist&gt;::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vel_pub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CamRGBCallback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(const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::msg::Image::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SharedPtr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msg)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CvImagePtr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cv_ptr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cv_ptr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toCvCopy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(msg,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image_encodings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::BGR8);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Mat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imgOriginal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cv_ptr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-&gt;image;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Mat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imgHSV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cvtColor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imgOriginal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imgHSV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COLOR_BGR2HSV); 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6083" name="标题 236545">
            <a:extLst>
              <a:ext uri="{FF2B5EF4-FFF2-40B4-BE49-F238E27FC236}">
                <a16:creationId xmlns:a16="http://schemas.microsoft.com/office/drawing/2014/main" id="{32045F5B-C10E-1681-5849-06E6D5F4007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9.3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基于图像视觉的目标追踪实现</a:t>
            </a:r>
          </a:p>
        </p:txBody>
      </p:sp>
    </p:spTree>
    <p:extLst>
      <p:ext uri="{BB962C8B-B14F-4D97-AF65-F5344CB8AC3E}">
        <p14:creationId xmlns:p14="http://schemas.microsoft.com/office/powerpoint/2010/main" val="369930062"/>
      </p:ext>
    </p:extLst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FF146FD-385D-2487-A78B-8D63D6B0AF40}"/>
              </a:ext>
            </a:extLst>
          </p:cNvPr>
          <p:cNvSpPr txBox="1"/>
          <p:nvPr/>
        </p:nvSpPr>
        <p:spPr>
          <a:xfrm>
            <a:off x="971550" y="1036638"/>
            <a:ext cx="7561263" cy="52244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vector&lt;Mat&gt;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hsvSplit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split(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imgHSV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hsvSplit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equalizeHist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hsvSplit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[2],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hsvSplit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[2]);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121920" algn="just">
              <a:lnSpc>
                <a:spcPct val="150000"/>
              </a:lnSpc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merge(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hsvSplit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imgHSV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121920" algn="just">
              <a:lnSpc>
                <a:spcPct val="150000"/>
              </a:lnSpc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Mat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inRange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imgHSV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Scalar(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iLowH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iLowS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iLowV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Scalar(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iHighH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iHighS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iHighV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indent="121920" algn="just">
              <a:lnSpc>
                <a:spcPct val="150000"/>
              </a:lnSpc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 element =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getStructuringElement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(MORPH_RECT, Size(5, 5));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morphologyEx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MORPH_OPEN, element);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morphologyEx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MORPH_CLOSE, element);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7107" name="标题 236545">
            <a:extLst>
              <a:ext uri="{FF2B5EF4-FFF2-40B4-BE49-F238E27FC236}">
                <a16:creationId xmlns:a16="http://schemas.microsoft.com/office/drawing/2014/main" id="{795B1576-A4F2-2EA9-DF63-80CC016BCB5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9.3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基于图像视觉的目标追踪实现</a:t>
            </a:r>
          </a:p>
        </p:txBody>
      </p:sp>
    </p:spTree>
    <p:extLst>
      <p:ext uri="{BB962C8B-B14F-4D97-AF65-F5344CB8AC3E}">
        <p14:creationId xmlns:p14="http://schemas.microsoft.com/office/powerpoint/2010/main" val="4178616033"/>
      </p:ext>
    </p:extLst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B55FBE1-7550-6054-1E9D-080C75039AA9}"/>
              </a:ext>
            </a:extLst>
          </p:cNvPr>
          <p:cNvSpPr txBox="1"/>
          <p:nvPr/>
        </p:nvSpPr>
        <p:spPr>
          <a:xfrm>
            <a:off x="971550" y="1484313"/>
            <a:ext cx="7561263" cy="42783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nTargetX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nTargetY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nPixCount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nImgWidth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imgThresholded.cols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nImgHeight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imgThresholded.rows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for (int y = 0; y &lt;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nImgHeight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y++)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(int x = 0; x &lt;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nImgWidth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x++)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imgThresholded.data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[y *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nImgWidth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x] == 255)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nTargetX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+= x;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nTargetY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+= y;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nPixCount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8131" name="标题 236545">
            <a:extLst>
              <a:ext uri="{FF2B5EF4-FFF2-40B4-BE49-F238E27FC236}">
                <a16:creationId xmlns:a16="http://schemas.microsoft.com/office/drawing/2014/main" id="{08953ECB-DAFE-7F66-E211-E9D91482D6A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9.3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基于图像视觉的目标追踪实现</a:t>
            </a:r>
          </a:p>
        </p:txBody>
      </p:sp>
    </p:spTree>
    <p:extLst>
      <p:ext uri="{BB962C8B-B14F-4D97-AF65-F5344CB8AC3E}">
        <p14:creationId xmlns:p14="http://schemas.microsoft.com/office/powerpoint/2010/main" val="3135206754"/>
      </p:ext>
    </p:extLst>
  </p:cSld>
  <p:clrMapOvr>
    <a:masterClrMapping/>
  </p:clrMapOvr>
  <p:transition spd="slow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8E8E0D1-A86C-9200-BA8E-6709DDBAE06B}"/>
              </a:ext>
            </a:extLst>
          </p:cNvPr>
          <p:cNvSpPr txBox="1"/>
          <p:nvPr/>
        </p:nvSpPr>
        <p:spPr>
          <a:xfrm>
            <a:off x="971550" y="1025525"/>
            <a:ext cx="7561263" cy="52625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nPixCount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0)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nPixCount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nPixCount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("Target ( %d , %d )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PixelCount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%d\n",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nTargetX,nTargetY,nPixCount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Point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line_begin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Point(nTargetX-10,nTargetY);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Point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line_end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Point(nTargetX+10,nTargetY);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line(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imgOriginal,line_begin,line_end,Scalar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(255,0,0),3);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line_begin.x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line_begin.y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nTargetY-10;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line_end.x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nTargetX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line_end.y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nTargetY+10;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line(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imgOriginal,line_begin,line_end,Scalar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(255,0,0),3);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just">
              <a:defRPr/>
            </a:pPr>
            <a:endParaRPr lang="en-US" altLang="zh-CN" sz="16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float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fVelFoward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nImgHeight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/2-nTargetY)*0.002;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float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fVelTurn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nImgWidth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/2-nTargetX)*0.003;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vel_cmd.linear.x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fVelFoward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vel_cmd.linear.y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vel_cmd.linear.z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vel_cmd.angular.x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vel_cmd.angular.y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vel_cmd.angular.z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fVelTurn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   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155" name="标题 236545">
            <a:extLst>
              <a:ext uri="{FF2B5EF4-FFF2-40B4-BE49-F238E27FC236}">
                <a16:creationId xmlns:a16="http://schemas.microsoft.com/office/drawing/2014/main" id="{4BFF470B-4C07-6592-0CBA-7111D73172B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9.3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基于图像视觉的目标追踪实现</a:t>
            </a:r>
          </a:p>
        </p:txBody>
      </p:sp>
    </p:spTree>
    <p:extLst>
      <p:ext uri="{BB962C8B-B14F-4D97-AF65-F5344CB8AC3E}">
        <p14:creationId xmlns:p14="http://schemas.microsoft.com/office/powerpoint/2010/main" val="4209468950"/>
      </p:ext>
    </p:extLst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DD19C55-58D1-E5F9-6C81-E4CF53B516D5}"/>
              </a:ext>
            </a:extLst>
          </p:cNvPr>
          <p:cNvSpPr txBox="1"/>
          <p:nvPr/>
        </p:nvSpPr>
        <p:spPr>
          <a:xfrm>
            <a:off x="971550" y="1484313"/>
            <a:ext cx="7561263" cy="42783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else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("Target disappeared...\n");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vel_cmd.linear.x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vel_cmd.linear.y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vel_cmd.linear.z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vel_cmd.angular.x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vel_cmd.angular.y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vel_cmd.angular.z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vel_pub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-&gt;publish(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vel_cmd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("Result",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imgThresholded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imgOriginal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cv::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waitKey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0179" name="标题 236545">
            <a:extLst>
              <a:ext uri="{FF2B5EF4-FFF2-40B4-BE49-F238E27FC236}">
                <a16:creationId xmlns:a16="http://schemas.microsoft.com/office/drawing/2014/main" id="{1071B0C4-DD53-5FEA-D8AB-3404697CD08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9.3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基于图像视觉的目标追踪实现</a:t>
            </a:r>
          </a:p>
        </p:txBody>
      </p:sp>
    </p:spTree>
    <p:extLst>
      <p:ext uri="{BB962C8B-B14F-4D97-AF65-F5344CB8AC3E}">
        <p14:creationId xmlns:p14="http://schemas.microsoft.com/office/powerpoint/2010/main" val="4144725449"/>
      </p:ext>
    </p:extLst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31D94E3-B379-765F-E13A-EB24B8056413}"/>
              </a:ext>
            </a:extLst>
          </p:cNvPr>
          <p:cNvSpPr txBox="1"/>
          <p:nvPr/>
        </p:nvSpPr>
        <p:spPr>
          <a:xfrm>
            <a:off x="971550" y="1017588"/>
            <a:ext cx="7561263" cy="50165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main(int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char **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>
              <a:defRPr/>
            </a:pP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node = std::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make_shared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::Node&gt;("cv_</a:t>
            </a:r>
            <a:r>
              <a:rPr lang="en-US" altLang="zh-CN" sz="1600" dirty="0">
                <a:latin typeface="Times New Roman" panose="02020603050405020304" pitchFamily="18" charset="0"/>
              </a:rPr>
              <a:t>follow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_node"); </a:t>
            </a:r>
          </a:p>
          <a:p>
            <a:pPr algn="just">
              <a:defRPr/>
            </a:pPr>
            <a:endParaRPr lang="en-US" altLang="zh-CN" sz="16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</a:rPr>
              <a:t>vel_pub</a:t>
            </a:r>
            <a:r>
              <a:rPr lang="en-US" altLang="zh-CN" sz="1600" dirty="0">
                <a:latin typeface="Times New Roman" panose="02020603050405020304" pitchFamily="18" charset="0"/>
              </a:rPr>
              <a:t> = node-&gt;</a:t>
            </a:r>
            <a:r>
              <a:rPr lang="en-US" altLang="zh-CN" sz="1600" dirty="0" err="1">
                <a:latin typeface="Times New Roman" panose="02020603050405020304" pitchFamily="18" charset="0"/>
              </a:rPr>
              <a:t>create_publisher</a:t>
            </a:r>
            <a:r>
              <a:rPr lang="en-US" altLang="zh-CN" sz="1600" dirty="0">
                <a:latin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</a:rPr>
              <a:t>geometry_msgs</a:t>
            </a:r>
            <a:r>
              <a:rPr lang="en-US" altLang="zh-CN" sz="1600" dirty="0">
                <a:latin typeface="Times New Roman" panose="02020603050405020304" pitchFamily="18" charset="0"/>
              </a:rPr>
              <a:t>::msg::Twist&gt;("/</a:t>
            </a:r>
            <a:r>
              <a:rPr lang="en-US" altLang="zh-CN" sz="1600" dirty="0" err="1">
                <a:latin typeface="Times New Roman" panose="02020603050405020304" pitchFamily="18" charset="0"/>
              </a:rPr>
              <a:t>cmd_vel</a:t>
            </a:r>
            <a:r>
              <a:rPr lang="en-US" altLang="zh-CN" sz="1600" dirty="0">
                <a:latin typeface="Times New Roman" panose="02020603050405020304" pitchFamily="18" charset="0"/>
              </a:rPr>
              <a:t>", 10);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auto sub = node-&gt;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create_subscription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::msg::Image&gt;(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"/kinect2/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qhd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image_raw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1,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CamRGBCallback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 </a:t>
            </a:r>
          </a:p>
          <a:p>
            <a:pPr algn="just">
              <a:defRPr/>
            </a:pP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namedWindow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("RGB");     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namedWindow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("Result");  </a:t>
            </a:r>
          </a:p>
          <a:p>
            <a:pPr algn="just">
              <a:defRPr/>
            </a:pP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::spin(node); </a:t>
            </a:r>
          </a:p>
          <a:p>
            <a:pPr algn="just">
              <a:defRPr/>
            </a:pP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cv::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destroyAllWindows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 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::shutdown();</a:t>
            </a:r>
          </a:p>
          <a:p>
            <a:pPr algn="just">
              <a:defRPr/>
            </a:pP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203" name="标题 236545">
            <a:extLst>
              <a:ext uri="{FF2B5EF4-FFF2-40B4-BE49-F238E27FC236}">
                <a16:creationId xmlns:a16="http://schemas.microsoft.com/office/drawing/2014/main" id="{1A6F2959-21DD-10D9-1C4E-D85DFC3361B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9.3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基于图像视觉的目标追踪实现</a:t>
            </a:r>
          </a:p>
        </p:txBody>
      </p:sp>
    </p:spTree>
    <p:extLst>
      <p:ext uri="{BB962C8B-B14F-4D97-AF65-F5344CB8AC3E}">
        <p14:creationId xmlns:p14="http://schemas.microsoft.com/office/powerpoint/2010/main" val="1615892098"/>
      </p:ext>
    </p:extLst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5963E49-CD3B-1866-6860-A4F9258015EA}"/>
              </a:ext>
            </a:extLst>
          </p:cNvPr>
          <p:cNvSpPr txBox="1"/>
          <p:nvPr/>
        </p:nvSpPr>
        <p:spPr>
          <a:xfrm>
            <a:off x="971550" y="1196975"/>
            <a:ext cx="4572000" cy="3381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设置编译规则</a:t>
            </a:r>
            <a:endParaRPr lang="zh-CN" altLang="zh-CN" sz="160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3538ED-F287-F3C7-5E72-57D621C9795F}"/>
              </a:ext>
            </a:extLst>
          </p:cNvPr>
          <p:cNvSpPr txBox="1"/>
          <p:nvPr/>
        </p:nvSpPr>
        <p:spPr>
          <a:xfrm>
            <a:off x="1116013" y="1557338"/>
            <a:ext cx="7416800" cy="13223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REQUIRED) 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REQUIRED) 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REQUIRED) 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find_package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(OpenCV REQUIRED)</a:t>
            </a:r>
          </a:p>
          <a:p>
            <a:pPr>
              <a:defRPr/>
            </a:pPr>
            <a:r>
              <a:rPr lang="en-US" altLang="zh-CN" sz="1600" dirty="0" err="1">
                <a:latin typeface="Times New Roman" panose="02020603050405020304" pitchFamily="18" charset="0"/>
              </a:rPr>
              <a:t>find_package</a:t>
            </a:r>
            <a:r>
              <a:rPr lang="en-US" altLang="zh-CN" sz="1600" dirty="0">
                <a:latin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</a:rPr>
              <a:t>geometry_msgs</a:t>
            </a:r>
            <a:r>
              <a:rPr lang="en-US" altLang="zh-CN" sz="1600" dirty="0">
                <a:latin typeface="Times New Roman" panose="02020603050405020304" pitchFamily="18" charset="0"/>
              </a:rPr>
              <a:t> REQUIRED)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AB01F2-C09F-C9EC-85BE-FFB9F26D699D}"/>
              </a:ext>
            </a:extLst>
          </p:cNvPr>
          <p:cNvSpPr txBox="1"/>
          <p:nvPr/>
        </p:nvSpPr>
        <p:spPr>
          <a:xfrm>
            <a:off x="1130300" y="2919413"/>
            <a:ext cx="7419975" cy="8318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add_executable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cv_follow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/cv_follow.cpp)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ament_target_dependencies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cv_follow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"</a:t>
            </a:r>
            <a:r>
              <a:rPr lang="en-US" altLang="zh-CN" sz="1600" dirty="0" err="1">
                <a:latin typeface="Times New Roman" panose="02020603050405020304" pitchFamily="18" charset="0"/>
              </a:rPr>
              <a:t>rclcpp</a:t>
            </a:r>
            <a:r>
              <a:rPr lang="en-US" altLang="zh-CN" sz="1600" dirty="0">
                <a:latin typeface="Times New Roman" panose="02020603050405020304" pitchFamily="18" charset="0"/>
              </a:rPr>
              <a:t>" "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sensor_msgs</a:t>
            </a:r>
            <a:r>
              <a:rPr lang="en-US" altLang="zh-CN" sz="1600" dirty="0">
                <a:latin typeface="Times New Roman" panose="02020603050405020304" pitchFamily="18" charset="0"/>
              </a:rPr>
              <a:t>" "</a:t>
            </a:r>
            <a:r>
              <a:rPr lang="en-US" altLang="zh-CN" sz="1600" dirty="0" err="1">
                <a:latin typeface="Times New Roman" panose="02020603050405020304" pitchFamily="18" charset="0"/>
              </a:rPr>
              <a:t>cv_bridge</a:t>
            </a:r>
            <a:r>
              <a:rPr lang="en-US" altLang="zh-CN" sz="1600" dirty="0">
                <a:latin typeface="Times New Roman" panose="02020603050405020304" pitchFamily="18" charset="0"/>
              </a:rPr>
              <a:t>" "OpenCV"  "</a:t>
            </a:r>
            <a:r>
              <a:rPr lang="en-US" altLang="zh-CN" sz="1600" dirty="0" err="1">
                <a:latin typeface="Times New Roman" panose="02020603050405020304" pitchFamily="18" charset="0"/>
              </a:rPr>
              <a:t>geometry_msgs</a:t>
            </a:r>
            <a:r>
              <a:rPr lang="en-US" altLang="zh-CN" sz="1600" dirty="0">
                <a:latin typeface="Times New Roman" panose="02020603050405020304" pitchFamily="18" charset="0"/>
              </a:rPr>
              <a:t>")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A6DE69-8477-B355-9293-25F5319508DF}"/>
              </a:ext>
            </a:extLst>
          </p:cNvPr>
          <p:cNvSpPr txBox="1"/>
          <p:nvPr/>
        </p:nvSpPr>
        <p:spPr>
          <a:xfrm>
            <a:off x="1141413" y="3789363"/>
            <a:ext cx="7415212" cy="584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install(TARGETS  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cv_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 </a:t>
            </a:r>
          </a:p>
          <a:p>
            <a:pPr algn="just"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DESTINATION  lib/${PROJECT_NAME})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5404A1-2E6C-D5A7-A231-4C36FA7EDC65}"/>
              </a:ext>
            </a:extLst>
          </p:cNvPr>
          <p:cNvSpPr txBox="1"/>
          <p:nvPr/>
        </p:nvSpPr>
        <p:spPr>
          <a:xfrm>
            <a:off x="971550" y="4440238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修改软件包信息</a:t>
            </a:r>
            <a:endParaRPr lang="zh-CN" altLang="zh-CN" sz="160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3B0E2D-33A3-13D7-49B5-8C9FA3BF47CD}"/>
              </a:ext>
            </a:extLst>
          </p:cNvPr>
          <p:cNvSpPr txBox="1"/>
          <p:nvPr/>
        </p:nvSpPr>
        <p:spPr>
          <a:xfrm>
            <a:off x="1135063" y="4800600"/>
            <a:ext cx="7397750" cy="1354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 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&lt;depend&gt;OpenCV&lt;/depend&gt; </a:t>
            </a: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&lt;depend&gt;</a:t>
            </a:r>
            <a:r>
              <a:rPr lang="en-US" altLang="zh-CN" sz="1600" dirty="0" err="1">
                <a:latin typeface="Times New Roman" panose="02020603050405020304" pitchFamily="18" charset="0"/>
              </a:rPr>
              <a:t>geometry_msgs</a:t>
            </a:r>
            <a:r>
              <a:rPr lang="en-US" altLang="zh-CN" sz="1600" dirty="0">
                <a:latin typeface="Times New Roman" panose="02020603050405020304" pitchFamily="18" charset="0"/>
              </a:rPr>
              <a:t>&lt;/depend&gt;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52232" name="标题 236545">
            <a:extLst>
              <a:ext uri="{FF2B5EF4-FFF2-40B4-BE49-F238E27FC236}">
                <a16:creationId xmlns:a16="http://schemas.microsoft.com/office/drawing/2014/main" id="{22EB1A77-3F4A-8395-8F2F-EFB759CD744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9.3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基于图像视觉的目标追踪实现</a:t>
            </a:r>
          </a:p>
        </p:txBody>
      </p:sp>
    </p:spTree>
    <p:extLst>
      <p:ext uri="{BB962C8B-B14F-4D97-AF65-F5344CB8AC3E}">
        <p14:creationId xmlns:p14="http://schemas.microsoft.com/office/powerpoint/2010/main" val="4251224064"/>
      </p:ext>
    </p:extLst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88A08800-EAE1-81C7-1CA2-2EE7D5AA813B}"/>
              </a:ext>
            </a:extLst>
          </p:cNvPr>
          <p:cNvSpPr txBox="1"/>
          <p:nvPr/>
        </p:nvSpPr>
        <p:spPr>
          <a:xfrm>
            <a:off x="969963" y="1052513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编译软件包</a:t>
            </a:r>
            <a:endParaRPr lang="zh-CN" altLang="zh-CN" sz="160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58E7DE-8B40-9665-FD68-7F9E37C8A134}"/>
              </a:ext>
            </a:extLst>
          </p:cNvPr>
          <p:cNvSpPr txBox="1"/>
          <p:nvPr/>
        </p:nvSpPr>
        <p:spPr>
          <a:xfrm>
            <a:off x="1112838" y="1384300"/>
            <a:ext cx="7397750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cd ~/ros2_ws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594D9F-C537-44F6-2C9A-7E4C6E413D82}"/>
              </a:ext>
            </a:extLst>
          </p:cNvPr>
          <p:cNvSpPr txBox="1"/>
          <p:nvPr/>
        </p:nvSpPr>
        <p:spPr>
          <a:xfrm>
            <a:off x="1112838" y="1758950"/>
            <a:ext cx="7397750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colcon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build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53253" name="标题 236545">
            <a:extLst>
              <a:ext uri="{FF2B5EF4-FFF2-40B4-BE49-F238E27FC236}">
                <a16:creationId xmlns:a16="http://schemas.microsoft.com/office/drawing/2014/main" id="{F39865F0-F780-54B4-55A6-E0572986324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9.3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基于图像视觉的目标追踪实现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D41E1D-B87A-5C33-C2C0-6258E3F652EF}"/>
              </a:ext>
            </a:extLst>
          </p:cNvPr>
          <p:cNvSpPr txBox="1"/>
          <p:nvPr/>
        </p:nvSpPr>
        <p:spPr>
          <a:xfrm>
            <a:off x="969963" y="2133600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9.3.2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仿真运行目标追踪程序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63E8B49-644A-F09A-4DEE-48B1596954E4}"/>
              </a:ext>
            </a:extLst>
          </p:cNvPr>
          <p:cNvSpPr txBox="1"/>
          <p:nvPr/>
        </p:nvSpPr>
        <p:spPr>
          <a:xfrm>
            <a:off x="1116013" y="2636838"/>
            <a:ext cx="7394575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setup.bash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6AFAC45-E7C4-F6DB-4393-358E44F1D2C8}"/>
              </a:ext>
            </a:extLst>
          </p:cNvPr>
          <p:cNvSpPr txBox="1"/>
          <p:nvPr/>
        </p:nvSpPr>
        <p:spPr>
          <a:xfrm>
            <a:off x="1116013" y="3017838"/>
            <a:ext cx="7394575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ros2 launch wpr_simulation2 wpb_balls.launch.py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pic>
        <p:nvPicPr>
          <p:cNvPr id="53257" name="图片 15">
            <a:extLst>
              <a:ext uri="{FF2B5EF4-FFF2-40B4-BE49-F238E27FC236}">
                <a16:creationId xmlns:a16="http://schemas.microsoft.com/office/drawing/2014/main" id="{1CF39570-BAE0-319F-9419-91EBB0D5A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3430588"/>
            <a:ext cx="4865688" cy="276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0154715"/>
      </p:ext>
    </p:extLst>
  </p:cSld>
  <p:clrMapOvr>
    <a:masterClrMapping/>
  </p:clrMapOvr>
  <p:transition spd="slow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029CEB52-4CF7-FFAE-2027-B186C0DF066F}"/>
              </a:ext>
            </a:extLst>
          </p:cNvPr>
          <p:cNvSpPr txBox="1"/>
          <p:nvPr/>
        </p:nvSpPr>
        <p:spPr>
          <a:xfrm>
            <a:off x="1116013" y="1835150"/>
            <a:ext cx="7488237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setup.bash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54275" name="文本框 2">
            <a:extLst>
              <a:ext uri="{FF2B5EF4-FFF2-40B4-BE49-F238E27FC236}">
                <a16:creationId xmlns:a16="http://schemas.microsoft.com/office/drawing/2014/main" id="{45FC06BF-5104-0E67-64C4-616776E5A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379538"/>
            <a:ext cx="4572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打开第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个子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窗口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4276" name="文本框 5">
            <a:extLst>
              <a:ext uri="{FF2B5EF4-FFF2-40B4-BE49-F238E27FC236}">
                <a16:creationId xmlns:a16="http://schemas.microsoft.com/office/drawing/2014/main" id="{6705F604-1E88-75AC-3CD7-570E5E2AE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798763"/>
            <a:ext cx="7489825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节点运行起来之后，会弹出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个窗口，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分别是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</a:rPr>
              <a:t>“RGB”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窗口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</a:rPr>
              <a:t> “Result”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窗口。</a:t>
            </a: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4277" name="标题 236545">
            <a:extLst>
              <a:ext uri="{FF2B5EF4-FFF2-40B4-BE49-F238E27FC236}">
                <a16:creationId xmlns:a16="http://schemas.microsoft.com/office/drawing/2014/main" id="{40FE77A4-BEA0-702E-65B8-19496DA5F67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9.3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基于图像视觉的目标追踪实现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4708BF-4F28-01F4-8192-D1F84D776E6E}"/>
              </a:ext>
            </a:extLst>
          </p:cNvPr>
          <p:cNvSpPr txBox="1"/>
          <p:nvPr/>
        </p:nvSpPr>
        <p:spPr>
          <a:xfrm>
            <a:off x="1109663" y="2290763"/>
            <a:ext cx="7488237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ros2 run 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cv_pkg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cv_</a:t>
            </a:r>
            <a:r>
              <a:rPr lang="en-US" altLang="zh-CN" sz="1600" dirty="0">
                <a:latin typeface="Times New Roman" panose="02020603050405020304" pitchFamily="18" charset="0"/>
              </a:rPr>
              <a:t>follow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pic>
        <p:nvPicPr>
          <p:cNvPr id="54279" name="图片 9">
            <a:extLst>
              <a:ext uri="{FF2B5EF4-FFF2-40B4-BE49-F238E27FC236}">
                <a16:creationId xmlns:a16="http://schemas.microsoft.com/office/drawing/2014/main" id="{D7F11F03-8E42-D952-336B-61622F803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3611563"/>
            <a:ext cx="3665537" cy="220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80" name="图片 10">
            <a:extLst>
              <a:ext uri="{FF2B5EF4-FFF2-40B4-BE49-F238E27FC236}">
                <a16:creationId xmlns:a16="http://schemas.microsoft.com/office/drawing/2014/main" id="{164C395E-1E57-59FF-68BB-096CF3612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575" y="3611563"/>
            <a:ext cx="3671888" cy="220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9955718"/>
      </p:ext>
    </p:extLst>
  </p:cSld>
  <p:clrMapOvr>
    <a:masterClrMapping/>
  </p:clrMapOvr>
  <p:transition spd="slow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236545">
            <a:extLst>
              <a:ext uri="{FF2B5EF4-FFF2-40B4-BE49-F238E27FC236}">
                <a16:creationId xmlns:a16="http://schemas.microsoft.com/office/drawing/2014/main" id="{9C1723C2-743F-83CC-F11A-657C752C8DA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9.3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基于图像视觉的目标追踪实现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72F778-E97F-322C-48EE-ED01D53D1981}"/>
              </a:ext>
            </a:extLst>
          </p:cNvPr>
          <p:cNvSpPr txBox="1"/>
          <p:nvPr/>
        </p:nvSpPr>
        <p:spPr>
          <a:xfrm>
            <a:off x="1187450" y="1125538"/>
            <a:ext cx="7416800" cy="11572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切换到仿真窗口，可以看到里面的机器人对准桔色球，轻微向后移动，与桔色球保持固定距离。如图所示，在运行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cv_follow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节点的终端窗口，可以看到追踪目标物的中心坐标值在不停地刷新。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5300" name="图片 6">
            <a:extLst>
              <a:ext uri="{FF2B5EF4-FFF2-40B4-BE49-F238E27FC236}">
                <a16:creationId xmlns:a16="http://schemas.microsoft.com/office/drawing/2014/main" id="{B79EF360-AF9E-5FE7-8F33-057A19F7B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565400"/>
            <a:ext cx="6831013" cy="301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2738757"/>
      </p:ext>
    </p:extLst>
  </p:cSld>
  <p:clrMapOvr>
    <a:masterClrMapping/>
  </p:clrMapOvr>
  <p:transition spd="slow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D2CD3C6B-8239-6277-1E80-27D0B61C98F9}"/>
              </a:ext>
            </a:extLst>
          </p:cNvPr>
          <p:cNvSpPr txBox="1"/>
          <p:nvPr/>
        </p:nvSpPr>
        <p:spPr>
          <a:xfrm>
            <a:off x="1116013" y="1989138"/>
            <a:ext cx="7488237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setup.bash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95226AB-7A17-50A5-A275-BA78EBC034BA}"/>
              </a:ext>
            </a:extLst>
          </p:cNvPr>
          <p:cNvSpPr txBox="1"/>
          <p:nvPr/>
        </p:nvSpPr>
        <p:spPr>
          <a:xfrm>
            <a:off x="1116013" y="2370138"/>
            <a:ext cx="7488237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ros2 run wpr_simulation2 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ball_random_move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56324" name="文本框 2">
            <a:extLst>
              <a:ext uri="{FF2B5EF4-FFF2-40B4-BE49-F238E27FC236}">
                <a16:creationId xmlns:a16="http://schemas.microsoft.com/office/drawing/2014/main" id="{EE18CD7C-CA3B-024D-8BB5-BDC3FF33D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052513"/>
            <a:ext cx="7705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为了测试机器人追踪目标球的效果，可以借助</a:t>
            </a:r>
            <a:r>
              <a:rPr lang="en-US" altLang="zh-CN" sz="1600">
                <a:latin typeface="Times New Roman" panose="02020603050405020304" pitchFamily="18" charset="0"/>
              </a:rPr>
              <a:t>wpr_simulation2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附带的程序让桔色球动起来。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以便进行观察。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打开第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个子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窗口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D503D9-694E-0E6D-6D0A-338C14102C66}"/>
              </a:ext>
            </a:extLst>
          </p:cNvPr>
          <p:cNvSpPr txBox="1"/>
          <p:nvPr/>
        </p:nvSpPr>
        <p:spPr>
          <a:xfrm>
            <a:off x="971550" y="2887663"/>
            <a:ext cx="7740650" cy="78422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执行之后，可以看到仿真窗口里的桔色球开始随机运动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而机器人也追着桔色球在移动。此时再切换到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“RGB”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窗口，观察蓝色十字标记是对桔色目标球的追踪效果。</a:t>
            </a: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6326" name="标题 236545">
            <a:extLst>
              <a:ext uri="{FF2B5EF4-FFF2-40B4-BE49-F238E27FC236}">
                <a16:creationId xmlns:a16="http://schemas.microsoft.com/office/drawing/2014/main" id="{EB4DDC20-CF3D-E12D-3B85-5EABC4B8ED4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9.3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基于图像视觉的目标追踪实现</a:t>
            </a:r>
          </a:p>
        </p:txBody>
      </p:sp>
      <p:pic>
        <p:nvPicPr>
          <p:cNvPr id="56327" name="图片 4">
            <a:extLst>
              <a:ext uri="{FF2B5EF4-FFF2-40B4-BE49-F238E27FC236}">
                <a16:creationId xmlns:a16="http://schemas.microsoft.com/office/drawing/2014/main" id="{9BE484F1-0A8A-F2D4-D5CA-C8321F23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3868738"/>
            <a:ext cx="3649662" cy="207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8" name="图片 8">
            <a:extLst>
              <a:ext uri="{FF2B5EF4-FFF2-40B4-BE49-F238E27FC236}">
                <a16:creationId xmlns:a16="http://schemas.microsoft.com/office/drawing/2014/main" id="{65E14E8C-D4B7-3BBF-4D1A-373337AE6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3876675"/>
            <a:ext cx="3421063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9441557"/>
      </p:ext>
    </p:extLst>
  </p:cSld>
  <p:clrMapOvr>
    <a:masterClrMapping/>
  </p:clrMapOvr>
  <p:transition spd="slow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236545">
            <a:extLst>
              <a:ext uri="{FF2B5EF4-FFF2-40B4-BE49-F238E27FC236}">
                <a16:creationId xmlns:a16="http://schemas.microsoft.com/office/drawing/2014/main" id="{2670D7F6-EC1B-B981-4AE5-BA9FD8ED9C7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9.3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基于图像视觉的目标追踪实现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F4A0C9-3A20-C8B0-1C19-1CB35CC1B18B}"/>
              </a:ext>
            </a:extLst>
          </p:cNvPr>
          <p:cNvSpPr txBox="1"/>
          <p:nvPr/>
        </p:nvSpPr>
        <p:spPr>
          <a:xfrm>
            <a:off x="1042988" y="2368550"/>
            <a:ext cx="7416800" cy="21209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经过前面三个实验，终于将识别检测和运动行为结合起来，形成一个典型的视觉闭环控制系统。机器人与外部世界的交互，形式虽然多样，但是本质上都是这样一套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识别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定位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操作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的闭环控制系统。通过这样一个简单的例子，了解和学习这种实现思路，可以为将来构建更复杂的机器人系统奠定一个基础。</a:t>
            </a:r>
            <a:endParaRPr lang="zh-CN" altLang="zh-CN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622109"/>
      </p:ext>
    </p:extLst>
  </p:cSld>
  <p:clrMapOvr>
    <a:masterClrMapping/>
  </p:clrMapOvr>
  <p:transition spd="slow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236545">
            <a:extLst>
              <a:ext uri="{FF2B5EF4-FFF2-40B4-BE49-F238E27FC236}">
                <a16:creationId xmlns:a16="http://schemas.microsoft.com/office/drawing/2014/main" id="{8039FBF8-A94F-6255-F934-54E80E7DB03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9.4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基于图像视觉的人脸检测实现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F4F2FFA-63DF-EE27-C0DA-FCC4AF631082}"/>
              </a:ext>
            </a:extLst>
          </p:cNvPr>
          <p:cNvSpPr txBox="1"/>
          <p:nvPr/>
        </p:nvSpPr>
        <p:spPr>
          <a:xfrm>
            <a:off x="971550" y="1111250"/>
            <a:ext cx="7488238" cy="263525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本节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借助现成的人脸识别算法库来实现人脸检测，这个算法库的调用在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wpr_simulaiton2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face_detector.py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节点中已经实现，直接使用即可。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face_detector.py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节点会订阅话题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“/face_detector_input”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，作为人脸图像的输入。图像中的人脸被检测到后，其坐标值会发布到话题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“/face_position”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中去。所以，这个实验只需要编写一个节点，从相机的话题中获取图片，转发给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face_detector.py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节点进行人脸检测。然后从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face_detector.py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“/face_position”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话题获取人脸坐标结果即可。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8372" name="图片 2">
            <a:extLst>
              <a:ext uri="{FF2B5EF4-FFF2-40B4-BE49-F238E27FC236}">
                <a16:creationId xmlns:a16="http://schemas.microsoft.com/office/drawing/2014/main" id="{9C201E47-430D-6D15-F9FD-78577BD7E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3421063"/>
            <a:ext cx="5262563" cy="272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2523852"/>
      </p:ext>
    </p:extLst>
  </p:cSld>
  <p:clrMapOvr>
    <a:masterClrMapping/>
  </p:clrMapOvr>
  <p:transition spd="slow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236545">
            <a:extLst>
              <a:ext uri="{FF2B5EF4-FFF2-40B4-BE49-F238E27FC236}">
                <a16:creationId xmlns:a16="http://schemas.microsoft.com/office/drawing/2014/main" id="{C8F67E63-6B08-DBBB-B3F1-CDC59B2835F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9.4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基于图像视觉的人脸检测实现</a:t>
            </a:r>
          </a:p>
        </p:txBody>
      </p:sp>
      <p:sp>
        <p:nvSpPr>
          <p:cNvPr id="59395" name="文本框 19">
            <a:extLst>
              <a:ext uri="{FF2B5EF4-FFF2-40B4-BE49-F238E27FC236}">
                <a16:creationId xmlns:a16="http://schemas.microsoft.com/office/drawing/2014/main" id="{4C119808-7006-0503-CA81-9E2F933E1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196975"/>
            <a:ext cx="51149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chemeClr val="tx2"/>
                </a:solidFill>
              </a:rPr>
              <a:t>        </a:t>
            </a:r>
            <a:r>
              <a:rPr kumimoji="1"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详细操作步骤见教材</a:t>
            </a:r>
            <a:r>
              <a:rPr kumimoji="1" lang="en-US" altLang="zh-CN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P311-P326</a:t>
            </a:r>
            <a:r>
              <a:rPr kumimoji="1"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页</a:t>
            </a:r>
          </a:p>
        </p:txBody>
      </p:sp>
      <p:sp>
        <p:nvSpPr>
          <p:cNvPr id="59396" name="文本框 2">
            <a:extLst>
              <a:ext uri="{FF2B5EF4-FFF2-40B4-BE49-F238E27FC236}">
                <a16:creationId xmlns:a16="http://schemas.microsoft.com/office/drawing/2014/main" id="{8ADF186F-07C9-D51C-2AC0-AAAEACA8A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628775"/>
            <a:ext cx="6731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在编写代码前，需要安装人脸检测节点</a:t>
            </a:r>
            <a:r>
              <a:rPr lang="en-US" altLang="zh-CN" sz="1600">
                <a:latin typeface="Times New Roman" panose="02020603050405020304" pitchFamily="18" charset="0"/>
              </a:rPr>
              <a:t>face_detector.py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的依赖项。</a:t>
            </a:r>
            <a:endParaRPr lang="zh-CN" altLang="en-US" sz="16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58B037-83C2-7E43-DFD0-8847827ABA4A}"/>
              </a:ext>
            </a:extLst>
          </p:cNvPr>
          <p:cNvSpPr txBox="1"/>
          <p:nvPr/>
        </p:nvSpPr>
        <p:spPr>
          <a:xfrm>
            <a:off x="1130300" y="2036763"/>
            <a:ext cx="7473950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cd ~/ros2_ws/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src</a:t>
            </a:r>
            <a:r>
              <a:rPr lang="en-US" altLang="zh-CN" sz="1600" dirty="0">
                <a:latin typeface="Times New Roman" panose="02020603050405020304" pitchFamily="18" charset="0"/>
              </a:rPr>
              <a:t>/wpr_simulation2/scripts/</a:t>
            </a:r>
            <a:endParaRPr lang="zh-CN" altLang="en-US"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7A028F-8A8B-88A4-C165-45087BCEC63F}"/>
              </a:ext>
            </a:extLst>
          </p:cNvPr>
          <p:cNvSpPr txBox="1"/>
          <p:nvPr/>
        </p:nvSpPr>
        <p:spPr>
          <a:xfrm>
            <a:off x="1130300" y="2420938"/>
            <a:ext cx="7473950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./install_dep_face.sh</a:t>
            </a:r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576C5B-B7E5-59F7-014F-6F3E44A96B05}"/>
              </a:ext>
            </a:extLst>
          </p:cNvPr>
          <p:cNvSpPr txBox="1"/>
          <p:nvPr/>
        </p:nvSpPr>
        <p:spPr>
          <a:xfrm>
            <a:off x="1042988" y="2819400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9.4.1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编写人脸检测程序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0E09CF-2BFD-06E6-3BB0-D47A282CC65C}"/>
              </a:ext>
            </a:extLst>
          </p:cNvPr>
          <p:cNvSpPr txBox="1"/>
          <p:nvPr/>
        </p:nvSpPr>
        <p:spPr>
          <a:xfrm>
            <a:off x="1116013" y="3357563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编写节点代码</a:t>
            </a:r>
            <a:endParaRPr lang="zh-CN" altLang="zh-CN" sz="160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401" name="文本框 10">
            <a:extLst>
              <a:ext uri="{FF2B5EF4-FFF2-40B4-BE49-F238E27FC236}">
                <a16:creationId xmlns:a16="http://schemas.microsoft.com/office/drawing/2014/main" id="{FEBA9AE5-493B-712F-64A1-8E42FC886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825" y="3727450"/>
            <a:ext cx="7608888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在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</a:rPr>
              <a:t>cv_pkg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软件包中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</a:rPr>
              <a:t>[src]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文件夹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新建文件，命名为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 sz="1600">
                <a:latin typeface="Times New Roman" panose="02020603050405020304" pitchFamily="18" charset="0"/>
              </a:rPr>
              <a:t>cv_face_detect.cpp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lang="zh-CN" altLang="en-US" sz="1600">
              <a:solidFill>
                <a:srgbClr val="000000"/>
              </a:solidFill>
            </a:endParaRPr>
          </a:p>
        </p:txBody>
      </p:sp>
      <p:pic>
        <p:nvPicPr>
          <p:cNvPr id="59402" name="图片 7">
            <a:extLst>
              <a:ext uri="{FF2B5EF4-FFF2-40B4-BE49-F238E27FC236}">
                <a16:creationId xmlns:a16="http://schemas.microsoft.com/office/drawing/2014/main" id="{2C5E12AE-B037-2F91-D3A9-A6AEC280EBA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4291013"/>
            <a:ext cx="4033838" cy="194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2152306"/>
      </p:ext>
    </p:extLst>
  </p:cSld>
  <p:clrMapOvr>
    <a:masterClrMapping/>
  </p:clrMapOvr>
  <p:transition spd="slow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5BC639D3-0C8C-B70B-9807-09A1F60DB915}"/>
              </a:ext>
            </a:extLst>
          </p:cNvPr>
          <p:cNvSpPr txBox="1"/>
          <p:nvPr/>
        </p:nvSpPr>
        <p:spPr>
          <a:xfrm>
            <a:off x="1058863" y="1147763"/>
            <a:ext cx="7329487" cy="50180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/rclcpp.hpp&gt;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/msg/image.hpp&gt;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/msg/region_of_interest.hpp&gt;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cv_bridge.h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&lt;opencv2/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imgproc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/imgproc.hpp&gt;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&lt;opencv2/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highgui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/highgui.hpp&gt;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shared_ptr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::Node&gt; node;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cv::Mat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imgFace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::Publisher&lt;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::msg::Image&gt;::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frame_pub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CamRGBCallback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(const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::msg::Image::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msg)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CvImagePtr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toCvCopy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(msg,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image_encodings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::BGR8);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imgFace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-&gt;image;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frame_pub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-&gt;publish(*msg);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0419" name="标题 236545">
            <a:extLst>
              <a:ext uri="{FF2B5EF4-FFF2-40B4-BE49-F238E27FC236}">
                <a16:creationId xmlns:a16="http://schemas.microsoft.com/office/drawing/2014/main" id="{B82D7737-851D-0579-2551-6E6E868B4E7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9.4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基于图像视觉的人脸检测实现</a:t>
            </a:r>
          </a:p>
        </p:txBody>
      </p:sp>
    </p:spTree>
    <p:extLst>
      <p:ext uri="{BB962C8B-B14F-4D97-AF65-F5344CB8AC3E}">
        <p14:creationId xmlns:p14="http://schemas.microsoft.com/office/powerpoint/2010/main" val="725684740"/>
      </p:ext>
    </p:extLst>
  </p:cSld>
  <p:clrMapOvr>
    <a:masterClrMapping/>
  </p:clrMapOvr>
  <p:transition spd="slow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0D95107-041D-ADCC-1418-90C977BF0D8A}"/>
              </a:ext>
            </a:extLst>
          </p:cNvPr>
          <p:cNvSpPr txBox="1"/>
          <p:nvPr/>
        </p:nvSpPr>
        <p:spPr>
          <a:xfrm>
            <a:off x="971550" y="2133600"/>
            <a:ext cx="7561263" cy="28003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FacePosCallback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(const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RegionOfInterest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msg)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cv::rectangle(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imgFace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cv::Point(msg-&gt;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x_offset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msg-&gt;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y_offset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cv::Point(msg-&gt;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x_offset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msg-&gt;width, msg-&gt;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y_offset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msg-&gt;height),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cv::Scalar(0, 0, 255),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2,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cv::LINE_8);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cv::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("Face",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imgFace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cv::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waitKey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 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1443" name="标题 236545">
            <a:extLst>
              <a:ext uri="{FF2B5EF4-FFF2-40B4-BE49-F238E27FC236}">
                <a16:creationId xmlns:a16="http://schemas.microsoft.com/office/drawing/2014/main" id="{030CDDC6-5D45-EA85-86F6-4798B5318F1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9.4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基于图像视觉的人脸检测实现</a:t>
            </a:r>
          </a:p>
        </p:txBody>
      </p:sp>
    </p:spTree>
    <p:extLst>
      <p:ext uri="{BB962C8B-B14F-4D97-AF65-F5344CB8AC3E}">
        <p14:creationId xmlns:p14="http://schemas.microsoft.com/office/powerpoint/2010/main" val="3316049432"/>
      </p:ext>
    </p:extLst>
  </p:cSld>
  <p:clrMapOvr>
    <a:masterClrMapping/>
  </p:clrMapOvr>
  <p:transition spd="slow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2A67DD5-208D-C01B-679E-477524DD7941}"/>
              </a:ext>
            </a:extLst>
          </p:cNvPr>
          <p:cNvSpPr txBox="1"/>
          <p:nvPr/>
        </p:nvSpPr>
        <p:spPr>
          <a:xfrm>
            <a:off x="971550" y="1196975"/>
            <a:ext cx="7561263" cy="47704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char **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 = std::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make_shared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::Node&gt;("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cv_face_detect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auto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rgb_sub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node-&gt;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create_subscription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::msg::Image&gt;(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"/kinect2/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qhd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image_raw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1,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CamRGBCallback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frame_pub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node-&gt;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create_publisher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::msg::Image&gt;(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face_detector_input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1);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auto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face_sub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node-&gt;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create_subscription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RegionOfInterest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face_position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1,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FacePosCallback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cv::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namedWindow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("Face");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::spin(node);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cv::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destroyAllWindows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::shutdown();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}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2467" name="标题 236545">
            <a:extLst>
              <a:ext uri="{FF2B5EF4-FFF2-40B4-BE49-F238E27FC236}">
                <a16:creationId xmlns:a16="http://schemas.microsoft.com/office/drawing/2014/main" id="{1E9F7946-DD27-0167-5786-61E4E038965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9.4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基于图像视觉的人脸检测实现</a:t>
            </a:r>
          </a:p>
        </p:txBody>
      </p:sp>
    </p:spTree>
    <p:extLst>
      <p:ext uri="{BB962C8B-B14F-4D97-AF65-F5344CB8AC3E}">
        <p14:creationId xmlns:p14="http://schemas.microsoft.com/office/powerpoint/2010/main" val="3903333239"/>
      </p:ext>
    </p:extLst>
  </p:cSld>
  <p:clrMapOvr>
    <a:masterClrMapping/>
  </p:clrMapOvr>
  <p:transition spd="slow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27B8A3F-A2DE-9107-D5F3-3C16C03533E2}"/>
              </a:ext>
            </a:extLst>
          </p:cNvPr>
          <p:cNvSpPr txBox="1"/>
          <p:nvPr/>
        </p:nvSpPr>
        <p:spPr>
          <a:xfrm>
            <a:off x="971550" y="1341438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设置编译规则</a:t>
            </a:r>
            <a:endParaRPr lang="zh-CN" altLang="zh-CN" sz="160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A21F52-4001-8A33-E4E4-CF0C97B4AA29}"/>
              </a:ext>
            </a:extLst>
          </p:cNvPr>
          <p:cNvSpPr txBox="1"/>
          <p:nvPr/>
        </p:nvSpPr>
        <p:spPr>
          <a:xfrm>
            <a:off x="1116013" y="1700213"/>
            <a:ext cx="7416800" cy="10779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REQUIRED) 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REQUIRED) 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REQUIRED) 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find_package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(OpenCV REQUIRED)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D45910-BBDF-3647-5608-4BA2616F0192}"/>
              </a:ext>
            </a:extLst>
          </p:cNvPr>
          <p:cNvSpPr txBox="1"/>
          <p:nvPr/>
        </p:nvSpPr>
        <p:spPr>
          <a:xfrm>
            <a:off x="1130300" y="2814638"/>
            <a:ext cx="7419975" cy="8302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add_executable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cv_face_detect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/cv_face_detect.cpp)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 err="1">
                <a:latin typeface="Times New Roman" panose="02020603050405020304" pitchFamily="18" charset="0"/>
              </a:rPr>
              <a:t>ament_target_dependencies</a:t>
            </a:r>
            <a:r>
              <a:rPr lang="en-US" altLang="zh-CN" sz="1600" dirty="0">
                <a:latin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</a:rPr>
              <a:t>cv_face_detect</a:t>
            </a:r>
            <a:r>
              <a:rPr lang="en-US" altLang="zh-CN" sz="1600" dirty="0">
                <a:latin typeface="Times New Roman" panose="02020603050405020304" pitchFamily="18" charset="0"/>
              </a:rPr>
              <a:t> "</a:t>
            </a:r>
            <a:r>
              <a:rPr lang="en-US" altLang="zh-CN" sz="1600" dirty="0" err="1">
                <a:latin typeface="Times New Roman" panose="02020603050405020304" pitchFamily="18" charset="0"/>
              </a:rPr>
              <a:t>rclcpp</a:t>
            </a:r>
            <a:r>
              <a:rPr lang="en-US" altLang="zh-CN" sz="1600" dirty="0">
                <a:latin typeface="Times New Roman" panose="02020603050405020304" pitchFamily="18" charset="0"/>
              </a:rPr>
              <a:t>" "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sensor_msgs</a:t>
            </a:r>
            <a:r>
              <a:rPr lang="en-US" altLang="zh-CN" sz="1600" dirty="0">
                <a:latin typeface="Times New Roman" panose="02020603050405020304" pitchFamily="18" charset="0"/>
              </a:rPr>
              <a:t>" "</a:t>
            </a:r>
            <a:r>
              <a:rPr lang="en-US" altLang="zh-CN" sz="1600" dirty="0" err="1">
                <a:latin typeface="Times New Roman" panose="02020603050405020304" pitchFamily="18" charset="0"/>
              </a:rPr>
              <a:t>cv_bridge</a:t>
            </a:r>
            <a:r>
              <a:rPr lang="en-US" altLang="zh-CN" sz="1600" dirty="0">
                <a:latin typeface="Times New Roman" panose="02020603050405020304" pitchFamily="18" charset="0"/>
              </a:rPr>
              <a:t>" "OpenCV")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1D86A6-A766-12E0-8E19-413DDDD330F1}"/>
              </a:ext>
            </a:extLst>
          </p:cNvPr>
          <p:cNvSpPr txBox="1"/>
          <p:nvPr/>
        </p:nvSpPr>
        <p:spPr>
          <a:xfrm>
            <a:off x="1141413" y="3708400"/>
            <a:ext cx="7415212" cy="584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install(TARGETS  </a:t>
            </a:r>
            <a:r>
              <a:rPr lang="en-US" altLang="zh-CN" sz="1600" dirty="0" err="1">
                <a:latin typeface="Times New Roman" panose="02020603050405020304" pitchFamily="18" charset="0"/>
              </a:rPr>
              <a:t>cv_face_detect</a:t>
            </a:r>
            <a:endParaRPr lang="en-US" altLang="zh-CN" sz="16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DESTINATION  lib/${PROJECT_NAME})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C5D78C-1587-6B65-9C28-F14252BB88B9}"/>
              </a:ext>
            </a:extLst>
          </p:cNvPr>
          <p:cNvSpPr txBox="1"/>
          <p:nvPr/>
        </p:nvSpPr>
        <p:spPr>
          <a:xfrm>
            <a:off x="971550" y="4584700"/>
            <a:ext cx="4572000" cy="3381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修改软件包信息</a:t>
            </a:r>
            <a:endParaRPr lang="zh-CN" altLang="zh-CN" sz="160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19C4BF-6F14-1568-B3ED-CC68C8BB9A2A}"/>
              </a:ext>
            </a:extLst>
          </p:cNvPr>
          <p:cNvSpPr txBox="1"/>
          <p:nvPr/>
        </p:nvSpPr>
        <p:spPr>
          <a:xfrm>
            <a:off x="1135063" y="4943475"/>
            <a:ext cx="7397750" cy="10779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 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cv_bridge</a:t>
            </a:r>
            <a:r>
              <a:rPr lang="en-US" altLang="zh-CN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&lt;depend&gt;OpenCV&lt;/depend&gt; </a:t>
            </a:r>
          </a:p>
        </p:txBody>
      </p:sp>
      <p:sp>
        <p:nvSpPr>
          <p:cNvPr id="63496" name="标题 236545">
            <a:extLst>
              <a:ext uri="{FF2B5EF4-FFF2-40B4-BE49-F238E27FC236}">
                <a16:creationId xmlns:a16="http://schemas.microsoft.com/office/drawing/2014/main" id="{7BF86E28-81EA-A8CF-0B39-DFBE8FCE0DC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9.4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基于图像视觉的人脸检测实现</a:t>
            </a:r>
          </a:p>
        </p:txBody>
      </p:sp>
    </p:spTree>
    <p:extLst>
      <p:ext uri="{BB962C8B-B14F-4D97-AF65-F5344CB8AC3E}">
        <p14:creationId xmlns:p14="http://schemas.microsoft.com/office/powerpoint/2010/main" val="4071076659"/>
      </p:ext>
    </p:extLst>
  </p:cSld>
  <p:clrMapOvr>
    <a:masterClrMapping/>
  </p:clrMapOvr>
  <p:transition spd="slow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4F845883-4AF1-92D8-8629-72586201EB36}"/>
              </a:ext>
            </a:extLst>
          </p:cNvPr>
          <p:cNvSpPr txBox="1"/>
          <p:nvPr/>
        </p:nvSpPr>
        <p:spPr>
          <a:xfrm>
            <a:off x="969963" y="1052513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编译软件包</a:t>
            </a:r>
            <a:endParaRPr lang="zh-CN" altLang="zh-CN" sz="160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0D38A3-12FA-E1CE-2379-8DC991BA01AF}"/>
              </a:ext>
            </a:extLst>
          </p:cNvPr>
          <p:cNvSpPr txBox="1"/>
          <p:nvPr/>
        </p:nvSpPr>
        <p:spPr>
          <a:xfrm>
            <a:off x="1112838" y="1384300"/>
            <a:ext cx="7397750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cd ~/ros2_ws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AC6AAD1-A935-0B4D-518C-C8EBA11C1DC0}"/>
              </a:ext>
            </a:extLst>
          </p:cNvPr>
          <p:cNvSpPr txBox="1"/>
          <p:nvPr/>
        </p:nvSpPr>
        <p:spPr>
          <a:xfrm>
            <a:off x="1112838" y="1758950"/>
            <a:ext cx="7397750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colcon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build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F502CB1-7794-5936-729B-DE6D0724E07C}"/>
              </a:ext>
            </a:extLst>
          </p:cNvPr>
          <p:cNvSpPr txBox="1"/>
          <p:nvPr/>
        </p:nvSpPr>
        <p:spPr>
          <a:xfrm>
            <a:off x="1116013" y="2636838"/>
            <a:ext cx="7394575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setup.bash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186C21D-6B77-1957-9B0D-980293BD1EF0}"/>
              </a:ext>
            </a:extLst>
          </p:cNvPr>
          <p:cNvSpPr txBox="1"/>
          <p:nvPr/>
        </p:nvSpPr>
        <p:spPr>
          <a:xfrm>
            <a:off x="1116013" y="3017838"/>
            <a:ext cx="7394575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launch wpr_simulation2 wpb_face.launch.py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64519" name="标题 236545">
            <a:extLst>
              <a:ext uri="{FF2B5EF4-FFF2-40B4-BE49-F238E27FC236}">
                <a16:creationId xmlns:a16="http://schemas.microsoft.com/office/drawing/2014/main" id="{7236AFE3-D37F-8373-2654-C94AC4FEAA3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9.4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基于图像视觉的人脸检测实现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7AB919-9828-BA6F-735A-F01C9A3BB58E}"/>
              </a:ext>
            </a:extLst>
          </p:cNvPr>
          <p:cNvSpPr txBox="1"/>
          <p:nvPr/>
        </p:nvSpPr>
        <p:spPr>
          <a:xfrm>
            <a:off x="1058863" y="2097088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9.4.2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仿真运行人脸检测程序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4521" name="图片 4">
            <a:extLst>
              <a:ext uri="{FF2B5EF4-FFF2-40B4-BE49-F238E27FC236}">
                <a16:creationId xmlns:a16="http://schemas.microsoft.com/office/drawing/2014/main" id="{0F8FEF2C-ACEB-C29D-BFF1-3E749424E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3427413"/>
            <a:ext cx="4875213" cy="276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533882"/>
      </p:ext>
    </p:extLst>
  </p:cSld>
  <p:clrMapOvr>
    <a:masterClrMapping/>
  </p:clrMapOvr>
  <p:transition spd="slow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E4C4F1D8-A4F8-F2B6-2D10-631D056C3E2B}"/>
              </a:ext>
            </a:extLst>
          </p:cNvPr>
          <p:cNvSpPr txBox="1"/>
          <p:nvPr/>
        </p:nvSpPr>
        <p:spPr>
          <a:xfrm>
            <a:off x="1116013" y="1652588"/>
            <a:ext cx="7488237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setup.bash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65539" name="文本框 2">
            <a:extLst>
              <a:ext uri="{FF2B5EF4-FFF2-40B4-BE49-F238E27FC236}">
                <a16:creationId xmlns:a16="http://schemas.microsoft.com/office/drawing/2014/main" id="{C27089BF-8026-AE2C-DDAB-BE65C4712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196975"/>
            <a:ext cx="76327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打开第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个子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窗口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运行人脸检测服务节点</a:t>
            </a:r>
            <a:r>
              <a:rPr lang="en-US" altLang="zh-CN" sz="1600">
                <a:latin typeface="Times New Roman" panose="02020603050405020304" pitchFamily="18" charset="0"/>
              </a:rPr>
              <a:t>face_detector.py:</a:t>
            </a: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7433F8-A328-75AA-92E4-03CD907DA281}"/>
              </a:ext>
            </a:extLst>
          </p:cNvPr>
          <p:cNvSpPr txBox="1"/>
          <p:nvPr/>
        </p:nvSpPr>
        <p:spPr>
          <a:xfrm>
            <a:off x="1109663" y="2022475"/>
            <a:ext cx="7488237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run wpr_simulation2 face_detector.py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65541" name="标题 236545">
            <a:extLst>
              <a:ext uri="{FF2B5EF4-FFF2-40B4-BE49-F238E27FC236}">
                <a16:creationId xmlns:a16="http://schemas.microsoft.com/office/drawing/2014/main" id="{8A6D6CBB-A210-4026-5A30-AFEEB6AD414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9.4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基于图像视觉的人脸检测实现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B487DD-CC45-D84A-B574-EF168B9E5B96}"/>
              </a:ext>
            </a:extLst>
          </p:cNvPr>
          <p:cNvSpPr txBox="1"/>
          <p:nvPr/>
        </p:nvSpPr>
        <p:spPr>
          <a:xfrm>
            <a:off x="1116013" y="3100388"/>
            <a:ext cx="7488237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setup.bash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65543" name="文本框 6">
            <a:extLst>
              <a:ext uri="{FF2B5EF4-FFF2-40B4-BE49-F238E27FC236}">
                <a16:creationId xmlns:a16="http://schemas.microsoft.com/office/drawing/2014/main" id="{21B7B691-121E-F685-665E-8B7E56156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644775"/>
            <a:ext cx="76327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打开第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个子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窗口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运行刚才编写的节点</a:t>
            </a:r>
            <a:r>
              <a:rPr lang="en-US" altLang="zh-CN" sz="1600">
                <a:latin typeface="Times New Roman" panose="02020603050405020304" pitchFamily="18" charset="0"/>
              </a:rPr>
              <a:t>cv_face_detect:</a:t>
            </a: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0F06E8-A5F0-DCD0-8EC3-0199E3E740AC}"/>
              </a:ext>
            </a:extLst>
          </p:cNvPr>
          <p:cNvSpPr txBox="1"/>
          <p:nvPr/>
        </p:nvSpPr>
        <p:spPr>
          <a:xfrm>
            <a:off x="1109663" y="3462338"/>
            <a:ext cx="7488237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run </a:t>
            </a:r>
            <a:r>
              <a:rPr lang="en-US" altLang="zh-CN" sz="1600" dirty="0" err="1">
                <a:latin typeface="Times New Roman" panose="02020603050405020304" pitchFamily="18" charset="0"/>
              </a:rPr>
              <a:t>cv_pkg</a:t>
            </a:r>
            <a:r>
              <a:rPr lang="en-US" altLang="zh-CN" sz="1600" dirty="0">
                <a:latin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</a:rPr>
              <a:t>cv_face_detect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pic>
        <p:nvPicPr>
          <p:cNvPr id="65545" name="图片 11">
            <a:extLst>
              <a:ext uri="{FF2B5EF4-FFF2-40B4-BE49-F238E27FC236}">
                <a16:creationId xmlns:a16="http://schemas.microsoft.com/office/drawing/2014/main" id="{29FFF0A4-D5CF-7D5F-321B-0D60AAF04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3870325"/>
            <a:ext cx="3906837" cy="235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4258197"/>
      </p:ext>
    </p:extLst>
  </p:cSld>
  <p:clrMapOvr>
    <a:masterClrMapping/>
  </p:clrMapOvr>
  <p:transition spd="slow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文本框 2">
            <a:extLst>
              <a:ext uri="{FF2B5EF4-FFF2-40B4-BE49-F238E27FC236}">
                <a16:creationId xmlns:a16="http://schemas.microsoft.com/office/drawing/2014/main" id="{94F600FC-A539-3C4A-CCE7-90DBC7647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196975"/>
            <a:ext cx="76327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此时还可以借助</a:t>
            </a:r>
            <a:r>
              <a:rPr lang="en-US" altLang="zh-CN" sz="1600">
                <a:latin typeface="Times New Roman" panose="02020603050405020304" pitchFamily="18" charset="0"/>
              </a:rPr>
              <a:t>wpr_simulation2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附带的键盘控制程序让机器人运动起来，通过不同视角去测人脸识别的鲁棒性。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打开第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个子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窗口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66563" name="标题 236545">
            <a:extLst>
              <a:ext uri="{FF2B5EF4-FFF2-40B4-BE49-F238E27FC236}">
                <a16:creationId xmlns:a16="http://schemas.microsoft.com/office/drawing/2014/main" id="{B9BBE380-D43F-A277-2F8B-4238FFCFE16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66500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9.4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基于图像视觉的人脸检测实现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DCBD69-8424-00DC-0D7C-755D2C84EE78}"/>
              </a:ext>
            </a:extLst>
          </p:cNvPr>
          <p:cNvSpPr txBox="1"/>
          <p:nvPr/>
        </p:nvSpPr>
        <p:spPr>
          <a:xfrm>
            <a:off x="1116013" y="2079625"/>
            <a:ext cx="7488237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setup.bash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FFEA11-6D84-FE5A-93A9-F075D1EABEDA}"/>
              </a:ext>
            </a:extLst>
          </p:cNvPr>
          <p:cNvSpPr txBox="1"/>
          <p:nvPr/>
        </p:nvSpPr>
        <p:spPr>
          <a:xfrm>
            <a:off x="1109663" y="2443163"/>
            <a:ext cx="7488237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run wpr_simulation2 </a:t>
            </a:r>
            <a:r>
              <a:rPr lang="en-US" altLang="zh-CN" sz="1600" dirty="0" err="1">
                <a:latin typeface="Times New Roman" panose="02020603050405020304" pitchFamily="18" charset="0"/>
              </a:rPr>
              <a:t>keyboard_vel_cmd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pic>
        <p:nvPicPr>
          <p:cNvPr id="66566" name="图片 3">
            <a:extLst>
              <a:ext uri="{FF2B5EF4-FFF2-40B4-BE49-F238E27FC236}">
                <a16:creationId xmlns:a16="http://schemas.microsoft.com/office/drawing/2014/main" id="{20935476-017A-084C-950A-DF75B187D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2879725"/>
            <a:ext cx="6667500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7301E4F-F178-0FCF-6AF3-F6B254291130}"/>
              </a:ext>
            </a:extLst>
          </p:cNvPr>
          <p:cNvSpPr txBox="1"/>
          <p:nvPr/>
        </p:nvSpPr>
        <p:spPr>
          <a:xfrm>
            <a:off x="1042988" y="5157788"/>
            <a:ext cx="7489825" cy="115252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   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持</a:t>
            </a:r>
            <a:r>
              <a:rPr lang="en-US" altLang="zh-CN" sz="1600">
                <a:latin typeface="Times New Roman" panose="02020603050405020304" pitchFamily="18" charset="0"/>
              </a:rPr>
              <a:t>Terminator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终端窗口位于所有窗口的前边，且第四个窗口的标题栏为红色，这样才能让键盘控制节点始终能够接收到键盘按下的信号</a:t>
            </a:r>
            <a:r>
              <a:rPr lang="zh-CN" altLang="zh-CN" sz="1600">
                <a:cs typeface="Times New Roman" panose="02020603050405020304" pitchFamily="18" charset="0"/>
              </a:rPr>
              <a:t> 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。使用键盘的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键控制机器人横向移动，从不同视角检测人脸检测的动态效果。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852530275"/>
      </p:ext>
    </p:extLst>
  </p:cSld>
  <p:clrMapOvr>
    <a:masterClrMapping/>
  </p:clrMapOvr>
  <p:transition spd="slow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236545">
            <a:extLst>
              <a:ext uri="{FF2B5EF4-FFF2-40B4-BE49-F238E27FC236}">
                <a16:creationId xmlns:a16="http://schemas.microsoft.com/office/drawing/2014/main" id="{F2218C66-41CB-D353-FC02-8A57BB7B7D6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542607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/>
              <a:t>9.5 </a:t>
            </a:r>
            <a:r>
              <a:rPr lang="zh-CN" altLang="en-US" sz="2800" b="1"/>
              <a:t>本章小结</a:t>
            </a:r>
            <a:endParaRPr lang="zh-CN" altLang="zh-CN" sz="2800" b="1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819" name="矩形 2">
            <a:extLst>
              <a:ext uri="{FF2B5EF4-FFF2-40B4-BE49-F238E27FC236}">
                <a16:creationId xmlns:a16="http://schemas.microsoft.com/office/drawing/2014/main" id="{C7600F4D-1701-CEFC-8ACD-9453FB6D2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2060575"/>
            <a:ext cx="7705725" cy="2532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本章主要是对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中的图像视觉进行介绍、编程及仿真。首先编程并仿真实现了从机器人的头部相机获取视觉图像；接着，使用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，编程并仿真实现机器人视觉中的颜色特征提取和目标定位功能；然后，对目标定位功能进行扩展，根据目标位置计算速度并输出给机器人，让机器人跟随球进行移动，实现一个目标跟随的闭环控制；最后，借助现有的人脸识别算法库，编程并仿真实现使用图形学特征进行人脸识别。</a:t>
            </a:r>
            <a:endParaRPr lang="zh-CN" altLang="zh-CN" sz="1800"/>
          </a:p>
        </p:txBody>
      </p:sp>
    </p:spTree>
    <p:extLst>
      <p:ext uri="{BB962C8B-B14F-4D97-AF65-F5344CB8AC3E}">
        <p14:creationId xmlns:p14="http://schemas.microsoft.com/office/powerpoint/2010/main" val="2546183091"/>
      </p:ext>
    </p:extLst>
  </p:cSld>
  <p:clrMapOvr>
    <a:masterClrMapping/>
  </p:clrMapOvr>
  <p:transition spd="slow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占位符 143362">
            <a:extLst>
              <a:ext uri="{FF2B5EF4-FFF2-40B4-BE49-F238E27FC236}">
                <a16:creationId xmlns:a16="http://schemas.microsoft.com/office/drawing/2014/main" id="{0E91C131-CC4A-BFB7-5F03-0561E2F9CA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550" y="2420938"/>
            <a:ext cx="7416800" cy="201612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zh-CN" altLang="en-US" sz="4800" b="1">
                <a:latin typeface="华文楷体" panose="02010600040101010101" pitchFamily="2" charset="-122"/>
                <a:ea typeface="华文楷体" panose="02010600040101010101" pitchFamily="2" charset="-122"/>
              </a:rPr>
              <a:t>机器人操作系统（</a:t>
            </a:r>
            <a:r>
              <a:rPr lang="en-US" altLang="zh-CN" sz="4800" b="1">
                <a:latin typeface="华文楷体" panose="02010600040101010101" pitchFamily="2" charset="-122"/>
                <a:ea typeface="华文楷体" panose="02010600040101010101" pitchFamily="2" charset="-122"/>
              </a:rPr>
              <a:t>ROS2</a:t>
            </a:r>
            <a:r>
              <a:rPr lang="zh-CN" altLang="en-US" sz="4800" b="1">
                <a:latin typeface="华文楷体" panose="02010600040101010101" pitchFamily="2" charset="-122"/>
                <a:ea typeface="华文楷体" panose="02010600040101010101" pitchFamily="2" charset="-122"/>
              </a:rPr>
              <a:t>）入门与实践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846975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文本框 5">
            <a:extLst>
              <a:ext uri="{FF2B5EF4-FFF2-40B4-BE49-F238E27FC236}">
                <a16:creationId xmlns:a16="http://schemas.microsoft.com/office/drawing/2014/main" id="{C9A709DB-7AF0-7451-BC0F-12B03A3F6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74650"/>
            <a:ext cx="71294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机器人操作系统（</a:t>
            </a: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ROS2</a:t>
            </a: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）入门与实践</a:t>
            </a:r>
          </a:p>
        </p:txBody>
      </p:sp>
      <p:sp>
        <p:nvSpPr>
          <p:cNvPr id="20483" name="文本框 7">
            <a:extLst>
              <a:ext uri="{FF2B5EF4-FFF2-40B4-BE49-F238E27FC236}">
                <a16:creationId xmlns:a16="http://schemas.microsoft.com/office/drawing/2014/main" id="{56452A47-BD8E-BE41-1B3C-46733A5BE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1089025"/>
            <a:ext cx="5730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 Ubuntu</a:t>
            </a:r>
            <a:r>
              <a:rPr lang="zh-CN" altLang="zh-CN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入门基础</a:t>
            </a:r>
            <a:endParaRPr lang="zh-CN" altLang="en-US" sz="18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文本框 9">
            <a:extLst>
              <a:ext uri="{FF2B5EF4-FFF2-40B4-BE49-F238E27FC236}">
                <a16:creationId xmlns:a16="http://schemas.microsoft.com/office/drawing/2014/main" id="{96329389-2E63-A5AE-D7C7-9EA59E59D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1524000"/>
            <a:ext cx="4572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安装与系统架构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1" name="文本框 11">
            <a:extLst>
              <a:ext uri="{FF2B5EF4-FFF2-40B4-BE49-F238E27FC236}">
                <a16:creationId xmlns:a16="http://schemas.microsoft.com/office/drawing/2014/main" id="{C7337D28-220A-81F3-BB54-F0CBE8C53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1957388"/>
            <a:ext cx="4572000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编程基础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2" name="文本框 13">
            <a:extLst>
              <a:ext uri="{FF2B5EF4-FFF2-40B4-BE49-F238E27FC236}">
                <a16:creationId xmlns:a16="http://schemas.microsoft.com/office/drawing/2014/main" id="{6FEDB30A-7090-FCB0-49D4-ECB5EDF7D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2392363"/>
            <a:ext cx="45720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机器人运动控制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3" name="文本框 15">
            <a:extLst>
              <a:ext uri="{FF2B5EF4-FFF2-40B4-BE49-F238E27FC236}">
                <a16:creationId xmlns:a16="http://schemas.microsoft.com/office/drawing/2014/main" id="{B2654483-9FCC-4E74-2071-173C2BF40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2825750"/>
            <a:ext cx="516890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激光雷达在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中的使用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4" name="文本框 17">
            <a:extLst>
              <a:ext uri="{FF2B5EF4-FFF2-40B4-BE49-F238E27FC236}">
                <a16:creationId xmlns:a16="http://schemas.microsoft.com/office/drawing/2014/main" id="{ED14029F-0BF1-0F35-8251-0DB477B87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3259138"/>
            <a:ext cx="5745162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IMU</a:t>
            </a:r>
            <a:r>
              <a:rPr lang="zh-CN" altLang="zh-CN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中的使用</a:t>
            </a:r>
            <a:endParaRPr lang="zh-CN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5" name="文本框 19">
            <a:extLst>
              <a:ext uri="{FF2B5EF4-FFF2-40B4-BE49-F238E27FC236}">
                <a16:creationId xmlns:a16="http://schemas.microsoft.com/office/drawing/2014/main" id="{ADF58E34-A41D-1BB0-957B-5596C8502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3694113"/>
            <a:ext cx="6537325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SLAM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环境建图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6" name="文本框 21">
            <a:extLst>
              <a:ext uri="{FF2B5EF4-FFF2-40B4-BE49-F238E27FC236}">
                <a16:creationId xmlns:a16="http://schemas.microsoft.com/office/drawing/2014/main" id="{28CC8602-2A0D-A59E-5050-B30D4BA13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4127500"/>
            <a:ext cx="58324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NAV2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自主导航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7" name="文本框 21">
            <a:extLst>
              <a:ext uri="{FF2B5EF4-FFF2-40B4-BE49-F238E27FC236}">
                <a16:creationId xmlns:a16="http://schemas.microsoft.com/office/drawing/2014/main" id="{5FAF6F44-0712-3F12-C5D6-66E49F844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4560888"/>
            <a:ext cx="5832475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中的图像视觉应用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8" name="文本框 19">
            <a:extLst>
              <a:ext uri="{FF2B5EF4-FFF2-40B4-BE49-F238E27FC236}">
                <a16:creationId xmlns:a16="http://schemas.microsoft.com/office/drawing/2014/main" id="{6B63A3A4-5435-8BA6-4803-1E4B7A240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4995863"/>
            <a:ext cx="6537325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章 </a:t>
            </a:r>
            <a:r>
              <a:rPr lang="en-US" altLang="zh-CN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的三维视觉应用</a:t>
            </a:r>
            <a:endParaRPr lang="zh-CN" altLang="en-US" sz="1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9" name="文本框 21">
            <a:extLst>
              <a:ext uri="{FF2B5EF4-FFF2-40B4-BE49-F238E27FC236}">
                <a16:creationId xmlns:a16="http://schemas.microsoft.com/office/drawing/2014/main" id="{373ACE07-9645-AB5F-A835-E9243321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5429250"/>
            <a:ext cx="58324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的机械臂应用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70" name="文本框 21">
            <a:extLst>
              <a:ext uri="{FF2B5EF4-FFF2-40B4-BE49-F238E27FC236}">
                <a16:creationId xmlns:a16="http://schemas.microsoft.com/office/drawing/2014/main" id="{F23A1C15-C728-BACF-75B5-38536C3F8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5864225"/>
            <a:ext cx="5832475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章 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基于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的综合应用</a:t>
            </a: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86343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任意多边形 9229">
            <a:extLst>
              <a:ext uri="{FF2B5EF4-FFF2-40B4-BE49-F238E27FC236}">
                <a16:creationId xmlns:a16="http://schemas.microsoft.com/office/drawing/2014/main" id="{BB2CBE32-148C-A9DD-54B1-2EC302324D48}"/>
              </a:ext>
            </a:extLst>
          </p:cNvPr>
          <p:cNvSpPr>
            <a:spLocks noChangeArrowheads="1"/>
          </p:cNvSpPr>
          <p:nvPr/>
        </p:nvSpPr>
        <p:spPr bwMode="auto">
          <a:xfrm rot="6402108" flipH="1">
            <a:off x="-242888" y="1814513"/>
            <a:ext cx="3827463" cy="3729038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0 h 21600"/>
              <a:gd name="T10" fmla="*/ 0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1" y="10744"/>
                  <a:pt x="10856" y="10769"/>
                  <a:pt x="10856" y="10800"/>
                </a:cubicBezTo>
                <a:lnTo>
                  <a:pt x="21600" y="10800"/>
                </a:lnTo>
                <a:cubicBezTo>
                  <a:pt x="21600" y="4835"/>
                  <a:pt x="16765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gradFill rotWithShape="1">
            <a:gsLst>
              <a:gs pos="0">
                <a:schemeClr val="hlink">
                  <a:alpha val="56000"/>
                </a:schemeClr>
              </a:gs>
              <a:gs pos="100000">
                <a:srgbClr val="FFFFFF">
                  <a:alpha val="4800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7" name="矩形 9219">
            <a:extLst>
              <a:ext uri="{FF2B5EF4-FFF2-40B4-BE49-F238E27FC236}">
                <a16:creationId xmlns:a16="http://schemas.microsoft.com/office/drawing/2014/main" id="{A12C79D8-0696-BAB5-50F9-74701F5E2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813" y="1160463"/>
            <a:ext cx="1081087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FF"/>
                </a:solidFill>
                <a:latin typeface="方正粗宋简体" pitchFamily="65" charset="-122"/>
                <a:ea typeface="方正粗宋简体" pitchFamily="65" charset="-122"/>
              </a:rPr>
              <a:t>第</a:t>
            </a:r>
            <a:endParaRPr lang="en-US" altLang="zh-CN" sz="3600" b="1">
              <a:solidFill>
                <a:srgbClr val="0000FF"/>
              </a:solidFill>
              <a:latin typeface="方正粗宋简体" pitchFamily="65" charset="-122"/>
              <a:ea typeface="方正粗宋简体" pitchFamily="65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FF"/>
                </a:solidFill>
                <a:latin typeface="方正粗宋简体" pitchFamily="65" charset="-122"/>
                <a:ea typeface="方正粗宋简体" pitchFamily="65" charset="-122"/>
              </a:rPr>
              <a:t>10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FF"/>
                </a:solidFill>
                <a:latin typeface="方正粗宋简体" pitchFamily="65" charset="-122"/>
                <a:ea typeface="方正粗宋简体" pitchFamily="65" charset="-122"/>
              </a:rPr>
              <a:t>章</a:t>
            </a:r>
          </a:p>
        </p:txBody>
      </p:sp>
      <p:sp>
        <p:nvSpPr>
          <p:cNvPr id="39939" name="任意多边形 9228">
            <a:extLst>
              <a:ext uri="{FF2B5EF4-FFF2-40B4-BE49-F238E27FC236}">
                <a16:creationId xmlns:a16="http://schemas.microsoft.com/office/drawing/2014/main" id="{41002D53-7039-BAF5-B5A9-4E59D4483562}"/>
              </a:ext>
            </a:extLst>
          </p:cNvPr>
          <p:cNvSpPr>
            <a:spLocks noChangeArrowheads="1"/>
          </p:cNvSpPr>
          <p:nvPr/>
        </p:nvSpPr>
        <p:spPr bwMode="auto">
          <a:xfrm rot="6405277">
            <a:off x="-395288" y="1414463"/>
            <a:ext cx="4579937" cy="4529138"/>
          </a:xfrm>
          <a:custGeom>
            <a:avLst/>
            <a:gdLst>
              <a:gd name="T0" fmla="*/ 323 w 21600"/>
              <a:gd name="T1" fmla="*/ 10641 h 21600"/>
              <a:gd name="T2" fmla="*/ 10800 w 21600"/>
              <a:gd name="T3" fmla="*/ 322 h 21600"/>
              <a:gd name="T4" fmla="*/ 21277 w 21600"/>
              <a:gd name="T5" fmla="*/ 10640 h 21600"/>
              <a:gd name="T6" fmla="*/ 21598 w 21600"/>
              <a:gd name="T7" fmla="*/ 10636 h 21600"/>
              <a:gd name="T8" fmla="*/ 10798 w 21600"/>
              <a:gd name="T9" fmla="*/ -164 h 21600"/>
              <a:gd name="T10" fmla="*/ -1 w 21600"/>
              <a:gd name="T11" fmla="*/ 1047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600" h="21600">
                <a:moveTo>
                  <a:pt x="323" y="10641"/>
                </a:moveTo>
                <a:cubicBezTo>
                  <a:pt x="409" y="4927"/>
                  <a:pt x="5067" y="322"/>
                  <a:pt x="10800" y="322"/>
                </a:cubicBezTo>
                <a:cubicBezTo>
                  <a:pt x="16534" y="322"/>
                  <a:pt x="21192" y="4927"/>
                  <a:pt x="21277" y="10640"/>
                </a:cubicBezTo>
                <a:lnTo>
                  <a:pt x="21598" y="10636"/>
                </a:lnTo>
                <a:cubicBezTo>
                  <a:pt x="21509" y="4583"/>
                  <a:pt x="16708" y="-164"/>
                  <a:pt x="10798" y="-164"/>
                </a:cubicBezTo>
                <a:cubicBezTo>
                  <a:pt x="4888" y="-164"/>
                  <a:pt x="87" y="4583"/>
                  <a:pt x="-1" y="10472"/>
                </a:cubicBezTo>
                <a:close/>
              </a:path>
            </a:pathLst>
          </a:custGeom>
          <a:gradFill rotWithShape="1">
            <a:gsLst>
              <a:gs pos="0">
                <a:srgbClr val="C5C5C5"/>
              </a:gs>
              <a:gs pos="50000">
                <a:schemeClr val="bg2"/>
              </a:gs>
              <a:gs pos="100000">
                <a:srgbClr val="C5C5C5"/>
              </a:gs>
            </a:gsLst>
            <a:lin ang="0" scaled="1"/>
          </a:gradFill>
          <a:ln>
            <a:noFill/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1510" name="圆角矩形 9232">
            <a:extLst>
              <a:ext uri="{FF2B5EF4-FFF2-40B4-BE49-F238E27FC236}">
                <a16:creationId xmlns:a16="http://schemas.microsoft.com/office/drawing/2014/main" id="{8A3BD963-29D3-16FB-6F53-55310E1AC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350" y="3513138"/>
            <a:ext cx="3343275" cy="492125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ea typeface="楷体_GB2312" pitchFamily="49" charset="-122"/>
              </a:rPr>
              <a:t> 10.2 </a:t>
            </a:r>
            <a:r>
              <a:rPr lang="zh-CN" altLang="zh-CN" sz="1800" b="1">
                <a:latin typeface="Calibri" panose="020F0502020204030204" pitchFamily="34" charset="0"/>
                <a:cs typeface="Times New Roman" panose="02020603050405020304" pitchFamily="18" charset="0"/>
              </a:rPr>
              <a:t>使用</a:t>
            </a:r>
            <a:r>
              <a:rPr lang="en-US" altLang="zh-CN" sz="1800" b="1">
                <a:latin typeface="Calibri" panose="020F0502020204030204" pitchFamily="34" charset="0"/>
                <a:cs typeface="Times New Roman" panose="02020603050405020304" pitchFamily="18" charset="0"/>
              </a:rPr>
              <a:t>PCL</a:t>
            </a:r>
            <a:r>
              <a:rPr lang="zh-CN" altLang="zh-CN" sz="1800" b="1">
                <a:latin typeface="Calibri" panose="020F0502020204030204" pitchFamily="34" charset="0"/>
                <a:cs typeface="Times New Roman" panose="02020603050405020304" pitchFamily="18" charset="0"/>
              </a:rPr>
              <a:t>进行物品检测</a:t>
            </a:r>
            <a:endParaRPr lang="zh-CN" altLang="en-US" sz="18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圆角矩形 9234">
            <a:extLst>
              <a:ext uri="{FF2B5EF4-FFF2-40B4-BE49-F238E27FC236}">
                <a16:creationId xmlns:a16="http://schemas.microsoft.com/office/drawing/2014/main" id="{C0B3317D-5769-BB7F-F9B2-042E41130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25" y="1916113"/>
            <a:ext cx="4432300" cy="482600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chemeClr val="tx2"/>
                </a:solidFill>
                <a:ea typeface="楷体_GB2312" pitchFamily="49" charset="-122"/>
              </a:rPr>
              <a:t>  </a:t>
            </a:r>
            <a:r>
              <a:rPr lang="zh-CN" altLang="en-US" sz="1600" b="1">
                <a:solidFill>
                  <a:schemeClr val="tx2"/>
                </a:solidFill>
                <a:ea typeface="楷体_GB2312" pitchFamily="49" charset="-122"/>
              </a:rPr>
              <a:t> </a:t>
            </a:r>
          </a:p>
        </p:txBody>
      </p:sp>
      <p:grpSp>
        <p:nvGrpSpPr>
          <p:cNvPr id="21511" name="组合 9235">
            <a:extLst>
              <a:ext uri="{FF2B5EF4-FFF2-40B4-BE49-F238E27FC236}">
                <a16:creationId xmlns:a16="http://schemas.microsoft.com/office/drawing/2014/main" id="{DFF4217C-7CAA-271E-5A42-616A712DA349}"/>
              </a:ext>
            </a:extLst>
          </p:cNvPr>
          <p:cNvGrpSpPr>
            <a:grpSpLocks/>
          </p:cNvGrpSpPr>
          <p:nvPr/>
        </p:nvGrpSpPr>
        <p:grpSpPr bwMode="auto">
          <a:xfrm>
            <a:off x="3417888" y="1987550"/>
            <a:ext cx="361950" cy="361950"/>
            <a:chOff x="2078" y="1680"/>
            <a:chExt cx="1615" cy="1615"/>
          </a:xfrm>
        </p:grpSpPr>
        <p:sp>
          <p:nvSpPr>
            <p:cNvPr id="21523" name="椭圆 9236">
              <a:extLst>
                <a:ext uri="{FF2B5EF4-FFF2-40B4-BE49-F238E27FC236}">
                  <a16:creationId xmlns:a16="http://schemas.microsoft.com/office/drawing/2014/main" id="{3A2E2755-9C2B-FC11-7ABD-2F26731B6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/>
            </a:p>
          </p:txBody>
        </p:sp>
        <p:sp>
          <p:nvSpPr>
            <p:cNvPr id="21524" name="椭圆 9237">
              <a:extLst>
                <a:ext uri="{FF2B5EF4-FFF2-40B4-BE49-F238E27FC236}">
                  <a16:creationId xmlns:a16="http://schemas.microsoft.com/office/drawing/2014/main" id="{A1BA2D99-4788-875D-8EE7-41191EE34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/>
            </a:p>
          </p:txBody>
        </p:sp>
        <p:sp>
          <p:nvSpPr>
            <p:cNvPr id="39946" name="椭圆 9238">
              <a:extLst>
                <a:ext uri="{FF2B5EF4-FFF2-40B4-BE49-F238E27FC236}">
                  <a16:creationId xmlns:a16="http://schemas.microsoft.com/office/drawing/2014/main" id="{BA49D846-384D-CE12-5757-DF3DE6F9C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1857"/>
              <a:ext cx="1261" cy="126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1600" b="1"/>
            </a:p>
          </p:txBody>
        </p:sp>
        <p:sp>
          <p:nvSpPr>
            <p:cNvPr id="21526" name="椭圆 9239">
              <a:extLst>
                <a:ext uri="{FF2B5EF4-FFF2-40B4-BE49-F238E27FC236}">
                  <a16:creationId xmlns:a16="http://schemas.microsoft.com/office/drawing/2014/main" id="{95E527CA-91D8-5233-6440-813C0C258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/>
            </a:p>
          </p:txBody>
        </p:sp>
        <p:sp>
          <p:nvSpPr>
            <p:cNvPr id="39948" name="椭圆 9240">
              <a:extLst>
                <a:ext uri="{FF2B5EF4-FFF2-40B4-BE49-F238E27FC236}">
                  <a16:creationId xmlns:a16="http://schemas.microsoft.com/office/drawing/2014/main" id="{A713EF7E-0A64-D189-02A5-E558F5774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" y="1942"/>
              <a:ext cx="1091" cy="1098"/>
            </a:xfrm>
            <a:prstGeom prst="ellipse">
              <a:avLst/>
            </a:prstGeom>
            <a:gradFill rotWithShape="1">
              <a:gsLst>
                <a:gs pos="0">
                  <a:srgbClr val="005353"/>
                </a:gs>
                <a:gs pos="50000">
                  <a:schemeClr val="hlink"/>
                </a:gs>
                <a:gs pos="100000">
                  <a:srgbClr val="005353"/>
                </a:gs>
              </a:gsLst>
              <a:lin ang="18900000" scaled="1"/>
            </a:gradFill>
            <a:ln>
              <a:noFill/>
            </a:ln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1600" b="1"/>
            </a:p>
          </p:txBody>
        </p:sp>
        <p:sp>
          <p:nvSpPr>
            <p:cNvPr id="21528" name="椭圆 9241">
              <a:extLst>
                <a:ext uri="{FF2B5EF4-FFF2-40B4-BE49-F238E27FC236}">
                  <a16:creationId xmlns:a16="http://schemas.microsoft.com/office/drawing/2014/main" id="{90F4ACF7-9974-DBD5-849B-319618B81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/>
            </a:p>
          </p:txBody>
        </p:sp>
      </p:grpSp>
      <p:grpSp>
        <p:nvGrpSpPr>
          <p:cNvPr id="21512" name="组合 9263">
            <a:extLst>
              <a:ext uri="{FF2B5EF4-FFF2-40B4-BE49-F238E27FC236}">
                <a16:creationId xmlns:a16="http://schemas.microsoft.com/office/drawing/2014/main" id="{584C30E8-0500-18CB-62BC-5A858B8E1208}"/>
              </a:ext>
            </a:extLst>
          </p:cNvPr>
          <p:cNvGrpSpPr>
            <a:grpSpLocks/>
          </p:cNvGrpSpPr>
          <p:nvPr/>
        </p:nvGrpSpPr>
        <p:grpSpPr bwMode="auto">
          <a:xfrm>
            <a:off x="3946525" y="3571875"/>
            <a:ext cx="338138" cy="361950"/>
            <a:chOff x="2078" y="1680"/>
            <a:chExt cx="1615" cy="1615"/>
          </a:xfrm>
        </p:grpSpPr>
        <p:sp>
          <p:nvSpPr>
            <p:cNvPr id="21517" name="椭圆 9264">
              <a:extLst>
                <a:ext uri="{FF2B5EF4-FFF2-40B4-BE49-F238E27FC236}">
                  <a16:creationId xmlns:a16="http://schemas.microsoft.com/office/drawing/2014/main" id="{644D5A50-9EED-C040-FE8D-C4894968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/>
            </a:p>
          </p:txBody>
        </p:sp>
        <p:sp>
          <p:nvSpPr>
            <p:cNvPr id="21518" name="椭圆 9265">
              <a:extLst>
                <a:ext uri="{FF2B5EF4-FFF2-40B4-BE49-F238E27FC236}">
                  <a16:creationId xmlns:a16="http://schemas.microsoft.com/office/drawing/2014/main" id="{29B60DCB-ACFC-8825-4447-4CD1ADE79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/>
            </a:p>
          </p:txBody>
        </p:sp>
        <p:sp>
          <p:nvSpPr>
            <p:cNvPr id="39960" name="椭圆 9266">
              <a:extLst>
                <a:ext uri="{FF2B5EF4-FFF2-40B4-BE49-F238E27FC236}">
                  <a16:creationId xmlns:a16="http://schemas.microsoft.com/office/drawing/2014/main" id="{9488B94C-6CA2-88C9-142E-86D44AB04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2" y="1857"/>
              <a:ext cx="1266" cy="126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1600" b="1"/>
            </a:p>
          </p:txBody>
        </p:sp>
        <p:sp>
          <p:nvSpPr>
            <p:cNvPr id="21520" name="椭圆 9267">
              <a:extLst>
                <a:ext uri="{FF2B5EF4-FFF2-40B4-BE49-F238E27FC236}">
                  <a16:creationId xmlns:a16="http://schemas.microsoft.com/office/drawing/2014/main" id="{7B17FA2E-E2EC-B505-6EAB-E21BCBCCD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/>
            </a:p>
          </p:txBody>
        </p:sp>
        <p:sp>
          <p:nvSpPr>
            <p:cNvPr id="39962" name="椭圆 9268">
              <a:extLst>
                <a:ext uri="{FF2B5EF4-FFF2-40B4-BE49-F238E27FC236}">
                  <a16:creationId xmlns:a16="http://schemas.microsoft.com/office/drawing/2014/main" id="{E3DD60AC-BEA3-D9BF-ECC4-514E6D14E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1942"/>
              <a:ext cx="1099" cy="1098"/>
            </a:xfrm>
            <a:prstGeom prst="ellipse">
              <a:avLst/>
            </a:prstGeom>
            <a:gradFill rotWithShape="1">
              <a:gsLst>
                <a:gs pos="0">
                  <a:srgbClr val="005353"/>
                </a:gs>
                <a:gs pos="50000">
                  <a:schemeClr val="hlink"/>
                </a:gs>
                <a:gs pos="100000">
                  <a:srgbClr val="005353"/>
                </a:gs>
              </a:gsLst>
              <a:lin ang="18900000" scaled="1"/>
            </a:gradFill>
            <a:ln>
              <a:noFill/>
            </a:ln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1600" b="1"/>
            </a:p>
          </p:txBody>
        </p:sp>
        <p:sp>
          <p:nvSpPr>
            <p:cNvPr id="21522" name="椭圆 9269">
              <a:extLst>
                <a:ext uri="{FF2B5EF4-FFF2-40B4-BE49-F238E27FC236}">
                  <a16:creationId xmlns:a16="http://schemas.microsoft.com/office/drawing/2014/main" id="{F7950839-E1E1-ABD3-EB65-F641411BC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b="1"/>
            </a:p>
          </p:txBody>
        </p:sp>
      </p:grpSp>
      <p:sp>
        <p:nvSpPr>
          <p:cNvPr id="21516" name="矩形 9284">
            <a:extLst>
              <a:ext uri="{FF2B5EF4-FFF2-40B4-BE49-F238E27FC236}">
                <a16:creationId xmlns:a16="http://schemas.microsoft.com/office/drawing/2014/main" id="{66CB943B-3E64-DBEA-2FB0-90AF461A0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713" y="1978025"/>
            <a:ext cx="3843337" cy="3698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tx2"/>
                </a:solidFill>
                <a:ea typeface="楷体_GB2312" pitchFamily="49" charset="-122"/>
              </a:rPr>
              <a:t>10.1 </a:t>
            </a:r>
            <a:r>
              <a:rPr lang="en-US" altLang="zh-CN" sz="1800" b="1">
                <a:latin typeface="Calibri" panose="020F0502020204030204" pitchFamily="34" charset="0"/>
                <a:cs typeface="Times New Roman" panose="02020603050405020304" pitchFamily="18" charset="0"/>
              </a:rPr>
              <a:t>RGB-D</a:t>
            </a:r>
            <a:r>
              <a:rPr lang="zh-CN" altLang="zh-CN" sz="1800" b="1">
                <a:latin typeface="Calibri" panose="020F0502020204030204" pitchFamily="34" charset="0"/>
                <a:cs typeface="Times New Roman" panose="02020603050405020304" pitchFamily="18" charset="0"/>
              </a:rPr>
              <a:t>相机的三维点云数据获取</a:t>
            </a:r>
            <a:endParaRPr lang="zh-CN" altLang="en-US" sz="1800" b="1">
              <a:solidFill>
                <a:schemeClr val="tx2"/>
              </a:solidFill>
              <a:ea typeface="楷体_GB2312" pitchFamily="49" charset="-122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1417233D-5F67-5289-C6FF-B1170D08589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275856" y="5151440"/>
            <a:ext cx="335309" cy="365792"/>
          </a:xfrm>
          <a:prstGeom prst="rect">
            <a:avLst/>
          </a:prstGeom>
        </p:spPr>
      </p:pic>
      <p:sp>
        <p:nvSpPr>
          <p:cNvPr id="21515" name="圆角矩形 9232">
            <a:extLst>
              <a:ext uri="{FF2B5EF4-FFF2-40B4-BE49-F238E27FC236}">
                <a16:creationId xmlns:a16="http://schemas.microsoft.com/office/drawing/2014/main" id="{3FAF9C9F-C2DE-4F43-8AF5-5BB53F734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4113" y="5157788"/>
            <a:ext cx="3181350" cy="427037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ea typeface="楷体_GB2312" pitchFamily="49" charset="-122"/>
              </a:rPr>
              <a:t>10.3 </a:t>
            </a:r>
            <a:r>
              <a:rPr lang="zh-CN" altLang="zh-CN" sz="1800" b="1"/>
              <a:t>本章小结</a:t>
            </a:r>
            <a:endParaRPr lang="zh-CN" altLang="en-US" sz="18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矩形 9283">
            <a:extLst>
              <a:ext uri="{FF2B5EF4-FFF2-40B4-BE49-F238E27FC236}">
                <a16:creationId xmlns:a16="http://schemas.microsoft.com/office/drawing/2014/main" id="{D0C6A0DC-8770-2E7D-E013-31CBA0E42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266700"/>
            <a:ext cx="6335713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b="1">
                <a:solidFill>
                  <a:srgbClr val="0000FF"/>
                </a:solidFill>
              </a:rPr>
              <a:t>第</a:t>
            </a:r>
            <a:r>
              <a:rPr lang="en-US" altLang="zh-CN" sz="2800" b="1">
                <a:solidFill>
                  <a:srgbClr val="0000FF"/>
                </a:solidFill>
              </a:rPr>
              <a:t>10</a:t>
            </a:r>
            <a:r>
              <a:rPr lang="zh-CN" altLang="zh-CN" sz="2800" b="1">
                <a:solidFill>
                  <a:srgbClr val="0000FF"/>
                </a:solidFill>
              </a:rPr>
              <a:t>章</a:t>
            </a:r>
            <a:r>
              <a:rPr lang="en-US" altLang="zh-CN" sz="2800" b="1">
                <a:solidFill>
                  <a:srgbClr val="0000FF"/>
                </a:solidFill>
              </a:rPr>
              <a:t> ROS2</a:t>
            </a:r>
            <a:r>
              <a:rPr lang="zh-CN" altLang="zh-CN" sz="2800" b="1">
                <a:solidFill>
                  <a:srgbClr val="0000FF"/>
                </a:solidFill>
              </a:rPr>
              <a:t>的三维视觉应用</a:t>
            </a:r>
            <a:endParaRPr lang="zh-CN" altLang="en-US" sz="2800" b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317622"/>
      </p:ext>
    </p:extLst>
  </p:cSld>
  <p:clrMapOvr>
    <a:masterClrMapping/>
  </p:clrMapOvr>
  <p:transition spd="med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14">
            <a:extLst>
              <a:ext uri="{FF2B5EF4-FFF2-40B4-BE49-F238E27FC236}">
                <a16:creationId xmlns:a16="http://schemas.microsoft.com/office/drawing/2014/main" id="{86E0E96D-2366-4CBC-A892-1A4D68266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773238"/>
            <a:ext cx="7921625" cy="38877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三维点云数据的获取是通过订阅三维相机驱动节点发布的话题，从话题中获取相机发出的消息包来实现的。</a:t>
            </a:r>
            <a:r>
              <a: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本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实验中，使用的虚拟机器人配备的是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Kinect V2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相机，话题名称是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"/kinect2/sd/points "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。话题中的消息包格式为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sensor_msgs::PointCloud2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Tx/>
              <a:buNone/>
            </a:pPr>
            <a:endParaRPr lang="zh-CN" altLang="zh-CN" sz="18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Tx/>
              <a:buNone/>
            </a:pPr>
            <a:r>
              <a: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本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实验将会实现一个订阅者节点，订阅相机发布的话题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"/kinect2/sd/points"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。从此话题中接收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sensor_msgs::PointCloud2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类型的消息包，并将其中的点云数据转换成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的格式，然后把所有三维点的坐标值显示在终端程序里。</a:t>
            </a:r>
            <a:endParaRPr lang="zh-CN" altLang="zh-CN" sz="2000"/>
          </a:p>
        </p:txBody>
      </p:sp>
      <p:sp>
        <p:nvSpPr>
          <p:cNvPr id="23555" name="标题 236545">
            <a:extLst>
              <a:ext uri="{FF2B5EF4-FFF2-40B4-BE49-F238E27FC236}">
                <a16:creationId xmlns:a16="http://schemas.microsoft.com/office/drawing/2014/main" id="{32FB463F-6EBB-DBD0-1EBB-BE4F4BC6110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10.1 RGB-D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相机的三维点云数据获取</a:t>
            </a:r>
          </a:p>
        </p:txBody>
      </p:sp>
    </p:spTree>
    <p:extLst>
      <p:ext uri="{BB962C8B-B14F-4D97-AF65-F5344CB8AC3E}">
        <p14:creationId xmlns:p14="http://schemas.microsoft.com/office/powerpoint/2010/main" val="3922421093"/>
      </p:ext>
    </p:extLst>
  </p:cSld>
  <p:clrMapOvr>
    <a:masterClrMapping/>
  </p:clrMapOvr>
  <p:transition spd="slow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标题 236545">
            <a:extLst>
              <a:ext uri="{FF2B5EF4-FFF2-40B4-BE49-F238E27FC236}">
                <a16:creationId xmlns:a16="http://schemas.microsoft.com/office/drawing/2014/main" id="{4156997F-C17B-8406-DC82-A23B7E10A9D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10.1 RGB-D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相机的三维点云数据获取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B3C1AC-421E-D773-2DDB-2E2D8C56A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700213"/>
            <a:ext cx="6054725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文本框 19">
            <a:extLst>
              <a:ext uri="{FF2B5EF4-FFF2-40B4-BE49-F238E27FC236}">
                <a16:creationId xmlns:a16="http://schemas.microsoft.com/office/drawing/2014/main" id="{DF89E70C-57E5-6DE2-7C77-96531FA58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763" y="5514975"/>
            <a:ext cx="58324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chemeClr val="tx2"/>
                </a:solidFill>
              </a:rPr>
              <a:t>        </a:t>
            </a:r>
            <a:r>
              <a:rPr kumimoji="1"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详细操作步骤见教材</a:t>
            </a:r>
            <a:r>
              <a:rPr kumimoji="1" lang="en-US" altLang="zh-CN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P329-P338</a:t>
            </a:r>
            <a:r>
              <a:rPr kumimoji="1"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676740268"/>
      </p:ext>
    </p:extLst>
  </p:cSld>
  <p:clrMapOvr>
    <a:masterClrMapping/>
  </p:clrMapOvr>
  <p:transition spd="slow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3941B5F-0118-B76B-0317-6676BAB9C3F2}"/>
              </a:ext>
            </a:extLst>
          </p:cNvPr>
          <p:cNvSpPr txBox="1"/>
          <p:nvPr/>
        </p:nvSpPr>
        <p:spPr>
          <a:xfrm>
            <a:off x="1050925" y="2663825"/>
            <a:ext cx="4572000" cy="3381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编写节点代码</a:t>
            </a:r>
            <a:endParaRPr lang="zh-CN" altLang="zh-CN" sz="160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6C234A-E967-2948-FB58-BB44C09CCDE5}"/>
              </a:ext>
            </a:extLst>
          </p:cNvPr>
          <p:cNvSpPr txBox="1"/>
          <p:nvPr/>
        </p:nvSpPr>
        <p:spPr>
          <a:xfrm>
            <a:off x="971550" y="2927350"/>
            <a:ext cx="7704138" cy="4206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中找到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pc_pkg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软件包，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“src”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文件夹新建文件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，命名为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 sz="1600">
                <a:latin typeface="Times New Roman" panose="02020603050405020304" pitchFamily="18" charset="0"/>
              </a:rPr>
              <a:t>pc_data.cpp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lang="zh-CN" altLang="zh-CN" sz="160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标题 236545">
            <a:extLst>
              <a:ext uri="{FF2B5EF4-FFF2-40B4-BE49-F238E27FC236}">
                <a16:creationId xmlns:a16="http://schemas.microsoft.com/office/drawing/2014/main" id="{BE535E79-8C83-1E96-2F3D-1EC0547A799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10.1 RGB-D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相机的三维点云数据获取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46080B-BC78-56A0-6E76-F8BA50AB6227}"/>
              </a:ext>
            </a:extLst>
          </p:cNvPr>
          <p:cNvSpPr txBox="1"/>
          <p:nvPr/>
        </p:nvSpPr>
        <p:spPr>
          <a:xfrm>
            <a:off x="1017588" y="981075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10.1.1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编写点云数据获取程序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582" name="文本框 8">
            <a:extLst>
              <a:ext uri="{FF2B5EF4-FFF2-40B4-BE49-F238E27FC236}">
                <a16:creationId xmlns:a16="http://schemas.microsoft.com/office/drawing/2014/main" id="{E603A240-866F-4B0C-7CEB-8409E1B8A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484313"/>
            <a:ext cx="6985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打开一个新的终端窗口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在工作空间中创建一个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新的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软件包。</a:t>
            </a:r>
            <a:endParaRPr lang="zh-CN" altLang="en-US" sz="16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AB82809-583B-A5BB-1489-556009AA623B}"/>
              </a:ext>
            </a:extLst>
          </p:cNvPr>
          <p:cNvSpPr txBox="1"/>
          <p:nvPr/>
        </p:nvSpPr>
        <p:spPr>
          <a:xfrm>
            <a:off x="1116013" y="1844675"/>
            <a:ext cx="74168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cd ~/ros2_ws/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src</a:t>
            </a:r>
            <a:endParaRPr lang="zh-CN" altLang="en-US" sz="16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9400009-BBC4-D152-EA82-1B1CBCAE2589}"/>
              </a:ext>
            </a:extLst>
          </p:cNvPr>
          <p:cNvSpPr txBox="1"/>
          <p:nvPr/>
        </p:nvSpPr>
        <p:spPr>
          <a:xfrm>
            <a:off x="1112838" y="2225675"/>
            <a:ext cx="7416800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pkg create </a:t>
            </a:r>
            <a:r>
              <a:rPr lang="en-US" altLang="zh-CN" sz="1600" dirty="0" err="1">
                <a:latin typeface="Times New Roman" panose="02020603050405020304" pitchFamily="18" charset="0"/>
              </a:rPr>
              <a:t>pc_pkg</a:t>
            </a:r>
            <a:endParaRPr lang="zh-CN" altLang="en-US" sz="1600" dirty="0"/>
          </a:p>
        </p:txBody>
      </p:sp>
      <p:pic>
        <p:nvPicPr>
          <p:cNvPr id="24585" name="图片 14">
            <a:extLst>
              <a:ext uri="{FF2B5EF4-FFF2-40B4-BE49-F238E27FC236}">
                <a16:creationId xmlns:a16="http://schemas.microsoft.com/office/drawing/2014/main" id="{65FC420C-6DF1-46B3-3B99-5CC6F175E11A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3509963"/>
            <a:ext cx="5616575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3179859"/>
      </p:ext>
    </p:extLst>
  </p:cSld>
  <p:clrMapOvr>
    <a:masterClrMapping/>
  </p:clrMapOvr>
  <p:transition spd="slow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4E09A27-03B2-51DD-AD0B-4D98C85318B1}"/>
              </a:ext>
            </a:extLst>
          </p:cNvPr>
          <p:cNvSpPr txBox="1"/>
          <p:nvPr/>
        </p:nvSpPr>
        <p:spPr>
          <a:xfrm>
            <a:off x="1116013" y="1016000"/>
            <a:ext cx="7488237" cy="52625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/rclcpp.hpp&gt;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/msg/point_cloud2.hpp&gt;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point_types.h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point_cloud.h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pcl_conversions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pcl_conversions.h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shared_ptr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::Node&gt; node;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PointcloudCallback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(const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::msg::PointCloud2::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msg)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PointCloud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PointXYZ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pointCloudIn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fromROSMsg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(*msg,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pointCloudIn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cloudSize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pointCloudIn.points.size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for (int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cloudSize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RCLCPP_INFO(node-&gt;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get_logger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"[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%d] ( %.2f , %.2f , %.2f)",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pointCloudIn.points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].x,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pointCloudIn.points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].y,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pointCloudIn.points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].z);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标题 236545">
            <a:extLst>
              <a:ext uri="{FF2B5EF4-FFF2-40B4-BE49-F238E27FC236}">
                <a16:creationId xmlns:a16="http://schemas.microsoft.com/office/drawing/2014/main" id="{DC1B75DA-8024-0C70-2662-3B740A1399E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10.1 RGB-D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相机的三维点云数据获取</a:t>
            </a:r>
          </a:p>
        </p:txBody>
      </p:sp>
    </p:spTree>
    <p:extLst>
      <p:ext uri="{BB962C8B-B14F-4D97-AF65-F5344CB8AC3E}">
        <p14:creationId xmlns:p14="http://schemas.microsoft.com/office/powerpoint/2010/main" val="3206175924"/>
      </p:ext>
    </p:extLst>
  </p:cSld>
  <p:clrMapOvr>
    <a:masterClrMapping/>
  </p:clrMapOvr>
  <p:transition spd="slow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02D8BC5-8D17-F253-BD3D-9F0D0C013180}"/>
              </a:ext>
            </a:extLst>
          </p:cNvPr>
          <p:cNvSpPr txBox="1"/>
          <p:nvPr/>
        </p:nvSpPr>
        <p:spPr>
          <a:xfrm>
            <a:off x="1116013" y="1557338"/>
            <a:ext cx="7488237" cy="42783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char **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node = std::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make_shared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::Node&gt;("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pointcloud_data_node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auto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pc_sub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node-&gt;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create_subscription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::msg::PointCloud2&gt;(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"/kinect2/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/points",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PointcloudCallback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::spin(node);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::shutdown();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}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标题 236545">
            <a:extLst>
              <a:ext uri="{FF2B5EF4-FFF2-40B4-BE49-F238E27FC236}">
                <a16:creationId xmlns:a16="http://schemas.microsoft.com/office/drawing/2014/main" id="{C3B4268D-3E88-F166-9C77-3E0089E31BC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10.1 RGB-D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相机的三维点云数据获取</a:t>
            </a:r>
          </a:p>
        </p:txBody>
      </p:sp>
    </p:spTree>
    <p:extLst>
      <p:ext uri="{BB962C8B-B14F-4D97-AF65-F5344CB8AC3E}">
        <p14:creationId xmlns:p14="http://schemas.microsoft.com/office/powerpoint/2010/main" val="1198520984"/>
      </p:ext>
    </p:extLst>
  </p:cSld>
  <p:clrMapOvr>
    <a:masterClrMapping/>
  </p:clrMapOvr>
  <p:transition spd="slow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CE0296-72E6-143F-121D-29AD28F4A4DF}"/>
              </a:ext>
            </a:extLst>
          </p:cNvPr>
          <p:cNvSpPr txBox="1"/>
          <p:nvPr/>
        </p:nvSpPr>
        <p:spPr>
          <a:xfrm>
            <a:off x="971550" y="1196975"/>
            <a:ext cx="4572000" cy="3381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设置编译规则</a:t>
            </a:r>
            <a:endParaRPr lang="zh-CN" altLang="zh-CN" sz="160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3C095E-4EBC-1A1F-BF69-B851542CD221}"/>
              </a:ext>
            </a:extLst>
          </p:cNvPr>
          <p:cNvSpPr txBox="1"/>
          <p:nvPr/>
        </p:nvSpPr>
        <p:spPr>
          <a:xfrm>
            <a:off x="1112838" y="1557338"/>
            <a:ext cx="7272337" cy="10763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REQUIRED)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pcl_conversions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 err="1">
                <a:latin typeface="Times New Roman" panose="02020603050405020304" pitchFamily="18" charset="0"/>
              </a:rPr>
              <a:t>find_package</a:t>
            </a:r>
            <a:r>
              <a:rPr lang="en-US" altLang="zh-CN" sz="1600" dirty="0">
                <a:latin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</a:rPr>
              <a:t>pcl_ros</a:t>
            </a:r>
            <a:r>
              <a:rPr lang="en-US" altLang="zh-CN" sz="1600" dirty="0">
                <a:latin typeface="Times New Roman" panose="02020603050405020304" pitchFamily="18" charset="0"/>
              </a:rPr>
              <a:t> REQUIRED)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DBA851-C6CC-5E3B-DA17-AB83302051BD}"/>
              </a:ext>
            </a:extLst>
          </p:cNvPr>
          <p:cNvSpPr txBox="1"/>
          <p:nvPr/>
        </p:nvSpPr>
        <p:spPr>
          <a:xfrm>
            <a:off x="1109663" y="2708275"/>
            <a:ext cx="7272337" cy="8318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add_executable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pc_data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/pc_data.cpp)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ament_target_dependencies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pc_data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pcl_conversions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pcl_ros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600" dirty="0">
                <a:latin typeface="Times New Roman" panose="02020603050405020304" pitchFamily="18" charset="0"/>
              </a:rPr>
              <a:t>)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084BC2D-F511-9B7D-0042-FF5FA3E84E73}"/>
              </a:ext>
            </a:extLst>
          </p:cNvPr>
          <p:cNvSpPr txBox="1"/>
          <p:nvPr/>
        </p:nvSpPr>
        <p:spPr>
          <a:xfrm>
            <a:off x="1112838" y="3635375"/>
            <a:ext cx="7269162" cy="5857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install(TARGETS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pc_data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DESTINATION  lib/${PROJECT_NAME})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C5C5E5E-8C33-66AB-DD1B-6D58869DD2B3}"/>
              </a:ext>
            </a:extLst>
          </p:cNvPr>
          <p:cNvSpPr txBox="1"/>
          <p:nvPr/>
        </p:nvSpPr>
        <p:spPr>
          <a:xfrm>
            <a:off x="969963" y="4386263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修改软件包信息</a:t>
            </a:r>
            <a:endParaRPr lang="zh-CN" altLang="zh-CN" sz="160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E898D4A-D857-53C2-8AE5-26024779A929}"/>
              </a:ext>
            </a:extLst>
          </p:cNvPr>
          <p:cNvSpPr txBox="1"/>
          <p:nvPr/>
        </p:nvSpPr>
        <p:spPr>
          <a:xfrm>
            <a:off x="1112838" y="4806950"/>
            <a:ext cx="7275512" cy="10763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pcl_conversions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&lt;depend&gt;</a:t>
            </a:r>
            <a:r>
              <a:rPr lang="en-US" altLang="zh-CN" sz="1600" dirty="0" err="1">
                <a:latin typeface="Times New Roman" panose="02020603050405020304" pitchFamily="18" charset="0"/>
              </a:rPr>
              <a:t>pcl_ros</a:t>
            </a:r>
            <a:r>
              <a:rPr lang="en-US" altLang="zh-CN" sz="1600" dirty="0">
                <a:latin typeface="Times New Roman" panose="02020603050405020304" pitchFamily="18" charset="0"/>
              </a:rPr>
              <a:t>&lt;/depend&gt;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2" name="标题 236545">
            <a:extLst>
              <a:ext uri="{FF2B5EF4-FFF2-40B4-BE49-F238E27FC236}">
                <a16:creationId xmlns:a16="http://schemas.microsoft.com/office/drawing/2014/main" id="{5EA2E65B-539C-113C-E9EB-4E32EAA12C2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10.1 RGB-D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相机的三维点云数据获取</a:t>
            </a:r>
          </a:p>
        </p:txBody>
      </p:sp>
    </p:spTree>
    <p:extLst>
      <p:ext uri="{BB962C8B-B14F-4D97-AF65-F5344CB8AC3E}">
        <p14:creationId xmlns:p14="http://schemas.microsoft.com/office/powerpoint/2010/main" val="3029568895"/>
      </p:ext>
    </p:extLst>
  </p:cSld>
  <p:clrMapOvr>
    <a:masterClrMapping/>
  </p:clrMapOvr>
  <p:transition spd="slow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A5DAEFC-0991-3CFC-1B46-30FC0C0BEB7A}"/>
              </a:ext>
            </a:extLst>
          </p:cNvPr>
          <p:cNvSpPr txBox="1"/>
          <p:nvPr/>
        </p:nvSpPr>
        <p:spPr>
          <a:xfrm>
            <a:off x="1187450" y="2659063"/>
            <a:ext cx="7416800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setup.bash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2F3B0C9-D00B-D0E4-7965-B3EBCC343AE9}"/>
              </a:ext>
            </a:extLst>
          </p:cNvPr>
          <p:cNvSpPr txBox="1"/>
          <p:nvPr/>
        </p:nvSpPr>
        <p:spPr>
          <a:xfrm>
            <a:off x="1187450" y="3035300"/>
            <a:ext cx="74168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launch wpr_simulation2 wpb_table.launch.py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2" name="标题 236545">
            <a:extLst>
              <a:ext uri="{FF2B5EF4-FFF2-40B4-BE49-F238E27FC236}">
                <a16:creationId xmlns:a16="http://schemas.microsoft.com/office/drawing/2014/main" id="{58261661-3E2B-4139-6556-CD8BA9F50F1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10.1 RGB-D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相机的三维点云数据获取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F046A1-8969-722D-5C34-17A244B93C6C}"/>
              </a:ext>
            </a:extLst>
          </p:cNvPr>
          <p:cNvSpPr txBox="1"/>
          <p:nvPr/>
        </p:nvSpPr>
        <p:spPr>
          <a:xfrm>
            <a:off x="969963" y="1052513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编译软件包</a:t>
            </a:r>
            <a:endParaRPr lang="zh-CN" altLang="zh-CN" sz="160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C4E92A-4E5F-32A1-840B-AA993E66AE98}"/>
              </a:ext>
            </a:extLst>
          </p:cNvPr>
          <p:cNvSpPr txBox="1"/>
          <p:nvPr/>
        </p:nvSpPr>
        <p:spPr>
          <a:xfrm>
            <a:off x="1187450" y="1412875"/>
            <a:ext cx="7416800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cd ~/ros2_ws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405638-90BB-317E-2C7E-B6A5827F3685}"/>
              </a:ext>
            </a:extLst>
          </p:cNvPr>
          <p:cNvSpPr txBox="1"/>
          <p:nvPr/>
        </p:nvSpPr>
        <p:spPr>
          <a:xfrm>
            <a:off x="1187450" y="1787525"/>
            <a:ext cx="74168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colcon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build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452F68-B817-E170-1197-197DEF9CAB2A}"/>
              </a:ext>
            </a:extLst>
          </p:cNvPr>
          <p:cNvSpPr txBox="1"/>
          <p:nvPr/>
        </p:nvSpPr>
        <p:spPr>
          <a:xfrm>
            <a:off x="900113" y="2124075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10.1.2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仿真运行点云数据获取程序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681" name="图片 9">
            <a:extLst>
              <a:ext uri="{FF2B5EF4-FFF2-40B4-BE49-F238E27FC236}">
                <a16:creationId xmlns:a16="http://schemas.microsoft.com/office/drawing/2014/main" id="{03A42F5E-BBD0-7988-8BD0-F4EB0E9AA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3419475"/>
            <a:ext cx="4951412" cy="281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158323"/>
      </p:ext>
    </p:extLst>
  </p:cSld>
  <p:clrMapOvr>
    <a:masterClrMapping/>
  </p:clrMapOvr>
  <p:transition spd="slow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BF304F7-2920-2B6D-76C3-7A84AF4D0E31}"/>
              </a:ext>
            </a:extLst>
          </p:cNvPr>
          <p:cNvSpPr txBox="1"/>
          <p:nvPr/>
        </p:nvSpPr>
        <p:spPr>
          <a:xfrm>
            <a:off x="1187450" y="1825625"/>
            <a:ext cx="74168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setup.bash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902A11-B3EF-0493-9C89-DEF8E3FCB134}"/>
              </a:ext>
            </a:extLst>
          </p:cNvPr>
          <p:cNvSpPr txBox="1"/>
          <p:nvPr/>
        </p:nvSpPr>
        <p:spPr>
          <a:xfrm>
            <a:off x="1187450" y="2276475"/>
            <a:ext cx="74168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run </a:t>
            </a:r>
            <a:r>
              <a:rPr lang="en-US" altLang="zh-CN" sz="1600" dirty="0" err="1">
                <a:latin typeface="Times New Roman" panose="02020603050405020304" pitchFamily="18" charset="0"/>
              </a:rPr>
              <a:t>pc_pkg</a:t>
            </a:r>
            <a:r>
              <a:rPr lang="en-US" altLang="zh-CN" sz="1600" dirty="0">
                <a:latin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</a:rPr>
              <a:t>pc_data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29700" name="文本框 3">
            <a:extLst>
              <a:ext uri="{FF2B5EF4-FFF2-40B4-BE49-F238E27FC236}">
                <a16:creationId xmlns:a16="http://schemas.microsoft.com/office/drawing/2014/main" id="{C089283C-50FD-1167-58AC-B99324B90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75" y="1365250"/>
            <a:ext cx="4572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打开第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个子窗口。</a:t>
            </a: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2" name="标题 236545">
            <a:extLst>
              <a:ext uri="{FF2B5EF4-FFF2-40B4-BE49-F238E27FC236}">
                <a16:creationId xmlns:a16="http://schemas.microsoft.com/office/drawing/2014/main" id="{8E7CC33A-C5A5-B842-51E6-C18CD9E005F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10.1 RGB-D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相机的三维点云数据获取</a:t>
            </a:r>
          </a:p>
        </p:txBody>
      </p:sp>
      <p:pic>
        <p:nvPicPr>
          <p:cNvPr id="29702" name="图片 2">
            <a:extLst>
              <a:ext uri="{FF2B5EF4-FFF2-40B4-BE49-F238E27FC236}">
                <a16:creationId xmlns:a16="http://schemas.microsoft.com/office/drawing/2014/main" id="{E14B6B84-ABD9-2BE9-7C66-E6732B9A7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2924175"/>
            <a:ext cx="7265988" cy="288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3637396"/>
      </p:ext>
    </p:extLst>
  </p:cSld>
  <p:clrMapOvr>
    <a:masterClrMapping/>
  </p:clrMapOvr>
  <p:transition spd="slow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14">
            <a:extLst>
              <a:ext uri="{FF2B5EF4-FFF2-40B4-BE49-F238E27FC236}">
                <a16:creationId xmlns:a16="http://schemas.microsoft.com/office/drawing/2014/main" id="{EE4F671B-051E-2CC0-B013-80BDE9649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268413"/>
            <a:ext cx="7921625" cy="4664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10.1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节的实验里，实现了从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机器人头部的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RGB-D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相机获取三维点云数据。这一次将继续深入，使用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实现三维特征提取，并对桌面上的物体进行检测和定位。</a:t>
            </a:r>
            <a:endParaRPr lang="zh-CN" altLang="zh-CN" sz="18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具体</a:t>
            </a:r>
            <a:r>
              <a: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实现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步骤如下：</a:t>
            </a:r>
            <a:endParaRPr lang="zh-CN" altLang="zh-CN" sz="18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1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）将机器人头部相机采集到的三维点云消息包进行格式转换。从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的点云格式转换为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点云格式，方便后面调用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的函数对点云数据进行处理。</a:t>
            </a:r>
            <a:endParaRPr lang="zh-CN" altLang="zh-CN" sz="18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2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）先使用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函数对点云数据进行平面提取，将桌面的高度确定下来。</a:t>
            </a:r>
            <a:endParaRPr lang="zh-CN" altLang="zh-CN" sz="18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3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）将桌面高度以下的点集剔除掉，仅保留桌面之上的物体点云。</a:t>
            </a:r>
            <a:endParaRPr lang="zh-CN" altLang="zh-CN" sz="18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4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）使用欧几里德分割法对保留下来的物体点云进行点云簇的提取，将桌面上的多个相隔较远的点云簇区分开。这时可以认为每个点云簇就表示一个物体的点云集合。计算每个物体点云集合的质心坐标，用来表示物体的空间位置。</a:t>
            </a:r>
            <a:endParaRPr lang="zh-CN" altLang="zh-CN" sz="18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标题 236545">
            <a:extLst>
              <a:ext uri="{FF2B5EF4-FFF2-40B4-BE49-F238E27FC236}">
                <a16:creationId xmlns:a16="http://schemas.microsoft.com/office/drawing/2014/main" id="{77FF3BA7-F704-7917-F0E6-CAFF04E85C2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10.2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PCL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进行物品检测</a:t>
            </a:r>
          </a:p>
        </p:txBody>
      </p:sp>
      <p:sp>
        <p:nvSpPr>
          <p:cNvPr id="30724" name="文本框 19">
            <a:extLst>
              <a:ext uri="{FF2B5EF4-FFF2-40B4-BE49-F238E27FC236}">
                <a16:creationId xmlns:a16="http://schemas.microsoft.com/office/drawing/2014/main" id="{D913C9C3-08D3-630C-BF86-B6D8969CD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5751513"/>
            <a:ext cx="58324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chemeClr val="tx2"/>
                </a:solidFill>
              </a:rPr>
              <a:t>        </a:t>
            </a:r>
            <a:r>
              <a:rPr kumimoji="1"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详细操作步骤见教材</a:t>
            </a:r>
            <a:r>
              <a:rPr kumimoji="1" lang="en-US" altLang="zh-CN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P339-P356</a:t>
            </a:r>
            <a:r>
              <a:rPr kumimoji="1"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711607389"/>
      </p:ext>
    </p:extLst>
  </p:cSld>
  <p:clrMapOvr>
    <a:masterClrMapping/>
  </p:clrMapOvr>
  <p:transition spd="slow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434C33E-E9F7-D556-72A6-98F0D6FFA41C}"/>
              </a:ext>
            </a:extLst>
          </p:cNvPr>
          <p:cNvSpPr txBox="1"/>
          <p:nvPr/>
        </p:nvSpPr>
        <p:spPr>
          <a:xfrm>
            <a:off x="1050925" y="1557338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编写节点代码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7915E3-A2D0-B49C-FD27-D1B7E7B6A473}"/>
              </a:ext>
            </a:extLst>
          </p:cNvPr>
          <p:cNvSpPr txBox="1"/>
          <p:nvPr/>
        </p:nvSpPr>
        <p:spPr>
          <a:xfrm>
            <a:off x="971550" y="1844675"/>
            <a:ext cx="7704138" cy="7889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中找到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pc_pkg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软件包，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“src”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文件夹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新建文件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，命名为</a:t>
            </a:r>
            <a:r>
              <a:rPr lang="en-US" altLang="zh-CN" sz="1600">
                <a:latin typeface="Times New Roman" panose="02020603050405020304" pitchFamily="18" charset="0"/>
              </a:rPr>
              <a:t>“pc_objects.cpp”</a:t>
            </a:r>
            <a:r>
              <a:rPr lang="zh-CN" altLang="en-US" sz="1600">
                <a:latin typeface="Times New Roman" panose="02020603050405020304" pitchFamily="18" charset="0"/>
              </a:rPr>
              <a:t>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748" name="标题 236545">
            <a:extLst>
              <a:ext uri="{FF2B5EF4-FFF2-40B4-BE49-F238E27FC236}">
                <a16:creationId xmlns:a16="http://schemas.microsoft.com/office/drawing/2014/main" id="{907FD564-CBE2-642C-314E-850CDA1AEC8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10.2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PCL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进行物品检测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3B046C-C55C-E0A0-1DBB-BE62E2B7FDB9}"/>
              </a:ext>
            </a:extLst>
          </p:cNvPr>
          <p:cNvSpPr txBox="1"/>
          <p:nvPr/>
        </p:nvSpPr>
        <p:spPr>
          <a:xfrm>
            <a:off x="1042988" y="1023938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10.2.1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编写物品检测程序</a:t>
            </a:r>
            <a:endParaRPr lang="zh-CN" altLang="zh-CN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1750" name="图片 6">
            <a:extLst>
              <a:ext uri="{FF2B5EF4-FFF2-40B4-BE49-F238E27FC236}">
                <a16:creationId xmlns:a16="http://schemas.microsoft.com/office/drawing/2014/main" id="{C5F9C14C-B6A4-BC6D-1FE6-1378CAD09571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782888"/>
            <a:ext cx="575945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EA754C6-2342-FA20-F3D1-541E4E6DD3CF}"/>
              </a:ext>
            </a:extLst>
          </p:cNvPr>
          <p:cNvSpPr txBox="1"/>
          <p:nvPr/>
        </p:nvSpPr>
        <p:spPr>
          <a:xfrm>
            <a:off x="1055688" y="5614988"/>
            <a:ext cx="4572000" cy="3381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下面编写这个代码文件内容：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589076"/>
      </p:ext>
    </p:extLst>
  </p:cSld>
  <p:clrMapOvr>
    <a:masterClrMapping/>
  </p:clrMapOvr>
  <p:transition spd="slow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E044A59-E1D9-BEB2-3198-8A580EEF9DEF}"/>
              </a:ext>
            </a:extLst>
          </p:cNvPr>
          <p:cNvSpPr txBox="1"/>
          <p:nvPr/>
        </p:nvSpPr>
        <p:spPr>
          <a:xfrm>
            <a:off x="1116013" y="1268413"/>
            <a:ext cx="7488237" cy="47704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/rclcpp.hpp&gt;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/msg/point_cloud2.hpp&gt;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point_types.h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point_cloud.h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pcl_conversions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pcl_conversions.h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algn="just">
              <a:defRPr/>
            </a:pP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&lt;tf2_ros/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transform_listener.h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pcl_ros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/transforms.hpp&gt;</a:t>
            </a:r>
          </a:p>
          <a:p>
            <a:pPr algn="just">
              <a:defRPr/>
            </a:pP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/filters/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passthrough.h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/segmentation/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sac_segmentation.h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algn="just">
              <a:defRPr/>
            </a:pP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/search/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kdtree.h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/segmentation/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extract_clusters.h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shared_ptr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::Node&gt; node;</a:t>
            </a:r>
          </a:p>
          <a:p>
            <a:pPr algn="just">
              <a:defRPr/>
            </a:pP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tf2_ros::Buffer::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tf_buffer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shared_ptr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&lt;tf2_ros::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TransformListener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tf_listener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771" name="标题 236545">
            <a:extLst>
              <a:ext uri="{FF2B5EF4-FFF2-40B4-BE49-F238E27FC236}">
                <a16:creationId xmlns:a16="http://schemas.microsoft.com/office/drawing/2014/main" id="{6872C183-45E0-5F26-4406-A57C8323B45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10.2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PCL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进行物品检测</a:t>
            </a:r>
          </a:p>
        </p:txBody>
      </p:sp>
    </p:spTree>
    <p:extLst>
      <p:ext uri="{BB962C8B-B14F-4D97-AF65-F5344CB8AC3E}">
        <p14:creationId xmlns:p14="http://schemas.microsoft.com/office/powerpoint/2010/main" val="1039100032"/>
      </p:ext>
    </p:extLst>
  </p:cSld>
  <p:clrMapOvr>
    <a:masterClrMapping/>
  </p:clrMapOvr>
  <p:transition spd="slow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ED236F4-E48C-647E-6A2A-746A025F70EB}"/>
              </a:ext>
            </a:extLst>
          </p:cNvPr>
          <p:cNvSpPr txBox="1"/>
          <p:nvPr/>
        </p:nvSpPr>
        <p:spPr>
          <a:xfrm>
            <a:off x="1116013" y="1425575"/>
            <a:ext cx="7488237" cy="45243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PointcloudCallback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(const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::msg::PointCloud2::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msg)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bool result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tf_buffer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canTransform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base_footprint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msg-&gt;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header.frame_id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msg-&gt;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header.stamp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if (!result)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::msg::PointCloud2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pc_footprint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pcl_ros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transformPointCloud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base_footprint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*msg,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pc_footprint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*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tf_buffer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795" name="标题 236545">
            <a:extLst>
              <a:ext uri="{FF2B5EF4-FFF2-40B4-BE49-F238E27FC236}">
                <a16:creationId xmlns:a16="http://schemas.microsoft.com/office/drawing/2014/main" id="{F4570F7F-2600-D98E-7FE8-05DF8F6031A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10.2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PCL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进行物品检测</a:t>
            </a:r>
          </a:p>
        </p:txBody>
      </p:sp>
    </p:spTree>
    <p:extLst>
      <p:ext uri="{BB962C8B-B14F-4D97-AF65-F5344CB8AC3E}">
        <p14:creationId xmlns:p14="http://schemas.microsoft.com/office/powerpoint/2010/main" val="2245930307"/>
      </p:ext>
    </p:extLst>
  </p:cSld>
  <p:clrMapOvr>
    <a:masterClrMapping/>
  </p:clrMapOvr>
  <p:transition spd="slow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85F2E5C-C182-8038-F28A-D99C4A3ED753}"/>
              </a:ext>
            </a:extLst>
          </p:cNvPr>
          <p:cNvSpPr txBox="1"/>
          <p:nvPr/>
        </p:nvSpPr>
        <p:spPr>
          <a:xfrm>
            <a:off x="1116013" y="1557338"/>
            <a:ext cx="7488237" cy="42783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PointCloud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PointXYZ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cloud_src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fromROSMsg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pc_footprint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cloud_src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PassThrough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PointXYZ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pass;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pass.setInputCloud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cloud_src.makeShared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pPr algn="just">
              <a:defRPr/>
            </a:pP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pass.setFilterFieldName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("x");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pass.setFilterLimits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(0.5, 1.5);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pass.filter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cloud_src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pass.setInputCloud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cloud_src.makeShared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pass.setFilterFieldName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("y");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pass.setFilterLimits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(-0.5, 0.5);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pass.filter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cloud_src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pass.setInputCloud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cloud_src.makeShared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pass.setFilterFieldName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("z");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pass.setFilterLimits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(0.5, 1.5);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pass.filter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cloud_src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819" name="标题 236545">
            <a:extLst>
              <a:ext uri="{FF2B5EF4-FFF2-40B4-BE49-F238E27FC236}">
                <a16:creationId xmlns:a16="http://schemas.microsoft.com/office/drawing/2014/main" id="{65BF4855-AACB-DA7B-ABF7-3642C6C0F8D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10.2 </a:t>
            </a: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PCL</a:t>
            </a: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进行物品检测</a:t>
            </a:r>
          </a:p>
        </p:txBody>
      </p:sp>
    </p:spTree>
    <p:extLst>
      <p:ext uri="{BB962C8B-B14F-4D97-AF65-F5344CB8AC3E}">
        <p14:creationId xmlns:p14="http://schemas.microsoft.com/office/powerpoint/2010/main" val="313579393"/>
      </p:ext>
    </p:extLst>
  </p:cSld>
  <p:clrMapOvr>
    <a:masterClrMapping/>
  </p:clrMapOvr>
  <p:transition spd="slow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7D875C5-050D-1D3F-D097-6FB7D47EE7C8}"/>
              </a:ext>
            </a:extLst>
          </p:cNvPr>
          <p:cNvSpPr txBox="1"/>
          <p:nvPr/>
        </p:nvSpPr>
        <p:spPr>
          <a:xfrm>
            <a:off x="1116013" y="1412875"/>
            <a:ext cx="7488237" cy="45243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ModelCoefficients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coefficients(new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ModelCoefficients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SACSegmentation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PointXYZ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segmentation;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segmentation.setInputCloud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cloud_src.makeShared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segmentation.setModelType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::SACMODEL_PLANE);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segmentation.setMethodType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::SAC_RANSAC);</a:t>
            </a:r>
          </a:p>
          <a:p>
            <a:pPr algn="just">
              <a:defRPr/>
            </a:pP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segmentation.setDistanceThreshold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(0.05);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segmentation.setOptimizeCoefficients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(true);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PointIndices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planeIndices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(new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PointIndices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segmentation.segment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(*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planeIndices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*coefficients);</a:t>
            </a:r>
          </a:p>
          <a:p>
            <a:pPr algn="just">
              <a:defRPr/>
            </a:pPr>
            <a:endParaRPr lang="en-US" altLang="zh-CN" sz="16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point_num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planeIndices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indices.size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float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points_z_sum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for (int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point_num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point_index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planeIndices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-&gt;indices[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points_z_sum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cloud_src.points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point_index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].z;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843" name="标题 236545">
            <a:extLst>
              <a:ext uri="{FF2B5EF4-FFF2-40B4-BE49-F238E27FC236}">
                <a16:creationId xmlns:a16="http://schemas.microsoft.com/office/drawing/2014/main" id="{C6C526E0-A47B-4E5F-22DA-3BF1AA78E80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10.2 </a:t>
            </a: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PCL</a:t>
            </a: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进行物品检测</a:t>
            </a:r>
          </a:p>
        </p:txBody>
      </p:sp>
    </p:spTree>
    <p:extLst>
      <p:ext uri="{BB962C8B-B14F-4D97-AF65-F5344CB8AC3E}">
        <p14:creationId xmlns:p14="http://schemas.microsoft.com/office/powerpoint/2010/main" val="1906057136"/>
      </p:ext>
    </p:extLst>
  </p:cSld>
  <p:clrMapOvr>
    <a:masterClrMapping/>
  </p:clrMapOvr>
  <p:transition spd="slow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499AFEC-F4A2-9044-9481-C2507DC7901A}"/>
              </a:ext>
            </a:extLst>
          </p:cNvPr>
          <p:cNvSpPr txBox="1"/>
          <p:nvPr/>
        </p:nvSpPr>
        <p:spPr>
          <a:xfrm>
            <a:off x="874713" y="1052513"/>
            <a:ext cx="7729537" cy="50165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float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plane_height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points_z_sum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point_num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RCLCPP_INFO(node-&gt;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get_logger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plane_height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%.2f",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plane_height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pass.setInputCloud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cloud_src.makeShared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pass.setFilterFieldName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("z");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pass.setFilterLimits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plane_height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+ 0.2, 1.5);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pass.filter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cloud_src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::search::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KdTree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PointXYZ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tree(new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::search::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KdTree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PointXYZ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tree-&gt;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setInputCloud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cloud_src.makeShared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EuclideanClusterExtraction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PointXYZ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ec.setInputCloud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cloud_src.makeShared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ec.setMinClusterSize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ec.setMaxClusterSize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(25000);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ec.setClusterTolerance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(0.1);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ec.setSearchMethod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(tree);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std::vector&lt;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PointIndices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cluster_indices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ec.extract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cluster_indices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object_num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cluster_indices.size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867" name="标题 236545">
            <a:extLst>
              <a:ext uri="{FF2B5EF4-FFF2-40B4-BE49-F238E27FC236}">
                <a16:creationId xmlns:a16="http://schemas.microsoft.com/office/drawing/2014/main" id="{F4C4D312-6822-F483-6996-0F6AFFA797C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10.2 </a:t>
            </a: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PCL</a:t>
            </a: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进行物品检测</a:t>
            </a:r>
          </a:p>
        </p:txBody>
      </p:sp>
    </p:spTree>
    <p:extLst>
      <p:ext uri="{BB962C8B-B14F-4D97-AF65-F5344CB8AC3E}">
        <p14:creationId xmlns:p14="http://schemas.microsoft.com/office/powerpoint/2010/main" val="70257990"/>
      </p:ext>
    </p:extLst>
  </p:cSld>
  <p:clrMapOvr>
    <a:masterClrMapping/>
  </p:clrMapOvr>
  <p:transition spd="slow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32ABAD0-85A2-972D-E5C9-BEE88B9BEAF2}"/>
              </a:ext>
            </a:extLst>
          </p:cNvPr>
          <p:cNvSpPr txBox="1"/>
          <p:nvPr/>
        </p:nvSpPr>
        <p:spPr>
          <a:xfrm>
            <a:off x="874713" y="1117600"/>
            <a:ext cx="7729537" cy="50482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RCLCPP_INFO(node-&gt;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get_logger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"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object_num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%d",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object_num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for(int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;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object_num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++)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int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point_num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cluster_indices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indices.size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float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points_x_sum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float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points_y_sum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float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points_z_sum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for(int j = 0 ; j &lt;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point_num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j ++)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{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int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point_index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cluster_indices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].indices[j];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points_x_sum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cloud_src.points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point_index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].x;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points_y_sum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cloud_src.points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point_index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].y;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points_z_sum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cloud_src.points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point_index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].z;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float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object_x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points_x_sum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point_num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float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object_y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points_y_sum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point_num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float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object_z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points_z_sum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point_num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RCLCPP_INFO(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node-&gt;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get_logger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"object %d pos=(%.2f , %.2f , %.2f)", 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object_x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object_y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object_z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RCLCPP_INFO(node-&gt;</a:t>
            </a:r>
            <a:r>
              <a:rPr lang="en-US" altLang="zh-CN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get_logger</a:t>
            </a: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"---------------------" );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891" name="标题 236545">
            <a:extLst>
              <a:ext uri="{FF2B5EF4-FFF2-40B4-BE49-F238E27FC236}">
                <a16:creationId xmlns:a16="http://schemas.microsoft.com/office/drawing/2014/main" id="{528FB901-09CE-BF47-E93F-B5EF9DD8125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10.2 </a:t>
            </a: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PCL</a:t>
            </a: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进行物品检测</a:t>
            </a:r>
          </a:p>
        </p:txBody>
      </p:sp>
    </p:spTree>
    <p:extLst>
      <p:ext uri="{BB962C8B-B14F-4D97-AF65-F5344CB8AC3E}">
        <p14:creationId xmlns:p14="http://schemas.microsoft.com/office/powerpoint/2010/main" val="2085236803"/>
      </p:ext>
    </p:extLst>
  </p:cSld>
  <p:clrMapOvr>
    <a:masterClrMapping/>
  </p:clrMapOvr>
  <p:transition spd="slow"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136F23E-AAC3-3C5A-BE73-664C43A4D4D3}"/>
              </a:ext>
            </a:extLst>
          </p:cNvPr>
          <p:cNvSpPr txBox="1"/>
          <p:nvPr/>
        </p:nvSpPr>
        <p:spPr>
          <a:xfrm>
            <a:off x="874713" y="1425575"/>
            <a:ext cx="7729537" cy="45243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main(int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char **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argv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 </a:t>
            </a:r>
          </a:p>
          <a:p>
            <a:pPr algn="just">
              <a:defRPr/>
            </a:pP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node = std::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make_shared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::Node&gt;("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pointcloud_objects_node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tf_buffer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 = std::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make_shared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&lt;tf2_ros::Buffer&gt;(node-&gt;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get_clock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tf_listener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 = std::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make_shared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&lt;tf2_ros::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TransformListener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&gt;(*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tf_buffer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auto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pc_sub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node-&gt;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create_subscription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::msg::PointCloud2&gt;(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"/kinect2/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sd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/points",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1,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PointcloudCallback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::spin(node);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::shutdown(); 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0;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}</a:t>
            </a:r>
            <a:endParaRPr lang="zh-CN" altLang="zh-CN" sz="1600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915" name="标题 236545">
            <a:extLst>
              <a:ext uri="{FF2B5EF4-FFF2-40B4-BE49-F238E27FC236}">
                <a16:creationId xmlns:a16="http://schemas.microsoft.com/office/drawing/2014/main" id="{69AD93A9-3AEC-74D4-392B-71729D6EB9F8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10.2 </a:t>
            </a: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PCL</a:t>
            </a:r>
            <a:r>
              <a:rPr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进行物品检测</a:t>
            </a:r>
          </a:p>
        </p:txBody>
      </p:sp>
    </p:spTree>
    <p:extLst>
      <p:ext uri="{BB962C8B-B14F-4D97-AF65-F5344CB8AC3E}">
        <p14:creationId xmlns:p14="http://schemas.microsoft.com/office/powerpoint/2010/main" val="4163625566"/>
      </p:ext>
    </p:extLst>
  </p:cSld>
  <p:clrMapOvr>
    <a:masterClrMapping/>
  </p:clrMapOvr>
  <p:transition spd="slow"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FF0744A-1240-4CD1-519F-73D0B87953E0}"/>
              </a:ext>
            </a:extLst>
          </p:cNvPr>
          <p:cNvSpPr txBox="1"/>
          <p:nvPr/>
        </p:nvSpPr>
        <p:spPr>
          <a:xfrm>
            <a:off x="971550" y="1196975"/>
            <a:ext cx="4572000" cy="3381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设置编译规则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884BD1-AEE2-A647-4681-32291E3E5022}"/>
              </a:ext>
            </a:extLst>
          </p:cNvPr>
          <p:cNvSpPr txBox="1"/>
          <p:nvPr/>
        </p:nvSpPr>
        <p:spPr>
          <a:xfrm>
            <a:off x="1116013" y="1628775"/>
            <a:ext cx="7272337" cy="10779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REQUIRED)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find_package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pcl_conversions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 err="1">
                <a:latin typeface="Times New Roman" panose="02020603050405020304" pitchFamily="18" charset="0"/>
              </a:rPr>
              <a:t>find_package</a:t>
            </a:r>
            <a:r>
              <a:rPr lang="en-US" altLang="zh-CN" sz="1600" dirty="0">
                <a:latin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</a:rPr>
              <a:t>pcl_ros</a:t>
            </a:r>
            <a:r>
              <a:rPr lang="en-US" altLang="zh-CN" sz="1600" dirty="0">
                <a:latin typeface="Times New Roman" panose="02020603050405020304" pitchFamily="18" charset="0"/>
              </a:rPr>
              <a:t> REQUIRED)</a:t>
            </a:r>
            <a:endParaRPr lang="zh-CN" altLang="en-US" sz="1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FF5676-D08C-258A-3B4E-8AD4BF18898C}"/>
              </a:ext>
            </a:extLst>
          </p:cNvPr>
          <p:cNvSpPr txBox="1"/>
          <p:nvPr/>
        </p:nvSpPr>
        <p:spPr>
          <a:xfrm>
            <a:off x="1117600" y="3754438"/>
            <a:ext cx="7269163" cy="5857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install(TARGETS 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pc_objects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DESTINATION  lib/${PROJECT_NAME})</a:t>
            </a:r>
            <a:endParaRPr lang="zh-CN" altLang="en-US" sz="1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78417B-7867-7EE5-1772-B9B0C2C3C8C4}"/>
              </a:ext>
            </a:extLst>
          </p:cNvPr>
          <p:cNvSpPr txBox="1"/>
          <p:nvPr/>
        </p:nvSpPr>
        <p:spPr>
          <a:xfrm>
            <a:off x="971550" y="4581525"/>
            <a:ext cx="4572000" cy="3381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修改软件包信息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004FAA0-FA32-C8B9-8DB8-3BEC7774A7CC}"/>
              </a:ext>
            </a:extLst>
          </p:cNvPr>
          <p:cNvSpPr txBox="1"/>
          <p:nvPr/>
        </p:nvSpPr>
        <p:spPr>
          <a:xfrm>
            <a:off x="1112838" y="4943475"/>
            <a:ext cx="7275512" cy="10779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 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&lt;depend&gt;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pcl_conversions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&lt;/depend&gt;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&lt;depend&gt;</a:t>
            </a:r>
            <a:r>
              <a:rPr lang="en-US" altLang="zh-CN" sz="1600" dirty="0" err="1">
                <a:latin typeface="Times New Roman" panose="02020603050405020304" pitchFamily="18" charset="0"/>
              </a:rPr>
              <a:t>pcl_ros</a:t>
            </a:r>
            <a:r>
              <a:rPr lang="en-US" altLang="zh-CN" sz="1600" dirty="0">
                <a:latin typeface="Times New Roman" panose="02020603050405020304" pitchFamily="18" charset="0"/>
              </a:rPr>
              <a:t>&lt;/depend&gt;</a:t>
            </a:r>
            <a:endParaRPr lang="zh-CN" altLang="en-US" sz="1600" dirty="0"/>
          </a:p>
        </p:txBody>
      </p:sp>
      <p:sp>
        <p:nvSpPr>
          <p:cNvPr id="39943" name="标题 236545">
            <a:extLst>
              <a:ext uri="{FF2B5EF4-FFF2-40B4-BE49-F238E27FC236}">
                <a16:creationId xmlns:a16="http://schemas.microsoft.com/office/drawing/2014/main" id="{E907DF9B-8EB9-4910-4A50-84C05192399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10.2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PCL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进行物品检测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2AB368-943F-45D0-BC65-098EDA095A3E}"/>
              </a:ext>
            </a:extLst>
          </p:cNvPr>
          <p:cNvSpPr txBox="1"/>
          <p:nvPr/>
        </p:nvSpPr>
        <p:spPr>
          <a:xfrm>
            <a:off x="1114425" y="2800350"/>
            <a:ext cx="7272338" cy="8302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add_executable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pc_objects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/pc_objects.cpp)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ament_target_dependencies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pc_objects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rclcpp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sensor_msgs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pcl_conversions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"</a:t>
            </a:r>
            <a:r>
              <a:rPr lang="en-US" altLang="zh-CN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pcl_ros</a:t>
            </a:r>
            <a:r>
              <a:rPr lang="en-US" altLang="zh-CN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600" dirty="0">
                <a:latin typeface="Times New Roman" panose="02020603050405020304" pitchFamily="18" charset="0"/>
              </a:rPr>
              <a:t>)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11092303"/>
      </p:ext>
    </p:extLst>
  </p:cSld>
  <p:clrMapOvr>
    <a:masterClrMapping/>
  </p:clrMapOvr>
  <p:transition spd="slow"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50BB552-681F-7D93-D5CE-2DE435C3F56D}"/>
              </a:ext>
            </a:extLst>
          </p:cNvPr>
          <p:cNvSpPr txBox="1"/>
          <p:nvPr/>
        </p:nvSpPr>
        <p:spPr>
          <a:xfrm>
            <a:off x="1187450" y="2784475"/>
            <a:ext cx="74168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setup.bash</a:t>
            </a:r>
            <a:endParaRPr lang="zh-CN" altLang="en-US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4B849AE-A200-47A3-32A4-643A30FB6905}"/>
              </a:ext>
            </a:extLst>
          </p:cNvPr>
          <p:cNvSpPr txBox="1"/>
          <p:nvPr/>
        </p:nvSpPr>
        <p:spPr>
          <a:xfrm>
            <a:off x="1187450" y="3162300"/>
            <a:ext cx="74168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launch wpr_simulation2 wpb_table.launch.py</a:t>
            </a:r>
            <a:endParaRPr lang="zh-CN" altLang="en-US" sz="1600" dirty="0"/>
          </a:p>
        </p:txBody>
      </p:sp>
      <p:sp>
        <p:nvSpPr>
          <p:cNvPr id="40964" name="标题 236545">
            <a:extLst>
              <a:ext uri="{FF2B5EF4-FFF2-40B4-BE49-F238E27FC236}">
                <a16:creationId xmlns:a16="http://schemas.microsoft.com/office/drawing/2014/main" id="{AB928461-3912-2228-2612-9733F7B0D28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10.2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PCL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进行物品检测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BFF094C-769C-9DDF-055F-F6CCECE0378B}"/>
              </a:ext>
            </a:extLst>
          </p:cNvPr>
          <p:cNvSpPr txBox="1"/>
          <p:nvPr/>
        </p:nvSpPr>
        <p:spPr>
          <a:xfrm>
            <a:off x="1044575" y="1082675"/>
            <a:ext cx="4660900" cy="3381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编译软件包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09118A-7899-EE56-6DE3-0C6FF1118B4A}"/>
              </a:ext>
            </a:extLst>
          </p:cNvPr>
          <p:cNvSpPr txBox="1"/>
          <p:nvPr/>
        </p:nvSpPr>
        <p:spPr>
          <a:xfrm>
            <a:off x="1187450" y="1492250"/>
            <a:ext cx="7416800" cy="33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cd ~/ros2_ws</a:t>
            </a:r>
            <a:endParaRPr lang="zh-CN" altLang="en-US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7625C0A-FED8-EB1C-831B-24B5F11C802F}"/>
              </a:ext>
            </a:extLst>
          </p:cNvPr>
          <p:cNvSpPr txBox="1"/>
          <p:nvPr/>
        </p:nvSpPr>
        <p:spPr>
          <a:xfrm>
            <a:off x="1187450" y="1866900"/>
            <a:ext cx="74168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 err="1">
                <a:latin typeface="Times New Roman" panose="02020603050405020304" pitchFamily="18" charset="0"/>
              </a:rPr>
              <a:t>colcon</a:t>
            </a:r>
            <a:r>
              <a:rPr lang="en-US" altLang="zh-CN" sz="1600" dirty="0">
                <a:latin typeface="Times New Roman" panose="02020603050405020304" pitchFamily="18" charset="0"/>
              </a:rPr>
              <a:t> build</a:t>
            </a:r>
            <a:endParaRPr lang="zh-CN" altLang="en-US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7004C0-C036-3BC7-B7CE-19379D035F0A}"/>
              </a:ext>
            </a:extLst>
          </p:cNvPr>
          <p:cNvSpPr txBox="1"/>
          <p:nvPr/>
        </p:nvSpPr>
        <p:spPr>
          <a:xfrm>
            <a:off x="971550" y="2227263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10.2.2 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仿真运行物品检测程序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0969" name="图片 5">
            <a:extLst>
              <a:ext uri="{FF2B5EF4-FFF2-40B4-BE49-F238E27FC236}">
                <a16:creationId xmlns:a16="http://schemas.microsoft.com/office/drawing/2014/main" id="{AE0351D2-CBD2-D911-9A5E-6682E7E16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575" y="3497263"/>
            <a:ext cx="4832350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7377128"/>
      </p:ext>
    </p:extLst>
  </p:cSld>
  <p:clrMapOvr>
    <a:masterClrMapping/>
  </p:clrMapOvr>
  <p:transition spd="slow"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E5B403D-F3A5-50C8-5AE4-32BAF8D36294}"/>
              </a:ext>
            </a:extLst>
          </p:cNvPr>
          <p:cNvSpPr txBox="1"/>
          <p:nvPr/>
        </p:nvSpPr>
        <p:spPr>
          <a:xfrm>
            <a:off x="1187450" y="1484313"/>
            <a:ext cx="7416800" cy="338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source install/</a:t>
            </a:r>
            <a:r>
              <a:rPr lang="en-US" altLang="zh-CN" sz="1600" dirty="0" err="1">
                <a:latin typeface="Times New Roman" panose="02020603050405020304" pitchFamily="18" charset="0"/>
              </a:rPr>
              <a:t>setup.bash</a:t>
            </a:r>
            <a:endParaRPr lang="zh-CN" altLang="en-US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7A75E7-A85E-A6BB-5017-7116A8C1BCB7}"/>
              </a:ext>
            </a:extLst>
          </p:cNvPr>
          <p:cNvSpPr txBox="1"/>
          <p:nvPr/>
        </p:nvSpPr>
        <p:spPr>
          <a:xfrm>
            <a:off x="1187450" y="1844675"/>
            <a:ext cx="7416800" cy="338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ros2 run </a:t>
            </a:r>
            <a:r>
              <a:rPr lang="en-US" altLang="zh-CN" sz="1600" dirty="0" err="1">
                <a:latin typeface="Times New Roman" panose="02020603050405020304" pitchFamily="18" charset="0"/>
              </a:rPr>
              <a:t>pc_pkg</a:t>
            </a:r>
            <a:r>
              <a:rPr lang="en-US" altLang="zh-CN" sz="1600" dirty="0">
                <a:latin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</a:rPr>
              <a:t>pc_objects</a:t>
            </a:r>
            <a:endParaRPr lang="zh-CN" altLang="en-US" sz="1600" dirty="0"/>
          </a:p>
        </p:txBody>
      </p:sp>
      <p:sp>
        <p:nvSpPr>
          <p:cNvPr id="41988" name="文本框 3">
            <a:extLst>
              <a:ext uri="{FF2B5EF4-FFF2-40B4-BE49-F238E27FC236}">
                <a16:creationId xmlns:a16="http://schemas.microsoft.com/office/drawing/2014/main" id="{E7EE328F-F635-19C8-58B5-57ECE3F9D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75" y="1125538"/>
            <a:ext cx="4572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打开第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个子窗口。</a:t>
            </a:r>
            <a:endParaRPr lang="zh-CN" altLang="en-US" sz="1600"/>
          </a:p>
        </p:txBody>
      </p:sp>
      <p:sp>
        <p:nvSpPr>
          <p:cNvPr id="41989" name="标题 236545">
            <a:extLst>
              <a:ext uri="{FF2B5EF4-FFF2-40B4-BE49-F238E27FC236}">
                <a16:creationId xmlns:a16="http://schemas.microsoft.com/office/drawing/2014/main" id="{20E99214-CE4B-F17B-5E65-48BAD4A63F6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729537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10.2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800" b="1">
                <a:latin typeface="Times New Roman" panose="02020603050405020304" pitchFamily="18" charset="0"/>
              </a:rPr>
              <a:t>PCL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进行物品检测</a:t>
            </a:r>
          </a:p>
        </p:txBody>
      </p:sp>
      <p:pic>
        <p:nvPicPr>
          <p:cNvPr id="41990" name="图片 2">
            <a:extLst>
              <a:ext uri="{FF2B5EF4-FFF2-40B4-BE49-F238E27FC236}">
                <a16:creationId xmlns:a16="http://schemas.microsoft.com/office/drawing/2014/main" id="{87AD22FF-CF99-B5D0-4709-C887AE660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2279650"/>
            <a:ext cx="7370763" cy="266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0015CEB-41DB-A295-9B9C-534E9BF600C5}"/>
              </a:ext>
            </a:extLst>
          </p:cNvPr>
          <p:cNvSpPr txBox="1"/>
          <p:nvPr/>
        </p:nvSpPr>
        <p:spPr>
          <a:xfrm>
            <a:off x="971550" y="5041900"/>
            <a:ext cx="7586663" cy="11572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从输出信息可以看出，机器人检测到桌子的高度为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0.78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米；桌子上有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个物体；两个物体和机器人的距离一致，都是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1.09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米；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号物体在机器人左侧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0.3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米处，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号物体在机器人右侧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米处；两个物体质心距离地面的高度都是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0.99</a:t>
            </a:r>
            <a:r>
              <a:rPr lang="zh-CN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米。</a:t>
            </a:r>
            <a:endParaRPr lang="zh-CN" altLang="zh-CN" sz="16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700926"/>
      </p:ext>
    </p:extLst>
  </p:cSld>
  <p:clrMapOvr>
    <a:masterClrMapping/>
  </p:clrMapOvr>
  <p:transition spd="slow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236545">
            <a:extLst>
              <a:ext uri="{FF2B5EF4-FFF2-40B4-BE49-F238E27FC236}">
                <a16:creationId xmlns:a16="http://schemas.microsoft.com/office/drawing/2014/main" id="{54949E55-D867-E266-645F-BBB8143E4D94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513" y="301625"/>
            <a:ext cx="7442200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10.3 </a:t>
            </a:r>
            <a:r>
              <a:rPr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本章小结</a:t>
            </a:r>
            <a:endParaRPr lang="zh-CN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C58D04-30E6-A7FB-634D-88FACBBB3781}"/>
              </a:ext>
            </a:extLst>
          </p:cNvPr>
          <p:cNvSpPr/>
          <p:nvPr/>
        </p:nvSpPr>
        <p:spPr>
          <a:xfrm>
            <a:off x="971550" y="2276475"/>
            <a:ext cx="7200900" cy="1706563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本章主要是对</a:t>
            </a:r>
            <a:r>
              <a:rPr lang="en-US" altLang="zh-CN">
                <a:solidFill>
                  <a:srgbClr val="333333"/>
                </a:solidFill>
                <a:latin typeface="Times New Roman" panose="02020603050405020304" pitchFamily="18" charset="0"/>
              </a:rPr>
              <a:t>ROS2</a:t>
            </a:r>
            <a:r>
              <a:rPr lang="zh-CN" altLang="zh-CN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中的三维视觉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进行介绍、编程及仿真。首先编程并仿真实现了从机器人的头部</a:t>
            </a:r>
            <a:r>
              <a:rPr lang="en-US" altLang="zh-CN">
                <a:latin typeface="Times New Roman" panose="02020603050405020304" pitchFamily="18" charset="0"/>
              </a:rPr>
              <a:t>RGB-D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相机获取三维点云数据；接着，使用</a:t>
            </a:r>
            <a:r>
              <a:rPr lang="en-US" altLang="zh-CN">
                <a:latin typeface="Times New Roman" panose="02020603050405020304" pitchFamily="18" charset="0"/>
              </a:rPr>
              <a:t>PCL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实现三维特征提取，并对桌面上的物体进行检测和定位，最终仿真实现了基于三维点云的物体检测功能。</a:t>
            </a:r>
            <a:endParaRPr lang="zh-CN" altLang="zh-CN" sz="1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057548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7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7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演示文稿1</Template>
  <TotalTime>2378</TotalTime>
  <Pages>0</Pages>
  <Words>14710</Words>
  <Characters>0</Characters>
  <Application>Microsoft Office PowerPoint</Application>
  <DocSecurity>0</DocSecurity>
  <PresentationFormat>On-screen Show (4:3)</PresentationFormat>
  <Lines>0</Lines>
  <Paragraphs>1143</Paragraphs>
  <Slides>121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121</vt:i4>
      </vt:variant>
    </vt:vector>
  </HeadingPairs>
  <TitlesOfParts>
    <vt:vector size="131" baseType="lpstr">
      <vt:lpstr>Arial</vt:lpstr>
      <vt:lpstr>宋体</vt:lpstr>
      <vt:lpstr>Calibri</vt:lpstr>
      <vt:lpstr>华文楷体</vt:lpstr>
      <vt:lpstr>Times New Roman</vt:lpstr>
      <vt:lpstr>黑体</vt:lpstr>
      <vt:lpstr>方正粗宋简体</vt:lpstr>
      <vt:lpstr>楷体_GB2312</vt:lpstr>
      <vt:lpstr>7_默认设计模板</vt:lpstr>
      <vt:lpstr>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WwW.YlmF.CoM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章标题</dc:title>
  <dc:creator>雨林木风</dc:creator>
  <cp:lastModifiedBy>Chuyuan Tao</cp:lastModifiedBy>
  <cp:revision>470</cp:revision>
  <dcterms:created xsi:type="dcterms:W3CDTF">2009-01-17T09:10:13Z</dcterms:created>
  <dcterms:modified xsi:type="dcterms:W3CDTF">2026-09-11T10:22:27Z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2052-10.1.0.7359</vt:lpwstr>
  </property>
</Properties>
</file>