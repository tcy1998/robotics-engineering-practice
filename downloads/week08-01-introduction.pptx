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93" r:id="rId3"/>
    <p:sldId id="258" r:id="rId4"/>
    <p:sldId id="259" r:id="rId5"/>
    <p:sldId id="260" r:id="rId6"/>
    <p:sldId id="261" r:id="rId7"/>
    <p:sldId id="29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9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95" r:id="rId28"/>
    <p:sldId id="283" r:id="rId29"/>
    <p:sldId id="284" r:id="rId30"/>
    <p:sldId id="285" r:id="rId31"/>
    <p:sldId id="286" r:id="rId32"/>
    <p:sldId id="287" r:id="rId33"/>
    <p:sldId id="288" r:id="rId34"/>
    <p:sldId id="296" r:id="rId35"/>
    <p:sldId id="28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1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25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AAD6-D2DC-734A-4A01-F98D6A41A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044B8-0B90-B9D7-32B2-3C8F70ECD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6F551-B5FF-F9A5-753D-C5AB1AB73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8E356-7FD3-9981-11E4-5EE56926D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84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5050-E715-0638-7774-BB2E79C91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F5C77-4971-2CA1-CB0B-42D343797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F4929-2C6E-ECE7-106F-921A0342D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01AF3-AA04-EE7A-0C6C-16BE80994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85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A161D-C635-DD75-4E8B-4A8BA9A6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2599C-7A85-0F70-7913-E2AF63235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A6355-65D8-F592-3CC7-0FD22DBB7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032F6-0771-5CD9-AD94-ED68D5CB0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75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008E-4A09-11C3-52BF-3FC096C4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1B1D2-3E91-52BD-5529-7A3361210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AD7CE-F909-E5BA-EEE1-50CDEF971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05D0-D91F-E79C-50D9-17681AAF5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347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2FD56-1346-E086-6D8B-63E701AB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6F71C-FC4E-C99C-1E25-CC7BC9972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04888-A6DD-712B-F9A0-0B823BAE4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62BEE-920C-6CFC-4DB3-7172AC5A2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458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B6E2B9-F21F-23E4-5CCD-82B05F03C27C}"/>
              </a:ext>
            </a:extLst>
          </p:cNvPr>
          <p:cNvSpPr txBox="1"/>
          <p:nvPr userDrawn="1"/>
        </p:nvSpPr>
        <p:spPr>
          <a:xfrm>
            <a:off x="9811092" y="180340"/>
            <a:ext cx="257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8636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"/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 rot="960000">
            <a:off x="-2560320" y="-548640"/>
            <a:ext cx="5120640" cy="841248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5989320"/>
            <a:ext cx="1371600" cy="868680"/>
          </a:xfrm>
          <a:prstGeom prst="rtTriangle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874520"/>
            <a:ext cx="811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普通高等教育新工科具身智能系列教材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2331720"/>
            <a:ext cx="811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具身智能导论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09160" y="3154680"/>
            <a:ext cx="811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第一讲  绪论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4023360"/>
            <a:ext cx="811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秦建军  江磊  刘宇飞  邢伯阳  王陆旸  李国通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4624832"/>
            <a:ext cx="811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国家地方共建人形机器人创新中心组织编写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AE5D-C58F-14FC-29F2-2CE343C7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BD98B5-12CC-F731-92B5-565336CA43D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CBBA7E-DFF1-BD2A-945B-034CC9914258}"/>
              </a:ext>
            </a:extLst>
          </p:cNvPr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781649-8758-4387-2E7F-E386FD13AAD6}"/>
              </a:ext>
            </a:extLst>
          </p:cNvPr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2EC31FD-13EA-9BBE-58D6-F71C01C4B9AF}"/>
              </a:ext>
            </a:extLst>
          </p:cNvPr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DC1123C-D01B-745A-170B-1B74DD4C7C4F}"/>
              </a:ext>
            </a:extLst>
          </p:cNvPr>
          <p:cNvSpPr/>
          <p:nvPr/>
        </p:nvSpPr>
        <p:spPr>
          <a:xfrm rot="960000">
            <a:off x="-2377440" y="-457200"/>
            <a:ext cx="5120640" cy="804672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A38680-CE00-8264-C7FD-72ED60B8562B}"/>
              </a:ext>
            </a:extLst>
          </p:cNvPr>
          <p:cNvSpPr/>
          <p:nvPr/>
        </p:nvSpPr>
        <p:spPr>
          <a:xfrm>
            <a:off x="502920" y="2148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</a:t>
            </a:r>
            <a:endParaRPr lang="en-US" sz="5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034013-6B31-CCE6-5D71-1B5F8078A9A6}"/>
              </a:ext>
            </a:extLst>
          </p:cNvPr>
          <p:cNvSpPr/>
          <p:nvPr/>
        </p:nvSpPr>
        <p:spPr>
          <a:xfrm>
            <a:off x="4709160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00   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教材和课程特点</a:t>
            </a:r>
            <a:endParaRPr lang="en-US" sz="3200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4734096-46EF-A65D-9B50-9BAD332AA53C}"/>
              </a:ext>
            </a:extLst>
          </p:cNvPr>
          <p:cNvSpPr/>
          <p:nvPr/>
        </p:nvSpPr>
        <p:spPr>
          <a:xfrm>
            <a:off x="4709160" y="21305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01   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具身智能的起源与概念</a:t>
            </a:r>
            <a:endParaRPr lang="en-US" sz="32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48FEA3-C8A5-4E99-89E1-59EA87491C63}"/>
              </a:ext>
            </a:extLst>
          </p:cNvPr>
          <p:cNvSpPr/>
          <p:nvPr/>
        </p:nvSpPr>
        <p:spPr>
          <a:xfrm>
            <a:off x="4709160" y="28437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典型的具身智能框架</a:t>
            </a:r>
            <a:endParaRPr lang="en-US" sz="32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32BF98-72A9-C8D2-CE99-B30E2CAC1C80}"/>
              </a:ext>
            </a:extLst>
          </p:cNvPr>
          <p:cNvSpPr/>
          <p:nvPr/>
        </p:nvSpPr>
        <p:spPr>
          <a:xfrm>
            <a:off x="4709160" y="355701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主要研究内容</a:t>
            </a:r>
            <a:endParaRPr lang="en-US" sz="32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D2C518-106E-05CA-60B5-F1F588B3E5B1}"/>
              </a:ext>
            </a:extLst>
          </p:cNvPr>
          <p:cNvSpPr/>
          <p:nvPr/>
        </p:nvSpPr>
        <p:spPr>
          <a:xfrm>
            <a:off x="4709160" y="42702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</a:t>
            </a:r>
            <a:endParaRPr lang="en-US" sz="32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9BD10C-CC3A-9B15-772C-AB96FECE565B}"/>
              </a:ext>
            </a:extLst>
          </p:cNvPr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1072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教材基本信息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29768" y="1107440"/>
            <a:ext cx="7246112" cy="4892040"/>
          </a:xfrm>
          <a:prstGeom prst="roundRect">
            <a:avLst>
              <a:gd name="adj" fmla="val 1869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9380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51760" y="1938020"/>
            <a:ext cx="3296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《具身智能导论》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8879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2877820"/>
            <a:ext cx="464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秦建军、江磊、刘宇飞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邢伯阳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、王陆旸、李国通编著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38836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3822700"/>
            <a:ext cx="523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机械工业出版社，2026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49098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49098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具身智能、机器人工程、人工智能等本科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研究生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微专业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47A2214-A490-F4A1-CDBF-290C4CE70D02}"/>
              </a:ext>
            </a:extLst>
          </p:cNvPr>
          <p:cNvSpPr/>
          <p:nvPr/>
        </p:nvSpPr>
        <p:spPr>
          <a:xfrm>
            <a:off x="685800" y="117729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组织编制</a:t>
            </a:r>
            <a:endParaRPr lang="en-US" sz="24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FB992C1F-03E4-E23C-A8A0-A1B2AAD854D4}"/>
              </a:ext>
            </a:extLst>
          </p:cNvPr>
          <p:cNvSpPr/>
          <p:nvPr/>
        </p:nvSpPr>
        <p:spPr>
          <a:xfrm>
            <a:off x="2651760" y="117729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国家地方共建人形机器人创新中心</a:t>
            </a:r>
            <a:endParaRPr lang="en-US" sz="24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9FA59B2-7B46-1736-DAAF-BF135959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52" y="987547"/>
            <a:ext cx="3700280" cy="49895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为什么需要学习具身智能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703320" cy="10972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</a:t>
            </a:r>
            <a:r>
              <a:rPr lang="zh-CN" altLang="en-US" sz="28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2617724"/>
            <a:ext cx="3516630" cy="2498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数字智能走向物理智能</a:t>
            </a:r>
            <a:endParaRPr lang="en-US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“</a:t>
            </a: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十五五</a:t>
            </a:r>
            <a:r>
              <a:rPr 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”</a:t>
            </a: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规划</a:t>
            </a: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将具身智能</a:t>
            </a: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列入</a:t>
            </a: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未来产业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中国制造推动人形机器人</a:t>
            </a: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开始量产</a:t>
            </a:r>
            <a:endParaRPr lang="en-US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中国人形机器人取得瞩目成就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143000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297680" y="1143000"/>
            <a:ext cx="3703320" cy="10972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26280" y="1417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人才</a:t>
            </a:r>
            <a:r>
              <a:rPr lang="zh-CN" altLang="en-US" sz="28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07992" y="2049280"/>
            <a:ext cx="3246120" cy="30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</a:t>
            </a: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交叉学科</a:t>
            </a: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、重视</a:t>
            </a: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全栈</a:t>
            </a: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en-US" sz="2400" b="1" dirty="0" err="1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</a:t>
            </a:r>
            <a:endParaRPr lang="en-US" altLang="zh-CN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具身智能专业和现有专业的能力要求</a:t>
            </a:r>
            <a:endParaRPr lang="en-US" altLang="zh-CN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既懂理论，更要会仿真和真机开发</a:t>
            </a:r>
            <a:endParaRPr lang="en-US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83880" y="1143000"/>
            <a:ext cx="3703320" cy="4892040"/>
          </a:xfrm>
          <a:prstGeom prst="roundRect">
            <a:avLst>
              <a:gd name="adj" fmla="val 2469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83880" y="1143000"/>
            <a:ext cx="3703320" cy="10972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12480" y="1417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课程要求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0930" y="1960387"/>
            <a:ext cx="3209278" cy="381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辨析与其他课程的联系和区别</a:t>
            </a:r>
            <a:endParaRPr lang="en-US" altLang="zh-CN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建立基本知识框架</a:t>
            </a:r>
            <a:endParaRPr lang="en-US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掌握具身智能的基本思路</a:t>
            </a:r>
            <a:endParaRPr lang="en-US" altLang="zh-CN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具备初步的动手实践部署</a:t>
            </a:r>
            <a:endParaRPr lang="en-US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本书的特点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" name="Text 3"/>
          <p:cNvSpPr/>
          <p:nvPr/>
        </p:nvSpPr>
        <p:spPr>
          <a:xfrm>
            <a:off x="685800" y="1252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体系完整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61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从起源概念到综合实践，11章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内容对应到不同的具身智能主流话题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实践导向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900680"/>
            <a:ext cx="1105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主要章节实践案例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三个综合实践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（机械臂、</a:t>
            </a:r>
            <a:r>
              <a:rPr lang="en-US" altLang="zh-CN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NanoLoong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小人形、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G1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全尺寸人形）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1480" y="3611880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Text 9"/>
          <p:cNvSpPr/>
          <p:nvPr/>
        </p:nvSpPr>
        <p:spPr>
          <a:xfrm>
            <a:off x="685800" y="3721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与时俱进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RT-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、Helix、GR00T、Dreamer、LeRobot 等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当下流行思路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11480" y="4846320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4" name="Text 12"/>
          <p:cNvSpPr/>
          <p:nvPr/>
        </p:nvSpPr>
        <p:spPr>
          <a:xfrm>
            <a:off x="685800" y="4956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灵活选用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6440" y="54132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教师可按学时裁剪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32-48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学时讲授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，综合实践案例可用于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周的综合实验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全书结构</a:t>
            </a: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</a:t>
            </a: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11章+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115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绪论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768856" y="1143000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Text 5"/>
          <p:cNvSpPr/>
          <p:nvPr/>
        </p:nvSpPr>
        <p:spPr>
          <a:xfrm>
            <a:off x="1768856" y="114300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硬软件平台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25672" y="1143000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9" name="Text 7"/>
          <p:cNvSpPr/>
          <p:nvPr/>
        </p:nvSpPr>
        <p:spPr>
          <a:xfrm>
            <a:off x="3725672" y="114300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强化学习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682488" y="1143000"/>
            <a:ext cx="2034032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Text 9"/>
          <p:cNvSpPr/>
          <p:nvPr/>
        </p:nvSpPr>
        <p:spPr>
          <a:xfrm>
            <a:off x="5638800" y="1143000"/>
            <a:ext cx="198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遥操作与模仿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27848" y="1133856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3" name="Text 11"/>
          <p:cNvSpPr/>
          <p:nvPr/>
        </p:nvSpPr>
        <p:spPr>
          <a:xfrm>
            <a:off x="7927848" y="1133856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具身大模型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884664" y="1133856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Text 13"/>
          <p:cNvSpPr/>
          <p:nvPr/>
        </p:nvSpPr>
        <p:spPr>
          <a:xfrm>
            <a:off x="9884664" y="1133856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导航与规划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11480" y="2377440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7" name="Text 15"/>
          <p:cNvSpPr/>
          <p:nvPr/>
        </p:nvSpPr>
        <p:spPr>
          <a:xfrm>
            <a:off x="411480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VLA模型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2368296" y="2377440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Text 17"/>
          <p:cNvSpPr/>
          <p:nvPr/>
        </p:nvSpPr>
        <p:spPr>
          <a:xfrm>
            <a:off x="2368296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世界模型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325112" y="2377440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1" name="Text 19"/>
          <p:cNvSpPr/>
          <p:nvPr/>
        </p:nvSpPr>
        <p:spPr>
          <a:xfrm>
            <a:off x="4325112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虚实迁移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281928" y="2377440"/>
            <a:ext cx="3395472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Text 21"/>
          <p:cNvSpPr/>
          <p:nvPr/>
        </p:nvSpPr>
        <p:spPr>
          <a:xfrm>
            <a:off x="6281928" y="2377440"/>
            <a:ext cx="3395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具身数据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与采集训练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884664" y="2377440"/>
            <a:ext cx="1865376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Text 23"/>
          <p:cNvSpPr/>
          <p:nvPr/>
        </p:nvSpPr>
        <p:spPr>
          <a:xfrm>
            <a:off x="9884664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综合实践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11480" y="370332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4023360"/>
            <a:ext cx="370332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8" name="Text 26"/>
          <p:cNvSpPr/>
          <p:nvPr/>
        </p:nvSpPr>
        <p:spPr>
          <a:xfrm>
            <a:off x="411480" y="40233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OpenLoong 开源社区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297680" y="4023360"/>
            <a:ext cx="370332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Text 28"/>
          <p:cNvSpPr/>
          <p:nvPr/>
        </p:nvSpPr>
        <p:spPr>
          <a:xfrm>
            <a:off x="4297680" y="40233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 Hugging Face / LeRobot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183880" y="4023360"/>
            <a:ext cx="370332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Text 30"/>
          <p:cNvSpPr/>
          <p:nvPr/>
        </p:nvSpPr>
        <p:spPr>
          <a:xfrm>
            <a:off x="8183880" y="40233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 仿真软件安装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11480" y="4983480"/>
            <a:ext cx="1138428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79" y="4983480"/>
            <a:ext cx="109693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本书未对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和机器人基本知识做展开介绍，可根据学校实际进行补充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0DC1-0174-4AC4-4B3B-85172C27A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76D1FE-10EF-28BB-D3B4-0E0E0B6E1D1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D9B5FB-08C4-8663-6901-FACC30299203}"/>
              </a:ext>
            </a:extLst>
          </p:cNvPr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0BE513-F4C5-3E9C-E22C-EAD8B72F354A}"/>
              </a:ext>
            </a:extLst>
          </p:cNvPr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B21DEC-DC96-F40E-6B99-E71E729045BA}"/>
              </a:ext>
            </a:extLst>
          </p:cNvPr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449480-4DE9-E1D8-7FF0-6974F15460E7}"/>
              </a:ext>
            </a:extLst>
          </p:cNvPr>
          <p:cNvSpPr/>
          <p:nvPr/>
        </p:nvSpPr>
        <p:spPr>
          <a:xfrm rot="960000">
            <a:off x="-2377440" y="-457200"/>
            <a:ext cx="5120640" cy="804672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1A42A2-AEFF-1EC2-CF18-4FF0AE885124}"/>
              </a:ext>
            </a:extLst>
          </p:cNvPr>
          <p:cNvSpPr/>
          <p:nvPr/>
        </p:nvSpPr>
        <p:spPr>
          <a:xfrm>
            <a:off x="502920" y="2148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</a:t>
            </a:r>
            <a:endParaRPr lang="en-US" sz="5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9D1347-D1C9-C85B-F6CF-799BF5505578}"/>
              </a:ext>
            </a:extLst>
          </p:cNvPr>
          <p:cNvSpPr/>
          <p:nvPr/>
        </p:nvSpPr>
        <p:spPr>
          <a:xfrm>
            <a:off x="4709160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00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教材和课程特点</a:t>
            </a:r>
            <a:endParaRPr lang="en-US" sz="32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30EDC7-9E82-3393-24F5-E18104A777EC}"/>
              </a:ext>
            </a:extLst>
          </p:cNvPr>
          <p:cNvSpPr/>
          <p:nvPr/>
        </p:nvSpPr>
        <p:spPr>
          <a:xfrm>
            <a:off x="4709160" y="21305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具身智能的起源与概念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8FFA2B-F571-F0C4-7571-93D06923640D}"/>
              </a:ext>
            </a:extLst>
          </p:cNvPr>
          <p:cNvSpPr/>
          <p:nvPr/>
        </p:nvSpPr>
        <p:spPr>
          <a:xfrm>
            <a:off x="4709160" y="28437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典型的具身智能框架</a:t>
            </a:r>
            <a:endParaRPr lang="en-US" sz="32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6DA184B-E3A9-C43F-4901-EC78FF1B7F1A}"/>
              </a:ext>
            </a:extLst>
          </p:cNvPr>
          <p:cNvSpPr/>
          <p:nvPr/>
        </p:nvSpPr>
        <p:spPr>
          <a:xfrm>
            <a:off x="4709160" y="355701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主要研究内容</a:t>
            </a:r>
            <a:endParaRPr lang="en-US" sz="32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812016-18B3-A923-8584-C88C4DC39F6C}"/>
              </a:ext>
            </a:extLst>
          </p:cNvPr>
          <p:cNvSpPr/>
          <p:nvPr/>
        </p:nvSpPr>
        <p:spPr>
          <a:xfrm>
            <a:off x="4709160" y="42702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32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93F6CE-748E-8BD1-5322-DA3BF9A17E47}"/>
              </a:ext>
            </a:extLst>
          </p:cNvPr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524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 rot="1680000">
            <a:off x="-2194560" y="-914400"/>
            <a:ext cx="5669280" cy="384048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5989320"/>
            <a:ext cx="1371600" cy="868680"/>
          </a:xfrm>
          <a:prstGeom prst="rtTriangle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6060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21208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具身智能的起源与概念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6152" y="307423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3880" y="111255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1.1.1 </a:t>
            </a:r>
            <a:r>
              <a:rPr lang="en-US" sz="32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图灵</a:t>
            </a:r>
            <a:r>
              <a:rPr lang="zh-CN" alt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</a:t>
            </a:r>
            <a:r>
              <a:rPr lang="en-US" altLang="zh-CN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路径的思考</a:t>
            </a: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（1950）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88992" y="1783080"/>
            <a:ext cx="5623560" cy="4160520"/>
          </a:xfrm>
          <a:prstGeom prst="roundRect">
            <a:avLst>
              <a:gd name="adj" fmla="val 219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3312" y="1965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3312" y="25603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抽象计算与推理，类似下棋的纯符号智能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后来数十年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</a:t>
            </a:r>
            <a:r>
              <a:rPr lang="en-US" altLang="zh-CN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，如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逻辑推理、知识工程、智能搜索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到当下的大语言模型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49712" y="1783080"/>
            <a:ext cx="5623560" cy="4160520"/>
          </a:xfrm>
          <a:prstGeom prst="roundRect">
            <a:avLst>
              <a:gd name="adj" fmla="val 219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24032" y="1965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24032" y="2435284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给机器配备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传感器</a:t>
            </a: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，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像婴儿一样与物理世界互动学习</a:t>
            </a:r>
            <a:endParaRPr lang="en-US" sz="24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</a:endParaRPr>
          </a:p>
          <a:p>
            <a:pPr marL="0" indent="0">
              <a:buNone/>
            </a:pPr>
            <a:endParaRPr lang="en-US" sz="24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受传感器 / 执行器 / 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算力限制被搁置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，直到当下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的具身智能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取得实质性突破</a:t>
            </a:r>
            <a:endParaRPr lang="en-US" sz="24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0525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1.1.1 幼猫转盘实验（1963）</a:t>
            </a:r>
            <a:endParaRPr lang="en-US" sz="3200" dirty="0"/>
          </a:p>
        </p:txBody>
      </p:sp>
      <p:pic>
        <p:nvPicPr>
          <p:cNvPr id="5" name="Image 0" descr="/home/workdir/artifacts/figs/fig1-1_ki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943600" cy="4133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349" y="5779008"/>
            <a:ext cx="4132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“幼猫转盘”实验示意图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687274" y="1252728"/>
            <a:ext cx="5303520" cy="4709160"/>
          </a:xfrm>
          <a:prstGeom prst="roundRect">
            <a:avLst>
              <a:gd name="adj" fmla="val 1942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915874" y="1435608"/>
            <a:ext cx="52761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400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赫尔德和海因‌（</a:t>
            </a:r>
            <a:r>
              <a:rPr lang="en-US" altLang="zh-CN" sz="2400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Held &amp; Hein</a:t>
            </a:r>
            <a:r>
              <a:rPr lang="zh-CN" altLang="en-US" sz="2400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915874" y="2103120"/>
            <a:ext cx="4892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黑暗饲养三个月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的幼猫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后放入特制圆筒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一只走</a:t>
            </a:r>
            <a:r>
              <a:rPr lang="zh-CN" alt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主动行走</a:t>
            </a: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，一只坐篮中被动跟随</a:t>
            </a:r>
            <a:endParaRPr lang="en-US" sz="24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只有主动行走的幼猫发育出正常视觉导航</a:t>
            </a:r>
            <a:endParaRPr lang="en-US" sz="2400" b="1" dirty="0"/>
          </a:p>
        </p:txBody>
      </p:sp>
      <p:sp>
        <p:nvSpPr>
          <p:cNvPr id="10" name="Text 7"/>
          <p:cNvSpPr/>
          <p:nvPr/>
        </p:nvSpPr>
        <p:spPr>
          <a:xfrm>
            <a:off x="1762341" y="6099048"/>
            <a:ext cx="90715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结论：智能形成依赖于身体与环境的主动交互，而非被动接收信息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7035" y="884809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1.1.1 “缸中之脑”思想实验（1981）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84048" y="533958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</a:rPr>
              <a:t>“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缸中之脑</a:t>
            </a:r>
            <a:r>
              <a:rPr lang="en-US" sz="1600" b="1" dirty="0" err="1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</a:rPr>
              <a:t>”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思想实验示意图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537960" y="1508760"/>
            <a:ext cx="5257800" cy="365760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766560" y="16504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希拉里</a:t>
            </a:r>
            <a:r>
              <a:rPr lang="en-US" altLang="zh-CN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r>
              <a:rPr lang="zh-CN" altLang="en-US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普特南（</a:t>
            </a:r>
            <a:r>
              <a:rPr lang="en-US" altLang="zh-CN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Hilary Putnam</a:t>
            </a:r>
            <a:r>
              <a:rPr lang="zh-CN" altLang="en-US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20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algn="ctr"/>
            <a:r>
              <a:rPr lang="en-US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</a:t>
            </a:r>
            <a:r>
              <a:rPr lang="en-US" sz="20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理性、真理</a:t>
            </a:r>
            <a:r>
              <a:rPr lang="zh-CN" altLang="en-US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r>
              <a:rPr lang="en-US" sz="20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</a:t>
            </a:r>
            <a:r>
              <a:rPr lang="en-US" sz="2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》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766560" y="2512440"/>
            <a:ext cx="4846320" cy="210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大脑被放入营养液缸中，由计算机通过电极模拟感觉输入</a:t>
            </a:r>
            <a:endParaRPr lang="en-US" sz="24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大脑误以为自己仍在真实世界</a:t>
            </a:r>
            <a:endParaRPr lang="en-US" sz="24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18375" y="5745480"/>
            <a:ext cx="99415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“</a:t>
            </a: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离身感知可被伪造</a:t>
            </a: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”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、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AI</a:t>
            </a: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大模型再强，也不等于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真正</a:t>
            </a: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</a:rPr>
              <a:t>理解物理世界</a:t>
            </a:r>
            <a:endParaRPr lang="en-US" sz="24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400" dirty="0"/>
          </a:p>
        </p:txBody>
      </p:sp>
      <p:pic>
        <p:nvPicPr>
          <p:cNvPr id="12" name="图片 11" descr="A cartoon illustration of a brain in a vat connected to a computer, with a running stick figure in a minimalist style.">
            <a:extLst>
              <a:ext uri="{FF2B5EF4-FFF2-40B4-BE49-F238E27FC236}">
                <a16:creationId xmlns:a16="http://schemas.microsoft.com/office/drawing/2014/main" id="{0DB14A0E-5F8A-A981-21A2-12512B615E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80" y="1650492"/>
            <a:ext cx="5026660" cy="337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5320" y="102542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1.1.1 </a:t>
            </a:r>
            <a:r>
              <a:rPr lang="en-US" sz="32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无需表征的智能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26288" y="1757680"/>
            <a:ext cx="8363712" cy="1380342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655320" y="1808247"/>
            <a:ext cx="8156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罗德尼</a:t>
            </a:r>
            <a:r>
              <a:rPr lang="en-US" altLang="zh-CN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布鲁克斯（</a:t>
            </a: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Rodney Brooks）：</a:t>
            </a:r>
            <a:r>
              <a:rPr lang="en-US" altLang="zh-CN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的行为主义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0608" y="2291588"/>
            <a:ext cx="779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AI并非必须依赖复杂的内部世界模型，可以通过智能体与环境的直接交互逐层涌现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7492" y="3248765"/>
            <a:ext cx="8450072" cy="2612537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7"/>
          <p:cNvSpPr/>
          <p:nvPr/>
        </p:nvSpPr>
        <p:spPr>
          <a:xfrm>
            <a:off x="704088" y="3467608"/>
            <a:ext cx="773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时代背景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20世纪80年代末至90年代初，AI第二次低谷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4088" y="4114292"/>
            <a:ext cx="908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核心主张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altLang="zh-CN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AI分布在身体、环境与相互作用中</a:t>
            </a:r>
            <a:endParaRPr lang="en-US" altLang="zh-CN" sz="2400" dirty="0"/>
          </a:p>
        </p:txBody>
      </p:sp>
      <p:sp>
        <p:nvSpPr>
          <p:cNvPr id="13" name="Text 11"/>
          <p:cNvSpPr/>
          <p:nvPr/>
        </p:nvSpPr>
        <p:spPr>
          <a:xfrm>
            <a:off x="6556248" y="36504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088" y="4657861"/>
            <a:ext cx="7667752" cy="103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后续理论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普费弗和谢尔（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Pfeifer &amp; Scheier 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r>
              <a:rPr lang="en-US" altLang="zh-CN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系统阐述形态、环境与控制的耦合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，二人提出的理论后来被称为“身体化智能”（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Embodied intelligence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198A27B-5E10-2D9F-D4A6-23CA5BF7EFC6}"/>
              </a:ext>
            </a:extLst>
          </p:cNvPr>
          <p:cNvSpPr txBox="1"/>
          <p:nvPr/>
        </p:nvSpPr>
        <p:spPr>
          <a:xfrm>
            <a:off x="9147556" y="5176223"/>
            <a:ext cx="2536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Brooks 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开发的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Genghis</a:t>
            </a:r>
            <a:r>
              <a:rPr lang="en-US" altLang="zh-CN" sz="1600" b="1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</a:rPr>
              <a:t> </a:t>
            </a:r>
            <a:r>
              <a:rPr lang="en-US" altLang="zh-CN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爬虫机器人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9B997C3-D0D9-FB62-F80A-B7525222F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032" y="2089276"/>
            <a:ext cx="2954147" cy="29541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480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83149"/>
            <a:ext cx="6038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1.1.1 从数字智能到具身智能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4779264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宇树人形机器人在马年春晚表演群体武术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939280" y="1766824"/>
            <a:ext cx="4800600" cy="2881376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122160" y="194056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轮臂</a:t>
            </a:r>
            <a:r>
              <a:rPr lang="zh-CN" alt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和人形机器人</a:t>
            </a:r>
            <a:r>
              <a:rPr lang="en-US" altLang="zh-CN" sz="20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开始能量产</a:t>
            </a:r>
            <a:r>
              <a:rPr lang="zh-CN" alt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</a:t>
            </a:r>
            <a:endParaRPr lang="en-US" altLang="zh-CN" sz="2000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宇树G1：2025年量产交付</a:t>
            </a:r>
            <a:endParaRPr lang="en-US" sz="2000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智元：同年交付量突破5000台</a:t>
            </a:r>
            <a:endParaRPr lang="en-US" sz="2000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Figure 02集成Helix，进入BMW工厂测试</a:t>
            </a:r>
            <a:endParaRPr lang="en-US" sz="2000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波士顿动力Atlas电动版将量产</a:t>
            </a:r>
            <a:endParaRPr lang="en-US" sz="2000" b="1" dirty="0"/>
          </a:p>
        </p:txBody>
      </p:sp>
      <p:sp>
        <p:nvSpPr>
          <p:cNvPr id="9" name="Text 6"/>
          <p:cNvSpPr/>
          <p:nvPr/>
        </p:nvSpPr>
        <p:spPr>
          <a:xfrm>
            <a:off x="7178040" y="37947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5166360"/>
            <a:ext cx="11384280" cy="86868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40080" y="5166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和人形机器人时代未来已来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3E27F7-F1BF-3FFE-F92D-225A4E7F10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534" y="1766824"/>
            <a:ext cx="4969587" cy="2795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101760"/>
            <a:ext cx="11064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098456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1.1.2 具身智能的定义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13945" y="2215200"/>
            <a:ext cx="5623560" cy="3433439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2545" y="2398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2545" y="2855280"/>
            <a:ext cx="508601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具身智能（Embodied Artificial Intelligence, EAI）是指智能体通过机器人、无人系统等物理实体与环境交互，实现感知、认知、决策和行动一体化，从而具备自主推理、运动和操作能力的人工智能形态。</a:t>
            </a:r>
            <a:endParaRPr lang="en-US" sz="2400" b="1" dirty="0"/>
          </a:p>
        </p:txBody>
      </p:sp>
      <p:sp>
        <p:nvSpPr>
          <p:cNvPr id="10" name="Text 7"/>
          <p:cNvSpPr/>
          <p:nvPr/>
        </p:nvSpPr>
        <p:spPr>
          <a:xfrm>
            <a:off x="6071615" y="34564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具身智能的框架示意图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17920" y="3749040"/>
            <a:ext cx="557784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446520" y="3931920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具身智能的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三要素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物理实体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多模态感知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感知-认知-决策-行动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0E3AA97-41A5-6C1E-37F5-FF7BC525D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912" y="1160752"/>
            <a:ext cx="5591562" cy="214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">
            <a:extLst>
              <a:ext uri="{FF2B5EF4-FFF2-40B4-BE49-F238E27FC236}">
                <a16:creationId xmlns:a16="http://schemas.microsoft.com/office/drawing/2014/main" id="{2D22A44E-8BD1-3EF0-88D0-96A42A0A22DE}"/>
              </a:ext>
            </a:extLst>
          </p:cNvPr>
          <p:cNvSpPr/>
          <p:nvPr/>
        </p:nvSpPr>
        <p:spPr>
          <a:xfrm>
            <a:off x="4836161" y="3916882"/>
            <a:ext cx="6931242" cy="1963028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85461"/>
            <a:ext cx="51842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7559" y="971261"/>
            <a:ext cx="53484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三要素① 物理实体</a:t>
            </a:r>
            <a:endParaRPr lang="en-US" sz="3200" dirty="0"/>
          </a:p>
        </p:txBody>
      </p:sp>
      <p:pic>
        <p:nvPicPr>
          <p:cNvPr id="5" name="Image 0" descr="/home/workdir/artifacts/figs/fig1-5_qinglong_wh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1723156"/>
            <a:ext cx="4023360" cy="4078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970" y="58562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青龙</a:t>
            </a:r>
            <a:r>
              <a:rPr lang="en-US" sz="1200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Wheel</a:t>
            </a:r>
            <a:r>
              <a:rPr lang="en-US" sz="1200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轮臂机器人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836161" y="1067416"/>
            <a:ext cx="6972300" cy="2718204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64761" y="1254851"/>
            <a:ext cx="6766560" cy="42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具身智能必须具有存在于物理世界的实体</a:t>
            </a:r>
            <a:endParaRPr lang="en-US" sz="28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41901" y="1968766"/>
            <a:ext cx="6766560" cy="17111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轮式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平面物流、巡检，移动效率高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人形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非结构化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地形，适应人类的生活和工作环境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双臂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灵巧手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在特定的场景中具有综合优势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D34A76-F10A-A774-9DD3-5BB0EFBD5B43}"/>
              </a:ext>
            </a:extLst>
          </p:cNvPr>
          <p:cNvSpPr txBox="1"/>
          <p:nvPr/>
        </p:nvSpPr>
        <p:spPr>
          <a:xfrm>
            <a:off x="5064761" y="4062332"/>
            <a:ext cx="609600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altLang="zh-CN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青龙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Wheel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（威龙）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由国地中心开发</a:t>
            </a:r>
            <a:endParaRPr lang="en-US" altLang="zh-CN" sz="24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包括：</a:t>
            </a:r>
            <a:r>
              <a:rPr lang="en-US" altLang="zh-CN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移动底盘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、可升降躯干、双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7自由度机械臂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等，配备了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RGB-D / </a:t>
            </a:r>
            <a:r>
              <a:rPr lang="en-US" altLang="zh-CN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激光雷达</a:t>
            </a:r>
            <a:endParaRPr lang="en-US" altLang="zh-CN" sz="24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92811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三要素② 多模态感知环境的能力</a:t>
            </a:r>
            <a:endParaRPr lang="en-US" sz="3200" dirty="0"/>
          </a:p>
        </p:txBody>
      </p:sp>
      <p:pic>
        <p:nvPicPr>
          <p:cNvPr id="5" name="Image 0" descr="/home/workdir/artifacts/figs/fig1-6_dact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77517"/>
            <a:ext cx="6497271" cy="29475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6240" y="56052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Dactyl</a:t>
            </a:r>
            <a:r>
              <a:rPr lang="en-US" sz="1200" dirty="0">
                <a:solidFill>
                  <a:srgbClr val="5B5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解魔方项目给机械手设置的干扰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95351" y="1143000"/>
            <a:ext cx="4600409" cy="4754880"/>
          </a:xfrm>
          <a:prstGeom prst="roundRect">
            <a:avLst>
              <a:gd name="adj" fmla="val 2381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492753" y="1325880"/>
            <a:ext cx="4120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Dactyl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92753" y="1900864"/>
            <a:ext cx="4120127" cy="953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ChatGPT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并行开展的项目</a:t>
            </a:r>
            <a:endParaRPr lang="en-US" altLang="zh-CN" sz="24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具备感知环境和抗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扰动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492753" y="3063240"/>
            <a:ext cx="4120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具身感知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典型问题</a:t>
            </a: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92753" y="3520440"/>
            <a:ext cx="4120127" cy="1539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在哪里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什么状态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能否交互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如何交互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75058" y="908097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三要素③ 感知-认知-决策-行动闭环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58800" y="539292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银河通用G1自主识别并抓取药品</a:t>
            </a:r>
          </a:p>
        </p:txBody>
      </p:sp>
      <p:sp>
        <p:nvSpPr>
          <p:cNvPr id="7" name="Shape 4"/>
          <p:cNvSpPr/>
          <p:nvPr/>
        </p:nvSpPr>
        <p:spPr>
          <a:xfrm>
            <a:off x="6918220" y="1651380"/>
            <a:ext cx="4526280" cy="3531004"/>
          </a:xfrm>
          <a:prstGeom prst="roundRect">
            <a:avLst>
              <a:gd name="adj" fmla="val 2020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146820" y="188299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闭环意味着什么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46820" y="243163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感知和决策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还不够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还需要通过行动反馈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来并应对变化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46820" y="394039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 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 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试错 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400" dirty="0"/>
          </a:p>
        </p:txBody>
      </p:sp>
      <p:pic>
        <p:nvPicPr>
          <p:cNvPr id="11" name="图片 10" descr="图片">
            <a:extLst>
              <a:ext uri="{FF2B5EF4-FFF2-40B4-BE49-F238E27FC236}">
                <a16:creationId xmlns:a16="http://schemas.microsoft.com/office/drawing/2014/main" id="{2854E01A-BA75-AB74-5BA5-F396B6DD29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201" y="1651380"/>
            <a:ext cx="5301531" cy="3531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具身智能的起源与概念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三要素缺一不可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813264"/>
            <a:ext cx="3703320" cy="3032612"/>
          </a:xfrm>
          <a:prstGeom prst="roundRect">
            <a:avLst>
              <a:gd name="adj" fmla="val 2469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4048" y="1813264"/>
            <a:ext cx="3703320" cy="91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12648" y="213330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缺物理实体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2648" y="2910544"/>
            <a:ext cx="3246120" cy="1452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智能无法作用于现实世界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70248" y="1813264"/>
            <a:ext cx="3703320" cy="3032612"/>
          </a:xfrm>
          <a:prstGeom prst="roundRect">
            <a:avLst>
              <a:gd name="adj" fmla="val 2469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270248" y="1813264"/>
            <a:ext cx="3703320" cy="91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498848" y="213330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缺环境交互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98848" y="2910544"/>
            <a:ext cx="3246120" cy="1293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无法获得真实反馈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，需要第一人称的反馈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56448" y="1813264"/>
            <a:ext cx="3703320" cy="3032612"/>
          </a:xfrm>
          <a:prstGeom prst="roundRect">
            <a:avLst>
              <a:gd name="adj" fmla="val 2469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156448" y="1813264"/>
            <a:ext cx="3703320" cy="91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385048" y="213330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缺闭环机制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85048" y="2910544"/>
            <a:ext cx="3246120" cy="1079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难以持续学习与进化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11480" y="5166360"/>
            <a:ext cx="11384280" cy="86868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Text 16"/>
          <p:cNvSpPr/>
          <p:nvPr/>
        </p:nvSpPr>
        <p:spPr>
          <a:xfrm>
            <a:off x="640080" y="5166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大模型算具身智能吗</a:t>
            </a: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？——</a:t>
            </a: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缺物理实体与真实闭环</a:t>
            </a: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可以成为具身智能的“大脑”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D356-6B43-BC65-B67D-41E2C516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BE56A4-FF8D-C194-C33C-678F81D4B10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2D42D0-26B9-6AC5-AACD-A826F06A7AC3}"/>
              </a:ext>
            </a:extLst>
          </p:cNvPr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63D308-4837-6728-8D93-67E45A023A6F}"/>
              </a:ext>
            </a:extLst>
          </p:cNvPr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3CFF10-AB38-CCA7-5466-6ECEFC6B7043}"/>
              </a:ext>
            </a:extLst>
          </p:cNvPr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81FCD73-AAD1-9408-0E58-116FA6C621E1}"/>
              </a:ext>
            </a:extLst>
          </p:cNvPr>
          <p:cNvSpPr/>
          <p:nvPr/>
        </p:nvSpPr>
        <p:spPr>
          <a:xfrm rot="960000">
            <a:off x="-2377440" y="-457200"/>
            <a:ext cx="5120640" cy="804672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DB9874-0A7B-7C93-7F97-CF332FA1DF4C}"/>
              </a:ext>
            </a:extLst>
          </p:cNvPr>
          <p:cNvSpPr/>
          <p:nvPr/>
        </p:nvSpPr>
        <p:spPr>
          <a:xfrm>
            <a:off x="502920" y="2148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</a:t>
            </a:r>
            <a:endParaRPr lang="en-US" sz="5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E296E6-A7C6-B038-903A-8376E5E3CBDF}"/>
              </a:ext>
            </a:extLst>
          </p:cNvPr>
          <p:cNvSpPr/>
          <p:nvPr/>
        </p:nvSpPr>
        <p:spPr>
          <a:xfrm>
            <a:off x="4709160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00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教材和课程特点</a:t>
            </a:r>
            <a:endParaRPr lang="en-US" sz="32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D85996-551D-2757-3117-A75BF49A9FB8}"/>
              </a:ext>
            </a:extLst>
          </p:cNvPr>
          <p:cNvSpPr/>
          <p:nvPr/>
        </p:nvSpPr>
        <p:spPr>
          <a:xfrm>
            <a:off x="4709160" y="21305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01   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具身智能的起源与概念</a:t>
            </a:r>
            <a:endParaRPr lang="en-US" sz="32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6D36279-463C-674A-6D13-42D6A0AF79A1}"/>
              </a:ext>
            </a:extLst>
          </p:cNvPr>
          <p:cNvSpPr/>
          <p:nvPr/>
        </p:nvSpPr>
        <p:spPr>
          <a:xfrm>
            <a:off x="4709160" y="28437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02   </a:t>
            </a:r>
            <a:r>
              <a:rPr lang="en-US" sz="3200" b="1" dirty="0" err="1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典型的具身智能框架</a:t>
            </a:r>
            <a:endParaRPr lang="en-US" sz="3200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21CE3C-1820-7AA3-CED4-75C94FA98194}"/>
              </a:ext>
            </a:extLst>
          </p:cNvPr>
          <p:cNvSpPr/>
          <p:nvPr/>
        </p:nvSpPr>
        <p:spPr>
          <a:xfrm>
            <a:off x="4709160" y="355701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主要研究内容</a:t>
            </a:r>
            <a:endParaRPr lang="en-US" sz="32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65DE8CF-735F-7055-B237-2F85D4D5FC68}"/>
              </a:ext>
            </a:extLst>
          </p:cNvPr>
          <p:cNvSpPr/>
          <p:nvPr/>
        </p:nvSpPr>
        <p:spPr>
          <a:xfrm>
            <a:off x="4709160" y="42702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32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99615D6-90FB-61A1-20A0-B95D75AB8C55}"/>
              </a:ext>
            </a:extLst>
          </p:cNvPr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96888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 rot="1680000">
            <a:off x="-2194560" y="-914400"/>
            <a:ext cx="5669280" cy="384048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5989320"/>
            <a:ext cx="1371600" cy="868680"/>
          </a:xfrm>
          <a:prstGeom prst="rtTriangle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6060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21208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典型的具身智能框架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典型的具身智能框架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87946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虚实迁移 Sim-to-Real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07264" y="5164347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宇树H1人形机器人在仿真环境中训练</a:t>
            </a:r>
          </a:p>
        </p:txBody>
      </p:sp>
      <p:sp>
        <p:nvSpPr>
          <p:cNvPr id="7" name="Shape 4"/>
          <p:cNvSpPr/>
          <p:nvPr/>
        </p:nvSpPr>
        <p:spPr>
          <a:xfrm>
            <a:off x="6397071" y="2497228"/>
            <a:ext cx="4937760" cy="2464265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622623" y="28264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可以分为如下三步：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95191" y="3283612"/>
            <a:ext cx="4572000" cy="1718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人类示范 /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模仿学习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高保真仿真中强化学习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r>
              <a:rPr lang="en-US" sz="2400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虚实迁移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，部署到真机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93192" y="5641848"/>
            <a:ext cx="11384280" cy="670441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1792" y="554126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Sim-to-Real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的</a:t>
            </a:r>
            <a:r>
              <a:rPr lang="en-US" sz="20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Gap：重定向简化、传感器噪声、接触参数、动力学不一致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424691F-CA89-9EB9-21F3-F884BE89738B}"/>
              </a:ext>
            </a:extLst>
          </p:cNvPr>
          <p:cNvSpPr/>
          <p:nvPr/>
        </p:nvSpPr>
        <p:spPr>
          <a:xfrm>
            <a:off x="2585236" y="1783996"/>
            <a:ext cx="80747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Sim-to-Real: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先在仿真器中学习训练再迁移到真机</a:t>
            </a:r>
            <a:endParaRPr lang="en-US" sz="2400" dirty="0"/>
          </a:p>
        </p:txBody>
      </p:sp>
      <p:pic>
        <p:nvPicPr>
          <p:cNvPr id="13" name="图片 12" descr="Isaac Lab">
            <a:extLst>
              <a:ext uri="{FF2B5EF4-FFF2-40B4-BE49-F238E27FC236}">
                <a16:creationId xmlns:a16="http://schemas.microsoft.com/office/drawing/2014/main" id="{B6A09AA5-EBF9-8E56-0FF0-896072E51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69" y="2405986"/>
            <a:ext cx="5238831" cy="261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典型的具身智能框架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8321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</a:t>
            </a:r>
            <a:r>
              <a:rPr lang="en-US" sz="32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视觉-语言-动作模型</a:t>
            </a: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(VLA)</a:t>
            </a:r>
            <a:endParaRPr lang="en-US" sz="3200" dirty="0"/>
          </a:p>
        </p:txBody>
      </p:sp>
      <p:pic>
        <p:nvPicPr>
          <p:cNvPr id="5" name="Image 0" descr="/home/workdir/artifacts/figs/fig1-9_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591056"/>
            <a:ext cx="6445988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2407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RT-2框架（局部）</a:t>
            </a:r>
          </a:p>
        </p:txBody>
      </p:sp>
      <p:sp>
        <p:nvSpPr>
          <p:cNvPr id="7" name="Shape 4"/>
          <p:cNvSpPr/>
          <p:nvPr/>
        </p:nvSpPr>
        <p:spPr>
          <a:xfrm>
            <a:off x="7315200" y="1485900"/>
            <a:ext cx="4480560" cy="4709160"/>
          </a:xfrm>
          <a:prstGeom prst="roundRect">
            <a:avLst>
              <a:gd name="adj" fmla="val 2041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5"/>
          <p:cNvSpPr/>
          <p:nvPr/>
        </p:nvSpPr>
        <p:spPr>
          <a:xfrm>
            <a:off x="7543800" y="16687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VLA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是一种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端到端大模型框架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543800" y="304038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海量图文视频预训练 →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机器人示教微调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动作Token，与视语言统一建模</a:t>
            </a:r>
            <a:endParaRPr lang="en-US" sz="24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能执行训练集里未写死的新指令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开放任务 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/ 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自然交互 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/ 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跨场景是它被追捧的原因。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局限：实时性、数据、安全</a:t>
            </a:r>
            <a:endParaRPr lang="zh-CN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543800" y="436626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典型的具身智能框架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8951" y="862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世界模型 World Model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715512" y="4322064"/>
            <a:ext cx="4876800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Dreamer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世界模型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4737608"/>
            <a:ext cx="370332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5"/>
          <p:cNvSpPr/>
          <p:nvPr/>
        </p:nvSpPr>
        <p:spPr>
          <a:xfrm>
            <a:off x="621792" y="4856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基本思路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21792" y="5322824"/>
            <a:ext cx="3383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学习环境状态的演化规律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形成潜在状态，再在潜空间预演动作后果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343400" y="4737608"/>
            <a:ext cx="30886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8"/>
          <p:cNvSpPr/>
          <p:nvPr/>
        </p:nvSpPr>
        <p:spPr>
          <a:xfrm>
            <a:off x="4507992" y="4856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Dreamer结构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07992" y="5240528"/>
            <a:ext cx="292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VAE + RSSM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在想象里做Actor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-Critic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596632" y="4737608"/>
            <a:ext cx="4336288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1"/>
          <p:cNvSpPr/>
          <p:nvPr/>
        </p:nvSpPr>
        <p:spPr>
          <a:xfrm>
            <a:off x="7761224" y="483285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价值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706360" y="5240528"/>
            <a:ext cx="4071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提高样本效率和训练安全性，为长时序决策、反事实推演和因果推理提供了基础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400" dirty="0"/>
          </a:p>
        </p:txBody>
      </p:sp>
      <p:pic>
        <p:nvPicPr>
          <p:cNvPr id="17" name="图片 16" descr="Fig. 1">
            <a:extLst>
              <a:ext uri="{FF2B5EF4-FFF2-40B4-BE49-F238E27FC236}">
                <a16:creationId xmlns:a16="http://schemas.microsoft.com/office/drawing/2014/main" id="{3DB10CCC-58EA-2083-61B5-B549D38CF8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1542126"/>
            <a:ext cx="7620000" cy="2727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45719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5196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典型的具身智能框架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838200"/>
            <a:ext cx="519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2.4 快/</a:t>
            </a:r>
            <a:r>
              <a:rPr lang="en-US" sz="32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慢系统框架</a:t>
            </a:r>
            <a:endParaRPr lang="en-US" sz="3200" dirty="0"/>
          </a:p>
        </p:txBody>
      </p:sp>
      <p:pic>
        <p:nvPicPr>
          <p:cNvPr id="5" name="Image 0" descr="/home/workdir/artifacts/figs/fig1-11_hel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592" y="1347984"/>
            <a:ext cx="7988808" cy="3047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5472" y="3533648"/>
            <a:ext cx="1440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Helix模型的快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/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慢系统框架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74320" y="4754880"/>
            <a:ext cx="11612880" cy="158496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511048" y="4939792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 2（慢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，7–9Hz）负责“做什么/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 1（快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，200Hz）负责“如何稳定及时做出来”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以杯子抓取为例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：S2识别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任务与策略制定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，S1负责关节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与动态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调整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典型的具身智能框架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7220" y="908295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2.5 “大脑-小脑-肢体”框架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03401" y="4158072"/>
            <a:ext cx="6727142" cy="285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“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大脑-小脑-肢体”框架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示例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（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 </a:t>
            </a:r>
            <a:r>
              <a:rPr lang="en-US" altLang="zh-CN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国家地方共建人形机器人创新中心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）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0248" y="4562856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5"/>
          <p:cNvSpPr/>
          <p:nvPr/>
        </p:nvSpPr>
        <p:spPr>
          <a:xfrm>
            <a:off x="591042" y="4670269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大脑 · 秒级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91042" y="5184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多模态大模型：语言、空间、意图、分层规划、错误反思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297680" y="4562856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8"/>
          <p:cNvSpPr/>
          <p:nvPr/>
        </p:nvSpPr>
        <p:spPr>
          <a:xfrm>
            <a:off x="4462272" y="4700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小脑 · 10–100ms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462272" y="511149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技能与全身协调：模仿学习、双臂协作、稳定行走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183880" y="4562856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1"/>
          <p:cNvSpPr/>
          <p:nvPr/>
        </p:nvSpPr>
        <p:spPr>
          <a:xfrm>
            <a:off x="8348472" y="4700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肢体 · 毫秒级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348472" y="5242579"/>
            <a:ext cx="3383280" cy="697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物理交互：感知输入 + 动作输出 + 分模块安全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4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5C66714-7998-A242-C975-C4BED9A089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3"/>
          <a:stretch>
            <a:fillRect/>
          </a:stretch>
        </p:blipFill>
        <p:spPr bwMode="auto">
          <a:xfrm>
            <a:off x="429768" y="1538206"/>
            <a:ext cx="8128636" cy="2657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2C61DEAE-5266-5BD7-121C-25069891D6A9}"/>
              </a:ext>
            </a:extLst>
          </p:cNvPr>
          <p:cNvSpPr/>
          <p:nvPr/>
        </p:nvSpPr>
        <p:spPr>
          <a:xfrm>
            <a:off x="9194961" y="4285534"/>
            <a:ext cx="2512568" cy="15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微软雅黑" pitchFamily="34" charset="0"/>
                <a:ea typeface="微软雅黑" pitchFamily="34" charset="-122"/>
              </a:rPr>
              <a:t>青龙机器人动态调整动作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微软雅黑" pitchFamily="34" charset="0"/>
              <a:ea typeface="微软雅黑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EADFCD5-794C-C2F8-4BDB-35161EDA8C6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1" b="28128"/>
          <a:stretch>
            <a:fillRect/>
          </a:stretch>
        </p:blipFill>
        <p:spPr bwMode="auto">
          <a:xfrm>
            <a:off x="8961281" y="821437"/>
            <a:ext cx="2473960" cy="33366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典型的具身智能框架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62151" y="1006070"/>
            <a:ext cx="3091945" cy="694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五种框架对照</a:t>
            </a:r>
            <a:r>
              <a:rPr lang="zh-CN" alt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19017"/>
              </p:ext>
            </p:extLst>
          </p:nvPr>
        </p:nvGraphicFramePr>
        <p:xfrm>
          <a:off x="411480" y="1880886"/>
          <a:ext cx="10642600" cy="4154154"/>
        </p:xfrm>
        <a:graphic>
          <a:graphicData uri="http://schemas.openxmlformats.org/drawingml/2006/table">
            <a:tbl>
              <a:tblPr/>
              <a:tblGrid>
                <a:gridCol w="3976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6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2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框架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主要特点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虚实迁移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节省</a:t>
                      </a:r>
                      <a:r>
                        <a:rPr lang="en-US" sz="2400" b="1" dirty="0" err="1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真机试错</a:t>
                      </a:r>
                      <a:r>
                        <a:rPr lang="zh-CN" alt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时间和成本、提高训练效率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VLA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视觉识别</a:t>
                      </a:r>
                      <a:r>
                        <a:rPr lang="en-US" altLang="zh-CN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+</a:t>
                      </a:r>
                      <a:r>
                        <a:rPr lang="zh-CN" alt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大语言模型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世界模型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如何预演再行动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 / 慢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高层规划 vs 实时控制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大脑-小脑-肢体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仿生路线，普通大众好理解</a:t>
                      </a:r>
                      <a:endParaRPr lang="en-US" sz="2400" b="1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27B3D-AEA1-5B4E-F8D3-F903C2E7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C6A3B3-BEF5-29B8-1381-70147312EF9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B4F6DB-D83F-B6D4-F17C-67FB3D1EB94E}"/>
              </a:ext>
            </a:extLst>
          </p:cNvPr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3C52AE-5B80-26E6-CF54-A305FA629738}"/>
              </a:ext>
            </a:extLst>
          </p:cNvPr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BE5248-3871-4493-5588-870B6C4B1CBF}"/>
              </a:ext>
            </a:extLst>
          </p:cNvPr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00D43F9-2C5E-61DD-3284-E2667EEC9176}"/>
              </a:ext>
            </a:extLst>
          </p:cNvPr>
          <p:cNvSpPr/>
          <p:nvPr/>
        </p:nvSpPr>
        <p:spPr>
          <a:xfrm rot="960000">
            <a:off x="-2377440" y="-457200"/>
            <a:ext cx="5120640" cy="804672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DB76A8-E2EE-CF83-F4EB-D9251581BD68}"/>
              </a:ext>
            </a:extLst>
          </p:cNvPr>
          <p:cNvSpPr/>
          <p:nvPr/>
        </p:nvSpPr>
        <p:spPr>
          <a:xfrm>
            <a:off x="502920" y="2148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</a:t>
            </a:r>
            <a:endParaRPr lang="en-US" sz="5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EE387D9-2687-FC85-19F8-76B5E90FAFD0}"/>
              </a:ext>
            </a:extLst>
          </p:cNvPr>
          <p:cNvSpPr/>
          <p:nvPr/>
        </p:nvSpPr>
        <p:spPr>
          <a:xfrm>
            <a:off x="4709160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00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教材和课程特点</a:t>
            </a:r>
            <a:endParaRPr lang="en-US" sz="32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F2A903-8BCF-7CEB-B945-A5C43A359199}"/>
              </a:ext>
            </a:extLst>
          </p:cNvPr>
          <p:cNvSpPr/>
          <p:nvPr/>
        </p:nvSpPr>
        <p:spPr>
          <a:xfrm>
            <a:off x="4709160" y="21305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01   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具身智能的起源与概念</a:t>
            </a:r>
            <a:endParaRPr lang="en-US" sz="32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878828-768B-7D4B-822E-4BC3F663BF2F}"/>
              </a:ext>
            </a:extLst>
          </p:cNvPr>
          <p:cNvSpPr/>
          <p:nvPr/>
        </p:nvSpPr>
        <p:spPr>
          <a:xfrm>
            <a:off x="4709160" y="28437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02   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典型的具身智能框架</a:t>
            </a:r>
            <a:endParaRPr lang="en-US" sz="32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3E2ECA-0D2C-0883-255A-4C19DF8A2A2D}"/>
              </a:ext>
            </a:extLst>
          </p:cNvPr>
          <p:cNvSpPr/>
          <p:nvPr/>
        </p:nvSpPr>
        <p:spPr>
          <a:xfrm>
            <a:off x="4709160" y="355701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03   </a:t>
            </a:r>
            <a:r>
              <a:rPr lang="en-US" sz="3200" b="1" dirty="0" err="1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主要研究内容</a:t>
            </a:r>
            <a:endParaRPr lang="en-US" sz="3200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5F9426-2470-2995-E17A-2AB4C7CED43D}"/>
              </a:ext>
            </a:extLst>
          </p:cNvPr>
          <p:cNvSpPr/>
          <p:nvPr/>
        </p:nvSpPr>
        <p:spPr>
          <a:xfrm>
            <a:off x="4709160" y="42702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32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822B3B0-E59D-1D44-C077-BE5FFEAE7B58}"/>
              </a:ext>
            </a:extLst>
          </p:cNvPr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93513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 rot="1680000">
            <a:off x="-2194560" y="-914400"/>
            <a:ext cx="5669280" cy="384048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5989320"/>
            <a:ext cx="1371600" cy="868680"/>
          </a:xfrm>
          <a:prstGeom prst="rtTriangle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6060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21208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具身智能的主要研究内容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具身智能的主要研究内容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74709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本书总结了</a:t>
            </a:r>
            <a:r>
              <a:rPr lang="en-US" sz="24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八个相互联系的方向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8064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6" name="Text 4"/>
          <p:cNvSpPr/>
          <p:nvPr/>
        </p:nvSpPr>
        <p:spPr>
          <a:xfrm>
            <a:off x="475488" y="168064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 具身感知与环境理解</a:t>
            </a:r>
            <a:endParaRPr lang="en-US" sz="2400" b="1" dirty="0"/>
          </a:p>
        </p:txBody>
      </p:sp>
      <p:sp>
        <p:nvSpPr>
          <p:cNvPr id="7" name="Shape 5"/>
          <p:cNvSpPr/>
          <p:nvPr/>
        </p:nvSpPr>
        <p:spPr>
          <a:xfrm>
            <a:off x="3291840" y="168064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8" name="Text 6"/>
          <p:cNvSpPr/>
          <p:nvPr/>
        </p:nvSpPr>
        <p:spPr>
          <a:xfrm>
            <a:off x="3401568" y="168064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 表征、环境建模与认知</a:t>
            </a:r>
            <a:endParaRPr lang="en-US" sz="2400" b="1" dirty="0"/>
          </a:p>
        </p:txBody>
      </p:sp>
      <p:sp>
        <p:nvSpPr>
          <p:cNvPr id="9" name="Shape 7"/>
          <p:cNvSpPr/>
          <p:nvPr/>
        </p:nvSpPr>
        <p:spPr>
          <a:xfrm>
            <a:off x="6217920" y="168064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0" name="Text 8"/>
          <p:cNvSpPr/>
          <p:nvPr/>
        </p:nvSpPr>
        <p:spPr>
          <a:xfrm>
            <a:off x="6327648" y="168064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 任务规划与行为决策</a:t>
            </a:r>
            <a:endParaRPr lang="en-US" sz="2400" b="1" dirty="0"/>
          </a:p>
        </p:txBody>
      </p:sp>
      <p:sp>
        <p:nvSpPr>
          <p:cNvPr id="11" name="Shape 9"/>
          <p:cNvSpPr/>
          <p:nvPr/>
        </p:nvSpPr>
        <p:spPr>
          <a:xfrm>
            <a:off x="9144000" y="168064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2" name="Text 10"/>
          <p:cNvSpPr/>
          <p:nvPr/>
        </p:nvSpPr>
        <p:spPr>
          <a:xfrm>
            <a:off x="9253728" y="168064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 运动控制与操作技能</a:t>
            </a:r>
            <a:endParaRPr lang="en-US" sz="2400" b="1" dirty="0"/>
          </a:p>
        </p:txBody>
      </p:sp>
      <p:sp>
        <p:nvSpPr>
          <p:cNvPr id="13" name="Shape 11"/>
          <p:cNvSpPr/>
          <p:nvPr/>
        </p:nvSpPr>
        <p:spPr>
          <a:xfrm>
            <a:off x="365760" y="364660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4" name="Text 12"/>
          <p:cNvSpPr/>
          <p:nvPr/>
        </p:nvSpPr>
        <p:spPr>
          <a:xfrm>
            <a:off x="475488" y="364660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 具身学习与能力泛化</a:t>
            </a:r>
            <a:endParaRPr lang="en-US" sz="2400" b="1" dirty="0"/>
          </a:p>
        </p:txBody>
      </p:sp>
      <p:sp>
        <p:nvSpPr>
          <p:cNvPr id="15" name="Shape 13"/>
          <p:cNvSpPr/>
          <p:nvPr/>
        </p:nvSpPr>
        <p:spPr>
          <a:xfrm>
            <a:off x="3291840" y="364660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6" name="Text 14"/>
          <p:cNvSpPr/>
          <p:nvPr/>
        </p:nvSpPr>
        <p:spPr>
          <a:xfrm>
            <a:off x="3401568" y="364660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 语言交互与高层任务解析</a:t>
            </a:r>
            <a:endParaRPr lang="en-US" sz="2400" b="1" dirty="0"/>
          </a:p>
        </p:txBody>
      </p:sp>
      <p:sp>
        <p:nvSpPr>
          <p:cNvPr id="17" name="Shape 15"/>
          <p:cNvSpPr/>
          <p:nvPr/>
        </p:nvSpPr>
        <p:spPr>
          <a:xfrm>
            <a:off x="6217920" y="364660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18" name="Text 16"/>
          <p:cNvSpPr/>
          <p:nvPr/>
        </p:nvSpPr>
        <p:spPr>
          <a:xfrm>
            <a:off x="6327648" y="364660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 系统集成、仿真与应用安全</a:t>
            </a:r>
            <a:endParaRPr lang="en-US" sz="2400" b="1" dirty="0"/>
          </a:p>
        </p:txBody>
      </p:sp>
      <p:sp>
        <p:nvSpPr>
          <p:cNvPr id="19" name="Shape 17"/>
          <p:cNvSpPr/>
          <p:nvPr/>
        </p:nvSpPr>
        <p:spPr>
          <a:xfrm>
            <a:off x="9144000" y="3646604"/>
            <a:ext cx="2788920" cy="1394171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 b="1"/>
          </a:p>
        </p:txBody>
      </p:sp>
      <p:sp>
        <p:nvSpPr>
          <p:cNvPr id="20" name="Text 18"/>
          <p:cNvSpPr/>
          <p:nvPr/>
        </p:nvSpPr>
        <p:spPr>
          <a:xfrm>
            <a:off x="9253728" y="3646604"/>
            <a:ext cx="2560320" cy="139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 场景落地与产业应用</a:t>
            </a:r>
            <a:endParaRPr lang="en-US" sz="2400" b="1" dirty="0"/>
          </a:p>
        </p:txBody>
      </p:sp>
      <p:sp>
        <p:nvSpPr>
          <p:cNvPr id="21" name="Shape 19"/>
          <p:cNvSpPr/>
          <p:nvPr/>
        </p:nvSpPr>
        <p:spPr>
          <a:xfrm>
            <a:off x="411480" y="5257800"/>
            <a:ext cx="1138428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具身既是智能问题，也是机器人问题。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同学别只盯模型</a:t>
            </a:r>
            <a:r>
              <a:rPr 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机械专业</a:t>
            </a:r>
            <a:r>
              <a:rPr lang="en-US" sz="24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别只盯本体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，机器人专业别只注意机器人和控制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3 具身智能的主要研究内容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2272" y="91903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从感知到内部世界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728679"/>
            <a:ext cx="5623560" cy="475488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553270" y="194512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（1）具身感知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与环境理解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442258"/>
            <a:ext cx="5212080" cy="3135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关注机器人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在哪里、处于何种状态、是否可以交互、如何交互。抓取时还要感知位姿、几何、材质、接触与抓取区域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代表性关键词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：多模态融合、三维场景感知、动态跟踪、接触状态、身体姿态估计。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63640" y="1728679"/>
            <a:ext cx="5623560" cy="475488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7"/>
          <p:cNvSpPr/>
          <p:nvPr/>
        </p:nvSpPr>
        <p:spPr>
          <a:xfrm>
            <a:off x="6492240" y="1911559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（2）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表征、环境建模与认知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04432" y="2538328"/>
            <a:ext cx="5212080" cy="3135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把碎片感知结构化为可理解、可推理、可预测的内部表征。不仅是“是什么”，还有“在哪里”“如何联系”“会怎样变化”。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世界模型是这一方向的当代前端：让系统在内部学习环境演化，减少真实世界里的盲目试错。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具身智能的主要研究内容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04088" y="977019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从决策到身体动作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5488" y="1972326"/>
            <a:ext cx="5623560" cy="368943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704088" y="2155206"/>
            <a:ext cx="5212080" cy="26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（3）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规划与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4088" y="2970642"/>
            <a:ext cx="5212080" cy="245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任务是链条不是单动作：移动、搜索、抓取、搬运、放置彼此关联。决策必须在闭环中生成—判断—修正—再执行。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altLang="zh-CN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目标是从任务目标映射到具体行为序列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包括：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经典规划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/ 学习策略 /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分层混合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36208" y="1972326"/>
            <a:ext cx="5623560" cy="368943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7"/>
          <p:cNvSpPr/>
          <p:nvPr/>
        </p:nvSpPr>
        <p:spPr>
          <a:xfrm>
            <a:off x="6464808" y="2155206"/>
            <a:ext cx="5212080" cy="26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（4）运动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与操作技能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64808" y="2801652"/>
            <a:ext cx="5212080" cy="2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如何让人形机器人能够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稳定、跟踪、避障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和适应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复杂地形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机械臂和灵巧手的位</a:t>
            </a: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力控控制，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抓取、装配、工具使用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等实际任务能力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环境、目标一起变化时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具备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柔顺鲁棒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具身智能的主要研究内容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045425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学习泛化与</a:t>
            </a:r>
            <a:r>
              <a:rPr lang="zh-CN" alt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动作词元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5488" y="1880076"/>
            <a:ext cx="5623560" cy="4221866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04088" y="206295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（5）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学习与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泛化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4088" y="2657316"/>
            <a:ext cx="5212080" cy="2848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从专用策略走向通用能力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。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包括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监督、模仿、强化、自监督、迁移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学习等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。</a:t>
            </a:r>
          </a:p>
          <a:p>
            <a:pPr marL="0" indent="0">
              <a:buNone/>
            </a:pPr>
            <a:endParaRPr lang="en-US" altLang="zh-CN" sz="24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挑战包括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：Sim-to-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Real差距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样本效率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跨场景泛化实体部署成本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 ·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物理安全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。</a:t>
            </a:r>
          </a:p>
        </p:txBody>
      </p:sp>
      <p:sp>
        <p:nvSpPr>
          <p:cNvPr id="8" name="Shape 6"/>
          <p:cNvSpPr/>
          <p:nvPr/>
        </p:nvSpPr>
        <p:spPr>
          <a:xfrm>
            <a:off x="6236208" y="1880076"/>
            <a:ext cx="5623560" cy="414663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64808" y="206295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（6）语言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</a:t>
            </a: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高层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任务解析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64808" y="2894250"/>
            <a:ext cx="5212080" cy="2754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智能体如何理解自然语言指令、 结合场景信息实现语言指令的物理实现， 把握人的意图， 并将抽象的语言要求转化为可执行的行为过程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。</a:t>
            </a:r>
          </a:p>
          <a:p>
            <a:pPr marL="0" indent="0">
              <a:buNone/>
            </a:pPr>
            <a:endParaRPr lang="en-US" sz="24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多模态大模型与VLA给了新动力，但可靠具身能力仍须与实时感知、控制、反馈深度耦合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。</a:t>
            </a:r>
          </a:p>
        </p:txBody>
      </p:sp>
      <p:sp>
        <p:nvSpPr>
          <p:cNvPr id="11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具身智能的主要研究内容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999705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6C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系统、安全与场景落地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29768" y="1841416"/>
            <a:ext cx="5623560" cy="3787815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658368" y="202429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（7）系统集成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、仿真验证</a:t>
            </a: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3879" y="2812618"/>
            <a:ext cx="5212080" cy="2373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算法正确 ≠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系统可用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</a:p>
          <a:p>
            <a:pPr marL="0" indent="0">
              <a:buNone/>
            </a:pPr>
            <a:endParaRPr lang="en-US" sz="24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把本体、传感器、计算平台、软件栈和场景做软硬件深度适配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EAI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导致的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错误有物理不可逆性。安全与伦理比推荐系统更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突出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90488" y="1830883"/>
            <a:ext cx="5623560" cy="3787815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7"/>
          <p:cNvSpPr/>
          <p:nvPr/>
        </p:nvSpPr>
        <p:spPr>
          <a:xfrm>
            <a:off x="6419088" y="202429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（8）</a:t>
            </a:r>
            <a:r>
              <a:rPr lang="zh-CN" altLang="en-US" sz="24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人机协作与</a:t>
            </a:r>
            <a:r>
              <a:rPr lang="en-US" sz="24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场景落地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19088" y="2964681"/>
            <a:ext cx="5212080" cy="212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机器人如何在工业制造、物流配送、 家庭服务等场景中与人共同完成任务， 并在协作过程中体现出安全、 自然、 可信和高效的行为特征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把具身智能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转化为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新质生产力，而不是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停留在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实验室演示</a:t>
            </a: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9BBA-0FF0-40C8-22F4-B9698474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D21883-A1C7-830F-8469-B0B6766EB87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BD6F92-28BD-3213-6421-44F0613FB96E}"/>
              </a:ext>
            </a:extLst>
          </p:cNvPr>
          <p:cNvSpPr/>
          <p:nvPr/>
        </p:nvSpPr>
        <p:spPr>
          <a:xfrm rot="1680000">
            <a:off x="-2011680" y="-1097280"/>
            <a:ext cx="6583680" cy="105156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AB333D-C64D-28E3-47DB-436A2FC6A56D}"/>
              </a:ext>
            </a:extLst>
          </p:cNvPr>
          <p:cNvSpPr/>
          <p:nvPr/>
        </p:nvSpPr>
        <p:spPr>
          <a:xfrm rot="1680000">
            <a:off x="1463040" y="-1463040"/>
            <a:ext cx="7680960" cy="1234440"/>
          </a:xfrm>
          <a:prstGeom prst="rect">
            <a:avLst/>
          </a:prstGeom>
          <a:solidFill>
            <a:srgbClr val="E4EA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10D6888-7D0E-2F72-5385-3FC1DC581FF9}"/>
              </a:ext>
            </a:extLst>
          </p:cNvPr>
          <p:cNvSpPr/>
          <p:nvPr/>
        </p:nvSpPr>
        <p:spPr>
          <a:xfrm rot="1680000">
            <a:off x="6217920" y="4937760"/>
            <a:ext cx="7498080" cy="1097280"/>
          </a:xfrm>
          <a:prstGeom prst="rect">
            <a:avLst/>
          </a:prstGeom>
          <a:solidFill>
            <a:srgbClr val="D6E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AF2FDE1-DB23-6899-3186-6CB3036F2D76}"/>
              </a:ext>
            </a:extLst>
          </p:cNvPr>
          <p:cNvSpPr/>
          <p:nvPr/>
        </p:nvSpPr>
        <p:spPr>
          <a:xfrm rot="960000">
            <a:off x="-2377440" y="-457200"/>
            <a:ext cx="5120640" cy="8046720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3DB2DA-D1E0-DEF3-68FD-D7B37BF43083}"/>
              </a:ext>
            </a:extLst>
          </p:cNvPr>
          <p:cNvSpPr/>
          <p:nvPr/>
        </p:nvSpPr>
        <p:spPr>
          <a:xfrm>
            <a:off x="502920" y="2148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</a:t>
            </a:r>
            <a:endParaRPr lang="en-US" sz="5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622B90-88C3-A662-E02E-646FFA57D811}"/>
              </a:ext>
            </a:extLst>
          </p:cNvPr>
          <p:cNvSpPr/>
          <p:nvPr/>
        </p:nvSpPr>
        <p:spPr>
          <a:xfrm>
            <a:off x="4709160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00   </a:t>
            </a:r>
            <a:r>
              <a:rPr lang="zh-CN" alt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教材和课程特点</a:t>
            </a:r>
            <a:endParaRPr lang="en-US" sz="32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8FAD81-00FA-3060-9B22-147E3785ACB4}"/>
              </a:ext>
            </a:extLst>
          </p:cNvPr>
          <p:cNvSpPr/>
          <p:nvPr/>
        </p:nvSpPr>
        <p:spPr>
          <a:xfrm>
            <a:off x="4709160" y="21305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01   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具身智能的起源与概念</a:t>
            </a:r>
            <a:endParaRPr lang="en-US" sz="32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7577AFB-B443-B797-6492-420AAD05175A}"/>
              </a:ext>
            </a:extLst>
          </p:cNvPr>
          <p:cNvSpPr/>
          <p:nvPr/>
        </p:nvSpPr>
        <p:spPr>
          <a:xfrm>
            <a:off x="4709160" y="28437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02   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典型的具身智能框架</a:t>
            </a:r>
            <a:endParaRPr lang="en-US" sz="32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964963D-E390-9326-5C8A-FA527FF442DA}"/>
              </a:ext>
            </a:extLst>
          </p:cNvPr>
          <p:cNvSpPr/>
          <p:nvPr/>
        </p:nvSpPr>
        <p:spPr>
          <a:xfrm>
            <a:off x="4709160" y="355701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03   </a:t>
            </a:r>
            <a:r>
              <a:rPr lang="en-US" sz="3200" b="1" dirty="0" err="1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</a:rPr>
              <a:t>主要研究内容</a:t>
            </a:r>
            <a:endParaRPr lang="en-US" sz="3200" b="1" dirty="0">
              <a:solidFill>
                <a:srgbClr val="2F5597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984939-7C78-7E98-15EC-B14C0F074699}"/>
              </a:ext>
            </a:extLst>
          </p:cNvPr>
          <p:cNvSpPr/>
          <p:nvPr/>
        </p:nvSpPr>
        <p:spPr>
          <a:xfrm>
            <a:off x="4709160" y="42702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04   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本章</a:t>
            </a:r>
            <a:r>
              <a:rPr lang="en-US" sz="3200" b="1" dirty="0" err="1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</a:rPr>
              <a:t>小结</a:t>
            </a:r>
            <a:endParaRPr lang="en-US" sz="3200" b="1" dirty="0">
              <a:solidFill>
                <a:srgbClr val="FF0000"/>
              </a:solidFill>
              <a:latin typeface="微软雅黑" pitchFamily="34" charset="0"/>
              <a:ea typeface="微软雅黑" pitchFamily="34" charset="-122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967E70-9B8E-1A4E-5100-74A10902FE0F}"/>
              </a:ext>
            </a:extLst>
          </p:cNvPr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57774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91440" cy="38404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792" y="23774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40280" y="11430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图灵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的思考、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幼猫转盘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缸中之脑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Brooks行为主义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、具身智能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9" name="Shape 7"/>
          <p:cNvSpPr/>
          <p:nvPr/>
        </p:nvSpPr>
        <p:spPr>
          <a:xfrm>
            <a:off x="594360" y="26700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40280" y="237744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三要素：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物理实体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环境交互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感知-认知-决策-行动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的闭环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3611880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3" name="Shape 11"/>
          <p:cNvSpPr/>
          <p:nvPr/>
        </p:nvSpPr>
        <p:spPr>
          <a:xfrm>
            <a:off x="594360" y="390448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Text 12"/>
          <p:cNvSpPr/>
          <p:nvPr/>
        </p:nvSpPr>
        <p:spPr>
          <a:xfrm>
            <a:off x="594360" y="39044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40280" y="36118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虚实迁移 / VLA / 世界模型 / 快慢系统 / </a:t>
            </a:r>
            <a:r>
              <a:rPr lang="en-US" sz="2400" dirty="0" err="1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大脑-小脑-肢体</a:t>
            </a: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11480" y="4841748"/>
            <a:ext cx="11384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0D7E6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7" name="Shape 15"/>
          <p:cNvSpPr/>
          <p:nvPr/>
        </p:nvSpPr>
        <p:spPr>
          <a:xfrm>
            <a:off x="594360" y="513892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2F5597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8" name="Text 16"/>
          <p:cNvSpPr/>
          <p:nvPr/>
        </p:nvSpPr>
        <p:spPr>
          <a:xfrm>
            <a:off x="594360" y="51389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240280" y="484632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</a:rPr>
              <a:t>具身智能的研究方向众多，能够辨析具身智能的代表性研究领域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109960" y="6446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2136</Words>
  <Application>Microsoft Office PowerPoint</Application>
  <PresentationFormat>宽屏</PresentationFormat>
  <Paragraphs>375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8" baseType="lpstr"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具身智能导论 · 第一讲 绪论</dc:title>
  <dc:subject>前言 + 第1章</dc:subject>
  <dc:creator>秦建军 等</dc:creator>
  <cp:lastModifiedBy>Qin JJ</cp:lastModifiedBy>
  <cp:revision>19</cp:revision>
  <dcterms:created xsi:type="dcterms:W3CDTF">2026-08-27T07:59:48Z</dcterms:created>
  <dcterms:modified xsi:type="dcterms:W3CDTF">2026-09-13T07:15:13Z</dcterms:modified>
</cp:coreProperties>
</file>